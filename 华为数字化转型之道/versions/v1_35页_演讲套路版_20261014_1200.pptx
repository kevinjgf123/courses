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3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35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tableStyles" Target="tableStyles.xml"/><Relationship Id="rId39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这是系列里的第十三本。我先说清楚它和前面十二本的关系。</a:t>
            </a:r>
          </a:p>
          <a:p>
            <a:endParaRPr lang="zh-CN"/>
          </a:p>
          <a:p>
            <a:r>
              <a:rPr lang="zh-CN" sz="1200" dirty="0"/>
              <a:t>前面十二册，包括企业架构、四A、还有本体、智能体、知识库、管道、治理、主数据、指标、FDE，全部都是分域的。每册解决一个具体领域的做法。</a:t>
            </a:r>
          </a:p>
          <a:p>
            <a:endParaRPr lang="zh-CN"/>
          </a:p>
          <a:p>
            <a:r>
              <a:rPr lang="zh-CN" sz="1200" dirty="0"/>
              <a:t>这一册不一样，它是底座。做咨询的时候有一个绕不过去的问题：项目从哪里来，凭什么排优先级，架构按什么顺序画。这些问题不是某个领域的方法论能回答的，得有一套整体规划方法。</a:t>
            </a:r>
          </a:p>
          <a:p>
            <a:endParaRPr lang="zh-CN"/>
          </a:p>
          <a:p>
            <a:r>
              <a:rPr lang="zh-CN" sz="1200" dirty="0"/>
              <a:t>华为的答案就是这两样：三阶十二步管顺序，4A Y 模型管内容。一个管时间轴，一个管内容轴。</a:t>
            </a:r>
          </a:p>
          <a:p>
            <a:endParaRPr lang="zh-CN"/>
          </a:p>
          <a:p>
            <a:r>
              <a:rPr lang="zh-CN" sz="1200" dirty="0"/>
              <a:t>封面下面那几行是这一册的两个抓手：三阶十二步是十二步，4A Y 模型收口在业务对象。下面我按这个顺序讲。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这是这一册的地图，五个部分，我只说清楚它们之间的依赖关系。</a:t>
            </a:r>
          </a:p>
          <a:p>
            <a:endParaRPr lang="zh-CN"/>
          </a:p>
          <a:p>
            <a:r>
              <a:rPr lang="zh-CN" sz="1200" dirty="0"/>
              <a:t>第一部分是认知与框架，讲华为为什么推数字化转型，以及它的整体框架怎么搭。这一部分是地基，不理解后面的步骤就没有意义。</a:t>
            </a:r>
          </a:p>
          <a:p>
            <a:endParaRPr lang="zh-CN"/>
          </a:p>
          <a:p>
            <a:r>
              <a:rPr lang="zh-CN" sz="1200" dirty="0"/>
              <a:t>第二部分是三阶十二步，十四页，是这一册的主体。我会把十二步全过一遍，每一步讲清楚做什么、交什么、什么情况下可以跳。</a:t>
            </a:r>
          </a:p>
          <a:p>
            <a:endParaRPr lang="zh-CN"/>
          </a:p>
          <a:p>
            <a:r>
              <a:rPr lang="zh-CN" sz="1200" dirty="0"/>
              <a:t>第三部分是 4A Y 模型，七页。这里我提前说一句：华为原书在讲这一层时用的缩写是 IA，不是 DA。这个口径差异我会在第三部分专门用一页讲，因为这是客户现场最常被挑的地方。</a:t>
            </a:r>
          </a:p>
          <a:p>
            <a:endParaRPr lang="zh-CN"/>
          </a:p>
          <a:p>
            <a:r>
              <a:rPr lang="zh-CN" sz="1200" dirty="0"/>
              <a:t>第四部分是十三册的分工，一张表把顺序轴、内容轴、做法轴串起来。</a:t>
            </a:r>
          </a:p>
          <a:p>
            <a:endParaRPr lang="zh-CN"/>
          </a:p>
          <a:p>
            <a:r>
              <a:rPr lang="zh-CN" sz="1200" dirty="0"/>
              <a:t>下一页是全册最重要的一张图，三阶十二步全景，我请各位拍下来。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在讲方法之前，我先把这一册为什么放在这个位置讲清楚。</a:t>
            </a:r>
          </a:p>
          <a:p>
            <a:endParaRPr lang="zh-CN"/>
          </a:p>
          <a:p>
            <a:r>
              <a:rPr lang="zh-CN" sz="1200" dirty="0"/>
              <a:t>做咨询最容易出的问题，是方案做得很好但落不了地。为什么落不了地？因为没先定顺序和架构，直接进入了某个领域的详细设计。</a:t>
            </a:r>
          </a:p>
          <a:p>
            <a:endParaRPr lang="zh-CN"/>
          </a:p>
          <a:p>
            <a:r>
              <a:rPr lang="zh-CN" sz="1200" dirty="0"/>
              <a:t>左边这块深色是这一册的定位。左边三段说的是前面十二册分别在做什么——每一册都是横切四A某一层，或者横切某个实践领域。中间和右边是这一册给的：中间是顺序轴，三阶十二步；右边是内容轴，4A Y 模型。</a:t>
            </a:r>
          </a:p>
          <a:p>
            <a:endParaRPr lang="zh-CN"/>
          </a:p>
          <a:p>
            <a:r>
              <a:rPr lang="zh-CN" sz="1200" dirty="0"/>
              <a:t>这一页我真正想让各位记住的是最下面那一行。十三个缩写排在一起，中间那一个是本册，前十二个是做法轴。也就是说后面每一册都要挂到这条底座上来用，不能各自单独跑。</a:t>
            </a:r>
          </a:p>
          <a:p>
            <a:endParaRPr lang="zh-CN"/>
          </a:p>
          <a:p>
            <a:r>
              <a:rPr lang="zh-CN" sz="1200" dirty="0"/>
              <a:t>这也是我为什么说这一册是底座——底座不定，上面每一层都是自说自话的孤立系统。下一页看全景。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这张图是全册的施工图，我请各位拍下来。</a:t>
            </a:r>
          </a:p>
          <a:p>
            <a:endParaRPr lang="zh-CN"/>
          </a:p>
          <a:p>
            <a:r>
              <a:rPr lang="zh-CN" sz="1200" dirty="0"/>
              <a:t>横向三个色带就是三阶，竖着十二个方框就是十二步。横线连接的是主线活动，空心角标的三个方框是华为标注的可选步。</a:t>
            </a:r>
          </a:p>
          <a:p>
            <a:endParaRPr lang="zh-CN"/>
          </a:p>
          <a:p>
            <a:r>
              <a:rPr lang="zh-CN" sz="1200" dirty="0"/>
              <a:t>我要强调一件事：华为在原书里明确说，粗线连接的方框是主线，部分步骤可选，但建议时间允许的话都走一遍，因为这样规划出来的项目更具实操性，更能被变革项目组承接和落地。</a:t>
            </a:r>
          </a:p>
          <a:p>
            <a:endParaRPr lang="zh-CN"/>
          </a:p>
          <a:p>
            <a:r>
              <a:rPr lang="zh-CN" sz="1200" dirty="0"/>
              <a:t>请注意最后这半句——不是给领导看的，是给执行方用的。这句话是这一册的价值观。</a:t>
            </a:r>
          </a:p>
          <a:p>
            <a:endParaRPr lang="zh-CN"/>
          </a:p>
          <a:p>
            <a:r>
              <a:rPr lang="zh-CN" sz="1200" dirty="0"/>
              <a:t>每个方框下面我写的是这一步必须交出来的东西。交不出来就是空转，这是我们做评审时唯一的判据。</a:t>
            </a:r>
          </a:p>
          <a:p>
            <a:endParaRPr lang="zh-CN"/>
          </a:p>
          <a:p>
            <a:r>
              <a:rPr lang="zh-CN" sz="1200" dirty="0"/>
              <a:t>底部三条请各位记住。顺序不可颠倒，这是方法论本身的性质；主线不可省，5、7、12 是三个阶各自的收口步；可选不是不做，是可以延后，不能取消。</a:t>
            </a:r>
          </a:p>
          <a:p>
            <a:endParaRPr lang="zh-CN"/>
          </a:p>
          <a:p>
            <a:r>
              <a:rPr lang="zh-CN" sz="1200" dirty="0"/>
              <a:t>下面进第一部分。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第一部分，认知与框架，九页。</a:t>
            </a:r>
          </a:p>
          <a:p>
            <a:endParaRPr lang="zh-CN"/>
          </a:p>
          <a:p>
            <a:r>
              <a:rPr lang="zh-CN" sz="1200" dirty="0"/>
              <a:t>这一部分我回答三个问题：华为在什么背景下决定做数字化转型；它的整体框架怎么搭；以及怎么判断自己现在处在什么水平。</a:t>
            </a:r>
          </a:p>
          <a:p>
            <a:endParaRPr lang="zh-CN"/>
          </a:p>
          <a:p>
            <a:r>
              <a:rPr lang="zh-CN" sz="1200" dirty="0"/>
              <a:t>我提醒各位，这一部分的内容在别的咨询里也能听到，但这一部分有一个我们平时不太讲的东西——华为自己是怎么定义成熟度的，以及这个成熟度评估怎么用在项目里，不是走个形式。</a:t>
            </a:r>
          </a:p>
          <a:p>
            <a:endParaRPr lang="zh-CN"/>
          </a:p>
          <a:p>
            <a:r>
              <a:rPr lang="zh-CN" sz="1200" dirty="0"/>
              <a:t>第九页到第十三页那五页是成熟度的完整内容，包括四级五个等级。这个东西在提案阶段很有用，客户最常问的问题就是「我们算几级」，怎么答我最后会讲。</a:t>
            </a:r>
          </a:p>
          <a:p>
            <a:endParaRPr lang="zh-CN"/>
          </a:p>
          <a:p>
            <a:r>
              <a:rPr lang="zh-CN" sz="1200" dirty="0"/>
              <a:t>下面从时代命题开始。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这一页是华为自己的起点，我要讲的是它为什么必须自己主导。</a:t>
            </a:r>
          </a:p>
          <a:p>
            <a:endParaRPr lang="zh-CN"/>
          </a:p>
          <a:p>
            <a:r>
              <a:rPr lang="zh-CN" sz="1200" dirty="0"/>
              <a:t>四个命题里，第一个是最硬的经济学问题——鲍莫尔成本病。服务业的成本随规模上升，越做越亏。传统解法是压人、压网点、压体验，全都在牺牲客户感受的前提下降成本。</a:t>
            </a:r>
          </a:p>
          <a:p>
            <a:endParaRPr lang="zh-CN"/>
          </a:p>
          <a:p>
            <a:r>
              <a:rPr lang="zh-CN" sz="1200" dirty="0"/>
              <a:t>唯一的出路是把成本结构改掉，把人的动作换成系统的动作。这不是技术时髦，是经济学倒逼的。</a:t>
            </a:r>
          </a:p>
          <a:p>
            <a:endParaRPr lang="zh-CN"/>
          </a:p>
          <a:p>
            <a:r>
              <a:rPr lang="zh-CN" sz="1200" dirty="0"/>
              <a:t>第二个命题是体验问题。To B 客户能不能享受 To C 级别的体验，这件事在以前可以糊弄过去，现在糊弄不住，因为客户手里有参照物。</a:t>
            </a:r>
          </a:p>
          <a:p>
            <a:endParaRPr lang="zh-CN"/>
          </a:p>
          <a:p>
            <a:r>
              <a:rPr lang="zh-CN" sz="1200" dirty="0"/>
              <a:t>第三个是端到端优势，单环节做到极致没用，链条断一环全链成本照样上不去。</a:t>
            </a:r>
          </a:p>
          <a:p>
            <a:endParaRPr lang="zh-CN"/>
          </a:p>
          <a:p>
            <a:r>
              <a:rPr lang="zh-CN" sz="1200" dirty="0"/>
              <a:t>第四个是数据成为生产要素，这是前面那八本专册存在的根本理由——如果数据只是记录，那它就只是 IT 的内部事务；只有当成生产要素，数据架构才是一门独立的架构。</a:t>
            </a:r>
          </a:p>
          <a:p>
            <a:endParaRPr lang="zh-CN"/>
          </a:p>
          <a:p>
            <a:r>
              <a:rPr lang="zh-CN" sz="1200" dirty="0"/>
              <a:t>底部这条我认为是全册的第一条立场：数字化转型必须由企业自身主导。交给乙方做，架构会长成供应商的能力，不是客户的能力。这一条会在最后收口时再回来。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这一页我讲三个转变和一个反差。</a:t>
            </a:r>
          </a:p>
          <a:p>
            <a:endParaRPr lang="zh-CN"/>
          </a:p>
          <a:p>
            <a:r>
              <a:rPr lang="zh-CN" sz="1200" dirty="0"/>
              <a:t>上面四块是四个必须打破的东西。最右边这一条我要单独说：_To B 客户要 To C 体验_。这是华为转型的核心命题之一，也是最难的一块——它不要求企业改技术，它要求企业改对客户交付价值的方式。</a:t>
            </a:r>
          </a:p>
          <a:p>
            <a:endParaRPr lang="zh-CN"/>
          </a:p>
          <a:p>
            <a:r>
              <a:rPr lang="zh-CN" sz="1200" dirty="0"/>
              <a:t>中间是五个转变，我念一下方向：从信息化到数字化，从 IT 支撑到 IT 驱动，从流程驱动到数据驱动，从部门内建设到端到端拉通，从项目制交付到产品化运营。</a:t>
            </a:r>
          </a:p>
          <a:p>
            <a:endParaRPr lang="zh-CN"/>
          </a:p>
          <a:p>
            <a:r>
              <a:rPr lang="zh-CN" sz="1200" dirty="0"/>
              <a:t>各位注意最后两个。部门内建设到端到端拉通，这是组织维度的变革；项目制交付到产品化运营，这是交付模式的变革，也是跟 FDE 那册直接相关的一条。</a:t>
            </a:r>
          </a:p>
          <a:p>
            <a:endParaRPr lang="zh-CN"/>
          </a:p>
          <a:p>
            <a:r>
              <a:rPr lang="zh-CN" sz="1200" dirty="0"/>
              <a:t>底部这句话我认为是华为这二十年最有名的一句判断，陶景文说的：任何不涉及流程重构的数字化转型，都是在装样子。</a:t>
            </a:r>
          </a:p>
          <a:p>
            <a:endParaRPr lang="zh-CN"/>
          </a:p>
          <a:p>
            <a:r>
              <a:rPr lang="zh-CN" sz="1200" dirty="0"/>
              <a:t>我建议各位把这句话印在每一份转型规划的第一页。客户说我们要做数字化的时候，第一个问题应该是：不改流程，那改的是什么。</a:t>
            </a:r>
          </a:p>
          <a:p>
            <a:endParaRPr lang="zh-CN"/>
          </a:p>
          <a:p>
            <a:r>
              <a:rPr lang="zh-CN" sz="1200" dirty="0"/>
              <a:t>下一页看整体框架。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这一页是华为数字化转型的整体框架，我请各位把这张图记住，它是后面所有讨论的骨架。</a:t>
            </a:r>
          </a:p>
          <a:p>
            <a:endParaRPr lang="zh-CN"/>
          </a:p>
          <a:p>
            <a:r>
              <a:rPr lang="zh-CN" sz="1200" dirty="0"/>
              <a:t>一个套方法，就是三阶十二步，我们从下一页开始逐阶讲。</a:t>
            </a:r>
          </a:p>
          <a:p>
            <a:endParaRPr lang="zh-CN"/>
          </a:p>
          <a:p>
            <a:r>
              <a:rPr lang="zh-CN" sz="1200" dirty="0"/>
              <a:t>四类场景。华为关注四类数字化场景：数字化作业、数字化交易、数字化运营、数字化办公。这四类不是并列关系，是有先后顺序的——多数企业先做作业，因为内部效率见效快、风险低；然后做交易，因为牵动客户；运营和办公作为底座同步补。</a:t>
            </a:r>
          </a:p>
          <a:p>
            <a:endParaRPr lang="zh-CN"/>
          </a:p>
          <a:p>
            <a:r>
              <a:rPr lang="zh-CN" sz="1200" dirty="0"/>
              <a:t>我提醒一个常见的坑：很多企业一上来就想做交易场景，因为客户压力最大。但客户体验的问题九成根在内部作业，先做交易等于给病根上妆。这一点第八、第九页会展开。</a:t>
            </a:r>
          </a:p>
          <a:p>
            <a:endParaRPr lang="zh-CN"/>
          </a:p>
          <a:p>
            <a:r>
              <a:rPr lang="zh-CN" sz="1200" dirty="0"/>
              <a:t>三个平台能力。统一数据底座、云化数字平台、变革治理体系，对应原书第十一到第十三章。这三个必须统一建，这个我在第十页专门讲。</a:t>
            </a:r>
          </a:p>
          <a:p>
            <a:endParaRPr lang="zh-CN"/>
          </a:p>
          <a:p>
            <a:r>
              <a:rPr lang="zh-CN" sz="1200" dirty="0"/>
              <a:t>最下面我标了每一类平台对应前面哪几册。数据底座对应数据架构、治理、主数据、指标这四册，云化平台对应技术架构和管道处理，治理体系对应 FDE 和业务架构。</a:t>
            </a:r>
          </a:p>
          <a:p>
            <a:endParaRPr lang="zh-CN"/>
          </a:p>
          <a:p>
            <a:r>
              <a:rPr lang="zh-CN" sz="1200" dirty="0"/>
              <a:t>下一页我们把四类场景怎么选讲清楚。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这一页讲怎么选场景，我给的是一个可以直接拿去用的判断表。</a:t>
            </a:r>
          </a:p>
          <a:p>
            <a:endParaRPr lang="zh-CN"/>
          </a:p>
          <a:p>
            <a:r>
              <a:rPr lang="zh-CN" sz="1200" dirty="0"/>
              <a:t>先看最上面这一排。每列中间那个浅色的框是客户原话，你们在项目现场听到的抱怨基本就这四类之一。说干活慢太乱的，落作业；说客户不买不用的，落交易；说看不清决策慢的，落运营；说协同靠邮件的，落办公。</a:t>
            </a:r>
          </a:p>
          <a:p>
            <a:endParaRPr lang="zh-CN"/>
          </a:p>
          <a:p>
            <a:r>
              <a:rPr lang="zh-CN" sz="1200" dirty="0"/>
              <a:t>每一列下面是三个要问的问题，问完就知道是不是真落在这儿。左边那一列是核心指标，作业看周期、质量、单位人力产出，交易看转化率、周期、满意度，运营看数据时效和预警准确率，办公看协同效率和人员留存。</a:t>
            </a:r>
          </a:p>
          <a:p>
            <a:endParaRPr lang="zh-CN"/>
          </a:p>
          <a:p>
            <a:r>
              <a:rPr lang="zh-CN" sz="1200" dirty="0"/>
              <a:t>中间深色这块是我要提醒的最常见的一个坑：跳到交易场景。客户压力最大的时候，直觉是先做对外的。但你去看那些客户体验问题，往上追两层，几乎都能追到内部作业上——单子下不来是因为库存数据不对，价格谈不下来是因为报价要人工核。</a:t>
            </a:r>
          </a:p>
          <a:p>
            <a:endParaRPr lang="zh-CN"/>
          </a:p>
          <a:p>
            <a:r>
              <a:rPr lang="zh-CN" sz="1200" dirty="0"/>
              <a:t>底部两条是补充。多数企业的顺序是先作业再交易再补运营办公；运营不是最后一步，它是前两类的度量出口，没它你证明不了转型的价值。</a:t>
            </a:r>
          </a:p>
          <a:p>
            <a:endParaRPr lang="zh-CN"/>
          </a:p>
          <a:p>
            <a:r>
              <a:rPr lang="zh-CN" sz="1200" dirty="0"/>
              <a:t>下一页讲三个平台。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这一页讲三个平台能力，我要说的是为什么这三个必须统一建。</a:t>
            </a:r>
          </a:p>
          <a:p>
            <a:endParaRPr lang="zh-CN"/>
          </a:p>
          <a:p>
            <a:r>
              <a:rPr lang="zh-CN" sz="1200" dirty="0"/>
              <a:t>最上面这一条，我认为是这一部分最重要的判断：场景各自建底座，第一年省事、第三年全部重来。三个平台是把重复劳动从项目里拿出去的唯一位置。</a:t>
            </a:r>
          </a:p>
          <a:p>
            <a:endParaRPr lang="zh-CN"/>
          </a:p>
          <a:p>
            <a:r>
              <a:rPr lang="zh-CN" sz="1200" dirty="0"/>
              <a:t>原书把这三个放在平台篇第十一到十三章，说明华为认为它们是三件独立的工程，不是顺便做的事。</a:t>
            </a:r>
          </a:p>
          <a:p>
            <a:endParaRPr lang="zh-CN"/>
          </a:p>
          <a:p>
            <a:r>
              <a:rPr lang="zh-CN" sz="1200" dirty="0"/>
              <a:t>统一数据底座。这对应前面四册——数据架构、数据治理、主数据、指标。这四件事不做，数据底座建不起来。</a:t>
            </a:r>
          </a:p>
          <a:p>
            <a:endParaRPr lang="zh-CN"/>
          </a:p>
          <a:p>
            <a:r>
              <a:rPr lang="zh-CN" sz="1200" dirty="0"/>
              <a:t>云化数字平台。三横两纵，三横是基础设施层、数字平台层、公共服务层，两纵是安全保障和运营维护贯穿。这对应技术架构和管道处理两册。</a:t>
            </a:r>
          </a:p>
          <a:p>
            <a:endParaRPr lang="zh-CN"/>
          </a:p>
          <a:p>
            <a:r>
              <a:rPr lang="zh-CN" sz="1200" dirty="0"/>
              <a:t>变革治理体系。两级责任加三招管控。两级是变革指导委员会和领域项目组，三招是立法、把架构审查嵌进流程、定期合规审计。这一层对应 FDE 和业务架构。</a:t>
            </a:r>
          </a:p>
          <a:p>
            <a:endParaRPr lang="zh-CN"/>
          </a:p>
          <a:p>
            <a:r>
              <a:rPr lang="zh-CN" sz="1200" dirty="0"/>
              <a:t>右下角这一条是我们做咨询的落点：每个分域专册的产出物，最终都要归到这三个平台之一。归不进去的，说明它不是平台能力，是项目定制——那种东西明年还得再做一遍。</a:t>
            </a:r>
          </a:p>
          <a:p>
            <a:endParaRPr lang="zh-CN"/>
          </a:p>
          <a:p>
            <a:r>
              <a:rPr lang="zh-CN" sz="1200" dirty="0"/>
              <a:t>下面进成熟度部分。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这一页是成熟度评估的四大主题和十八个问题，我讲一下怎么用。</a:t>
            </a:r>
          </a:p>
          <a:p>
            <a:endParaRPr lang="zh-CN"/>
          </a:p>
          <a:p>
            <a:r>
              <a:rPr lang="zh-CN" sz="1200" dirty="0"/>
              <a:t>四大主题里，第一个是战略决心，六个问题，从问题一到问题六。它的核心是问一句：你们这场转型是不是真的挂在业务战略上，还是一个挂着战略名头的 IT 项目。</a:t>
            </a:r>
          </a:p>
          <a:p>
            <a:endParaRPr lang="zh-CN"/>
          </a:p>
          <a:p>
            <a:r>
              <a:rPr lang="zh-CN" sz="1200" dirty="0"/>
              <a:t>第二个是业务重构，四个问题。这一组的判断标准很硬——流程有没有变，没变就是装样子。</a:t>
            </a:r>
          </a:p>
          <a:p>
            <a:endParaRPr lang="zh-CN"/>
          </a:p>
          <a:p>
            <a:r>
              <a:rPr lang="zh-CN" sz="1200" dirty="0"/>
              <a:t>第三个是数字能力，五个问题。这里是问有没有技术领导力，能不能承载前面两组的重构。</a:t>
            </a:r>
          </a:p>
          <a:p>
            <a:endParaRPr lang="zh-CN"/>
          </a:p>
          <a:p>
            <a:r>
              <a:rPr lang="zh-CN" sz="1200" dirty="0"/>
              <a:t>第四个是转型保障，三个问题，问的是变革管理、人才、组织撑不撑得住。</a:t>
            </a:r>
          </a:p>
          <a:p>
            <a:endParaRPr lang="zh-CN"/>
          </a:p>
          <a:p>
            <a:r>
              <a:rPr lang="zh-CN" sz="1200" dirty="0"/>
              <a:t>我提醒各位一个方法上的要点：华为明确说评估要靠关键业务用户面对面访谈，不是发问卷打分。访谈的过程本身就是诊断，评估只是副产品。这个差别很关键——发问卷收到的答案是应付的，访谈收到的答案是真实的。</a:t>
            </a:r>
          </a:p>
          <a:p>
            <a:endParaRPr lang="zh-CN"/>
          </a:p>
          <a:p>
            <a:r>
              <a:rPr lang="zh-CN" sz="1200" dirty="0"/>
              <a:t>最下面我列了两个扩展版。咨询业扩展版是华为供应链的五维一百九十六项，比四主题多一个价值目标，用于跟上下游伙伴横向比较。运营商版是五维五阶。这两个在特定场景下比原版好用。</a:t>
            </a:r>
          </a:p>
          <a:p>
            <a:endParaRPr lang="zh-CN"/>
          </a:p>
          <a:p>
            <a:r>
              <a:rPr lang="zh-CN" sz="1200" dirty="0"/>
              <a:t>下一页讲五级。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这一页是成熟度五级，我认为是全册最实用的一张表，因为它能直接回答客户最常问的问题。</a:t>
            </a:r>
          </a:p>
          <a:p>
            <a:endParaRPr lang="zh-CN"/>
          </a:p>
          <a:p>
            <a:r>
              <a:rPr lang="zh-CN" sz="1200" dirty="0"/>
              <a:t>从 L1 流程数字化到 L5 AI 原生化，请各位注意中间这条铁律：逐级演进，不能跨越式升级。</a:t>
            </a:r>
          </a:p>
          <a:p>
            <a:endParaRPr lang="zh-CN"/>
          </a:p>
          <a:p>
            <a:r>
              <a:rPr lang="zh-CN" sz="1200" dirty="0"/>
              <a:t>L1 单点线上化，替代人工。L2 部门系统互通，数据初步共享。L3 端到端拉通，全链路协同。L4 智能优化，数据驱动决策。L5 AI 原生化，体系自主进化。</a:t>
            </a:r>
          </a:p>
          <a:p>
            <a:endParaRPr lang="zh-CN"/>
          </a:p>
          <a:p>
            <a:r>
              <a:rPr lang="zh-CN" sz="1200" dirty="0"/>
              <a:t>为什么不能跳？因为每一级都有它必须补齐的前提。L3 没做到就直接上 L4，是在流沙上盖楼——数据不通、口径不一，模型训练出来的结果无法归因，改进了还是退步了都说不清。</a:t>
            </a:r>
          </a:p>
          <a:p>
            <a:endParaRPr lang="zh-CN"/>
          </a:p>
          <a:p>
            <a:r>
              <a:rPr lang="zh-CN" sz="1200" dirty="0"/>
              <a:t>底部这三个症状是我们在现场最常听到的。卡在 L1：系统建了不少，但部门之间还靠邮件和 Excel 对账。假 L3：接口打通了，但端到端流程还是人工在中间穿针引线。跳 L5：数据底座和指标口径都没统一，就先上 AI 应用。</a:t>
            </a:r>
          </a:p>
          <a:p>
            <a:endParaRPr lang="zh-CN"/>
          </a:p>
          <a:p>
            <a:r>
              <a:rPr lang="zh-CN" sz="1200" dirty="0"/>
              <a:t>客户说「我们要一步到位做智能」的时候，掏出来这一页，比讲一百页道理管用。</a:t>
            </a:r>
          </a:p>
          <a:p>
            <a:endParaRPr lang="zh-CN"/>
          </a:p>
          <a:p>
            <a:r>
              <a:rPr lang="zh-CN" sz="1200" dirty="0"/>
              <a:t>下一页讲评估怎么用。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这一页讲成熟度评估怎么用，这是最容易被做成走过场的一步，我给四步节奏。</a:t>
            </a:r>
          </a:p>
          <a:p>
            <a:endParaRPr lang="zh-CN"/>
          </a:p>
          <a:p>
            <a:r>
              <a:rPr lang="zh-CN" sz="1200" dirty="0"/>
              <a:t>第一步前期自检。华为的建议是前期先选模型中部分问题快速自检，摸个底。这一步不追求准确，只追求让客户自己先说出来。</a:t>
            </a:r>
          </a:p>
          <a:p>
            <a:endParaRPr lang="zh-CN"/>
          </a:p>
          <a:p>
            <a:r>
              <a:rPr lang="zh-CN" sz="1200" dirty="0"/>
              <a:t>第二步关键用户访谈。面对面，同步收集关键需求。这一步是四步里唯一真正产生诊断价值的一步。</a:t>
            </a:r>
          </a:p>
          <a:p>
            <a:endParaRPr lang="zh-CN"/>
          </a:p>
          <a:p>
            <a:r>
              <a:rPr lang="zh-CN" sz="1200" dirty="0"/>
              <a:t>第三步识别关键短板。要点是「关键」两个字——不是列一串短板，是找制约当前级别跃升的那一个。找三个短板出来，是没做诊断；找一个出来，才是。</a:t>
            </a:r>
          </a:p>
          <a:p>
            <a:endParaRPr lang="zh-CN"/>
          </a:p>
          <a:p>
            <a:r>
              <a:rPr lang="zh-CN" sz="1200" dirty="0"/>
              <a:t>第四步完整评估复评。转型推进一段之后再做一次，看成果，再校准。</a:t>
            </a:r>
          </a:p>
          <a:p>
            <a:endParaRPr lang="zh-CN"/>
          </a:p>
          <a:p>
            <a:r>
              <a:rPr lang="zh-CN" sz="1200" dirty="0"/>
              <a:t>左边深色这块我写的是评估结论往哪去。它不是终点，它直接喂给三阶：短板进第一阶的愿景，第二阶找哪个架构域要补，第三阶变成哪条举措、进哪期路标。</a:t>
            </a:r>
          </a:p>
          <a:p>
            <a:endParaRPr lang="zh-CN"/>
          </a:p>
          <a:p>
            <a:r>
              <a:rPr lang="zh-CN" sz="1200" dirty="0"/>
              <a:t>右下角这三个是现场最常见的三种误用。把它当成打分比赛，各部门都报高分证明自己重要，结果短板被盖住了；当成一次性交差，评完就归档，没人拿它去定举措；只评技术不评业务，系统上线率很高，客户体验一点没变。</a:t>
            </a:r>
          </a:p>
          <a:p>
            <a:endParaRPr lang="zh-CN"/>
          </a:p>
          <a:p>
            <a:r>
              <a:rPr lang="zh-CN" sz="1200" dirty="0"/>
              <a:t>到这里第一部分结束。下面进第二部分，三阶十二步。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第二部分，三阶十二步，十四页，是这一册的主体。</a:t>
            </a:r>
          </a:p>
          <a:p>
            <a:endParaRPr lang="zh-CN"/>
          </a:p>
          <a:p>
            <a:r>
              <a:rPr lang="zh-CN" sz="1200" dirty="0"/>
              <a:t>我按三阶分四页来讲：第一阶两页全景加五步展开，第二阶两页，第三阶两页，最后两页做交叉关系和产出物清单复盘。</a:t>
            </a:r>
          </a:p>
          <a:p>
            <a:endParaRPr lang="zh-CN"/>
          </a:p>
          <a:p>
            <a:r>
              <a:rPr lang="zh-CN" sz="1200" dirty="0"/>
              <a:t>讲这一部分之前，先说一个使用建议：这一部分不适合讲完了就翻页。这十二步各位要按自己项目的实际节奏去用——有的客户第一阶就要走五步，有的客户第二阶能走七周，有的客户第三阶要一年。步子是死的，节奏是活的。</a:t>
            </a:r>
          </a:p>
          <a:p>
            <a:endParaRPr lang="zh-CN"/>
          </a:p>
          <a:p>
            <a:r>
              <a:rPr lang="zh-CN" sz="1200" dirty="0"/>
              <a:t>还有一点：三阶的顺序不是建议，是依赖。第一阶的愿景不定，第二阶的架构就没有判断依据；第二阶的蓝图不定，第三阶的举措就是几个部门各自报上来的项目拼盘。</a:t>
            </a:r>
          </a:p>
          <a:p>
            <a:endParaRPr lang="zh-CN"/>
          </a:p>
          <a:p>
            <a:r>
              <a:rPr lang="zh-CN" sz="1200" dirty="0"/>
              <a:t>下面看第一阶全景。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第一阶，以终为始，描绘愿景，五个步骤。</a:t>
            </a:r>
          </a:p>
          <a:p>
            <a:endParaRPr lang="zh-CN"/>
          </a:p>
          <a:p>
            <a:r>
              <a:rPr lang="zh-CN" sz="1200" dirty="0"/>
              <a:t>这一阶不碰任何系统，产出的是方向。我要强调这句话——不碰系统，是因为这一阶的价值就在于不带任何既有系统的包袱去看事情。</a:t>
            </a:r>
          </a:p>
          <a:p>
            <a:endParaRPr lang="zh-CN"/>
          </a:p>
          <a:p>
            <a:r>
              <a:rPr lang="zh-CN" sz="1200" dirty="0"/>
              <a:t>五个步骤横着看，从左到右是一件事一件事往下走。我把主线标出来了，只有第五步是主线，因为前四步都是为它准备输入。</a:t>
            </a:r>
          </a:p>
          <a:p>
            <a:endParaRPr lang="zh-CN"/>
          </a:p>
          <a:p>
            <a:r>
              <a:rPr lang="zh-CN" sz="1200" dirty="0"/>
              <a:t>中间深色这块是华为自己的愿景怎么写的，我特意摘出来，因为这是最好的范本。两句话——面向五类用户实现 ROADS 体验，大平台支撑精兵作战。</a:t>
            </a:r>
          </a:p>
          <a:p>
            <a:endParaRPr lang="zh-CN"/>
          </a:p>
          <a:p>
            <a:r>
              <a:rPr lang="zh-CN" sz="1200" dirty="0"/>
              <a:t>请各位注意第一句的写法：面向五类用户。这不是「面向客户」，是明确列出五类不同角色，各类要有各自好用的体验。这种写法一出来，愿景就已经可以被拆成举措了，因为五类用户对应的是五类场景。而「打造行业领先」这种写法拆不出来。</a:t>
            </a:r>
          </a:p>
          <a:p>
            <a:endParaRPr lang="zh-CN"/>
          </a:p>
          <a:p>
            <a:r>
              <a:rPr lang="zh-CN" sz="1200" dirty="0"/>
              <a:t>第二句是三个平台存在的理由——平台能力统一建，作战单元小而精。</a:t>
            </a:r>
          </a:p>
          <a:p>
            <a:endParaRPr lang="zh-CN"/>
          </a:p>
          <a:p>
            <a:r>
              <a:rPr lang="zh-CN" sz="1200" dirty="0"/>
              <a:t>右边三个坑是我认为最常见的。愿景写成口号；只访谈高管不访谈一线，高管说想做什么，一线说实际卡在哪，这两个答案都重要但不能混；把现状当起点，华为明确要求不拘泥于现状，这是愿景和规划的分水岭。</a:t>
            </a:r>
          </a:p>
          <a:p>
            <a:endParaRPr lang="zh-CN"/>
          </a:p>
          <a:p>
            <a:r>
              <a:rPr lang="zh-CN" sz="1200" dirty="0"/>
              <a:t>下面拆步骤一和步骤二。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步骤一和步骤二，这一页我想讲的是顺序不能反。</a:t>
            </a:r>
          </a:p>
          <a:p>
            <a:endParaRPr lang="zh-CN"/>
          </a:p>
          <a:p>
            <a:r>
              <a:rPr lang="zh-CN" sz="1200" dirty="0"/>
              <a:t>步骤一是理解企业战略诉求，两块动作：高层访谈，以及业务战略解码。战略解码这一块华为写得很具体——识别战略关注要点，做专项分析，然后回答两个问题：如何用数字技术支撑战略目标达成，如何用数字技术构建核心竞争力。</a:t>
            </a:r>
          </a:p>
          <a:p>
            <a:endParaRPr lang="zh-CN"/>
          </a:p>
          <a:p>
            <a:r>
              <a:rPr lang="zh-CN" sz="1200" dirty="0"/>
              <a:t>这两个问题是整册最实用的提问模板。项目现场你可以直接拿它去问任何一个客户高管：您这三条战略里，哪一条是非有数字化做不成？答不出来的，那条就不是真战略。</a:t>
            </a:r>
          </a:p>
          <a:p>
            <a:endParaRPr lang="zh-CN"/>
          </a:p>
          <a:p>
            <a:r>
              <a:rPr lang="zh-CN" sz="1200" dirty="0"/>
              <a:t>步骤二，5 看。我想强调五看的顺序不是随意的。从看战略开始，往外看到客户、行业，往内看到自己，最后落到技术。这个顺序本身就是方法——先把方向和约束搞清楚，再看手段。</a:t>
            </a:r>
          </a:p>
          <a:p>
            <a:endParaRPr lang="zh-CN"/>
          </a:p>
          <a:p>
            <a:r>
              <a:rPr lang="zh-CN" sz="1200" dirty="0"/>
              <a:t>下面五个方框里写的，是每一看对应要问出的那个问题。各位可以直接拿去当访谈提纲。这五个问题答完，机会和价值基本自己就浮出来了。</a:t>
            </a:r>
          </a:p>
          <a:p>
            <a:endParaRPr lang="zh-CN"/>
          </a:p>
          <a:p>
            <a:r>
              <a:rPr lang="zh-CN" sz="1200" dirty="0"/>
              <a:t>最下面这一行是这一段的产出，直接流向步骤五的愿景。我请各位记住这条链——机会清单是愿景的原料，没有它，愿景只能靠编。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步骤三和步骤四，成熟度评估与差距分析。这一页我讲两件事。</a:t>
            </a:r>
          </a:p>
          <a:p>
            <a:endParaRPr lang="zh-CN"/>
          </a:p>
          <a:p>
            <a:r>
              <a:rPr lang="zh-CN" sz="1200" dirty="0"/>
              <a:t>第一件是方法。成熟度评估的关键不在打分，在访谈。华为写的是「进行关键业务用户的访谈，基于评估模型对各项内容面对面交流和现场评估」。这句话的重点是面对面交流和现场评估——它假设被访的人会跟你argue，而不是填一张表。现场就会发生一件问卷里永远不会发生的事：他说「我们这个能力还行」，你追问一句「上次演练是什么时候」，现场就冷掉了。</a:t>
            </a:r>
          </a:p>
          <a:p>
            <a:endParaRPr lang="zh-CN"/>
          </a:p>
          <a:p>
            <a:r>
              <a:rPr lang="zh-CN" sz="1200" dirty="0"/>
              <a:t>第二件是差距分析的三个层次。我把它拆成能力差距、数据差距、技术差距，这是这一页真正的价值所在。</a:t>
            </a:r>
          </a:p>
          <a:p>
            <a:endParaRPr lang="zh-CN"/>
          </a:p>
          <a:p>
            <a:r>
              <a:rPr lang="zh-CN" sz="1200" dirty="0"/>
              <a:t>为什么必须拆三层？因为这三层差距分别对应后面步骤七里的三个架构域。差距分析不是描述现状，是给架构设计派活。混在一起写成「系统能力不足」，架构师看完不知道该动哪一层。</a:t>
            </a:r>
          </a:p>
          <a:p>
            <a:endParaRPr lang="zh-CN"/>
          </a:p>
          <a:p>
            <a:r>
              <a:rPr lang="zh-CN" sz="1200" dirty="0"/>
              <a:t>请各位把这个转化记住：能力差距给 BA，数据差距给 IA/DA，技术差距给 AA 和 TA。这一句话能省掉后面一半的扯皮。</a:t>
            </a:r>
          </a:p>
          <a:p>
            <a:endParaRPr lang="zh-CN"/>
          </a:p>
          <a:p>
            <a:r>
              <a:rPr lang="zh-CN" sz="1200" dirty="0"/>
              <a:t>下面讲步骤五。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步骤五，描绘数字化转型愿景。这一步是整个第一阶的收口，我讲得细一点。</a:t>
            </a:r>
          </a:p>
          <a:p>
            <a:endParaRPr lang="zh-CN"/>
          </a:p>
          <a:p>
            <a:r>
              <a:rPr lang="zh-CN" sz="1200" dirty="0"/>
              <a:t>左边三个输入：步骤一的战略关注要点、步骤二的五看结论、步骤三到四的成熟度与差距。三个输入齐了才动笔，只有一个输入写出来的就是接第 17 页那个坏愿景。</a:t>
            </a:r>
          </a:p>
          <a:p>
            <a:endParaRPr lang="zh-CN"/>
          </a:p>
          <a:p>
            <a:r>
              <a:rPr lang="zh-CN" sz="1200" dirty="0"/>
              <a:t>右边是愿景蓝图必须回答的三件事，我认为是这三个，不是七个。变成什么样——要有量化的价值目标，不是只有方向词。客户体验变成什么样——客户在哪些环节的体验被重构，重构后他能直接感知到什么差别。靠什么技术路径——要引入哪些技术使能，演进路线怎么走，哪一步是基础必做。</a:t>
            </a:r>
          </a:p>
          <a:p>
            <a:endParaRPr lang="zh-CN"/>
          </a:p>
          <a:p>
            <a:r>
              <a:rPr lang="zh-CN" sz="1200" dirty="0"/>
              <a:t>第三条最容易被漏。愿景只讲目标和体验，不讲技术路径，到了第二阶架构就变成了几个架构师凭偏好画出来的东西。</a:t>
            </a:r>
          </a:p>
          <a:p>
            <a:endParaRPr lang="zh-CN"/>
          </a:p>
          <a:p>
            <a:r>
              <a:rPr lang="zh-CN" sz="1200" dirty="0"/>
              <a:t>中间这两块我做了个对照。不合格的那句，「以客户为中心，用数据驱动，打造行业领先的智慧企业」，没有一句能被验证。合格的那句，三年内让一线报修到闭环的平均周期从五天缩到一天，客户自助解决率达到百分之六十。</a:t>
            </a:r>
          </a:p>
          <a:p>
            <a:endParaRPr lang="zh-CN"/>
          </a:p>
          <a:p>
            <a:r>
              <a:rPr lang="zh-CN" sz="1200" dirty="0"/>
              <a:t>请各位注意后者可以直接进入指标体系——这一点在步骤八会用到。</a:t>
            </a:r>
          </a:p>
          <a:p>
            <a:endParaRPr lang="zh-CN"/>
          </a:p>
          <a:p>
            <a:r>
              <a:rPr lang="zh-CN" sz="1200" dirty="0"/>
              <a:t>最下面是这一步的判据，很硬：愿景里每一句都能被拆成步骤八的指标，拆不出来的就是口号，删掉重写。</a:t>
            </a:r>
          </a:p>
          <a:p>
            <a:endParaRPr lang="zh-CN"/>
          </a:p>
          <a:p>
            <a:r>
              <a:rPr lang="zh-CN" sz="1200" dirty="0"/>
              <a:t>下面进第二阶。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第二阶只有两步，但这两步是全册最重的。我用两页讲。</a:t>
            </a:r>
          </a:p>
          <a:p>
            <a:endParaRPr lang="zh-CN"/>
          </a:p>
          <a:p>
            <a:r>
              <a:rPr lang="zh-CN" sz="1200" dirty="0"/>
              <a:t>步骤六设计顶层架构蓝图，从企业视角，用企业架构方法做清晰、系统性、分层分级的梳理。关键词是分层分级——不分层就只是一张系统全景图，分了级才知道谁在上谁在下。</a:t>
            </a:r>
          </a:p>
          <a:p>
            <a:endParaRPr lang="zh-CN"/>
          </a:p>
          <a:p>
            <a:r>
              <a:rPr lang="zh-CN" sz="1200" dirty="0"/>
              <a:t>步骤七一体四面细化，这是主线步。这一步是整个方法论的枢纽，它把统一蓝图和分域细化连起来，并且要产出一样东西——突破口。</a:t>
            </a:r>
          </a:p>
          <a:p>
            <a:endParaRPr lang="zh-CN"/>
          </a:p>
          <a:p>
            <a:r>
              <a:rPr lang="zh-CN" sz="1200" dirty="0"/>
              <a:t>中间这一排是四 A，我把每一层要解决的核心问题和产出物都写在下面了。我在这里先不展开，第三部分会逐层讲。</a:t>
            </a:r>
          </a:p>
          <a:p>
            <a:endParaRPr lang="zh-CN"/>
          </a:p>
          <a:p>
            <a:r>
              <a:rPr lang="zh-CN" sz="1200" dirty="0"/>
              <a:t>我要各位现在就记住的是这一行：四个域里如果有两个都说「我这边要等对方」，那就是突破口还没找到，不是事情复杂。</a:t>
            </a:r>
          </a:p>
          <a:p>
            <a:endParaRPr lang="zh-CN"/>
          </a:p>
          <a:p>
            <a:r>
              <a:rPr lang="zh-CN" sz="1200" dirty="0"/>
              <a:t>这句话在现场非常好用。架构讨论最容易陷入的状态就是所有人都在等——数据架构等业务定义，业务架构等系统现状，系统架构等数据标准。这种会开三天也开不出结果，因为问题不在人，在突破口没定。</a:t>
            </a:r>
          </a:p>
          <a:p>
            <a:endParaRPr lang="zh-CN"/>
          </a:p>
          <a:p>
            <a:r>
              <a:rPr lang="zh-CN" sz="1200" dirty="0"/>
              <a:t>下一页先讲六个设计原则，这是审图的清单。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架构蓝图六条设计原则，这一页我建议各位当审图清单用。</a:t>
            </a:r>
          </a:p>
          <a:p>
            <a:endParaRPr lang="zh-CN"/>
          </a:p>
          <a:p>
            <a:r>
              <a:rPr lang="zh-CN" sz="1200" dirty="0"/>
              <a:t>第一条，以客户为中心，由外而内。这是六条里最常被违反的一条。什么叫由外而内？先看客户和端到端流程，再看内部环节。顺序反了，做出来的东西就会变成内部视角的自我改良——每个部门都很努力，整体流程一点没变。</a:t>
            </a:r>
          </a:p>
          <a:p>
            <a:endParaRPr lang="zh-CN"/>
          </a:p>
          <a:p>
            <a:r>
              <a:rPr lang="zh-CN" sz="1200" dirty="0"/>
              <a:t>第二条，提升点必须落在端到端流程上，落在部门内不算数。这一条常被用来否决项目：某个部门的信息化项目，如果它的价值主张是「本部门效率提升百分之二十」，我要追问它在哪条端到端流程上缩短了什么。答不上来，这个项目的战略价值是存疑的。</a:t>
            </a:r>
          </a:p>
          <a:p>
            <a:endParaRPr lang="zh-CN"/>
          </a:p>
          <a:p>
            <a:r>
              <a:rPr lang="zh-CN" sz="1200" dirty="0"/>
              <a:t>第三条，从内部视角看从哪些关键环节入手提升业务能力。端到端定了方向，内部要落到能力上。</a:t>
            </a:r>
          </a:p>
          <a:p>
            <a:endParaRPr lang="zh-CN"/>
          </a:p>
          <a:p>
            <a:r>
              <a:rPr lang="zh-CN" sz="1200" dirty="0"/>
              <a:t>第四条，责任分工和层级关系要清晰。这一条是后面架构治理的前提——没有清晰的依赖关系，架构管控无从下手。</a:t>
            </a:r>
          </a:p>
          <a:p>
            <a:endParaRPr lang="zh-CN"/>
          </a:p>
          <a:p>
            <a:r>
              <a:rPr lang="zh-CN" sz="1200" dirty="0"/>
              <a:t>第五条，明确定义全局性工作。这一条对应第 10 页讲的三个平台：哪些事必须公司统一做，不能各领域自己搞。</a:t>
            </a:r>
          </a:p>
          <a:p>
            <a:endParaRPr lang="zh-CN"/>
          </a:p>
          <a:p>
            <a:r>
              <a:rPr lang="zh-CN" sz="1200" dirty="0"/>
              <a:t>第六条，体现架构的演进方向。蓝图不是把终态画出来就完事，要写清从当前到目标分几步走。这一条直接连到第三阶的路标。</a:t>
            </a:r>
          </a:p>
          <a:p>
            <a:endParaRPr lang="zh-CN"/>
          </a:p>
          <a:p>
            <a:r>
              <a:rPr lang="zh-CN" sz="1200" dirty="0"/>
              <a:t>底部黑条我写了一句现场话：拿到客户蓝图先问三句。提升点落在端到端还是部门内、全局性工作谁定标准、从现在到目标分几步。三问答不上来，这份蓝图还只是系统规划，不是架构蓝图。</a:t>
            </a:r>
          </a:p>
          <a:p>
            <a:endParaRPr lang="zh-CN"/>
          </a:p>
          <a:p>
            <a:r>
              <a:rPr lang="zh-CN" sz="1200" dirty="0"/>
              <a:t>下一页看华为自己的答案。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这一页是华为自己的架构蓝图，五层结构。我拿它有两个用法。</a:t>
            </a:r>
          </a:p>
          <a:p>
            <a:endParaRPr lang="zh-CN"/>
          </a:p>
          <a:p>
            <a:r>
              <a:rPr lang="zh-CN" sz="1200" dirty="0"/>
              <a:t>第一个用法是给客户一个参照。我做规划的时候经常遇到一个问题：客户问「要做到什么程度」。空口讲「端到端一体化」，客户没有感知。把这五层摆出来，客户立刻能指着自己说，我目前在第一层第二层，我想先到第三层。这是有效的。</a:t>
            </a:r>
          </a:p>
          <a:p>
            <a:endParaRPr lang="zh-CN"/>
          </a:p>
          <a:p>
            <a:r>
              <a:rPr lang="zh-CN" sz="1200" dirty="0"/>
              <a:t>五层从下往上读：云化 IT 平台、能力数字化、一线作战平台、数字化运营、客户联接。往上是能力抽象和对外触达，往下是技术底座。</a:t>
            </a:r>
          </a:p>
          <a:p>
            <a:endParaRPr lang="zh-CN"/>
          </a:p>
          <a:p>
            <a:r>
              <a:rPr lang="zh-CN" sz="1200" dirty="0"/>
              <a:t>每一层我标了它对应前面哪一册。云化 IT 平台对应技术架构和管道处理；能力数字化对应应用架构的中台化和服务化；一线作战平台对应四类场景里的作业场景；数字化运营对应信息架构和指标体系；客户联接对应业务架构的价值流起点。</a:t>
            </a:r>
          </a:p>
          <a:p>
            <a:endParaRPr lang="zh-CN"/>
          </a:p>
          <a:p>
            <a:r>
              <a:rPr lang="zh-CN" sz="1200" dirty="0"/>
              <a:t>第二个用法是破除「一次建齐」的幻想。右下角这一条是我想提醒的：五层不必一次建齐。多数企业先做第二层和第三层，底座跟着走，再回头补第一层和第四层。上来就建客户联接，底下什么都没改好，只会把客户体验做得更精致地不满意。</a:t>
            </a:r>
          </a:p>
          <a:p>
            <a:endParaRPr lang="zh-CN"/>
          </a:p>
          <a:p>
            <a:r>
              <a:rPr lang="zh-CN" sz="1200" dirty="0"/>
              <a:t>顺便说清楚一件事：五层和 4A 是什么关系。五层是按能力视角切的，4A 是按架构域切的。同一套内容，两种切法。汇报用五层，实施用 4A。这两套不要混着讲，混了就乱。</a:t>
            </a:r>
          </a:p>
          <a:p>
            <a:endParaRPr lang="zh-CN"/>
          </a:p>
          <a:p>
            <a:r>
              <a:rPr lang="zh-CN" sz="1200" dirty="0"/>
              <a:t>下面把步骤七再拆细一点。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这一页把「一体四面」拆开讲，我讲三块。</a:t>
            </a:r>
          </a:p>
          <a:p>
            <a:endParaRPr lang="zh-CN"/>
          </a:p>
          <a:p>
            <a:r>
              <a:rPr lang="zh-CN" sz="1200" dirty="0"/>
              <a:t>第一块，一体和四面各自是什么意思。一体是全公司一张统一蓝图，四面是各领域在自己的领域里按四个架构域各自细化。</a:t>
            </a:r>
          </a:p>
          <a:p>
            <a:endParaRPr lang="zh-CN"/>
          </a:p>
          <a:p>
            <a:r>
              <a:rPr lang="zh-CN" sz="1200" dirty="0"/>
              <a:t>这里有一个很常见的误解要澄清：四面不是四个部门各画一张。四个架构域是同一个团队的四个视角，是一件事的四个侧面。各领域做的是在自己领域范围内把这四个侧面都画出来，然后回到公司统一蓝图上对齐。</a:t>
            </a:r>
          </a:p>
          <a:p>
            <a:endParaRPr lang="zh-CN"/>
          </a:p>
          <a:p>
            <a:r>
              <a:rPr lang="zh-CN" sz="1200" dirty="0"/>
              <a:t>第二块，突破口的判定逻辑。我给了一个反直觉但很准的判断标准：看哪个域的缺失，已经卡住了另外三个域。</a:t>
            </a:r>
          </a:p>
          <a:p>
            <a:endParaRPr lang="zh-CN"/>
          </a:p>
          <a:p>
            <a:r>
              <a:rPr lang="zh-CN" sz="1200" dirty="0"/>
              <a:t>卡 BA 是价值流本身没理顺，业务效率和体验都无从谈起。卡 IA/DA 最常见，是业务对象定义不清，同一个实体在多系统里对不上，下游应用和数据全都跟着错。卡 AA 是系统烟囱，跨部门流程要人工穿针引线。卡 TA 是底座撑不住，性能弹性安全都不满足新架构的要求。</a:t>
            </a:r>
          </a:p>
          <a:p>
            <a:endParaRPr lang="zh-CN"/>
          </a:p>
          <a:p>
            <a:r>
              <a:rPr lang="zh-CN" sz="1200" dirty="0"/>
              <a:t>这个判断的价值在于，它把「从哪儿下手」这个模糊问题变成了一个可以验证的问题。</a:t>
            </a:r>
          </a:p>
          <a:p>
            <a:endParaRPr lang="zh-CN"/>
          </a:p>
          <a:p>
            <a:r>
              <a:rPr lang="zh-CN" sz="1200" dirty="0"/>
              <a:t>第三块是我认为最有用的一句硬判据，上一页提过一次：四个域里如果有两个都在说等对方，那就是突破口没找到，不是事情复杂。</a:t>
            </a:r>
          </a:p>
          <a:p>
            <a:endParaRPr lang="zh-CN"/>
          </a:p>
          <a:p>
            <a:r>
              <a:rPr lang="zh-CN" sz="1200" dirty="0"/>
              <a:t>下一页进第三阶。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第三阶五步，从举措到项目。这一阶是整个规划里最实的部分，也是最容易糊弄过去的。</a:t>
            </a:r>
          </a:p>
          <a:p>
            <a:endParaRPr lang="zh-CN"/>
          </a:p>
          <a:p>
            <a:r>
              <a:rPr lang="zh-CN" sz="1200" dirty="0"/>
              <a:t>我先讲一个数：五步里三步是华为标注的可选。八是指标体系，十是举措设计，十一是路标。</a:t>
            </a:r>
          </a:p>
          <a:p>
            <a:endParaRPr lang="zh-CN"/>
          </a:p>
          <a:p>
            <a:r>
              <a:rPr lang="zh-CN" sz="1200" dirty="0"/>
              <a:t>很多人看到「可选」两个字就跳过去了。我想讲清楚为什么华为标可选但建议都做。</a:t>
            </a:r>
          </a:p>
          <a:p>
            <a:endParaRPr lang="zh-CN"/>
          </a:p>
          <a:p>
            <a:r>
              <a:rPr lang="zh-CN" sz="1200" dirty="0"/>
              <a:t>左边深色这块我列了三个后果。不设指标，举措做完了说不清有没有对准价值，年底只能靠汇报口径自证。不做举措设计，举措停在口号层，项目承接时各自理解，落地就变形。不设路标，所有项目同一时间上马，基础工作还没做完就上应用，返工不可避免。</a:t>
            </a:r>
          </a:p>
          <a:p>
            <a:endParaRPr lang="zh-CN"/>
          </a:p>
          <a:p>
            <a:r>
              <a:rPr lang="zh-CN" sz="1200" dirty="0"/>
              <a:t>所以我的建议是：这三个「可选」，是客户预算紧的时候可以延后的，不是可以取消的。如果客户真要砍，砍的顺序是举措设计先降级为一句话，路标先只定基础期，指标体系最后动。</a:t>
            </a:r>
          </a:p>
          <a:p>
            <a:endParaRPr lang="zh-CN"/>
          </a:p>
          <a:p>
            <a:r>
              <a:rPr lang="zh-CN" sz="1200" dirty="0"/>
              <a:t>右边这一条是华为的原话，我要各位注意最后半句——更能被变革项目组承接和落地。这句话是这一阶的价值观。规划不是给领导看的，是给执行的变革团队看的。写不进他们手里的东西，就是自嗨。</a:t>
            </a:r>
          </a:p>
          <a:p>
            <a:endParaRPr lang="zh-CN"/>
          </a:p>
          <a:p>
            <a:r>
              <a:rPr lang="zh-CN" sz="1200" dirty="0"/>
              <a:t>最下面这一条是第三阶的收口判据：每个项目都能回答三个问题——承接哪条举措、在哪期路标、谁来做。答不全，说明第三阶只是列了个清单。</a:t>
            </a:r>
          </a:p>
          <a:p>
            <a:endParaRPr lang="zh-CN"/>
          </a:p>
          <a:p>
            <a:r>
              <a:rPr lang="zh-CN" sz="1200" dirty="0"/>
              <a:t>下面三步展开。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步骤八到十，指标、举措、举措设计。这一页我讲这条链怎么不断。</a:t>
            </a:r>
          </a:p>
          <a:p>
            <a:endParaRPr lang="zh-CN"/>
          </a:p>
          <a:p>
            <a:r>
              <a:rPr lang="zh-CN" sz="1200" dirty="0"/>
              <a:t>上面三步是一条链，不是三件独立的事。愿景定了价值，指标量这个价值，举措去改变这个价值。中间断一环，架构就落不了地。</a:t>
            </a:r>
          </a:p>
          <a:p>
            <a:endParaRPr lang="zh-CN"/>
          </a:p>
          <a:p>
            <a:r>
              <a:rPr lang="zh-CN" sz="1200" dirty="0"/>
              <a:t>下面左半边我把这四个字连起来了：愿景、指标、举措、变革点。这四个字是四个层次，每一层后面都跟着它的断裂症状——没有指标就无法判断做到没做到；没有举措，指标就挂在旧流程上，改了等于没改；没有设计，举措停在口号层；没有项目，变革点没人承接。</a:t>
            </a:r>
          </a:p>
          <a:p>
            <a:endParaRPr lang="zh-CN"/>
          </a:p>
          <a:p>
            <a:r>
              <a:rPr lang="zh-CN" sz="1200" dirty="0"/>
              <a:t>这个「没有 X 就……」的句式，我认为是这一页最实用的部分。客户的项目做到哪一步卡住了，用这个句式一对就知道问题出在哪一环。</a:t>
            </a:r>
          </a:p>
          <a:p>
            <a:endParaRPr lang="zh-CN"/>
          </a:p>
          <a:p>
            <a:r>
              <a:rPr lang="zh-CN" sz="1200" dirty="0"/>
              <a:t>右半边是指标体系最容易做错的三种情况。</a:t>
            </a:r>
          </a:p>
          <a:p>
            <a:endParaRPr lang="zh-CN"/>
          </a:p>
          <a:p>
            <a:r>
              <a:rPr lang="zh-CN" sz="1200" dirty="0"/>
              <a:t>全用结果指标：只统计营收、成本、利润，改善动作没法归因，出问题没人认领。全用过程指标：上线率、培训人数都很漂亮，客户体验一点没变——这正是陶景文说的装样子。预设值没拍过：指标定了但目标值是拍的，年底再改一次，整个体系就废了。</a:t>
            </a:r>
          </a:p>
          <a:p>
            <a:endParaRPr lang="zh-CN"/>
          </a:p>
          <a:p>
            <a:r>
              <a:rPr lang="zh-CN" sz="1200" dirty="0"/>
              <a:t>所以最下面这一条：结果、过程、体验三类指标要一起上。只有结果说清原因，只有过程说清价值，只有体验说清这是不是真的转型了。</a:t>
            </a:r>
          </a:p>
          <a:p>
            <a:endParaRPr lang="zh-CN"/>
          </a:p>
          <a:p>
            <a:r>
              <a:rPr lang="zh-CN" sz="1200" dirty="0"/>
              <a:t>下面讲路标和项目。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步骤十一和十二，路标和项目规划。</a:t>
            </a:r>
          </a:p>
          <a:p>
            <a:endParaRPr lang="zh-CN"/>
          </a:p>
          <a:p>
            <a:r>
              <a:rPr lang="zh-CN" sz="1200" dirty="0"/>
              <a:t>路标这一块，我强调一点：路标的作用不是给时间表。它的作用是明确哪件事必须先做完，否则后面全是白做。这一点想不清楚，路标就会做成一堆日期。</a:t>
            </a:r>
          </a:p>
          <a:p>
            <a:endParaRPr lang="zh-CN"/>
          </a:p>
          <a:p>
            <a:r>
              <a:rPr lang="zh-CN" sz="1200" dirty="0"/>
              <a:t>上面三个阶段是我给客户讲路标时常用的一个说法。第一期基础期，把底座类工作做完——数据标准、主数据、集成规范，这一期原则上不上应用。第二期能力期，把业务能力沉淀为服务，场景在服务上搭起来。第三期智能期，数据和能力齐备之后才谈智能优化和 AI 原生。</a:t>
            </a:r>
          </a:p>
          <a:p>
            <a:endParaRPr lang="zh-CN"/>
          </a:p>
          <a:p>
            <a:r>
              <a:rPr lang="zh-CN" sz="1200" dirty="0"/>
              <a:t>我要强调的是第一期那句「这一期不上应用」。客户在第一期总是很想上应用，因为应用看得见、能汇报。忍住，第一期上了应用，第三期全部要重来。</a:t>
            </a:r>
          </a:p>
          <a:p>
            <a:endParaRPr lang="zh-CN"/>
          </a:p>
          <a:p>
            <a:r>
              <a:rPr lang="zh-CN" sz="1200" dirty="0"/>
              <a:t>右上黑块是华为明确要求路标写清的三件事：哪些是基础工作必须先期开展、每一阶段的关注重点、每一阶段的抓手。第三件「抓手」最容易被漏——没有抓手，路标就只是愿望清单。</a:t>
            </a:r>
          </a:p>
          <a:p>
            <a:endParaRPr lang="zh-CN"/>
          </a:p>
          <a:p>
            <a:r>
              <a:rPr lang="zh-CN" sz="1200" dirty="0"/>
              <a:t>下面是步骤十二，规划项目。华为原话两条：项目节奏与路标保持一致；明确哪些项目由公司层级做、哪些由领域做。</a:t>
            </a:r>
          </a:p>
          <a:p>
            <a:endParaRPr lang="zh-CN"/>
          </a:p>
          <a:p>
            <a:r>
              <a:rPr lang="zh-CN" sz="1200" dirty="0"/>
              <a:t>右边这一块是两级分工。公司级做全局性工作——数据标准、集成规范、平台底座；领域自己做本领域的应用和流程，按公司规范执行。</a:t>
            </a:r>
          </a:p>
          <a:p>
            <a:endParaRPr lang="zh-CN"/>
          </a:p>
          <a:p>
            <a:r>
              <a:rPr lang="zh-CN" sz="1200" dirty="0"/>
              <a:t>最下面是我要提醒的最常见的错：所有项目都写成「公司级重点项目」。责任一不清，最先被砍掉的一定是基础工作，因为谁都想先摘看得见的果子。这一页的四期路标和两级分工，各位下次做规划可以直接用。</a:t>
            </a:r>
          </a:p>
          <a:p>
            <a:endParaRPr lang="zh-CN"/>
          </a:p>
          <a:p>
            <a:r>
              <a:rPr lang="zh-CN" sz="1200" dirty="0"/>
              <a:t>下面两页做收口。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这一页是三阶和 4A 的交叉关系，我把它做成矩阵，是为了解决一个具体的困惑。</a:t>
            </a:r>
          </a:p>
          <a:p>
            <a:endParaRPr lang="zh-CN"/>
          </a:p>
          <a:p>
            <a:r>
              <a:rPr lang="zh-CN" sz="1200" dirty="0"/>
              <a:t>困惑是：十二步是按时间排的，4A 是按内容分的，两套东西怎么对起来。</a:t>
            </a:r>
          </a:p>
          <a:p>
            <a:endParaRPr lang="zh-CN"/>
          </a:p>
          <a:p>
            <a:r>
              <a:rPr lang="zh-CN" sz="1200" dirty="0"/>
              <a:t>矩阵读法：横着是四个架构域，竖着是三个阶，每一格里写的是这一阶在这个域上要碰什么。</a:t>
            </a:r>
          </a:p>
          <a:p>
            <a:endParaRPr lang="zh-CN"/>
          </a:p>
          <a:p>
            <a:r>
              <a:rPr lang="zh-CN" sz="1200" dirty="0"/>
              <a:t>读出来的第一件事是：第一阶四个域都碰，但碰的是现状与差距；第二阶才产出正式的设计成果。两个阶段性质完全不同——第一阶是看，第二阶是做。我在第 17 页讲差距分析时说差距分三层，就是在给这个矩阵做准备。</a:t>
            </a:r>
          </a:p>
          <a:p>
            <a:endParaRPr lang="zh-CN"/>
          </a:p>
          <a:p>
            <a:r>
              <a:rPr lang="zh-CN" sz="1200" dirty="0"/>
              <a:t>读出来的第二件事更重要：第三阶每一列的举措性质不同。业务架构那一列是流程重构类举措，改的是流程和权责；信息架构那一列是治理和口径类举措，改的是标准与定义；应用架构那列是集成与服务化，技术架构那列是底座建设。</a:t>
            </a:r>
          </a:p>
          <a:p>
            <a:endParaRPr lang="zh-CN"/>
          </a:p>
          <a:p>
            <a:r>
              <a:rPr lang="zh-CN" sz="1200" dirty="0"/>
              <a:t>这一列一对应，第三阶就有一个特别容易踩的坑，我写在下面了：数据举措不能由业务部门牵头。因为改的是标准与定义，牵头方应该是数据治理体系，业务的角色是提需求不是定标准。反过来，业务流程重构的举措，业务部门必须是牵头方。</a:t>
            </a:r>
          </a:p>
          <a:p>
            <a:endParaRPr lang="zh-CN"/>
          </a:p>
          <a:p>
            <a:r>
              <a:rPr lang="zh-CN" sz="1200" dirty="0"/>
              <a:t>牵头方定错，举措做到一半就会卡住——业务部门不认数据部门的标准，数据部门也改不动业务流程。</a:t>
            </a:r>
          </a:p>
          <a:p>
            <a:endParaRPr lang="zh-CN"/>
          </a:p>
          <a:p>
            <a:r>
              <a:rPr lang="zh-CN" sz="1200" dirty="0"/>
              <a:t>下一页是产出物清单。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这一页我建议直接当评审用的清单表。</a:t>
            </a:r>
          </a:p>
          <a:p>
            <a:endParaRPr lang="zh-CN"/>
          </a:p>
          <a:p>
            <a:r>
              <a:rPr lang="zh-CN" sz="1200" dirty="0"/>
              <a:t>十二行，每行是步骤、做什么、必须交出来的产出物，以及主线还是可选。评审的时候逐行打勾，这是判断一次规划做没做扎实的唯一客观标准——不靠专家感受，靠清单。</a:t>
            </a:r>
          </a:p>
          <a:p>
            <a:endParaRPr lang="zh-CN"/>
          </a:p>
          <a:p>
            <a:r>
              <a:rPr lang="zh-CN" sz="1200" dirty="0"/>
              <a:t>我给一个数字：主线九项，也就是除了八、十、十一之外的全部。主线这九项交不出来，说明这一阶没做完，后面全是推演。可选那三项不交不会立刻崩，但年底一定无法验收。</a:t>
            </a:r>
          </a:p>
          <a:p>
            <a:endParaRPr lang="zh-CN"/>
          </a:p>
          <a:p>
            <a:r>
              <a:rPr lang="zh-CN" sz="1200" dirty="0"/>
              <a:t>最下面那条我认为是实操建议：评审时逐行打勾，空行不超过两行算合格。为什么要给这个数？因为评审现场一定会有人说「差不多了」，需要一个客观标尺。空三行以上，说明这个规划的重心错了——它花了很多篇幅在愿景的形容词上，实质产出没写。</a:t>
            </a:r>
          </a:p>
          <a:p>
            <a:endParaRPr lang="zh-CN"/>
          </a:p>
          <a:p>
            <a:r>
              <a:rPr lang="zh-CN" sz="1200" dirty="0"/>
              <a:t>这一页也是全册内容的索引。前面二十六页讲的所有东西，最终都落在这十二行里。</a:t>
            </a:r>
          </a:p>
          <a:p>
            <a:endParaRPr lang="zh-CN"/>
          </a:p>
          <a:p>
            <a:r>
              <a:rPr lang="zh-CN" sz="1200" dirty="0"/>
              <a:t>到这里第二部分结束。下面进最后一部分，4A Y 模型。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第三部分，4A Y 模型，七页。</a:t>
            </a:r>
          </a:p>
          <a:p>
            <a:endParaRPr lang="zh-CN"/>
          </a:p>
          <a:p>
            <a:r>
              <a:rPr lang="zh-CN" sz="1200" dirty="0"/>
              <a:t>这一部分我讲七页，但真正的重点在两页：下一页的全景图，和第 32 页的口径差异。其他几页是逐层展开。</a:t>
            </a:r>
          </a:p>
          <a:p>
            <a:endParaRPr lang="zh-CN"/>
          </a:p>
          <a:p>
            <a:r>
              <a:rPr lang="zh-CN" sz="1200" dirty="0"/>
              <a:t>我先说清楚这一部分和第二部分的关系。第二部分讲的是顺序，什么先做什么后做。这一部分讲的是内容，四个架构域各自装什么、怎么对齐。</a:t>
            </a:r>
          </a:p>
          <a:p>
            <a:endParaRPr lang="zh-CN"/>
          </a:p>
          <a:p>
            <a:r>
              <a:rPr lang="zh-CN" sz="1200" dirty="0"/>
              <a:t>用一句话概括这两部分的关系：三阶十二步是时间轴，4A Y 模型是内容轴。两条轴交叉，才能定位到某一步该产出哪个架构域的东西——这个交叉矩阵我在第 26 页已经给过一张了。</a:t>
            </a:r>
          </a:p>
          <a:p>
            <a:endParaRPr lang="zh-CN"/>
          </a:p>
          <a:p>
            <a:r>
              <a:rPr lang="zh-CN" sz="1200" dirty="0"/>
              <a:t>这一部分的封面下面写了五个词，最后一个是 Y。前面四个是 BA、IA/DA、AA、TA，最后这个 Y 是收口。Y 模型这个名字里的 Y，说的就是四面加一个收口的形状。</a:t>
            </a:r>
          </a:p>
          <a:p>
            <a:endParaRPr lang="zh-CN"/>
          </a:p>
          <a:p>
            <a:r>
              <a:rPr lang="zh-CN" sz="1200" dirty="0"/>
              <a:t>我提前说一句：这一部分最容易被问倒的问题不是四 A 是什么，而是 IA 和 DA 到底什么关系。这是客户现场最常被挑的口径问题，我第 32 页专门讲。</a:t>
            </a:r>
          </a:p>
          <a:p>
            <a:endParaRPr lang="zh-CN"/>
          </a:p>
          <a:p>
            <a:r>
              <a:rPr lang="zh-CN" sz="1200" dirty="0"/>
              <a:t>下面看全景图。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 4A Y 模型的全景图，我请各位拍。这是全册第二张需要拍下来的图。</a:t>
            </a:r>
          </a:p>
          <a:p>
            <a:endParaRPr lang="zh-CN"/>
          </a:p>
          <a:p>
            <a:r>
              <a:rPr lang="zh-CN" sz="1200" dirty="0"/>
              <a:t>先讲这个 Y 的形状为什么是 Y 而不是方块。因为四个架构域不是四层楼，是两条方向相反的流汇合。</a:t>
            </a:r>
          </a:p>
          <a:p>
            <a:endParaRPr lang="zh-CN"/>
          </a:p>
          <a:p>
            <a:r>
              <a:rPr lang="zh-CN" sz="1200" dirty="0"/>
              <a:t>左边这一列是上半身，业务架构，从上往下拆：价值流、业务能力、业务活动，一直拆到业务对象为止。注意最下面那个框写着「拆到业务对象为止」——业务架构的拆分是有终点的，拆到业务对象就不往下拆了，因为再往下是数据架构的活。</a:t>
            </a:r>
          </a:p>
          <a:p>
            <a:endParaRPr lang="zh-CN"/>
          </a:p>
          <a:p>
            <a:r>
              <a:rPr lang="zh-CN" sz="1200" dirty="0"/>
              <a:t>中间是收口点。业务对象。它是连接业务架构和信息架构的桥梁。右边两条路径都收口到它：应用架构通过业务服务收口到业务对象，信息架构通过数据实体收口到业务对象。</a:t>
            </a:r>
          </a:p>
          <a:p>
            <a:endParaRPr lang="zh-CN"/>
          </a:p>
          <a:p>
            <a:r>
              <a:rPr lang="zh-CN" sz="1200" dirty="0"/>
              <a:t>右边这一列是下半身，信息架构，从上往下走：概念模型识别主体、逻辑模型定义主键、物理模型具现化。然后最下面是技术架构，贯穿托底。</a:t>
            </a:r>
          </a:p>
          <a:p>
            <a:endParaRPr lang="zh-CN"/>
          </a:p>
          <a:p>
            <a:r>
              <a:rPr lang="zh-CN" sz="1200" dirty="0"/>
              <a:t>三个方向请各位记住：上半身是从外而内——价值流到能力到活动到对象；下半身是从内而上——对象到数据实体到表结构；技术架构不参与拆分，但决定这一切能不能真跑。</a:t>
            </a:r>
          </a:p>
          <a:p>
            <a:endParaRPr lang="zh-CN"/>
          </a:p>
          <a:p>
            <a:r>
              <a:rPr lang="zh-CN" sz="1200" dirty="0"/>
              <a:t>这一页最重要的一句话在中间那块深色：业务对象是连接 BA 与 IA/DA 的桥梁，也是整个 Y 的收口点。下一页我专门讲为什么是它。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这一页专门讲收口点，我认为是 4A 部分最有价值的一页。</a:t>
            </a:r>
          </a:p>
          <a:p>
            <a:endParaRPr lang="zh-CN"/>
          </a:p>
          <a:p>
            <a:r>
              <a:rPr lang="zh-CN" sz="1200" dirty="0"/>
              <a:t>先给一个反问：架构设计的收口点应该落在哪三个候选上？流程、系统、业务对象。</a:t>
            </a:r>
          </a:p>
          <a:p>
            <a:endParaRPr lang="zh-CN"/>
          </a:p>
          <a:p>
            <a:r>
              <a:rPr lang="zh-CN" sz="1200" dirty="0"/>
              <a:t>流程不行。流程随组织调整频繁变动，架构图改一次就得跟着动一次。而且流程本身不是稳定的语义。</a:t>
            </a:r>
          </a:p>
          <a:p>
            <a:endParaRPr lang="zh-CN"/>
          </a:p>
          <a:p>
            <a:r>
              <a:rPr lang="zh-CN" sz="1200" dirty="0"/>
              <a:t>系统更不行。系统是实现的载体，不是业务的本质。按系统倒推业务，走的路径一定是「先有系统再找业务」，最后架构会长成现有系统的样子，而不是业务该有的样子。这一点做咨询的都有体会。</a:t>
            </a:r>
          </a:p>
          <a:p>
            <a:endParaRPr lang="zh-CN"/>
          </a:p>
          <a:p>
            <a:r>
              <a:rPr lang="zh-CN" sz="1200" dirty="0"/>
              <a:t>业务对象才对。订单、设备、缺陷、批次——这些是业务里真实存在的东西。换系统它还在，换流程它还在。这是唯一一个能在四个架构域之间稳定传递的锚。</a:t>
            </a:r>
          </a:p>
          <a:p>
            <a:endParaRPr lang="zh-CN"/>
          </a:p>
          <a:p>
            <a:r>
              <a:rPr lang="zh-CN" sz="1200" dirty="0"/>
              <a:t>下面三条收口路径必须都对得上。应用架构通过业务服务收口——注意这里有个容易错的地方：服务要按业务对象定义，不是按技术组件定义。接口是按「查设备状态」还是按「查某张表某几个字段」来设计，架构质量完全不一样。</a:t>
            </a:r>
          </a:p>
          <a:p>
            <a:endParaRPr lang="zh-CN"/>
          </a:p>
          <a:p>
            <a:r>
              <a:rPr lang="zh-CN" sz="1200" dirty="0"/>
              <a:t>信息架构通过数据实体收口——一个业务对象对应一个逻辑实体，再落到具体表。概念、逻辑、物理三层必须一一对应得上。</a:t>
            </a:r>
          </a:p>
          <a:p>
            <a:endParaRPr lang="zh-CN"/>
          </a:p>
          <a:p>
            <a:r>
              <a:rPr lang="zh-CN" sz="1200" dirty="0"/>
              <a:t>业务架构直接落在对象上——价值流和能力的最终产物就是业务对象。拆不到对象这一层，说明价值流没梳理到底。</a:t>
            </a:r>
          </a:p>
          <a:p>
            <a:endParaRPr lang="zh-CN"/>
          </a:p>
          <a:p>
            <a:r>
              <a:rPr lang="zh-CN" sz="1200" dirty="0"/>
              <a:t>最下面这一句是我给大家的现场判据，很实用：随便指一个业务对象，问四个问题——它在哪个系统里、叫什么、有几份、谁是权威。四个答案对不上，就是 Y 没画完。</a:t>
            </a:r>
          </a:p>
          <a:p>
            <a:endParaRPr lang="zh-CN"/>
          </a:p>
          <a:p>
            <a:r>
              <a:rPr lang="zh-CN" sz="1200" dirty="0"/>
              <a:t>这个动作五秒钟就能做完，但能立刻测出一个企业的数据架构到底有没有做。</a:t>
            </a:r>
          </a:p>
          <a:p>
            <a:endParaRPr lang="zh-CN"/>
          </a:p>
          <a:p>
            <a:r>
              <a:rPr lang="zh-CN" sz="1200" dirty="0"/>
              <a:t>下面逐层展开四 A。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 BA，业务架构。我按华为的原文讲四类结构化资产。</a:t>
            </a:r>
          </a:p>
          <a:p>
            <a:endParaRPr lang="zh-CN"/>
          </a:p>
          <a:p>
            <a:r>
              <a:rPr lang="zh-CN" sz="1200" dirty="0"/>
              <a:t>四类资产是价值链、流程体系、能力体系、业务对象。请注意这个顺序——这是从抽象到具体的顺序。</a:t>
            </a:r>
          </a:p>
          <a:p>
            <a:endParaRPr lang="zh-CN"/>
          </a:p>
          <a:p>
            <a:r>
              <a:rPr lang="zh-CN" sz="1200" dirty="0"/>
              <a:t>价值链识别企业级的价值流，华为的实践里是 LTC 线索到现金、IPD 集成产品开发、ITR 问题到解决三条主流程。</a:t>
            </a:r>
          </a:p>
          <a:p>
            <a:endParaRPr lang="zh-CN"/>
          </a:p>
          <a:p>
            <a:r>
              <a:rPr lang="zh-CN" sz="1200" dirty="0"/>
              <a:t>流程体系做端到端流程分层，华为常用 L1 到 L5，L1 是战略层，L5 是作业层，并用 PDCA 把规则固化。这一条我要强调的是「固化」两个字——流程图不固化规则等于没有。</a:t>
            </a:r>
          </a:p>
          <a:p>
            <a:endParaRPr lang="zh-CN"/>
          </a:p>
          <a:p>
            <a:r>
              <a:rPr lang="zh-CN" sz="1200" dirty="0"/>
              <a:t>能力体系把价值流分解成分层的能力清单，明确责任归属和成熟度要求。这里有一个常用的量化口径，比如一个仓储分销领域被拆成了四十一个二级能力，能力不拆到可以归属的粒度，责任就落不下去。</a:t>
            </a:r>
          </a:p>
          <a:p>
            <a:endParaRPr lang="zh-CN"/>
          </a:p>
          <a:p>
            <a:r>
              <a:rPr lang="zh-CN" sz="1200" dirty="0"/>
              <a:t>业务对象识别核心业务实体及其协作关系。这是喂给数据架构的输入——所以它放在第四位，不是第一也不是最后。</a:t>
            </a:r>
          </a:p>
          <a:p>
            <a:endParaRPr lang="zh-CN"/>
          </a:p>
          <a:p>
            <a:r>
              <a:rPr lang="zh-CN" sz="1200" dirty="0"/>
              <a:t>中间深色是 BA 要确定的三件事：价值流、业务能力、业务流程与服务，对应三种语言——业务语言、能力语言、落地语言。</a:t>
            </a:r>
          </a:p>
          <a:p>
            <a:endParaRPr lang="zh-CN"/>
          </a:p>
          <a:p>
            <a:r>
              <a:rPr lang="zh-CN" sz="1200" dirty="0"/>
              <a:t>右边这一条我要特别说：华为对 BA 的最终要求是「确定用例视图」。不是画一版静态组织图，而是定义清楚未来业务要交付哪几类能力、每类能力服务谁。用例视图定不下来，说明业务架构还停留在组织调整的层面，没到架构层面。</a:t>
            </a:r>
          </a:p>
          <a:p>
            <a:endParaRPr lang="zh-CN"/>
          </a:p>
          <a:p>
            <a:r>
              <a:rPr lang="zh-CN" sz="1200" dirty="0"/>
              <a:t>最下面提一句风险控制：华为实践里在流程中嵌入八类风险控制点，包括角色分离、合规内嵌。要点是把控制放进流程里，而不是在流程之外再设一道审批——后者会被人绕过去，前者绕不掉。</a:t>
            </a:r>
          </a:p>
          <a:p>
            <a:endParaRPr lang="zh-CN"/>
          </a:p>
          <a:p>
            <a:r>
              <a:rPr lang="zh-CN" sz="1200" dirty="0"/>
              <a:t>下一页是这一册的差异化页。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这一页我要专门讲一个口径问题，因为这是客户现场最常被挑的地方，而且答不好会显得我们没读过原书。</a:t>
            </a:r>
          </a:p>
          <a:p>
            <a:endParaRPr lang="zh-CN"/>
          </a:p>
          <a:p>
            <a:r>
              <a:rPr lang="zh-CN" sz="1200" dirty="0"/>
              <a:t>先摆事实。《华为数字化转型之道》原书写的是 IA，Information Architecture，信息架构。《华为数据之道》和业界通用写法是 DA，Data Architecture，数据架构。</a:t>
            </a:r>
          </a:p>
          <a:p>
            <a:endParaRPr lang="zh-CN"/>
          </a:p>
          <a:p>
            <a:r>
              <a:rPr lang="zh-CN" sz="1200" dirty="0"/>
              <a:t>这是同一层。华为换了叫法，内容完全一样。</a:t>
            </a:r>
          </a:p>
          <a:p>
            <a:endParaRPr lang="zh-CN"/>
          </a:p>
          <a:p>
            <a:r>
              <a:rPr lang="zh-CN" sz="1200" dirty="0"/>
              <a:t>那现场被问到怎么办？右上角这一条我写了话术，我念一遍：「这一层华为原书叫 IA，数据之道叫 DA，指的都是业务对象往数据落的那一层——您按哪本册子叫都行，内容是同一件事。」</a:t>
            </a:r>
          </a:p>
          <a:p>
            <a:endParaRPr lang="zh-CN"/>
          </a:p>
          <a:p>
            <a:r>
              <a:rPr lang="zh-CN" sz="1200" dirty="0"/>
              <a:t>这句话的重点是最后半句。讲口径不是为了显得严谨，是为了证明你知道两本册子都在。客户说「我们公司用 DA」，你就跟着用 DA；客户拿原书问你，你就说 IA 并解释同源。</a:t>
            </a:r>
          </a:p>
          <a:p>
            <a:endParaRPr lang="zh-CN"/>
          </a:p>
          <a:p>
            <a:r>
              <a:rPr lang="zh-CN" sz="1200" dirty="0"/>
              <a:t>下面这一层真正的内容是三层模型，这三个词请各位记住：概念模型识别主体，逻辑模型定义主键，物理模型具现化。</a:t>
            </a:r>
          </a:p>
          <a:p>
            <a:endParaRPr lang="zh-CN"/>
          </a:p>
          <a:p>
            <a:r>
              <a:rPr lang="zh-CN" sz="1200" dirty="0"/>
              <a:t>概念模型这一层不涉及任何技术词，只从业务对象出发识别主体和关系。逻辑模型是这一层真正的抓手——给每个主体定义唯一标识和属性，消除歧义。我举的例子：一个设备在设备台账、工单、质检三处，主键怎么保持一致。这是多系统口径统一的实际战场。</a:t>
            </a:r>
          </a:p>
          <a:p>
            <a:endParaRPr lang="zh-CN"/>
          </a:p>
          <a:p>
            <a:r>
              <a:rPr lang="zh-CN" sz="1200" dirty="0"/>
              <a:t>物理模型才落到具体库表、存储位置和访问方式，这一步才开始进技术范畴。</a:t>
            </a:r>
          </a:p>
          <a:p>
            <a:endParaRPr lang="zh-CN"/>
          </a:p>
          <a:p>
            <a:r>
              <a:rPr lang="zh-CN" sz="1200" dirty="0"/>
              <a:t>这三层不能跳。直接从业务对象跳到建表，就是我们过去项目里返工最多的地方。</a:t>
            </a:r>
          </a:p>
          <a:p>
            <a:endParaRPr lang="zh-CN"/>
          </a:p>
          <a:p>
            <a:r>
              <a:rPr lang="zh-CN" sz="1200" dirty="0"/>
              <a:t>下面两页是 AA 和 TA。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 AA，应用架构。三要素和两条设计路径。</a:t>
            </a:r>
          </a:p>
          <a:p>
            <a:endParaRPr lang="zh-CN"/>
          </a:p>
          <a:p>
            <a:r>
              <a:rPr lang="zh-CN" sz="1200" dirty="0"/>
              <a:t>三要素是应用系统模块、应用服务识别、应用系统集成。请注意顺序：模块、识别、集成。先分清系统边界，再识别哪些能力是共性的应该沉淀为服务，最后才做集成。顺序反了就变成先接线再想该不该接。</a:t>
            </a:r>
          </a:p>
          <a:p>
            <a:endParaRPr lang="zh-CN"/>
          </a:p>
          <a:p>
            <a:r>
              <a:rPr lang="zh-CN" sz="1200" dirty="0"/>
              <a:t>下面两条设计路径，这是华为的立场：双路径收敛。</a:t>
            </a:r>
          </a:p>
          <a:p>
            <a:endParaRPr lang="zh-CN"/>
          </a:p>
          <a:p>
            <a:r>
              <a:rPr lang="zh-CN" sz="1200" dirty="0"/>
              <a:t>自上而下，从业务能力推导：企业价值流到应用域、到应用组、到功能模块，在每一层定义系统边界。优点是不漏掉战略需要的能力，风险是容易忽略存量系统的实际情况。</a:t>
            </a:r>
          </a:p>
          <a:p>
            <a:endParaRPr lang="zh-CN"/>
          </a:p>
          <a:p>
            <a:r>
              <a:rPr lang="zh-CN" sz="1200" dirty="0"/>
              <a:t>自下而上，从现有系统整合：从已有系统出发，把共性能力聚合为服务，把重复功能合并掉。优点见效快，风险是容易被历史包袱牵着走。</a:t>
            </a:r>
          </a:p>
          <a:p>
            <a:endParaRPr lang="zh-CN"/>
          </a:p>
          <a:p>
            <a:r>
              <a:rPr lang="zh-CN" sz="1200" dirty="0"/>
              <a:t>华为的立场是必须同时走并最终收敛。只自上而下会推倒重建，成本和风险都不可控；只自下而上会长出新的烟囱，因为你看得到的是现在，看不到战略要的。</a:t>
            </a:r>
          </a:p>
          <a:p>
            <a:endParaRPr lang="zh-CN"/>
          </a:p>
          <a:p>
            <a:r>
              <a:rPr lang="zh-CN" sz="1200" dirty="0"/>
              <a:t>收敛不成的标志我在右下角写了：两套应用清单对不上。如果自上而下的应用清单和自下而上梳理出的服务清单对不上，说明两路人在做两件事，没在收敛。</a:t>
            </a:r>
          </a:p>
          <a:p>
            <a:endParaRPr lang="zh-CN"/>
          </a:p>
          <a:p>
            <a:r>
              <a:rPr lang="zh-CN" sz="1200" dirty="0"/>
              <a:t>还有一点是华为特别强调的：区分稳态应用和敏态应用。稳态应用是 ERP 这类变更慢、要求稳定的；敏态应用是面向客户、要求快速迭代的。这两类不能用同一套方法管。</a:t>
            </a:r>
          </a:p>
          <a:p>
            <a:endParaRPr lang="zh-CN"/>
          </a:p>
          <a:p>
            <a:r>
              <a:rPr lang="zh-CN" sz="1200" dirty="0"/>
              <a:t>最下面是 AA 要交付的两张图——功能项设计视图告诉你做什么，运行模型视图告诉你怎么跑、怎么集成。只交第一张不算完成应用架构。</a:t>
            </a:r>
          </a:p>
          <a:p>
            <a:endParaRPr lang="zh-CN"/>
          </a:p>
          <a:p>
            <a:r>
              <a:rPr lang="zh-CN" sz="1200" dirty="0"/>
              <a:t>下一页 TA。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 TA，技术架构。我讲三块。</a:t>
            </a:r>
          </a:p>
          <a:p>
            <a:endParaRPr lang="zh-CN"/>
          </a:p>
          <a:p>
            <a:r>
              <a:rPr lang="zh-CN" sz="1200" dirty="0"/>
              <a:t>上面这一排是六个设计层次，从上往下逐层收敛：策略、框架、组件、服务、平台、部署。前面几层是定方向和标准，后面几层是定实现和部署。</a:t>
            </a:r>
          </a:p>
          <a:p>
            <a:endParaRPr lang="zh-CN"/>
          </a:p>
          <a:p>
            <a:r>
              <a:rPr lang="zh-CN" sz="1200" dirty="0"/>
              <a:t>这一排的价值是它给了 TA 一个明确的边界。很多人的技术架构就是选了一堆产品，那不是架构，是采购清单。有了这六层，就知道技术架构要回答哪六个问题。</a:t>
            </a:r>
          </a:p>
          <a:p>
            <a:endParaRPr lang="zh-CN"/>
          </a:p>
          <a:p>
            <a:r>
              <a:rPr lang="zh-CN" sz="1200" dirty="0"/>
              <a:t>中间左边是华为云化数字平台的三横两纵。三横是基础设施层、数字平台层、公共服务层，两纵是安全保障体系和运营维护体系。</a:t>
            </a:r>
          </a:p>
          <a:p>
            <a:endParaRPr lang="zh-CN"/>
          </a:p>
          <a:p>
            <a:r>
              <a:rPr lang="zh-CN" sz="1200" dirty="0"/>
              <a:t>三横我要解释一下为什么要分这三层。基础设施层是算力存储网络这些；数字平台层是数据平台、集成平台、开发平台——这一层是华为整个转型的核心产出；公共服务层是对内对外统一的能力开放接口。分层的好处是上面换场景不用动底层。</a:t>
            </a:r>
          </a:p>
          <a:p>
            <a:endParaRPr lang="zh-CN"/>
          </a:p>
          <a:p>
            <a:r>
              <a:rPr lang="zh-CN" sz="1200" dirty="0"/>
              <a:t>两纵贯穿全部，这个不用多说。</a:t>
            </a:r>
          </a:p>
          <a:p>
            <a:endParaRPr lang="zh-CN"/>
          </a:p>
          <a:p>
            <a:r>
              <a:rPr lang="zh-CN" sz="1200" dirty="0"/>
              <a:t>中间右边是 TA 要确定的设计内容，一共六项，我按华为原书列的：组件技术选型、部署模型视图、自研开发模型、安全设计、运营设计、DFX 设计。</a:t>
            </a:r>
          </a:p>
          <a:p>
            <a:endParaRPr lang="zh-CN"/>
          </a:p>
          <a:p>
            <a:r>
              <a:rPr lang="zh-CN" sz="1200" dirty="0"/>
              <a:t>DFX 这一项我要特别提一句。DFX 是可用性、可扩展性、可维护性、可测试性的量化目标。写这一项的时候必须写数字，不能写「高可用」。可用的判据是：单点故障有几个、RTO 是多少、支持几倍流量。这三条不写清楚，技术架构就是口号。</a:t>
            </a:r>
          </a:p>
          <a:p>
            <a:endParaRPr lang="zh-CN"/>
          </a:p>
          <a:p>
            <a:r>
              <a:rPr lang="zh-CN" sz="1200" dirty="0"/>
              <a:t>最下面是三个层次的治理。企业级管原则与标准，领域级管本域设计，解决方案级管项目落地。管控三招是立法、把架构审查嵌进流程、定期合规审计。这三招在下一页之后的结语里我不再重复，各位记住框架就行。</a:t>
            </a:r>
          </a:p>
          <a:p>
            <a:endParaRPr lang="zh-CN"/>
          </a:p>
          <a:p>
            <a:r>
              <a:rPr lang="zh-CN" sz="1200" dirty="0"/>
              <a:t>下面进最后一张。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最后一页收口。</a:t>
            </a:r>
          </a:p>
          <a:p>
            <a:endParaRPr lang="zh-CN"/>
          </a:p>
          <a:p>
            <a:r>
              <a:rPr lang="zh-CN" sz="1200" dirty="0"/>
              <a:t>先说三条立场，这是全册最浓缩的三句话。</a:t>
            </a:r>
          </a:p>
          <a:p>
            <a:endParaRPr lang="zh-CN"/>
          </a:p>
          <a:p>
            <a:r>
              <a:rPr lang="zh-CN" sz="1200" dirty="0"/>
              <a:t>顺序不可颠倒。三阶有强依赖，不是建议性的先后，是逻辑上的先后。先有愿景才有架构，先有架构才有举措，先有举措才有项目。跳步做的架构接不住前面的愿景，这句话我在开篇说过，这里再说一次。</a:t>
            </a:r>
          </a:p>
          <a:p>
            <a:endParaRPr lang="zh-CN"/>
          </a:p>
          <a:p>
            <a:r>
              <a:rPr lang="zh-CN" sz="1200" dirty="0"/>
              <a:t>主线与可选要分清。8、10、11 三步可选，但跳过它们的项目一定接不住，因为没指标就没法验收，没举措设计举措就是口号，没路标就大家一起上马。</a:t>
            </a:r>
          </a:p>
          <a:p>
            <a:endParaRPr lang="zh-CN"/>
          </a:p>
          <a:p>
            <a:r>
              <a:rPr lang="zh-CN" sz="1200" dirty="0"/>
              <a:t>四 A 必落业务对象。这是第 29、30 页的内容。落不到业务对象，四 A 就各画各的，谁也接不住谁。</a:t>
            </a:r>
          </a:p>
          <a:p>
            <a:endParaRPr lang="zh-CN"/>
          </a:p>
          <a:p>
            <a:r>
              <a:rPr lang="zh-CN" sz="1200" dirty="0"/>
              <a:t>中间这一块是十三册的分工，我用三条轴来讲。顺序轴是本册的三阶十二步，管做什么、按什么顺序做。内容轴是本册的 4A Y 模型，管四层装什么、收口在哪。做法轴是前面十二册，每一册都是做法轴上的一段，挂在顺序轴的某一步上用。</a:t>
            </a:r>
          </a:p>
          <a:p>
            <a:endParaRPr lang="zh-CN"/>
          </a:p>
          <a:p>
            <a:r>
              <a:rPr lang="zh-CN" sz="1200" dirty="0"/>
              <a:t>请各位特别注意：前面十二册不是独立的专家手册，它们每一册都要挂在三阶十二步的某一步上。挂不上去，说明那一册的内容在项目里没有使用场景。</a:t>
            </a:r>
          </a:p>
          <a:p>
            <a:endParaRPr lang="zh-CN"/>
          </a:p>
          <a:p>
            <a:r>
              <a:rPr lang="zh-CN" sz="1200" dirty="0"/>
              <a:t>最后这句红牌上的问法，是这一册我想留给各位最实用的一句：把这次规划的 PPT 全部删掉，客户手里还剩下什么？</a:t>
            </a:r>
          </a:p>
          <a:p>
            <a:endParaRPr lang="zh-CN"/>
          </a:p>
          <a:p>
            <a:r>
              <a:rPr lang="zh-CN" sz="1200" dirty="0"/>
              <a:t>剩下的如果是产出物清单——十二步那个表，那答对了。如果只剩愿景和举措、没有清单，那还没做完，因为愿景可以编，产出品交不出来。</a:t>
            </a:r>
          </a:p>
          <a:p>
            <a:endParaRPr lang="zh-CN"/>
          </a:p>
          <a:p>
            <a:r>
              <a:rPr lang="zh-CN" sz="1200" dirty="0"/>
              <a:t>好，这一册到这里。华为那本原书只有三百多页，但真正能落地的就是这三条轴：顺序、内容、做法。各位拿这三条轴去串后面的分域专册，就串起来了。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0F1423' }}&gt;&#10;  &lt;Box style={{ position: 'absolute', left: 0, top: 0, width: 1280, height: 720, background: 'linear-gradient(135deg, #0F1423 0%, #2A1810 100%)' }} /&gt;&#10;  &lt;Box style={{ position: 'absolute', right: 0, top: 0, width: 620, height: 720, background: 'linear-gradient(200deg, rgba(250,79,36,0.26) 0%, rgba(250,79,36,0) 70%)' }} /&gt;&#10;&#10;  &lt;Box style={{ position: 'absolute', left: 88, top: 82, width: 1104 }}&gt;&#10;    &lt;Box style={{ flexDirection: 'row', alignItems: 'center', gap: 14 }}&gt;&#10;      &lt;Box style={{ width: 14, height: 14, background: '#FA4F24' }} /&gt;&#10;      &lt;Text style={{ fontSize: 15, color: 'rgba(255,255,255,0.5)', letterSpacing: 3 }}&gt;EA 企业架构咨询方法论 · 第十三册&lt;/Text&gt;&#10;    &lt;/Box&gt;&#10;    &lt;Text style={{ fontSize: 54, fontWeight: 'bold', color: '#FFFFFF', marginTop: 26, lineHeight: 1.15 }}&gt;&#10;      华为数字化转型&lt;span style={{ color: '#FA4F24' }}&gt;之道&lt;/span&gt;&#10;    &lt;/Text&gt;&#10;    &lt;Text style={{ fontSize: 19, color: 'rgba(255,255,255,0.72)', marginTop: 20, lineHeight: 1.6, width: 900 }}&gt;&#10;      三阶十二步 + 4A Y 模型——这一册是底座：先做什么、后做什么、每一步交什么，其余各册讲每一步怎么做&#10;    &lt;/Text&gt;&#10;    &lt;Box style={{ width: 72, height: 5, background: '#FA4F24', marginTop: 26 }} /&gt;&#10;&#10;    &lt;Box style={{ flexDirection: 'row', gap: 10, marginTop: 30 }}&gt;&#10;      {['35 页', '三阶十二步', '4A Y 模型', '含 Approach 全景页', '含成熟度五级', '含口径差异澄清'].map((t) =&gt; (&#10;        &lt;Box key={t} style={{ height: 32, borderRadius: 16, border: '1px solid rgba(255,255,255,0.22)', padding: '0 15px', flexDirection: 'row', alignItems: 'center' }}&gt;&#10;          &lt;Text style={{ fontSize: 13, color: 'rgba(255,255,255,0.78)' }}&gt;{t}&lt;/Text&gt;&#10;        &lt;/Box&gt;&#10;      ))}&#10;    &lt;/Box&gt;&#10;  &lt;/Box&gt;&#10;&#10;  &lt;Box style={{ position: 'absolute', left: 88, top: 578, flexDirection: 'row', gap: 26 }}&gt;&#10;    {[&#10;      { b: 'BA', t: '业务架构' },&#10;      { b: 'IA/DA', t: '信息架构' },&#10;      { b: 'AA', t: '应用架构' },&#10;      { b: 'TA', t: '技术架构' },&#10;      { b: 'Y', t: 'Y 模型', c: '#FA4F24' },&#10;      { b: 'L1–L5', t: '成熟度' },&#10;      { b: '12', t: '十二步' },&#10;    ].map((x, i) =&gt; (&#10;      &lt;Box key={x.b} style={{ opacity: i === 4 ? 1 : 0.4 }}&gt;&#10;        &lt;Text style={{ fontSize: 15, fontWeight: 'bold', color: x.c || '#FFFFFF' }}&gt;{x.b}&lt;/Text&gt;&#10;        &lt;Text style={{ fontSize: 11.5, color: 'rgba(255,255,255,0.7)', marginTop: 3 }}&gt;{x.t}&lt;/Text&gt;&#10;      &lt;/Box&gt;&#10;    ))}&#10;  &lt;/Box&gt;&#10;&#10;  &lt;Box style={{ position: 'absolute', right: 88, bottom: 46, flexDirection: 'row', alignItems: 'center', gap: 12 }}&gt;&#10;    &lt;Text style={{ fontSize: 14, color: 'rgba(255,255,255,0.5)' }}&gt;硕磐机密 · 华为数字化转型之道&lt;/Text&gt;&#10;    &lt;Text style={{ fontSize: 14, color: 'rgba(255,255,255,0.5)', marginLeft: 12 }}&gt;01 / 35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6286500" y="0"/>
            <a:ext cx="5905500" cy="6858000"/>
          </a:xfrm>
          <a:prstGeom prst="rect">
            <a:avLst/>
          </a:prstGeom>
          <a:gradFill>
            <a:gsLst>
              <a:gs pos="0">
                <a:srgbClr val="FA4F24">
                  <a:alpha val="26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838200" y="8001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104900" y="781050"/>
            <a:ext cx="2743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EA </a:t>
            </a:r>
            <a:r>
              <a:rPr lang="zh-CN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企业架构咨询方法论</a:t>
            </a: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第十三册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38200" y="1200150"/>
            <a:ext cx="10515600" cy="7143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050" b="1">
                <a:solidFill>
                  <a:srgbClr val="FFFFFF"/>
                </a:solidFill>
                <a:latin typeface="Microsoft YaHei"/>
                <a:ea typeface="Microsoft YaHei"/>
              </a:rPr>
              <a:t>华为数字化转型</a:t>
            </a:r>
            <a:r>
              <a:rPr lang="zh-CN" sz="4050" b="1">
                <a:solidFill>
                  <a:srgbClr val="FA4F24"/>
                </a:solidFill>
                <a:latin typeface="Microsoft YaHei"/>
                <a:ea typeface="Microsoft YaHei"/>
              </a:rPr>
              <a:t>之道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38200" y="2105025"/>
            <a:ext cx="85725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三阶十二步</a:t>
            </a:r>
            <a:r>
              <a:rPr lang="en-US" sz="1425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 xml:space="preserve"> + 4A Y </a:t>
            </a:r>
            <a:r>
              <a:rPr lang="zh-CN" sz="1425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模型——这一册是底座：先做什么、后做什么、每一步交什么，其余各册讲每一步怎么做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838200" y="30480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" name=""/>
          <p:cNvSpPr/>
          <p:nvPr/>
        </p:nvSpPr>
        <p:spPr>
          <a:xfrm rot="0" flipH="0" flipV="0">
            <a:off x="838200" y="3381375"/>
            <a:ext cx="600075" cy="3048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981075" y="3457575"/>
            <a:ext cx="314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35 </a:t>
            </a: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1533525" y="3381375"/>
            <a:ext cx="904875" cy="3048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676400" y="345757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三阶十二步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2533650" y="3381375"/>
            <a:ext cx="847725" cy="3048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2676525" y="3457575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4A Y </a:t>
            </a: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模型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3476625" y="3381375"/>
            <a:ext cx="1438275" cy="3048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3619500" y="3457575"/>
            <a:ext cx="1152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含</a:t>
            </a:r>
            <a:r>
              <a:rPr lang="en-US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 Approach </a:t>
            </a: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全景页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5010150" y="3381375"/>
            <a:ext cx="1028700" cy="3048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5153025" y="3457575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含成熟度五级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6134100" y="3381375"/>
            <a:ext cx="1152525" cy="3048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276975" y="3457575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含口径差异澄清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3590925" y="5505450"/>
            <a:ext cx="323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Y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3590925" y="5705475"/>
            <a:ext cx="323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 xml:space="preserve">Y </a:t>
            </a:r>
            <a:r>
              <a:rPr lang="zh-CN" sz="863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模型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38200" y="55054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38200" y="57054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业务架构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524000" y="5505450"/>
            <a:ext cx="447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IA/DA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524000" y="5705475"/>
            <a:ext cx="447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信息架构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2219325" y="55054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AA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2219325" y="57054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应用架构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2905125" y="55054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TA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2905125" y="57054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4162425" y="5505450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L1–L5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4162425" y="5705475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成熟度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4829175" y="5505450"/>
            <a:ext cx="333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829175" y="5705475"/>
            <a:ext cx="333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十二步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820150" y="625792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0896600" y="62579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01 / 35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555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本册覆盖&lt;span style={{ color: '#FA4F24' }}&gt;五个部分&lt;/span&gt;：华为的框架底座 → 三阶十二步 → 4A Y 模型&#10;        &lt;/Text&gt;&#10;        &lt;Text style={{ fontSize: 20, color: '#8A8F99', marginTop: 8 }}&gt;&#10;            先立框架再谈步骤，先谈步骤再谈架构——顺序错了，后面的专册都无法落地&#10;        &lt;/Text&gt;&#10;    &lt;/Box&gt;&#10;    &lt;Box style={{ height: 1, background: '#E8E8E8' }} /&gt;&#10;&#10;    {/* B 区 */}&#10;    &lt;Box style={{ paddingTop: 24, paddingBottom: 12, height: 479, flexDirection: 'row', gap: 20 }}&gt;&#10;&#10;        {/* 左 60% 五条 */}&#10;        &lt;Box style={{ width: 700, flexDirection: 'column', gap: 12 }}&gt;&#10;            {[&#10;                { n: '01', t: '认知与框架', d: '时代命题、1 套方法 4 类场景 3 平台、成熟度五级', tag: 'P05–13' },&#10;                { n: '02', t: '三阶十二步', d: '描绘愿景 / 设计蓝图 / 规划举措，每一步的产出物', tag: 'P14–27' },&#10;                { n: '03', t: '4A Y 模型', d: 'BA / IA(DA) / AA / TA 四面，收口点落在业务对象', tag: 'P28–34' },&#10;                { n: '04', t: 'IA 与 DA 的口径差', d: '原书写信息架构，数据之书写数据架构——同一层', tag: 'P31 / 35' },&#10;                { n: '05', t: '现场用法与收口', d: '怎么在客户现场用这一套，哪些话不能讲错', tag: 'P35' },&#10;            ].map((it, i) =&gt; (&#10;                &lt;Box key={i} style={{ flex: 1, flexDirection: 'row', alignItems: 'center', background: '#F7F7F8', borderRadius: 4, padding: '0 20px', gap: 16 }}&gt;&#10;                    &lt;Text style={{ fontSize: 28, fontWeight: 'bold', color: '#FA4F24', width: 48 }}&gt;{it.n}&lt;/Text&gt;&#10;                    &lt;Box style={{ width: 158 }}&gt;&#10;                        &lt;Text style={{ fontSize: 19, fontWeight: 'bold', color: '#0F1423' }}&gt;{it.t}&lt;/Text&gt;&#10;                    &lt;/Box&gt;&#10;                    &lt;Text style={{ fontSize: 14.5, color: '#3A4050', lineHeight: 1.4, flex: 1 }}&gt;{it.d}&lt;/Text&gt;&#10;                    &lt;Text style={{ fontSize: 13, color: '#C43A17', width: 74, textAlign: 'right' }}&gt;{it.tag}&lt;/Text&gt;&#10;                &lt;/Box&gt;&#10;            ))}&#10;        &lt;/Box&gt;&#10;&#10;        {/* 右 40% Approach + 收口 */}&#10;        &lt;Box style={{ flex: 1, flexDirection: 'column', gap: 12 }}&gt;&#10;            &lt;Box style={{ height: 96, background: '#FFF3EE', borderRadius: 4, borderLeft: '4px solid #FA4F24', padding: '12px 18px', flexDirection: 'column', justifyContent: 'center' }}&gt;&#10;                &lt;Text style={{ fontSize: 17, fontWeight: 'bold', color: '#0F1423' }}&gt;&#10;                    &lt;tspan style={{ color: '#FA4F24' }}&gt;P04&lt;/tspan&gt;　Approach：三阶十二步全景&#10;                &lt;/Text&gt;&#10;                &lt;Text style={{ fontSize: 13.5, color: '#3A4050', lineHeight: 1.45, marginTop: 6 }}&gt;&#10;                    十二步全部列出，标注哪三步可选，每个方框写的是这一步必须交出来的东西&#10;                &lt;/Text&gt;&#10;            &lt;/Box&gt;&#10;            {[&#10;                { t: '主线与可选要分清', d: '8、10、11 三步华为标注为可选，但跳过的项目一定接不住' },&#10;                { t: 'Y 模型的落点', d: '四 A 不落到业务对象，就各画各的，谁也接不住谁' },&#10;            ].map((x) =&gt; (&#10;                &lt;Box key={x.t} style={{ flex: 1, background: '#F7F7F8', borderRadius: 4, padding: '0 20px', flexDirection: 'column', justifyContent: 'center' }}&gt;&#10;                    &lt;Text style={{ fontSize: 17, fontWeight: 'bold', color: '#0F1423' }}&gt;{x.t}&lt;/Text&gt;&#10;                    &lt;Text style={{ fontSize: 14, color: '#3A4050', lineHeight: 1.5, marginTop: 8 }}&gt;{x.d}&lt;/Text&gt;&#10;                &lt;/Box&gt;&#10;            ))}&#10;            &lt;Box style={{ flex: 1, background: 'linear-gradient(160deg, #FA4F24 0%, #F87D2F 100%)', borderRadius: 4, padding: '18px 20px', flexDirection: 'column', justifyContent: 'center' }}&gt;&#10;                &lt;Text style={{ fontSize: 17, fontWeight: 'bold', color: '#FFFFFF' }}&gt;全册一条主线&lt;/Text&gt;&#10;                &lt;Text style={{ fontSize: 14.5, color: 'rgba(255,255,255,0.92)', lineHeight: 1.5, marginTop: 8 }}&gt;&#10;                    陶景文：任何不涉及流程重构的数字化转型，都是在装样子&#10;                &lt;/Text&gt;&#10;            &lt;/Box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华为数字化转型之道&lt;/Text&gt;&#10;        &lt;/Box&gt;&#10;        &lt;Text style={{ fontSize: 14, color: '#8A8F99' }}&gt;02 / 3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本册覆盖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五个部分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：华为的框架底座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三阶十二步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→ 4A Y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模型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先立框架再谈步骤，先谈步骤再谈架构——顺序错了，后面的专册都无法落地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560" name=""/>
          <p:cNvSpPr/>
          <p:nvPr/>
        </p:nvSpPr>
        <p:spPr>
          <a:xfrm rot="0" flipH="0" flipV="0">
            <a:off x="609600" y="1381125"/>
            <a:ext cx="6667500" cy="733425"/>
          </a:xfrm>
          <a:prstGeom prst="roundRect">
            <a:avLst>
              <a:gd name="adj" fmla="val 519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800100" y="1590675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1409700" y="1638300"/>
            <a:ext cx="1504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认知与框架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3067050" y="1628775"/>
            <a:ext cx="3162300" cy="2381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88">
                <a:solidFill>
                  <a:srgbClr val="3A4050"/>
                </a:solidFill>
                <a:latin typeface="Microsoft YaHei"/>
                <a:ea typeface="Microsoft YaHei"/>
              </a:rPr>
              <a:t>时代命题、</a:t>
            </a:r>
            <a:r>
              <a:rPr lang="en-US" sz="1088">
                <a:solidFill>
                  <a:srgbClr val="3A4050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088">
                <a:solidFill>
                  <a:srgbClr val="3A4050"/>
                </a:solidFill>
                <a:latin typeface="Microsoft YaHei"/>
                <a:ea typeface="Microsoft YaHei"/>
              </a:rPr>
              <a:t>套方法</a:t>
            </a:r>
            <a:r>
              <a:rPr lang="en-US" sz="1088">
                <a:solidFill>
                  <a:srgbClr val="3A4050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088">
                <a:solidFill>
                  <a:srgbClr val="3A4050"/>
                </a:solidFill>
                <a:latin typeface="Microsoft YaHei"/>
                <a:ea typeface="Microsoft YaHei"/>
              </a:rPr>
              <a:t>类场景</a:t>
            </a:r>
            <a:r>
              <a:rPr lang="en-US" sz="1088">
                <a:solidFill>
                  <a:srgbClr val="3A4050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088">
                <a:solidFill>
                  <a:srgbClr val="3A4050"/>
                </a:solidFill>
                <a:latin typeface="Microsoft YaHei"/>
                <a:ea typeface="Microsoft YaHei"/>
              </a:rPr>
              <a:t>平台、成熟度五级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6381750" y="1676400"/>
            <a:ext cx="70485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P05–13</a:t>
            </a:r>
            <a:endParaRPr/>
          </a:p>
        </p:txBody>
      </p:sp>
      <p:sp>
        <p:nvSpPr>
          <p:cNvPr id="565" name=""/>
          <p:cNvSpPr/>
          <p:nvPr/>
        </p:nvSpPr>
        <p:spPr>
          <a:xfrm rot="0" flipH="0" flipV="0">
            <a:off x="609600" y="2228850"/>
            <a:ext cx="6667500" cy="723900"/>
          </a:xfrm>
          <a:prstGeom prst="roundRect">
            <a:avLst>
              <a:gd name="adj" fmla="val 526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800100" y="2428875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1409700" y="2486025"/>
            <a:ext cx="1504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三阶十二步</a:t>
            </a:r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3067050" y="2476500"/>
            <a:ext cx="3162300" cy="2381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88">
                <a:solidFill>
                  <a:srgbClr val="3A4050"/>
                </a:solidFill>
                <a:latin typeface="Microsoft YaHei"/>
                <a:ea typeface="Microsoft YaHei"/>
              </a:rPr>
              <a:t>描绘愿景</a:t>
            </a:r>
            <a:r>
              <a:rPr lang="en-US" sz="1088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88">
                <a:solidFill>
                  <a:srgbClr val="3A4050"/>
                </a:solidFill>
                <a:latin typeface="Microsoft YaHei"/>
                <a:ea typeface="Microsoft YaHei"/>
              </a:rPr>
              <a:t>设计蓝图</a:t>
            </a:r>
            <a:r>
              <a:rPr lang="en-US" sz="1088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88">
                <a:solidFill>
                  <a:srgbClr val="3A4050"/>
                </a:solidFill>
                <a:latin typeface="Microsoft YaHei"/>
                <a:ea typeface="Microsoft YaHei"/>
              </a:rPr>
              <a:t>规划举措，每一步的产出物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6381750" y="2514600"/>
            <a:ext cx="70485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P14–27</a:t>
            </a:r>
            <a:endParaRPr/>
          </a:p>
        </p:txBody>
      </p:sp>
      <p:sp>
        <p:nvSpPr>
          <p:cNvPr id="570" name=""/>
          <p:cNvSpPr/>
          <p:nvPr/>
        </p:nvSpPr>
        <p:spPr>
          <a:xfrm rot="0" flipH="0" flipV="0">
            <a:off x="609600" y="3067050"/>
            <a:ext cx="6667500" cy="733425"/>
          </a:xfrm>
          <a:prstGeom prst="roundRect">
            <a:avLst>
              <a:gd name="adj" fmla="val 519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800100" y="3276600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1409700" y="3324225"/>
            <a:ext cx="1504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4A Y 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模型</a:t>
            </a:r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3067050" y="3314700"/>
            <a:ext cx="3162300" cy="2381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88">
                <a:solidFill>
                  <a:srgbClr val="3A4050"/>
                </a:solidFill>
                <a:latin typeface="Microsoft YaHei"/>
                <a:ea typeface="Microsoft YaHei"/>
              </a:rPr>
              <a:t xml:space="preserve">BA / IA(DA) / AA / TA </a:t>
            </a:r>
            <a:r>
              <a:rPr lang="zh-CN" sz="1088">
                <a:solidFill>
                  <a:srgbClr val="3A4050"/>
                </a:solidFill>
                <a:latin typeface="Microsoft YaHei"/>
                <a:ea typeface="Microsoft YaHei"/>
              </a:rPr>
              <a:t>四面，收口点落在业务对象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6381750" y="3362325"/>
            <a:ext cx="70485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P28–34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609600" y="3914775"/>
            <a:ext cx="6667500" cy="838200"/>
          </a:xfrm>
          <a:prstGeom prst="roundRect">
            <a:avLst>
              <a:gd name="adj" fmla="val 454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800100" y="4171950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1409700" y="4114800"/>
            <a:ext cx="15049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IA 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与</a:t>
            </a: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DA 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的口径差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3067050" y="4219575"/>
            <a:ext cx="3162300" cy="2381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88">
                <a:solidFill>
                  <a:srgbClr val="3A4050"/>
                </a:solidFill>
                <a:latin typeface="Microsoft YaHei"/>
                <a:ea typeface="Microsoft YaHei"/>
              </a:rPr>
              <a:t>原书写信息架构，数据之书写数据架构——同一层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6381750" y="4257675"/>
            <a:ext cx="70485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P31 / 35</a:t>
            </a:r>
            <a:endParaRPr/>
          </a:p>
        </p:txBody>
      </p:sp>
      <p:sp>
        <p:nvSpPr>
          <p:cNvPr id="580" name=""/>
          <p:cNvSpPr/>
          <p:nvPr/>
        </p:nvSpPr>
        <p:spPr>
          <a:xfrm rot="0" flipH="0" flipV="0">
            <a:off x="609600" y="4867275"/>
            <a:ext cx="6667500" cy="733425"/>
          </a:xfrm>
          <a:prstGeom prst="roundRect">
            <a:avLst>
              <a:gd name="adj" fmla="val 519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800100" y="5076825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1409700" y="5124450"/>
            <a:ext cx="1504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现场用法与收口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3067050" y="5114925"/>
            <a:ext cx="3162300" cy="2381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88">
                <a:solidFill>
                  <a:srgbClr val="3A4050"/>
                </a:solidFill>
                <a:latin typeface="Microsoft YaHei"/>
                <a:ea typeface="Microsoft YaHei"/>
              </a:rPr>
              <a:t>怎么在客户现场用这一套，哪些话不能讲错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6381750" y="5162550"/>
            <a:ext cx="70485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P35</a:t>
            </a:r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7505700" y="1381125"/>
            <a:ext cx="4114800" cy="914400"/>
          </a:xfrm>
          <a:prstGeom prst="roundRect">
            <a:avLst>
              <a:gd name="adj" fmla="val 416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586" name=""/>
          <p:cNvSpPr/>
          <p:nvPr/>
        </p:nvSpPr>
        <p:spPr>
          <a:xfrm rot="0" flipH="0" flipV="0">
            <a:off x="7505700" y="1381125"/>
            <a:ext cx="4114800" cy="914400"/>
          </a:xfrm>
          <a:custGeom>
            <a:pathLst>
              <a:path w="432" h="96">
                <a:moveTo>
                  <a:pt x="4" y="96"/>
                </a:moveTo>
                <a:cubicBezTo>
                  <a:pt x="2" y="96"/>
                  <a:pt x="0" y="94"/>
                  <a:pt x="0" y="9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7677150" y="1485900"/>
            <a:ext cx="3733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423"/>
                </a:solidFill>
                <a:latin typeface="Microsoft YaHei"/>
                <a:ea typeface="Microsoft YaHei"/>
              </a:rPr>
              <a:t>P04</a:t>
            </a: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　</a:t>
            </a:r>
            <a:r>
              <a:rPr lang="en-US" sz="1275" b="1">
                <a:solidFill>
                  <a:srgbClr val="0F1423"/>
                </a:solidFill>
                <a:latin typeface="Microsoft YaHei"/>
                <a:ea typeface="Microsoft YaHei"/>
              </a:rPr>
              <a:t>Approach</a:t>
            </a: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：三阶十二步全景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7677150" y="1743075"/>
            <a:ext cx="37338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13">
                <a:solidFill>
                  <a:srgbClr val="3A4050"/>
                </a:solidFill>
                <a:latin typeface="Microsoft YaHei"/>
                <a:ea typeface="Microsoft YaHei"/>
              </a:rPr>
              <a:t>十二步全部列出，标注哪三步可选，每个方框写的是这一步必须交出来的东西</a:t>
            </a:r>
            <a:endParaRPr/>
          </a:p>
        </p:txBody>
      </p:sp>
      <p:sp>
        <p:nvSpPr>
          <p:cNvPr id="589" name=""/>
          <p:cNvSpPr/>
          <p:nvPr/>
        </p:nvSpPr>
        <p:spPr>
          <a:xfrm rot="0" flipH="0" flipV="0">
            <a:off x="7467600" y="2409825"/>
            <a:ext cx="4114800" cy="866775"/>
          </a:xfrm>
          <a:prstGeom prst="roundRect">
            <a:avLst>
              <a:gd name="adj" fmla="val 439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7658100" y="2581275"/>
            <a:ext cx="3733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主线与可选要分清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7658100" y="2857500"/>
            <a:ext cx="3733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>8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>10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11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三步华为标注为可选，但跳过的项目一定接不住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7467600" y="3390900"/>
            <a:ext cx="4114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7658100" y="3571875"/>
            <a:ext cx="3733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Y </a:t>
            </a: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模型的落点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7658100" y="3848100"/>
            <a:ext cx="3733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四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不落到业务对象，就各画各的，谁也接不住谁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7467600" y="4381500"/>
            <a:ext cx="4114800" cy="1219200"/>
          </a:xfrm>
          <a:prstGeom prst="roundRect">
            <a:avLst>
              <a:gd name="adj" fmla="val 3125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7658100" y="4724400"/>
            <a:ext cx="3733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全册一条主线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7658100" y="5000625"/>
            <a:ext cx="37338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88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陶景文：任何不涉及流程重构的数字化转型，都是在装样子</a:t>
            </a:r>
            <a:endParaRPr/>
          </a:p>
        </p:txBody>
      </p:sp>
      <p:sp>
        <p:nvSpPr>
          <p:cNvPr id="598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02 / 35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250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前面十二册是分域专册，这一册是&lt;span style={{ color: '#FA4F24' }}&gt;它们共同的底座&lt;/span&gt;&#10;        &lt;/Text&gt;&#10;        &lt;Text style={{ fontSize: 20, color: '#8A8F99', marginTop: 8 }}&gt;&#10;            不先立愿景和架构，Ontology、Agent、知识库、管道、治理、主数据、指标、FDE 每一册都无处安放&#10;        &lt;/Text&gt;&#10;    &lt;/Box&gt;&#10;    &lt;Box style={{ height: 1, background: '#E8E8E8' }} /&gt;&#10;&#10;    {/* B 区 */}&#10;    &lt;Box style={{ paddingTop: 20, paddingBottom: 12, height: 479, flexDirection: 'column', gap: 10 }}&gt;&#10;&#10;        {/* 上：定位卡 */}&#10;        &lt;Box style={{ height: 104, background: '#0F1423', borderRadius: 4, padding: '14px 22px', flexDirection: 'row', alignItems: 'center', gap: 24 }}&gt;&#10;            &lt;Text style={{ fontSize: 15, color: '#FBA15C', letterSpacing: 2, width: 128 }}&gt;本册定位&lt;/Text&gt;&#10;            &lt;Text style={{ fontSize: 21, color: '#FFFFFF', lineHeight: 1.5, flex: 1 }}&gt;&#10;                这一册讲&lt;span style={{ color: '#FA4F24' }}&gt;先做什么、后做什么、每一步交什么&lt;/span&gt;；&#10;                其余各册讲每一步&lt;span style={{ color: '#FA4F24' }}&gt;怎么做&lt;/span&gt;&#10;            &lt;/Text&gt;&#10;            &lt;Box style={{ width: 1, height: 52, background: 'rgba(255,255,255,0.2)' }} /&gt;&#10;            &lt;Text style={{ fontSize: 13, color: 'rgba(255,255,255,0.68)', lineHeight: 1.5, width: 246 }}&gt;&#10;                底座不定，上面每一层都是自说自话的孤立系统&#10;            &lt;/Text&gt;&#10;        &lt;/Box&gt;&#10;&#10;        {/* 中：两列 */}&#10;        &lt;Box style={{ height: 236, flexDirection: 'row', gap: 10 }}&gt;&#10;&#10;            {/* 左：三阶十二步 */}&#10;            &lt;Box style={{ flex: 1, background: '#F7F7F8', borderRadius: 4, padding: '14px 18px', flexDirection: 'column' }}&gt;&#10;                &lt;Text style={{ fontSize: 16, fontWeight: 'bold', color: '#0F1423' }}&gt;&#10;                    规划方法论：&lt;tspan style={{ color: '#FA4F24' }}&gt;三阶十二步&lt;/tspan&gt;&#10;                &lt;/Text&gt;&#10;                &lt;Text style={{ fontSize: 12.5, color: '#8A8F99', marginTop: 5, marginBottom: 10 }}&gt;&#10;                    解决：项目从哪来、先干哪个、凭什么排优先级&#10;                &lt;/Text&gt;&#10;                {[&#10;                    { s: '第一阶', t: '以终为始，描绘愿景', d: '步骤 1–5', c: '#FA4F24' },&#10;                    { s: '第二阶', t: '统一认识，设计架构蓝图', d: '步骤 6–7', c: '#E0641E' },&#10;                    { s: '第三阶', t: '把握节奏，规划举措和项目', d: '步骤 8–12', c: '#C43A17' },&#10;                ].map((x, i) =&gt; (&#10;                    &lt;Box key={x.s} style={{ flex: 1, flexDirection: 'row', alignItems: 'center', background: '#FFFFFF', borderRadius: 3, borderLeft: '4px solid ' + x.c, padding: '0 14px', marginTop: i === 0 ? 0 : 7 }}&gt;&#10;                        &lt;Text style={{ fontSize: 13, fontWeight: 'bold', color: x.c, width: 62 }}&gt;{x.s}&lt;/Text&gt;&#10;                        &lt;Text style={{ fontSize: 14.5, fontWeight: 'bold', color: '#0F1423', flex: 1 }}&gt;{x.t}&lt;/Text&gt;&#10;                        &lt;Text style={{ fontSize: 12, color: '#8A8F99' }}&gt;{x.d}&lt;/Text&gt;&#10;                    &lt;/Box&gt;&#10;                ))}&#10;            &lt;/Box&gt;&#10;&#10;            {/* 右：4A Y 模型 */}&#10;            &lt;Box style={{ flex: 1, background: '#F7F7F8', borderRadius: 4, padding: '14px 18px', flexDirection: 'column' }}&gt;&#10;                &lt;Text style={{ fontSize: 16, fontWeight: 'bold', color: '#0F1423' }}&gt;&#10;                    架构方法论：&lt;tspan style={{ color: '#FA4F24' }}&gt;4A Y 模型&lt;/tspan&gt;&#10;                &lt;/Text&gt;&#10;                &lt;Text style={{ fontSize: 12.5, color: '#8A8F99', marginTop: 5, marginBottom: 10 }}&gt;&#10;                    解决：四层怎么排、怎么对齐、收口落在哪个对象上&#10;                &lt;/Text&gt;&#10;                {[&#10;                    { s: 'BA', t: '业务架构', d: '价值流 · 能力 · 流程' },&#10;                    { s: 'IA/DA', t: '信息（数据）架构', d: '概念 · 逻辑 · 物理' },&#10;                    { s: 'AA', t: '应用架构', d: '模块 · 服务 · 集成' },&#10;                    { s: 'TA', t: '技术架构', d: '组件 · 部署 · DFX' },&#10;                ].map((x, i) =&gt; (&#10;                    &lt;Box key={x.s} style={{ flex: 1, flexDirection: 'row', alignItems: 'center', background: '#FFFFFF', borderRadius: 3, padding: '0 14px', marginTop: i === 0 ? 0 : 5 }}&gt;&#10;                        &lt;Text style={{ fontSize: 14, fontWeight: 'bold', color: '#FA4F24', width: 70 }}&gt;{x.s}&lt;/Text&gt;&#10;                        &lt;Text style={{ fontSize: 13.5, fontWeight: 'bold', color: '#0F1423', width: 140 }}&gt;{x.t}&lt;/Text&gt;&#10;                        &lt;Text style={{ fontSize: 12, color: '#8A8F99', flex: 1 }}&gt;{x.d}&lt;/Text&gt;&#10;                    &lt;/Box&gt;&#10;                ))}&#10;                &lt;Box style={{ height: 30, background: '#FFF3EE', borderRadius: 3, border: '1px solid #FBA15C', flexDirection: 'row', alignItems: 'center', padding: '0 14px', marginTop: 7 }}&gt;&#10;                    &lt;Text style={{ fontSize: 12.5, fontWeight: 'bold', color: '#C43A17' }}&gt;收口点：业务对象&lt;/Text&gt;&#10;                    &lt;Text style={{ fontSize: 11.5, color: '#5A6070', flex: 1, marginLeft: 10 }}&gt;不落到它，四 A 各画各的&lt;/Text&gt;&#10;                &lt;/Box&gt;&#10;            &lt;/Box&gt;&#10;        &lt;/Box&gt;&#10;&#10;        {/* 下：十二册位置 */}&#10;        &lt;Box style={{ flex: 1, flexDirection: 'column' }}&gt;&#10;            &lt;Text style={{ fontSize: 13, fontWeight: 'bold', color: '#0F1423', marginBottom: 7 }}&gt;前面十二册在这张底座上的位置&lt;/Text&gt;&#10;            &lt;Box style={{ flex: 1, flexDirection: 'row', gap: 4 }}&gt;&#10;                {[&#10;                    { b: '4A', t: '架构分层', c: '#FA4F24' },&#10;                    { b: 'ONT', t: 'Ontology' },&#10;                    { b: 'AGT', t: 'Agent' },&#10;                    { b: 'KB', t: '知识库' },&#10;                    { b: 'PIPE', t: '管道' },&#10;                    { b: 'GOV', t: '治理' },&#10;                    { b: 'MDM', t: '主数据' },&#10;                    { b: 'KPI', t: '指标' },&#10;                    { b: 'BA', t: '业务' },&#10;                    { b: 'DA', t: '数据' },&#10;                    { b: 'FDE', t: '交付模型' },&#10;                ].map((x) =&gt; (&#10;                    &lt;Box key={x.b} style={{ flex: 1, background: x.c || '#F7F7F8', borderRadius: 3, alignItems: 'center', justifyContent: 'center', flexDirection: 'column' }}&gt;&#10;                        &lt;Text style={{ fontSize: 12.5, fontWeight: 'bold', color: x.c ? '#FFFFFF' : '#0F1423' }}&gt;{x.b}&lt;/Text&gt;&#10;                        &lt;Text style={{ fontSize: 9.5, color: x.c ? 'rgba(255,255,255,0.85)' : '#8A8F99', marginTop: 2 }}&gt;{x.t}&lt;/Text&gt;&#10;                    &lt;/Box&gt;&#10;                ))}&#10;            &lt;/Box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华为数字化转型之道&lt;/Text&gt;&#10;        &lt;/Box&gt;&#10;        &lt;Text style={{ fontSize: 14, color: '#8A8F99' }}&gt;03 / 3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5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前面十二册是分域专册，这一册是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它们共同的底座</a:t>
            </a:r>
            <a:endParaRPr/>
          </a:p>
        </p:txBody>
      </p:sp>
      <p:sp>
        <p:nvSpPr>
          <p:cNvPr id="125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不先立愿景和架构，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>Ontology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、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>Agent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、知识库、管道、治理、主数据、指标、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每一册都无处安放</a:t>
            </a:r>
            <a:endParaRPr/>
          </a:p>
        </p:txBody>
      </p:sp>
      <p:sp>
        <p:nvSpPr>
          <p:cNvPr id="125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55" name=""/>
          <p:cNvSpPr/>
          <p:nvPr/>
        </p:nvSpPr>
        <p:spPr>
          <a:xfrm rot="0" flipH="0" flipV="0">
            <a:off x="609600" y="1343025"/>
            <a:ext cx="10972800" cy="990600"/>
          </a:xfrm>
          <a:prstGeom prst="roundRect">
            <a:avLst>
              <a:gd name="adj" fmla="val 3846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56" name="" descr="{&quot;isTemplate&quot;:true,&quot;type&quot;:&quot;text&quot;}"/>
          <p:cNvSpPr txBox="1"/>
          <p:nvPr/>
        </p:nvSpPr>
        <p:spPr>
          <a:xfrm rot="0" flipH="0" flipV="0">
            <a:off x="819150" y="1752600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FBA15C"/>
                </a:solidFill>
                <a:latin typeface="Microsoft YaHei"/>
                <a:ea typeface="Microsoft YaHei"/>
              </a:rPr>
              <a:t>本册定位</a:t>
            </a:r>
            <a:endParaRPr/>
          </a:p>
        </p:txBody>
      </p:sp>
      <p:sp>
        <p:nvSpPr>
          <p:cNvPr id="1257" name="" descr="{&quot;isTemplate&quot;:true,&quot;type&quot;:&quot;text&quot;}"/>
          <p:cNvSpPr txBox="1"/>
          <p:nvPr/>
        </p:nvSpPr>
        <p:spPr>
          <a:xfrm rot="0" flipH="0" flipV="0">
            <a:off x="2266950" y="1476375"/>
            <a:ext cx="6296025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这一册讲</a:t>
            </a:r>
            <a:r>
              <a:rPr lang="zh-CN" sz="1575">
                <a:solidFill>
                  <a:srgbClr val="FA4F24"/>
                </a:solidFill>
                <a:latin typeface="Microsoft YaHei"/>
                <a:ea typeface="Microsoft YaHei"/>
              </a:rPr>
              <a:t>先做什么、后做什么、每一步交什么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；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其余各册讲每一步</a:t>
            </a:r>
            <a:r>
              <a:rPr lang="zh-CN" sz="1575">
                <a:solidFill>
                  <a:srgbClr val="FA4F24"/>
                </a:solidFill>
                <a:latin typeface="Microsoft YaHei"/>
                <a:ea typeface="Microsoft YaHei"/>
              </a:rPr>
              <a:t>怎么做</a:t>
            </a:r>
            <a:endParaRPr/>
          </a:p>
        </p:txBody>
      </p:sp>
      <p:sp>
        <p:nvSpPr>
          <p:cNvPr id="1258" name=""/>
          <p:cNvSpPr/>
          <p:nvPr/>
        </p:nvSpPr>
        <p:spPr>
          <a:xfrm rot="0" flipH="0" flipV="0">
            <a:off x="8791575" y="1590675"/>
            <a:ext cx="9525" cy="4953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p/>
        </p:txBody>
      </p:sp>
      <p:sp>
        <p:nvSpPr>
          <p:cNvPr id="1259" name="" descr="{&quot;isTemplate&quot;:true,&quot;type&quot;:&quot;text&quot;}"/>
          <p:cNvSpPr txBox="1"/>
          <p:nvPr/>
        </p:nvSpPr>
        <p:spPr>
          <a:xfrm rot="0" flipH="0" flipV="0">
            <a:off x="9029700" y="1619250"/>
            <a:ext cx="23431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</a:rPr>
              <a:t>底座不定，上面每一层都是自说自话的孤立系统</a:t>
            </a:r>
            <a:endParaRPr/>
          </a:p>
        </p:txBody>
      </p:sp>
      <p:sp>
        <p:nvSpPr>
          <p:cNvPr id="1260" name=""/>
          <p:cNvSpPr/>
          <p:nvPr/>
        </p:nvSpPr>
        <p:spPr>
          <a:xfrm rot="0" flipH="0" flipV="0">
            <a:off x="609600" y="2428875"/>
            <a:ext cx="5438775" cy="2247900"/>
          </a:xfrm>
          <a:prstGeom prst="roundRect">
            <a:avLst>
              <a:gd name="adj" fmla="val 169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61" name="" descr="{&quot;isTemplate&quot;:true,&quot;type&quot;:&quot;text&quot;}"/>
          <p:cNvSpPr txBox="1"/>
          <p:nvPr/>
        </p:nvSpPr>
        <p:spPr>
          <a:xfrm rot="0" flipH="0" flipV="0">
            <a:off x="781050" y="2562225"/>
            <a:ext cx="5095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规划方法论：</a:t>
            </a: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三阶十二步</a:t>
            </a:r>
            <a:endParaRPr/>
          </a:p>
        </p:txBody>
      </p:sp>
      <p:sp>
        <p:nvSpPr>
          <p:cNvPr id="1262" name="" descr="{&quot;isTemplate&quot;:true,&quot;type&quot;:&quot;text&quot;}"/>
          <p:cNvSpPr txBox="1"/>
          <p:nvPr/>
        </p:nvSpPr>
        <p:spPr>
          <a:xfrm rot="0" flipH="0" flipV="0">
            <a:off x="781050" y="2800350"/>
            <a:ext cx="5095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A8F99"/>
                </a:solidFill>
                <a:latin typeface="Microsoft YaHei"/>
                <a:ea typeface="Microsoft YaHei"/>
              </a:rPr>
              <a:t>解决：项目从哪来、先干哪个、凭什么排优先级</a:t>
            </a:r>
            <a:endParaRPr/>
          </a:p>
        </p:txBody>
      </p:sp>
      <p:sp>
        <p:nvSpPr>
          <p:cNvPr id="1263" name=""/>
          <p:cNvSpPr/>
          <p:nvPr/>
        </p:nvSpPr>
        <p:spPr>
          <a:xfrm rot="0" flipH="0" flipV="0">
            <a:off x="819150" y="3038475"/>
            <a:ext cx="5095875" cy="457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64" name=""/>
          <p:cNvSpPr/>
          <p:nvPr/>
        </p:nvSpPr>
        <p:spPr>
          <a:xfrm rot="0" flipH="0" flipV="0">
            <a:off x="819150" y="3038475"/>
            <a:ext cx="5095875" cy="457200"/>
          </a:xfrm>
          <a:custGeom>
            <a:pathLst>
              <a:path w="535" h="48">
                <a:moveTo>
                  <a:pt x="4" y="48"/>
                </a:moveTo>
                <a:cubicBezTo>
                  <a:pt x="3" y="48"/>
                  <a:pt x="2" y="48"/>
                  <a:pt x="1" y="47"/>
                </a:cubicBezTo>
                <a:cubicBezTo>
                  <a:pt x="0" y="46"/>
                  <a:pt x="0" y="46"/>
                  <a:pt x="0" y="4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65" name="" descr="{&quot;isTemplate&quot;:true,&quot;type&quot;:&quot;text&quot;}"/>
          <p:cNvSpPr txBox="1"/>
          <p:nvPr/>
        </p:nvSpPr>
        <p:spPr>
          <a:xfrm rot="0" flipH="0" flipV="0">
            <a:off x="952500" y="3190875"/>
            <a:ext cx="590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A4F24"/>
                </a:solidFill>
                <a:latin typeface="Microsoft YaHei"/>
                <a:ea typeface="Microsoft YaHei"/>
              </a:rPr>
              <a:t>第一阶</a:t>
            </a:r>
            <a:endParaRPr/>
          </a:p>
        </p:txBody>
      </p:sp>
      <p:sp>
        <p:nvSpPr>
          <p:cNvPr id="1266" name="" descr="{&quot;isTemplate&quot;:true,&quot;type&quot;:&quot;text&quot;}"/>
          <p:cNvSpPr txBox="1"/>
          <p:nvPr/>
        </p:nvSpPr>
        <p:spPr>
          <a:xfrm rot="0" flipH="0" flipV="0">
            <a:off x="1543050" y="3181350"/>
            <a:ext cx="3733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以终为始，描绘愿景</a:t>
            </a:r>
            <a:endParaRPr/>
          </a:p>
        </p:txBody>
      </p:sp>
      <p:sp>
        <p:nvSpPr>
          <p:cNvPr id="1267" name="" descr="{&quot;isTemplate&quot;:true,&quot;type&quot;:&quot;text&quot;}"/>
          <p:cNvSpPr txBox="1"/>
          <p:nvPr/>
        </p:nvSpPr>
        <p:spPr>
          <a:xfrm rot="0" flipH="0" flipV="0">
            <a:off x="5276850" y="3200400"/>
            <a:ext cx="466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步骤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1–5</a:t>
            </a:r>
            <a:endParaRPr/>
          </a:p>
        </p:txBody>
      </p:sp>
      <p:sp>
        <p:nvSpPr>
          <p:cNvPr id="1268" name=""/>
          <p:cNvSpPr/>
          <p:nvPr/>
        </p:nvSpPr>
        <p:spPr>
          <a:xfrm rot="0" flipH="0" flipV="0">
            <a:off x="819150" y="3562350"/>
            <a:ext cx="5095875" cy="457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69" name=""/>
          <p:cNvSpPr/>
          <p:nvPr/>
        </p:nvSpPr>
        <p:spPr>
          <a:xfrm rot="0" flipH="0" flipV="0">
            <a:off x="819150" y="3562350"/>
            <a:ext cx="5095875" cy="457200"/>
          </a:xfrm>
          <a:custGeom>
            <a:pathLst>
              <a:path w="535" h="48">
                <a:moveTo>
                  <a:pt x="4" y="48"/>
                </a:moveTo>
                <a:cubicBezTo>
                  <a:pt x="3" y="48"/>
                  <a:pt x="2" y="48"/>
                  <a:pt x="1" y="47"/>
                </a:cubicBezTo>
                <a:cubicBezTo>
                  <a:pt x="0" y="46"/>
                  <a:pt x="0" y="46"/>
                  <a:pt x="0" y="4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1270" name="" descr="{&quot;isTemplate&quot;:true,&quot;type&quot;:&quot;text&quot;}"/>
          <p:cNvSpPr txBox="1"/>
          <p:nvPr/>
        </p:nvSpPr>
        <p:spPr>
          <a:xfrm rot="0" flipH="0" flipV="0">
            <a:off x="952500" y="3714750"/>
            <a:ext cx="590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E0641E"/>
                </a:solidFill>
                <a:latin typeface="Microsoft YaHei"/>
                <a:ea typeface="Microsoft YaHei"/>
              </a:rPr>
              <a:t>第二阶</a:t>
            </a:r>
            <a:endParaRPr/>
          </a:p>
        </p:txBody>
      </p:sp>
      <p:sp>
        <p:nvSpPr>
          <p:cNvPr id="1271" name="" descr="{&quot;isTemplate&quot;:true,&quot;type&quot;:&quot;text&quot;}"/>
          <p:cNvSpPr txBox="1"/>
          <p:nvPr/>
        </p:nvSpPr>
        <p:spPr>
          <a:xfrm rot="0" flipH="0" flipV="0">
            <a:off x="1543050" y="3705225"/>
            <a:ext cx="3733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统一认识，设计架构蓝图</a:t>
            </a:r>
            <a:endParaRPr/>
          </a:p>
        </p:txBody>
      </p:sp>
      <p:sp>
        <p:nvSpPr>
          <p:cNvPr id="1272" name="" descr="{&quot;isTemplate&quot;:true,&quot;type&quot;:&quot;text&quot;}"/>
          <p:cNvSpPr txBox="1"/>
          <p:nvPr/>
        </p:nvSpPr>
        <p:spPr>
          <a:xfrm rot="0" flipH="0" flipV="0">
            <a:off x="5276850" y="3724275"/>
            <a:ext cx="466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步骤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6–7</a:t>
            </a:r>
            <a:endParaRPr/>
          </a:p>
        </p:txBody>
      </p:sp>
      <p:sp>
        <p:nvSpPr>
          <p:cNvPr id="1273" name=""/>
          <p:cNvSpPr/>
          <p:nvPr/>
        </p:nvSpPr>
        <p:spPr>
          <a:xfrm rot="0" flipH="0" flipV="0">
            <a:off x="819150" y="4086225"/>
            <a:ext cx="5095875" cy="457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74" name=""/>
          <p:cNvSpPr/>
          <p:nvPr/>
        </p:nvSpPr>
        <p:spPr>
          <a:xfrm rot="0" flipH="0" flipV="0">
            <a:off x="819150" y="4086225"/>
            <a:ext cx="5095875" cy="457200"/>
          </a:xfrm>
          <a:custGeom>
            <a:pathLst>
              <a:path w="535" h="48">
                <a:moveTo>
                  <a:pt x="4" y="48"/>
                </a:moveTo>
                <a:cubicBezTo>
                  <a:pt x="3" y="48"/>
                  <a:pt x="2" y="48"/>
                  <a:pt x="1" y="47"/>
                </a:cubicBezTo>
                <a:cubicBezTo>
                  <a:pt x="0" y="46"/>
                  <a:pt x="0" y="46"/>
                  <a:pt x="0" y="4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275" name="" descr="{&quot;isTemplate&quot;:true,&quot;type&quot;:&quot;text&quot;}"/>
          <p:cNvSpPr txBox="1"/>
          <p:nvPr/>
        </p:nvSpPr>
        <p:spPr>
          <a:xfrm rot="0" flipH="0" flipV="0">
            <a:off x="952500" y="4238625"/>
            <a:ext cx="590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第三阶</a:t>
            </a:r>
            <a:endParaRPr/>
          </a:p>
        </p:txBody>
      </p:sp>
      <p:sp>
        <p:nvSpPr>
          <p:cNvPr id="1276" name="" descr="{&quot;isTemplate&quot;:true,&quot;type&quot;:&quot;text&quot;}"/>
          <p:cNvSpPr txBox="1"/>
          <p:nvPr/>
        </p:nvSpPr>
        <p:spPr>
          <a:xfrm rot="0" flipH="0" flipV="0">
            <a:off x="1543050" y="4229100"/>
            <a:ext cx="3667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把握节奏，规划举措和项目</a:t>
            </a:r>
            <a:endParaRPr/>
          </a:p>
        </p:txBody>
      </p:sp>
      <p:sp>
        <p:nvSpPr>
          <p:cNvPr id="1277" name="" descr="{&quot;isTemplate&quot;:true,&quot;type&quot;:&quot;text&quot;}"/>
          <p:cNvSpPr txBox="1"/>
          <p:nvPr/>
        </p:nvSpPr>
        <p:spPr>
          <a:xfrm rot="0" flipH="0" flipV="0">
            <a:off x="5210175" y="4248150"/>
            <a:ext cx="533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步骤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8–12</a:t>
            </a:r>
            <a:endParaRPr/>
          </a:p>
        </p:txBody>
      </p:sp>
      <p:sp>
        <p:nvSpPr>
          <p:cNvPr id="1278" name=""/>
          <p:cNvSpPr/>
          <p:nvPr/>
        </p:nvSpPr>
        <p:spPr>
          <a:xfrm rot="0" flipH="0" flipV="0">
            <a:off x="6143625" y="2428875"/>
            <a:ext cx="5438775" cy="2247900"/>
          </a:xfrm>
          <a:prstGeom prst="roundRect">
            <a:avLst>
              <a:gd name="adj" fmla="val 169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79" name="" descr="{&quot;isTemplate&quot;:true,&quot;type&quot;:&quot;text&quot;}"/>
          <p:cNvSpPr txBox="1"/>
          <p:nvPr/>
        </p:nvSpPr>
        <p:spPr>
          <a:xfrm rot="0" flipH="0" flipV="0">
            <a:off x="6315075" y="2562225"/>
            <a:ext cx="5095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架构方法论：</a:t>
            </a:r>
            <a:r>
              <a:rPr lang="en-US" sz="12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4A Y </a:t>
            </a: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模型</a:t>
            </a:r>
            <a:endParaRPr/>
          </a:p>
        </p:txBody>
      </p:sp>
      <p:sp>
        <p:nvSpPr>
          <p:cNvPr id="1280" name="" descr="{&quot;isTemplate&quot;:true,&quot;type&quot;:&quot;text&quot;}"/>
          <p:cNvSpPr txBox="1"/>
          <p:nvPr/>
        </p:nvSpPr>
        <p:spPr>
          <a:xfrm rot="0" flipH="0" flipV="0">
            <a:off x="6315075" y="2800350"/>
            <a:ext cx="5095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A8F99"/>
                </a:solidFill>
                <a:latin typeface="Microsoft YaHei"/>
                <a:ea typeface="Microsoft YaHei"/>
              </a:rPr>
              <a:t>解决：四层怎么排、怎么对齐、收口落在哪个对象上</a:t>
            </a:r>
            <a:endParaRPr/>
          </a:p>
        </p:txBody>
      </p:sp>
      <p:sp>
        <p:nvSpPr>
          <p:cNvPr id="1281" name=""/>
          <p:cNvSpPr/>
          <p:nvPr/>
        </p:nvSpPr>
        <p:spPr>
          <a:xfrm rot="0" flipH="0" flipV="0">
            <a:off x="6315075" y="3038475"/>
            <a:ext cx="5095875" cy="25717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82" name="" descr="{&quot;isTemplate&quot;:true,&quot;type&quot;:&quot;text&quot;}"/>
          <p:cNvSpPr txBox="1"/>
          <p:nvPr/>
        </p:nvSpPr>
        <p:spPr>
          <a:xfrm rot="0" flipH="0" flipV="0">
            <a:off x="6448425" y="308610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1283" name="" descr="{&quot;isTemplate&quot;:true,&quot;type&quot;:&quot;text&quot;}"/>
          <p:cNvSpPr txBox="1"/>
          <p:nvPr/>
        </p:nvSpPr>
        <p:spPr>
          <a:xfrm rot="0" flipH="0" flipV="0">
            <a:off x="7115175" y="30861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业务架构</a:t>
            </a:r>
            <a:endParaRPr/>
          </a:p>
        </p:txBody>
      </p:sp>
      <p:sp>
        <p:nvSpPr>
          <p:cNvPr id="1284" name="" descr="{&quot;isTemplate&quot;:true,&quot;type&quot;:&quot;text&quot;}"/>
          <p:cNvSpPr txBox="1"/>
          <p:nvPr/>
        </p:nvSpPr>
        <p:spPr>
          <a:xfrm rot="0" flipH="0" flipV="0">
            <a:off x="8448675" y="3095625"/>
            <a:ext cx="2828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价值流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能力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流程</a:t>
            </a:r>
            <a:endParaRPr/>
          </a:p>
        </p:txBody>
      </p:sp>
      <p:sp>
        <p:nvSpPr>
          <p:cNvPr id="1285" name=""/>
          <p:cNvSpPr/>
          <p:nvPr/>
        </p:nvSpPr>
        <p:spPr>
          <a:xfrm rot="0" flipH="0" flipV="0">
            <a:off x="6315075" y="3343275"/>
            <a:ext cx="5095875" cy="2476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86" name="" descr="{&quot;isTemplate&quot;:true,&quot;type&quot;:&quot;text&quot;}"/>
          <p:cNvSpPr txBox="1"/>
          <p:nvPr/>
        </p:nvSpPr>
        <p:spPr>
          <a:xfrm rot="0" flipH="0" flipV="0">
            <a:off x="6448425" y="339090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IA/DA</a:t>
            </a:r>
            <a:endParaRPr/>
          </a:p>
        </p:txBody>
      </p:sp>
      <p:sp>
        <p:nvSpPr>
          <p:cNvPr id="1287" name="" descr="{&quot;isTemplate&quot;:true,&quot;type&quot;:&quot;text&quot;}"/>
          <p:cNvSpPr txBox="1"/>
          <p:nvPr/>
        </p:nvSpPr>
        <p:spPr>
          <a:xfrm rot="0" flipH="0" flipV="0">
            <a:off x="7115175" y="33909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信息（数据）架构</a:t>
            </a:r>
            <a:endParaRPr/>
          </a:p>
        </p:txBody>
      </p:sp>
      <p:sp>
        <p:nvSpPr>
          <p:cNvPr id="1288" name="" descr="{&quot;isTemplate&quot;:true,&quot;type&quot;:&quot;text&quot;}"/>
          <p:cNvSpPr txBox="1"/>
          <p:nvPr/>
        </p:nvSpPr>
        <p:spPr>
          <a:xfrm rot="0" flipH="0" flipV="0">
            <a:off x="8448675" y="3400425"/>
            <a:ext cx="2828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概念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逻辑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物理</a:t>
            </a:r>
            <a:endParaRPr/>
          </a:p>
        </p:txBody>
      </p:sp>
      <p:sp>
        <p:nvSpPr>
          <p:cNvPr id="1289" name=""/>
          <p:cNvSpPr/>
          <p:nvPr/>
        </p:nvSpPr>
        <p:spPr>
          <a:xfrm rot="0" flipH="0" flipV="0">
            <a:off x="6315075" y="3638550"/>
            <a:ext cx="5095875" cy="25717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90" name="" descr="{&quot;isTemplate&quot;:true,&quot;type&quot;:&quot;text&quot;}"/>
          <p:cNvSpPr txBox="1"/>
          <p:nvPr/>
        </p:nvSpPr>
        <p:spPr>
          <a:xfrm rot="0" flipH="0" flipV="0">
            <a:off x="6448425" y="368617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AA</a:t>
            </a:r>
            <a:endParaRPr/>
          </a:p>
        </p:txBody>
      </p:sp>
      <p:sp>
        <p:nvSpPr>
          <p:cNvPr id="1291" name="" descr="{&quot;isTemplate&quot;:true,&quot;type&quot;:&quot;text&quot;}"/>
          <p:cNvSpPr txBox="1"/>
          <p:nvPr/>
        </p:nvSpPr>
        <p:spPr>
          <a:xfrm rot="0" flipH="0" flipV="0">
            <a:off x="7115175" y="3686175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应用架构</a:t>
            </a:r>
            <a:endParaRPr/>
          </a:p>
        </p:txBody>
      </p:sp>
      <p:sp>
        <p:nvSpPr>
          <p:cNvPr id="1292" name="" descr="{&quot;isTemplate&quot;:true,&quot;type&quot;:&quot;text&quot;}"/>
          <p:cNvSpPr txBox="1"/>
          <p:nvPr/>
        </p:nvSpPr>
        <p:spPr>
          <a:xfrm rot="0" flipH="0" flipV="0">
            <a:off x="8448675" y="3695700"/>
            <a:ext cx="2828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模块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服务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集成</a:t>
            </a:r>
            <a:endParaRPr/>
          </a:p>
        </p:txBody>
      </p:sp>
      <p:sp>
        <p:nvSpPr>
          <p:cNvPr id="1293" name=""/>
          <p:cNvSpPr/>
          <p:nvPr/>
        </p:nvSpPr>
        <p:spPr>
          <a:xfrm rot="0" flipH="0" flipV="0">
            <a:off x="6315075" y="3943350"/>
            <a:ext cx="5095875" cy="2476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94" name="" descr="{&quot;isTemplate&quot;:true,&quot;type&quot;:&quot;text&quot;}"/>
          <p:cNvSpPr txBox="1"/>
          <p:nvPr/>
        </p:nvSpPr>
        <p:spPr>
          <a:xfrm rot="0" flipH="0" flipV="0">
            <a:off x="6448425" y="399097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TA</a:t>
            </a:r>
            <a:endParaRPr/>
          </a:p>
        </p:txBody>
      </p:sp>
      <p:sp>
        <p:nvSpPr>
          <p:cNvPr id="1295" name="" descr="{&quot;isTemplate&quot;:true,&quot;type&quot;:&quot;text&quot;}"/>
          <p:cNvSpPr txBox="1"/>
          <p:nvPr/>
        </p:nvSpPr>
        <p:spPr>
          <a:xfrm rot="0" flipH="0" flipV="0">
            <a:off x="7115175" y="3990975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1296" name="" descr="{&quot;isTemplate&quot;:true,&quot;type&quot;:&quot;text&quot;}"/>
          <p:cNvSpPr txBox="1"/>
          <p:nvPr/>
        </p:nvSpPr>
        <p:spPr>
          <a:xfrm rot="0" flipH="0" flipV="0">
            <a:off x="8448675" y="4000500"/>
            <a:ext cx="2828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组件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部署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DFX</a:t>
            </a:r>
            <a:endParaRPr/>
          </a:p>
        </p:txBody>
      </p:sp>
      <p:sp>
        <p:nvSpPr>
          <p:cNvPr id="1297" name=""/>
          <p:cNvSpPr/>
          <p:nvPr/>
        </p:nvSpPr>
        <p:spPr>
          <a:xfrm rot="0" flipH="0" flipV="0">
            <a:off x="6315075" y="4257675"/>
            <a:ext cx="5095875" cy="285750"/>
          </a:xfrm>
          <a:prstGeom prst="roundRect">
            <a:avLst>
              <a:gd name="adj" fmla="val 10000"/>
            </a:avLst>
          </a:prstGeom>
          <a:solidFill>
            <a:srgbClr val="FFF3EE"/>
          </a:solidFill>
          <a:ln w="12700">
            <a:solidFill>
              <a:srgbClr val="FBA15C"/>
            </a:solidFill>
            <a:prstDash val="solid"/>
          </a:ln>
        </p:spPr>
        <p:txBody>
          <a:bodyPr/>
          <a:p/>
        </p:txBody>
      </p:sp>
      <p:sp>
        <p:nvSpPr>
          <p:cNvPr id="1298" name="" descr="{&quot;isTemplate&quot;:true,&quot;type&quot;:&quot;text&quot;}"/>
          <p:cNvSpPr txBox="1"/>
          <p:nvPr/>
        </p:nvSpPr>
        <p:spPr>
          <a:xfrm rot="0" flipH="0" flipV="0">
            <a:off x="6448425" y="4333875"/>
            <a:ext cx="952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收口点：业务对象</a:t>
            </a:r>
            <a:endParaRPr/>
          </a:p>
        </p:txBody>
      </p:sp>
      <p:sp>
        <p:nvSpPr>
          <p:cNvPr id="1299" name="" descr="{&quot;isTemplate&quot;:true,&quot;type&quot;:&quot;text&quot;}"/>
          <p:cNvSpPr txBox="1"/>
          <p:nvPr/>
        </p:nvSpPr>
        <p:spPr>
          <a:xfrm rot="0" flipH="0" flipV="0">
            <a:off x="7496175" y="4333875"/>
            <a:ext cx="3781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不落到它，四</a:t>
            </a:r>
            <a:r>
              <a:rPr lang="en-US" sz="863">
                <a:solidFill>
                  <a:srgbClr val="5A6070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各画各的</a:t>
            </a:r>
            <a:endParaRPr/>
          </a:p>
        </p:txBody>
      </p:sp>
      <p:sp>
        <p:nvSpPr>
          <p:cNvPr id="1300" name="" descr="{&quot;isTemplate&quot;:true,&quot;type&quot;:&quot;text&quot;}"/>
          <p:cNvSpPr txBox="1"/>
          <p:nvPr/>
        </p:nvSpPr>
        <p:spPr>
          <a:xfrm rot="0" flipH="0" flipV="0">
            <a:off x="609600" y="4772025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前面十二册在这张底座上的位置</a:t>
            </a:r>
            <a:endParaRPr/>
          </a:p>
        </p:txBody>
      </p:sp>
      <p:sp>
        <p:nvSpPr>
          <p:cNvPr id="1301" name=""/>
          <p:cNvSpPr/>
          <p:nvPr/>
        </p:nvSpPr>
        <p:spPr>
          <a:xfrm rot="0" flipH="0" flipV="0">
            <a:off x="609600" y="4991100"/>
            <a:ext cx="962025" cy="609600"/>
          </a:xfrm>
          <a:prstGeom prst="roundRect">
            <a:avLst>
              <a:gd name="adj" fmla="val 4688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02" name="" descr="{&quot;isTemplate&quot;:true,&quot;type&quot;:&quot;text&quot;}"/>
          <p:cNvSpPr txBox="1"/>
          <p:nvPr/>
        </p:nvSpPr>
        <p:spPr>
          <a:xfrm rot="0" flipH="0" flipV="0">
            <a:off x="1009650" y="5162550"/>
            <a:ext cx="171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FFFFF"/>
                </a:solidFill>
                <a:latin typeface="Microsoft YaHei"/>
                <a:ea typeface="Microsoft YaHei"/>
              </a:rPr>
              <a:t>4A</a:t>
            </a:r>
            <a:endParaRPr/>
          </a:p>
        </p:txBody>
      </p:sp>
      <p:sp>
        <p:nvSpPr>
          <p:cNvPr id="1303" name="" descr="{&quot;isTemplate&quot;:true,&quot;type&quot;:&quot;text&quot;}"/>
          <p:cNvSpPr txBox="1"/>
          <p:nvPr/>
        </p:nvSpPr>
        <p:spPr>
          <a:xfrm rot="0" flipH="0" flipV="0">
            <a:off x="914400" y="5324475"/>
            <a:ext cx="3619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架构分层</a:t>
            </a:r>
            <a:endParaRPr/>
          </a:p>
        </p:txBody>
      </p:sp>
      <p:sp>
        <p:nvSpPr>
          <p:cNvPr id="1304" name=""/>
          <p:cNvSpPr/>
          <p:nvPr/>
        </p:nvSpPr>
        <p:spPr>
          <a:xfrm rot="0" flipH="0" flipV="0">
            <a:off x="1609725" y="4991100"/>
            <a:ext cx="962025" cy="609600"/>
          </a:xfrm>
          <a:prstGeom prst="roundRect">
            <a:avLst>
              <a:gd name="adj" fmla="val 468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05" name="" descr="{&quot;isTemplate&quot;:true,&quot;type&quot;:&quot;text&quot;}"/>
          <p:cNvSpPr txBox="1"/>
          <p:nvPr/>
        </p:nvSpPr>
        <p:spPr>
          <a:xfrm rot="0" flipH="0" flipV="0">
            <a:off x="1952625" y="5162550"/>
            <a:ext cx="276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>ONT</a:t>
            </a:r>
            <a:endParaRPr/>
          </a:p>
        </p:txBody>
      </p:sp>
      <p:sp>
        <p:nvSpPr>
          <p:cNvPr id="1306" name="" descr="{&quot;isTemplate&quot;:true,&quot;type&quot;:&quot;text&quot;}"/>
          <p:cNvSpPr txBox="1"/>
          <p:nvPr/>
        </p:nvSpPr>
        <p:spPr>
          <a:xfrm rot="0" flipH="0" flipV="0">
            <a:off x="1885950" y="5324475"/>
            <a:ext cx="4095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8A8F99"/>
                </a:solidFill>
                <a:latin typeface="Microsoft YaHei"/>
                <a:ea typeface="Microsoft YaHei"/>
              </a:rPr>
              <a:t>Ontology</a:t>
            </a:r>
            <a:endParaRPr/>
          </a:p>
        </p:txBody>
      </p:sp>
      <p:sp>
        <p:nvSpPr>
          <p:cNvPr id="1307" name=""/>
          <p:cNvSpPr/>
          <p:nvPr/>
        </p:nvSpPr>
        <p:spPr>
          <a:xfrm rot="0" flipH="0" flipV="0">
            <a:off x="2609850" y="4991100"/>
            <a:ext cx="962025" cy="609600"/>
          </a:xfrm>
          <a:prstGeom prst="roundRect">
            <a:avLst>
              <a:gd name="adj" fmla="val 468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08" name="" descr="{&quot;isTemplate&quot;:true,&quot;type&quot;:&quot;text&quot;}"/>
          <p:cNvSpPr txBox="1"/>
          <p:nvPr/>
        </p:nvSpPr>
        <p:spPr>
          <a:xfrm rot="0" flipH="0" flipV="0">
            <a:off x="2962275" y="5162550"/>
            <a:ext cx="257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>AGT</a:t>
            </a:r>
            <a:endParaRPr/>
          </a:p>
        </p:txBody>
      </p:sp>
      <p:sp>
        <p:nvSpPr>
          <p:cNvPr id="1309" name="" descr="{&quot;isTemplate&quot;:true,&quot;type&quot;:&quot;text&quot;}"/>
          <p:cNvSpPr txBox="1"/>
          <p:nvPr/>
        </p:nvSpPr>
        <p:spPr>
          <a:xfrm rot="0" flipH="0" flipV="0">
            <a:off x="2962275" y="5324475"/>
            <a:ext cx="2667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8A8F99"/>
                </a:solidFill>
                <a:latin typeface="Microsoft YaHei"/>
                <a:ea typeface="Microsoft YaHei"/>
              </a:rPr>
              <a:t>Agent</a:t>
            </a:r>
            <a:endParaRPr/>
          </a:p>
        </p:txBody>
      </p:sp>
      <p:sp>
        <p:nvSpPr>
          <p:cNvPr id="1310" name=""/>
          <p:cNvSpPr/>
          <p:nvPr/>
        </p:nvSpPr>
        <p:spPr>
          <a:xfrm rot="0" flipH="0" flipV="0">
            <a:off x="3609975" y="4991100"/>
            <a:ext cx="962025" cy="609600"/>
          </a:xfrm>
          <a:prstGeom prst="roundRect">
            <a:avLst>
              <a:gd name="adj" fmla="val 468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11" name="" descr="{&quot;isTemplate&quot;:true,&quot;type&quot;:&quot;text&quot;}"/>
          <p:cNvSpPr txBox="1"/>
          <p:nvPr/>
        </p:nvSpPr>
        <p:spPr>
          <a:xfrm rot="0" flipH="0" flipV="0">
            <a:off x="4010025" y="5162550"/>
            <a:ext cx="171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>KB</a:t>
            </a:r>
            <a:endParaRPr/>
          </a:p>
        </p:txBody>
      </p:sp>
      <p:sp>
        <p:nvSpPr>
          <p:cNvPr id="1312" name="" descr="{&quot;isTemplate&quot;:true,&quot;type&quot;:&quot;text&quot;}"/>
          <p:cNvSpPr txBox="1"/>
          <p:nvPr/>
        </p:nvSpPr>
        <p:spPr>
          <a:xfrm rot="0" flipH="0" flipV="0">
            <a:off x="3952875" y="5324475"/>
            <a:ext cx="2762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8A8F99"/>
                </a:solidFill>
                <a:latin typeface="Microsoft YaHei"/>
                <a:ea typeface="Microsoft YaHei"/>
              </a:rPr>
              <a:t>知识库</a:t>
            </a:r>
            <a:endParaRPr/>
          </a:p>
        </p:txBody>
      </p:sp>
      <p:sp>
        <p:nvSpPr>
          <p:cNvPr id="1313" name=""/>
          <p:cNvSpPr/>
          <p:nvPr/>
        </p:nvSpPr>
        <p:spPr>
          <a:xfrm rot="0" flipH="0" flipV="0">
            <a:off x="4610100" y="4991100"/>
            <a:ext cx="962025" cy="609600"/>
          </a:xfrm>
          <a:prstGeom prst="roundRect">
            <a:avLst>
              <a:gd name="adj" fmla="val 468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14" name="" descr="{&quot;isTemplate&quot;:true,&quot;type&quot;:&quot;text&quot;}"/>
          <p:cNvSpPr txBox="1"/>
          <p:nvPr/>
        </p:nvSpPr>
        <p:spPr>
          <a:xfrm rot="0" flipH="0" flipV="0">
            <a:off x="4962525" y="5162550"/>
            <a:ext cx="266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>PIPE</a:t>
            </a:r>
            <a:endParaRPr/>
          </a:p>
        </p:txBody>
      </p:sp>
      <p:sp>
        <p:nvSpPr>
          <p:cNvPr id="1315" name="" descr="{&quot;isTemplate&quot;:true,&quot;type&quot;:&quot;text&quot;}"/>
          <p:cNvSpPr txBox="1"/>
          <p:nvPr/>
        </p:nvSpPr>
        <p:spPr>
          <a:xfrm rot="0" flipH="0" flipV="0">
            <a:off x="5000625" y="5324475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8A8F99"/>
                </a:solidFill>
                <a:latin typeface="Microsoft YaHei"/>
                <a:ea typeface="Microsoft YaHei"/>
              </a:rPr>
              <a:t>管道</a:t>
            </a:r>
            <a:endParaRPr/>
          </a:p>
        </p:txBody>
      </p:sp>
      <p:sp>
        <p:nvSpPr>
          <p:cNvPr id="1316" name=""/>
          <p:cNvSpPr/>
          <p:nvPr/>
        </p:nvSpPr>
        <p:spPr>
          <a:xfrm rot="0" flipH="0" flipV="0">
            <a:off x="5610225" y="4991100"/>
            <a:ext cx="971550" cy="609600"/>
          </a:xfrm>
          <a:prstGeom prst="roundRect">
            <a:avLst>
              <a:gd name="adj" fmla="val 468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17" name="" descr="{&quot;isTemplate&quot;:true,&quot;type&quot;:&quot;text&quot;}"/>
          <p:cNvSpPr txBox="1"/>
          <p:nvPr/>
        </p:nvSpPr>
        <p:spPr>
          <a:xfrm rot="0" flipH="0" flipV="0">
            <a:off x="5962650" y="5162550"/>
            <a:ext cx="276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>GOV</a:t>
            </a:r>
            <a:endParaRPr/>
          </a:p>
        </p:txBody>
      </p:sp>
      <p:sp>
        <p:nvSpPr>
          <p:cNvPr id="1318" name="" descr="{&quot;isTemplate&quot;:true,&quot;type&quot;:&quot;text&quot;}"/>
          <p:cNvSpPr txBox="1"/>
          <p:nvPr/>
        </p:nvSpPr>
        <p:spPr>
          <a:xfrm rot="0" flipH="0" flipV="0">
            <a:off x="6010275" y="5324475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8A8F99"/>
                </a:solidFill>
                <a:latin typeface="Microsoft YaHei"/>
                <a:ea typeface="Microsoft YaHei"/>
              </a:rPr>
              <a:t>治理</a:t>
            </a:r>
            <a:endParaRPr/>
          </a:p>
        </p:txBody>
      </p:sp>
      <p:sp>
        <p:nvSpPr>
          <p:cNvPr id="1319" name=""/>
          <p:cNvSpPr/>
          <p:nvPr/>
        </p:nvSpPr>
        <p:spPr>
          <a:xfrm rot="0" flipH="0" flipV="0">
            <a:off x="6619875" y="4991100"/>
            <a:ext cx="962025" cy="609600"/>
          </a:xfrm>
          <a:prstGeom prst="roundRect">
            <a:avLst>
              <a:gd name="adj" fmla="val 468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20" name="" descr="{&quot;isTemplate&quot;:true,&quot;type&quot;:&quot;text&quot;}"/>
          <p:cNvSpPr txBox="1"/>
          <p:nvPr/>
        </p:nvSpPr>
        <p:spPr>
          <a:xfrm rot="0" flipH="0" flipV="0">
            <a:off x="6934200" y="516255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>MDM</a:t>
            </a:r>
            <a:endParaRPr/>
          </a:p>
        </p:txBody>
      </p:sp>
      <p:sp>
        <p:nvSpPr>
          <p:cNvPr id="1321" name="" descr="{&quot;isTemplate&quot;:true,&quot;type&quot;:&quot;text&quot;}"/>
          <p:cNvSpPr txBox="1"/>
          <p:nvPr/>
        </p:nvSpPr>
        <p:spPr>
          <a:xfrm rot="0" flipH="0" flipV="0">
            <a:off x="6962775" y="5324475"/>
            <a:ext cx="2762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8A8F99"/>
                </a:solidFill>
                <a:latin typeface="Microsoft YaHei"/>
                <a:ea typeface="Microsoft YaHei"/>
              </a:rPr>
              <a:t>主数据</a:t>
            </a:r>
            <a:endParaRPr/>
          </a:p>
        </p:txBody>
      </p:sp>
      <p:sp>
        <p:nvSpPr>
          <p:cNvPr id="1322" name=""/>
          <p:cNvSpPr/>
          <p:nvPr/>
        </p:nvSpPr>
        <p:spPr>
          <a:xfrm rot="0" flipH="0" flipV="0">
            <a:off x="7620000" y="4991100"/>
            <a:ext cx="962025" cy="609600"/>
          </a:xfrm>
          <a:prstGeom prst="roundRect">
            <a:avLst>
              <a:gd name="adj" fmla="val 468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23" name="" descr="{&quot;isTemplate&quot;:true,&quot;type&quot;:&quot;text&quot;}"/>
          <p:cNvSpPr txBox="1"/>
          <p:nvPr/>
        </p:nvSpPr>
        <p:spPr>
          <a:xfrm rot="0" flipH="0" flipV="0">
            <a:off x="8001000" y="5162550"/>
            <a:ext cx="209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>KPI</a:t>
            </a:r>
            <a:endParaRPr/>
          </a:p>
        </p:txBody>
      </p:sp>
      <p:sp>
        <p:nvSpPr>
          <p:cNvPr id="1324" name="" descr="{&quot;isTemplate&quot;:true,&quot;type&quot;:&quot;text&quot;}"/>
          <p:cNvSpPr txBox="1"/>
          <p:nvPr/>
        </p:nvSpPr>
        <p:spPr>
          <a:xfrm rot="0" flipH="0" flipV="0">
            <a:off x="8010525" y="5324475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8A8F99"/>
                </a:solidFill>
                <a:latin typeface="Microsoft YaHei"/>
                <a:ea typeface="Microsoft YaHei"/>
              </a:rPr>
              <a:t>指标</a:t>
            </a:r>
            <a:endParaRPr/>
          </a:p>
        </p:txBody>
      </p:sp>
      <p:sp>
        <p:nvSpPr>
          <p:cNvPr id="1325" name=""/>
          <p:cNvSpPr/>
          <p:nvPr/>
        </p:nvSpPr>
        <p:spPr>
          <a:xfrm rot="0" flipH="0" flipV="0">
            <a:off x="8620125" y="4991100"/>
            <a:ext cx="962025" cy="609600"/>
          </a:xfrm>
          <a:prstGeom prst="roundRect">
            <a:avLst>
              <a:gd name="adj" fmla="val 468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26" name="" descr="{&quot;isTemplate&quot;:true,&quot;type&quot;:&quot;text&quot;}"/>
          <p:cNvSpPr txBox="1"/>
          <p:nvPr/>
        </p:nvSpPr>
        <p:spPr>
          <a:xfrm rot="0" flipH="0" flipV="0">
            <a:off x="9020175" y="5162550"/>
            <a:ext cx="171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1327" name="" descr="{&quot;isTemplate&quot;:true,&quot;type&quot;:&quot;text&quot;}"/>
          <p:cNvSpPr txBox="1"/>
          <p:nvPr/>
        </p:nvSpPr>
        <p:spPr>
          <a:xfrm rot="0" flipH="0" flipV="0">
            <a:off x="9010650" y="5324475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8A8F99"/>
                </a:solidFill>
                <a:latin typeface="Microsoft YaHei"/>
                <a:ea typeface="Microsoft YaHei"/>
              </a:rPr>
              <a:t>业务</a:t>
            </a:r>
            <a:endParaRPr/>
          </a:p>
        </p:txBody>
      </p:sp>
      <p:sp>
        <p:nvSpPr>
          <p:cNvPr id="1328" name=""/>
          <p:cNvSpPr/>
          <p:nvPr/>
        </p:nvSpPr>
        <p:spPr>
          <a:xfrm rot="0" flipH="0" flipV="0">
            <a:off x="9620250" y="4991100"/>
            <a:ext cx="962025" cy="609600"/>
          </a:xfrm>
          <a:prstGeom prst="roundRect">
            <a:avLst>
              <a:gd name="adj" fmla="val 468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29" name="" descr="{&quot;isTemplate&quot;:true,&quot;type&quot;:&quot;text&quot;}"/>
          <p:cNvSpPr txBox="1"/>
          <p:nvPr/>
        </p:nvSpPr>
        <p:spPr>
          <a:xfrm rot="0" flipH="0" flipV="0">
            <a:off x="10010775" y="5162550"/>
            <a:ext cx="190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>DA</a:t>
            </a:r>
            <a:endParaRPr/>
          </a:p>
        </p:txBody>
      </p:sp>
      <p:sp>
        <p:nvSpPr>
          <p:cNvPr id="1330" name="" descr="{&quot;isTemplate&quot;:true,&quot;type&quot;:&quot;text&quot;}"/>
          <p:cNvSpPr txBox="1"/>
          <p:nvPr/>
        </p:nvSpPr>
        <p:spPr>
          <a:xfrm rot="0" flipH="0" flipV="0">
            <a:off x="10010775" y="5324475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8A8F99"/>
                </a:solidFill>
                <a:latin typeface="Microsoft YaHei"/>
                <a:ea typeface="Microsoft YaHei"/>
              </a:rPr>
              <a:t>数据</a:t>
            </a:r>
            <a:endParaRPr/>
          </a:p>
        </p:txBody>
      </p:sp>
      <p:sp>
        <p:nvSpPr>
          <p:cNvPr id="1331" name=""/>
          <p:cNvSpPr/>
          <p:nvPr/>
        </p:nvSpPr>
        <p:spPr>
          <a:xfrm rot="0" flipH="0" flipV="0">
            <a:off x="10620375" y="4991100"/>
            <a:ext cx="962025" cy="609600"/>
          </a:xfrm>
          <a:prstGeom prst="roundRect">
            <a:avLst>
              <a:gd name="adj" fmla="val 468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32" name="" descr="{&quot;isTemplate&quot;:true,&quot;type&quot;:&quot;text&quot;}"/>
          <p:cNvSpPr txBox="1"/>
          <p:nvPr/>
        </p:nvSpPr>
        <p:spPr>
          <a:xfrm rot="0" flipH="0" flipV="0">
            <a:off x="10982325" y="5162550"/>
            <a:ext cx="238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>FDE</a:t>
            </a:r>
            <a:endParaRPr/>
          </a:p>
        </p:txBody>
      </p:sp>
      <p:sp>
        <p:nvSpPr>
          <p:cNvPr id="1333" name="" descr="{&quot;isTemplate&quot;:true,&quot;type&quot;:&quot;text&quot;}"/>
          <p:cNvSpPr txBox="1"/>
          <p:nvPr/>
        </p:nvSpPr>
        <p:spPr>
          <a:xfrm rot="0" flipH="0" flipV="0">
            <a:off x="10925175" y="5324475"/>
            <a:ext cx="3619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8A8F99"/>
                </a:solidFill>
                <a:latin typeface="Microsoft YaHei"/>
                <a:ea typeface="Microsoft YaHei"/>
              </a:rPr>
              <a:t>交付模型</a:t>
            </a:r>
            <a:endParaRPr/>
          </a:p>
        </p:txBody>
      </p:sp>
      <p:sp>
        <p:nvSpPr>
          <p:cNvPr id="1334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35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1336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03 / 35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681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Approach：&lt;span style={{ color: '#FA4F24' }}&gt;三阶十二步&lt;/span&gt;全景与每一步的产出物&#10;        &lt;/Text&gt;&#10;        &lt;Text style={{ fontSize: 19, color: '#8A8F99', marginTop: 7 }}&gt;&#10;            粗线是主线不能跳，空心角标的是华为标注的可选步——但跳过的项目一定接不住&#10;        &lt;/Text&gt;&#10;    &lt;/Box&gt;&#10;    &lt;Box style={{ height: 1, background: '#E8E8E8' }} /&gt;&#10;&#10;    {/* B 区 */}&#10;    &lt;Box style={{ paddingTop: 10, paddingBottom: 6, height: 479, flexDirection: 'column', gap: 7 }}&gt;&#10;&#10;        {/* 阶段色带 */}&#10;        &lt;Box style={{ height: 26, flexDirection: 'row', gap: 4 }}&gt;&#10;            &lt;Box style={{ flex: 1, background: '#FA4F24', borderRadius: 3, flexDirection: 'row', alignItems: 'center', justifyContent: 'center' }}&gt;&#10;                &lt;Text style={{ fontSize: 12.5, fontWeight: 'bold', color: '#FFFFFF' }}&gt;第一阶　以终为始，描绘愿景（1–5）&lt;/Text&gt;&#10;            &lt;/Box&gt;&#10;            &lt;Box style={{ flex: 1, background: '#E0641E', borderRadius: 3, flexDirection: 'row', alignItems: 'center', justifyContent: 'center' }}&gt;&#10;                &lt;Text style={{ fontSize: 12.5, fontWeight: 'bold', color: '#FFFFFF' }}&gt;第二阶　统一认识，设计架构蓝图（6–7）&lt;/Text&gt;&#10;            &lt;/Box&gt;&#10;            &lt;Box style={{ flex: 1, background: '#C43A17', borderRadius: 3, flexDirection: 'row', alignItems: 'center', justifyContent: 'center' }}&gt;&#10;                &lt;Text style={{ fontSize: 12.5, fontWeight: 'bold', color: '#FFFFFF' }}&gt;第三阶　把握节奏，规划举措和项目（8–12）&lt;/Text&gt;&#10;            &lt;/Box&gt;&#10;        &lt;/Box&gt;&#10;&#10;        {/* 12 步网格 4 列 × 3 行 */}&#10;        &lt;Box style={{ flex: 1, flexDirection: 'column', gap: 5 }}&gt;&#10;            {[&#10;                [&#10;                    { n: '01', t: '理解企业战略诉求', o: '高层访谈纪要 · 战略解码与关注要点', c: '#FA4F24' },&#10;                    { n: '02', t: '5「看」', o: '五看扫描记录 · 机会与价值清单', c: '#FA4F24' },&#10;                    { n: '03', t: '成熟度评估', o: '关键用户访谈纪要 · 成熟度打分表', c: '#FA4F24' },&#10;                    { n: '04', t: '现状和差距分析', o: '差距清单 · 业界对标结论', c: '#FA4F24' },&#10;                    { n: '05', t: '描绘数字化愿景', o: '愿景蓝图 · 不拘泥现状的前瞻目标', c: '#FA4F24', main: true },&#10;                ],&#10;                [&#10;                    { n: '06', t: '设计顶层架构蓝图', o: '顶层架构蓝图（分层分级）', c: '#E0641E' },&#10;                    { n: '07', t: '「一体四面」细化', o: 'BA/IA/AA/TA 分域细化 · 突破口识别', c: '#E0641E', main: true },&#10;                ],&#10;                [&#10;                    { n: '08', t: '指标体系', o: '转型指标体系与预设值', c: '#C43A17', opt: true },&#10;                    { n: '09', t: '识别转型举措', o: '举措清单 · 关键成功要素与目标', c: '#C43A17' },&#10;                    { n: '10', t: '举措设计', o: '举措架构方案 · 变革点细分', c: '#C43A17', opt: true },&#10;                    { n: '11', t: '数字化转型路标', o: '分期路标 · 每阶段关注重点与抓手', c: '#C43A17', opt: true },&#10;                    { n: '12', t: '规划项目', o: '项目清单 · 公司级与领域级分工 · 排期', c: '#C43A17', main: true },&#10;                ],&#10;            ].map((row, ri) =&gt; (&#10;                &lt;Box key={ri} style={{ flex: 1, flexDirection: 'row', gap: 5 }}&gt;&#10;                    {row.map((x) =&gt; (&#10;                        &lt;Box key={x.n} style={{&#10;                            flex: 1,&#10;                            background: '#FFFFFF',&#10;                            borderRadius: 3,&#10;                            border: '1px solid #E8E8E8',&#10;                            borderTop: '3px solid ' + x.c,&#10;                            padding: '8px 11px',&#10;                            flexDirection: 'column',&#10;                            justifyContent: 'center',&#10;                        }}&gt;&#10;                            &lt;Box style={{ flexDirection: 'row', alignItems: 'center', gap: 6 }}&gt;&#10;                                &lt;Text style={{ fontSize: 13, fontWeight: 'bold', color: x.c }}&gt;{x.n}&lt;/Text&gt;&#10;                                &lt;Text style={{ fontSize: 12.5, fontWeight: 'bold', color: '#0F1423', flex: 1 }}&gt;{x.t}&lt;/Text&gt;&#10;                                {x.opt &amp;&amp; (&#10;                                    &lt;Box style={{ height: 15, padding: '0 5px', borderRadius: 2, border: '1px solid #8A8F99', flexDirection: 'row', alignItems: 'center' }}&gt;&#10;                                        &lt;Text style={{ fontSize: 9.5, color: '#8A8F99' }}&gt;可选&lt;/Text&gt;&#10;                                    &lt;/Box&gt;&#10;                                )}&#10;                                {x.main &amp;&amp; (&#10;                                    &lt;Box style={{ height: 15, padding: '0 5px', borderRadius: 2, background: x.c, flexDirection: 'row', alignItems: 'center' }}&gt;&#10;                                        &lt;Text style={{ fontSize: 9.5, color: '#FFFFFF' }}&gt;主线&lt;/Text&gt;&#10;                                    &lt;/Box&gt;&#10;                                )}&#10;                            &lt;/Box&gt;&#10;                            &lt;Text style={{ fontSize: 10, color: '#5A6070', lineHeight: 1.35, marginTop: 4 }}&gt;产出：{x.o}&lt;/Text&gt;&#10;                        &lt;/Box&gt;&#10;                    ))}&#10;                &lt;/Box&gt;&#10;            ))}&#10;        &lt;/Box&gt;&#10;&#10;        {/* 底部三条铁律 */}&#10;        &lt;Box style={{ height: 30, flexDirection: 'row', gap: 7 }}&gt;&#10;            {[&#10;                { k: '顺序不可颠倒', v: '三阶有强依赖，跳步做的架构接不住前面的愿景', c: '#FA4F24', dark: true },&#10;                { k: '主线不可省', v: '5、7、12 是三个阶各自的收口步，交不出来等于没规划', c: '#F87D2F', dark: false },&#10;                { k: '可选不是不做', v: '时间允许建议全走一遍，规划出的项目更能被变革组承接', c: '#FA4F24', dark: false },&#10;            ].map((x) =&gt; (&#10;                &lt;Box key={x.k} style={{ flex: 1, background: x.dark ? '#0F1423' : '#F7F7F8', borderLeft: '4px solid ' + x.c, borderRadius: 3, padding: '0 12px', flexDirection: 'row', alignItems: 'center', gap: 8 }}&gt;&#10;                    &lt;Text style={{ fontSize: 12, fontWeight: 'bold', color: x.dark ? '#FBA15C' : '#0F1423' }}&gt;{x.k}&lt;/Text&gt;&#10;                    &lt;Text style={{ fontSize: 10, color: x.dark ? 'rgba(255,255,255,0.88)' : '#5A6070', flex: 1, lineHeight: 1.3 }}&gt;{x.v}&lt;/Text&gt;&#10;                &lt;/Box&gt;&#10;            ))}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华为数字化转型之道&lt;/Text&gt;&#10;        &lt;/Box&gt;&#10;        &lt;Text style={{ fontSize: 14, color: '#8A8F99' }}&gt;04 / 3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83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>Approach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三阶十二步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全景与每一步的产出物</a:t>
            </a:r>
            <a:endParaRPr/>
          </a:p>
        </p:txBody>
      </p:sp>
      <p:sp>
        <p:nvSpPr>
          <p:cNvPr id="1684" name="" descr="{&quot;isTemplate&quot;:true,&quot;type&quot;:&quot;text&quot;}"/>
          <p:cNvSpPr txBox="1"/>
          <p:nvPr/>
        </p:nvSpPr>
        <p:spPr>
          <a:xfrm rot="0" flipH="0" flipV="0">
            <a:off x="609600" y="666750"/>
            <a:ext cx="10972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8A8F99"/>
                </a:solidFill>
                <a:latin typeface="Microsoft YaHei"/>
                <a:ea typeface="Microsoft YaHei"/>
              </a:rPr>
              <a:t>粗线是主线不能跳，空心角标的是华为标注的可选步——但跳过的项目一定接不住</a:t>
            </a:r>
            <a:endParaRPr/>
          </a:p>
        </p:txBody>
      </p:sp>
      <p:sp>
        <p:nvSpPr>
          <p:cNvPr id="1685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686" name=""/>
          <p:cNvSpPr/>
          <p:nvPr/>
        </p:nvSpPr>
        <p:spPr>
          <a:xfrm rot="0" flipH="0" flipV="0">
            <a:off x="609600" y="1247775"/>
            <a:ext cx="3629025" cy="247650"/>
          </a:xfrm>
          <a:prstGeom prst="roundRect">
            <a:avLst>
              <a:gd name="adj" fmla="val 11538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87" name="" descr="{&quot;isTemplate&quot;:true,&quot;type&quot;:&quot;text&quot;}"/>
          <p:cNvSpPr txBox="1"/>
          <p:nvPr/>
        </p:nvSpPr>
        <p:spPr>
          <a:xfrm rot="0" flipH="0" flipV="0">
            <a:off x="1428750" y="1304925"/>
            <a:ext cx="2000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第一阶　以终为始，描绘愿景（</a:t>
            </a:r>
            <a:r>
              <a:rPr lang="en-US" sz="938" b="1">
                <a:solidFill>
                  <a:srgbClr val="FFFFFF"/>
                </a:solidFill>
                <a:latin typeface="Microsoft YaHei"/>
                <a:ea typeface="Microsoft YaHei"/>
              </a:rPr>
              <a:t>1–5</a:t>
            </a: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688" name=""/>
          <p:cNvSpPr/>
          <p:nvPr/>
        </p:nvSpPr>
        <p:spPr>
          <a:xfrm rot="0" flipH="0" flipV="0">
            <a:off x="4276725" y="1247775"/>
            <a:ext cx="3638550" cy="247650"/>
          </a:xfrm>
          <a:prstGeom prst="roundRect">
            <a:avLst>
              <a:gd name="adj" fmla="val 11538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1689" name="" descr="{&quot;isTemplate&quot;:true,&quot;type&quot;:&quot;text&quot;}"/>
          <p:cNvSpPr txBox="1"/>
          <p:nvPr/>
        </p:nvSpPr>
        <p:spPr>
          <a:xfrm rot="0" flipH="0" flipV="0">
            <a:off x="4981575" y="1304925"/>
            <a:ext cx="2238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第二阶　统一认识，设计架构蓝图（</a:t>
            </a:r>
            <a:r>
              <a:rPr lang="en-US" sz="938" b="1">
                <a:solidFill>
                  <a:srgbClr val="FFFFFF"/>
                </a:solidFill>
                <a:latin typeface="Microsoft YaHei"/>
                <a:ea typeface="Microsoft YaHei"/>
              </a:rPr>
              <a:t>6–7</a:t>
            </a: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690" name=""/>
          <p:cNvSpPr/>
          <p:nvPr/>
        </p:nvSpPr>
        <p:spPr>
          <a:xfrm rot="0" flipH="0" flipV="0">
            <a:off x="7953375" y="1247775"/>
            <a:ext cx="3629025" cy="247650"/>
          </a:xfrm>
          <a:prstGeom prst="roundRect">
            <a:avLst>
              <a:gd name="adj" fmla="val 11538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1691" name="" descr="{&quot;isTemplate&quot;:true,&quot;type&quot;:&quot;text&quot;}"/>
          <p:cNvSpPr txBox="1"/>
          <p:nvPr/>
        </p:nvSpPr>
        <p:spPr>
          <a:xfrm rot="0" flipH="0" flipV="0">
            <a:off x="8553450" y="1304925"/>
            <a:ext cx="2428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第三阶　把握节奏，规划举措和项目（</a:t>
            </a:r>
            <a:r>
              <a:rPr lang="en-US" sz="938" b="1">
                <a:solidFill>
                  <a:srgbClr val="FFFFFF"/>
                </a:solidFill>
                <a:latin typeface="Microsoft YaHei"/>
                <a:ea typeface="Microsoft YaHei"/>
              </a:rPr>
              <a:t>8–12</a:t>
            </a: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692" name=""/>
          <p:cNvSpPr/>
          <p:nvPr/>
        </p:nvSpPr>
        <p:spPr>
          <a:xfrm rot="0" flipH="0" flipV="0">
            <a:off x="609600" y="1590675"/>
            <a:ext cx="2152650" cy="1219200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93" name=""/>
          <p:cNvSpPr/>
          <p:nvPr/>
        </p:nvSpPr>
        <p:spPr>
          <a:xfrm rot="0" flipH="0" flipV="0">
            <a:off x="609600" y="1590675"/>
            <a:ext cx="2152650" cy="1219200"/>
          </a:xfrm>
          <a:custGeom>
            <a:pathLst>
              <a:path w="226" h="128">
                <a:moveTo>
                  <a:pt x="223" y="0"/>
                </a:moveTo>
                <a:cubicBezTo>
                  <a:pt x="225" y="0"/>
                  <a:pt x="226" y="1"/>
                  <a:pt x="226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2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94" name="" descr="{&quot;isTemplate&quot;:true,&quot;type&quot;:&quot;text&quot;}"/>
          <p:cNvSpPr txBox="1"/>
          <p:nvPr/>
        </p:nvSpPr>
        <p:spPr>
          <a:xfrm rot="0" flipH="0" flipV="0">
            <a:off x="714375" y="2009775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695" name="" descr="{&quot;isTemplate&quot;:true,&quot;type&quot;:&quot;text&quot;}"/>
          <p:cNvSpPr txBox="1"/>
          <p:nvPr/>
        </p:nvSpPr>
        <p:spPr>
          <a:xfrm rot="0" flipH="0" flipV="0">
            <a:off x="933450" y="2019300"/>
            <a:ext cx="1724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理解企业战略诉求</a:t>
            </a:r>
            <a:endParaRPr/>
          </a:p>
        </p:txBody>
      </p:sp>
      <p:sp>
        <p:nvSpPr>
          <p:cNvPr id="1696" name="" descr="{&quot;isTemplate&quot;:true,&quot;type&quot;:&quot;text&quot;}"/>
          <p:cNvSpPr txBox="1"/>
          <p:nvPr/>
        </p:nvSpPr>
        <p:spPr>
          <a:xfrm rot="0" flipH="0" flipV="0">
            <a:off x="714375" y="2200275"/>
            <a:ext cx="1943100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产出：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高层访谈纪要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战略解码与关注要点</a:t>
            </a:r>
            <a:endParaRPr/>
          </a:p>
        </p:txBody>
      </p:sp>
      <p:sp>
        <p:nvSpPr>
          <p:cNvPr id="1697" name=""/>
          <p:cNvSpPr/>
          <p:nvPr/>
        </p:nvSpPr>
        <p:spPr>
          <a:xfrm rot="0" flipH="0" flipV="0">
            <a:off x="2809875" y="1590675"/>
            <a:ext cx="2162175" cy="1219200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98" name=""/>
          <p:cNvSpPr/>
          <p:nvPr/>
        </p:nvSpPr>
        <p:spPr>
          <a:xfrm rot="0" flipH="0" flipV="0">
            <a:off x="2809875" y="1590675"/>
            <a:ext cx="2162175" cy="1219200"/>
          </a:xfrm>
          <a:custGeom>
            <a:pathLst>
              <a:path w="227" h="128">
                <a:moveTo>
                  <a:pt x="224" y="0"/>
                </a:moveTo>
                <a:cubicBezTo>
                  <a:pt x="226" y="0"/>
                  <a:pt x="227" y="1"/>
                  <a:pt x="227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2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99" name="" descr="{&quot;isTemplate&quot;:true,&quot;type&quot;:&quot;text&quot;}"/>
          <p:cNvSpPr txBox="1"/>
          <p:nvPr/>
        </p:nvSpPr>
        <p:spPr>
          <a:xfrm rot="0" flipH="0" flipV="0">
            <a:off x="2914650" y="2009775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700" name="" descr="{&quot;isTemplate&quot;:true,&quot;type&quot;:&quot;text&quot;}"/>
          <p:cNvSpPr txBox="1"/>
          <p:nvPr/>
        </p:nvSpPr>
        <p:spPr>
          <a:xfrm rot="0" flipH="0" flipV="0">
            <a:off x="3133725" y="2019300"/>
            <a:ext cx="1733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>5</a:t>
            </a: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「看」</a:t>
            </a:r>
            <a:endParaRPr/>
          </a:p>
        </p:txBody>
      </p:sp>
      <p:sp>
        <p:nvSpPr>
          <p:cNvPr id="1701" name="" descr="{&quot;isTemplate&quot;:true,&quot;type&quot;:&quot;text&quot;}"/>
          <p:cNvSpPr txBox="1"/>
          <p:nvPr/>
        </p:nvSpPr>
        <p:spPr>
          <a:xfrm rot="0" flipH="0" flipV="0">
            <a:off x="2914650" y="2200275"/>
            <a:ext cx="195262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产出：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五看扫描记录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机会与价值清单</a:t>
            </a:r>
            <a:endParaRPr/>
          </a:p>
        </p:txBody>
      </p:sp>
      <p:sp>
        <p:nvSpPr>
          <p:cNvPr id="1702" name=""/>
          <p:cNvSpPr/>
          <p:nvPr/>
        </p:nvSpPr>
        <p:spPr>
          <a:xfrm rot="0" flipH="0" flipV="0">
            <a:off x="5019675" y="1590675"/>
            <a:ext cx="2152650" cy="1219200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03" name=""/>
          <p:cNvSpPr/>
          <p:nvPr/>
        </p:nvSpPr>
        <p:spPr>
          <a:xfrm rot="0" flipH="0" flipV="0">
            <a:off x="5019675" y="1590675"/>
            <a:ext cx="2152650" cy="1219200"/>
          </a:xfrm>
          <a:custGeom>
            <a:pathLst>
              <a:path w="226" h="128">
                <a:moveTo>
                  <a:pt x="223" y="0"/>
                </a:moveTo>
                <a:cubicBezTo>
                  <a:pt x="225" y="0"/>
                  <a:pt x="226" y="1"/>
                  <a:pt x="226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2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704" name="" descr="{&quot;isTemplate&quot;:true,&quot;type&quot;:&quot;text&quot;}"/>
          <p:cNvSpPr txBox="1"/>
          <p:nvPr/>
        </p:nvSpPr>
        <p:spPr>
          <a:xfrm rot="0" flipH="0" flipV="0">
            <a:off x="5124450" y="2009775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705" name="" descr="{&quot;isTemplate&quot;:true,&quot;type&quot;:&quot;text&quot;}"/>
          <p:cNvSpPr txBox="1"/>
          <p:nvPr/>
        </p:nvSpPr>
        <p:spPr>
          <a:xfrm rot="0" flipH="0" flipV="0">
            <a:off x="5343525" y="2019300"/>
            <a:ext cx="1724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成熟度评估</a:t>
            </a:r>
            <a:endParaRPr/>
          </a:p>
        </p:txBody>
      </p:sp>
      <p:sp>
        <p:nvSpPr>
          <p:cNvPr id="1706" name="" descr="{&quot;isTemplate&quot;:true,&quot;type&quot;:&quot;text&quot;}"/>
          <p:cNvSpPr txBox="1"/>
          <p:nvPr/>
        </p:nvSpPr>
        <p:spPr>
          <a:xfrm rot="0" flipH="0" flipV="0">
            <a:off x="5124450" y="2200275"/>
            <a:ext cx="1943100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产出：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关键用户访谈纪要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成熟度打分表</a:t>
            </a:r>
            <a:endParaRPr/>
          </a:p>
        </p:txBody>
      </p:sp>
      <p:sp>
        <p:nvSpPr>
          <p:cNvPr id="1707" name=""/>
          <p:cNvSpPr/>
          <p:nvPr/>
        </p:nvSpPr>
        <p:spPr>
          <a:xfrm rot="0" flipH="0" flipV="0">
            <a:off x="7219950" y="1590675"/>
            <a:ext cx="2162175" cy="1219200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08" name=""/>
          <p:cNvSpPr/>
          <p:nvPr/>
        </p:nvSpPr>
        <p:spPr>
          <a:xfrm rot="0" flipH="0" flipV="0">
            <a:off x="7219950" y="1590675"/>
            <a:ext cx="2162175" cy="1219200"/>
          </a:xfrm>
          <a:custGeom>
            <a:pathLst>
              <a:path w="227" h="128">
                <a:moveTo>
                  <a:pt x="224" y="0"/>
                </a:moveTo>
                <a:cubicBezTo>
                  <a:pt x="226" y="0"/>
                  <a:pt x="227" y="1"/>
                  <a:pt x="227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2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709" name="" descr="{&quot;isTemplate&quot;:true,&quot;type&quot;:&quot;text&quot;}"/>
          <p:cNvSpPr txBox="1"/>
          <p:nvPr/>
        </p:nvSpPr>
        <p:spPr>
          <a:xfrm rot="0" flipH="0" flipV="0">
            <a:off x="7324725" y="2009775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710" name="" descr="{&quot;isTemplate&quot;:true,&quot;type&quot;:&quot;text&quot;}"/>
          <p:cNvSpPr txBox="1"/>
          <p:nvPr/>
        </p:nvSpPr>
        <p:spPr>
          <a:xfrm rot="0" flipH="0" flipV="0">
            <a:off x="7543800" y="2019300"/>
            <a:ext cx="1733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现状和差距分析</a:t>
            </a:r>
            <a:endParaRPr/>
          </a:p>
        </p:txBody>
      </p:sp>
      <p:sp>
        <p:nvSpPr>
          <p:cNvPr id="1711" name="" descr="{&quot;isTemplate&quot;:true,&quot;type&quot;:&quot;text&quot;}"/>
          <p:cNvSpPr txBox="1"/>
          <p:nvPr/>
        </p:nvSpPr>
        <p:spPr>
          <a:xfrm rot="0" flipH="0" flipV="0">
            <a:off x="7324725" y="2200275"/>
            <a:ext cx="195262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产出：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差距清单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业界对标结论</a:t>
            </a:r>
            <a:endParaRPr/>
          </a:p>
        </p:txBody>
      </p:sp>
      <p:sp>
        <p:nvSpPr>
          <p:cNvPr id="1712" name=""/>
          <p:cNvSpPr/>
          <p:nvPr/>
        </p:nvSpPr>
        <p:spPr>
          <a:xfrm rot="0" flipH="0" flipV="0">
            <a:off x="9429750" y="1590675"/>
            <a:ext cx="2152650" cy="1219200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13" name=""/>
          <p:cNvSpPr/>
          <p:nvPr/>
        </p:nvSpPr>
        <p:spPr>
          <a:xfrm rot="0" flipH="0" flipV="0">
            <a:off x="9429750" y="1590675"/>
            <a:ext cx="2152650" cy="1219200"/>
          </a:xfrm>
          <a:custGeom>
            <a:pathLst>
              <a:path w="226" h="128">
                <a:moveTo>
                  <a:pt x="223" y="0"/>
                </a:moveTo>
                <a:cubicBezTo>
                  <a:pt x="225" y="0"/>
                  <a:pt x="226" y="1"/>
                  <a:pt x="226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2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714" name="" descr="{&quot;isTemplate&quot;:true,&quot;type&quot;:&quot;text&quot;}"/>
          <p:cNvSpPr txBox="1"/>
          <p:nvPr/>
        </p:nvSpPr>
        <p:spPr>
          <a:xfrm rot="0" flipH="0" flipV="0">
            <a:off x="9534525" y="2009775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A4F2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715" name="" descr="{&quot;isTemplate&quot;:true,&quot;type&quot;:&quot;text&quot;}"/>
          <p:cNvSpPr txBox="1"/>
          <p:nvPr/>
        </p:nvSpPr>
        <p:spPr>
          <a:xfrm rot="0" flipH="0" flipV="0">
            <a:off x="9753600" y="2019300"/>
            <a:ext cx="1390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描绘数字化愿景</a:t>
            </a:r>
            <a:endParaRPr/>
          </a:p>
        </p:txBody>
      </p:sp>
      <p:sp>
        <p:nvSpPr>
          <p:cNvPr id="1716" name=""/>
          <p:cNvSpPr/>
          <p:nvPr/>
        </p:nvSpPr>
        <p:spPr>
          <a:xfrm rot="0" flipH="0" flipV="0">
            <a:off x="11201400" y="2019300"/>
            <a:ext cx="276225" cy="142875"/>
          </a:xfrm>
          <a:prstGeom prst="roundRect">
            <a:avLst>
              <a:gd name="adj" fmla="val 13333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717" name="" descr="{&quot;isTemplate&quot;:true,&quot;type&quot;:&quot;text&quot;}"/>
          <p:cNvSpPr txBox="1"/>
          <p:nvPr/>
        </p:nvSpPr>
        <p:spPr>
          <a:xfrm rot="0" flipH="0" flipV="0">
            <a:off x="11249025" y="2038350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FFFFF"/>
                </a:solidFill>
                <a:latin typeface="Microsoft YaHei"/>
                <a:ea typeface="Microsoft YaHei"/>
              </a:rPr>
              <a:t>主线</a:t>
            </a:r>
            <a:endParaRPr/>
          </a:p>
        </p:txBody>
      </p:sp>
      <p:sp>
        <p:nvSpPr>
          <p:cNvPr id="1718" name="" descr="{&quot;isTemplate&quot;:true,&quot;type&quot;:&quot;text&quot;}"/>
          <p:cNvSpPr txBox="1"/>
          <p:nvPr/>
        </p:nvSpPr>
        <p:spPr>
          <a:xfrm rot="0" flipH="0" flipV="0">
            <a:off x="9534525" y="2200275"/>
            <a:ext cx="1943100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产出：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愿景蓝图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不拘泥现状的前瞻目标</a:t>
            </a:r>
            <a:endParaRPr/>
          </a:p>
        </p:txBody>
      </p:sp>
      <p:sp>
        <p:nvSpPr>
          <p:cNvPr id="1719" name=""/>
          <p:cNvSpPr/>
          <p:nvPr/>
        </p:nvSpPr>
        <p:spPr>
          <a:xfrm rot="0" flipH="0" flipV="0">
            <a:off x="609600" y="2857500"/>
            <a:ext cx="5467350" cy="1209675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20" name=""/>
          <p:cNvSpPr/>
          <p:nvPr/>
        </p:nvSpPr>
        <p:spPr>
          <a:xfrm rot="0" flipH="0" flipV="0">
            <a:off x="609600" y="2857500"/>
            <a:ext cx="5467350" cy="1209675"/>
          </a:xfrm>
          <a:custGeom>
            <a:pathLst>
              <a:path w="574" h="127">
                <a:moveTo>
                  <a:pt x="571" y="0"/>
                </a:moveTo>
                <a:cubicBezTo>
                  <a:pt x="573" y="0"/>
                  <a:pt x="574" y="1"/>
                  <a:pt x="574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571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1721" name="" descr="{&quot;isTemplate&quot;:true,&quot;type&quot;:&quot;text&quot;}"/>
          <p:cNvSpPr txBox="1"/>
          <p:nvPr/>
        </p:nvSpPr>
        <p:spPr>
          <a:xfrm rot="0" flipH="0" flipV="0">
            <a:off x="714375" y="3276600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0641E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1722" name="" descr="{&quot;isTemplate&quot;:true,&quot;type&quot;:&quot;text&quot;}"/>
          <p:cNvSpPr txBox="1"/>
          <p:nvPr/>
        </p:nvSpPr>
        <p:spPr>
          <a:xfrm rot="0" flipH="0" flipV="0">
            <a:off x="933450" y="3286125"/>
            <a:ext cx="5038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设计顶层架构蓝图</a:t>
            </a:r>
            <a:endParaRPr/>
          </a:p>
        </p:txBody>
      </p:sp>
      <p:sp>
        <p:nvSpPr>
          <p:cNvPr id="1723" name="" descr="{&quot;isTemplate&quot;:true,&quot;type&quot;:&quot;text&quot;}"/>
          <p:cNvSpPr txBox="1"/>
          <p:nvPr/>
        </p:nvSpPr>
        <p:spPr>
          <a:xfrm rot="0" flipH="0" flipV="0">
            <a:off x="714375" y="3467100"/>
            <a:ext cx="5257800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产出：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顶层架构蓝图（分层分级）</a:t>
            </a:r>
            <a:endParaRPr/>
          </a:p>
        </p:txBody>
      </p:sp>
      <p:sp>
        <p:nvSpPr>
          <p:cNvPr id="1724" name=""/>
          <p:cNvSpPr/>
          <p:nvPr/>
        </p:nvSpPr>
        <p:spPr>
          <a:xfrm rot="0" flipH="0" flipV="0">
            <a:off x="6124575" y="2857500"/>
            <a:ext cx="5457825" cy="1209675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25" name=""/>
          <p:cNvSpPr/>
          <p:nvPr/>
        </p:nvSpPr>
        <p:spPr>
          <a:xfrm rot="0" flipH="0" flipV="0">
            <a:off x="6124575" y="2857500"/>
            <a:ext cx="5457825" cy="1209675"/>
          </a:xfrm>
          <a:custGeom>
            <a:pathLst>
              <a:path w="573" h="127">
                <a:moveTo>
                  <a:pt x="570" y="0"/>
                </a:moveTo>
                <a:cubicBezTo>
                  <a:pt x="572" y="0"/>
                  <a:pt x="573" y="1"/>
                  <a:pt x="573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570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1726" name="" descr="{&quot;isTemplate&quot;:true,&quot;type&quot;:&quot;text&quot;}"/>
          <p:cNvSpPr txBox="1"/>
          <p:nvPr/>
        </p:nvSpPr>
        <p:spPr>
          <a:xfrm rot="0" flipH="0" flipV="0">
            <a:off x="6229350" y="3276600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0641E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1727" name="" descr="{&quot;isTemplate&quot;:true,&quot;type&quot;:&quot;text&quot;}"/>
          <p:cNvSpPr txBox="1"/>
          <p:nvPr/>
        </p:nvSpPr>
        <p:spPr>
          <a:xfrm rot="0" flipH="0" flipV="0">
            <a:off x="6448425" y="3286125"/>
            <a:ext cx="4695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「一体四面」细化</a:t>
            </a:r>
            <a:endParaRPr/>
          </a:p>
        </p:txBody>
      </p:sp>
      <p:sp>
        <p:nvSpPr>
          <p:cNvPr id="1728" name=""/>
          <p:cNvSpPr/>
          <p:nvPr/>
        </p:nvSpPr>
        <p:spPr>
          <a:xfrm rot="0" flipH="0" flipV="0">
            <a:off x="11201400" y="3286125"/>
            <a:ext cx="276225" cy="142875"/>
          </a:xfrm>
          <a:prstGeom prst="roundRect">
            <a:avLst>
              <a:gd name="adj" fmla="val 13333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1729" name="" descr="{&quot;isTemplate&quot;:true,&quot;type&quot;:&quot;text&quot;}"/>
          <p:cNvSpPr txBox="1"/>
          <p:nvPr/>
        </p:nvSpPr>
        <p:spPr>
          <a:xfrm rot="0" flipH="0" flipV="0">
            <a:off x="11249025" y="3305175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FFFFF"/>
                </a:solidFill>
                <a:latin typeface="Microsoft YaHei"/>
                <a:ea typeface="Microsoft YaHei"/>
              </a:rPr>
              <a:t>主线</a:t>
            </a:r>
            <a:endParaRPr/>
          </a:p>
        </p:txBody>
      </p:sp>
      <p:sp>
        <p:nvSpPr>
          <p:cNvPr id="1730" name="" descr="{&quot;isTemplate&quot;:true,&quot;type&quot;:&quot;text&quot;}"/>
          <p:cNvSpPr txBox="1"/>
          <p:nvPr/>
        </p:nvSpPr>
        <p:spPr>
          <a:xfrm rot="0" flipH="0" flipV="0">
            <a:off x="6229350" y="3467100"/>
            <a:ext cx="524827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产出：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 xml:space="preserve">BA/IA/AA/TA 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分域细化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突破口识别</a:t>
            </a:r>
            <a:endParaRPr/>
          </a:p>
        </p:txBody>
      </p:sp>
      <p:sp>
        <p:nvSpPr>
          <p:cNvPr id="1731" name=""/>
          <p:cNvSpPr/>
          <p:nvPr/>
        </p:nvSpPr>
        <p:spPr>
          <a:xfrm rot="0" flipH="0" flipV="0">
            <a:off x="609600" y="4114800"/>
            <a:ext cx="2152650" cy="1219200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32" name=""/>
          <p:cNvSpPr/>
          <p:nvPr/>
        </p:nvSpPr>
        <p:spPr>
          <a:xfrm rot="0" flipH="0" flipV="0">
            <a:off x="609600" y="4114800"/>
            <a:ext cx="2152650" cy="1219200"/>
          </a:xfrm>
          <a:custGeom>
            <a:pathLst>
              <a:path w="226" h="128">
                <a:moveTo>
                  <a:pt x="223" y="0"/>
                </a:moveTo>
                <a:cubicBezTo>
                  <a:pt x="225" y="0"/>
                  <a:pt x="226" y="1"/>
                  <a:pt x="226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23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733" name="" descr="{&quot;isTemplate&quot;:true,&quot;type&quot;:&quot;text&quot;}"/>
          <p:cNvSpPr txBox="1"/>
          <p:nvPr/>
        </p:nvSpPr>
        <p:spPr>
          <a:xfrm rot="0" flipH="0" flipV="0">
            <a:off x="714375" y="4533900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>08</a:t>
            </a:r>
            <a:endParaRPr/>
          </a:p>
        </p:txBody>
      </p:sp>
      <p:sp>
        <p:nvSpPr>
          <p:cNvPr id="1734" name="" descr="{&quot;isTemplate&quot;:true,&quot;type&quot;:&quot;text&quot;}"/>
          <p:cNvSpPr txBox="1"/>
          <p:nvPr/>
        </p:nvSpPr>
        <p:spPr>
          <a:xfrm rot="0" flipH="0" flipV="0">
            <a:off x="933450" y="4543425"/>
            <a:ext cx="1390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指标体系</a:t>
            </a:r>
            <a:endParaRPr/>
          </a:p>
        </p:txBody>
      </p:sp>
      <p:sp>
        <p:nvSpPr>
          <p:cNvPr id="1735" name=""/>
          <p:cNvSpPr/>
          <p:nvPr/>
        </p:nvSpPr>
        <p:spPr>
          <a:xfrm rot="0" flipH="0" flipV="0">
            <a:off x="2381250" y="4543425"/>
            <a:ext cx="276225" cy="142875"/>
          </a:xfrm>
          <a:prstGeom prst="roundRect">
            <a:avLst>
              <a:gd name="adj" fmla="val 13333"/>
            </a:avLst>
          </a:prstGeom>
          <a:ln w="12700">
            <a:solidFill>
              <a:srgbClr val="8A8F99"/>
            </a:solidFill>
            <a:prstDash val="solid"/>
          </a:ln>
        </p:spPr>
        <p:txBody>
          <a:bodyPr/>
          <a:p/>
        </p:txBody>
      </p:sp>
      <p:sp>
        <p:nvSpPr>
          <p:cNvPr id="1736" name="" descr="{&quot;isTemplate&quot;:true,&quot;type&quot;:&quot;text&quot;}"/>
          <p:cNvSpPr txBox="1"/>
          <p:nvPr/>
        </p:nvSpPr>
        <p:spPr>
          <a:xfrm rot="0" flipH="0" flipV="0">
            <a:off x="2428875" y="4562475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8A8F99"/>
                </a:solidFill>
                <a:latin typeface="Microsoft YaHei"/>
                <a:ea typeface="Microsoft YaHei"/>
              </a:rPr>
              <a:t>可选</a:t>
            </a:r>
            <a:endParaRPr/>
          </a:p>
        </p:txBody>
      </p:sp>
      <p:sp>
        <p:nvSpPr>
          <p:cNvPr id="1737" name="" descr="{&quot;isTemplate&quot;:true,&quot;type&quot;:&quot;text&quot;}"/>
          <p:cNvSpPr txBox="1"/>
          <p:nvPr/>
        </p:nvSpPr>
        <p:spPr>
          <a:xfrm rot="0" flipH="0" flipV="0">
            <a:off x="714375" y="4724400"/>
            <a:ext cx="1943100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产出：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转型指标体系与预设值</a:t>
            </a:r>
            <a:endParaRPr/>
          </a:p>
        </p:txBody>
      </p:sp>
      <p:sp>
        <p:nvSpPr>
          <p:cNvPr id="1738" name=""/>
          <p:cNvSpPr/>
          <p:nvPr/>
        </p:nvSpPr>
        <p:spPr>
          <a:xfrm rot="0" flipH="0" flipV="0">
            <a:off x="2809875" y="4114800"/>
            <a:ext cx="2162175" cy="1219200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39" name=""/>
          <p:cNvSpPr/>
          <p:nvPr/>
        </p:nvSpPr>
        <p:spPr>
          <a:xfrm rot="0" flipH="0" flipV="0">
            <a:off x="2809875" y="4114800"/>
            <a:ext cx="2162175" cy="1219200"/>
          </a:xfrm>
          <a:custGeom>
            <a:pathLst>
              <a:path w="227" h="128">
                <a:moveTo>
                  <a:pt x="224" y="0"/>
                </a:moveTo>
                <a:cubicBezTo>
                  <a:pt x="226" y="0"/>
                  <a:pt x="227" y="1"/>
                  <a:pt x="227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24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740" name="" descr="{&quot;isTemplate&quot;:true,&quot;type&quot;:&quot;text&quot;}"/>
          <p:cNvSpPr txBox="1"/>
          <p:nvPr/>
        </p:nvSpPr>
        <p:spPr>
          <a:xfrm rot="0" flipH="0" flipV="0">
            <a:off x="2914650" y="4533900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>09</a:t>
            </a:r>
            <a:endParaRPr/>
          </a:p>
        </p:txBody>
      </p:sp>
      <p:sp>
        <p:nvSpPr>
          <p:cNvPr id="1741" name="" descr="{&quot;isTemplate&quot;:true,&quot;type&quot;:&quot;text&quot;}"/>
          <p:cNvSpPr txBox="1"/>
          <p:nvPr/>
        </p:nvSpPr>
        <p:spPr>
          <a:xfrm rot="0" flipH="0" flipV="0">
            <a:off x="3133725" y="4543425"/>
            <a:ext cx="1733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识别转型举措</a:t>
            </a:r>
            <a:endParaRPr/>
          </a:p>
        </p:txBody>
      </p:sp>
      <p:sp>
        <p:nvSpPr>
          <p:cNvPr id="1742" name="" descr="{&quot;isTemplate&quot;:true,&quot;type&quot;:&quot;text&quot;}"/>
          <p:cNvSpPr txBox="1"/>
          <p:nvPr/>
        </p:nvSpPr>
        <p:spPr>
          <a:xfrm rot="0" flipH="0" flipV="0">
            <a:off x="2914650" y="4724400"/>
            <a:ext cx="195262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产出：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举措清单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关键成功要素与目标</a:t>
            </a:r>
            <a:endParaRPr/>
          </a:p>
        </p:txBody>
      </p:sp>
      <p:sp>
        <p:nvSpPr>
          <p:cNvPr id="1743" name=""/>
          <p:cNvSpPr/>
          <p:nvPr/>
        </p:nvSpPr>
        <p:spPr>
          <a:xfrm rot="0" flipH="0" flipV="0">
            <a:off x="5019675" y="4114800"/>
            <a:ext cx="2152650" cy="1219200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44" name=""/>
          <p:cNvSpPr/>
          <p:nvPr/>
        </p:nvSpPr>
        <p:spPr>
          <a:xfrm rot="0" flipH="0" flipV="0">
            <a:off x="5019675" y="4114800"/>
            <a:ext cx="2152650" cy="1219200"/>
          </a:xfrm>
          <a:custGeom>
            <a:pathLst>
              <a:path w="226" h="128">
                <a:moveTo>
                  <a:pt x="223" y="0"/>
                </a:moveTo>
                <a:cubicBezTo>
                  <a:pt x="225" y="0"/>
                  <a:pt x="226" y="1"/>
                  <a:pt x="226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23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745" name="" descr="{&quot;isTemplate&quot;:true,&quot;type&quot;:&quot;text&quot;}"/>
          <p:cNvSpPr txBox="1"/>
          <p:nvPr/>
        </p:nvSpPr>
        <p:spPr>
          <a:xfrm rot="0" flipH="0" flipV="0">
            <a:off x="5124450" y="4533900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1746" name="" descr="{&quot;isTemplate&quot;:true,&quot;type&quot;:&quot;text&quot;}"/>
          <p:cNvSpPr txBox="1"/>
          <p:nvPr/>
        </p:nvSpPr>
        <p:spPr>
          <a:xfrm rot="0" flipH="0" flipV="0">
            <a:off x="5343525" y="4543425"/>
            <a:ext cx="1390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举措设计</a:t>
            </a:r>
            <a:endParaRPr/>
          </a:p>
        </p:txBody>
      </p:sp>
      <p:sp>
        <p:nvSpPr>
          <p:cNvPr id="1747" name=""/>
          <p:cNvSpPr/>
          <p:nvPr/>
        </p:nvSpPr>
        <p:spPr>
          <a:xfrm rot="0" flipH="0" flipV="0">
            <a:off x="6791325" y="4543425"/>
            <a:ext cx="276225" cy="142875"/>
          </a:xfrm>
          <a:prstGeom prst="roundRect">
            <a:avLst>
              <a:gd name="adj" fmla="val 13333"/>
            </a:avLst>
          </a:prstGeom>
          <a:ln w="12700">
            <a:solidFill>
              <a:srgbClr val="8A8F99"/>
            </a:solidFill>
            <a:prstDash val="solid"/>
          </a:ln>
        </p:spPr>
        <p:txBody>
          <a:bodyPr/>
          <a:p/>
        </p:txBody>
      </p:sp>
      <p:sp>
        <p:nvSpPr>
          <p:cNvPr id="1748" name="" descr="{&quot;isTemplate&quot;:true,&quot;type&quot;:&quot;text&quot;}"/>
          <p:cNvSpPr txBox="1"/>
          <p:nvPr/>
        </p:nvSpPr>
        <p:spPr>
          <a:xfrm rot="0" flipH="0" flipV="0">
            <a:off x="6838950" y="4562475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8A8F99"/>
                </a:solidFill>
                <a:latin typeface="Microsoft YaHei"/>
                <a:ea typeface="Microsoft YaHei"/>
              </a:rPr>
              <a:t>可选</a:t>
            </a:r>
            <a:endParaRPr/>
          </a:p>
        </p:txBody>
      </p:sp>
      <p:sp>
        <p:nvSpPr>
          <p:cNvPr id="1749" name="" descr="{&quot;isTemplate&quot;:true,&quot;type&quot;:&quot;text&quot;}"/>
          <p:cNvSpPr txBox="1"/>
          <p:nvPr/>
        </p:nvSpPr>
        <p:spPr>
          <a:xfrm rot="0" flipH="0" flipV="0">
            <a:off x="5124450" y="4724400"/>
            <a:ext cx="1943100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产出：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举措架构方案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变革点细分</a:t>
            </a:r>
            <a:endParaRPr/>
          </a:p>
        </p:txBody>
      </p:sp>
      <p:sp>
        <p:nvSpPr>
          <p:cNvPr id="1750" name=""/>
          <p:cNvSpPr/>
          <p:nvPr/>
        </p:nvSpPr>
        <p:spPr>
          <a:xfrm rot="0" flipH="0" flipV="0">
            <a:off x="7219950" y="4114800"/>
            <a:ext cx="2162175" cy="1219200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51" name=""/>
          <p:cNvSpPr/>
          <p:nvPr/>
        </p:nvSpPr>
        <p:spPr>
          <a:xfrm rot="0" flipH="0" flipV="0">
            <a:off x="7219950" y="4114800"/>
            <a:ext cx="2162175" cy="1219200"/>
          </a:xfrm>
          <a:custGeom>
            <a:pathLst>
              <a:path w="227" h="128">
                <a:moveTo>
                  <a:pt x="224" y="0"/>
                </a:moveTo>
                <a:cubicBezTo>
                  <a:pt x="226" y="0"/>
                  <a:pt x="227" y="1"/>
                  <a:pt x="227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24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752" name="" descr="{&quot;isTemplate&quot;:true,&quot;type&quot;:&quot;text&quot;}"/>
          <p:cNvSpPr txBox="1"/>
          <p:nvPr/>
        </p:nvSpPr>
        <p:spPr>
          <a:xfrm rot="0" flipH="0" flipV="0">
            <a:off x="7324725" y="4533900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>11</a:t>
            </a:r>
            <a:endParaRPr/>
          </a:p>
        </p:txBody>
      </p:sp>
      <p:sp>
        <p:nvSpPr>
          <p:cNvPr id="1753" name="" descr="{&quot;isTemplate&quot;:true,&quot;type&quot;:&quot;text&quot;}"/>
          <p:cNvSpPr txBox="1"/>
          <p:nvPr/>
        </p:nvSpPr>
        <p:spPr>
          <a:xfrm rot="0" flipH="0" flipV="0">
            <a:off x="7543800" y="4543425"/>
            <a:ext cx="1400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数字化转型路标</a:t>
            </a:r>
            <a:endParaRPr/>
          </a:p>
        </p:txBody>
      </p:sp>
      <p:sp>
        <p:nvSpPr>
          <p:cNvPr id="1754" name=""/>
          <p:cNvSpPr/>
          <p:nvPr/>
        </p:nvSpPr>
        <p:spPr>
          <a:xfrm rot="0" flipH="0" flipV="0">
            <a:off x="9001125" y="4543425"/>
            <a:ext cx="276225" cy="142875"/>
          </a:xfrm>
          <a:prstGeom prst="roundRect">
            <a:avLst>
              <a:gd name="adj" fmla="val 13333"/>
            </a:avLst>
          </a:prstGeom>
          <a:ln w="12700">
            <a:solidFill>
              <a:srgbClr val="8A8F99"/>
            </a:solidFill>
            <a:prstDash val="solid"/>
          </a:ln>
        </p:spPr>
        <p:txBody>
          <a:bodyPr/>
          <a:p/>
        </p:txBody>
      </p:sp>
      <p:sp>
        <p:nvSpPr>
          <p:cNvPr id="1755" name="" descr="{&quot;isTemplate&quot;:true,&quot;type&quot;:&quot;text&quot;}"/>
          <p:cNvSpPr txBox="1"/>
          <p:nvPr/>
        </p:nvSpPr>
        <p:spPr>
          <a:xfrm rot="0" flipH="0" flipV="0">
            <a:off x="9048750" y="4562475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8A8F99"/>
                </a:solidFill>
                <a:latin typeface="Microsoft YaHei"/>
                <a:ea typeface="Microsoft YaHei"/>
              </a:rPr>
              <a:t>可选</a:t>
            </a:r>
            <a:endParaRPr/>
          </a:p>
        </p:txBody>
      </p:sp>
      <p:sp>
        <p:nvSpPr>
          <p:cNvPr id="1756" name="" descr="{&quot;isTemplate&quot;:true,&quot;type&quot;:&quot;text&quot;}"/>
          <p:cNvSpPr txBox="1"/>
          <p:nvPr/>
        </p:nvSpPr>
        <p:spPr>
          <a:xfrm rot="0" flipH="0" flipV="0">
            <a:off x="7324725" y="4724400"/>
            <a:ext cx="195262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产出：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分期路标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每阶段关注重点与抓手</a:t>
            </a:r>
            <a:endParaRPr/>
          </a:p>
        </p:txBody>
      </p:sp>
      <p:sp>
        <p:nvSpPr>
          <p:cNvPr id="1757" name=""/>
          <p:cNvSpPr/>
          <p:nvPr/>
        </p:nvSpPr>
        <p:spPr>
          <a:xfrm rot="0" flipH="0" flipV="0">
            <a:off x="9429750" y="4114800"/>
            <a:ext cx="2152650" cy="1219200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58" name=""/>
          <p:cNvSpPr/>
          <p:nvPr/>
        </p:nvSpPr>
        <p:spPr>
          <a:xfrm rot="0" flipH="0" flipV="0">
            <a:off x="9429750" y="4114800"/>
            <a:ext cx="2152650" cy="1219200"/>
          </a:xfrm>
          <a:custGeom>
            <a:pathLst>
              <a:path w="226" h="128">
                <a:moveTo>
                  <a:pt x="223" y="0"/>
                </a:moveTo>
                <a:cubicBezTo>
                  <a:pt x="225" y="0"/>
                  <a:pt x="226" y="1"/>
                  <a:pt x="226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23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759" name="" descr="{&quot;isTemplate&quot;:true,&quot;type&quot;:&quot;text&quot;}"/>
          <p:cNvSpPr txBox="1"/>
          <p:nvPr/>
        </p:nvSpPr>
        <p:spPr>
          <a:xfrm rot="0" flipH="0" flipV="0">
            <a:off x="9534525" y="4533900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  <p:sp>
        <p:nvSpPr>
          <p:cNvPr id="1760" name="" descr="{&quot;isTemplate&quot;:true,&quot;type&quot;:&quot;text&quot;}"/>
          <p:cNvSpPr txBox="1"/>
          <p:nvPr/>
        </p:nvSpPr>
        <p:spPr>
          <a:xfrm rot="0" flipH="0" flipV="0">
            <a:off x="9753600" y="4543425"/>
            <a:ext cx="1390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规划项目</a:t>
            </a:r>
            <a:endParaRPr/>
          </a:p>
        </p:txBody>
      </p:sp>
      <p:sp>
        <p:nvSpPr>
          <p:cNvPr id="1761" name=""/>
          <p:cNvSpPr/>
          <p:nvPr/>
        </p:nvSpPr>
        <p:spPr>
          <a:xfrm rot="0" flipH="0" flipV="0">
            <a:off x="11201400" y="4543425"/>
            <a:ext cx="276225" cy="142875"/>
          </a:xfrm>
          <a:prstGeom prst="roundRect">
            <a:avLst>
              <a:gd name="adj" fmla="val 13333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1762" name="" descr="{&quot;isTemplate&quot;:true,&quot;type&quot;:&quot;text&quot;}"/>
          <p:cNvSpPr txBox="1"/>
          <p:nvPr/>
        </p:nvSpPr>
        <p:spPr>
          <a:xfrm rot="0" flipH="0" flipV="0">
            <a:off x="11249025" y="4562475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FFFFF"/>
                </a:solidFill>
                <a:latin typeface="Microsoft YaHei"/>
                <a:ea typeface="Microsoft YaHei"/>
              </a:rPr>
              <a:t>主线</a:t>
            </a:r>
            <a:endParaRPr/>
          </a:p>
        </p:txBody>
      </p:sp>
      <p:sp>
        <p:nvSpPr>
          <p:cNvPr id="1763" name="" descr="{&quot;isTemplate&quot;:true,&quot;type&quot;:&quot;text&quot;}"/>
          <p:cNvSpPr txBox="1"/>
          <p:nvPr/>
        </p:nvSpPr>
        <p:spPr>
          <a:xfrm rot="0" flipH="0" flipV="0">
            <a:off x="9534525" y="4724400"/>
            <a:ext cx="1943100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产出：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项目清单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公司级与领域级分工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排期</a:t>
            </a:r>
            <a:endParaRPr/>
          </a:p>
        </p:txBody>
      </p:sp>
      <p:sp>
        <p:nvSpPr>
          <p:cNvPr id="1764" name=""/>
          <p:cNvSpPr/>
          <p:nvPr/>
        </p:nvSpPr>
        <p:spPr>
          <a:xfrm rot="0" flipH="0" flipV="0">
            <a:off x="647700" y="5372100"/>
            <a:ext cx="3609975" cy="285750"/>
          </a:xfrm>
          <a:prstGeom prst="roundRect">
            <a:avLst>
              <a:gd name="adj" fmla="val 10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765" name=""/>
          <p:cNvSpPr/>
          <p:nvPr/>
        </p:nvSpPr>
        <p:spPr>
          <a:xfrm rot="0" flipH="0" flipV="0">
            <a:off x="647700" y="5372100"/>
            <a:ext cx="3609975" cy="285750"/>
          </a:xfrm>
          <a:custGeom>
            <a:pathLst>
              <a:path w="379" h="30">
                <a:moveTo>
                  <a:pt x="4" y="30"/>
                </a:moveTo>
                <a:cubicBezTo>
                  <a:pt x="3" y="30"/>
                  <a:pt x="2" y="30"/>
                  <a:pt x="1" y="29"/>
                </a:cubicBezTo>
                <a:cubicBezTo>
                  <a:pt x="0" y="28"/>
                  <a:pt x="0" y="28"/>
                  <a:pt x="0" y="2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766" name="" descr="{&quot;isTemplate&quot;:true,&quot;type&quot;:&quot;text&quot;}"/>
          <p:cNvSpPr txBox="1"/>
          <p:nvPr/>
        </p:nvSpPr>
        <p:spPr>
          <a:xfrm rot="0" flipH="0" flipV="0">
            <a:off x="762000" y="544830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顺序不可颠倒</a:t>
            </a:r>
            <a:endParaRPr/>
          </a:p>
        </p:txBody>
      </p:sp>
      <p:sp>
        <p:nvSpPr>
          <p:cNvPr id="1767" name="" descr="{&quot;isTemplate&quot;:true,&quot;type&quot;:&quot;text&quot;}"/>
          <p:cNvSpPr txBox="1"/>
          <p:nvPr/>
        </p:nvSpPr>
        <p:spPr>
          <a:xfrm rot="0" flipH="0" flipV="0">
            <a:off x="1524000" y="5438775"/>
            <a:ext cx="25812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三阶有强依赖，跳步做的架构接不住前面的愿景</a:t>
            </a:r>
            <a:endParaRPr/>
          </a:p>
        </p:txBody>
      </p:sp>
      <p:sp>
        <p:nvSpPr>
          <p:cNvPr id="1768" name=""/>
          <p:cNvSpPr/>
          <p:nvPr/>
        </p:nvSpPr>
        <p:spPr>
          <a:xfrm rot="0" flipH="0" flipV="0">
            <a:off x="4324350" y="5372100"/>
            <a:ext cx="3619500" cy="28575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69" name=""/>
          <p:cNvSpPr/>
          <p:nvPr/>
        </p:nvSpPr>
        <p:spPr>
          <a:xfrm rot="0" flipH="0" flipV="0">
            <a:off x="4324350" y="5372100"/>
            <a:ext cx="3619500" cy="285750"/>
          </a:xfrm>
          <a:custGeom>
            <a:pathLst>
              <a:path w="380" h="30">
                <a:moveTo>
                  <a:pt x="4" y="30"/>
                </a:moveTo>
                <a:cubicBezTo>
                  <a:pt x="3" y="30"/>
                  <a:pt x="2" y="30"/>
                  <a:pt x="1" y="29"/>
                </a:cubicBezTo>
                <a:cubicBezTo>
                  <a:pt x="0" y="28"/>
                  <a:pt x="0" y="28"/>
                  <a:pt x="0" y="2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770" name="" descr="{&quot;isTemplate&quot;:true,&quot;type&quot;:&quot;text&quot;}"/>
          <p:cNvSpPr txBox="1"/>
          <p:nvPr/>
        </p:nvSpPr>
        <p:spPr>
          <a:xfrm rot="0" flipH="0" flipV="0">
            <a:off x="4438650" y="544830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主线不可省</a:t>
            </a:r>
            <a:endParaRPr/>
          </a:p>
        </p:txBody>
      </p:sp>
      <p:sp>
        <p:nvSpPr>
          <p:cNvPr id="1771" name="" descr="{&quot;isTemplate&quot;:true,&quot;type&quot;:&quot;text&quot;}"/>
          <p:cNvSpPr txBox="1"/>
          <p:nvPr/>
        </p:nvSpPr>
        <p:spPr>
          <a:xfrm rot="0" flipH="0" flipV="0">
            <a:off x="5086350" y="5438775"/>
            <a:ext cx="2705100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>5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、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>7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、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 xml:space="preserve">12 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是三个阶各自的收口步，交不出来等于没规划</a:t>
            </a:r>
            <a:endParaRPr/>
          </a:p>
        </p:txBody>
      </p:sp>
      <p:sp>
        <p:nvSpPr>
          <p:cNvPr id="1772" name=""/>
          <p:cNvSpPr/>
          <p:nvPr/>
        </p:nvSpPr>
        <p:spPr>
          <a:xfrm rot="0" flipH="0" flipV="0">
            <a:off x="8010525" y="5372100"/>
            <a:ext cx="3609975" cy="28575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73" name=""/>
          <p:cNvSpPr/>
          <p:nvPr/>
        </p:nvSpPr>
        <p:spPr>
          <a:xfrm rot="0" flipH="0" flipV="0">
            <a:off x="8010525" y="5372100"/>
            <a:ext cx="3609975" cy="285750"/>
          </a:xfrm>
          <a:custGeom>
            <a:pathLst>
              <a:path w="379" h="30">
                <a:moveTo>
                  <a:pt x="4" y="30"/>
                </a:moveTo>
                <a:cubicBezTo>
                  <a:pt x="3" y="30"/>
                  <a:pt x="2" y="30"/>
                  <a:pt x="1" y="29"/>
                </a:cubicBezTo>
                <a:cubicBezTo>
                  <a:pt x="0" y="28"/>
                  <a:pt x="0" y="28"/>
                  <a:pt x="0" y="2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774" name="" descr="{&quot;isTemplate&quot;:true,&quot;type&quot;:&quot;text&quot;}"/>
          <p:cNvSpPr txBox="1"/>
          <p:nvPr/>
        </p:nvSpPr>
        <p:spPr>
          <a:xfrm rot="0" flipH="0" flipV="0">
            <a:off x="8124825" y="544830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可选不是不做</a:t>
            </a:r>
            <a:endParaRPr/>
          </a:p>
        </p:txBody>
      </p:sp>
      <p:sp>
        <p:nvSpPr>
          <p:cNvPr id="1775" name="" descr="{&quot;isTemplate&quot;:true,&quot;type&quot;:&quot;text&quot;}"/>
          <p:cNvSpPr txBox="1"/>
          <p:nvPr/>
        </p:nvSpPr>
        <p:spPr>
          <a:xfrm rot="0" flipH="0" flipV="0">
            <a:off x="8886825" y="5438775"/>
            <a:ext cx="25812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时间允许建议全走一遍，规划出的项目更能被变革组承接</a:t>
            </a:r>
            <a:endParaRPr/>
          </a:p>
        </p:txBody>
      </p:sp>
      <p:sp>
        <p:nvSpPr>
          <p:cNvPr id="1776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777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1778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04 / 35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779" name="" descr="&lt;Slide style={{ width: 1280, height: 720, background: '#0F1423' }}&gt;&#10;  &lt;Box style={{ position: 'absolute', left: 0, top: 0, width: 1280, height: 720, background: 'linear-gradient(135deg, #0F1423 0%, #2A1810 100%)' }} /&gt;&#10;  &lt;Box style={{ position: 'absolute', right: 0, top: 0, width: 560, height: 720, background: 'linear-gradient(200deg, rgba(250,79,36,0.28) 0%, rgba(250,79,36,0) 70%)' }} /&gt;&#10;&#10;  &lt;Box style={{ position: 'absolute', right: 70, top: 110 }}&gt;&#10;    &lt;Text style={{ fontSize: 300, fontWeight: 'bold', color: 'rgba(255,255,255,0.08)', lineHeight: 1.0 }}&gt;01&lt;/Text&gt;&#10;  &lt;/Box&gt;&#10;&#10;  &lt;Box style={{ position: 'absolute', left: 88, top: 240, width: 700, flexDirection: 'column' }}&gt;&#10;    &lt;Text style={{ fontSize: 15, color: 'rgba(255,255,255,0.5)', letterSpacing: 3 }}&gt;PART 01&lt;/Text&gt;&#10;    &lt;Box style={{ width: 72, height: 5, background: '#FA4F24', marginTop: 22 }} /&gt;&#10;    &lt;Text style={{ fontSize: 56, fontWeight: 'bold', color: '#FFFFFF', marginTop: 28, lineHeight: 1.15 }}&gt;认知与框架&lt;/Text&gt;&#10;    &lt;Text style={{ fontSize: 17, color: 'rgba(255,255,255,0.62)', letterSpacing: 2, marginTop: 20 }}&gt;WHY AND WHAT&lt;/Text&gt;&#10;    &lt;Text style={{ fontSize: 19, color: 'rgba(255,255,255,0.85)', marginTop: 26, lineHeight: 1.6 }}&gt;时代命题、整体框架的四个层级，以及成熟度评估怎么用&lt;/Text&gt;&#10;  &lt;/Box&gt;&#10;&#10;  &lt;Box style={{ position: 'absolute', left: 88, top: 520, flexDirection: 'row', gap: 34 }}&gt;&#10;    {[&#10;      { k: '1 套方法', v: '三阶十二步' },&#10;      { k: '4 类场景', v: '作业/交易/运营/办公' },&#10;      { k: '3 个平台', v: '数据底座·云化·治理' },&#10;      { k: 'L1–L5', v: '成熟度五级' }&#10;    ].map((x) =&gt; (&#10;      &lt;Box key={x.k} style={{ opacity: 0.72 }}&gt;&#10;        &lt;Text style={{ fontSize: 12.5, color: '#FBA15C', fontWeight: 'bold' }}&gt;{x.k}&lt;/Text&gt;&#10;        &lt;Text style={{ fontSize: 12, color: 'rgba(255,255,255,0.8)', marginTop: 4 }}&gt;{x.v}&lt;/Text&gt;&#10;      &lt;/Box&gt;&#10;    ))}&#10;  &lt;/Box&gt;&#10;&#10;  &lt;Box style={{ position: 'absolute', right: 88, bottom: 64, flexDirection: 'row', alignItems: 'center', gap: 12 }}&gt;&#10;    &lt;Box style={{ width: 14, height: 14, background: '#FA4F24' }} /&gt;&#10;    &lt;Text style={{ fontSize: 14, color: 'rgba(255,255,255,0.5)' }}&gt;硕磐机密 · 华为数字化转型之道&lt;/Text&gt;&#10;    &lt;Text style={{ fontSize: 14, color: 'rgba(255,255,255,0.5)', marginLeft: 12 }}&gt;05 / 35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7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782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1783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784" name="" descr="{&quot;isTemplate&quot;:true,&quot;type&quot;:&quot;text&quot;}"/>
          <p:cNvSpPr txBox="1"/>
          <p:nvPr/>
        </p:nvSpPr>
        <p:spPr>
          <a:xfrm rot="0" flipH="0" flipV="0">
            <a:off x="838200" y="2286000"/>
            <a:ext cx="666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01</a:t>
            </a:r>
            <a:endParaRPr/>
          </a:p>
        </p:txBody>
      </p:sp>
      <p:sp>
        <p:nvSpPr>
          <p:cNvPr id="1785" name=""/>
          <p:cNvSpPr/>
          <p:nvPr/>
        </p:nvSpPr>
        <p:spPr>
          <a:xfrm rot="0" flipH="0" flipV="0">
            <a:off x="838200" y="26670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786" name="" descr="{&quot;isTemplate&quot;:true,&quot;type&quot;:&quot;text&quot;}"/>
          <p:cNvSpPr txBox="1"/>
          <p:nvPr/>
        </p:nvSpPr>
        <p:spPr>
          <a:xfrm rot="0" flipH="0" flipV="0">
            <a:off x="838200" y="2981325"/>
            <a:ext cx="66675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认知与框架</a:t>
            </a:r>
            <a:endParaRPr/>
          </a:p>
        </p:txBody>
      </p:sp>
      <p:sp>
        <p:nvSpPr>
          <p:cNvPr id="1787" name="" descr="{&quot;isTemplate&quot;:true,&quot;type&quot;:&quot;text&quot;}"/>
          <p:cNvSpPr txBox="1"/>
          <p:nvPr/>
        </p:nvSpPr>
        <p:spPr>
          <a:xfrm rot="0" flipH="0" flipV="0">
            <a:off x="838200" y="3914775"/>
            <a:ext cx="666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WHY AND WHAT</a:t>
            </a:r>
            <a:endParaRPr/>
          </a:p>
        </p:txBody>
      </p:sp>
      <p:sp>
        <p:nvSpPr>
          <p:cNvPr id="1788" name="" descr="{&quot;isTemplate&quot;:true,&quot;type&quot;:&quot;text&quot;}"/>
          <p:cNvSpPr txBox="1"/>
          <p:nvPr/>
        </p:nvSpPr>
        <p:spPr>
          <a:xfrm rot="0" flipH="0" flipV="0">
            <a:off x="838200" y="4362450"/>
            <a:ext cx="6667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时代命题、整体框架的四个层级，以及成熟度评估怎么用</a:t>
            </a:r>
            <a:endParaRPr/>
          </a:p>
        </p:txBody>
      </p:sp>
      <p:sp>
        <p:nvSpPr>
          <p:cNvPr id="1789" name="" descr="{&quot;isTemplate&quot;:true,&quot;type&quot;:&quot;text&quot;}"/>
          <p:cNvSpPr txBox="1"/>
          <p:nvPr/>
        </p:nvSpPr>
        <p:spPr>
          <a:xfrm rot="0" flipH="0" flipV="0">
            <a:off x="838200" y="495300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>套方法</a:t>
            </a:r>
            <a:endParaRPr/>
          </a:p>
        </p:txBody>
      </p:sp>
      <p:sp>
        <p:nvSpPr>
          <p:cNvPr id="1790" name="" descr="{&quot;isTemplate&quot;:true,&quot;type&quot;:&quot;text&quot;}"/>
          <p:cNvSpPr txBox="1"/>
          <p:nvPr/>
        </p:nvSpPr>
        <p:spPr>
          <a:xfrm rot="0" flipH="0" flipV="0">
            <a:off x="838200" y="513397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三阶十二步</a:t>
            </a:r>
            <a:endParaRPr/>
          </a:p>
        </p:txBody>
      </p:sp>
      <p:sp>
        <p:nvSpPr>
          <p:cNvPr id="1791" name="" descr="{&quot;isTemplate&quot;:true,&quot;type&quot;:&quot;text&quot;}"/>
          <p:cNvSpPr txBox="1"/>
          <p:nvPr/>
        </p:nvSpPr>
        <p:spPr>
          <a:xfrm rot="0" flipH="0" flipV="0">
            <a:off x="1733550" y="4953000"/>
            <a:ext cx="1066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>类场景</a:t>
            </a:r>
            <a:endParaRPr/>
          </a:p>
        </p:txBody>
      </p:sp>
      <p:sp>
        <p:nvSpPr>
          <p:cNvPr id="1792" name="" descr="{&quot;isTemplate&quot;:true,&quot;type&quot;:&quot;text&quot;}"/>
          <p:cNvSpPr txBox="1"/>
          <p:nvPr/>
        </p:nvSpPr>
        <p:spPr>
          <a:xfrm rot="0" flipH="0" flipV="0">
            <a:off x="1733550" y="5133975"/>
            <a:ext cx="1066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作业</a:t>
            </a:r>
            <a:r>
              <a:rPr lang="en-US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交易</a:t>
            </a:r>
            <a:r>
              <a:rPr lang="en-US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运营</a:t>
            </a:r>
            <a:r>
              <a:rPr lang="en-US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办公</a:t>
            </a:r>
            <a:endParaRPr/>
          </a:p>
        </p:txBody>
      </p:sp>
      <p:sp>
        <p:nvSpPr>
          <p:cNvPr id="1793" name="" descr="{&quot;isTemplate&quot;:true,&quot;type&quot;:&quot;text&quot;}"/>
          <p:cNvSpPr txBox="1"/>
          <p:nvPr/>
        </p:nvSpPr>
        <p:spPr>
          <a:xfrm rot="0" flipH="0" flipV="0">
            <a:off x="3124200" y="4953000"/>
            <a:ext cx="971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>个平台</a:t>
            </a:r>
            <a:endParaRPr/>
          </a:p>
        </p:txBody>
      </p:sp>
      <p:sp>
        <p:nvSpPr>
          <p:cNvPr id="1794" name="" descr="{&quot;isTemplate&quot;:true,&quot;type&quot;:&quot;text&quot;}"/>
          <p:cNvSpPr txBox="1"/>
          <p:nvPr/>
        </p:nvSpPr>
        <p:spPr>
          <a:xfrm rot="0" flipH="0" flipV="0">
            <a:off x="3124200" y="5133975"/>
            <a:ext cx="971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数据底座·云化·治理</a:t>
            </a:r>
            <a:endParaRPr/>
          </a:p>
        </p:txBody>
      </p:sp>
      <p:sp>
        <p:nvSpPr>
          <p:cNvPr id="1795" name="" descr="{&quot;isTemplate&quot;:true,&quot;type&quot;:&quot;text&quot;}"/>
          <p:cNvSpPr txBox="1"/>
          <p:nvPr/>
        </p:nvSpPr>
        <p:spPr>
          <a:xfrm rot="0" flipH="0" flipV="0">
            <a:off x="4419600" y="495300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>L1–L5</a:t>
            </a:r>
            <a:endParaRPr/>
          </a:p>
        </p:txBody>
      </p:sp>
      <p:sp>
        <p:nvSpPr>
          <p:cNvPr id="1796" name="" descr="{&quot;isTemplate&quot;:true,&quot;type&quot;:&quot;text&quot;}"/>
          <p:cNvSpPr txBox="1"/>
          <p:nvPr/>
        </p:nvSpPr>
        <p:spPr>
          <a:xfrm rot="0" flipH="0" flipV="0">
            <a:off x="4419600" y="513397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成熟度五级</a:t>
            </a:r>
            <a:endParaRPr/>
          </a:p>
        </p:txBody>
      </p:sp>
      <p:sp>
        <p:nvSpPr>
          <p:cNvPr id="1797" name=""/>
          <p:cNvSpPr/>
          <p:nvPr/>
        </p:nvSpPr>
        <p:spPr>
          <a:xfrm rot="0" flipH="0" flipV="0">
            <a:off x="8572500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798" name="" descr="{&quot;isTemplate&quot;:true,&quot;type&quot;:&quot;text&quot;}"/>
          <p:cNvSpPr txBox="1"/>
          <p:nvPr/>
        </p:nvSpPr>
        <p:spPr>
          <a:xfrm rot="0" flipH="0" flipV="0">
            <a:off x="8820150" y="60864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1799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05 / 35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800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华为为什么推数字化转型：&lt;span style={{ color: '#FA4F24' }}&gt;四个时代命题&lt;/span&gt;&#10;        &lt;/Text&gt;&#10;        &lt;Text style={{ fontSize: 20, color: '#8A8F99', marginTop: 8 }}&gt;&#10;            不是因为技术时髦，是因为这四件事同时压过来——每一件都能单独要了企业的命&#10;        &lt;/Text&gt;&#10;    &lt;/Box&gt;&#10;    &lt;Box style={{ height: 1, background: '#E8E8E8' }} /&gt;&#10;&#10;    {/* B 区 */}&#10;    &lt;Box style={{ paddingTop: 18, paddingBottom: 12, height: 479, flexDirection: 'column', gap: 10 }}&gt;&#10;&#10;        {/* 四象限 */}&#10;        &lt;Box style={{ height: 292, flexDirection: 'column', gap: 10 }}&gt;&#10;            {[&#10;                {&#10;                    n: '01', t: '鲍莫尔成本病',&#10;                    d: '服务业成本随规模上升，服务越多越亏。传统解法是压人、压网点、压体验',&#10;                    s: '唯一出路是把服务成本结构改掉——把人的动作换成系统的动作',&#10;                    c: '#FA4F24', left: true,&#10;                },&#10;                {&#10;                    n: '02', t: 'To B 客户要 To C 体验',&#10;                    d: '企业客户的采购与使用体验，能不能做到消费级那样即开即用',&#10;                    s: '体验差距直接变成客诉成本和续约风险，不是体验部门的内部指标',&#10;                    c: '#E0641E', left: false,&#10;                },&#10;                {&#10;                    n: '03', t: '构筑产业链端到端优势',&#10;                    d: '单个环节做到极致没用，链条断一环，全链成本照样上不去',&#10;                    s: '端到端协同要靠数据打通和流程贯通，不靠各家自己努力',&#10;                    c: '#D2531A', left: true,&#10;                },&#10;                {&#10;                    n: '04', t: '数据成为生产要素',&#10;                    d: '数据不再只是记录业务，而是要参与决策、驱动智能、形成资产',&#10;                    s: '这是数据架构、指标、Ontology 这些专册存在的根本理由',&#10;                    c: '#C43A17', left: false,&#10;                },&#10;            ].map((x) =&gt; (&#10;                &lt;Box key={x.n} style={{ flex: 1, flexDirection: 'row', alignItems: 'stretch', gap: 10 }}&gt;&#10;                    &lt;Box style={{ width: 6, background: x.c, borderRadius: 3 }} /&gt;&#10;                    &lt;Box style={{ width: 46, background: x.c, borderRadius: 3, alignItems: 'center', justifyContent: 'center' }}&gt;&#10;                        &lt;Text style={{ fontSize: 18, fontWeight: 'bold', color: '#FFFFFF' }}&gt;{x.n}&lt;/Text&gt;&#10;                    &lt;/Box&gt;&#10;                    &lt;Box style={{ width: 196, background: '#F7F7F8', borderRadius: 3, padding: '0 14px', flexDirection: 'column', justifyContent: 'center' }}&gt;&#10;                        &lt;Text style={{ fontSize: 17, fontWeight: 'bold', color: '#0F1423' }}&gt;{x.t}&lt;/Text&gt;&#10;                    &lt;/Box&gt;&#10;                    &lt;Box style={{ flex: 1, background: '#F7F7F8', borderRadius: 3, padding: '0 14px', flexDirection: 'column', justifyContent: 'center' }}&gt;&#10;                        &lt;Text style={{ fontSize: 13.5, color: '#3A4050', lineHeight: 1.4 }}&gt;{x.d}&lt;/Text&gt;&#10;                    &lt;/Box&gt;&#10;                    &lt;Box style={{ width: 372, background: '#FFF3EE', borderRadius: 3, borderLeft: '4px solid ' + x.c, padding: '0 14px', flexDirection: 'column', justifyContent: 'center' }}&gt;&#10;                        &lt;Text style={{ fontSize: 12.5, color: '#C43A17', lineHeight: 1.4 }}&gt;{x.s}&lt;/Text&gt;&#10;                    &lt;/Box&gt;&#10;                &lt;/Box&gt;&#10;            ))}&#10;        &lt;/Box&gt;&#10;&#10;        {/* 底部结论条 */}&#10;        &lt;Box style={{ height: 42, background: '#0F1423', borderRadius: 3, flexDirection: 'row', alignItems: 'center', padding: '0 20px', gap: 16 }}&gt;&#10;            &lt;Text style={{ fontSize: 13.5, fontWeight: 'bold', color: '#FBA15C' }}&gt;由此推出的第一条立场&lt;/Text&gt;&#10;            &lt;Text style={{ fontSize: 16, color: '#FFFFFF', flex: 1, lineHeight: 1.35 }}&gt;&#10;                数字化转型必须由&lt;span style={{ color: '#FA4F24' }}&gt;企业自身主导&lt;/span&gt;——交给乙方做，架构会长成供应商的能力，不是客户的能力&#10;            &lt;/Text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华为数字化转型之道&lt;/Text&gt;&#10;        &lt;/Box&gt;&#10;        &lt;Text style={{ fontSize: 14, color: '#8A8F99' }}&gt;06 / 3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0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华为为什么推数字化转型：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四个时代命题</a:t>
            </a:r>
            <a:endParaRPr/>
          </a:p>
        </p:txBody>
      </p:sp>
      <p:sp>
        <p:nvSpPr>
          <p:cNvPr id="180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不是因为技术时髦，是因为这四件事同时压过来——每一件都能单独要了企业的命</a:t>
            </a:r>
            <a:endParaRPr/>
          </a:p>
        </p:txBody>
      </p:sp>
      <p:sp>
        <p:nvSpPr>
          <p:cNvPr id="180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805" name=""/>
          <p:cNvSpPr/>
          <p:nvPr/>
        </p:nvSpPr>
        <p:spPr>
          <a:xfrm rot="0" flipH="0" flipV="0">
            <a:off x="609600" y="1323975"/>
            <a:ext cx="57150" cy="676275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06" name=""/>
          <p:cNvSpPr/>
          <p:nvPr/>
        </p:nvSpPr>
        <p:spPr>
          <a:xfrm rot="0" flipH="0" flipV="0">
            <a:off x="762000" y="1323975"/>
            <a:ext cx="438150" cy="676275"/>
          </a:xfrm>
          <a:prstGeom prst="roundRect">
            <a:avLst>
              <a:gd name="adj" fmla="val 6522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07" name="" descr="{&quot;isTemplate&quot;:true,&quot;type&quot;:&quot;text&quot;}"/>
          <p:cNvSpPr txBox="1"/>
          <p:nvPr/>
        </p:nvSpPr>
        <p:spPr>
          <a:xfrm rot="0" flipH="0" flipV="0">
            <a:off x="876300" y="156210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808" name=""/>
          <p:cNvSpPr/>
          <p:nvPr/>
        </p:nvSpPr>
        <p:spPr>
          <a:xfrm rot="0" flipH="0" flipV="0">
            <a:off x="1295400" y="1323975"/>
            <a:ext cx="1866900" cy="676275"/>
          </a:xfrm>
          <a:prstGeom prst="roundRect">
            <a:avLst>
              <a:gd name="adj" fmla="val 422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09" name="" descr="{&quot;isTemplate&quot;:true,&quot;type&quot;:&quot;text&quot;}"/>
          <p:cNvSpPr txBox="1"/>
          <p:nvPr/>
        </p:nvSpPr>
        <p:spPr>
          <a:xfrm rot="0" flipH="0" flipV="0">
            <a:off x="1428750" y="156210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鲍莫尔成本病</a:t>
            </a:r>
            <a:endParaRPr/>
          </a:p>
        </p:txBody>
      </p:sp>
      <p:sp>
        <p:nvSpPr>
          <p:cNvPr id="1810" name=""/>
          <p:cNvSpPr/>
          <p:nvPr/>
        </p:nvSpPr>
        <p:spPr>
          <a:xfrm rot="0" flipH="0" flipV="0">
            <a:off x="3257550" y="1323975"/>
            <a:ext cx="4686300" cy="676275"/>
          </a:xfrm>
          <a:prstGeom prst="roundRect">
            <a:avLst>
              <a:gd name="adj" fmla="val 422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11" name="" descr="{&quot;isTemplate&quot;:true,&quot;type&quot;:&quot;text&quot;}"/>
          <p:cNvSpPr txBox="1"/>
          <p:nvPr/>
        </p:nvSpPr>
        <p:spPr>
          <a:xfrm rot="0" flipH="0" flipV="0">
            <a:off x="3390900" y="1552575"/>
            <a:ext cx="4419600" cy="2190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13">
                <a:solidFill>
                  <a:srgbClr val="3A4050"/>
                </a:solidFill>
                <a:latin typeface="Microsoft YaHei"/>
                <a:ea typeface="Microsoft YaHei"/>
              </a:rPr>
              <a:t>服务业成本随规模上升，服务越多越亏。传统解法是压人、压网点、压体验</a:t>
            </a:r>
            <a:endParaRPr/>
          </a:p>
        </p:txBody>
      </p:sp>
      <p:sp>
        <p:nvSpPr>
          <p:cNvPr id="1812" name=""/>
          <p:cNvSpPr/>
          <p:nvPr/>
        </p:nvSpPr>
        <p:spPr>
          <a:xfrm rot="0" flipH="0" flipV="0">
            <a:off x="8077200" y="1323975"/>
            <a:ext cx="3505200" cy="676275"/>
          </a:xfrm>
          <a:prstGeom prst="roundRect">
            <a:avLst>
              <a:gd name="adj" fmla="val 4225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813" name=""/>
          <p:cNvSpPr/>
          <p:nvPr/>
        </p:nvSpPr>
        <p:spPr>
          <a:xfrm rot="0" flipH="0" flipV="0">
            <a:off x="8077200" y="1323975"/>
            <a:ext cx="3505200" cy="676275"/>
          </a:xfrm>
          <a:custGeom>
            <a:pathLst>
              <a:path w="368" h="71">
                <a:moveTo>
                  <a:pt x="4" y="71"/>
                </a:moveTo>
                <a:cubicBezTo>
                  <a:pt x="3" y="71"/>
                  <a:pt x="2" y="71"/>
                  <a:pt x="1" y="70"/>
                </a:cubicBezTo>
                <a:cubicBezTo>
                  <a:pt x="0" y="69"/>
                  <a:pt x="0" y="69"/>
                  <a:pt x="0" y="6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14" name="" descr="{&quot;isTemplate&quot;:true,&quot;type&quot;:&quot;text&quot;}"/>
          <p:cNvSpPr txBox="1"/>
          <p:nvPr/>
        </p:nvSpPr>
        <p:spPr>
          <a:xfrm rot="0" flipH="0" flipV="0">
            <a:off x="8210550" y="1466850"/>
            <a:ext cx="32385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38">
                <a:solidFill>
                  <a:srgbClr val="C43A17"/>
                </a:solidFill>
                <a:latin typeface="Microsoft YaHei"/>
                <a:ea typeface="Microsoft YaHei"/>
              </a:rPr>
              <a:t>唯一出路是把服务成本结构改掉——把人的动作换成系统的动作</a:t>
            </a:r>
            <a:endParaRPr/>
          </a:p>
        </p:txBody>
      </p:sp>
      <p:sp>
        <p:nvSpPr>
          <p:cNvPr id="1815" name=""/>
          <p:cNvSpPr/>
          <p:nvPr/>
        </p:nvSpPr>
        <p:spPr>
          <a:xfrm rot="0" flipH="0" flipV="0">
            <a:off x="609600" y="2095500"/>
            <a:ext cx="57150" cy="666750"/>
          </a:xfrm>
          <a:prstGeom prst="roundRect">
            <a:avLst>
              <a:gd name="adj" fmla="val 50000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1816" name=""/>
          <p:cNvSpPr/>
          <p:nvPr/>
        </p:nvSpPr>
        <p:spPr>
          <a:xfrm rot="0" flipH="0" flipV="0">
            <a:off x="762000" y="2095500"/>
            <a:ext cx="438150" cy="666750"/>
          </a:xfrm>
          <a:prstGeom prst="roundRect">
            <a:avLst>
              <a:gd name="adj" fmla="val 6522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1817" name="" descr="{&quot;isTemplate&quot;:true,&quot;type&quot;:&quot;text&quot;}"/>
          <p:cNvSpPr txBox="1"/>
          <p:nvPr/>
        </p:nvSpPr>
        <p:spPr>
          <a:xfrm rot="0" flipH="0" flipV="0">
            <a:off x="876300" y="232410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818" name=""/>
          <p:cNvSpPr/>
          <p:nvPr/>
        </p:nvSpPr>
        <p:spPr>
          <a:xfrm rot="0" flipH="0" flipV="0">
            <a:off x="1295400" y="2095500"/>
            <a:ext cx="1866900" cy="666750"/>
          </a:xfrm>
          <a:prstGeom prst="roundRect">
            <a:avLst>
              <a:gd name="adj" fmla="val 428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19" name="" descr="{&quot;isTemplate&quot;:true,&quot;type&quot;:&quot;text&quot;}"/>
          <p:cNvSpPr txBox="1"/>
          <p:nvPr/>
        </p:nvSpPr>
        <p:spPr>
          <a:xfrm rot="0" flipH="0" flipV="0">
            <a:off x="1428750" y="2238375"/>
            <a:ext cx="16002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To B </a:t>
            </a: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客户要</a:t>
            </a:r>
            <a:r>
              <a:rPr lang="en-US" sz="12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To C </a:t>
            </a: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体验</a:t>
            </a:r>
            <a:endParaRPr/>
          </a:p>
        </p:txBody>
      </p:sp>
      <p:sp>
        <p:nvSpPr>
          <p:cNvPr id="1820" name=""/>
          <p:cNvSpPr/>
          <p:nvPr/>
        </p:nvSpPr>
        <p:spPr>
          <a:xfrm rot="0" flipH="0" flipV="0">
            <a:off x="3257550" y="2095500"/>
            <a:ext cx="4686300" cy="666750"/>
          </a:xfrm>
          <a:prstGeom prst="roundRect">
            <a:avLst>
              <a:gd name="adj" fmla="val 428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21" name="" descr="{&quot;isTemplate&quot;:true,&quot;type&quot;:&quot;text&quot;}"/>
          <p:cNvSpPr txBox="1"/>
          <p:nvPr/>
        </p:nvSpPr>
        <p:spPr>
          <a:xfrm rot="0" flipH="0" flipV="0">
            <a:off x="3390900" y="2324100"/>
            <a:ext cx="4419600" cy="2190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13">
                <a:solidFill>
                  <a:srgbClr val="3A4050"/>
                </a:solidFill>
                <a:latin typeface="Microsoft YaHei"/>
                <a:ea typeface="Microsoft YaHei"/>
              </a:rPr>
              <a:t>企业客户的采购与使用体验，能不能做到消费级那样即开即用</a:t>
            </a:r>
            <a:endParaRPr/>
          </a:p>
        </p:txBody>
      </p:sp>
      <p:sp>
        <p:nvSpPr>
          <p:cNvPr id="1822" name=""/>
          <p:cNvSpPr/>
          <p:nvPr/>
        </p:nvSpPr>
        <p:spPr>
          <a:xfrm rot="0" flipH="0" flipV="0">
            <a:off x="8077200" y="2095500"/>
            <a:ext cx="3505200" cy="666750"/>
          </a:xfrm>
          <a:prstGeom prst="roundRect">
            <a:avLst>
              <a:gd name="adj" fmla="val 4286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823" name=""/>
          <p:cNvSpPr/>
          <p:nvPr/>
        </p:nvSpPr>
        <p:spPr>
          <a:xfrm rot="0" flipH="0" flipV="0">
            <a:off x="8077200" y="2095500"/>
            <a:ext cx="3505200" cy="666750"/>
          </a:xfrm>
          <a:custGeom>
            <a:pathLst>
              <a:path w="368" h="70">
                <a:moveTo>
                  <a:pt x="4" y="70"/>
                </a:moveTo>
                <a:cubicBezTo>
                  <a:pt x="3" y="70"/>
                  <a:pt x="2" y="70"/>
                  <a:pt x="1" y="69"/>
                </a:cubicBezTo>
                <a:cubicBezTo>
                  <a:pt x="0" y="68"/>
                  <a:pt x="0" y="68"/>
                  <a:pt x="0" y="6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1824" name="" descr="{&quot;isTemplate&quot;:true,&quot;type&quot;:&quot;text&quot;}"/>
          <p:cNvSpPr txBox="1"/>
          <p:nvPr/>
        </p:nvSpPr>
        <p:spPr>
          <a:xfrm rot="0" flipH="0" flipV="0">
            <a:off x="8210550" y="2228850"/>
            <a:ext cx="32385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38">
                <a:solidFill>
                  <a:srgbClr val="C43A17"/>
                </a:solidFill>
                <a:latin typeface="Microsoft YaHei"/>
                <a:ea typeface="Microsoft YaHei"/>
              </a:rPr>
              <a:t>体验差距直接变成客诉成本和续约风险，不是体验部门的内部指标</a:t>
            </a:r>
            <a:endParaRPr/>
          </a:p>
        </p:txBody>
      </p:sp>
      <p:sp>
        <p:nvSpPr>
          <p:cNvPr id="1825" name=""/>
          <p:cNvSpPr/>
          <p:nvPr/>
        </p:nvSpPr>
        <p:spPr>
          <a:xfrm rot="0" flipH="0" flipV="0">
            <a:off x="609600" y="2857500"/>
            <a:ext cx="57150" cy="666750"/>
          </a:xfrm>
          <a:prstGeom prst="roundRect">
            <a:avLst>
              <a:gd name="adj" fmla="val 50000"/>
            </a:avLst>
          </a:prstGeom>
          <a:solidFill>
            <a:srgbClr val="D2531A"/>
          </a:solidFill>
          <a:ln/>
        </p:spPr>
        <p:txBody>
          <a:bodyPr/>
          <a:p/>
        </p:txBody>
      </p:sp>
      <p:sp>
        <p:nvSpPr>
          <p:cNvPr id="1826" name=""/>
          <p:cNvSpPr/>
          <p:nvPr/>
        </p:nvSpPr>
        <p:spPr>
          <a:xfrm rot="0" flipH="0" flipV="0">
            <a:off x="762000" y="2857500"/>
            <a:ext cx="438150" cy="666750"/>
          </a:xfrm>
          <a:prstGeom prst="roundRect">
            <a:avLst>
              <a:gd name="adj" fmla="val 6522"/>
            </a:avLst>
          </a:prstGeom>
          <a:solidFill>
            <a:srgbClr val="D2531A"/>
          </a:solidFill>
          <a:ln/>
        </p:spPr>
        <p:txBody>
          <a:bodyPr/>
          <a:p/>
        </p:txBody>
      </p:sp>
      <p:sp>
        <p:nvSpPr>
          <p:cNvPr id="1827" name="" descr="{&quot;isTemplate&quot;:true,&quot;type&quot;:&quot;text&quot;}"/>
          <p:cNvSpPr txBox="1"/>
          <p:nvPr/>
        </p:nvSpPr>
        <p:spPr>
          <a:xfrm rot="0" flipH="0" flipV="0">
            <a:off x="876300" y="308610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828" name=""/>
          <p:cNvSpPr/>
          <p:nvPr/>
        </p:nvSpPr>
        <p:spPr>
          <a:xfrm rot="0" flipH="0" flipV="0">
            <a:off x="1295400" y="2857500"/>
            <a:ext cx="1866900" cy="666750"/>
          </a:xfrm>
          <a:prstGeom prst="roundRect">
            <a:avLst>
              <a:gd name="adj" fmla="val 428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29" name="" descr="{&quot;isTemplate&quot;:true,&quot;type&quot;:&quot;text&quot;}"/>
          <p:cNvSpPr txBox="1"/>
          <p:nvPr/>
        </p:nvSpPr>
        <p:spPr>
          <a:xfrm rot="0" flipH="0" flipV="0">
            <a:off x="1428750" y="3000375"/>
            <a:ext cx="16002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构筑产业链端到端优势</a:t>
            </a:r>
            <a:endParaRPr/>
          </a:p>
        </p:txBody>
      </p:sp>
      <p:sp>
        <p:nvSpPr>
          <p:cNvPr id="1830" name=""/>
          <p:cNvSpPr/>
          <p:nvPr/>
        </p:nvSpPr>
        <p:spPr>
          <a:xfrm rot="0" flipH="0" flipV="0">
            <a:off x="3257550" y="2857500"/>
            <a:ext cx="4686300" cy="666750"/>
          </a:xfrm>
          <a:prstGeom prst="roundRect">
            <a:avLst>
              <a:gd name="adj" fmla="val 428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31" name="" descr="{&quot;isTemplate&quot;:true,&quot;type&quot;:&quot;text&quot;}"/>
          <p:cNvSpPr txBox="1"/>
          <p:nvPr/>
        </p:nvSpPr>
        <p:spPr>
          <a:xfrm rot="0" flipH="0" flipV="0">
            <a:off x="3390900" y="3086100"/>
            <a:ext cx="4419600" cy="2190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13">
                <a:solidFill>
                  <a:srgbClr val="3A4050"/>
                </a:solidFill>
                <a:latin typeface="Microsoft YaHei"/>
                <a:ea typeface="Microsoft YaHei"/>
              </a:rPr>
              <a:t>单个环节做到极致没用，链条断一环，全链成本照样上不去</a:t>
            </a:r>
            <a:endParaRPr/>
          </a:p>
        </p:txBody>
      </p:sp>
      <p:sp>
        <p:nvSpPr>
          <p:cNvPr id="1832" name=""/>
          <p:cNvSpPr/>
          <p:nvPr/>
        </p:nvSpPr>
        <p:spPr>
          <a:xfrm rot="0" flipH="0" flipV="0">
            <a:off x="8077200" y="2857500"/>
            <a:ext cx="3505200" cy="666750"/>
          </a:xfrm>
          <a:prstGeom prst="roundRect">
            <a:avLst>
              <a:gd name="adj" fmla="val 4286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833" name=""/>
          <p:cNvSpPr/>
          <p:nvPr/>
        </p:nvSpPr>
        <p:spPr>
          <a:xfrm rot="0" flipH="0" flipV="0">
            <a:off x="8077200" y="2857500"/>
            <a:ext cx="3505200" cy="666750"/>
          </a:xfrm>
          <a:custGeom>
            <a:pathLst>
              <a:path w="368" h="70">
                <a:moveTo>
                  <a:pt x="4" y="70"/>
                </a:moveTo>
                <a:cubicBezTo>
                  <a:pt x="3" y="70"/>
                  <a:pt x="2" y="70"/>
                  <a:pt x="1" y="69"/>
                </a:cubicBezTo>
                <a:cubicBezTo>
                  <a:pt x="0" y="68"/>
                  <a:pt x="0" y="68"/>
                  <a:pt x="0" y="6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D2531A"/>
          </a:solidFill>
          <a:ln/>
        </p:spPr>
        <p:txBody>
          <a:bodyPr/>
          <a:p/>
        </p:txBody>
      </p:sp>
      <p:sp>
        <p:nvSpPr>
          <p:cNvPr id="1834" name="" descr="{&quot;isTemplate&quot;:true,&quot;type&quot;:&quot;text&quot;}"/>
          <p:cNvSpPr txBox="1"/>
          <p:nvPr/>
        </p:nvSpPr>
        <p:spPr>
          <a:xfrm rot="0" flipH="0" flipV="0">
            <a:off x="8210550" y="3095625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C43A17"/>
                </a:solidFill>
                <a:latin typeface="Microsoft YaHei"/>
                <a:ea typeface="Microsoft YaHei"/>
              </a:rPr>
              <a:t>端到端协同要靠数据打通和流程贯通，不靠各家自己努力</a:t>
            </a:r>
            <a:endParaRPr/>
          </a:p>
        </p:txBody>
      </p:sp>
      <p:sp>
        <p:nvSpPr>
          <p:cNvPr id="1835" name=""/>
          <p:cNvSpPr/>
          <p:nvPr/>
        </p:nvSpPr>
        <p:spPr>
          <a:xfrm rot="0" flipH="0" flipV="0">
            <a:off x="609600" y="3619500"/>
            <a:ext cx="57150" cy="485775"/>
          </a:xfrm>
          <a:prstGeom prst="roundRect">
            <a:avLst>
              <a:gd name="adj" fmla="val 50000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1836" name=""/>
          <p:cNvSpPr/>
          <p:nvPr/>
        </p:nvSpPr>
        <p:spPr>
          <a:xfrm rot="0" flipH="0" flipV="0">
            <a:off x="762000" y="3619500"/>
            <a:ext cx="438150" cy="485775"/>
          </a:xfrm>
          <a:prstGeom prst="roundRect">
            <a:avLst>
              <a:gd name="adj" fmla="val 6522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1837" name="" descr="{&quot;isTemplate&quot;:true,&quot;type&quot;:&quot;text&quot;}"/>
          <p:cNvSpPr txBox="1"/>
          <p:nvPr/>
        </p:nvSpPr>
        <p:spPr>
          <a:xfrm rot="0" flipH="0" flipV="0">
            <a:off x="876300" y="376237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838" name=""/>
          <p:cNvSpPr/>
          <p:nvPr/>
        </p:nvSpPr>
        <p:spPr>
          <a:xfrm rot="0" flipH="0" flipV="0">
            <a:off x="1295400" y="3619500"/>
            <a:ext cx="1866900" cy="485775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39" name="" descr="{&quot;isTemplate&quot;:true,&quot;type&quot;:&quot;text&quot;}"/>
          <p:cNvSpPr txBox="1"/>
          <p:nvPr/>
        </p:nvSpPr>
        <p:spPr>
          <a:xfrm rot="0" flipH="0" flipV="0">
            <a:off x="1428750" y="376237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数据成为生产要素</a:t>
            </a:r>
            <a:endParaRPr/>
          </a:p>
        </p:txBody>
      </p:sp>
      <p:sp>
        <p:nvSpPr>
          <p:cNvPr id="1840" name=""/>
          <p:cNvSpPr/>
          <p:nvPr/>
        </p:nvSpPr>
        <p:spPr>
          <a:xfrm rot="0" flipH="0" flipV="0">
            <a:off x="3257550" y="3619500"/>
            <a:ext cx="4686300" cy="485775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41" name="" descr="{&quot;isTemplate&quot;:true,&quot;type&quot;:&quot;text&quot;}"/>
          <p:cNvSpPr txBox="1"/>
          <p:nvPr/>
        </p:nvSpPr>
        <p:spPr>
          <a:xfrm rot="0" flipH="0" flipV="0">
            <a:off x="3390900" y="3752850"/>
            <a:ext cx="4419600" cy="2190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13">
                <a:solidFill>
                  <a:srgbClr val="3A4050"/>
                </a:solidFill>
                <a:latin typeface="Microsoft YaHei"/>
                <a:ea typeface="Microsoft YaHei"/>
              </a:rPr>
              <a:t>数据不再只是记录业务，而是要参与决策、驱动智能、形成资产</a:t>
            </a:r>
            <a:endParaRPr/>
          </a:p>
        </p:txBody>
      </p:sp>
      <p:sp>
        <p:nvSpPr>
          <p:cNvPr id="1842" name=""/>
          <p:cNvSpPr/>
          <p:nvPr/>
        </p:nvSpPr>
        <p:spPr>
          <a:xfrm rot="0" flipH="0" flipV="0">
            <a:off x="8077200" y="3619500"/>
            <a:ext cx="3505200" cy="485775"/>
          </a:xfrm>
          <a:prstGeom prst="roundRect">
            <a:avLst>
              <a:gd name="adj" fmla="val 588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843" name=""/>
          <p:cNvSpPr/>
          <p:nvPr/>
        </p:nvSpPr>
        <p:spPr>
          <a:xfrm rot="0" flipH="0" flipV="0">
            <a:off x="8077200" y="3619500"/>
            <a:ext cx="3505200" cy="485775"/>
          </a:xfrm>
          <a:custGeom>
            <a:pathLst>
              <a:path w="368" h="51">
                <a:moveTo>
                  <a:pt x="4" y="51"/>
                </a:moveTo>
                <a:cubicBezTo>
                  <a:pt x="3" y="51"/>
                  <a:pt x="2" y="51"/>
                  <a:pt x="1" y="50"/>
                </a:cubicBezTo>
                <a:cubicBezTo>
                  <a:pt x="0" y="49"/>
                  <a:pt x="0" y="49"/>
                  <a:pt x="0" y="4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844" name="" descr="{&quot;isTemplate&quot;:true,&quot;type&quot;:&quot;text&quot;}"/>
          <p:cNvSpPr txBox="1"/>
          <p:nvPr/>
        </p:nvSpPr>
        <p:spPr>
          <a:xfrm rot="0" flipH="0" flipV="0">
            <a:off x="8210550" y="3762375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C43A17"/>
                </a:solidFill>
                <a:latin typeface="Microsoft YaHei"/>
                <a:ea typeface="Microsoft YaHei"/>
              </a:rPr>
              <a:t>这是数据架构、指标、</a:t>
            </a:r>
            <a:r>
              <a:rPr lang="en-US" sz="938">
                <a:solidFill>
                  <a:srgbClr val="C43A17"/>
                </a:solidFill>
                <a:latin typeface="Microsoft YaHei"/>
                <a:ea typeface="Microsoft YaHei"/>
              </a:rPr>
              <a:t xml:space="preserve">Ontology </a:t>
            </a:r>
            <a:r>
              <a:rPr lang="zh-CN" sz="938">
                <a:solidFill>
                  <a:srgbClr val="C43A17"/>
                </a:solidFill>
                <a:latin typeface="Microsoft YaHei"/>
                <a:ea typeface="Microsoft YaHei"/>
              </a:rPr>
              <a:t>这些专册存在的根本理由</a:t>
            </a:r>
            <a:endParaRPr/>
          </a:p>
        </p:txBody>
      </p:sp>
      <p:sp>
        <p:nvSpPr>
          <p:cNvPr id="1845" name=""/>
          <p:cNvSpPr/>
          <p:nvPr/>
        </p:nvSpPr>
        <p:spPr>
          <a:xfrm rot="0" flipH="0" flipV="0">
            <a:off x="609600" y="4200525"/>
            <a:ext cx="10972800" cy="40005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846" name="" descr="{&quot;isTemplate&quot;:true,&quot;type&quot;:&quot;text&quot;}"/>
          <p:cNvSpPr txBox="1"/>
          <p:nvPr/>
        </p:nvSpPr>
        <p:spPr>
          <a:xfrm rot="0" flipH="0" flipV="0">
            <a:off x="800100" y="4324350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由此推出的第一条立场</a:t>
            </a:r>
            <a:endParaRPr/>
          </a:p>
        </p:txBody>
      </p:sp>
      <p:sp>
        <p:nvSpPr>
          <p:cNvPr id="1847" name="" descr="{&quot;isTemplate&quot;:true,&quot;type&quot;:&quot;text&quot;}"/>
          <p:cNvSpPr txBox="1"/>
          <p:nvPr/>
        </p:nvSpPr>
        <p:spPr>
          <a:xfrm rot="0" flipH="0" flipV="0">
            <a:off x="2238375" y="4276725"/>
            <a:ext cx="9153525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数字化转型必须由</a:t>
            </a:r>
            <a:r>
              <a:rPr lang="zh-CN" sz="1200">
                <a:solidFill>
                  <a:srgbClr val="FA4F24"/>
                </a:solidFill>
                <a:latin typeface="Microsoft YaHei"/>
                <a:ea typeface="Microsoft YaHei"/>
              </a:rPr>
              <a:t>企业自身主导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——交给乙方做，架构会长成供应商的能力，不是客户的能力</a:t>
            </a:r>
            <a:endParaRPr/>
          </a:p>
        </p:txBody>
      </p:sp>
      <p:sp>
        <p:nvSpPr>
          <p:cNvPr id="1848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49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1850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06 / 35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851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这不是信息化，&lt;span style={{ color: '#FA4F24' }}&gt;是一场全新变革&lt;/span&gt;&#10;        &lt;/Text&gt;&#10;        &lt;Text style={{ fontSize: 20, color: '#8A8F99', marginTop: 8 }}&gt;&#10;            IT 部门的诉求是系统上线；变革的诉求是组织、流程、权责一起动——按老办法做IT，五个转变一个都落不了&#10;        &lt;/Text&gt;&#10;    &lt;/Box&gt;&#10;    &lt;Box style={{ height: 1, background: '#E8E8E8' }} /&gt;&#10;&#10;    {/* B 区 */}&#10;    &lt;Box style={{ paddingTop: 18, paddingBottom: 12, height: 479, flexDirection: 'column', gap: 10 }}&gt;&#10;&#10;        {/* 上：四个必须打破 */}&#10;        &lt;Box style={{ height: 158, flexDirection: 'row', gap: 10 }}&gt;&#10;            {[&#10;                { t: '打破组织层级', d: '数字化之后，信息的流动不该被层级拦住', tag: '层级≠信息通道' },&#10;                { t: '重定义甲乙方关系', d: '乙方不再只是接需求，要能改客户的东西', tag: '从交付到共建' },&#10;                { t: '融合业务与 IT 能力', d: '业务和 IT 不再是两个部门的两套语言', tag: '同语言、同目标' },&#10;                { t: '对准体验效率模式', d: '三个都要，不是二选一，也不是只谈体验', tag: '三维同时改进' },&#10;            ].map((x, i) =&gt; (&#10;                &lt;Box key={x.t} style={{ flex: 1, background: '#F7F7F8', borderRadius: 3, borderTop: '3px solid ' + ['#FA4F24', '#E0641E', '#D2531A', '#C43A17'][i], padding: '13px 14px', flexDirection: 'column' }}&gt;&#10;                    &lt;Text style={{ fontSize: 16, fontWeight: 'bold', color: '#0F1423', lineHeight: 1.3 }}&gt;{x.t}&lt;/Text&gt;&#10;                    &lt;Text style={{ fontSize: 12.5, color: '#3A4050', lineHeight: 1.45, marginTop: 8, flex: 1 }}&gt;{x.d}&lt;/Text&gt;&#10;                    &lt;Text style={{ fontSize: 11, color: '#C43A17' }}&gt;{x.tag}&lt;/Text&gt;&#10;                &lt;/Box&gt;&#10;            ))}&#10;        &lt;/Box&gt;&#10;&#10;        {/* 中：5 个转变 */}&#10;        &lt;Box style={{ flex: 1, flexDirection: 'column' }}&gt;&#10;            &lt;Text style={{ fontSize: 13.5, fontWeight: 'bold', color: '#0F1423', marginBottom: 8 }}&gt;5 个转变保障变革成功（原书 1.2.5）&lt;/Text&gt;&#10;            &lt;Box style={{ flex: 1, flexDirection: 'row', alignItems: 'stretch', gap: 4 }}&gt;&#10;                {[&#10;                    { f: '从', t: '信息化', g: '到', to: '数字化' },&#10;                    { f: '从', t: 'IT 支撑', g: '到', to: 'IT 驱动' },&#10;                    { f: '从', t: '流程驱动', g: '到', to: '数据驱动' },&#10;                    { f: '从', t: '部门内建设', g: '到', to: '端到端拉通' },&#10;                    { f: '从', t: '项目制交付', g: '到', to: '产品化运营' },&#10;                ].map((x, i) =&gt; (&#10;                    &lt;Box key={x.to} style={{ flex: 1, background: '#FFFFFF', borderRadius: 3, border: '1px solid #E8E8E8', flexDirection: 'column', alignItems: 'center', justifyContent: 'center', gap: 4 }}&gt;&#10;                        &lt;Text style={{ fontSize: 11.5, color: '#8A8F99' }}&gt;{x.f}&lt;/Text&gt;&#10;                        &lt;Text style={{ fontSize: 14.5, color: '#3A4050', fontWeight: 'bold' }}&gt;{x.t}&lt;/Text&gt;&#10;                        &lt;Text style={{ fontSize: 12, color: '#FA4F24', fontWeight: 'bold' }}&gt;{x.g}&lt;/Text&gt;&#10;                        &lt;Text style={{ fontSize: 15.5, color: '#FA4F24', fontWeight: 'bold' }}&gt;{x.to}&lt;/Text&gt;&#10;                        &lt;Box style={{ width: 20, height: 2, background: ['#FA4F24', '#E0641E', '#D2531A', '#C43A17', '#9E3410'][i], marginTop: 2 }} /&gt;&#10;                    &lt;/Box&gt;&#10;                ))}&#10;            &lt;/Box&gt;&#10;        &lt;/Box&gt;&#10;&#10;        {/* 底部红牌 */}&#10;        &lt;Box style={{ height: 62, background: 'linear-gradient(160deg, #FA4F24 0%, #F87D2F 100%)', borderRadius: 3, padding: '0 22px', flexDirection: 'row', alignItems: 'center', gap: 20 }}&gt;&#10;            &lt;Text style={{ fontSize: 14, color: 'rgba(255,255,255,0.85)', width: 130 }}&gt;华为 CIO 陶景文&lt;/Text&gt;&#10;            &lt;Text style={{ fontSize: 20, fontWeight: 'bold', color: '#FFFFFF', flex: 1, lineHeight: 1.35 }}&gt;&#10;                任何不涉及流程重构的数字化转型，都是在装样子&#10;            &lt;/Text&gt;&#10;            &lt;Text style={{ fontSize: 12, color: 'rgba(255,255,255,0.85)', width: 216, lineHeight: 1.4 }}&gt;这句话应当印在每一份转型规划的第一页&lt;/Text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华为数字化转型之道&lt;/Text&gt;&#10;        &lt;/Box&gt;&#10;        &lt;Text style={{ fontSize: 14, color: '#8A8F99' }}&gt;07 / 3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53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这不是信息化，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是一场全新变革</a:t>
            </a:r>
            <a:endParaRPr/>
          </a:p>
        </p:txBody>
      </p:sp>
      <p:sp>
        <p:nvSpPr>
          <p:cNvPr id="1854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IT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部门的诉求是系统上线；变革的诉求是组织、流程、权责一起动——按老办法做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>IT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，五个转变一个都落不了</a:t>
            </a:r>
            <a:endParaRPr/>
          </a:p>
        </p:txBody>
      </p:sp>
      <p:sp>
        <p:nvSpPr>
          <p:cNvPr id="1855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856" name=""/>
          <p:cNvSpPr/>
          <p:nvPr/>
        </p:nvSpPr>
        <p:spPr>
          <a:xfrm rot="0" flipH="0" flipV="0">
            <a:off x="609600" y="1352550"/>
            <a:ext cx="2676525" cy="1504950"/>
          </a:xfrm>
          <a:prstGeom prst="roundRect">
            <a:avLst>
              <a:gd name="adj" fmla="val 189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57" name=""/>
          <p:cNvSpPr/>
          <p:nvPr/>
        </p:nvSpPr>
        <p:spPr>
          <a:xfrm rot="0" flipH="0" flipV="0">
            <a:off x="609600" y="1352550"/>
            <a:ext cx="2676525" cy="1504950"/>
          </a:xfrm>
          <a:custGeom>
            <a:pathLst>
              <a:path w="281" h="158">
                <a:moveTo>
                  <a:pt x="278" y="0"/>
                </a:moveTo>
                <a:cubicBezTo>
                  <a:pt x="280" y="0"/>
                  <a:pt x="281" y="1"/>
                  <a:pt x="281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8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58" name="" descr="{&quot;isTemplate&quot;:true,&quot;type&quot;:&quot;text&quot;}"/>
          <p:cNvSpPr txBox="1"/>
          <p:nvPr/>
        </p:nvSpPr>
        <p:spPr>
          <a:xfrm rot="0" flipH="0" flipV="0">
            <a:off x="742950" y="1476375"/>
            <a:ext cx="2409825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打破组织层级</a:t>
            </a:r>
            <a:endParaRPr/>
          </a:p>
        </p:txBody>
      </p:sp>
      <p:sp>
        <p:nvSpPr>
          <p:cNvPr id="1859" name="" descr="{&quot;isTemplate&quot;:true,&quot;type&quot;:&quot;text&quot;}"/>
          <p:cNvSpPr txBox="1"/>
          <p:nvPr/>
        </p:nvSpPr>
        <p:spPr>
          <a:xfrm rot="0" flipH="0" flipV="0">
            <a:off x="742950" y="1790700"/>
            <a:ext cx="2409825" cy="781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数字化之后，信息的流动不该被层级拦住</a:t>
            </a:r>
            <a:endParaRPr/>
          </a:p>
        </p:txBody>
      </p:sp>
      <p:sp>
        <p:nvSpPr>
          <p:cNvPr id="1860" name="" descr="{&quot;isTemplate&quot;:true,&quot;type&quot;:&quot;text&quot;}"/>
          <p:cNvSpPr txBox="1"/>
          <p:nvPr/>
        </p:nvSpPr>
        <p:spPr>
          <a:xfrm rot="0" flipH="0" flipV="0">
            <a:off x="742950" y="2571750"/>
            <a:ext cx="2409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层级≠信息通道</a:t>
            </a:r>
            <a:endParaRPr/>
          </a:p>
        </p:txBody>
      </p:sp>
      <p:sp>
        <p:nvSpPr>
          <p:cNvPr id="1861" name=""/>
          <p:cNvSpPr/>
          <p:nvPr/>
        </p:nvSpPr>
        <p:spPr>
          <a:xfrm rot="0" flipH="0" flipV="0">
            <a:off x="3381375" y="1352550"/>
            <a:ext cx="2667000" cy="1504950"/>
          </a:xfrm>
          <a:prstGeom prst="roundRect">
            <a:avLst>
              <a:gd name="adj" fmla="val 189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62" name=""/>
          <p:cNvSpPr/>
          <p:nvPr/>
        </p:nvSpPr>
        <p:spPr>
          <a:xfrm rot="0" flipH="0" flipV="0">
            <a:off x="3381375" y="1352550"/>
            <a:ext cx="2667000" cy="1504950"/>
          </a:xfrm>
          <a:custGeom>
            <a:pathLst>
              <a:path w="280" h="158">
                <a:moveTo>
                  <a:pt x="277" y="0"/>
                </a:moveTo>
                <a:cubicBezTo>
                  <a:pt x="279" y="0"/>
                  <a:pt x="280" y="1"/>
                  <a:pt x="280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7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1863" name="" descr="{&quot;isTemplate&quot;:true,&quot;type&quot;:&quot;text&quot;}"/>
          <p:cNvSpPr txBox="1"/>
          <p:nvPr/>
        </p:nvSpPr>
        <p:spPr>
          <a:xfrm rot="0" flipH="0" flipV="0">
            <a:off x="3514725" y="1476375"/>
            <a:ext cx="24003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重定义甲乙方关系</a:t>
            </a:r>
            <a:endParaRPr/>
          </a:p>
        </p:txBody>
      </p:sp>
      <p:sp>
        <p:nvSpPr>
          <p:cNvPr id="1864" name="" descr="{&quot;isTemplate&quot;:true,&quot;type&quot;:&quot;text&quot;}"/>
          <p:cNvSpPr txBox="1"/>
          <p:nvPr/>
        </p:nvSpPr>
        <p:spPr>
          <a:xfrm rot="0" flipH="0" flipV="0">
            <a:off x="3514725" y="1790700"/>
            <a:ext cx="2400300" cy="781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乙方不再只是接需求，要能改客户的东西</a:t>
            </a:r>
            <a:endParaRPr/>
          </a:p>
        </p:txBody>
      </p:sp>
      <p:sp>
        <p:nvSpPr>
          <p:cNvPr id="1865" name="" descr="{&quot;isTemplate&quot;:true,&quot;type&quot;:&quot;text&quot;}"/>
          <p:cNvSpPr txBox="1"/>
          <p:nvPr/>
        </p:nvSpPr>
        <p:spPr>
          <a:xfrm rot="0" flipH="0" flipV="0">
            <a:off x="3514725" y="2571750"/>
            <a:ext cx="2400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从交付到共建</a:t>
            </a:r>
            <a:endParaRPr/>
          </a:p>
        </p:txBody>
      </p:sp>
      <p:sp>
        <p:nvSpPr>
          <p:cNvPr id="1866" name=""/>
          <p:cNvSpPr/>
          <p:nvPr/>
        </p:nvSpPr>
        <p:spPr>
          <a:xfrm rot="0" flipH="0" flipV="0">
            <a:off x="6143625" y="1352550"/>
            <a:ext cx="2676525" cy="1504950"/>
          </a:xfrm>
          <a:prstGeom prst="roundRect">
            <a:avLst>
              <a:gd name="adj" fmla="val 189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67" name=""/>
          <p:cNvSpPr/>
          <p:nvPr/>
        </p:nvSpPr>
        <p:spPr>
          <a:xfrm rot="0" flipH="0" flipV="0">
            <a:off x="6143625" y="1352550"/>
            <a:ext cx="2676525" cy="1504950"/>
          </a:xfrm>
          <a:custGeom>
            <a:pathLst>
              <a:path w="281" h="158">
                <a:moveTo>
                  <a:pt x="278" y="0"/>
                </a:moveTo>
                <a:cubicBezTo>
                  <a:pt x="280" y="0"/>
                  <a:pt x="281" y="1"/>
                  <a:pt x="281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8" y="0"/>
                </a:lnTo>
                <a:close/>
              </a:path>
            </a:pathLst>
          </a:custGeom>
          <a:solidFill>
            <a:srgbClr val="D2531A"/>
          </a:solidFill>
          <a:ln/>
        </p:spPr>
        <p:txBody>
          <a:bodyPr/>
          <a:p/>
        </p:txBody>
      </p:sp>
      <p:sp>
        <p:nvSpPr>
          <p:cNvPr id="1868" name="" descr="{&quot;isTemplate&quot;:true,&quot;type&quot;:&quot;text&quot;}"/>
          <p:cNvSpPr txBox="1"/>
          <p:nvPr/>
        </p:nvSpPr>
        <p:spPr>
          <a:xfrm rot="0" flipH="0" flipV="0">
            <a:off x="6276975" y="1476375"/>
            <a:ext cx="2409825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融合业务与</a:t>
            </a:r>
            <a:r>
              <a:rPr lang="en-US" sz="12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能力</a:t>
            </a:r>
            <a:endParaRPr/>
          </a:p>
        </p:txBody>
      </p:sp>
      <p:sp>
        <p:nvSpPr>
          <p:cNvPr id="1869" name="" descr="{&quot;isTemplate&quot;:true,&quot;type&quot;:&quot;text&quot;}"/>
          <p:cNvSpPr txBox="1"/>
          <p:nvPr/>
        </p:nvSpPr>
        <p:spPr>
          <a:xfrm rot="0" flipH="0" flipV="0">
            <a:off x="6276975" y="1790700"/>
            <a:ext cx="2409825" cy="781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业务和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不再是两个部门的两套语言</a:t>
            </a:r>
            <a:endParaRPr/>
          </a:p>
        </p:txBody>
      </p:sp>
      <p:sp>
        <p:nvSpPr>
          <p:cNvPr id="1870" name="" descr="{&quot;isTemplate&quot;:true,&quot;type&quot;:&quot;text&quot;}"/>
          <p:cNvSpPr txBox="1"/>
          <p:nvPr/>
        </p:nvSpPr>
        <p:spPr>
          <a:xfrm rot="0" flipH="0" flipV="0">
            <a:off x="6276975" y="2571750"/>
            <a:ext cx="2409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同语言、同目标</a:t>
            </a:r>
            <a:endParaRPr/>
          </a:p>
        </p:txBody>
      </p:sp>
      <p:sp>
        <p:nvSpPr>
          <p:cNvPr id="1871" name=""/>
          <p:cNvSpPr/>
          <p:nvPr/>
        </p:nvSpPr>
        <p:spPr>
          <a:xfrm rot="0" flipH="0" flipV="0">
            <a:off x="8915400" y="1352550"/>
            <a:ext cx="2667000" cy="1504950"/>
          </a:xfrm>
          <a:prstGeom prst="roundRect">
            <a:avLst>
              <a:gd name="adj" fmla="val 189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72" name=""/>
          <p:cNvSpPr/>
          <p:nvPr/>
        </p:nvSpPr>
        <p:spPr>
          <a:xfrm rot="0" flipH="0" flipV="0">
            <a:off x="8915400" y="1352550"/>
            <a:ext cx="2667000" cy="1504950"/>
          </a:xfrm>
          <a:custGeom>
            <a:pathLst>
              <a:path w="280" h="158">
                <a:moveTo>
                  <a:pt x="277" y="0"/>
                </a:moveTo>
                <a:cubicBezTo>
                  <a:pt x="279" y="0"/>
                  <a:pt x="280" y="1"/>
                  <a:pt x="280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7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873" name="" descr="{&quot;isTemplate&quot;:true,&quot;type&quot;:&quot;text&quot;}"/>
          <p:cNvSpPr txBox="1"/>
          <p:nvPr/>
        </p:nvSpPr>
        <p:spPr>
          <a:xfrm rot="0" flipH="0" flipV="0">
            <a:off x="9048750" y="1476375"/>
            <a:ext cx="24003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对准体验效率模式</a:t>
            </a:r>
            <a:endParaRPr/>
          </a:p>
        </p:txBody>
      </p:sp>
      <p:sp>
        <p:nvSpPr>
          <p:cNvPr id="1874" name="" descr="{&quot;isTemplate&quot;:true,&quot;type&quot;:&quot;text&quot;}"/>
          <p:cNvSpPr txBox="1"/>
          <p:nvPr/>
        </p:nvSpPr>
        <p:spPr>
          <a:xfrm rot="0" flipH="0" flipV="0">
            <a:off x="9048750" y="1790700"/>
            <a:ext cx="2400300" cy="781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三个都要，不是二选一，也不是只谈体验</a:t>
            </a:r>
            <a:endParaRPr/>
          </a:p>
        </p:txBody>
      </p:sp>
      <p:sp>
        <p:nvSpPr>
          <p:cNvPr id="1875" name="" descr="{&quot;isTemplate&quot;:true,&quot;type&quot;:&quot;text&quot;}"/>
          <p:cNvSpPr txBox="1"/>
          <p:nvPr/>
        </p:nvSpPr>
        <p:spPr>
          <a:xfrm rot="0" flipH="0" flipV="0">
            <a:off x="9048750" y="2571750"/>
            <a:ext cx="2400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三维同时改进</a:t>
            </a:r>
            <a:endParaRPr/>
          </a:p>
        </p:txBody>
      </p:sp>
      <p:sp>
        <p:nvSpPr>
          <p:cNvPr id="1876" name="" descr="{&quot;isTemplate&quot;:true,&quot;type&quot;:&quot;text&quot;}"/>
          <p:cNvSpPr txBox="1"/>
          <p:nvPr/>
        </p:nvSpPr>
        <p:spPr>
          <a:xfrm rot="0" flipH="0" flipV="0">
            <a:off x="609600" y="292417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个转变保障变革成功（原书</a:t>
            </a:r>
            <a:r>
              <a:rPr lang="en-US" sz="1013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1.2.5</a:t>
            </a: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877" name=""/>
          <p:cNvSpPr/>
          <p:nvPr/>
        </p:nvSpPr>
        <p:spPr>
          <a:xfrm rot="0" flipH="0" flipV="0">
            <a:off x="609600" y="3162300"/>
            <a:ext cx="2162175" cy="1752600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878" name="" descr="{&quot;isTemplate&quot;:true,&quot;type&quot;:&quot;text&quot;}"/>
          <p:cNvSpPr txBox="1"/>
          <p:nvPr/>
        </p:nvSpPr>
        <p:spPr>
          <a:xfrm rot="0" flipH="0" flipV="0">
            <a:off x="1638300" y="3629025"/>
            <a:ext cx="114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8A8F99"/>
                </a:solidFill>
                <a:latin typeface="Microsoft YaHei"/>
                <a:ea typeface="Microsoft YaHei"/>
              </a:rPr>
              <a:t>从</a:t>
            </a:r>
            <a:endParaRPr/>
          </a:p>
        </p:txBody>
      </p:sp>
      <p:sp>
        <p:nvSpPr>
          <p:cNvPr id="1879" name="" descr="{&quot;isTemplate&quot;:true,&quot;type&quot;:&quot;text&quot;}"/>
          <p:cNvSpPr txBox="1"/>
          <p:nvPr/>
        </p:nvSpPr>
        <p:spPr>
          <a:xfrm rot="0" flipH="0" flipV="0">
            <a:off x="1485900" y="3800475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3A4050"/>
                </a:solidFill>
                <a:latin typeface="Microsoft YaHei"/>
                <a:ea typeface="Microsoft YaHei"/>
              </a:rPr>
              <a:t>信息化</a:t>
            </a:r>
            <a:endParaRPr/>
          </a:p>
        </p:txBody>
      </p:sp>
      <p:sp>
        <p:nvSpPr>
          <p:cNvPr id="1880" name="" descr="{&quot;isTemplate&quot;:true,&quot;type&quot;:&quot;text&quot;}"/>
          <p:cNvSpPr txBox="1"/>
          <p:nvPr/>
        </p:nvSpPr>
        <p:spPr>
          <a:xfrm rot="0" flipH="0" flipV="0">
            <a:off x="1638300" y="4010025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到</a:t>
            </a:r>
            <a:endParaRPr/>
          </a:p>
        </p:txBody>
      </p:sp>
      <p:sp>
        <p:nvSpPr>
          <p:cNvPr id="1881" name="" descr="{&quot;isTemplate&quot;:true,&quot;type&quot;:&quot;text&quot;}"/>
          <p:cNvSpPr txBox="1"/>
          <p:nvPr/>
        </p:nvSpPr>
        <p:spPr>
          <a:xfrm rot="0" flipH="0" flipV="0">
            <a:off x="1466850" y="4191000"/>
            <a:ext cx="44767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FA4F24"/>
                </a:solidFill>
                <a:latin typeface="Microsoft YaHei"/>
                <a:ea typeface="Microsoft YaHei"/>
              </a:rPr>
              <a:t>数字化</a:t>
            </a:r>
            <a:endParaRPr/>
          </a:p>
        </p:txBody>
      </p:sp>
      <p:sp>
        <p:nvSpPr>
          <p:cNvPr id="1882" name=""/>
          <p:cNvSpPr/>
          <p:nvPr/>
        </p:nvSpPr>
        <p:spPr>
          <a:xfrm rot="0" flipH="0" flipV="0">
            <a:off x="1600200" y="4429125"/>
            <a:ext cx="190500" cy="190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83" name=""/>
          <p:cNvSpPr/>
          <p:nvPr/>
        </p:nvSpPr>
        <p:spPr>
          <a:xfrm rot="0" flipH="0" flipV="0">
            <a:off x="2809875" y="3162300"/>
            <a:ext cx="2162175" cy="1752600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884" name="" descr="{&quot;isTemplate&quot;:true,&quot;type&quot;:&quot;text&quot;}"/>
          <p:cNvSpPr txBox="1"/>
          <p:nvPr/>
        </p:nvSpPr>
        <p:spPr>
          <a:xfrm rot="0" flipH="0" flipV="0">
            <a:off x="3838575" y="3629025"/>
            <a:ext cx="114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8A8F99"/>
                </a:solidFill>
                <a:latin typeface="Microsoft YaHei"/>
                <a:ea typeface="Microsoft YaHei"/>
              </a:rPr>
              <a:t>从</a:t>
            </a:r>
            <a:endParaRPr/>
          </a:p>
        </p:txBody>
      </p:sp>
      <p:sp>
        <p:nvSpPr>
          <p:cNvPr id="1885" name="" descr="{&quot;isTemplate&quot;:true,&quot;type&quot;:&quot;text&quot;}"/>
          <p:cNvSpPr txBox="1"/>
          <p:nvPr/>
        </p:nvSpPr>
        <p:spPr>
          <a:xfrm rot="0" flipH="0" flipV="0">
            <a:off x="3667125" y="3800475"/>
            <a:ext cx="45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3A4050"/>
                </a:solidFill>
                <a:latin typeface="Microsoft YaHei"/>
                <a:ea typeface="Microsoft YaHei"/>
              </a:rPr>
              <a:t xml:space="preserve">IT </a:t>
            </a:r>
            <a:r>
              <a:rPr lang="zh-CN" sz="1088" b="1">
                <a:solidFill>
                  <a:srgbClr val="3A4050"/>
                </a:solidFill>
                <a:latin typeface="Microsoft YaHei"/>
                <a:ea typeface="Microsoft YaHei"/>
              </a:rPr>
              <a:t>支撑</a:t>
            </a:r>
            <a:endParaRPr/>
          </a:p>
        </p:txBody>
      </p:sp>
      <p:sp>
        <p:nvSpPr>
          <p:cNvPr id="1886" name="" descr="{&quot;isTemplate&quot;:true,&quot;type&quot;:&quot;text&quot;}"/>
          <p:cNvSpPr txBox="1"/>
          <p:nvPr/>
        </p:nvSpPr>
        <p:spPr>
          <a:xfrm rot="0" flipH="0" flipV="0">
            <a:off x="3838575" y="4010025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到</a:t>
            </a:r>
            <a:endParaRPr/>
          </a:p>
        </p:txBody>
      </p:sp>
      <p:sp>
        <p:nvSpPr>
          <p:cNvPr id="1887" name="" descr="{&quot;isTemplate&quot;:true,&quot;type&quot;:&quot;text&quot;}"/>
          <p:cNvSpPr txBox="1"/>
          <p:nvPr/>
        </p:nvSpPr>
        <p:spPr>
          <a:xfrm rot="0" flipH="0" flipV="0">
            <a:off x="3648075" y="4191000"/>
            <a:ext cx="48577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IT </a:t>
            </a:r>
            <a:r>
              <a:rPr lang="zh-CN" sz="1163" b="1">
                <a:solidFill>
                  <a:srgbClr val="FA4F24"/>
                </a:solidFill>
                <a:latin typeface="Microsoft YaHei"/>
                <a:ea typeface="Microsoft YaHei"/>
              </a:rPr>
              <a:t>驱动</a:t>
            </a:r>
            <a:endParaRPr/>
          </a:p>
        </p:txBody>
      </p:sp>
      <p:sp>
        <p:nvSpPr>
          <p:cNvPr id="1888" name=""/>
          <p:cNvSpPr/>
          <p:nvPr/>
        </p:nvSpPr>
        <p:spPr>
          <a:xfrm rot="0" flipH="0" flipV="0">
            <a:off x="3800475" y="4429125"/>
            <a:ext cx="190500" cy="19050"/>
          </a:xfrm>
          <a:prstGeom prst="rect">
            <a:avLst/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1889" name=""/>
          <p:cNvSpPr/>
          <p:nvPr/>
        </p:nvSpPr>
        <p:spPr>
          <a:xfrm rot="0" flipH="0" flipV="0">
            <a:off x="5010150" y="3162300"/>
            <a:ext cx="2171700" cy="1752600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890" name="" descr="{&quot;isTemplate&quot;:true,&quot;type&quot;:&quot;text&quot;}"/>
          <p:cNvSpPr txBox="1"/>
          <p:nvPr/>
        </p:nvSpPr>
        <p:spPr>
          <a:xfrm rot="0" flipH="0" flipV="0">
            <a:off x="6038850" y="3629025"/>
            <a:ext cx="114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8A8F99"/>
                </a:solidFill>
                <a:latin typeface="Microsoft YaHei"/>
                <a:ea typeface="Microsoft YaHei"/>
              </a:rPr>
              <a:t>从</a:t>
            </a:r>
            <a:endParaRPr/>
          </a:p>
        </p:txBody>
      </p:sp>
      <p:sp>
        <p:nvSpPr>
          <p:cNvPr id="1891" name="" descr="{&quot;isTemplate&quot;:true,&quot;type&quot;:&quot;text&quot;}"/>
          <p:cNvSpPr txBox="1"/>
          <p:nvPr/>
        </p:nvSpPr>
        <p:spPr>
          <a:xfrm rot="0" flipH="0" flipV="0">
            <a:off x="5819775" y="3800475"/>
            <a:ext cx="552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3A4050"/>
                </a:solidFill>
                <a:latin typeface="Microsoft YaHei"/>
                <a:ea typeface="Microsoft YaHei"/>
              </a:rPr>
              <a:t>流程驱动</a:t>
            </a:r>
            <a:endParaRPr/>
          </a:p>
        </p:txBody>
      </p:sp>
      <p:sp>
        <p:nvSpPr>
          <p:cNvPr id="1892" name="" descr="{&quot;isTemplate&quot;:true,&quot;type&quot;:&quot;text&quot;}"/>
          <p:cNvSpPr txBox="1"/>
          <p:nvPr/>
        </p:nvSpPr>
        <p:spPr>
          <a:xfrm rot="0" flipH="0" flipV="0">
            <a:off x="6038850" y="4010025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到</a:t>
            </a:r>
            <a:endParaRPr/>
          </a:p>
        </p:txBody>
      </p:sp>
      <p:sp>
        <p:nvSpPr>
          <p:cNvPr id="1893" name="" descr="{&quot;isTemplate&quot;:true,&quot;type&quot;:&quot;text&quot;}"/>
          <p:cNvSpPr txBox="1"/>
          <p:nvPr/>
        </p:nvSpPr>
        <p:spPr>
          <a:xfrm rot="0" flipH="0" flipV="0">
            <a:off x="5800725" y="4191000"/>
            <a:ext cx="5905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FA4F24"/>
                </a:solidFill>
                <a:latin typeface="Microsoft YaHei"/>
                <a:ea typeface="Microsoft YaHei"/>
              </a:rPr>
              <a:t>数据驱动</a:t>
            </a:r>
            <a:endParaRPr/>
          </a:p>
        </p:txBody>
      </p:sp>
      <p:sp>
        <p:nvSpPr>
          <p:cNvPr id="1894" name=""/>
          <p:cNvSpPr/>
          <p:nvPr/>
        </p:nvSpPr>
        <p:spPr>
          <a:xfrm rot="0" flipH="0" flipV="0">
            <a:off x="6000750" y="4429125"/>
            <a:ext cx="190500" cy="19050"/>
          </a:xfrm>
          <a:prstGeom prst="rect">
            <a:avLst/>
          </a:prstGeom>
          <a:solidFill>
            <a:srgbClr val="D2531A"/>
          </a:solidFill>
          <a:ln/>
        </p:spPr>
        <p:txBody>
          <a:bodyPr/>
          <a:p/>
        </p:txBody>
      </p:sp>
      <p:sp>
        <p:nvSpPr>
          <p:cNvPr id="1895" name=""/>
          <p:cNvSpPr/>
          <p:nvPr/>
        </p:nvSpPr>
        <p:spPr>
          <a:xfrm rot="0" flipH="0" flipV="0">
            <a:off x="7219950" y="3162300"/>
            <a:ext cx="2162175" cy="1752600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896" name="" descr="{&quot;isTemplate&quot;:true,&quot;type&quot;:&quot;text&quot;}"/>
          <p:cNvSpPr txBox="1"/>
          <p:nvPr/>
        </p:nvSpPr>
        <p:spPr>
          <a:xfrm rot="0" flipH="0" flipV="0">
            <a:off x="8248650" y="3629025"/>
            <a:ext cx="114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8A8F99"/>
                </a:solidFill>
                <a:latin typeface="Microsoft YaHei"/>
                <a:ea typeface="Microsoft YaHei"/>
              </a:rPr>
              <a:t>从</a:t>
            </a:r>
            <a:endParaRPr/>
          </a:p>
        </p:txBody>
      </p:sp>
      <p:sp>
        <p:nvSpPr>
          <p:cNvPr id="1897" name="" descr="{&quot;isTemplate&quot;:true,&quot;type&quot;:&quot;text&quot;}"/>
          <p:cNvSpPr txBox="1"/>
          <p:nvPr/>
        </p:nvSpPr>
        <p:spPr>
          <a:xfrm rot="0" flipH="0" flipV="0">
            <a:off x="7953375" y="3800475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3A4050"/>
                </a:solidFill>
                <a:latin typeface="Microsoft YaHei"/>
                <a:ea typeface="Microsoft YaHei"/>
              </a:rPr>
              <a:t>部门内建设</a:t>
            </a:r>
            <a:endParaRPr/>
          </a:p>
        </p:txBody>
      </p:sp>
      <p:sp>
        <p:nvSpPr>
          <p:cNvPr id="1898" name="" descr="{&quot;isTemplate&quot;:true,&quot;type&quot;:&quot;text&quot;}"/>
          <p:cNvSpPr txBox="1"/>
          <p:nvPr/>
        </p:nvSpPr>
        <p:spPr>
          <a:xfrm rot="0" flipH="0" flipV="0">
            <a:off x="8248650" y="4010025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到</a:t>
            </a:r>
            <a:endParaRPr/>
          </a:p>
        </p:txBody>
      </p:sp>
      <p:sp>
        <p:nvSpPr>
          <p:cNvPr id="1899" name="" descr="{&quot;isTemplate&quot;:true,&quot;type&quot;:&quot;text&quot;}"/>
          <p:cNvSpPr txBox="1"/>
          <p:nvPr/>
        </p:nvSpPr>
        <p:spPr>
          <a:xfrm rot="0" flipH="0" flipV="0">
            <a:off x="7934325" y="4191000"/>
            <a:ext cx="7429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FA4F24"/>
                </a:solidFill>
                <a:latin typeface="Microsoft YaHei"/>
                <a:ea typeface="Microsoft YaHei"/>
              </a:rPr>
              <a:t>端到端拉通</a:t>
            </a:r>
            <a:endParaRPr/>
          </a:p>
        </p:txBody>
      </p:sp>
      <p:sp>
        <p:nvSpPr>
          <p:cNvPr id="1900" name=""/>
          <p:cNvSpPr/>
          <p:nvPr/>
        </p:nvSpPr>
        <p:spPr>
          <a:xfrm rot="0" flipH="0" flipV="0">
            <a:off x="8210550" y="4429125"/>
            <a:ext cx="190500" cy="19050"/>
          </a:xfrm>
          <a:prstGeom prst="rect">
            <a:avLst/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1901" name=""/>
          <p:cNvSpPr/>
          <p:nvPr/>
        </p:nvSpPr>
        <p:spPr>
          <a:xfrm rot="0" flipH="0" flipV="0">
            <a:off x="9420225" y="3162300"/>
            <a:ext cx="2162175" cy="1752600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902" name="" descr="{&quot;isTemplate&quot;:true,&quot;type&quot;:&quot;text&quot;}"/>
          <p:cNvSpPr txBox="1"/>
          <p:nvPr/>
        </p:nvSpPr>
        <p:spPr>
          <a:xfrm rot="0" flipH="0" flipV="0">
            <a:off x="10448925" y="3629025"/>
            <a:ext cx="114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8A8F99"/>
                </a:solidFill>
                <a:latin typeface="Microsoft YaHei"/>
                <a:ea typeface="Microsoft YaHei"/>
              </a:rPr>
              <a:t>从</a:t>
            </a:r>
            <a:endParaRPr/>
          </a:p>
        </p:txBody>
      </p:sp>
      <p:sp>
        <p:nvSpPr>
          <p:cNvPr id="1903" name="" descr="{&quot;isTemplate&quot;:true,&quot;type&quot;:&quot;text&quot;}"/>
          <p:cNvSpPr txBox="1"/>
          <p:nvPr/>
        </p:nvSpPr>
        <p:spPr>
          <a:xfrm rot="0" flipH="0" flipV="0">
            <a:off x="10153650" y="3800475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3A4050"/>
                </a:solidFill>
                <a:latin typeface="Microsoft YaHei"/>
                <a:ea typeface="Microsoft YaHei"/>
              </a:rPr>
              <a:t>项目制交付</a:t>
            </a:r>
            <a:endParaRPr/>
          </a:p>
        </p:txBody>
      </p:sp>
      <p:sp>
        <p:nvSpPr>
          <p:cNvPr id="1904" name="" descr="{&quot;isTemplate&quot;:true,&quot;type&quot;:&quot;text&quot;}"/>
          <p:cNvSpPr txBox="1"/>
          <p:nvPr/>
        </p:nvSpPr>
        <p:spPr>
          <a:xfrm rot="0" flipH="0" flipV="0">
            <a:off x="10448925" y="4010025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到</a:t>
            </a:r>
            <a:endParaRPr/>
          </a:p>
        </p:txBody>
      </p:sp>
      <p:sp>
        <p:nvSpPr>
          <p:cNvPr id="1905" name="" descr="{&quot;isTemplate&quot;:true,&quot;type&quot;:&quot;text&quot;}"/>
          <p:cNvSpPr txBox="1"/>
          <p:nvPr/>
        </p:nvSpPr>
        <p:spPr>
          <a:xfrm rot="0" flipH="0" flipV="0">
            <a:off x="10134600" y="4191000"/>
            <a:ext cx="7429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FA4F24"/>
                </a:solidFill>
                <a:latin typeface="Microsoft YaHei"/>
                <a:ea typeface="Microsoft YaHei"/>
              </a:rPr>
              <a:t>产品化运营</a:t>
            </a:r>
            <a:endParaRPr/>
          </a:p>
        </p:txBody>
      </p:sp>
      <p:sp>
        <p:nvSpPr>
          <p:cNvPr id="1906" name=""/>
          <p:cNvSpPr/>
          <p:nvPr/>
        </p:nvSpPr>
        <p:spPr>
          <a:xfrm rot="0" flipH="0" flipV="0">
            <a:off x="10410825" y="4429125"/>
            <a:ext cx="190500" cy="19050"/>
          </a:xfrm>
          <a:prstGeom prst="rect">
            <a:avLst/>
          </a:prstGeom>
          <a:solidFill>
            <a:srgbClr val="9E3410"/>
          </a:solidFill>
          <a:ln/>
        </p:spPr>
        <p:txBody>
          <a:bodyPr/>
          <a:p/>
        </p:txBody>
      </p:sp>
      <p:sp>
        <p:nvSpPr>
          <p:cNvPr id="1907" name=""/>
          <p:cNvSpPr/>
          <p:nvPr/>
        </p:nvSpPr>
        <p:spPr>
          <a:xfrm rot="0" flipH="0" flipV="0">
            <a:off x="609600" y="5010150"/>
            <a:ext cx="10972800" cy="590550"/>
          </a:xfrm>
          <a:prstGeom prst="roundRect">
            <a:avLst>
              <a:gd name="adj" fmla="val 4839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908" name="" descr="{&quot;isTemplate&quot;:true,&quot;type&quot;:&quot;text&quot;}"/>
          <p:cNvSpPr txBox="1"/>
          <p:nvPr/>
        </p:nvSpPr>
        <p:spPr>
          <a:xfrm rot="0" flipH="0" flipV="0">
            <a:off x="819150" y="5229225"/>
            <a:ext cx="1238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华为</a:t>
            </a:r>
            <a:r>
              <a:rPr lang="en-US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CIO </a:t>
            </a: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陶景文</a:t>
            </a:r>
            <a:endParaRPr/>
          </a:p>
        </p:txBody>
      </p:sp>
      <p:sp>
        <p:nvSpPr>
          <p:cNvPr id="1909" name="" descr="{&quot;isTemplate&quot;:true,&quot;type&quot;:&quot;text&quot;}"/>
          <p:cNvSpPr txBox="1"/>
          <p:nvPr/>
        </p:nvSpPr>
        <p:spPr>
          <a:xfrm rot="0" flipH="0" flipV="0">
            <a:off x="2247900" y="5153025"/>
            <a:ext cx="6877050" cy="3143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任何不涉及流程重构的数字化转型，都是在装样子</a:t>
            </a:r>
            <a:endParaRPr/>
          </a:p>
        </p:txBody>
      </p:sp>
      <p:sp>
        <p:nvSpPr>
          <p:cNvPr id="1910" name="" descr="{&quot;isTemplate&quot;:true,&quot;type&quot;:&quot;text&quot;}"/>
          <p:cNvSpPr txBox="1"/>
          <p:nvPr/>
        </p:nvSpPr>
        <p:spPr>
          <a:xfrm rot="0" flipH="0" flipV="0">
            <a:off x="9315450" y="5210175"/>
            <a:ext cx="20574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这句话应当印在每一份转型规划的第一页</a:t>
            </a:r>
            <a:endParaRPr/>
          </a:p>
        </p:txBody>
      </p:sp>
      <p:sp>
        <p:nvSpPr>
          <p:cNvPr id="1911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912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1913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07 / 35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914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华为数字化转型的整体框架：&lt;span style={{ color: '#FA4F24' }}&gt;1 套方法 · 4 类场景 · 3 个平台能力&lt;/span&gt;&#10;        &lt;/Text&gt;&#10;        &lt;Text style={{ fontSize: 20, color: '#8A8F99', marginTop: 8 }}&gt;&#10;            一套方法贯穿全过程，四类场景是业务重构的着手处，三个平台是支撑——少任何一个，转型都落不了地&#10;        &lt;/Text&gt;&#10;    &lt;/Box&gt;&#10;    &lt;Box style={{ height: 1, background: '#E8E8E8' }} /&gt;&#10;&#10;    {/* B 区 */}&#10;    &lt;Box style={{ paddingTop: 16, paddingBottom: 12, height: 479, flexDirection: 'column', gap: 10 }}&gt;&#10;&#10;        {/* 上：1 套方法 */}&#10;        &lt;Box style={{ height: 96, background: '#0F1423', borderRadius: 4, padding: '14px 22px', flexDirection: 'row', alignItems: 'center', gap: 22 }}&gt;&#10;            &lt;Text style={{ fontSize: 34, fontWeight: 'bold', color: '#FA4F24' }}&gt;1&lt;/Text&gt;&#10;            &lt;Text style={{ fontSize: 15, color: '#FBA15C', width: 92, lineHeight: 1.35 }}&gt;套方法&lt;/Text&gt;&#10;            &lt;Box style={{ width: 1, height: 46, background: 'rgba(255,255,255,0.2)' }} /&gt;&#10;            &lt;Text style={{ fontSize: 18, fontWeight: 'bold', color: '#FFFFFF', width: 210 }}&gt;三阶十二步规划方法论&lt;/Text&gt;&#10;            &lt;Text style={{ fontSize: 13, color: 'rgba(255,255,255,0.75)', flex: 1, lineHeight: 1.45 }}&gt;&#10;                贯穿转型全过程的方法主线：从战略解码到架构蓝图，再到举措与项目节奏&#10;            &lt;/Text&gt;&#10;            &lt;Box style={{ height: 30, background: 'rgba(250,79,36,0.22)', borderRadius: 3, padding: '0 14px', flexDirection: 'row', alignItems: 'center' }}&gt;&#10;                &lt;Text style={{ fontSize: 12.5, color: '#FBA15C', fontWeight: 'bold' }}&gt;本册 P14–27 展开&lt;/Text&gt;&#10;            &lt;/Box&gt;&#10;        &lt;/Box&gt;&#10;&#10;        {/* 中：4 类场景 */}&#10;        &lt;Box style={{ height: 176, flexDirection: 'column' }}&gt;&#10;            &lt;Box style={{ flexDirection: 'row', alignItems: 'center', gap: 14, marginBottom: 8 }}&gt;&#10;                &lt;Text style={{ fontSize: 30, fontWeight: 'bold', color: '#FA4F24' }}&gt;4&lt;/Text&gt;&#10;                &lt;Text style={{ fontSize: 15, color: '#C43A17', width: 92 }}&gt;类场景&lt;/Text&gt;&#10;                &lt;Text style={{ fontSize: 14, color: '#8A8F99' }}&gt;业务重构的四个着手处——先判断客户的问题落在哪一类，再决定投哪个平台&lt;/Text&gt;&#10;            &lt;/Box&gt;&#10;            &lt;Box style={{ flex: 1, flexDirection: 'row', gap: 8 }}&gt;&#10;                {[&#10;                    { n: '作业', t: '数字化作业', d: '内部怎么干得更顺：研发、制造、运维、服务的作业方式重构', tag: '降本·提效' },&#10;                    { n: '交易', t: '数字化交易', d: '和客户怎么打交道：营销、获客、签约、交付、服务的在线化', tag: '获客·体验' },&#10;                    { n: '运营', t: '数字化运营', d: '企业怎么自己转得更快：经营分析、决策、协同的在线化', tag: '可视·决策' },&#10;                    { n: '办公', t: '数字化办公', d: '员工怎么协同：连接、协作、知识与流程的在线化', tag: '效率·留才' },&#10;                ].map((x, i) =&gt; (&#10;                    &lt;Box key={x.n} style={{ flex: 1, background: '#F7F7F8', borderRadius: 3, borderTop: '3px solid ' + ['#FA4F24', '#E0641E', '#D2531A', '#C43A17'][i], padding: '12px 14px', flexDirection: 'column' }}&gt;&#10;                        &lt;Text style={{ fontSize: 17, fontWeight: 'bold', color: '#0F1423' }}&gt;{x.t}&lt;/Text&gt;&#10;                        &lt;Text style={{ fontSize: 12, color: '#3A4050', lineHeight: 1.45, marginTop: 7, flex: 1 }}&gt;{x.d}&lt;/Text&gt;&#10;                        &lt;Text style={{ fontSize: 11, color: '#C43A17' }}&gt;{x.tag}&lt;/Text&gt;&#10;                    &lt;/Box&gt;&#10;                ))}&#10;            &lt;/Box&gt;&#10;        &lt;/Box&gt;&#10;&#10;        {/* 下：3 个平台 */}&#10;        &lt;Box style={{ flex: 1, flexDirection: 'column' }}&gt;&#10;            &lt;Box style={{ flexDirection: 'row', alignItems: 'center', gap: 14, marginBottom: 8 }}&gt;&#10;                &lt;Text style={{ fontSize: 30, fontWeight: 'bold', color: '#FA4F24' }}&gt;3&lt;/Text&gt;&#10;                &lt;Text style={{ fontSize: 15, color: '#C43A17', width: 92 }}&gt;个平台&lt;/Text&gt;&#10;                &lt;Text style={{ fontSize: 14, color: '#8A8F99' }}&gt;原书平台篇第11–13 章——三个能力要统一构建，否则场景里做出来的东西无法复用&lt;/Text&gt;&#10;            &lt;/Box&gt;&#10;            &lt;Box style={{ flex: 1, flexDirection: 'row', gap: 8 }}&gt;&#10;                {[&#10;                    { t: '统一数据底座', d: '统一数据标准、数据模型、湖仓一体与分级授权，让数据一次建、全域用', tag: '原书第 11 章' },&#10;                    { t: '云化数字平台', d: '统一算力与平台底座，支撑多场景快速迭代与弹性扩展', tag: '原书第 12 章' },&#10;                    { t: '变革治理体系', d: '从决策、执行到复盘的闭环机制，保证转型不靠个人热情撑着', tag: '原书第 13 章' },&#10;                ].map((x, i) =&gt; (&#10;                    &lt;Box key={x.t} style={{ flex: 1, background: '#FFFFFF', borderRadius: 3, border: '1px solid #E8E8E8', borderLeft: '4px solid ' + ['#FA4F24', '#E0641E', '#C43A17'][i], padding: '12px 16px', flexDirection: 'column', justifyContent: 'center' }}&gt;&#10;                        &lt;Text style={{ fontSize: 16, fontWeight: 'bold', color: '#0F1423' }}&gt;{x.t}&lt;/Text&gt;&#10;                        &lt;Text style={{ fontSize: 12.5, color: '#3A4050', lineHeight: 1.45, marginTop: 7 }}&gt;{x.d}&lt;/Text&gt;&#10;                        &lt;Text style={{ fontSize: 11, color: '#8A8F99', marginTop: 6 }}&gt;{x.tag}&lt;/Text&gt;&#10;                    &lt;/Box&gt;&#10;                ))}&#10;            &lt;/Box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华为数字化转型之道&lt;/Text&gt;&#10;        &lt;/Box&gt;&#10;        &lt;Text style={{ fontSize: 14, color: '#8A8F99' }}&gt;08 / 3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1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华为数字化转型的整体框架：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套方法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· 4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类场景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· 3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个平台能力</a:t>
            </a:r>
            <a:endParaRPr/>
          </a:p>
        </p:txBody>
      </p:sp>
      <p:sp>
        <p:nvSpPr>
          <p:cNvPr id="191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一套方法贯穿全过程，四类场景是业务重构的着手处，三个平台是支撑——少任何一个，转型都落不了地</a:t>
            </a:r>
            <a:endParaRPr/>
          </a:p>
        </p:txBody>
      </p:sp>
      <p:sp>
        <p:nvSpPr>
          <p:cNvPr id="191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919" name=""/>
          <p:cNvSpPr/>
          <p:nvPr/>
        </p:nvSpPr>
        <p:spPr>
          <a:xfrm rot="0" flipH="0" flipV="0">
            <a:off x="609600" y="1304925"/>
            <a:ext cx="10972800" cy="914400"/>
          </a:xfrm>
          <a:prstGeom prst="roundRect">
            <a:avLst>
              <a:gd name="adj" fmla="val 41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920" name="" descr="{&quot;isTemplate&quot;:true,&quot;type&quot;:&quot;text&quot;}"/>
          <p:cNvSpPr txBox="1"/>
          <p:nvPr/>
        </p:nvSpPr>
        <p:spPr>
          <a:xfrm rot="0" flipH="0" flipV="0">
            <a:off x="819150" y="1571625"/>
            <a:ext cx="2000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A4F24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921" name="" descr="{&quot;isTemplate&quot;:true,&quot;type&quot;:&quot;text&quot;}"/>
          <p:cNvSpPr txBox="1"/>
          <p:nvPr/>
        </p:nvSpPr>
        <p:spPr>
          <a:xfrm rot="0" flipH="0" flipV="0">
            <a:off x="1228725" y="1647825"/>
            <a:ext cx="87630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FBA15C"/>
                </a:solidFill>
                <a:latin typeface="Microsoft YaHei"/>
                <a:ea typeface="Microsoft YaHei"/>
              </a:rPr>
              <a:t>套方法</a:t>
            </a:r>
            <a:endParaRPr/>
          </a:p>
        </p:txBody>
      </p:sp>
      <p:sp>
        <p:nvSpPr>
          <p:cNvPr id="1922" name=""/>
          <p:cNvSpPr/>
          <p:nvPr/>
        </p:nvSpPr>
        <p:spPr>
          <a:xfrm rot="0" flipH="0" flipV="0">
            <a:off x="2314575" y="1543050"/>
            <a:ext cx="9525" cy="4381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p/>
        </p:txBody>
      </p:sp>
      <p:sp>
        <p:nvSpPr>
          <p:cNvPr id="1923" name="" descr="{&quot;isTemplate&quot;:true,&quot;type&quot;:&quot;text&quot;}"/>
          <p:cNvSpPr txBox="1"/>
          <p:nvPr/>
        </p:nvSpPr>
        <p:spPr>
          <a:xfrm rot="0" flipH="0" flipV="0">
            <a:off x="2533650" y="1657350"/>
            <a:ext cx="2000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三阶十二步规划方法论</a:t>
            </a:r>
            <a:endParaRPr/>
          </a:p>
        </p:txBody>
      </p:sp>
      <p:sp>
        <p:nvSpPr>
          <p:cNvPr id="1924" name="" descr="{&quot;isTemplate&quot;:true,&quot;type&quot;:&quot;text&quot;}"/>
          <p:cNvSpPr txBox="1"/>
          <p:nvPr/>
        </p:nvSpPr>
        <p:spPr>
          <a:xfrm rot="0" flipH="0" flipV="0">
            <a:off x="4743450" y="1657350"/>
            <a:ext cx="51625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贯穿转型全过程的方法主线：从战略解码到架构蓝图，再到举措与项目节奏</a:t>
            </a:r>
            <a:endParaRPr/>
          </a:p>
        </p:txBody>
      </p:sp>
      <p:sp>
        <p:nvSpPr>
          <p:cNvPr id="1925" name=""/>
          <p:cNvSpPr/>
          <p:nvPr/>
        </p:nvSpPr>
        <p:spPr>
          <a:xfrm rot="0" flipH="0" flipV="0">
            <a:off x="10115550" y="1619250"/>
            <a:ext cx="1257300" cy="285750"/>
          </a:xfrm>
          <a:prstGeom prst="roundRect">
            <a:avLst>
              <a:gd name="adj" fmla="val 10000"/>
            </a:avLst>
          </a:prstGeom>
          <a:solidFill>
            <a:srgbClr val="FA4F24">
              <a:alpha val="22000"/>
            </a:srgbClr>
          </a:solidFill>
          <a:ln/>
        </p:spPr>
        <p:txBody>
          <a:bodyPr/>
          <a:p/>
        </p:txBody>
      </p:sp>
      <p:sp>
        <p:nvSpPr>
          <p:cNvPr id="1926" name="" descr="{&quot;isTemplate&quot;:true,&quot;type&quot;:&quot;text&quot;}"/>
          <p:cNvSpPr txBox="1"/>
          <p:nvPr/>
        </p:nvSpPr>
        <p:spPr>
          <a:xfrm rot="0" flipH="0" flipV="0">
            <a:off x="10248900" y="1695450"/>
            <a:ext cx="99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BA15C"/>
                </a:solidFill>
                <a:latin typeface="Microsoft YaHei"/>
                <a:ea typeface="Microsoft YaHei"/>
              </a:rPr>
              <a:t>本册</a:t>
            </a:r>
            <a:r>
              <a:rPr lang="en-US" sz="938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 P14–27 </a:t>
            </a:r>
            <a:r>
              <a:rPr lang="zh-CN" sz="938" b="1">
                <a:solidFill>
                  <a:srgbClr val="FBA15C"/>
                </a:solidFill>
                <a:latin typeface="Microsoft YaHei"/>
                <a:ea typeface="Microsoft YaHei"/>
              </a:rPr>
              <a:t>展开</a:t>
            </a:r>
            <a:endParaRPr/>
          </a:p>
        </p:txBody>
      </p:sp>
      <p:sp>
        <p:nvSpPr>
          <p:cNvPr id="1927" name="" descr="{&quot;isTemplate&quot;:true,&quot;type&quot;:&quot;text&quot;}"/>
          <p:cNvSpPr txBox="1"/>
          <p:nvPr/>
        </p:nvSpPr>
        <p:spPr>
          <a:xfrm rot="0" flipH="0" flipV="0">
            <a:off x="609600" y="2314575"/>
            <a:ext cx="1809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928" name="" descr="{&quot;isTemplate&quot;:true,&quot;type&quot;:&quot;text&quot;}"/>
          <p:cNvSpPr txBox="1"/>
          <p:nvPr/>
        </p:nvSpPr>
        <p:spPr>
          <a:xfrm rot="0" flipH="0" flipV="0">
            <a:off x="923925" y="2400300"/>
            <a:ext cx="87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类场景</a:t>
            </a:r>
            <a:endParaRPr/>
          </a:p>
        </p:txBody>
      </p:sp>
      <p:sp>
        <p:nvSpPr>
          <p:cNvPr id="1929" name="" descr="{&quot;isTemplate&quot;:true,&quot;type&quot;:&quot;text&quot;}"/>
          <p:cNvSpPr txBox="1"/>
          <p:nvPr/>
        </p:nvSpPr>
        <p:spPr>
          <a:xfrm rot="0" flipH="0" flipV="0">
            <a:off x="1933575" y="2409825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业务重构的四个着手处——先判断客户的问题落在哪一类，再决定投哪个平台</a:t>
            </a:r>
            <a:endParaRPr/>
          </a:p>
        </p:txBody>
      </p:sp>
      <p:sp>
        <p:nvSpPr>
          <p:cNvPr id="1930" name=""/>
          <p:cNvSpPr/>
          <p:nvPr/>
        </p:nvSpPr>
        <p:spPr>
          <a:xfrm rot="0" flipH="0" flipV="0">
            <a:off x="609600" y="2762250"/>
            <a:ext cx="2686050" cy="1257300"/>
          </a:xfrm>
          <a:prstGeom prst="roundRect">
            <a:avLst>
              <a:gd name="adj" fmla="val 22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931" name=""/>
          <p:cNvSpPr/>
          <p:nvPr/>
        </p:nvSpPr>
        <p:spPr>
          <a:xfrm rot="0" flipH="0" flipV="0">
            <a:off x="609600" y="2762250"/>
            <a:ext cx="2686050" cy="1257300"/>
          </a:xfrm>
          <a:custGeom>
            <a:pathLst>
              <a:path w="282" h="132">
                <a:moveTo>
                  <a:pt x="279" y="0"/>
                </a:moveTo>
                <a:cubicBezTo>
                  <a:pt x="281" y="0"/>
                  <a:pt x="282" y="1"/>
                  <a:pt x="282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9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932" name="" descr="{&quot;isTemplate&quot;:true,&quot;type&quot;:&quot;text&quot;}"/>
          <p:cNvSpPr txBox="1"/>
          <p:nvPr/>
        </p:nvSpPr>
        <p:spPr>
          <a:xfrm rot="0" flipH="0" flipV="0">
            <a:off x="742950" y="2876550"/>
            <a:ext cx="2419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数字化作业</a:t>
            </a:r>
            <a:endParaRPr/>
          </a:p>
        </p:txBody>
      </p:sp>
      <p:sp>
        <p:nvSpPr>
          <p:cNvPr id="1933" name="" descr="{&quot;isTemplate&quot;:true,&quot;type&quot;:&quot;text&quot;}"/>
          <p:cNvSpPr txBox="1"/>
          <p:nvPr/>
        </p:nvSpPr>
        <p:spPr>
          <a:xfrm rot="0" flipH="0" flipV="0">
            <a:off x="742950" y="3143250"/>
            <a:ext cx="241935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内部怎么干得更顺：研发、制造、运维、服务的作业方式重构</a:t>
            </a:r>
            <a:endParaRPr/>
          </a:p>
        </p:txBody>
      </p:sp>
      <p:sp>
        <p:nvSpPr>
          <p:cNvPr id="1934" name="" descr="{&quot;isTemplate&quot;:true,&quot;type&quot;:&quot;text&quot;}"/>
          <p:cNvSpPr txBox="1"/>
          <p:nvPr/>
        </p:nvSpPr>
        <p:spPr>
          <a:xfrm rot="0" flipH="0" flipV="0">
            <a:off x="742950" y="3743325"/>
            <a:ext cx="2419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降本·提效</a:t>
            </a:r>
            <a:endParaRPr/>
          </a:p>
        </p:txBody>
      </p:sp>
      <p:sp>
        <p:nvSpPr>
          <p:cNvPr id="1935" name=""/>
          <p:cNvSpPr/>
          <p:nvPr/>
        </p:nvSpPr>
        <p:spPr>
          <a:xfrm rot="0" flipH="0" flipV="0">
            <a:off x="3371850" y="2762250"/>
            <a:ext cx="2686050" cy="1257300"/>
          </a:xfrm>
          <a:prstGeom prst="roundRect">
            <a:avLst>
              <a:gd name="adj" fmla="val 22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936" name=""/>
          <p:cNvSpPr/>
          <p:nvPr/>
        </p:nvSpPr>
        <p:spPr>
          <a:xfrm rot="0" flipH="0" flipV="0">
            <a:off x="3371850" y="2762250"/>
            <a:ext cx="2686050" cy="1257300"/>
          </a:xfrm>
          <a:custGeom>
            <a:pathLst>
              <a:path w="282" h="132">
                <a:moveTo>
                  <a:pt x="279" y="0"/>
                </a:moveTo>
                <a:cubicBezTo>
                  <a:pt x="281" y="0"/>
                  <a:pt x="282" y="1"/>
                  <a:pt x="282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9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1937" name="" descr="{&quot;isTemplate&quot;:true,&quot;type&quot;:&quot;text&quot;}"/>
          <p:cNvSpPr txBox="1"/>
          <p:nvPr/>
        </p:nvSpPr>
        <p:spPr>
          <a:xfrm rot="0" flipH="0" flipV="0">
            <a:off x="3505200" y="2876550"/>
            <a:ext cx="2419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数字化交易</a:t>
            </a:r>
            <a:endParaRPr/>
          </a:p>
        </p:txBody>
      </p:sp>
      <p:sp>
        <p:nvSpPr>
          <p:cNvPr id="1938" name="" descr="{&quot;isTemplate&quot;:true,&quot;type&quot;:&quot;text&quot;}"/>
          <p:cNvSpPr txBox="1"/>
          <p:nvPr/>
        </p:nvSpPr>
        <p:spPr>
          <a:xfrm rot="0" flipH="0" flipV="0">
            <a:off x="3505200" y="3143250"/>
            <a:ext cx="241935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和客户怎么打交道：营销、获客、签约、交付、服务的在线化</a:t>
            </a:r>
            <a:endParaRPr/>
          </a:p>
        </p:txBody>
      </p:sp>
      <p:sp>
        <p:nvSpPr>
          <p:cNvPr id="1939" name="" descr="{&quot;isTemplate&quot;:true,&quot;type&quot;:&quot;text&quot;}"/>
          <p:cNvSpPr txBox="1"/>
          <p:nvPr/>
        </p:nvSpPr>
        <p:spPr>
          <a:xfrm rot="0" flipH="0" flipV="0">
            <a:off x="3505200" y="3743325"/>
            <a:ext cx="2419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获客·体验</a:t>
            </a:r>
            <a:endParaRPr/>
          </a:p>
        </p:txBody>
      </p:sp>
      <p:sp>
        <p:nvSpPr>
          <p:cNvPr id="1940" name=""/>
          <p:cNvSpPr/>
          <p:nvPr/>
        </p:nvSpPr>
        <p:spPr>
          <a:xfrm rot="0" flipH="0" flipV="0">
            <a:off x="6134100" y="2762250"/>
            <a:ext cx="2686050" cy="1257300"/>
          </a:xfrm>
          <a:prstGeom prst="roundRect">
            <a:avLst>
              <a:gd name="adj" fmla="val 22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941" name=""/>
          <p:cNvSpPr/>
          <p:nvPr/>
        </p:nvSpPr>
        <p:spPr>
          <a:xfrm rot="0" flipH="0" flipV="0">
            <a:off x="6134100" y="2762250"/>
            <a:ext cx="2686050" cy="1257300"/>
          </a:xfrm>
          <a:custGeom>
            <a:pathLst>
              <a:path w="282" h="132">
                <a:moveTo>
                  <a:pt x="279" y="0"/>
                </a:moveTo>
                <a:cubicBezTo>
                  <a:pt x="281" y="0"/>
                  <a:pt x="282" y="1"/>
                  <a:pt x="282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9" y="0"/>
                </a:lnTo>
                <a:close/>
              </a:path>
            </a:pathLst>
          </a:custGeom>
          <a:solidFill>
            <a:srgbClr val="D2531A"/>
          </a:solidFill>
          <a:ln/>
        </p:spPr>
        <p:txBody>
          <a:bodyPr/>
          <a:p/>
        </p:txBody>
      </p:sp>
      <p:sp>
        <p:nvSpPr>
          <p:cNvPr id="1942" name="" descr="{&quot;isTemplate&quot;:true,&quot;type&quot;:&quot;text&quot;}"/>
          <p:cNvSpPr txBox="1"/>
          <p:nvPr/>
        </p:nvSpPr>
        <p:spPr>
          <a:xfrm rot="0" flipH="0" flipV="0">
            <a:off x="6267450" y="2876550"/>
            <a:ext cx="2419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数字化运营</a:t>
            </a:r>
            <a:endParaRPr/>
          </a:p>
        </p:txBody>
      </p:sp>
      <p:sp>
        <p:nvSpPr>
          <p:cNvPr id="1943" name="" descr="{&quot;isTemplate&quot;:true,&quot;type&quot;:&quot;text&quot;}"/>
          <p:cNvSpPr txBox="1"/>
          <p:nvPr/>
        </p:nvSpPr>
        <p:spPr>
          <a:xfrm rot="0" flipH="0" flipV="0">
            <a:off x="6267450" y="3143250"/>
            <a:ext cx="241935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企业怎么自己转得更快：经营分析、决策、协同的在线化</a:t>
            </a:r>
            <a:endParaRPr/>
          </a:p>
        </p:txBody>
      </p:sp>
      <p:sp>
        <p:nvSpPr>
          <p:cNvPr id="1944" name="" descr="{&quot;isTemplate&quot;:true,&quot;type&quot;:&quot;text&quot;}"/>
          <p:cNvSpPr txBox="1"/>
          <p:nvPr/>
        </p:nvSpPr>
        <p:spPr>
          <a:xfrm rot="0" flipH="0" flipV="0">
            <a:off x="6267450" y="3743325"/>
            <a:ext cx="2419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可视·决策</a:t>
            </a:r>
            <a:endParaRPr/>
          </a:p>
        </p:txBody>
      </p:sp>
      <p:sp>
        <p:nvSpPr>
          <p:cNvPr id="1945" name=""/>
          <p:cNvSpPr/>
          <p:nvPr/>
        </p:nvSpPr>
        <p:spPr>
          <a:xfrm rot="0" flipH="0" flipV="0">
            <a:off x="8896350" y="2762250"/>
            <a:ext cx="2686050" cy="1257300"/>
          </a:xfrm>
          <a:prstGeom prst="roundRect">
            <a:avLst>
              <a:gd name="adj" fmla="val 22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946" name=""/>
          <p:cNvSpPr/>
          <p:nvPr/>
        </p:nvSpPr>
        <p:spPr>
          <a:xfrm rot="0" flipH="0" flipV="0">
            <a:off x="8896350" y="2762250"/>
            <a:ext cx="2686050" cy="1257300"/>
          </a:xfrm>
          <a:custGeom>
            <a:pathLst>
              <a:path w="282" h="132">
                <a:moveTo>
                  <a:pt x="279" y="0"/>
                </a:moveTo>
                <a:cubicBezTo>
                  <a:pt x="281" y="0"/>
                  <a:pt x="282" y="1"/>
                  <a:pt x="282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9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947" name="" descr="{&quot;isTemplate&quot;:true,&quot;type&quot;:&quot;text&quot;}"/>
          <p:cNvSpPr txBox="1"/>
          <p:nvPr/>
        </p:nvSpPr>
        <p:spPr>
          <a:xfrm rot="0" flipH="0" flipV="0">
            <a:off x="9029700" y="2876550"/>
            <a:ext cx="2419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数字化办公</a:t>
            </a:r>
            <a:endParaRPr/>
          </a:p>
        </p:txBody>
      </p:sp>
      <p:sp>
        <p:nvSpPr>
          <p:cNvPr id="1948" name="" descr="{&quot;isTemplate&quot;:true,&quot;type&quot;:&quot;text&quot;}"/>
          <p:cNvSpPr txBox="1"/>
          <p:nvPr/>
        </p:nvSpPr>
        <p:spPr>
          <a:xfrm rot="0" flipH="0" flipV="0">
            <a:off x="9029700" y="3143250"/>
            <a:ext cx="241935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员工怎么协同：连接、协作、知识与流程的在线化</a:t>
            </a:r>
            <a:endParaRPr/>
          </a:p>
        </p:txBody>
      </p:sp>
      <p:sp>
        <p:nvSpPr>
          <p:cNvPr id="1949" name="" descr="{&quot;isTemplate&quot;:true,&quot;type&quot;:&quot;text&quot;}"/>
          <p:cNvSpPr txBox="1"/>
          <p:nvPr/>
        </p:nvSpPr>
        <p:spPr>
          <a:xfrm rot="0" flipH="0" flipV="0">
            <a:off x="9029700" y="3743325"/>
            <a:ext cx="2419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效率·留才</a:t>
            </a:r>
            <a:endParaRPr/>
          </a:p>
        </p:txBody>
      </p:sp>
      <p:sp>
        <p:nvSpPr>
          <p:cNvPr id="1950" name="" descr="{&quot;isTemplate&quot;:true,&quot;type&quot;:&quot;text&quot;}"/>
          <p:cNvSpPr txBox="1"/>
          <p:nvPr/>
        </p:nvSpPr>
        <p:spPr>
          <a:xfrm rot="0" flipH="0" flipV="0">
            <a:off x="609600" y="4086225"/>
            <a:ext cx="1809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951" name="" descr="{&quot;isTemplate&quot;:true,&quot;type&quot;:&quot;text&quot;}"/>
          <p:cNvSpPr txBox="1"/>
          <p:nvPr/>
        </p:nvSpPr>
        <p:spPr>
          <a:xfrm rot="0" flipH="0" flipV="0">
            <a:off x="923925" y="4171950"/>
            <a:ext cx="87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个平台</a:t>
            </a:r>
            <a:endParaRPr/>
          </a:p>
        </p:txBody>
      </p:sp>
      <p:sp>
        <p:nvSpPr>
          <p:cNvPr id="1952" name="" descr="{&quot;isTemplate&quot;:true,&quot;type&quot;:&quot;text&quot;}"/>
          <p:cNvSpPr txBox="1"/>
          <p:nvPr/>
        </p:nvSpPr>
        <p:spPr>
          <a:xfrm rot="0" flipH="0" flipV="0">
            <a:off x="1933575" y="4181475"/>
            <a:ext cx="498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原书平台篇第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11–13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章——三个能力要统一构建，否则场景里做出来的东西无法复用</a:t>
            </a:r>
            <a:endParaRPr/>
          </a:p>
        </p:txBody>
      </p:sp>
      <p:sp>
        <p:nvSpPr>
          <p:cNvPr id="1953" name=""/>
          <p:cNvSpPr/>
          <p:nvPr/>
        </p:nvSpPr>
        <p:spPr>
          <a:xfrm rot="0" flipH="0" flipV="0">
            <a:off x="647700" y="4505325"/>
            <a:ext cx="3609975" cy="1095375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54" name=""/>
          <p:cNvSpPr/>
          <p:nvPr/>
        </p:nvSpPr>
        <p:spPr>
          <a:xfrm rot="0" flipH="0" flipV="0">
            <a:off x="647700" y="4505325"/>
            <a:ext cx="3609975" cy="1095375"/>
          </a:xfrm>
          <a:custGeom>
            <a:pathLst>
              <a:path w="379" h="115">
                <a:moveTo>
                  <a:pt x="4" y="115"/>
                </a:moveTo>
                <a:cubicBezTo>
                  <a:pt x="3" y="115"/>
                  <a:pt x="2" y="115"/>
                  <a:pt x="1" y="114"/>
                </a:cubicBezTo>
                <a:cubicBezTo>
                  <a:pt x="0" y="113"/>
                  <a:pt x="0" y="113"/>
                  <a:pt x="0" y="11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955" name="" descr="{&quot;isTemplate&quot;:true,&quot;type&quot;:&quot;text&quot;}"/>
          <p:cNvSpPr txBox="1"/>
          <p:nvPr/>
        </p:nvSpPr>
        <p:spPr>
          <a:xfrm rot="0" flipH="0" flipV="0">
            <a:off x="800100" y="4619625"/>
            <a:ext cx="3267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统一数据底座</a:t>
            </a:r>
            <a:endParaRPr/>
          </a:p>
        </p:txBody>
      </p:sp>
      <p:sp>
        <p:nvSpPr>
          <p:cNvPr id="1956" name="" descr="{&quot;isTemplate&quot;:true,&quot;type&quot;:&quot;text&quot;}"/>
          <p:cNvSpPr txBox="1"/>
          <p:nvPr/>
        </p:nvSpPr>
        <p:spPr>
          <a:xfrm rot="0" flipH="0" flipV="0">
            <a:off x="800100" y="4876800"/>
            <a:ext cx="326707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统一数据标准、数据模型、湖仓一体与分级授权，让数据一次建、全域用</a:t>
            </a:r>
            <a:endParaRPr/>
          </a:p>
        </p:txBody>
      </p:sp>
      <p:sp>
        <p:nvSpPr>
          <p:cNvPr id="1957" name="" descr="{&quot;isTemplate&quot;:true,&quot;type&quot;:&quot;text&quot;}"/>
          <p:cNvSpPr txBox="1"/>
          <p:nvPr/>
        </p:nvSpPr>
        <p:spPr>
          <a:xfrm rot="0" flipH="0" flipV="0">
            <a:off x="800100" y="5353050"/>
            <a:ext cx="32670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原书第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 11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章</a:t>
            </a:r>
            <a:endParaRPr/>
          </a:p>
        </p:txBody>
      </p:sp>
      <p:sp>
        <p:nvSpPr>
          <p:cNvPr id="1958" name=""/>
          <p:cNvSpPr/>
          <p:nvPr/>
        </p:nvSpPr>
        <p:spPr>
          <a:xfrm rot="0" flipH="0" flipV="0">
            <a:off x="4333875" y="4505325"/>
            <a:ext cx="3600450" cy="1095375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59" name=""/>
          <p:cNvSpPr/>
          <p:nvPr/>
        </p:nvSpPr>
        <p:spPr>
          <a:xfrm rot="0" flipH="0" flipV="0">
            <a:off x="4333875" y="4505325"/>
            <a:ext cx="3600450" cy="1095375"/>
          </a:xfrm>
          <a:custGeom>
            <a:pathLst>
              <a:path w="378" h="115">
                <a:moveTo>
                  <a:pt x="4" y="115"/>
                </a:moveTo>
                <a:cubicBezTo>
                  <a:pt x="3" y="115"/>
                  <a:pt x="2" y="115"/>
                  <a:pt x="1" y="114"/>
                </a:cubicBezTo>
                <a:cubicBezTo>
                  <a:pt x="0" y="113"/>
                  <a:pt x="0" y="113"/>
                  <a:pt x="0" y="11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1960" name="" descr="{&quot;isTemplate&quot;:true,&quot;type&quot;:&quot;text&quot;}"/>
          <p:cNvSpPr txBox="1"/>
          <p:nvPr/>
        </p:nvSpPr>
        <p:spPr>
          <a:xfrm rot="0" flipH="0" flipV="0">
            <a:off x="4486275" y="4724400"/>
            <a:ext cx="3257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云化数字平台</a:t>
            </a:r>
            <a:endParaRPr/>
          </a:p>
        </p:txBody>
      </p:sp>
      <p:sp>
        <p:nvSpPr>
          <p:cNvPr id="1961" name="" descr="{&quot;isTemplate&quot;:true,&quot;type&quot;:&quot;text&quot;}"/>
          <p:cNvSpPr txBox="1"/>
          <p:nvPr/>
        </p:nvSpPr>
        <p:spPr>
          <a:xfrm rot="0" flipH="0" flipV="0">
            <a:off x="4486275" y="4981575"/>
            <a:ext cx="32575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统一算力与平台底座，支撑多场景快速迭代与弹性扩展</a:t>
            </a:r>
            <a:endParaRPr/>
          </a:p>
        </p:txBody>
      </p:sp>
      <p:sp>
        <p:nvSpPr>
          <p:cNvPr id="1962" name="" descr="{&quot;isTemplate&quot;:true,&quot;type&quot;:&quot;text&quot;}"/>
          <p:cNvSpPr txBox="1"/>
          <p:nvPr/>
        </p:nvSpPr>
        <p:spPr>
          <a:xfrm rot="0" flipH="0" flipV="0">
            <a:off x="4486275" y="5248275"/>
            <a:ext cx="3257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原书第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章</a:t>
            </a:r>
            <a:endParaRPr/>
          </a:p>
        </p:txBody>
      </p:sp>
      <p:sp>
        <p:nvSpPr>
          <p:cNvPr id="1963" name=""/>
          <p:cNvSpPr/>
          <p:nvPr/>
        </p:nvSpPr>
        <p:spPr>
          <a:xfrm rot="0" flipH="0" flipV="0">
            <a:off x="8010525" y="4505325"/>
            <a:ext cx="3609975" cy="1095375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64" name=""/>
          <p:cNvSpPr/>
          <p:nvPr/>
        </p:nvSpPr>
        <p:spPr>
          <a:xfrm rot="0" flipH="0" flipV="0">
            <a:off x="8010525" y="4505325"/>
            <a:ext cx="3609975" cy="1095375"/>
          </a:xfrm>
          <a:custGeom>
            <a:pathLst>
              <a:path w="379" h="115">
                <a:moveTo>
                  <a:pt x="4" y="115"/>
                </a:moveTo>
                <a:cubicBezTo>
                  <a:pt x="3" y="115"/>
                  <a:pt x="2" y="115"/>
                  <a:pt x="1" y="114"/>
                </a:cubicBezTo>
                <a:cubicBezTo>
                  <a:pt x="0" y="113"/>
                  <a:pt x="0" y="113"/>
                  <a:pt x="0" y="11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965" name="" descr="{&quot;isTemplate&quot;:true,&quot;type&quot;:&quot;text&quot;}"/>
          <p:cNvSpPr txBox="1"/>
          <p:nvPr/>
        </p:nvSpPr>
        <p:spPr>
          <a:xfrm rot="0" flipH="0" flipV="0">
            <a:off x="8162925" y="4724400"/>
            <a:ext cx="3267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变革治理体系</a:t>
            </a:r>
            <a:endParaRPr/>
          </a:p>
        </p:txBody>
      </p:sp>
      <p:sp>
        <p:nvSpPr>
          <p:cNvPr id="1966" name="" descr="{&quot;isTemplate&quot;:true,&quot;type&quot;:&quot;text&quot;}"/>
          <p:cNvSpPr txBox="1"/>
          <p:nvPr/>
        </p:nvSpPr>
        <p:spPr>
          <a:xfrm rot="0" flipH="0" flipV="0">
            <a:off x="8162925" y="4981575"/>
            <a:ext cx="326707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从决策、执行到复盘的闭环机制，保证转型不靠个人热情撑着</a:t>
            </a:r>
            <a:endParaRPr/>
          </a:p>
        </p:txBody>
      </p:sp>
      <p:sp>
        <p:nvSpPr>
          <p:cNvPr id="1967" name="" descr="{&quot;isTemplate&quot;:true,&quot;type&quot;:&quot;text&quot;}"/>
          <p:cNvSpPr txBox="1"/>
          <p:nvPr/>
        </p:nvSpPr>
        <p:spPr>
          <a:xfrm rot="0" flipH="0" flipV="0">
            <a:off x="8162925" y="5248275"/>
            <a:ext cx="32670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原书第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 13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章</a:t>
            </a:r>
            <a:endParaRPr/>
          </a:p>
        </p:txBody>
      </p:sp>
      <p:sp>
        <p:nvSpPr>
          <p:cNvPr id="1968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969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1970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08 / 35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971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四类场景怎么选：&lt;span style={{ color: '#FA4F24' }}&gt;先定位问题落在哪一象限&lt;/span&gt;&#10;        &lt;/Text&gt;&#10;        &lt;Text style={{ fontSize: 20, color: '#8A8F99', marginTop: 8 }}&gt;&#10;            场景选错，后面所有架构投入都会打偏——先判断客户的痛是「内部效率」还是「对外体验」&#10;        &lt;/Text&gt;&#10;    &lt;/Box&gt;&#10;    &lt;Box style={{ height: 1, background: '#E8E8E8' }} /&gt;&#10;&#10;    {/* B 区 */}&#10;    &lt;Box style={{ paddingTop: 16, paddingBottom: 12, height: 479, flexDirection: 'column', gap: 10 }}&gt;&#10;&#10;        {/* 四列详解 */}&#10;        &lt;Box style={{ height: 276, flexDirection: 'row', gap: 9 }}&gt;&#10;            {[&#10;                {&#10;                    n: '数字化作业', c: '#FA4F24', q: '「我们内部干活太慢、太乱」',&#10;                    chk: ['研发协同与知识沉淀', '制造与运维的作业方式', '一线人员是否在用'],&#10;                    d: '业务作业模式重构。指标看周期、质量、单位人力产出',&#10;                },&#10;                {&#10;                    n: '数字化交易', c: '#E0641E', q: '「客户不买、不用、投诉」',&#10;                    chk: ['获客与线索到现金', '交付与服务的在线化', '客户体验断点在哪'],&#10;                    d: '交易与客户体验重构。指标看转化率、周期、客户满意度',&#10;                },&#10;                {&#10;                    n: '数字化运营', c: '#D2531A', q: '「看不清、决策慢」',&#10;                    chk: ['经营与运营指标能否自动出', '异常能否主动发现', '决策到执行的链路'],&#10;                    d: '运营与决策机制重构。指标看数据时效、预警准确率',&#10;                },&#10;                {&#10;                    n: '数字化办公', c: '#C43A17', q: '「协同靠邮件、知识留不住」',&#10;                    chk: ['跨部门协同是否在线', '知识资产能否复用', '员工是否真在用'],&#10;                    d: '员工协同方式重构。指标看协同效率、人员留存',&#10;                },&#10;            ].map((x) =&gt; (&#10;                &lt;Box key={x.n} style={{ flex: 1, background: '#F7F7F8', borderRadius: 4, padding: '0 13px', flexDirection: 'column' }}&gt;&#10;                    &lt;Box style={{ height: 34, background: x.c, borderRadius: 3, marginTop: 6, alignItems: 'center', justifyContent: 'center' }}&gt;&#10;                        &lt;Text style={{ fontSize: 14.5, fontWeight: 'bold', color: '#FFFFFF' }}&gt;{x.n}&lt;/Text&gt;&#10;                    &lt;/Box&gt;&#10;                    &lt;Box style={{ height: 32, background: '#FFFFFF', borderRadius: 3, marginTop: 6, padding: '0 9px', flexDirection: 'row', alignItems: 'center' }}&gt;&#10;                        &lt;Text style={{ fontSize: 11.5, color: '#C43A17', fontWeight: 'bold', flex: 1 }}&gt;{x.q}&lt;/Text&gt;&#10;                    &lt;/Box&gt;&#10;                    &lt;Box style={{ marginTop: 8, flex: 1, flexDirection: 'column' }}&gt;&#10;                        {x.chk.map((y, i) =&gt; (&#10;                            &lt;Box key={y} style={{ flexDirection: 'row', alignItems: 'flex-start', gap: 5, marginTop: i === 0 ? 0 : 7 }}&gt;&#10;                                &lt;Text style={{ fontSize: 11, color: x.c, fontWeight: 'bold' }}&gt;□&lt;/Text&gt;&#10;                                &lt;Text style={{ fontSize: 11.5, color: '#3A4050', lineHeight: 1.4, flex: 1 }}&gt;{y}&lt;/Text&gt;&#10;                            &lt;/Box&gt;&#10;                        ))}&#10;                    &lt;/Box&gt;&#10;                    &lt;Box style={{ height: 44, background: x.c, borderRadius: 3, marginBottom: 6, padding: '0 9px', flexDirection: 'column', justifyContent: 'center' }}&gt;&#10;                        &lt;Text style={{ fontSize: 10.5, color: 'rgba(255,255,255,0.92)', lineHeight: 1.35 }}&gt;{x.d}&lt;/Text&gt;&#10;                    &lt;/Box&gt;&#10;                &lt;/Box&gt;&#10;            ))}&#10;        &lt;/Box&gt;&#10;&#10;        {/* 底部三条判断 */}&#10;        &lt;Box style={{ flex: 1, flexDirection: 'column', gap: 8 }}&gt;&#10;            &lt;Box style={{ flex: 1, background: '#0F1423', borderRadius: 3, padding: '0 20px', flexDirection: 'row', alignItems: 'center', gap: 18 }}&gt;&#10;                &lt;Text style={{ fontSize: 13.5, fontWeight: 'bold', color: '#FBA15C', width: 120 }}&gt;多数企业的顺序&lt;/Text&gt;&#10;                &lt;Text style={{ fontSize: 15, color: '#FFFFFF', flex: 1, lineHeight: 1.4 }}&gt;&#10;                    先做&lt;span style={{ color: '#FA4F24' }}&gt;作业&lt;/span&gt;（内部效率，见效快、风险低）→ 再做&lt;span style={{ color: '#FA4F24' }}&gt;交易&lt;/span&gt;（对外体验，牵动客户）→ 同步补&lt;span style={{ color: '#FA4F24' }}&gt;运营&lt;/span&gt;与&lt;span style={{ color: '#FA4F24' }}&gt;办公&lt;/span&gt;作为底座&#10;                &lt;/Text&gt;&#10;            &lt;/Box&gt;&#10;            &lt;Box style={{ flex: 1, flexDirection: 'row', gap: 8 }}&gt;&#10;                {[&#10;                    { k: '跳到交易场景是最常见的坑', v: '客户体验的问题九成根在内部作业，先做交易等于给病根上妆' },&#10;                    { k: '运营不是最后一步', v: '运营能力是前两类的度量出口，没它就证明不了转型的价值' },&#10;                ].map((x) =&gt; (&#10;                    &lt;Box key={x.k} style={{ flex: 1, background: '#FFF3EE', borderRadius: 3, borderLeft: '4px solid #FBA15C', padding: '0 16px', flexDirection: 'column', justifyContent: 'center' }}&gt;&#10;                        &lt;Text style={{ fontSize: 13, fontWeight: 'bold', color: '#C43A17' }}&gt;{x.k}&lt;/Text&gt;&#10;                        &lt;Text style={{ fontSize: 12, color: '#5A6070', lineHeight: 1.4, marginTop: 4 }}&gt;{x.v}&lt;/Text&gt;&#10;                    &lt;/Box&gt;&#10;                ))}&#10;            &lt;/Box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华为数字化转型之道&lt;/Text&gt;&#10;        &lt;/Box&gt;&#10;        &lt;Text style={{ fontSize: 14, color: '#8A8F99' }}&gt;09 / 3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73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四类场景怎么选：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先定位问题落在哪一象限</a:t>
            </a:r>
            <a:endParaRPr/>
          </a:p>
        </p:txBody>
      </p:sp>
      <p:sp>
        <p:nvSpPr>
          <p:cNvPr id="1974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场景选错，后面所有架构投入都会打偏——先判断客户的痛是「内部效率」还是「对外体验」</a:t>
            </a:r>
            <a:endParaRPr/>
          </a:p>
        </p:txBody>
      </p:sp>
      <p:sp>
        <p:nvSpPr>
          <p:cNvPr id="1975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976" name=""/>
          <p:cNvSpPr/>
          <p:nvPr/>
        </p:nvSpPr>
        <p:spPr>
          <a:xfrm rot="0" flipH="0" flipV="0">
            <a:off x="609600" y="1304925"/>
            <a:ext cx="2676525" cy="2628900"/>
          </a:xfrm>
          <a:prstGeom prst="roundRect">
            <a:avLst>
              <a:gd name="adj" fmla="val 144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977" name=""/>
          <p:cNvSpPr/>
          <p:nvPr/>
        </p:nvSpPr>
        <p:spPr>
          <a:xfrm rot="0" flipH="0" flipV="0">
            <a:off x="733425" y="1362075"/>
            <a:ext cx="2428875" cy="323850"/>
          </a:xfrm>
          <a:prstGeom prst="roundRect">
            <a:avLst>
              <a:gd name="adj" fmla="val 8824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978" name="" descr="{&quot;isTemplate&quot;:true,&quot;type&quot;:&quot;text&quot;}"/>
          <p:cNvSpPr txBox="1"/>
          <p:nvPr/>
        </p:nvSpPr>
        <p:spPr>
          <a:xfrm rot="0" flipH="0" flipV="0">
            <a:off x="1600200" y="1438275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FFFFF"/>
                </a:solidFill>
                <a:latin typeface="Microsoft YaHei"/>
                <a:ea typeface="Microsoft YaHei"/>
              </a:rPr>
              <a:t>数字化作业</a:t>
            </a:r>
            <a:endParaRPr/>
          </a:p>
        </p:txBody>
      </p:sp>
      <p:sp>
        <p:nvSpPr>
          <p:cNvPr id="1979" name=""/>
          <p:cNvSpPr/>
          <p:nvPr/>
        </p:nvSpPr>
        <p:spPr>
          <a:xfrm rot="0" flipH="0" flipV="0">
            <a:off x="733425" y="1743075"/>
            <a:ext cx="2428875" cy="3048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80" name="" descr="{&quot;isTemplate&quot;:true,&quot;type&quot;:&quot;text&quot;}"/>
          <p:cNvSpPr txBox="1"/>
          <p:nvPr/>
        </p:nvSpPr>
        <p:spPr>
          <a:xfrm rot="0" flipH="0" flipV="0">
            <a:off x="819150" y="1828800"/>
            <a:ext cx="2257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「我们内部干活太慢、太乱」</a:t>
            </a:r>
            <a:endParaRPr/>
          </a:p>
        </p:txBody>
      </p:sp>
      <p:sp>
        <p:nvSpPr>
          <p:cNvPr id="1981" name="" descr="{&quot;isTemplate&quot;:true,&quot;type&quot;:&quot;text&quot;}"/>
          <p:cNvSpPr txBox="1"/>
          <p:nvPr/>
        </p:nvSpPr>
        <p:spPr>
          <a:xfrm rot="0" flipH="0" flipV="0">
            <a:off x="733425" y="2124075"/>
            <a:ext cx="76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A4F24"/>
                </a:solidFill>
                <a:latin typeface="Microsoft YaHei"/>
                <a:ea typeface="Microsoft YaHei"/>
              </a:rPr>
              <a:t>□</a:t>
            </a:r>
            <a:endParaRPr/>
          </a:p>
        </p:txBody>
      </p:sp>
      <p:sp>
        <p:nvSpPr>
          <p:cNvPr id="1982" name="" descr="{&quot;isTemplate&quot;:true,&quot;type&quot;:&quot;text&quot;}"/>
          <p:cNvSpPr txBox="1"/>
          <p:nvPr/>
        </p:nvSpPr>
        <p:spPr>
          <a:xfrm rot="0" flipH="0" flipV="0">
            <a:off x="857250" y="2124075"/>
            <a:ext cx="23050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研发协同与知识沉淀</a:t>
            </a:r>
            <a:endParaRPr/>
          </a:p>
        </p:txBody>
      </p:sp>
      <p:sp>
        <p:nvSpPr>
          <p:cNvPr id="1983" name="" descr="{&quot;isTemplate&quot;:true,&quot;type&quot;:&quot;text&quot;}"/>
          <p:cNvSpPr txBox="1"/>
          <p:nvPr/>
        </p:nvSpPr>
        <p:spPr>
          <a:xfrm rot="0" flipH="0" flipV="0">
            <a:off x="733425" y="2381250"/>
            <a:ext cx="76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A4F24"/>
                </a:solidFill>
                <a:latin typeface="Microsoft YaHei"/>
                <a:ea typeface="Microsoft YaHei"/>
              </a:rPr>
              <a:t>□</a:t>
            </a:r>
            <a:endParaRPr/>
          </a:p>
        </p:txBody>
      </p:sp>
      <p:sp>
        <p:nvSpPr>
          <p:cNvPr id="1984" name="" descr="{&quot;isTemplate&quot;:true,&quot;type&quot;:&quot;text&quot;}"/>
          <p:cNvSpPr txBox="1"/>
          <p:nvPr/>
        </p:nvSpPr>
        <p:spPr>
          <a:xfrm rot="0" flipH="0" flipV="0">
            <a:off x="857250" y="2381250"/>
            <a:ext cx="23050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制造与运维的作业方式</a:t>
            </a:r>
            <a:endParaRPr/>
          </a:p>
        </p:txBody>
      </p:sp>
      <p:sp>
        <p:nvSpPr>
          <p:cNvPr id="1985" name="" descr="{&quot;isTemplate&quot;:true,&quot;type&quot;:&quot;text&quot;}"/>
          <p:cNvSpPr txBox="1"/>
          <p:nvPr/>
        </p:nvSpPr>
        <p:spPr>
          <a:xfrm rot="0" flipH="0" flipV="0">
            <a:off x="733425" y="2638425"/>
            <a:ext cx="76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A4F24"/>
                </a:solidFill>
                <a:latin typeface="Microsoft YaHei"/>
                <a:ea typeface="Microsoft YaHei"/>
              </a:rPr>
              <a:t>□</a:t>
            </a:r>
            <a:endParaRPr/>
          </a:p>
        </p:txBody>
      </p:sp>
      <p:sp>
        <p:nvSpPr>
          <p:cNvPr id="1986" name="" descr="{&quot;isTemplate&quot;:true,&quot;type&quot;:&quot;text&quot;}"/>
          <p:cNvSpPr txBox="1"/>
          <p:nvPr/>
        </p:nvSpPr>
        <p:spPr>
          <a:xfrm rot="0" flipH="0" flipV="0">
            <a:off x="857250" y="2638425"/>
            <a:ext cx="23050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一线人员是否在用</a:t>
            </a:r>
            <a:endParaRPr/>
          </a:p>
        </p:txBody>
      </p:sp>
      <p:sp>
        <p:nvSpPr>
          <p:cNvPr id="1987" name=""/>
          <p:cNvSpPr/>
          <p:nvPr/>
        </p:nvSpPr>
        <p:spPr>
          <a:xfrm rot="0" flipH="0" flipV="0">
            <a:off x="733425" y="3457575"/>
            <a:ext cx="2428875" cy="419100"/>
          </a:xfrm>
          <a:prstGeom prst="roundRect">
            <a:avLst>
              <a:gd name="adj" fmla="val 6818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988" name="" descr="{&quot;isTemplate&quot;:true,&quot;type&quot;:&quot;text&quot;}"/>
          <p:cNvSpPr txBox="1"/>
          <p:nvPr/>
        </p:nvSpPr>
        <p:spPr>
          <a:xfrm rot="0" flipH="0" flipV="0">
            <a:off x="819150" y="3505200"/>
            <a:ext cx="2257425" cy="333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788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业务作业模式重构。指标看周期、质量、单位人力产出</a:t>
            </a:r>
            <a:endParaRPr/>
          </a:p>
        </p:txBody>
      </p:sp>
      <p:sp>
        <p:nvSpPr>
          <p:cNvPr id="1989" name=""/>
          <p:cNvSpPr/>
          <p:nvPr/>
        </p:nvSpPr>
        <p:spPr>
          <a:xfrm rot="0" flipH="0" flipV="0">
            <a:off x="3371850" y="1304925"/>
            <a:ext cx="2686050" cy="2628900"/>
          </a:xfrm>
          <a:prstGeom prst="roundRect">
            <a:avLst>
              <a:gd name="adj" fmla="val 144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990" name=""/>
          <p:cNvSpPr/>
          <p:nvPr/>
        </p:nvSpPr>
        <p:spPr>
          <a:xfrm rot="0" flipH="0" flipV="0">
            <a:off x="3495675" y="1362075"/>
            <a:ext cx="2438400" cy="323850"/>
          </a:xfrm>
          <a:prstGeom prst="roundRect">
            <a:avLst>
              <a:gd name="adj" fmla="val 8824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1991" name="" descr="{&quot;isTemplate&quot;:true,&quot;type&quot;:&quot;text&quot;}"/>
          <p:cNvSpPr txBox="1"/>
          <p:nvPr/>
        </p:nvSpPr>
        <p:spPr>
          <a:xfrm rot="0" flipH="0" flipV="0">
            <a:off x="4371975" y="1438275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FFFFF"/>
                </a:solidFill>
                <a:latin typeface="Microsoft YaHei"/>
                <a:ea typeface="Microsoft YaHei"/>
              </a:rPr>
              <a:t>数字化交易</a:t>
            </a:r>
            <a:endParaRPr/>
          </a:p>
        </p:txBody>
      </p:sp>
      <p:sp>
        <p:nvSpPr>
          <p:cNvPr id="1992" name=""/>
          <p:cNvSpPr/>
          <p:nvPr/>
        </p:nvSpPr>
        <p:spPr>
          <a:xfrm rot="0" flipH="0" flipV="0">
            <a:off x="3495675" y="1743075"/>
            <a:ext cx="2438400" cy="3048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93" name="" descr="{&quot;isTemplate&quot;:true,&quot;type&quot;:&quot;text&quot;}"/>
          <p:cNvSpPr txBox="1"/>
          <p:nvPr/>
        </p:nvSpPr>
        <p:spPr>
          <a:xfrm rot="0" flipH="0" flipV="0">
            <a:off x="3581400" y="1828800"/>
            <a:ext cx="2266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「客户不买、不用、投诉」</a:t>
            </a:r>
            <a:endParaRPr/>
          </a:p>
        </p:txBody>
      </p:sp>
      <p:sp>
        <p:nvSpPr>
          <p:cNvPr id="1994" name="" descr="{&quot;isTemplate&quot;:true,&quot;type&quot;:&quot;text&quot;}"/>
          <p:cNvSpPr txBox="1"/>
          <p:nvPr/>
        </p:nvSpPr>
        <p:spPr>
          <a:xfrm rot="0" flipH="0" flipV="0">
            <a:off x="3495675" y="2124075"/>
            <a:ext cx="76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E0641E"/>
                </a:solidFill>
                <a:latin typeface="Microsoft YaHei"/>
                <a:ea typeface="Microsoft YaHei"/>
              </a:rPr>
              <a:t>□</a:t>
            </a:r>
            <a:endParaRPr/>
          </a:p>
        </p:txBody>
      </p:sp>
      <p:sp>
        <p:nvSpPr>
          <p:cNvPr id="1995" name="" descr="{&quot;isTemplate&quot;:true,&quot;type&quot;:&quot;text&quot;}"/>
          <p:cNvSpPr txBox="1"/>
          <p:nvPr/>
        </p:nvSpPr>
        <p:spPr>
          <a:xfrm rot="0" flipH="0" flipV="0">
            <a:off x="3619500" y="2124075"/>
            <a:ext cx="231457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获客与线索到现金</a:t>
            </a:r>
            <a:endParaRPr/>
          </a:p>
        </p:txBody>
      </p:sp>
      <p:sp>
        <p:nvSpPr>
          <p:cNvPr id="1996" name="" descr="{&quot;isTemplate&quot;:true,&quot;type&quot;:&quot;text&quot;}"/>
          <p:cNvSpPr txBox="1"/>
          <p:nvPr/>
        </p:nvSpPr>
        <p:spPr>
          <a:xfrm rot="0" flipH="0" flipV="0">
            <a:off x="3495675" y="2381250"/>
            <a:ext cx="76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E0641E"/>
                </a:solidFill>
                <a:latin typeface="Microsoft YaHei"/>
                <a:ea typeface="Microsoft YaHei"/>
              </a:rPr>
              <a:t>□</a:t>
            </a:r>
            <a:endParaRPr/>
          </a:p>
        </p:txBody>
      </p:sp>
      <p:sp>
        <p:nvSpPr>
          <p:cNvPr id="1997" name="" descr="{&quot;isTemplate&quot;:true,&quot;type&quot;:&quot;text&quot;}"/>
          <p:cNvSpPr txBox="1"/>
          <p:nvPr/>
        </p:nvSpPr>
        <p:spPr>
          <a:xfrm rot="0" flipH="0" flipV="0">
            <a:off x="3619500" y="2381250"/>
            <a:ext cx="231457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交付与服务的在线化</a:t>
            </a:r>
            <a:endParaRPr/>
          </a:p>
        </p:txBody>
      </p:sp>
      <p:sp>
        <p:nvSpPr>
          <p:cNvPr id="1998" name="" descr="{&quot;isTemplate&quot;:true,&quot;type&quot;:&quot;text&quot;}"/>
          <p:cNvSpPr txBox="1"/>
          <p:nvPr/>
        </p:nvSpPr>
        <p:spPr>
          <a:xfrm rot="0" flipH="0" flipV="0">
            <a:off x="3495675" y="2638425"/>
            <a:ext cx="76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E0641E"/>
                </a:solidFill>
                <a:latin typeface="Microsoft YaHei"/>
                <a:ea typeface="Microsoft YaHei"/>
              </a:rPr>
              <a:t>□</a:t>
            </a:r>
            <a:endParaRPr/>
          </a:p>
        </p:txBody>
      </p:sp>
      <p:sp>
        <p:nvSpPr>
          <p:cNvPr id="1999" name="" descr="{&quot;isTemplate&quot;:true,&quot;type&quot;:&quot;text&quot;}"/>
          <p:cNvSpPr txBox="1"/>
          <p:nvPr/>
        </p:nvSpPr>
        <p:spPr>
          <a:xfrm rot="0" flipH="0" flipV="0">
            <a:off x="3619500" y="2638425"/>
            <a:ext cx="231457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客户体验断点在哪</a:t>
            </a:r>
            <a:endParaRPr/>
          </a:p>
        </p:txBody>
      </p:sp>
      <p:sp>
        <p:nvSpPr>
          <p:cNvPr id="2000" name=""/>
          <p:cNvSpPr/>
          <p:nvPr/>
        </p:nvSpPr>
        <p:spPr>
          <a:xfrm rot="0" flipH="0" flipV="0">
            <a:off x="3495675" y="3457575"/>
            <a:ext cx="2438400" cy="419100"/>
          </a:xfrm>
          <a:prstGeom prst="roundRect">
            <a:avLst>
              <a:gd name="adj" fmla="val 6818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2001" name="" descr="{&quot;isTemplate&quot;:true,&quot;type&quot;:&quot;text&quot;}"/>
          <p:cNvSpPr txBox="1"/>
          <p:nvPr/>
        </p:nvSpPr>
        <p:spPr>
          <a:xfrm rot="0" flipH="0" flipV="0">
            <a:off x="3581400" y="3505200"/>
            <a:ext cx="2266950" cy="333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788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交易与客户体验重构。指标看转化率、周期、客户满意度</a:t>
            </a:r>
            <a:endParaRPr/>
          </a:p>
        </p:txBody>
      </p:sp>
      <p:sp>
        <p:nvSpPr>
          <p:cNvPr id="2002" name=""/>
          <p:cNvSpPr/>
          <p:nvPr/>
        </p:nvSpPr>
        <p:spPr>
          <a:xfrm rot="0" flipH="0" flipV="0">
            <a:off x="6143625" y="1304925"/>
            <a:ext cx="2676525" cy="2628900"/>
          </a:xfrm>
          <a:prstGeom prst="roundRect">
            <a:avLst>
              <a:gd name="adj" fmla="val 144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003" name=""/>
          <p:cNvSpPr/>
          <p:nvPr/>
        </p:nvSpPr>
        <p:spPr>
          <a:xfrm rot="0" flipH="0" flipV="0">
            <a:off x="6267450" y="1362075"/>
            <a:ext cx="2428875" cy="323850"/>
          </a:xfrm>
          <a:prstGeom prst="roundRect">
            <a:avLst>
              <a:gd name="adj" fmla="val 8824"/>
            </a:avLst>
          </a:prstGeom>
          <a:solidFill>
            <a:srgbClr val="D2531A"/>
          </a:solidFill>
          <a:ln/>
        </p:spPr>
        <p:txBody>
          <a:bodyPr/>
          <a:p/>
        </p:txBody>
      </p:sp>
      <p:sp>
        <p:nvSpPr>
          <p:cNvPr id="2004" name="" descr="{&quot;isTemplate&quot;:true,&quot;type&quot;:&quot;text&quot;}"/>
          <p:cNvSpPr txBox="1"/>
          <p:nvPr/>
        </p:nvSpPr>
        <p:spPr>
          <a:xfrm rot="0" flipH="0" flipV="0">
            <a:off x="7134225" y="1438275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FFFFF"/>
                </a:solidFill>
                <a:latin typeface="Microsoft YaHei"/>
                <a:ea typeface="Microsoft YaHei"/>
              </a:rPr>
              <a:t>数字化运营</a:t>
            </a:r>
            <a:endParaRPr/>
          </a:p>
        </p:txBody>
      </p:sp>
      <p:sp>
        <p:nvSpPr>
          <p:cNvPr id="2005" name=""/>
          <p:cNvSpPr/>
          <p:nvPr/>
        </p:nvSpPr>
        <p:spPr>
          <a:xfrm rot="0" flipH="0" flipV="0">
            <a:off x="6267450" y="1743075"/>
            <a:ext cx="2428875" cy="3048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06" name="" descr="{&quot;isTemplate&quot;:true,&quot;type&quot;:&quot;text&quot;}"/>
          <p:cNvSpPr txBox="1"/>
          <p:nvPr/>
        </p:nvSpPr>
        <p:spPr>
          <a:xfrm rot="0" flipH="0" flipV="0">
            <a:off x="6353175" y="1828800"/>
            <a:ext cx="2257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「看不清、决策慢」</a:t>
            </a:r>
            <a:endParaRPr/>
          </a:p>
        </p:txBody>
      </p:sp>
      <p:sp>
        <p:nvSpPr>
          <p:cNvPr id="2007" name="" descr="{&quot;isTemplate&quot;:true,&quot;type&quot;:&quot;text&quot;}"/>
          <p:cNvSpPr txBox="1"/>
          <p:nvPr/>
        </p:nvSpPr>
        <p:spPr>
          <a:xfrm rot="0" flipH="0" flipV="0">
            <a:off x="6267450" y="2124075"/>
            <a:ext cx="76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D2531A"/>
                </a:solidFill>
                <a:latin typeface="Microsoft YaHei"/>
                <a:ea typeface="Microsoft YaHei"/>
              </a:rPr>
              <a:t>□</a:t>
            </a:r>
            <a:endParaRPr/>
          </a:p>
        </p:txBody>
      </p:sp>
      <p:sp>
        <p:nvSpPr>
          <p:cNvPr id="2008" name="" descr="{&quot;isTemplate&quot;:true,&quot;type&quot;:&quot;text&quot;}"/>
          <p:cNvSpPr txBox="1"/>
          <p:nvPr/>
        </p:nvSpPr>
        <p:spPr>
          <a:xfrm rot="0" flipH="0" flipV="0">
            <a:off x="6391275" y="2124075"/>
            <a:ext cx="23050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经营与运营指标能否自动出</a:t>
            </a:r>
            <a:endParaRPr/>
          </a:p>
        </p:txBody>
      </p:sp>
      <p:sp>
        <p:nvSpPr>
          <p:cNvPr id="2009" name="" descr="{&quot;isTemplate&quot;:true,&quot;type&quot;:&quot;text&quot;}"/>
          <p:cNvSpPr txBox="1"/>
          <p:nvPr/>
        </p:nvSpPr>
        <p:spPr>
          <a:xfrm rot="0" flipH="0" flipV="0">
            <a:off x="6267450" y="2381250"/>
            <a:ext cx="76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D2531A"/>
                </a:solidFill>
                <a:latin typeface="Microsoft YaHei"/>
                <a:ea typeface="Microsoft YaHei"/>
              </a:rPr>
              <a:t>□</a:t>
            </a:r>
            <a:endParaRPr/>
          </a:p>
        </p:txBody>
      </p:sp>
      <p:sp>
        <p:nvSpPr>
          <p:cNvPr id="2010" name="" descr="{&quot;isTemplate&quot;:true,&quot;type&quot;:&quot;text&quot;}"/>
          <p:cNvSpPr txBox="1"/>
          <p:nvPr/>
        </p:nvSpPr>
        <p:spPr>
          <a:xfrm rot="0" flipH="0" flipV="0">
            <a:off x="6391275" y="2381250"/>
            <a:ext cx="23050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异常能否主动发现</a:t>
            </a:r>
            <a:endParaRPr/>
          </a:p>
        </p:txBody>
      </p:sp>
      <p:sp>
        <p:nvSpPr>
          <p:cNvPr id="2011" name="" descr="{&quot;isTemplate&quot;:true,&quot;type&quot;:&quot;text&quot;}"/>
          <p:cNvSpPr txBox="1"/>
          <p:nvPr/>
        </p:nvSpPr>
        <p:spPr>
          <a:xfrm rot="0" flipH="0" flipV="0">
            <a:off x="6267450" y="2638425"/>
            <a:ext cx="76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D2531A"/>
                </a:solidFill>
                <a:latin typeface="Microsoft YaHei"/>
                <a:ea typeface="Microsoft YaHei"/>
              </a:rPr>
              <a:t>□</a:t>
            </a:r>
            <a:endParaRPr/>
          </a:p>
        </p:txBody>
      </p:sp>
      <p:sp>
        <p:nvSpPr>
          <p:cNvPr id="2012" name="" descr="{&quot;isTemplate&quot;:true,&quot;type&quot;:&quot;text&quot;}"/>
          <p:cNvSpPr txBox="1"/>
          <p:nvPr/>
        </p:nvSpPr>
        <p:spPr>
          <a:xfrm rot="0" flipH="0" flipV="0">
            <a:off x="6391275" y="2638425"/>
            <a:ext cx="23050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决策到执行的链路</a:t>
            </a:r>
            <a:endParaRPr/>
          </a:p>
        </p:txBody>
      </p:sp>
      <p:sp>
        <p:nvSpPr>
          <p:cNvPr id="2013" name=""/>
          <p:cNvSpPr/>
          <p:nvPr/>
        </p:nvSpPr>
        <p:spPr>
          <a:xfrm rot="0" flipH="0" flipV="0">
            <a:off x="6267450" y="3457575"/>
            <a:ext cx="2428875" cy="419100"/>
          </a:xfrm>
          <a:prstGeom prst="roundRect">
            <a:avLst>
              <a:gd name="adj" fmla="val 6818"/>
            </a:avLst>
          </a:prstGeom>
          <a:solidFill>
            <a:srgbClr val="D2531A"/>
          </a:solidFill>
          <a:ln/>
        </p:spPr>
        <p:txBody>
          <a:bodyPr/>
          <a:p/>
        </p:txBody>
      </p:sp>
      <p:sp>
        <p:nvSpPr>
          <p:cNvPr id="2014" name="" descr="{&quot;isTemplate&quot;:true,&quot;type&quot;:&quot;text&quot;}"/>
          <p:cNvSpPr txBox="1"/>
          <p:nvPr/>
        </p:nvSpPr>
        <p:spPr>
          <a:xfrm rot="0" flipH="0" flipV="0">
            <a:off x="6353175" y="3505200"/>
            <a:ext cx="2257425" cy="333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788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运营与决策机制重构。指标看数据时效、预警准确率</a:t>
            </a:r>
            <a:endParaRPr/>
          </a:p>
        </p:txBody>
      </p:sp>
      <p:sp>
        <p:nvSpPr>
          <p:cNvPr id="2015" name=""/>
          <p:cNvSpPr/>
          <p:nvPr/>
        </p:nvSpPr>
        <p:spPr>
          <a:xfrm rot="0" flipH="0" flipV="0">
            <a:off x="8905875" y="1304925"/>
            <a:ext cx="2676525" cy="2628900"/>
          </a:xfrm>
          <a:prstGeom prst="roundRect">
            <a:avLst>
              <a:gd name="adj" fmla="val 144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016" name=""/>
          <p:cNvSpPr/>
          <p:nvPr/>
        </p:nvSpPr>
        <p:spPr>
          <a:xfrm rot="0" flipH="0" flipV="0">
            <a:off x="9029700" y="1362075"/>
            <a:ext cx="2428875" cy="323850"/>
          </a:xfrm>
          <a:prstGeom prst="roundRect">
            <a:avLst>
              <a:gd name="adj" fmla="val 8824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2017" name="" descr="{&quot;isTemplate&quot;:true,&quot;type&quot;:&quot;text&quot;}"/>
          <p:cNvSpPr txBox="1"/>
          <p:nvPr/>
        </p:nvSpPr>
        <p:spPr>
          <a:xfrm rot="0" flipH="0" flipV="0">
            <a:off x="9896475" y="1438275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FFFFF"/>
                </a:solidFill>
                <a:latin typeface="Microsoft YaHei"/>
                <a:ea typeface="Microsoft YaHei"/>
              </a:rPr>
              <a:t>数字化办公</a:t>
            </a:r>
            <a:endParaRPr/>
          </a:p>
        </p:txBody>
      </p:sp>
      <p:sp>
        <p:nvSpPr>
          <p:cNvPr id="2018" name=""/>
          <p:cNvSpPr/>
          <p:nvPr/>
        </p:nvSpPr>
        <p:spPr>
          <a:xfrm rot="0" flipH="0" flipV="0">
            <a:off x="9029700" y="1743075"/>
            <a:ext cx="2428875" cy="3048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19" name="" descr="{&quot;isTemplate&quot;:true,&quot;type&quot;:&quot;text&quot;}"/>
          <p:cNvSpPr txBox="1"/>
          <p:nvPr/>
        </p:nvSpPr>
        <p:spPr>
          <a:xfrm rot="0" flipH="0" flipV="0">
            <a:off x="9115425" y="1828800"/>
            <a:ext cx="2257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「协同靠邮件、知识留不住」</a:t>
            </a:r>
            <a:endParaRPr/>
          </a:p>
        </p:txBody>
      </p:sp>
      <p:sp>
        <p:nvSpPr>
          <p:cNvPr id="2020" name="" descr="{&quot;isTemplate&quot;:true,&quot;type&quot;:&quot;text&quot;}"/>
          <p:cNvSpPr txBox="1"/>
          <p:nvPr/>
        </p:nvSpPr>
        <p:spPr>
          <a:xfrm rot="0" flipH="0" flipV="0">
            <a:off x="9029700" y="2124075"/>
            <a:ext cx="76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C43A17"/>
                </a:solidFill>
                <a:latin typeface="Microsoft YaHei"/>
                <a:ea typeface="Microsoft YaHei"/>
              </a:rPr>
              <a:t>□</a:t>
            </a:r>
            <a:endParaRPr/>
          </a:p>
        </p:txBody>
      </p:sp>
      <p:sp>
        <p:nvSpPr>
          <p:cNvPr id="2021" name="" descr="{&quot;isTemplate&quot;:true,&quot;type&quot;:&quot;text&quot;}"/>
          <p:cNvSpPr txBox="1"/>
          <p:nvPr/>
        </p:nvSpPr>
        <p:spPr>
          <a:xfrm rot="0" flipH="0" flipV="0">
            <a:off x="9153525" y="2124075"/>
            <a:ext cx="23050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跨部门协同是否在线</a:t>
            </a:r>
            <a:endParaRPr/>
          </a:p>
        </p:txBody>
      </p:sp>
      <p:sp>
        <p:nvSpPr>
          <p:cNvPr id="2022" name="" descr="{&quot;isTemplate&quot;:true,&quot;type&quot;:&quot;text&quot;}"/>
          <p:cNvSpPr txBox="1"/>
          <p:nvPr/>
        </p:nvSpPr>
        <p:spPr>
          <a:xfrm rot="0" flipH="0" flipV="0">
            <a:off x="9029700" y="2381250"/>
            <a:ext cx="76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C43A17"/>
                </a:solidFill>
                <a:latin typeface="Microsoft YaHei"/>
                <a:ea typeface="Microsoft YaHei"/>
              </a:rPr>
              <a:t>□</a:t>
            </a:r>
            <a:endParaRPr/>
          </a:p>
        </p:txBody>
      </p:sp>
      <p:sp>
        <p:nvSpPr>
          <p:cNvPr id="2023" name="" descr="{&quot;isTemplate&quot;:true,&quot;type&quot;:&quot;text&quot;}"/>
          <p:cNvSpPr txBox="1"/>
          <p:nvPr/>
        </p:nvSpPr>
        <p:spPr>
          <a:xfrm rot="0" flipH="0" flipV="0">
            <a:off x="9153525" y="2381250"/>
            <a:ext cx="23050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知识资产能否复用</a:t>
            </a:r>
            <a:endParaRPr/>
          </a:p>
        </p:txBody>
      </p:sp>
      <p:sp>
        <p:nvSpPr>
          <p:cNvPr id="2024" name="" descr="{&quot;isTemplate&quot;:true,&quot;type&quot;:&quot;text&quot;}"/>
          <p:cNvSpPr txBox="1"/>
          <p:nvPr/>
        </p:nvSpPr>
        <p:spPr>
          <a:xfrm rot="0" flipH="0" flipV="0">
            <a:off x="9029700" y="2638425"/>
            <a:ext cx="76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C43A17"/>
                </a:solidFill>
                <a:latin typeface="Microsoft YaHei"/>
                <a:ea typeface="Microsoft YaHei"/>
              </a:rPr>
              <a:t>□</a:t>
            </a:r>
            <a:endParaRPr/>
          </a:p>
        </p:txBody>
      </p:sp>
      <p:sp>
        <p:nvSpPr>
          <p:cNvPr id="2025" name="" descr="{&quot;isTemplate&quot;:true,&quot;type&quot;:&quot;text&quot;}"/>
          <p:cNvSpPr txBox="1"/>
          <p:nvPr/>
        </p:nvSpPr>
        <p:spPr>
          <a:xfrm rot="0" flipH="0" flipV="0">
            <a:off x="9153525" y="2638425"/>
            <a:ext cx="23050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员工是否真在用</a:t>
            </a:r>
            <a:endParaRPr/>
          </a:p>
        </p:txBody>
      </p:sp>
      <p:sp>
        <p:nvSpPr>
          <p:cNvPr id="2026" name=""/>
          <p:cNvSpPr/>
          <p:nvPr/>
        </p:nvSpPr>
        <p:spPr>
          <a:xfrm rot="0" flipH="0" flipV="0">
            <a:off x="9029700" y="3457575"/>
            <a:ext cx="2428875" cy="419100"/>
          </a:xfrm>
          <a:prstGeom prst="roundRect">
            <a:avLst>
              <a:gd name="adj" fmla="val 6818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2027" name="" descr="{&quot;isTemplate&quot;:true,&quot;type&quot;:&quot;text&quot;}"/>
          <p:cNvSpPr txBox="1"/>
          <p:nvPr/>
        </p:nvSpPr>
        <p:spPr>
          <a:xfrm rot="0" flipH="0" flipV="0">
            <a:off x="9115425" y="3581400"/>
            <a:ext cx="225742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员工协同方式重构。指标看协同效率、人员留存</a:t>
            </a:r>
            <a:endParaRPr/>
          </a:p>
        </p:txBody>
      </p:sp>
      <p:sp>
        <p:nvSpPr>
          <p:cNvPr id="2028" name=""/>
          <p:cNvSpPr/>
          <p:nvPr/>
        </p:nvSpPr>
        <p:spPr>
          <a:xfrm rot="0" flipH="0" flipV="0">
            <a:off x="609600" y="4029075"/>
            <a:ext cx="10972800" cy="676275"/>
          </a:xfrm>
          <a:prstGeom prst="roundRect">
            <a:avLst>
              <a:gd name="adj" fmla="val 4225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029" name="" descr="{&quot;isTemplate&quot;:true,&quot;type&quot;:&quot;text&quot;}"/>
          <p:cNvSpPr txBox="1"/>
          <p:nvPr/>
        </p:nvSpPr>
        <p:spPr>
          <a:xfrm rot="0" flipH="0" flipV="0">
            <a:off x="800100" y="4286250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多数企业的顺序</a:t>
            </a:r>
            <a:endParaRPr/>
          </a:p>
        </p:txBody>
      </p:sp>
      <p:sp>
        <p:nvSpPr>
          <p:cNvPr id="2030" name="" descr="{&quot;isTemplate&quot;:true,&quot;type&quot;:&quot;text&quot;}"/>
          <p:cNvSpPr txBox="1"/>
          <p:nvPr/>
        </p:nvSpPr>
        <p:spPr>
          <a:xfrm rot="0" flipH="0" flipV="0">
            <a:off x="2114550" y="4248150"/>
            <a:ext cx="92773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先做</a:t>
            </a:r>
            <a:r>
              <a:rPr lang="zh-CN" sz="1125">
                <a:solidFill>
                  <a:srgbClr val="FA4F24"/>
                </a:solidFill>
                <a:latin typeface="Microsoft YaHei"/>
                <a:ea typeface="Microsoft YaHei"/>
              </a:rPr>
              <a:t>作业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（内部效率，见效快、风险低）→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再做</a:t>
            </a:r>
            <a:r>
              <a:rPr lang="zh-CN" sz="1125">
                <a:solidFill>
                  <a:srgbClr val="FA4F24"/>
                </a:solidFill>
                <a:latin typeface="Microsoft YaHei"/>
                <a:ea typeface="Microsoft YaHei"/>
              </a:rPr>
              <a:t>交易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（对外体验，牵动客户）→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同步补</a:t>
            </a:r>
            <a:r>
              <a:rPr lang="zh-CN" sz="1125">
                <a:solidFill>
                  <a:srgbClr val="FA4F24"/>
                </a:solidFill>
                <a:latin typeface="Microsoft YaHei"/>
                <a:ea typeface="Microsoft YaHei"/>
              </a:rPr>
              <a:t>运营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与</a:t>
            </a:r>
            <a:r>
              <a:rPr lang="zh-CN" sz="1125">
                <a:solidFill>
                  <a:srgbClr val="FA4F24"/>
                </a:solidFill>
                <a:latin typeface="Microsoft YaHei"/>
                <a:ea typeface="Microsoft YaHei"/>
              </a:rPr>
              <a:t>办公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作为底座</a:t>
            </a:r>
            <a:endParaRPr/>
          </a:p>
        </p:txBody>
      </p:sp>
      <p:sp>
        <p:nvSpPr>
          <p:cNvPr id="2031" name=""/>
          <p:cNvSpPr/>
          <p:nvPr/>
        </p:nvSpPr>
        <p:spPr>
          <a:xfrm rot="0" flipH="0" flipV="0">
            <a:off x="647700" y="4781550"/>
            <a:ext cx="5448300" cy="819150"/>
          </a:xfrm>
          <a:prstGeom prst="roundRect">
            <a:avLst>
              <a:gd name="adj" fmla="val 348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032" name=""/>
          <p:cNvSpPr/>
          <p:nvPr/>
        </p:nvSpPr>
        <p:spPr>
          <a:xfrm rot="0" flipH="0" flipV="0">
            <a:off x="647700" y="4781550"/>
            <a:ext cx="5448300" cy="819150"/>
          </a:xfrm>
          <a:custGeom>
            <a:pathLst>
              <a:path w="572" h="86">
                <a:moveTo>
                  <a:pt x="4" y="86"/>
                </a:moveTo>
                <a:cubicBezTo>
                  <a:pt x="3" y="86"/>
                  <a:pt x="2" y="86"/>
                  <a:pt x="1" y="85"/>
                </a:cubicBezTo>
                <a:cubicBezTo>
                  <a:pt x="0" y="84"/>
                  <a:pt x="0" y="84"/>
                  <a:pt x="0" y="8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2033" name="" descr="{&quot;isTemplate&quot;:true,&quot;type&quot;:&quot;text&quot;}"/>
          <p:cNvSpPr txBox="1"/>
          <p:nvPr/>
        </p:nvSpPr>
        <p:spPr>
          <a:xfrm rot="0" flipH="0" flipV="0">
            <a:off x="800100" y="5000625"/>
            <a:ext cx="5105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跳到交易场景是最常见的坑</a:t>
            </a:r>
            <a:endParaRPr/>
          </a:p>
        </p:txBody>
      </p:sp>
      <p:sp>
        <p:nvSpPr>
          <p:cNvPr id="2034" name="" descr="{&quot;isTemplate&quot;:true,&quot;type&quot;:&quot;text&quot;}"/>
          <p:cNvSpPr txBox="1"/>
          <p:nvPr/>
        </p:nvSpPr>
        <p:spPr>
          <a:xfrm rot="0" flipH="0" flipV="0">
            <a:off x="800100" y="5191125"/>
            <a:ext cx="51054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A6070"/>
                </a:solidFill>
                <a:latin typeface="Microsoft YaHei"/>
                <a:ea typeface="Microsoft YaHei"/>
              </a:rPr>
              <a:t>客户体验的问题九成根在内部作业，先做交易等于给病根上妆</a:t>
            </a:r>
            <a:endParaRPr/>
          </a:p>
        </p:txBody>
      </p:sp>
      <p:sp>
        <p:nvSpPr>
          <p:cNvPr id="2035" name=""/>
          <p:cNvSpPr/>
          <p:nvPr/>
        </p:nvSpPr>
        <p:spPr>
          <a:xfrm rot="0" flipH="0" flipV="0">
            <a:off x="6172200" y="4781550"/>
            <a:ext cx="5448300" cy="819150"/>
          </a:xfrm>
          <a:prstGeom prst="roundRect">
            <a:avLst>
              <a:gd name="adj" fmla="val 348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036" name=""/>
          <p:cNvSpPr/>
          <p:nvPr/>
        </p:nvSpPr>
        <p:spPr>
          <a:xfrm rot="0" flipH="0" flipV="0">
            <a:off x="6172200" y="4781550"/>
            <a:ext cx="5448300" cy="819150"/>
          </a:xfrm>
          <a:custGeom>
            <a:pathLst>
              <a:path w="572" h="86">
                <a:moveTo>
                  <a:pt x="4" y="86"/>
                </a:moveTo>
                <a:cubicBezTo>
                  <a:pt x="3" y="86"/>
                  <a:pt x="2" y="86"/>
                  <a:pt x="1" y="85"/>
                </a:cubicBezTo>
                <a:cubicBezTo>
                  <a:pt x="0" y="84"/>
                  <a:pt x="0" y="84"/>
                  <a:pt x="0" y="8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2037" name="" descr="{&quot;isTemplate&quot;:true,&quot;type&quot;:&quot;text&quot;}"/>
          <p:cNvSpPr txBox="1"/>
          <p:nvPr/>
        </p:nvSpPr>
        <p:spPr>
          <a:xfrm rot="0" flipH="0" flipV="0">
            <a:off x="6324600" y="5000625"/>
            <a:ext cx="5105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运营不是最后一步</a:t>
            </a:r>
            <a:endParaRPr/>
          </a:p>
        </p:txBody>
      </p:sp>
      <p:sp>
        <p:nvSpPr>
          <p:cNvPr id="2038" name="" descr="{&quot;isTemplate&quot;:true,&quot;type&quot;:&quot;text&quot;}"/>
          <p:cNvSpPr txBox="1"/>
          <p:nvPr/>
        </p:nvSpPr>
        <p:spPr>
          <a:xfrm rot="0" flipH="0" flipV="0">
            <a:off x="6324600" y="5191125"/>
            <a:ext cx="51054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A6070"/>
                </a:solidFill>
                <a:latin typeface="Microsoft YaHei"/>
                <a:ea typeface="Microsoft YaHei"/>
              </a:rPr>
              <a:t>运营能力是前两类的度量出口，没它就证明不了转型的价值</a:t>
            </a:r>
            <a:endParaRPr/>
          </a:p>
        </p:txBody>
      </p:sp>
      <p:sp>
        <p:nvSpPr>
          <p:cNvPr id="2039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040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2041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09 / 35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38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三个平台能力：&lt;span style={{ color: '#FA4F24' }}&gt;不统一建，场景里的东西必然重来一遍&lt;/span&gt;&#10;        &lt;/Text&gt;&#10;        &lt;Text style={{ fontSize: 20, color: '#8A8F99', marginTop: 8 }}&gt;&#10;            原书平台篇第11–13 章——这是前面八本分域专册共同的落脚处，不是三件额外的工作&#10;        &lt;/Text&gt;&#10;    &lt;/Box&gt;&#10;    &lt;Box style={{ height: 1, background: '#E8E8E8' }} /&gt;&#10;&#10;    {/* B 区 */}&#10;    &lt;Box style={{ paddingTop: 16, paddingBottom: 12, height: 479, flexDirection: 'column', gap: 10 }}&gt;&#10;&#10;        {/* 三个平台横条 */}&#10;        &lt;Box style={{ height: 250, flexDirection: 'column', gap: 7 }}&gt;&#10;            {[&#10;                {&#10;                    n: '11', t: '统一数据底座', c: '#FA4F24',&#10;                    d: '统一标准与模型，数据一次建成、全域可用',&#10;                    pts: ['数据资产目录：主题域→业务对象→逻辑实体→属性', '湖仓一体：统一存储、分级授权、多场景复用'],&#10;                    tag: '对应：DA / 治理 / 主数据 / 指标',&#10;                },&#10;                {&#10;                    n: '12', t: '云化数字平台', c: '#E0641E',&#10;                    d: '统一算力与技术底座，支撑快速迭代与弹性扩展',&#10;                    pts: ['基础设施层 / 数字平台层 / 公共服务层三横', '安全保障与运营维护两纵贯穿'],&#10;                    tag: '对应：TA / 管道处理',&#10;                },&#10;                {&#10;                    n: '13', t: '变革治理体系', c: '#C43A17',&#10;                    d: '决策到复盘的闭环，不靠个人热情撑着',&#10;                    pts: ['变革指导委员会 + 领域与项目组两级责任', '架构管控：立法 / 嵌入流程 / 合规审计'],&#10;                    tag: '对应：FDE / BA',&#10;                },&#10;            ].map((x) =&gt; (&#10;                &lt;Box key={x.n} style={{ flex: 1, flexDirection: 'row', alignItems: 'stretch', gap: 10 }}&gt;&#10;                    &lt;Box style={{ width: 54, background: x.c, borderRadius: 3, alignItems: 'center', justifyContent: 'center', flexDirection: 'column' }}&gt;&#10;                        &lt;Text style={{ fontSize: 18, fontWeight: 'bold', color: '#FFFFFF' }}&gt;{x.n}&lt;/Text&gt;&#10;                        &lt;Text style={{ fontSize: 9.5, color: 'rgba(255,255,255,0.85)', marginTop: 2 }}&gt;章&lt;/Text&gt;&#10;                    &lt;/Box&gt;&#10;                    &lt;Box style={{ width: 206, background: '#F7F7F8', borderRadius: 3, padding: '0 14px', flexDirection: 'column', justifyContent: 'center' }}&gt;&#10;                        &lt;Text style={{ fontSize: 17, fontWeight: 'bold', color: '#0F1423' }}&gt;{x.t}&lt;/Text&gt;&#10;                        &lt;Text style={{ fontSize: 11, color: '#C43A17', marginTop: 6, lineHeight: 1.35 }}&gt;{x.tag}&lt;/Text&gt;&#10;                    &lt;/Box&gt;&#10;                    &lt;Box style={{ flex: 1, background: '#F7F7F8', borderRadius: 3, padding: '0 15px', flexDirection: 'column', justifyContent: 'center' }}&gt;&#10;                        &lt;Text style={{ fontSize: 12.5, color: '#3A4050', lineHeight: 1.35, marginBottom: 7 }}&gt;{x.d}&lt;/Text&gt;&#10;                        {x.pts.map((p, i) =&gt; (&#10;                            &lt;Box key={p} style={{ flexDirection: 'row', alignItems: 'flex-start', gap: 6, marginTop: i === 0 ? 0 : 6 }}&gt;&#10;                                &lt;Text style={{ fontSize: 10.5, color: x.c, fontWeight: 'bold' }}&gt;▪&lt;/Text&gt;&#10;                                &lt;Text style={{ fontSize: 11.5, color: '#5A6070', lineHeight: 1.3, flex: 1 }}&gt;{p}&lt;/Text&gt;&#10;                            &lt;/Box&gt;&#10;                        ))}&#10;                    &lt;/Box&gt;&#10;                &lt;/Box&gt;&#10;            ))}&#10;        &lt;/Box&gt;&#10;&#10;        {/* 底部结论 */}&#10;        &lt;Box style={{ flex: 1, flexDirection: 'row', gap: 9 }}&gt;&#10;            &lt;Box style={{ flex: 1, background: '#0F1423', borderRadius: 3, padding: '0 20px', flexDirection: 'column', justifyContent: 'center' }}&gt;&#10;                &lt;Text style={{ fontSize: 13, fontWeight: 'bold', color: '#FBA15C' }}&gt;为什么这三个必须统一建&lt;/Text&gt;&#10;                &lt;Text style={{ fontSize: 14, color: 'rgba(255,255,255,0.88)', lineHeight: 1.45, marginTop: 7 }}&gt;&#10;                    场景各自建底座，第一年省事、第三年全部重来——三个平台是把重复劳动从项目里拿出去的唯一位置&#10;                &lt;/Text&gt;&#10;            &lt;/Box&gt;&#10;            &lt;Box style={{ width: 396, background: '#FFF3EE', borderRadius: 3, borderLeft: '4px solid #FA4F24', padding: '0 18px', flexDirection: 'column', justifyContent: 'center' }}&gt;&#10;                &lt;Text style={{ fontSize: 13, fontWeight: 'bold', color: '#C43A17' }}&gt;咨询落点&lt;/Text&gt;&#10;                &lt;Text style={{ fontSize: 12.5, color: '#3A4050', lineHeight: 1.45, marginTop: 6 }}&gt;&#10;                    每个分域专册的产出物，最终都要归到这三个平台之一；归不进去的，说明它不是平台能力，是项目定制&#10;                &lt;/Text&gt;&#10;            &lt;/Box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华为数字化转型之道&lt;/Text&gt;&#10;        &lt;/Box&gt;&#10;        &lt;Text style={{ fontSize: 14, color: '#8A8F99' }}&gt;10 / 3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三个平台能力：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不统一建，场景里的东西必然重来一遍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原书平台篇第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11–13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章——这是前面八本分域专册共同的落脚处，不是三件额外的工作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43" name=""/>
          <p:cNvSpPr/>
          <p:nvPr/>
        </p:nvSpPr>
        <p:spPr>
          <a:xfrm rot="0" flipH="0" flipV="0">
            <a:off x="609600" y="1304925"/>
            <a:ext cx="514350" cy="752475"/>
          </a:xfrm>
          <a:prstGeom prst="roundRect">
            <a:avLst>
              <a:gd name="adj" fmla="val 5556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62000" y="151447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11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19150" y="1743075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章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1219200" y="1304925"/>
            <a:ext cx="1962150" cy="752475"/>
          </a:xfrm>
          <a:prstGeom prst="roundRect">
            <a:avLst>
              <a:gd name="adj" fmla="val 37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352550" y="1466850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统一数据底座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352550" y="1724025"/>
            <a:ext cx="16954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对应：</a:t>
            </a: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 xml:space="preserve">DA / 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治理</a:t>
            </a: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主数据</a:t>
            </a: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指标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3276600" y="1304925"/>
            <a:ext cx="8305800" cy="752475"/>
          </a:xfrm>
          <a:prstGeom prst="roundRect">
            <a:avLst>
              <a:gd name="adj" fmla="val 37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3419475" y="1352550"/>
            <a:ext cx="8020050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统一标准与模型，数据一次建成、全域可用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3419475" y="1619250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A4F24"/>
                </a:solidFill>
                <a:latin typeface="Microsoft YaHei"/>
                <a:ea typeface="Microsoft YaHei"/>
              </a:rPr>
              <a:t>▪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3524250" y="1619250"/>
            <a:ext cx="7915275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数据资产目录：主题域→业务对象→逻辑实体→属性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3419475" y="1847850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A4F24"/>
                </a:solidFill>
                <a:latin typeface="Microsoft YaHei"/>
                <a:ea typeface="Microsoft YaHei"/>
              </a:rPr>
              <a:t>▪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3524250" y="1847850"/>
            <a:ext cx="7915275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湖仓一体：统一存储、分级授权、多场景复用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609600" y="2124075"/>
            <a:ext cx="514350" cy="742950"/>
          </a:xfrm>
          <a:prstGeom prst="roundRect">
            <a:avLst>
              <a:gd name="adj" fmla="val 5556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762000" y="232410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19150" y="255270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章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1219200" y="2124075"/>
            <a:ext cx="1962150" cy="742950"/>
          </a:xfrm>
          <a:prstGeom prst="roundRect">
            <a:avLst>
              <a:gd name="adj" fmla="val 384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352550" y="2286000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云化数字平台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1352550" y="2543175"/>
            <a:ext cx="16954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对应：</a:t>
            </a: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 xml:space="preserve">TA / 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管道处理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3276600" y="2124075"/>
            <a:ext cx="8305800" cy="742950"/>
          </a:xfrm>
          <a:prstGeom prst="roundRect">
            <a:avLst>
              <a:gd name="adj" fmla="val 384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3419475" y="2162175"/>
            <a:ext cx="8020050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统一算力与技术底座，支撑快速迭代与弹性扩展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3419475" y="2428875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E0641E"/>
                </a:solidFill>
                <a:latin typeface="Microsoft YaHei"/>
                <a:ea typeface="Microsoft YaHei"/>
              </a:rPr>
              <a:t>▪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3524250" y="2428875"/>
            <a:ext cx="7915275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基础设施层</a:t>
            </a:r>
            <a:r>
              <a:rPr lang="en-US" sz="863">
                <a:solidFill>
                  <a:srgbClr val="5A607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数字平台层</a:t>
            </a:r>
            <a:r>
              <a:rPr lang="en-US" sz="863">
                <a:solidFill>
                  <a:srgbClr val="5A607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公共服务层三横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3419475" y="2657475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E0641E"/>
                </a:solidFill>
                <a:latin typeface="Microsoft YaHei"/>
                <a:ea typeface="Microsoft YaHei"/>
              </a:rPr>
              <a:t>▪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3524250" y="2657475"/>
            <a:ext cx="7915275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安全保障与运营维护两纵贯穿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609600" y="2933700"/>
            <a:ext cx="514350" cy="752475"/>
          </a:xfrm>
          <a:prstGeom prst="roundRect">
            <a:avLst>
              <a:gd name="adj" fmla="val 5556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762000" y="314325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13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19150" y="337185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章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1219200" y="2933700"/>
            <a:ext cx="1962150" cy="752475"/>
          </a:xfrm>
          <a:prstGeom prst="roundRect">
            <a:avLst>
              <a:gd name="adj" fmla="val 37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352550" y="3095625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变革治理体系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352550" y="3352800"/>
            <a:ext cx="16954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对应：</a:t>
            </a: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>FDE / BA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3276600" y="2933700"/>
            <a:ext cx="8305800" cy="752475"/>
          </a:xfrm>
          <a:prstGeom prst="roundRect">
            <a:avLst>
              <a:gd name="adj" fmla="val 37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3419475" y="2981325"/>
            <a:ext cx="8020050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决策到复盘的闭环，不靠个人热情撑着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3419475" y="3248025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C43A17"/>
                </a:solidFill>
                <a:latin typeface="Microsoft YaHei"/>
                <a:ea typeface="Microsoft YaHei"/>
              </a:rPr>
              <a:t>▪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3524250" y="3248025"/>
            <a:ext cx="7915275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变革指导委员会</a:t>
            </a:r>
            <a:r>
              <a:rPr lang="en-US" sz="863">
                <a:solidFill>
                  <a:srgbClr val="5A607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领域与项目组两级责任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3419475" y="3476625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C43A17"/>
                </a:solidFill>
                <a:latin typeface="Microsoft YaHei"/>
                <a:ea typeface="Microsoft YaHei"/>
              </a:rPr>
              <a:t>▪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3524250" y="3476625"/>
            <a:ext cx="7915275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架构管控：立法</a:t>
            </a:r>
            <a:r>
              <a:rPr lang="en-US" sz="863">
                <a:solidFill>
                  <a:srgbClr val="5A607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嵌入流程</a:t>
            </a:r>
            <a:r>
              <a:rPr lang="en-US" sz="863">
                <a:solidFill>
                  <a:srgbClr val="5A607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合规审计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609600" y="3781425"/>
            <a:ext cx="7115175" cy="1819275"/>
          </a:xfrm>
          <a:prstGeom prst="roundRect">
            <a:avLst>
              <a:gd name="adj" fmla="val 157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00100" y="4467225"/>
            <a:ext cx="6734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BA15C"/>
                </a:solidFill>
                <a:latin typeface="Microsoft YaHei"/>
                <a:ea typeface="Microsoft YaHei"/>
              </a:rPr>
              <a:t>为什么这三个必须统一建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00100" y="4686300"/>
            <a:ext cx="67341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场景各自建底座，第一年省事、第三年全部重来——三个平台是把重复劳动从项目里拿出去的唯一位置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7848600" y="3781425"/>
            <a:ext cx="3733800" cy="1819275"/>
          </a:xfrm>
          <a:prstGeom prst="roundRect">
            <a:avLst>
              <a:gd name="adj" fmla="val 157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7848600" y="3781425"/>
            <a:ext cx="3733800" cy="1819275"/>
          </a:xfrm>
          <a:custGeom>
            <a:pathLst>
              <a:path w="392" h="191">
                <a:moveTo>
                  <a:pt x="4" y="191"/>
                </a:moveTo>
                <a:cubicBezTo>
                  <a:pt x="3" y="191"/>
                  <a:pt x="2" y="191"/>
                  <a:pt x="1" y="190"/>
                </a:cubicBezTo>
                <a:cubicBezTo>
                  <a:pt x="0" y="189"/>
                  <a:pt x="0" y="189"/>
                  <a:pt x="0" y="18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020050" y="4381500"/>
            <a:ext cx="3390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咨询落点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020050" y="4591050"/>
            <a:ext cx="33909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每个分域专册的产出物，最终都要归到这三个平台之一；归不进去的，说明它不是平台能力，是项目定制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10 / 35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89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成熟度评估：&lt;span style={{ color: '#FA4F24' }}&gt;四大主题 · 18 个问题&lt;/span&gt;&#10;        &lt;/Text&gt;&#10;        &lt;Text style={{ fontSize: 20, color: '#8A8F99', marginTop: 8 }}&gt;&#10;            不是发问卷打分，是靠关键业务用户面对面访谈现场评估——回答问题的过程本身就是诊断过程&#10;        &lt;/Text&gt;&#10;    &lt;/Box&gt;&#10;    &lt;Box style={{ height: 1, background: '#E8E8E8' }} /&gt;&#10;&#10;    {/* B 区 */}&#10;    &lt;Box style={{ paddingTop: 16, paddingBottom: 12, height: 479, flexDirection: 'column', gap: 10 }}&gt;&#10;&#10;        {/* 四主题 */}&#10;        &lt;Box style={{ height: 296, flexDirection: 'row', gap: 9 }}&gt;&#10;            {[&#10;                {&#10;                    n: '战略决心', q: 'Q1–6', c: '#FA4F24',&#10;                    d: '转型是否以业务战略为牵引，顶层设计是否有蓝图、举措与路标',&#10;                    items: ['是否以业务战略为牵引', '有没有清晰愿景', '高层对机遇与威胁的认知深度', '是否绘制了架构蓝图', '是否定义全局性工作', '预算与投人是否到位'],&#10;                },&#10;                {&#10;                    n: '业务重构', q: 'Q7–10', c: '#E0641E',&#10;                    d: '为实现核心业务，业务在转型前后到底改变了什么',&#10;                    items: ['客户体验是否重构', '作业模式是否重构', '运营模式是否重构', '是否提供数字产品与服务'],&#10;                },&#10;                {&#10;                    n: '数字能力', q: 'Q11–15', c: '#D2531A',&#10;                    d: '有没有技术领导力，能不能承载前两类的重构',&#10;                    items: ['应用现代化程度', '数据治理与分析能力', 'AI 使能水平', '资源与连接', '安全与隐私保护'],&#10;                },&#10;                {&#10;                    n: '转型保障', q: 'Q16–18', c: '#C43A17',&#10;                    d: '推进过程中组织、人才与变革管理的支撑是否充分',&#10;                    items: ['变革管理机制', '数字化人才密度', '组织保障是否落实'],&#10;                },&#10;            ].map((x) =&gt; (&#10;                &lt;Box key={x.n} style={{ flex: 1, background: '#F7F7F8', borderRadius: 4, padding: '0 14px', flexDirection: 'column' }}&gt;&#10;                    &lt;Box style={{ flexDirection: 'row', alignItems: 'center', gap: 8, marginTop: 10 }}&gt;&#10;                        &lt;Box style={{ width: 24, height: 24, background: x.c, borderRadius: 3, alignItems: 'center', justifyContent: 'center' }}&gt;&#10;                            &lt;Text style={{ fontSize: 12, fontWeight: 'bold', color: '#FFFFFF' }}&gt;{x.q[1]}&lt;/Text&gt;&#10;                        &lt;/Box&gt;&#10;                        &lt;Text style={{ fontSize: 17, fontWeight: 'bold', color: '#0F1423', flex: 1 }}&gt;{x.n}&lt;/Text&gt;&#10;                    &lt;/Box&gt;&#10;                    &lt;Text style={{ fontSize: 11.5, color: '#5A6070', lineHeight: 1.4, marginTop: 9, marginBottom: 9 }}&gt;{x.d}&lt;/Text&gt;&#10;                    &lt;Box style={{ flex: 1, flexDirection: 'column' }}&gt;&#10;                        {x.items.map((y, i) =&gt; (&#10;                            &lt;Box key={y} style={{ flexDirection: 'row', alignItems: 'flex-start', gap: 6, marginTop: i === 0 ? 0 : 7 }}&gt;&#10;                                &lt;Text style={{ fontSize: 10.5, color: x.c, fontWeight: 'bold' }}&gt;□&lt;/Text&gt;&#10;                                &lt;Text style={{ fontSize: 11.5, color: '#3A4050', lineHeight: 1.35, flex: 1 }}&gt;{y}&lt;/Text&gt;&#10;                            &lt;/Box&gt;&#10;                        ))}&#10;                    &lt;/Box&gt;&#10;                &lt;/Box&gt;&#10;            ))}&#10;        &lt;/Box&gt;&#10;&#10;        {/* 底部：三种打分法 */}&#10;        &lt;Box style={{ flex: 1, flexDirection: 'column', gap: 8 }}&gt;&#10;            &lt;Box style={{ height: 42, background: '#0F1423', borderRadius: 3, flexDirection: 'row', alignItems: 'center', padding: '0 20px', gap: 16 }}&gt;&#10;                &lt;Text style={{ fontSize: 13.5, fontWeight: 'bold', color: '#FBA15C', width: 168 }}&gt;三种评估方式（可组合）&lt;/Text&gt;&#10;                &lt;Text style={{ fontSize: 14, color: '#FFFFFF', flex: 1 }}&gt;面对面访谈（最有效）· 填写问卷 · 线上调查&lt;/Text&gt;&#10;                &lt;Text style={{ fontSize: 12, color: 'rgba(255,255,255,0.7)' }}&gt;华为原书原话：访谈中同时收集业务的关键需求&lt;/Text&gt;&#10;            &lt;/Box&gt;&#10;            &lt;Box style={{ flex: 1, flexDirection: 'row', gap: 9 }}&gt;&#10;                {[&#10;                    { k: '咨询业扩展版（5 维 196 项）', v: '华为供应链在四主题之外增加「价值目标」，共 5 维度 196 个评估项，用于与上下游伙伴横向比较' },&#10;                    { k: '运营商版（5 维 5阶）', v: '转型战略 / 价值度量 / 流程优化 / 数据与平台 / 组织人才，按 L1–L5 评估，配套场景闭环迭代' },&#10;                ].map((x) =&gt; (&#10;                    &lt;Box key={x.k} style={{ flex: 1, background: '#FFF3EE', borderRadius: 3, borderLeft: '4px solid #FBA15C', padding: '0 16px', flexDirection: 'column', justifyContent: 'center' }}&gt;&#10;                        &lt;Text style={{ fontSize: 13, fontWeight: 'bold', color: '#C43A17' }}&gt;{x.k}&lt;/Text&gt;&#10;                        &lt;Text style={{ fontSize: 12, color: '#3A4050', lineHeight: 1.4, marginTop: 5 }}&gt;{x.v}&lt;/Text&gt;&#10;                    &lt;/Box&gt;&#10;                ))}&#10;            &lt;/Box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华为数字化转型之道&lt;/Text&gt;&#10;        &lt;/Box&gt;&#10;        &lt;Text style={{ fontSize: 14, color: '#8A8F99' }}&gt;11 / 3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成熟度评估：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四大主题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· 18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个问题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不是发问卷打分，是靠关键业务用户面对面访谈现场评估——回答问题的过程本身就是诊断过程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94" name=""/>
          <p:cNvSpPr/>
          <p:nvPr/>
        </p:nvSpPr>
        <p:spPr>
          <a:xfrm rot="0" flipH="0" flipV="0">
            <a:off x="609600" y="1304925"/>
            <a:ext cx="2676525" cy="2819400"/>
          </a:xfrm>
          <a:prstGeom prst="roundRect">
            <a:avLst>
              <a:gd name="adj" fmla="val 142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5" name=""/>
          <p:cNvSpPr/>
          <p:nvPr/>
        </p:nvSpPr>
        <p:spPr>
          <a:xfrm rot="0" flipH="0" flipV="0">
            <a:off x="742950" y="1400175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819150" y="1447800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047750" y="1419225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战略决心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42950" y="1714500"/>
            <a:ext cx="2409825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转型是否以业务战略为牵引，顶层设计是否有蓝图、举措与路标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42950" y="2171700"/>
            <a:ext cx="666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A4F24"/>
                </a:solidFill>
                <a:latin typeface="Microsoft YaHei"/>
                <a:ea typeface="Microsoft YaHei"/>
              </a:rPr>
              <a:t>□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66775" y="2171700"/>
            <a:ext cx="228600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是否以业务战略为牵引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42950" y="2419350"/>
            <a:ext cx="666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A4F24"/>
                </a:solidFill>
                <a:latin typeface="Microsoft YaHei"/>
                <a:ea typeface="Microsoft YaHei"/>
              </a:rPr>
              <a:t>□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66775" y="2419350"/>
            <a:ext cx="228600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有没有清晰愿景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742950" y="2667000"/>
            <a:ext cx="666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A4F24"/>
                </a:solidFill>
                <a:latin typeface="Microsoft YaHei"/>
                <a:ea typeface="Microsoft YaHei"/>
              </a:rPr>
              <a:t>□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66775" y="2667000"/>
            <a:ext cx="228600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高层对机遇与威胁的认知深度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42950" y="2914650"/>
            <a:ext cx="666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A4F24"/>
                </a:solidFill>
                <a:latin typeface="Microsoft YaHei"/>
                <a:ea typeface="Microsoft YaHei"/>
              </a:rPr>
              <a:t>□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66775" y="2914650"/>
            <a:ext cx="228600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是否绘制了架构蓝图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42950" y="3162300"/>
            <a:ext cx="666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A4F24"/>
                </a:solidFill>
                <a:latin typeface="Microsoft YaHei"/>
                <a:ea typeface="Microsoft YaHei"/>
              </a:rPr>
              <a:t>□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866775" y="3162300"/>
            <a:ext cx="228600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是否定义全局性工作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42950" y="3409950"/>
            <a:ext cx="666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A4F24"/>
                </a:solidFill>
                <a:latin typeface="Microsoft YaHei"/>
                <a:ea typeface="Microsoft YaHei"/>
              </a:rPr>
              <a:t>□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66775" y="3409950"/>
            <a:ext cx="228600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预算与投人是否到位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3371850" y="1304925"/>
            <a:ext cx="2686050" cy="2819400"/>
          </a:xfrm>
          <a:prstGeom prst="roundRect">
            <a:avLst>
              <a:gd name="adj" fmla="val 141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2" name=""/>
          <p:cNvSpPr/>
          <p:nvPr/>
        </p:nvSpPr>
        <p:spPr>
          <a:xfrm rot="0" flipH="0" flipV="0">
            <a:off x="3505200" y="1400175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3581400" y="1447800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3810000" y="1419225"/>
            <a:ext cx="2114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业务重构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3505200" y="171450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为实现核心业务，业务在转型前后到底改变了什么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3505200" y="1990725"/>
            <a:ext cx="666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E0641E"/>
                </a:solidFill>
                <a:latin typeface="Microsoft YaHei"/>
                <a:ea typeface="Microsoft YaHei"/>
              </a:rPr>
              <a:t>□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3629025" y="1990725"/>
            <a:ext cx="229552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客户体验是否重构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3505200" y="2238375"/>
            <a:ext cx="666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E0641E"/>
                </a:solidFill>
                <a:latin typeface="Microsoft YaHei"/>
                <a:ea typeface="Microsoft YaHei"/>
              </a:rPr>
              <a:t>□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3629025" y="2238375"/>
            <a:ext cx="229552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作业模式是否重构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3505200" y="2486025"/>
            <a:ext cx="666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E0641E"/>
                </a:solidFill>
                <a:latin typeface="Microsoft YaHei"/>
                <a:ea typeface="Microsoft YaHei"/>
              </a:rPr>
              <a:t>□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3629025" y="2486025"/>
            <a:ext cx="229552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运营模式是否重构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3505200" y="2733675"/>
            <a:ext cx="666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E0641E"/>
                </a:solidFill>
                <a:latin typeface="Microsoft YaHei"/>
                <a:ea typeface="Microsoft YaHei"/>
              </a:rPr>
              <a:t>□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3629025" y="2733675"/>
            <a:ext cx="229552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是否提供数字产品与服务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143625" y="1304925"/>
            <a:ext cx="2676525" cy="2819400"/>
          </a:xfrm>
          <a:prstGeom prst="roundRect">
            <a:avLst>
              <a:gd name="adj" fmla="val 142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6276975" y="1400175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D2531A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353175" y="1447800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581775" y="1419225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数字能力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276975" y="1714500"/>
            <a:ext cx="24098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有没有技术领导力，能不能承载前两类的重构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276975" y="1990725"/>
            <a:ext cx="666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D2531A"/>
                </a:solidFill>
                <a:latin typeface="Microsoft YaHei"/>
                <a:ea typeface="Microsoft YaHei"/>
              </a:rPr>
              <a:t>□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400800" y="1990725"/>
            <a:ext cx="228600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应用现代化程度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276975" y="2238375"/>
            <a:ext cx="666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D2531A"/>
                </a:solidFill>
                <a:latin typeface="Microsoft YaHei"/>
                <a:ea typeface="Microsoft YaHei"/>
              </a:rPr>
              <a:t>□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400800" y="2238375"/>
            <a:ext cx="228600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数据治理与分析能力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276975" y="2486025"/>
            <a:ext cx="666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D2531A"/>
                </a:solidFill>
                <a:latin typeface="Microsoft YaHei"/>
                <a:ea typeface="Microsoft YaHei"/>
              </a:rPr>
              <a:t>□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400800" y="2486025"/>
            <a:ext cx="228600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使能水平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276975" y="2733675"/>
            <a:ext cx="666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D2531A"/>
                </a:solidFill>
                <a:latin typeface="Microsoft YaHei"/>
                <a:ea typeface="Microsoft YaHei"/>
              </a:rPr>
              <a:t>□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400800" y="2733675"/>
            <a:ext cx="228600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资源与连接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276975" y="2981325"/>
            <a:ext cx="666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D2531A"/>
                </a:solidFill>
                <a:latin typeface="Microsoft YaHei"/>
                <a:ea typeface="Microsoft YaHei"/>
              </a:rPr>
              <a:t>□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400800" y="2981325"/>
            <a:ext cx="228600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安全与隐私保护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8905875" y="1304925"/>
            <a:ext cx="2676525" cy="2819400"/>
          </a:xfrm>
          <a:prstGeom prst="roundRect">
            <a:avLst>
              <a:gd name="adj" fmla="val 142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9039225" y="1400175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9115425" y="1447800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9344025" y="1419225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转型保障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9039225" y="1714500"/>
            <a:ext cx="24098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推进过程中组织、人才与变革管理的支撑是否充分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9039225" y="1990725"/>
            <a:ext cx="666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C43A17"/>
                </a:solidFill>
                <a:latin typeface="Microsoft YaHei"/>
                <a:ea typeface="Microsoft YaHei"/>
              </a:rPr>
              <a:t>□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9163050" y="1990725"/>
            <a:ext cx="228600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变革管理机制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9039225" y="2238375"/>
            <a:ext cx="666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C43A17"/>
                </a:solidFill>
                <a:latin typeface="Microsoft YaHei"/>
                <a:ea typeface="Microsoft YaHei"/>
              </a:rPr>
              <a:t>□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9163050" y="2238375"/>
            <a:ext cx="228600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数字化人才密度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9039225" y="2486025"/>
            <a:ext cx="666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C43A17"/>
                </a:solidFill>
                <a:latin typeface="Microsoft YaHei"/>
                <a:ea typeface="Microsoft YaHei"/>
              </a:rPr>
              <a:t>□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9163050" y="2486025"/>
            <a:ext cx="228600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组织保障是否落实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609600" y="4219575"/>
            <a:ext cx="10972800" cy="40005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00100" y="434340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三种评估方式（可组合）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2552700" y="4343400"/>
            <a:ext cx="6286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面对面访谈（最有效）·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填写问卷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线上调查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991600" y="4352925"/>
            <a:ext cx="2400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华为原书原话：访谈中同时收集业务的关键需求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47700" y="4695825"/>
            <a:ext cx="5448300" cy="904875"/>
          </a:xfrm>
          <a:prstGeom prst="roundRect">
            <a:avLst>
              <a:gd name="adj" fmla="val 315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55" name=""/>
          <p:cNvSpPr/>
          <p:nvPr/>
        </p:nvSpPr>
        <p:spPr>
          <a:xfrm rot="0" flipH="0" flipV="0">
            <a:off x="647700" y="4695825"/>
            <a:ext cx="5448300" cy="904875"/>
          </a:xfrm>
          <a:custGeom>
            <a:pathLst>
              <a:path w="572" h="95">
                <a:moveTo>
                  <a:pt x="4" y="95"/>
                </a:moveTo>
                <a:cubicBezTo>
                  <a:pt x="3" y="95"/>
                  <a:pt x="2" y="95"/>
                  <a:pt x="1" y="94"/>
                </a:cubicBezTo>
                <a:cubicBezTo>
                  <a:pt x="0" y="93"/>
                  <a:pt x="0" y="93"/>
                  <a:pt x="0" y="9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00100" y="4953000"/>
            <a:ext cx="5105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咨询业扩展版（</a:t>
            </a: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维</a:t>
            </a: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196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项）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800100" y="5153025"/>
            <a:ext cx="51054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华为供应链在四主题之外增加「价值目标」，共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维度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196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个评估项，用于与上下游伙伴横向比较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181725" y="4695825"/>
            <a:ext cx="5438775" cy="904875"/>
          </a:xfrm>
          <a:prstGeom prst="roundRect">
            <a:avLst>
              <a:gd name="adj" fmla="val 315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59" name=""/>
          <p:cNvSpPr/>
          <p:nvPr/>
        </p:nvSpPr>
        <p:spPr>
          <a:xfrm rot="0" flipH="0" flipV="0">
            <a:off x="6181725" y="4695825"/>
            <a:ext cx="5438775" cy="904875"/>
          </a:xfrm>
          <a:custGeom>
            <a:pathLst>
              <a:path w="571" h="95">
                <a:moveTo>
                  <a:pt x="4" y="95"/>
                </a:moveTo>
                <a:cubicBezTo>
                  <a:pt x="3" y="95"/>
                  <a:pt x="2" y="95"/>
                  <a:pt x="1" y="94"/>
                </a:cubicBezTo>
                <a:cubicBezTo>
                  <a:pt x="0" y="93"/>
                  <a:pt x="0" y="93"/>
                  <a:pt x="0" y="9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334125" y="4953000"/>
            <a:ext cx="5095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运营商版（</a:t>
            </a: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维</a:t>
            </a: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5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阶）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334125" y="5153025"/>
            <a:ext cx="50958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转型战略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价值度量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流程优化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数据与平台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组织人才，按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L1–L5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评估，配套场景闭环迭代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11 / 35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65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成熟度五级 L1–L5：&lt;span style={{ color: '#FA4F24' }}&gt;逐级演进，不能跨越式升级&lt;/span&gt;&#10;        &lt;/Text&gt;&#10;        &lt;Text style={{ fontSize: 20, color: '#8A8F99', marginTop: 8 }}&gt;&#10;            客户说「我们要一步到位做智能」时，这张表就是最有力的回应——跳级的代价是全部重来&#10;        &lt;/Text&gt;&#10;    &lt;/Box&gt;&#10;    &lt;Box style={{ height: 1, background: '#E8E8E8' }} /&gt;&#10;&#10;    {/* B 区 */}&#10;    &lt;Box style={{ paddingTop: 16, paddingBottom: 12, height: 479, flexDirection: 'column', gap: 10 }}&gt;&#10;&#10;        {/* 五级阶梯 */}&#10;        &lt;Box style={{ height: 274, flexDirection: 'row', alignItems: 'flex-end', gap: 8 }}&gt;&#10;            {[&#10;                { L: 'L1', t: '流程数字化', d: '单点线上化，替代人工', h: 122, c: '#FBA15C' },&#10;                { L: 'L2', t: '业务集成', d: '系统互通，数据初共享', h: 150, c: '#F0873C' },&#10;                { L: 'L3', t: '端到端拉通', d: '全链路协同，业财一体', h: 178, c: '#E0641E' },&#10;                { L: 'L4', t: '智能优化', d: '数据驱动决策，智能预测', h: 206, c: '#D2531A' },&#10;                { L: 'L5', t: 'AI 原生化', d: '体系自主进化，业务重构', h: 234, c: '#C43A17' },&#10;            ].map((x) =&gt; (&#10;                &lt;Box key={x.L} style={{ flex: 1, height: x.h, background: x.c, borderRadius: 4, padding: '12px 13px', flexDirection: 'column' }}&gt;&#10;                    &lt;Text style={{ fontSize: 27, fontWeight: 'bold', color: 'rgba(255,255,255,0.95)', lineHeight: 1.0 }}&gt;{x.L}&lt;/Text&gt;&#10;                    &lt;Text style={{ fontSize: 15, fontWeight: 'bold', color: '#FFFFFF', marginTop: 7 }}&gt;{x.t}&lt;/Text&gt;&#10;                    &lt;Text style={{ fontSize: 11, color: 'rgba(255,255,255,0.9)', lineHeight: 1.3, marginTop: 5 }}&gt;{x.d}&lt;/Text&gt;&#10;                &lt;/Box&gt;&#10;            ))}&#10;        &lt;/Box&gt;&#10;&#10;        {/* 不可跳跃铁律 */}&#10;        &lt;Box style={{ height: 52, background: '#0F1423', borderRadius: 3, flexDirection: 'row', alignItems: 'center', padding: '0 20px', gap: 18 }}&gt;&#10;            &lt;Text style={{ fontSize: 14, fontWeight: 'bold', color: '#FBA15C', width: 132 }}&gt;不可跨越规律&lt;/Text&gt;&#10;            &lt;Text style={{ fontSize: 16, color: '#FFFFFF', flex: 1, lineHeight: 1.35 }}&gt;&#10;                L3 没做到就直接上 L4，等于在流沙上盖楼；&lt;tspan style={{ color: '#FA4F24' }}&gt;每一级都有它必须补齐的前提&lt;/tspan&gt;&#10;            &lt;/Text&gt;&#10;        &lt;/Box&gt;&#10;&#10;        {/* 底部三块 */}&#10;        &lt;Box style={{ flex: 1, flexDirection: 'row', gap: 9 }}&gt;&#10;            {[&#10;                {&#10;                    k: '典型症状：卡在 L1', d: '系统建了不少，但部门之间还是靠邮件和 Excel 对账', c: '#FA4F24',&#10;                },&#10;                {&#10;                    k: '典型症状：假L3', d: '接口打通了，但端到端流程还是人工在中间穿针引线', c: '#E0641E',&#10;                },&#10;                {&#10;                    k: '典型症状：跳L5', d: '数据底座和指标口径都没统一，就先上 AI 应用', c: '#C43A17',&#10;                },&#10;            ].map((x) =&gt; (&#10;                &lt;Box key={x.k} style={{ flex: 1, background: '#FFF3EE', borderRadius: 3, borderLeft: '4px solid ' + x.c, padding: '0 16px', flexDirection: 'column', justifyContent: 'center' }}&gt;&#10;                    &lt;Text style={{ fontSize: 13, fontWeight: 'bold', color: x.c }}&gt;{x.k}&lt;/Text&gt;&#10;                    &lt;Text style={{ fontSize: 12, color: '#3A4050', lineHeight: 1.4, marginTop: 5 }}&gt;{x.d}&lt;/Text&gt;&#10;                &lt;/Box&gt;&#10;            ))}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华为数字化转型之道&lt;/Text&gt;&#10;        &lt;/Box&gt;&#10;        &lt;Text style={{ fontSize: 14, color: '#8A8F99' }}&gt;12 / 3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成熟度五级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L1–L5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逐级演进，不能跨越式升级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客户说「我们要一步到位做智能」时，这张表就是最有力的回应——跳级的代价是全部重来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609600" y="2752725"/>
            <a:ext cx="2133600" cy="1162050"/>
          </a:xfrm>
          <a:prstGeom prst="roundRect">
            <a:avLst>
              <a:gd name="adj" fmla="val 3279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733425" y="2867025"/>
            <a:ext cx="18859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 b="1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L1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733425" y="3248025"/>
            <a:ext cx="188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流程数字化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733425" y="3467100"/>
            <a:ext cx="1885950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单点线上化，替代人工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2819400" y="2486025"/>
            <a:ext cx="2133600" cy="1428750"/>
          </a:xfrm>
          <a:prstGeom prst="roundRect">
            <a:avLst>
              <a:gd name="adj" fmla="val 2667"/>
            </a:avLst>
          </a:prstGeom>
          <a:solidFill>
            <a:srgbClr val="F0873C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2943225" y="2600325"/>
            <a:ext cx="18859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 b="1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L2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2943225" y="2981325"/>
            <a:ext cx="188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业务集成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2943225" y="3200400"/>
            <a:ext cx="1885950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系统互通，数据初共享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5029200" y="2219325"/>
            <a:ext cx="2133600" cy="1695450"/>
          </a:xfrm>
          <a:prstGeom prst="roundRect">
            <a:avLst>
              <a:gd name="adj" fmla="val 2247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5153025" y="2333625"/>
            <a:ext cx="18859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 b="1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L3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5153025" y="2714625"/>
            <a:ext cx="188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端到端拉通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5153025" y="2933700"/>
            <a:ext cx="1885950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全链路协同，业财一体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7239000" y="1952625"/>
            <a:ext cx="2133600" cy="1962150"/>
          </a:xfrm>
          <a:prstGeom prst="roundRect">
            <a:avLst>
              <a:gd name="adj" fmla="val 1942"/>
            </a:avLst>
          </a:prstGeom>
          <a:solidFill>
            <a:srgbClr val="D2531A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7362825" y="2066925"/>
            <a:ext cx="18859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 b="1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L4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7362825" y="2447925"/>
            <a:ext cx="188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智能优化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362825" y="2667000"/>
            <a:ext cx="1885950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数据驱动决策，智能预测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9448800" y="1685925"/>
            <a:ext cx="2133600" cy="2228850"/>
          </a:xfrm>
          <a:prstGeom prst="roundRect">
            <a:avLst>
              <a:gd name="adj" fmla="val 1786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9572625" y="1800225"/>
            <a:ext cx="18859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 b="1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L5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9572625" y="2181225"/>
            <a:ext cx="188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原生化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9572625" y="2400300"/>
            <a:ext cx="1885950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体系自主进化，业务重构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09600" y="4010025"/>
            <a:ext cx="10972800" cy="495300"/>
          </a:xfrm>
          <a:prstGeom prst="roundRect">
            <a:avLst>
              <a:gd name="adj" fmla="val 5769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00100" y="4181475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不可跨越规律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2228850" y="4133850"/>
            <a:ext cx="916305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L3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没做到就直接上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L4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，等于在流沙上盖楼；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每一级都有它必须补齐的前提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647700" y="4600575"/>
            <a:ext cx="3600450" cy="1000125"/>
          </a:xfrm>
          <a:prstGeom prst="roundRect">
            <a:avLst>
              <a:gd name="adj" fmla="val 285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94" name=""/>
          <p:cNvSpPr/>
          <p:nvPr/>
        </p:nvSpPr>
        <p:spPr>
          <a:xfrm rot="0" flipH="0" flipV="0">
            <a:off x="647700" y="4600575"/>
            <a:ext cx="3600450" cy="1000125"/>
          </a:xfrm>
          <a:custGeom>
            <a:pathLst>
              <a:path w="378" h="105">
                <a:moveTo>
                  <a:pt x="4" y="105"/>
                </a:moveTo>
                <a:cubicBezTo>
                  <a:pt x="3" y="105"/>
                  <a:pt x="2" y="105"/>
                  <a:pt x="1" y="104"/>
                </a:cubicBezTo>
                <a:cubicBezTo>
                  <a:pt x="0" y="103"/>
                  <a:pt x="0" y="103"/>
                  <a:pt x="0" y="10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800100" y="4905375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A4F24"/>
                </a:solidFill>
                <a:latin typeface="Microsoft YaHei"/>
                <a:ea typeface="Microsoft YaHei"/>
              </a:rPr>
              <a:t>典型症状：卡在</a:t>
            </a:r>
            <a:r>
              <a:rPr lang="en-US" sz="975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L1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00100" y="5105400"/>
            <a:ext cx="32575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系统建了不少，但部门之间还是靠邮件和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Excel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对账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4333875" y="4600575"/>
            <a:ext cx="3600450" cy="1000125"/>
          </a:xfrm>
          <a:prstGeom prst="roundRect">
            <a:avLst>
              <a:gd name="adj" fmla="val 285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98" name=""/>
          <p:cNvSpPr/>
          <p:nvPr/>
        </p:nvSpPr>
        <p:spPr>
          <a:xfrm rot="0" flipH="0" flipV="0">
            <a:off x="4333875" y="4600575"/>
            <a:ext cx="3600450" cy="1000125"/>
          </a:xfrm>
          <a:custGeom>
            <a:pathLst>
              <a:path w="378" h="105">
                <a:moveTo>
                  <a:pt x="4" y="105"/>
                </a:moveTo>
                <a:cubicBezTo>
                  <a:pt x="3" y="105"/>
                  <a:pt x="2" y="105"/>
                  <a:pt x="1" y="104"/>
                </a:cubicBezTo>
                <a:cubicBezTo>
                  <a:pt x="0" y="103"/>
                  <a:pt x="0" y="103"/>
                  <a:pt x="0" y="10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4486275" y="4905375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E0641E"/>
                </a:solidFill>
                <a:latin typeface="Microsoft YaHei"/>
                <a:ea typeface="Microsoft YaHei"/>
              </a:rPr>
              <a:t>典型症状：假</a:t>
            </a:r>
            <a:r>
              <a:rPr lang="en-US" sz="975" b="1">
                <a:solidFill>
                  <a:srgbClr val="E0641E"/>
                </a:solidFill>
                <a:latin typeface="Microsoft YaHei"/>
                <a:ea typeface="Microsoft YaHei"/>
              </a:rPr>
              <a:t>L3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486275" y="5105400"/>
            <a:ext cx="32575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接口打通了，但端到端流程还是人工在中间穿针引线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8020050" y="4600575"/>
            <a:ext cx="3600450" cy="1000125"/>
          </a:xfrm>
          <a:prstGeom prst="roundRect">
            <a:avLst>
              <a:gd name="adj" fmla="val 285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02" name=""/>
          <p:cNvSpPr/>
          <p:nvPr/>
        </p:nvSpPr>
        <p:spPr>
          <a:xfrm rot="0" flipH="0" flipV="0">
            <a:off x="8020050" y="4600575"/>
            <a:ext cx="3600450" cy="1000125"/>
          </a:xfrm>
          <a:custGeom>
            <a:pathLst>
              <a:path w="378" h="105">
                <a:moveTo>
                  <a:pt x="4" y="105"/>
                </a:moveTo>
                <a:cubicBezTo>
                  <a:pt x="3" y="105"/>
                  <a:pt x="2" y="105"/>
                  <a:pt x="1" y="104"/>
                </a:cubicBezTo>
                <a:cubicBezTo>
                  <a:pt x="0" y="103"/>
                  <a:pt x="0" y="103"/>
                  <a:pt x="0" y="10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172450" y="4905375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典型症状：跳</a:t>
            </a: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>L5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8172450" y="5105400"/>
            <a:ext cx="32575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数据底座和指标口径都没统一，就先上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应用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12 / 35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208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成熟度评估怎么用：&lt;span style={{ color: '#FA4F24' }}&gt;自检 → 短板 → 纳入后续规划&lt;/span&gt;&#10;        &lt;/Text&gt;&#10;        &lt;Text style={{ fontSize: 20, color: '#8A8F99', marginTop: 8 }}&gt;&#10;            华为的建议节奏是：前期先自检部分问题摸个底，转型推进一段后再做完整评估——不是一次性交作业&#10;        &lt;/Text&gt;&#10;    &lt;/Box&gt;&#10;    &lt;Box style={{ height: 1, background: '#E8E8E8' }} /&gt;&#10;&#10;    {/* B 区 */}&#10;    &lt;Box style={{ paddingTop: 16, paddingBottom: 12, height: 479, flexDirection: 'column', gap: 10 }}&gt;&#10;&#10;        {/* 四步流程 */}&#10;        &lt;Box style={{ height: 168, flexDirection: 'row', alignItems: 'stretch', gap: 0 }}&gt;&#10;            {[&#10;                { n: '①', t: '前期自检', d: '选模型中部分问题快速自检，快速了解当前水平', c: '#FA4F24', o: '快速成熟度自检表' },&#10;                { n: '②', t: '关键用户访谈', d: '面对面访谈，同步收集关键需求与转型期望', c: '#E0641E', o: '访谈纪要 + 打分表' },&#10;                { n: '③', t: '识别关键短板', d: '定位制约当前级别跃升的关键短板，不追求全面铺开', c: '#D2531A', o: '短板清单与优先级' },&#10;                { n: '④', t: '完整评估复评', d: '转型推进一段后做完整评估，检验成果并再校准', c: '#C43A17', o: '成熟度评估报告' },&#10;            ].map((x, i) =&gt; (&#10;                &lt;Box key={x.n} style={{ flex: 1, flexDirection: 'row', alignItems: 'stretch' }}&gt;&#10;                    &lt;Box style={{ flex: 1, background: '#F7F7F8', borderRadius: 3, padding: '13px 15px', flexDirection: 'column' }}&gt;&#10;                        &lt;Text style={{ fontSize: 21, fontWeight: 'bold', color: x.c }}&gt;{x.n}&lt;/Text&gt;&#10;                        &lt;Text style={{ fontSize: 16, fontWeight: 'bold', color: '#0F1423', marginTop: 6 }}&gt;{x.t}&lt;/Text&gt;&#10;                        &lt;Text style={{ fontSize: 12, color: '#3A4050', lineHeight: 1.45, marginTop: 7, flex: 1 }}&gt;{x.d}&lt;/Text&gt;&#10;                        &lt;Text style={{ fontSize: 11, color: '#C43A17' }}&gt;产出：{x.o}&lt;/Text&gt;&#10;                    &lt;/Box&gt;&#10;                    {i &lt; 3 &amp;&amp; (&#10;                        &lt;Box style={{ width: 24, alignItems: 'center', justifyContent: 'center' }}&gt;&#10;                            &lt;Text style={{ fontSize: 15, fontWeight: 'bold', color: '#FBA15C' }}&gt;→&lt;/Text&gt;&#10;                        &lt;/Box&gt;&#10;                    )}&#10;                &lt;/Box&gt;&#10;            ))}&#10;        &lt;/Box&gt;&#10;&#10;        {/* 纳入规划的落点 */}&#10;        &lt;Box style={{ flex: 1, flexDirection: 'row', gap: 10 }}&gt;&#10;            &lt;Box style={{ flex: 1, background: '#0F1423', borderRadius: 4, padding: '16px 20px', flexDirection: 'column' }}&gt;&#10;                &lt;Text style={{ fontSize: 15, fontWeight: 'bold', color: '#FBA15C' }}&gt;评估结论落到三阶的哪一步&lt;/Text&gt;&#10;                &lt;Box style={{ flex: 1, flexDirection: 'column', gap: 7, marginTop: 12 }}&gt;&#10;                    {[&#10;                        { s: '第一阶', d: '短板 → 愿景中要解决什么 → 描绘成什么样', c: '#FA4F24' },&#10;                        { s: '第二阶', d: '短板 → 架构哪个域要补 → 找到突破口', c: '#E0641E' },&#10;                        { s: '第三阶', d: '短板 → 变成哪条举措 → 进哪期路标', c: '#C43A17' },&#10;                    ].map((x) =&gt; (&#10;                        &lt;Box key={x.s} style={{ flex: 1, flexDirection: 'row', alignItems: 'center', background: 'rgba(255,255,255,0.06)', borderLeft: '3px solid ' + x.c, borderRadius: 2, padding: '0 12px', gap: 10 }}&gt;&#10;                            &lt;Text style={{ fontSize: 12.5, fontWeight: 'bold', color: x.c, width: 56 }}&gt;{x.s}&lt;/Text&gt;&#10;                            &lt;Text style={{ fontSize: 12.5, color: 'rgba(255,255,255,0.88)' }}&gt;{x.d}&lt;/Text&gt;&#10;                        &lt;/Box&gt;&#10;                    ))}&#10;                &lt;/Box&gt;&#10;            &lt;/Box&gt;&#10;            &lt;Box style={{ width: 468, background: '#FFF3EE', borderRadius: 4, borderLeft: '4px solid #FA4F24', padding: '16px 20px', flexDirection: 'column' }}&gt;&#10;                &lt;Text style={{ fontSize: 15, fontWeight: 'bold', color: '#C43A17' }}&gt;现场最常见的三种误用&lt;/Text&gt;&#10;                &lt;Box style={{ flex: 1, flexDirection: 'column', gap: 8, marginTop: 12 }}&gt;&#10;                    {[&#10;                        { k: '当成打分比赛', v: '各部门报高分以证明自己重要，结果短板被掩盖' },&#10;                        { k: '当成一次性交差', v: '评完就归档，没人拿它去定举措和排路标' },&#10;                        { k: '只评技术不评业务', v: '系统上线率很高，但客户体验一点没变' },&#10;                    ].map((x) =&gt; (&#10;                        &lt;Box key={x.k} style={{ flex: 1, flexDirection: 'column', justifyContent: 'center' }}&gt;&#10;                            &lt;Text style={{ fontSize: 12.5, fontWeight: 'bold', color: '#0F1423' }}&gt;{x.k}&lt;/Text&gt;&#10;                            &lt;Text style={{ fontSize: 11.5, color: '#5A6070', lineHeight: 1.35, marginTop: 3 }}&gt;{x.v}&lt;/Text&gt;&#10;                        &lt;/Box&gt;&#10;                    ))}&#10;                &lt;/Box&gt;&#10;            &lt;/Box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华为数字化转型之道&lt;/Text&gt;&#10;        &lt;/Box&gt;&#10;        &lt;Text style={{ fontSize: 14, color: '#8A8F99' }}&gt;13 / 3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成熟度评估怎么用：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自检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短板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纳入后续规划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华为的建议节奏是：前期先自检部分问题摸个底，转型推进一段后再做完整评估——不是一次性交作业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rot="0" flipH="0" flipV="0">
            <a:off x="609600" y="1304925"/>
            <a:ext cx="2514600" cy="1600200"/>
          </a:xfrm>
          <a:prstGeom prst="roundRect">
            <a:avLst>
              <a:gd name="adj" fmla="val 178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52475" y="1428750"/>
            <a:ext cx="2228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75" b="1">
                <a:solidFill>
                  <a:srgbClr val="FA4F24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752475" y="1733550"/>
            <a:ext cx="2228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前期自检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52475" y="1990725"/>
            <a:ext cx="22288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选模型中部分问题快速自检，快速了解当前水平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752475" y="2647950"/>
            <a:ext cx="2228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快速成熟度自检表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3171825" y="201930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FBA15C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3352800" y="1304925"/>
            <a:ext cx="2514600" cy="1600200"/>
          </a:xfrm>
          <a:prstGeom prst="roundRect">
            <a:avLst>
              <a:gd name="adj" fmla="val 178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3495675" y="1428750"/>
            <a:ext cx="2228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75" b="1">
                <a:solidFill>
                  <a:srgbClr val="E0641E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3495675" y="1733550"/>
            <a:ext cx="2228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关键用户访谈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3495675" y="1990725"/>
            <a:ext cx="2228850" cy="6572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面对面访谈，同步收集关键需求与转型期望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3495675" y="2647950"/>
            <a:ext cx="2228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访谈纪要</a:t>
            </a: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打分表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5915025" y="201930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FBA15C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6096000" y="1304925"/>
            <a:ext cx="2514600" cy="1600200"/>
          </a:xfrm>
          <a:prstGeom prst="roundRect">
            <a:avLst>
              <a:gd name="adj" fmla="val 178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238875" y="1428750"/>
            <a:ext cx="2228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75" b="1">
                <a:solidFill>
                  <a:srgbClr val="D2531A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238875" y="1733550"/>
            <a:ext cx="2228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识别关键短板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238875" y="1990725"/>
            <a:ext cx="22288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定位制约当前级别跃升的关键短板，不追求全面铺开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238875" y="2647950"/>
            <a:ext cx="2228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短板清单与优先级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8658225" y="201930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FBA15C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8839200" y="1304925"/>
            <a:ext cx="2743200" cy="1600200"/>
          </a:xfrm>
          <a:prstGeom prst="roundRect">
            <a:avLst>
              <a:gd name="adj" fmla="val 178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982075" y="1428750"/>
            <a:ext cx="2457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75" b="1">
                <a:solidFill>
                  <a:srgbClr val="C43A17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982075" y="1733550"/>
            <a:ext cx="2457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完整评估复评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8982075" y="1990725"/>
            <a:ext cx="2457450" cy="6572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转型推进一段后做完整评估，检验成果并再校准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8982075" y="2647950"/>
            <a:ext cx="2457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成熟度评估报告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609600" y="3000375"/>
            <a:ext cx="6419850" cy="2600325"/>
          </a:xfrm>
          <a:prstGeom prst="roundRect">
            <a:avLst>
              <a:gd name="adj" fmla="val 1465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800100" y="3152775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评估结论落到三阶的哪一步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828675" y="3438525"/>
            <a:ext cx="6038850" cy="628650"/>
          </a:xfrm>
          <a:prstGeom prst="roundRect">
            <a:avLst>
              <a:gd name="adj" fmla="val 3030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239" name=""/>
          <p:cNvSpPr/>
          <p:nvPr/>
        </p:nvSpPr>
        <p:spPr>
          <a:xfrm rot="0" flipH="0" flipV="0">
            <a:off x="828675" y="3438525"/>
            <a:ext cx="6038850" cy="628650"/>
          </a:xfrm>
          <a:custGeom>
            <a:pathLst>
              <a:path w="634" h="66">
                <a:moveTo>
                  <a:pt x="3" y="66"/>
                </a:moveTo>
                <a:cubicBezTo>
                  <a:pt x="2" y="66"/>
                  <a:pt x="1" y="66"/>
                  <a:pt x="1" y="66"/>
                </a:cubicBezTo>
                <a:cubicBezTo>
                  <a:pt x="0" y="65"/>
                  <a:pt x="0" y="65"/>
                  <a:pt x="0" y="64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lnTo>
                  <a:pt x="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942975" y="3686175"/>
            <a:ext cx="533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A4F24"/>
                </a:solidFill>
                <a:latin typeface="Microsoft YaHei"/>
                <a:ea typeface="Microsoft YaHei"/>
              </a:rPr>
              <a:t>第一阶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1571625" y="3686175"/>
            <a:ext cx="2286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短板</a:t>
            </a:r>
            <a:r>
              <a:rPr lang="en-US" sz="938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愿景中要解决什么</a:t>
            </a:r>
            <a:r>
              <a:rPr lang="en-US" sz="938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描绘成什么样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828675" y="4133850"/>
            <a:ext cx="6038850" cy="619125"/>
          </a:xfrm>
          <a:prstGeom prst="roundRect">
            <a:avLst>
              <a:gd name="adj" fmla="val 3077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243" name=""/>
          <p:cNvSpPr/>
          <p:nvPr/>
        </p:nvSpPr>
        <p:spPr>
          <a:xfrm rot="0" flipH="0" flipV="0">
            <a:off x="828675" y="4133850"/>
            <a:ext cx="6038850" cy="619125"/>
          </a:xfrm>
          <a:custGeom>
            <a:pathLst>
              <a:path w="634" h="65">
                <a:moveTo>
                  <a:pt x="3" y="65"/>
                </a:moveTo>
                <a:cubicBezTo>
                  <a:pt x="2" y="65"/>
                  <a:pt x="1" y="65"/>
                  <a:pt x="1" y="65"/>
                </a:cubicBezTo>
                <a:cubicBezTo>
                  <a:pt x="0" y="64"/>
                  <a:pt x="0" y="64"/>
                  <a:pt x="0" y="63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lnTo>
                  <a:pt x="3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942975" y="4371975"/>
            <a:ext cx="533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E0641E"/>
                </a:solidFill>
                <a:latin typeface="Microsoft YaHei"/>
                <a:ea typeface="Microsoft YaHei"/>
              </a:rPr>
              <a:t>第二阶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1571625" y="4371975"/>
            <a:ext cx="2047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短板</a:t>
            </a:r>
            <a:r>
              <a:rPr lang="en-US" sz="938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架构哪个域要补</a:t>
            </a:r>
            <a:r>
              <a:rPr lang="en-US" sz="938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找到突破口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828675" y="4819650"/>
            <a:ext cx="6038850" cy="628650"/>
          </a:xfrm>
          <a:prstGeom prst="roundRect">
            <a:avLst>
              <a:gd name="adj" fmla="val 3030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247" name=""/>
          <p:cNvSpPr/>
          <p:nvPr/>
        </p:nvSpPr>
        <p:spPr>
          <a:xfrm rot="0" flipH="0" flipV="0">
            <a:off x="828675" y="4819650"/>
            <a:ext cx="6038850" cy="628650"/>
          </a:xfrm>
          <a:custGeom>
            <a:pathLst>
              <a:path w="634" h="66">
                <a:moveTo>
                  <a:pt x="3" y="66"/>
                </a:moveTo>
                <a:cubicBezTo>
                  <a:pt x="2" y="66"/>
                  <a:pt x="1" y="66"/>
                  <a:pt x="1" y="66"/>
                </a:cubicBezTo>
                <a:cubicBezTo>
                  <a:pt x="0" y="65"/>
                  <a:pt x="0" y="65"/>
                  <a:pt x="0" y="64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lnTo>
                  <a:pt x="3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942975" y="5067300"/>
            <a:ext cx="533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第三阶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1571625" y="5067300"/>
            <a:ext cx="1933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短板</a:t>
            </a:r>
            <a:r>
              <a:rPr lang="en-US" sz="938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变成哪条举措</a:t>
            </a:r>
            <a:r>
              <a:rPr lang="en-US" sz="938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进哪期路标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7162800" y="3000375"/>
            <a:ext cx="4419600" cy="2600325"/>
          </a:xfrm>
          <a:prstGeom prst="roundRect">
            <a:avLst>
              <a:gd name="adj" fmla="val 1465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51" name=""/>
          <p:cNvSpPr/>
          <p:nvPr/>
        </p:nvSpPr>
        <p:spPr>
          <a:xfrm rot="0" flipH="0" flipV="0">
            <a:off x="7162800" y="3000375"/>
            <a:ext cx="4419600" cy="2600325"/>
          </a:xfrm>
          <a:custGeom>
            <a:pathLst>
              <a:path w="464" h="273">
                <a:moveTo>
                  <a:pt x="4" y="273"/>
                </a:moveTo>
                <a:cubicBezTo>
                  <a:pt x="2" y="273"/>
                  <a:pt x="0" y="271"/>
                  <a:pt x="0" y="26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7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7353300" y="3152775"/>
            <a:ext cx="4038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现场最常见的三种误用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7353300" y="3571875"/>
            <a:ext cx="403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当成打分比赛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7353300" y="3743325"/>
            <a:ext cx="403860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各部门报高分以证明自己重要，结果短板被掩盖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7353300" y="4267200"/>
            <a:ext cx="403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当成一次性交差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353300" y="4438650"/>
            <a:ext cx="403860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评完就归档，没人拿它去定举措和排路标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7353300" y="4962525"/>
            <a:ext cx="403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只评技术不评业务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353300" y="5133975"/>
            <a:ext cx="403860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系统上线率很高，但客户体验一点没变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13 / 35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262" name="" descr="&lt;Slide style={{ width: 1280, height: 720, background: '#0F1423' }}&gt;&#10;  &lt;Box style={{ position: 'absolute', left: 0, top: 0, width: 1280, height: 720, background: 'linear-gradient(135deg, #0F1423 0%, #2A1810 100%)' }} /&gt;&#10;  &lt;Box style={{ position: 'absolute', right: 0, top: 0, width: 560, height: 720, background: 'linear-gradient(200deg, rgba(250,79,36,0.28) 0%, rgba(250,79,36,0) 70%)' }} /&gt;&#10;&#10;  &lt;Box style={{ position: 'absolute', right: 70, top: 110 }}&gt;&#10;    &lt;Text style={{ fontSize: 300, fontWeight: 'bold', color: 'rgba(255,255,255,0.08)', lineHeight: 1.0 }}&gt;02&lt;/Text&gt;&#10;  &lt;/Box&gt;&#10;&#10;  &lt;Box style={{ position: 'absolute', left: 88, top: 240, width: 760, flexDirection: 'column' }}&gt;&#10;    &lt;Text style={{ fontSize: 15, color: 'rgba(255,255,255,0.5)', letterSpacing: 3 }}&gt;PART 02&lt;/Text&gt;&#10;    &lt;Box style={{ width: 72, height: 5, background: '#FA4F24', marginTop: 22 }} /&gt;&#10;    &lt;Text style={{ fontSize: 56, fontWeight: 'bold', color: '#FFFFFF', marginTop: 28, lineHeight: 1.15 }}&gt;三阶十二步&lt;/Text&gt;&#10;    &lt;Text style={{ fontSize: 17, color: 'rgba(255,255,255,0.62)', letterSpacing: 2, marginTop: 20 }}&gt;THE THREE STAGES&lt;/Text&gt;&#10;    &lt;Text style={{ fontSize: 19, color: 'rgba(255,255,255,0.85)', marginTop: 26, lineHeight: 1.6 }}&gt;描绘愿景、设计蓝图、规划举措——每一阶讲清做什么、交什么、别跳什么&lt;/Text&gt;&#10;  &lt;/Box&gt;&#10;&#10;  &lt;Box style={{ position: 'absolute', left: 88, top: 520, flexDirection: 'row', gap: 34 }}&gt;&#10;    {[&#10;      { k: '第一阶', v: '以终为始，描绘愿景' },&#10;      { k: '第二阶', v: '统一认识，设计架构蓝图' },&#10;      { k: '第三阶', v: '把握节奏，规划举措和项目' }&#10;    ].map((x) =&gt; (&#10;      &lt;Box key={x.k} style={{ opacity: 0.72 }}&gt;&#10;        &lt;Text style={{ fontSize: 12.5, color: '#FBA15C', fontWeight: 'bold' }}&gt;{x.k}&lt;/Text&gt;&#10;        &lt;Text style={{ fontSize: 12, color: 'rgba(255,255,255,0.8)', marginTop: 4 }}&gt;{x.v}&lt;/Text&gt;&#10;      &lt;/Box&gt;&#10;    ))}&#10;  &lt;/Box&gt;&#10;&#10;  &lt;Box style={{ position: 'absolute', right: 88, bottom: 64, flexDirection: 'row', alignItems: 'center', gap: 12 }}&gt;&#10;    &lt;Box style={{ width: 14, height: 14, background: '#FA4F24' }} /&gt;&#10;    &lt;Text style={{ fontSize: 14, color: 'rgba(255,255,255,0.5)' }}&gt;硕磐机密 · 华为数字化转型之道&lt;/Text&gt;&#10;    &lt;Text style={{ fontSize: 14, color: 'rgba(255,255,255,0.5)', marginLeft: 12 }}&gt;14 / 35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838200" y="2286000"/>
            <a:ext cx="723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02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838200" y="26670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838200" y="2981325"/>
            <a:ext cx="72390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三阶十二步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838200" y="3914775"/>
            <a:ext cx="723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THE THREE STAGES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838200" y="4362450"/>
            <a:ext cx="72390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描绘愿景、设计蓝图、规划举措——每一阶讲清做什么、交什么、别跳什么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38200" y="4953000"/>
            <a:ext cx="102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>第一阶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838200" y="5133975"/>
            <a:ext cx="102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以终为始，描绘愿景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2190750" y="4953000"/>
            <a:ext cx="1257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>第二阶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2190750" y="5133975"/>
            <a:ext cx="1257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统一认识，设计架构蓝图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3771900" y="4953000"/>
            <a:ext cx="1371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>第三阶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3771900" y="5133975"/>
            <a:ext cx="1371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把握节奏，规划举措和项目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8572500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8820150" y="60864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14 / 35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81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第一阶：以终为始，&lt;span style={{ color: '#FA4F24' }}&gt;描绘愿景&lt;/span&gt;（步骤 1–5）&#10;        &lt;/Text&gt;&#10;        &lt;Text style={{ fontSize: 20, color: '#8A8F99', marginTop: 8 }}&gt;&#10;            这一阶不碰任何系统，产出的是方向——方向错了，后面九步做得越认真偏得越远&#10;        &lt;/Text&gt;&#10;    &lt;/Box&gt;&#10;    &lt;Box style={{ height: 1, background: '#E8E8E8' }} /&gt;&#10;&#10;    {/* B 区 */}&#10;    &lt;Box style={{ paddingTop: 16, paddingBottom: 12, height: 479, flexDirection: 'column', gap: 10 }}&gt;&#10;&#10;        {/* 五步横条 */}&#10;        &lt;Box style={{ height: 190, flexDirection: 'row', gap: 8 }}&gt;&#10;            {[&#10;                { n: '01', t: '理解企业战略诉求', d: '业务高层访谈，拿到战略与期望', o: '访谈纪要 + 战略解码', c: '#FA4F24' },&#10;                { n: '02', t: '5「看」', d: '战略 / 客户 / 行业 / 自己 / 技术', o: '五看扫描 + 机会清单', c: '#FA4F24' },&#10;                { n: '03', t: '成熟度评估', d: '关键业务用户访谈 + 评估模型', o: '访谈纪要 + 打分表', c: '#FA4F24' },&#10;                { n: '04', t: '现状和差距分析', d: '对标业界，找业务与 IT 的差', o: '差距清单', c: '#FA4F24' },&#10;                { n: '05', t: '描绘数字化愿景', d: '不拘泥于现状，有前瞻性', o: '愿景蓝图', c: '#FA4F24', main: true },&#10;            ].map((x) =&gt; (&#10;                &lt;Box key={x.n} style={{ flex: 1, background: '#F7F7F8', borderRadius: 4, padding: '0 13px', flexDirection: 'column' }}&gt;&#10;                    &lt;Box style={{ flexDirection: 'row', alignItems: 'center', gap: 7, marginTop: 12 }}&gt;&#10;                        &lt;Text style={{ fontSize: 20, fontWeight: 'bold', color: x.c }}&gt;{x.n}&lt;/Text&gt;&#10;                        {x.main &amp;&amp; (&#10;                            &lt;Box style={{ height: 16, background: x.c, borderRadius: 2, padding: '0 6px', flexDirection: 'row', alignItems: 'center' }}&gt;&#10;                                &lt;Text style={{ fontSize: 10, color: '#FFFFFF' }}&gt;主线&lt;/Text&gt;&#10;                            &lt;/Box&gt;&#10;                        )}&#10;                    &lt;/Box&gt;&#10;                    &lt;Text style={{ fontSize: 15.5, fontWeight: 'bold', color: '#0F1423', marginTop: 10, lineHeight: 1.3 }}&gt;{x.t}&lt;/Text&gt;&#10;                    &lt;Text style={{ fontSize: 12, color: '#3A4050', lineHeight: 1.45, marginTop: 9, flex: 1 }}&gt;{x.d}&lt;/Text&gt;&#10;                    &lt;Box style={{ height: 38, background: x.c, borderRadius: 3, marginBottom: 10, padding: '0 9px', flexDirection: 'column', justifyContent: 'center' }}&gt;&#10;                        &lt;Text style={{ fontSize: 10.5, color: 'rgba(255,255,255,0.92)', lineHeight: 1.3 }}&gt;{x.o}&lt;/Text&gt;&#10;                    &lt;/Box&gt;&#10;                &lt;/Box&gt;&#10;            ))}&#10;        &lt;/Box&gt;&#10;&#10;        {/* 中：华为愿景本体 */}&#10;        &lt;Box style={{ height: 168, flexDirection: 'row', gap: 10 }}&gt;&#10;            &lt;Box style={{ flex: 1, background: '#0F1423', borderRadius: 4, padding: '15px 20px', flexDirection: 'column' }}&gt;&#10;                &lt;Text style={{ fontSize: 14, fontWeight: 'bold', color: '#FBA15C' }}&gt;华为自己的愿景是怎么写的（原书 3.1.3）&lt;/Text&gt;&#10;                &lt;Box style={{ flex: 1, flexDirection: 'row', gap: 10, marginTop: 12 }}&gt;&#10;                    {[&#10;                        { t: '面向 5 类用户实现 ROADS 体验', d: '不是给内部人做系统，是给五类不同用户各自「好用的」体验' },&#10;                        { t: '大平台支撑精兵作战', d: '平台能力统一建，作战单元小而精——这是三个平台存在的理由' },&#10;                    ].map((x) =&gt; (&#10;                        &lt;Box key={x.t} style={{ flex: 1, background: 'rgba(255,255,255,0.07)', borderLeft: '3px solid #FA4F24', borderRadius: 2, padding: '0 14px', flexDirection: 'column', justifyContent: 'center' }}&gt;&#10;                            &lt;Text style={{ fontSize: 15.5, fontWeight: 'bold', color: '#FFFFFF', lineHeight: 1.3 }}&gt;{x.t}&lt;/Text&gt;&#10;                            &lt;Text style={{ fontSize: 12, color: 'rgba(255,255,255,0.78)', lineHeight: 1.45, marginTop: 7 }}&gt;{x.d}&lt;/Text&gt;&#10;                        &lt;/Box&gt;&#10;                    ))}&#10;                &lt;/Box&gt;&#10;            &lt;/Box&gt;&#10;            &lt;Box style={{ width: 392, background: '#FFF3EE', borderRadius: 4, borderLeft: '4px solid #FA4F24', padding: '15px 18px', flexDirection: 'column' }}&gt;&#10;                &lt;Text style={{ fontSize: 14, fontWeight: 'bold', color: '#C43A17' }}&gt;这一阶最常见的三个坑&lt;/Text&gt;&#10;                &lt;Box style={{ flex: 1, flexDirection: 'column', gap: 6, marginTop: 10 }}&gt;&#10;                    {[&#10;                        '愿景写成口号（「数字化赋能高质量发展」），没有一句能被验证',&#10;                        '只访谈高管不访谈一线，高管说想做什么，一线说实际卡在哪',&#10;                        '把现状当起点——华为要求「不拘泥于现状」，这是愿景与规划的分水岭',&#10;                    ].map((x, i) =&gt; (&#10;                        &lt;Box key={x} style={{ flexDirection: 'row', alignItems: 'flex-start', gap: 7, flex: 1 }}&gt;&#10;                            &lt;Text style={{ fontSize: 11, color: '#FA4F24', fontWeight: 'bold' }}&gt;{'0' + (i + 1)}&lt;/Text&gt;&#10;                            &lt;Text style={{ fontSize: 11.5, color: '#3A4050', lineHeight: 1.35, flex: 1 }}&gt;{x}&lt;/Text&gt;&#10;                        &lt;/Box&gt;&#10;                    ))}&#10;                &lt;/Box&gt;&#10;            &lt;/Box&gt;&#10;        &lt;/Box&gt;&#10;&#10;        {/* 底部铁律 */}&#10;        &lt;Box style={{ height: 42, background: '#0F1423', borderRadius: 3, flexDirection: 'row', alignItems: 'center', padding: '0 20px', gap: 16 }}&gt;&#10;            &lt;Text style={{ fontSize: 13.5, fontWeight: 'bold', color: '#FBA15C' }}&gt;第一阶铁律&lt;/Text&gt;&#10;            &lt;Text style={{ fontSize: 15.5, color: '#FFFFFF', flex: 1 }}&gt;先有愿景，后有架构；&lt;tspan style={{ color: '#FA4F24' }}&gt;跳到架构设计去，前五步就是走过场&lt;/tspan&gt;&lt;/Text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华为数字化转型之道&lt;/Text&gt;&#10;        &lt;/Box&gt;&#10;        &lt;Text style={{ fontSize: 14, color: '#8A8F99' }}&gt;15 / 3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第一阶：以终为始，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描绘愿景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（步骤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1–5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这一阶不碰任何系统，产出的是方向——方向错了，后面九步做得越认真偏得越远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609600" y="1304925"/>
            <a:ext cx="2133600" cy="1809750"/>
          </a:xfrm>
          <a:prstGeom prst="roundRect">
            <a:avLst>
              <a:gd name="adj" fmla="val 210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733425" y="1419225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733425" y="1743075"/>
            <a:ext cx="188595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63" b="1">
                <a:solidFill>
                  <a:srgbClr val="0F1423"/>
                </a:solidFill>
                <a:latin typeface="Microsoft YaHei"/>
                <a:ea typeface="Microsoft YaHei"/>
              </a:rPr>
              <a:t>理解企业战略诉求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733425" y="2066925"/>
            <a:ext cx="1885950" cy="590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业务高层访谈，拿到战略与期望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733425" y="2657475"/>
            <a:ext cx="1885950" cy="361950"/>
          </a:xfrm>
          <a:prstGeom prst="roundRect">
            <a:avLst>
              <a:gd name="adj" fmla="val 7895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819150" y="276225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88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访谈纪要</a:t>
            </a:r>
            <a:r>
              <a:rPr lang="en-US" sz="788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88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战略解码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2819400" y="1304925"/>
            <a:ext cx="2133600" cy="1809750"/>
          </a:xfrm>
          <a:prstGeom prst="roundRect">
            <a:avLst>
              <a:gd name="adj" fmla="val 210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2943225" y="1419225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2943225" y="1743075"/>
            <a:ext cx="188595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163" b="1">
                <a:solidFill>
                  <a:srgbClr val="0F1423"/>
                </a:solidFill>
                <a:latin typeface="Microsoft YaHei"/>
                <a:ea typeface="Microsoft YaHei"/>
              </a:rPr>
              <a:t>5</a:t>
            </a:r>
            <a:r>
              <a:rPr lang="zh-CN" sz="1163" b="1">
                <a:solidFill>
                  <a:srgbClr val="0F1423"/>
                </a:solidFill>
                <a:latin typeface="Microsoft YaHei"/>
                <a:ea typeface="Microsoft YaHei"/>
              </a:rPr>
              <a:t>「看」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2943225" y="2066925"/>
            <a:ext cx="1885950" cy="590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战略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客户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行业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自己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技术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2943225" y="2657475"/>
            <a:ext cx="1885950" cy="361950"/>
          </a:xfrm>
          <a:prstGeom prst="roundRect">
            <a:avLst>
              <a:gd name="adj" fmla="val 7895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3028950" y="276225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88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五看扫描</a:t>
            </a:r>
            <a:r>
              <a:rPr lang="en-US" sz="788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88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机会清单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5029200" y="1304925"/>
            <a:ext cx="2133600" cy="1809750"/>
          </a:xfrm>
          <a:prstGeom prst="roundRect">
            <a:avLst>
              <a:gd name="adj" fmla="val 210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5153025" y="1419225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5153025" y="1743075"/>
            <a:ext cx="188595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63" b="1">
                <a:solidFill>
                  <a:srgbClr val="0F1423"/>
                </a:solidFill>
                <a:latin typeface="Microsoft YaHei"/>
                <a:ea typeface="Microsoft YaHei"/>
              </a:rPr>
              <a:t>成熟度评估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5153025" y="2066925"/>
            <a:ext cx="1885950" cy="590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关键业务用户访谈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评估模型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5153025" y="2657475"/>
            <a:ext cx="1885950" cy="361950"/>
          </a:xfrm>
          <a:prstGeom prst="roundRect">
            <a:avLst>
              <a:gd name="adj" fmla="val 7895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5238750" y="276225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88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访谈纪要</a:t>
            </a:r>
            <a:r>
              <a:rPr lang="en-US" sz="788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88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打分表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7239000" y="1304925"/>
            <a:ext cx="2133600" cy="1809750"/>
          </a:xfrm>
          <a:prstGeom prst="roundRect">
            <a:avLst>
              <a:gd name="adj" fmla="val 210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7362825" y="1419225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7362825" y="1743075"/>
            <a:ext cx="188595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63" b="1">
                <a:solidFill>
                  <a:srgbClr val="0F1423"/>
                </a:solidFill>
                <a:latin typeface="Microsoft YaHei"/>
                <a:ea typeface="Microsoft YaHei"/>
              </a:rPr>
              <a:t>现状和差距分析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7362825" y="2066925"/>
            <a:ext cx="1885950" cy="590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对标业界，找业务与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的差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7362825" y="2657475"/>
            <a:ext cx="1885950" cy="361950"/>
          </a:xfrm>
          <a:prstGeom prst="roundRect">
            <a:avLst>
              <a:gd name="adj" fmla="val 7895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7448550" y="276225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88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差距清单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9448800" y="1304925"/>
            <a:ext cx="2133600" cy="1809750"/>
          </a:xfrm>
          <a:prstGeom prst="roundRect">
            <a:avLst>
              <a:gd name="adj" fmla="val 210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9572625" y="1419225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A4F2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9877425" y="1457325"/>
            <a:ext cx="304800" cy="152400"/>
          </a:xfrm>
          <a:prstGeom prst="roundRect">
            <a:avLst>
              <a:gd name="adj" fmla="val 125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9934575" y="1476375"/>
            <a:ext cx="190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/>
                </a:solidFill>
                <a:latin typeface="Microsoft YaHei"/>
                <a:ea typeface="Microsoft YaHei"/>
              </a:rPr>
              <a:t>主线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9572625" y="1743075"/>
            <a:ext cx="188595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63" b="1">
                <a:solidFill>
                  <a:srgbClr val="0F1423"/>
                </a:solidFill>
                <a:latin typeface="Microsoft YaHei"/>
                <a:ea typeface="Microsoft YaHei"/>
              </a:rPr>
              <a:t>描绘数字化愿景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9572625" y="2066925"/>
            <a:ext cx="1885950" cy="590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不拘泥于现状，有前瞻性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9572625" y="2657475"/>
            <a:ext cx="1885950" cy="361950"/>
          </a:xfrm>
          <a:prstGeom prst="roundRect">
            <a:avLst>
              <a:gd name="adj" fmla="val 7895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9658350" y="276225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88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愿景蓝图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609600" y="3209925"/>
            <a:ext cx="7143750" cy="1600200"/>
          </a:xfrm>
          <a:prstGeom prst="roundRect">
            <a:avLst>
              <a:gd name="adj" fmla="val 238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800100" y="3352800"/>
            <a:ext cx="6762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华为自己的愿景是怎么写的（原书</a:t>
            </a:r>
            <a:r>
              <a:rPr lang="en-US" sz="1050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 3.1.3</a:t>
            </a: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828675" y="3629025"/>
            <a:ext cx="3333750" cy="1038225"/>
          </a:xfrm>
          <a:prstGeom prst="roundRect">
            <a:avLst>
              <a:gd name="adj" fmla="val 183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321" name=""/>
          <p:cNvSpPr/>
          <p:nvPr/>
        </p:nvSpPr>
        <p:spPr>
          <a:xfrm rot="0" flipH="0" flipV="0">
            <a:off x="828675" y="3629025"/>
            <a:ext cx="3333750" cy="1038225"/>
          </a:xfrm>
          <a:custGeom>
            <a:pathLst>
              <a:path w="350" h="109">
                <a:moveTo>
                  <a:pt x="3" y="109"/>
                </a:moveTo>
                <a:cubicBezTo>
                  <a:pt x="2" y="109"/>
                  <a:pt x="1" y="109"/>
                  <a:pt x="1" y="109"/>
                </a:cubicBezTo>
                <a:cubicBezTo>
                  <a:pt x="0" y="108"/>
                  <a:pt x="0" y="108"/>
                  <a:pt x="0" y="107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lnTo>
                  <a:pt x="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962025" y="3800475"/>
            <a:ext cx="3038475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63" b="1">
                <a:solidFill>
                  <a:srgbClr val="FFFFFF"/>
                </a:solidFill>
                <a:latin typeface="Microsoft YaHei"/>
                <a:ea typeface="Microsoft YaHei"/>
              </a:rPr>
              <a:t>面向</a:t>
            </a:r>
            <a:r>
              <a:rPr lang="en-US" sz="1163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163" b="1">
                <a:solidFill>
                  <a:srgbClr val="FFFFFF"/>
                </a:solidFill>
                <a:latin typeface="Microsoft YaHei"/>
                <a:ea typeface="Microsoft YaHei"/>
              </a:rPr>
              <a:t>类用户实现</a:t>
            </a:r>
            <a:r>
              <a:rPr lang="en-US" sz="1163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ROADS </a:t>
            </a:r>
            <a:r>
              <a:rPr lang="zh-CN" sz="1163" b="1">
                <a:solidFill>
                  <a:srgbClr val="FFFFFF"/>
                </a:solidFill>
                <a:latin typeface="Microsoft YaHei"/>
                <a:ea typeface="Microsoft YaHei"/>
              </a:rPr>
              <a:t>体验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962025" y="4105275"/>
            <a:ext cx="3038475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不是给内部人做系统，是给五类不同用户各自「好用的」体验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4257675" y="3629025"/>
            <a:ext cx="3333750" cy="1038225"/>
          </a:xfrm>
          <a:prstGeom prst="roundRect">
            <a:avLst>
              <a:gd name="adj" fmla="val 183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325" name=""/>
          <p:cNvSpPr/>
          <p:nvPr/>
        </p:nvSpPr>
        <p:spPr>
          <a:xfrm rot="0" flipH="0" flipV="0">
            <a:off x="4257675" y="3629025"/>
            <a:ext cx="3333750" cy="1038225"/>
          </a:xfrm>
          <a:custGeom>
            <a:pathLst>
              <a:path w="350" h="109">
                <a:moveTo>
                  <a:pt x="3" y="109"/>
                </a:moveTo>
                <a:cubicBezTo>
                  <a:pt x="2" y="109"/>
                  <a:pt x="1" y="109"/>
                  <a:pt x="1" y="109"/>
                </a:cubicBezTo>
                <a:cubicBezTo>
                  <a:pt x="0" y="108"/>
                  <a:pt x="0" y="108"/>
                  <a:pt x="0" y="107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lnTo>
                  <a:pt x="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4391025" y="3800475"/>
            <a:ext cx="3038475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63" b="1">
                <a:solidFill>
                  <a:srgbClr val="FFFFFF"/>
                </a:solidFill>
                <a:latin typeface="Microsoft YaHei"/>
                <a:ea typeface="Microsoft YaHei"/>
              </a:rPr>
              <a:t>大平台支撑精兵作战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4391025" y="4105275"/>
            <a:ext cx="3038475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平台能力统一建，作战单元小而精——这是三个平台存在的理由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7886700" y="3209925"/>
            <a:ext cx="3695700" cy="1600200"/>
          </a:xfrm>
          <a:prstGeom prst="roundRect">
            <a:avLst>
              <a:gd name="adj" fmla="val 238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29" name=""/>
          <p:cNvSpPr/>
          <p:nvPr/>
        </p:nvSpPr>
        <p:spPr>
          <a:xfrm rot="0" flipH="0" flipV="0">
            <a:off x="7886700" y="3209925"/>
            <a:ext cx="3695700" cy="1600200"/>
          </a:xfrm>
          <a:custGeom>
            <a:pathLst>
              <a:path w="388" h="168">
                <a:moveTo>
                  <a:pt x="4" y="168"/>
                </a:moveTo>
                <a:cubicBezTo>
                  <a:pt x="2" y="168"/>
                  <a:pt x="0" y="166"/>
                  <a:pt x="0" y="16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6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8058150" y="3352800"/>
            <a:ext cx="335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这一阶最常见的三个坑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8058150" y="3609975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8258175" y="3609975"/>
            <a:ext cx="315277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愿景写成口号（「数字化赋能高质量发展」），没有一句能被验证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8058150" y="3924300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8258175" y="3924300"/>
            <a:ext cx="315277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只访谈高管不访谈一线，高管说想做什么，一线说实际卡在哪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8058150" y="4229100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8258175" y="4229100"/>
            <a:ext cx="3152775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把现状当起点——华为要求「不拘泥于现状」，这是愿景与规划的分水岭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609600" y="4905375"/>
            <a:ext cx="10972800" cy="40005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800100" y="5029200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第一阶铁律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1600200" y="5019675"/>
            <a:ext cx="97917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>
                <a:solidFill>
                  <a:srgbClr val="FFFFFF"/>
                </a:solidFill>
                <a:latin typeface="Microsoft YaHei"/>
                <a:ea typeface="Microsoft YaHei"/>
              </a:rPr>
              <a:t>先有愿景，后有架构；</a:t>
            </a:r>
            <a:r>
              <a:rPr lang="zh-CN" sz="1163">
                <a:solidFill>
                  <a:srgbClr val="FFFFFF"/>
                </a:solidFill>
                <a:latin typeface="Microsoft YaHei"/>
                <a:ea typeface="Microsoft YaHei"/>
              </a:rPr>
              <a:t>跳到架构设计去，前五步就是走过场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15 / 35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343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步骤 1–2：&lt;span style={{ color: '#FA4F24' }}&gt;战略解码&lt;/span&gt;与 5「看」&#10;        &lt;/Text&gt;&#10;        &lt;Text style={{ fontSize: 20, color: '#8A8F99', marginTop: 8 }}&gt;&#10;            业务战略是数字化转型的龙头——不先解码战略，五看看到的就只是现象，不是机会&#10;        &lt;/Text&gt;&#10;    &lt;/Box&gt;&#10;    &lt;Box style={{ height: 1, background: '#E8E8E8' }} /&gt;&#10;&#10;    {/* B 区 */}&#10;    &lt;Box style={{ paddingTop: 14, paddingBottom: 12, height: 479, flexDirection: 'column', gap: 9 }}&gt;&#10;&#10;        {/* 上：步骤1 */}&#10;        &lt;Box style={{ height: 116, flexDirection: 'row', gap: 10 }}&gt;&#10;            &lt;Box style={{ width: 74, background: '#FA4F24', borderRadius: 3, alignItems: 'center', justifyContent: 'center' }}&gt;&#10;                &lt;Text style={{ fontSize: 22, fontWeight: 'bold', color: '#FFFFFF' }}&gt;01&lt;/Text&gt;&#10;            &lt;/Box&gt;&#10;            &lt;Box style={{ flex: 1, background: '#F7F7F8', borderRadius: 3, padding: '12px 18px', flexDirection: 'column', justifyContent: 'center' }}&gt;&#10;                &lt;Text style={{ fontSize: 17, fontWeight: 'bold', color: '#0F1423' }}&gt;理解企业的战略诉求&lt;/Text&gt;&#10;                &lt;Text style={{ fontSize: 13, color: '#3A4050', lineHeight: 1.45, marginTop: 8 }}&gt;进行业务高层访谈，获取他们对业务战略和目标的描述，以及对数字化转型的期望&lt;/Text&gt;&#10;            &lt;/Box&gt;&#10;            &lt;Box style={{ width: 452, background: '#FFF3EE', borderRadius: 3, borderLeft: '4px solid #FBA15C', padding: '12px 18px', flexDirection: 'column', justifyContent: 'center' }}&gt;&#10;                &lt;Text style={{ fontSize: 13, fontWeight: 'bold', color: '#C43A17' }}&gt;进行业务战略解码&lt;/Text&gt;&#10;                &lt;Text style={{ fontSize: 12.5, color: '#3A4050', lineHeight: 1.45, marginTop: 6 }}&gt;&#10;                    识别战略关注要点并做专项分析：如何用数字技术支撑战略目标达成、如何用数字技术构建核心竞争力&#10;                &lt;/Text&gt;&#10;            &lt;/Box&gt;&#10;        &lt;/Box&gt;&#10;&#10;        {/* 中：5 看 */}&#10;        &lt;Box style={{ flex: 1, flexDirection: 'column' }}&gt;&#10;            &lt;Box style={{ flexDirection: 'row', alignItems: 'center', gap: 12, marginBottom: 8 }}&gt;&#10;                &lt;Box style={{ width: 74, height: 28, background: '#FA4F24', borderRadius: 3, flexDirection: 'row', alignItems: 'center', justifyContent: 'center' }}&gt;&#10;                    &lt;Text style={{ fontSize: 14, fontWeight: 'bold', color: '#FFFFFF' }}&gt;02&lt;/Text&gt;&#10;                &lt;/Box&gt;&#10;                &lt;Text style={{ fontSize: 16, fontWeight: 'bold', color: '#0F1423' }}&gt;5「看」&lt;/Text&gt;&#10;                &lt;Text style={{ fontSize: 13, color: '#8A8F99' }}&gt;五看的顺序不是随意的：从战略往内看到技术，最后回到自己该做什么&lt;/Text&gt;&#10;            &lt;/Box&gt;&#10;            &lt;Box style={{ flex: 1, flexDirection: 'row', gap: 8 }}&gt;&#10;                {[&#10;                    { n: '看战略', d: '业务战略诉求', q: '战略里哪几条必须靠数字技术才能实现', c: '#FA4F24' },&#10;                    { n: '看客户', d: '客户体验需求的变化', q: '客户的期待在哪一年跨过现有能力', c: '#E0641E' },&#10;                    { n: '看行业', d: '行业趋势', q: '同行做到什么程度，不做会掉队到什么位置', c: '#D2531A' },&#10;                    { n: '看自己', d: '业务模式的变化', q: '我们自己的模式哪一环最该重构', c: '#C43A17' },&#10;                    { n: '看技术', d: '技术融入业务的场景与标杆', q: '哪个技术现在能真正改变这件事', c: '#9E3410' },&#10;                ].map((x, i) =&gt; (&#10;                    &lt;Box key={x.n} style={{ flex: 1, background: '#F7F7F8', borderRadius: 3, borderTop: '3px solid ' + x.c, padding: '12px 13px', flexDirection: 'column' }}&gt;&#10;                        &lt;Text style={{ fontSize: 16, fontWeight: 'bold', color: x.c }}&gt;{x.n}&lt;/Text&gt;&#10;                        &lt;Text style={{ fontSize: 12, color: '#0F1423', marginTop: 7, lineHeight: 1.35 }}&gt;{x.d}&lt;/Text&gt;&#10;                        &lt;Box style={{ flex: 1, marginTop: 9, background: '#FFFFFF', borderRadius: 2, padding: '0 9px', flexDirection: 'row', alignItems: 'center' }}&gt;&#10;                            &lt;Text style={{ fontSize: 11, color: '#5A6070', lineHeight: 1.4 }}&gt;{x.q}&lt;/Text&gt;&#10;                        &lt;/Box&gt;&#10;                        &lt;Text style={{ fontSize: 10.5, color: '#8A8F99', marginTop: 8 }}&gt;第 {i + 1} 看&lt;/Text&gt;&#10;                    &lt;/Box&gt;&#10;                ))}&#10;            &lt;/Box&gt;&#10;        &lt;/Box&gt;&#10;&#10;        {/* 底部 */}&#10;        &lt;Box style={{ height: 44, background: '#0F1423', borderRadius: 3, flexDirection: 'row', alignItems: 'center', padding: '0 20px', gap: 16 }}&gt;&#10;            &lt;Text style={{ fontSize: 13.5, fontWeight: 'bold', color: '#FBA15C', width: 130 }}&gt;这一段的产出&lt;/Text&gt;&#10;            &lt;Text style={{ fontSize: 14, color: '#FFFFFF', flex: 1 }}&gt;战略关注要点清单 · 五看扫描记录 · &lt;tspan style={{ color: '#FA4F24' }}&gt;数字化机会与价值清单&lt;/tspan&gt;&lt;/Text&gt;&#10;            &lt;Text style={{ fontSize: 12, color: 'rgba(255,255,255,0.7)' }}&gt;机会清单直接流向步骤 5的愿景&lt;/Text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华为数字化转型之道&lt;/Text&gt;&#10;        &lt;/Box&gt;&#10;        &lt;Text style={{ fontSize: 14, color: '#8A8F99' }}&gt;16 / 3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步骤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1–2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战略解码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与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5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「看」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业务战略是数字化转型的龙头——不先解码战略，五看看到的就只是现象，不是机会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348" name=""/>
          <p:cNvSpPr/>
          <p:nvPr/>
        </p:nvSpPr>
        <p:spPr>
          <a:xfrm rot="0" flipH="0" flipV="0">
            <a:off x="609600" y="1285875"/>
            <a:ext cx="704850" cy="1104900"/>
          </a:xfrm>
          <a:prstGeom prst="roundRect">
            <a:avLst>
              <a:gd name="adj" fmla="val 4054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828675" y="1714500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1409700" y="1285875"/>
            <a:ext cx="5772150" cy="1104900"/>
          </a:xfrm>
          <a:prstGeom prst="roundRect">
            <a:avLst>
              <a:gd name="adj" fmla="val 258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1581150" y="1590675"/>
            <a:ext cx="542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理解企业的战略诉求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1581150" y="1866900"/>
            <a:ext cx="54292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进行业务高层访谈，获取他们对业务战略和目标的描述，以及对数字化转型的期望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7315200" y="1285875"/>
            <a:ext cx="4267200" cy="1104900"/>
          </a:xfrm>
          <a:prstGeom prst="roundRect">
            <a:avLst>
              <a:gd name="adj" fmla="val 2586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54" name=""/>
          <p:cNvSpPr/>
          <p:nvPr/>
        </p:nvSpPr>
        <p:spPr>
          <a:xfrm rot="0" flipH="0" flipV="0">
            <a:off x="7315200" y="1285875"/>
            <a:ext cx="4267200" cy="1104900"/>
          </a:xfrm>
          <a:custGeom>
            <a:pathLst>
              <a:path w="448" h="116">
                <a:moveTo>
                  <a:pt x="4" y="116"/>
                </a:moveTo>
                <a:cubicBezTo>
                  <a:pt x="3" y="116"/>
                  <a:pt x="2" y="116"/>
                  <a:pt x="1" y="115"/>
                </a:cubicBezTo>
                <a:cubicBezTo>
                  <a:pt x="0" y="114"/>
                  <a:pt x="0" y="114"/>
                  <a:pt x="0" y="11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7486650" y="1524000"/>
            <a:ext cx="3924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进行业务战略解码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7486650" y="1733550"/>
            <a:ext cx="39243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识别战略关注要点并做专项分析：如何用数字技术支撑战略目标达成、如何用数字技术构建核心竞争力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609600" y="2476500"/>
            <a:ext cx="704850" cy="266700"/>
          </a:xfrm>
          <a:prstGeom prst="roundRect">
            <a:avLst>
              <a:gd name="adj" fmla="val 10714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876300" y="2533650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1428750" y="2514600"/>
            <a:ext cx="552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423"/>
                </a:solidFill>
                <a:latin typeface="Microsoft YaHei"/>
                <a:ea typeface="Microsoft YaHei"/>
              </a:rPr>
              <a:t>5</a:t>
            </a: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「看」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2095500" y="2533650"/>
            <a:ext cx="3838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五看的顺序不是随意的：从战略往内看到技术，最后回到自己该做什么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609600" y="2847975"/>
            <a:ext cx="2133600" cy="2276475"/>
          </a:xfrm>
          <a:prstGeom prst="roundRect">
            <a:avLst>
              <a:gd name="adj" fmla="val 133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62" name=""/>
          <p:cNvSpPr/>
          <p:nvPr/>
        </p:nvSpPr>
        <p:spPr>
          <a:xfrm rot="0" flipH="0" flipV="0">
            <a:off x="609600" y="2847975"/>
            <a:ext cx="2133600" cy="2276475"/>
          </a:xfrm>
          <a:custGeom>
            <a:pathLst>
              <a:path w="224" h="239">
                <a:moveTo>
                  <a:pt x="221" y="0"/>
                </a:moveTo>
                <a:cubicBezTo>
                  <a:pt x="223" y="0"/>
                  <a:pt x="224" y="1"/>
                  <a:pt x="224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21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733425" y="2962275"/>
            <a:ext cx="1885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看战略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733425" y="3219450"/>
            <a:ext cx="18859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0F1423"/>
                </a:solidFill>
                <a:latin typeface="Microsoft YaHei"/>
                <a:ea typeface="Microsoft YaHei"/>
              </a:rPr>
              <a:t>业务战略诉求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733425" y="3495675"/>
            <a:ext cx="1885950" cy="1285875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819150" y="3962400"/>
            <a:ext cx="171450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战略里哪几条必须靠数字技术才能实现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733425" y="4857750"/>
            <a:ext cx="1885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第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>1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看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2819400" y="2847975"/>
            <a:ext cx="2133600" cy="2276475"/>
          </a:xfrm>
          <a:prstGeom prst="roundRect">
            <a:avLst>
              <a:gd name="adj" fmla="val 133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69" name=""/>
          <p:cNvSpPr/>
          <p:nvPr/>
        </p:nvSpPr>
        <p:spPr>
          <a:xfrm rot="0" flipH="0" flipV="0">
            <a:off x="2819400" y="2847975"/>
            <a:ext cx="2133600" cy="2276475"/>
          </a:xfrm>
          <a:custGeom>
            <a:pathLst>
              <a:path w="224" h="239">
                <a:moveTo>
                  <a:pt x="221" y="0"/>
                </a:moveTo>
                <a:cubicBezTo>
                  <a:pt x="223" y="0"/>
                  <a:pt x="224" y="1"/>
                  <a:pt x="224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21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2943225" y="2962275"/>
            <a:ext cx="1885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0641E"/>
                </a:solidFill>
                <a:latin typeface="Microsoft YaHei"/>
                <a:ea typeface="Microsoft YaHei"/>
              </a:rPr>
              <a:t>看客户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2943225" y="3219450"/>
            <a:ext cx="18859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0F1423"/>
                </a:solidFill>
                <a:latin typeface="Microsoft YaHei"/>
                <a:ea typeface="Microsoft YaHei"/>
              </a:rPr>
              <a:t>客户体验需求的变化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2943225" y="3495675"/>
            <a:ext cx="1885950" cy="1285875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3028950" y="4048125"/>
            <a:ext cx="15716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客户的期待在哪一年跨过现有能力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2943225" y="4857750"/>
            <a:ext cx="1885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第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>2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看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5029200" y="2847975"/>
            <a:ext cx="2133600" cy="2276475"/>
          </a:xfrm>
          <a:prstGeom prst="roundRect">
            <a:avLst>
              <a:gd name="adj" fmla="val 133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76" name=""/>
          <p:cNvSpPr/>
          <p:nvPr/>
        </p:nvSpPr>
        <p:spPr>
          <a:xfrm rot="0" flipH="0" flipV="0">
            <a:off x="5029200" y="2847975"/>
            <a:ext cx="2133600" cy="2276475"/>
          </a:xfrm>
          <a:custGeom>
            <a:pathLst>
              <a:path w="224" h="239">
                <a:moveTo>
                  <a:pt x="221" y="0"/>
                </a:moveTo>
                <a:cubicBezTo>
                  <a:pt x="223" y="0"/>
                  <a:pt x="224" y="1"/>
                  <a:pt x="224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21" y="0"/>
                </a:lnTo>
                <a:close/>
              </a:path>
            </a:pathLst>
          </a:custGeom>
          <a:solidFill>
            <a:srgbClr val="D2531A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5153025" y="2962275"/>
            <a:ext cx="1885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D2531A"/>
                </a:solidFill>
                <a:latin typeface="Microsoft YaHei"/>
                <a:ea typeface="Microsoft YaHei"/>
              </a:rPr>
              <a:t>看行业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5153025" y="3219450"/>
            <a:ext cx="18859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0F1423"/>
                </a:solidFill>
                <a:latin typeface="Microsoft YaHei"/>
                <a:ea typeface="Microsoft YaHei"/>
              </a:rPr>
              <a:t>行业趋势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5153025" y="3495675"/>
            <a:ext cx="1885950" cy="1285875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5238750" y="3962400"/>
            <a:ext cx="171450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同行做到什么程度，不做会掉队到什么位置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5153025" y="4857750"/>
            <a:ext cx="1885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第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>3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看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7239000" y="2847975"/>
            <a:ext cx="2133600" cy="2276475"/>
          </a:xfrm>
          <a:prstGeom prst="roundRect">
            <a:avLst>
              <a:gd name="adj" fmla="val 133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83" name=""/>
          <p:cNvSpPr/>
          <p:nvPr/>
        </p:nvSpPr>
        <p:spPr>
          <a:xfrm rot="0" flipH="0" flipV="0">
            <a:off x="7239000" y="2847975"/>
            <a:ext cx="2133600" cy="2276475"/>
          </a:xfrm>
          <a:custGeom>
            <a:pathLst>
              <a:path w="224" h="239">
                <a:moveTo>
                  <a:pt x="221" y="0"/>
                </a:moveTo>
                <a:cubicBezTo>
                  <a:pt x="223" y="0"/>
                  <a:pt x="224" y="1"/>
                  <a:pt x="224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21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7362825" y="2962275"/>
            <a:ext cx="1885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看自己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7362825" y="3219450"/>
            <a:ext cx="18859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0F1423"/>
                </a:solidFill>
                <a:latin typeface="Microsoft YaHei"/>
                <a:ea typeface="Microsoft YaHei"/>
              </a:rPr>
              <a:t>业务模式的变化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7362825" y="3495675"/>
            <a:ext cx="1885950" cy="1285875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7448550" y="4048125"/>
            <a:ext cx="14668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我们自己的模式哪一环最该重构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7362825" y="4857750"/>
            <a:ext cx="1885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第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>4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看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9448800" y="2847975"/>
            <a:ext cx="2133600" cy="2276475"/>
          </a:xfrm>
          <a:prstGeom prst="roundRect">
            <a:avLst>
              <a:gd name="adj" fmla="val 133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90" name=""/>
          <p:cNvSpPr/>
          <p:nvPr/>
        </p:nvSpPr>
        <p:spPr>
          <a:xfrm rot="0" flipH="0" flipV="0">
            <a:off x="9448800" y="2847975"/>
            <a:ext cx="2133600" cy="2276475"/>
          </a:xfrm>
          <a:custGeom>
            <a:pathLst>
              <a:path w="224" h="239">
                <a:moveTo>
                  <a:pt x="221" y="0"/>
                </a:moveTo>
                <a:cubicBezTo>
                  <a:pt x="223" y="0"/>
                  <a:pt x="224" y="1"/>
                  <a:pt x="224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21" y="0"/>
                </a:lnTo>
                <a:close/>
              </a:path>
            </a:pathLst>
          </a:custGeom>
          <a:solidFill>
            <a:srgbClr val="9E3410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9572625" y="2962275"/>
            <a:ext cx="1885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9E3410"/>
                </a:solidFill>
                <a:latin typeface="Microsoft YaHei"/>
                <a:ea typeface="Microsoft YaHei"/>
              </a:rPr>
              <a:t>看技术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9572625" y="3219450"/>
            <a:ext cx="18859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0F1423"/>
                </a:solidFill>
                <a:latin typeface="Microsoft YaHei"/>
                <a:ea typeface="Microsoft YaHei"/>
              </a:rPr>
              <a:t>技术融入业务的场景与标杆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9572625" y="3495675"/>
            <a:ext cx="1885950" cy="1285875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9658350" y="4048125"/>
            <a:ext cx="14668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哪个技术现在能真正改变这件事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9572625" y="4857750"/>
            <a:ext cx="1885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第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>5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看</a:t>
            </a:r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609600" y="5181600"/>
            <a:ext cx="10972800" cy="419100"/>
          </a:xfrm>
          <a:prstGeom prst="roundRect">
            <a:avLst>
              <a:gd name="adj" fmla="val 681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800100" y="5314950"/>
            <a:ext cx="1238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这一段的产出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2190750" y="5314950"/>
            <a:ext cx="7458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战略关注要点清单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五看扫描记录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数字化机会与价值清单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9801225" y="5324475"/>
            <a:ext cx="1590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机会清单直接流向步骤</a:t>
            </a:r>
            <a:r>
              <a:rPr lang="en-US" sz="9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 xml:space="preserve"> 5</a:t>
            </a:r>
            <a:r>
              <a:rPr lang="zh-CN" sz="9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的愿景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16 / 35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403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步骤 3–4：&lt;span style={{ color: '#FA4F24' }}&gt;成熟度评估&lt;/span&gt;与现状差距分析&#10;        &lt;/Text&gt;&#10;        &lt;Text style={{ fontSize: 20, color: '#8A8F99', marginTop: 8 }}&gt;&#10;            评估要靠关键业务用户面对面访谈——访谈本身就是诊断，评估只是它的副产品&#10;        &lt;/Text&gt;&#10;    &lt;/Box&gt;&#10;    &lt;Box style={{ height: 1, background: '#E8E8E8' }} /&gt;&#10;&#10;    {/* B 区 */}&#10;    &lt;Box style={{ paddingTop: 14, paddingBottom: 12, height: 479, flexDirection: 'column', gap: 10 }}&gt;&#10;&#10;        {/* 上：两步横排 */}&#10;        &lt;Box style={{ height: 170, flexDirection: 'row', gap: 10 }}&gt;&#10;            &lt;Box style={{ flex: 1, background: '#F7F7F8', borderRadius: 4, padding: '13px 18px', flexDirection: 'column' }}&gt;&#10;                &lt;Box style={{ flexDirection: 'row', alignItems: 'center', gap: 9 }}&gt;&#10;                    &lt;Box style={{ width: 26, height: 26, background: '#E0641E', borderRadius: 3, alignItems: 'center', justifyContent: 'center' }}&gt;&#10;                        &lt;Text style={{ fontSize: 12, fontWeight: 'bold', color: '#FFFFFF' }}&gt;03&lt;/Text&gt;&#10;                    &lt;/Box&gt;&#10;                    &lt;Text style={{ fontSize: 17, fontWeight: 'bold', color: '#0F1423' }}&gt;数字化转型成熟度评估&lt;/Text&gt;&#10;                &lt;/Box&gt;&#10;                &lt;Text style={{ fontSize: 12.5, color: '#3A4050', lineHeight: 1.5, marginTop: 11, flex: 1 }}&gt;&#10;                    进行关键业务用户的访谈，基于「数字化转型评估模型」对模型中各项内容面对面交流和现场评估&#10;                &lt;/Text&gt;&#10;                &lt;Box style={{ height: 36, background: '#E0641E', borderRadius: 3, padding: '0 11px', flexDirection: 'column', justifyContent: 'center' }}&gt;&#10;                    &lt;Text style={{ fontSize: 11, color: 'rgba(255,255,255,0.94)' }}&gt;产出：访谈纪要 · 成熟度打分表 · 关键需求记录&lt;/Text&gt;&#10;                &lt;/Box&gt;&#10;            &lt;/Box&gt;&#10;            &lt;Box style={{ flex: 1, background: '#F7F7F8', borderRadius: 4, padding: '13px 18px', flexDirection: 'column' }}&gt;&#10;                &lt;Box style={{ flexDirection: 'row', alignItems: 'center', gap: 9 }}&gt;&#10;                    &lt;Box style={{ width: 26, height: 26, background: '#D2531A', borderRadius: 3, alignItems: 'center', justifyContent: 'center' }}&gt;&#10;                        &lt;Text style={{ fontSize: 12, fontWeight: 'bold', color: '#FFFFFF' }}&gt;04&lt;/Text&gt;&#10;                    &lt;/Box&gt;&#10;                    &lt;Text style={{ fontSize: 17, fontWeight: 'bold', color: '#0F1423' }}&gt;现状和差距分析&lt;/Text&gt;&#10;                &lt;/Box&gt;&#10;                &lt;Text style={{ fontSize: 12.5, color: '#3A4050', lineHeight: 1.5, marginTop: 11, flex: 1 }}&gt;&#10;                    与业界实践对比，针对业务诉求识别业务和 IT 上的差距；对标行业标杆，识别数字技术使用上的差距&#10;                &lt;/Text&gt;&#10;                &lt;Box style={{ height: 36, background: '#D2531A', borderRadius: 3, padding: '0 11px', flexDirection: 'column', justifyContent: 'center' }}&gt;&#10;                    &lt;Text style={{ fontSize: 11, color: 'rgba(255,255,255,0.94)' }}&gt;产出：现状与差距清单 · 业界对标结论&lt;/Text&gt;&#10;                &lt;/Box&gt;&#10;            &lt;/Box&gt;&#10;        &lt;/Box&gt;&#10;&#10;        {/* 中：差距分析的三个维度 */}&#10;        &lt;Box style={{ flex: 1, flexDirection: 'column' }}&gt;&#10;            &lt;Text style={{ fontSize: 13.5, fontWeight: 'bold', color: '#0F1423', marginBottom: 8 }}&gt;差距要分三层看——混在一起说，就说不清该先补哪一层&lt;/Text&gt;&#10;            &lt;Box style={{ flex: 1, flexDirection: 'row', gap: 9 }}&gt;&#10;                {[&#10;                    {&#10;                        L: '能力差距', c: '#FA4F24',&#10;                        d: '业务能力本身缺什么——比如缺端到端计划能力、缺质量闭环能力',&#10;                        k: '对应 BA：价值流与能力体系',&#10;                    },&#10;                    {&#10;                        L: '数据差距', c: '#E0641E',&#10;                        d: '同一条业务在不同系统里的口径不一致，主数据散在各处，没有统一定义',&#10;                        k: '对应 IA/DA：数据标准与模型',&#10;                    },&#10;                    {&#10;                        L: '技术差距', c: '#C43A17',&#10;                        d: '底座能力不足——算力、网络、安全、集成方式支撑不了新的架构要求',&#10;                        k: '对应 AA / TA：应用与技术底座',&#10;                    },&#10;                ].map((x) =&gt; (&#10;                    &lt;Box key={x.L} style={{ flex: 1, background: '#FFFFFF', borderRadius: 3, border: '1px solid #E8E8E8', borderLeft: '4px solid ' + x.c, padding: '13px 16px', flexDirection: 'column', justifyContent: 'center' }}&gt;&#10;                        &lt;Text style={{ fontSize: 17, fontWeight: 'bold', color: x.c }}&gt;{x.L}&lt;/Text&gt;&#10;                        &lt;Text style={{ fontSize: 13, color: '#3A4050', lineHeight: 1.5, marginTop: 10, flex: 1 }}&gt;{x.d}&lt;/Text&gt;&#10;                        &lt;Text style={{ fontSize: 11.5, color: '#C43A17', marginTop: 9 }}&gt;{x.k}&lt;/Text&gt;&#10;                    &lt;/Box&gt;&#10;                ))}&#10;            &lt;/Box&gt;&#10;        &lt;/Box&gt;&#10;&#10;        {/* 底部 */}&#10;        &lt;Box style={{ height: 46, background: '#0F1423', borderRadius: 3, flexDirection: 'row', alignItems: 'center', padding: '0 20px', gap: 16 }}&gt;&#10;            &lt;Text style={{ fontSize: 13.5, fontWeight: 'bold', color: '#FBA15C', width: 122 }}&gt;为什么要分三层&lt;/Text&gt;&#10;            &lt;Text style={{ fontSize: 14.5, color: '#FFFFFF', flex: 1, lineHeight: 1.4 }}&gt;&#10;                因为三层差距&lt;tspan style={{ color: '#FA4F24' }}&gt;分别对应后面第 7 步里的三个架构域&lt;/tspan&gt;——差距分析不是描述现状，是在给架构设计派活&#10;            &lt;/Text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华为数字化转型之道&lt;/Text&gt;&#10;        &lt;/Box&gt;&#10;        &lt;Text style={{ fontSize: 14, color: '#8A8F99' }}&gt;17 / 3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步骤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3–4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成熟度评估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与现状差距分析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评估要靠关键业务用户面对面访谈——访谈本身就是诊断，评估只是它的副产品</a:t>
            </a:r>
            <a:endParaRPr/>
          </a:p>
        </p:txBody>
      </p:sp>
      <p:sp>
        <p:nvSpPr>
          <p:cNvPr id="407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408" name=""/>
          <p:cNvSpPr/>
          <p:nvPr/>
        </p:nvSpPr>
        <p:spPr>
          <a:xfrm rot="0" flipH="0" flipV="0">
            <a:off x="609600" y="1285875"/>
            <a:ext cx="5438775" cy="1619250"/>
          </a:xfrm>
          <a:prstGeom prst="roundRect">
            <a:avLst>
              <a:gd name="adj" fmla="val 235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09" name=""/>
          <p:cNvSpPr/>
          <p:nvPr/>
        </p:nvSpPr>
        <p:spPr>
          <a:xfrm rot="0" flipH="0" flipV="0">
            <a:off x="781050" y="1409700"/>
            <a:ext cx="247650" cy="247650"/>
          </a:xfrm>
          <a:prstGeom prst="roundRect">
            <a:avLst>
              <a:gd name="adj" fmla="val 11538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838200" y="1466850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1114425" y="1438275"/>
            <a:ext cx="161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数字化转型成熟度评估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781050" y="1762125"/>
            <a:ext cx="509587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进行关键业务用户的访谈，基于「数字化转型评估模型」对模型中各项内容面对面交流和现场评估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781050" y="2438400"/>
            <a:ext cx="5095875" cy="342900"/>
          </a:xfrm>
          <a:prstGeom prst="roundRect">
            <a:avLst>
              <a:gd name="adj" fmla="val 8333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885825" y="2543175"/>
            <a:ext cx="4886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产出：访谈纪要</a:t>
            </a:r>
            <a:r>
              <a:rPr lang="en-US" sz="82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成熟度打分表</a:t>
            </a:r>
            <a:r>
              <a:rPr lang="en-US" sz="82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关键需求记录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6143625" y="1285875"/>
            <a:ext cx="5438775" cy="1619250"/>
          </a:xfrm>
          <a:prstGeom prst="roundRect">
            <a:avLst>
              <a:gd name="adj" fmla="val 235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16" name=""/>
          <p:cNvSpPr/>
          <p:nvPr/>
        </p:nvSpPr>
        <p:spPr>
          <a:xfrm rot="0" flipH="0" flipV="0">
            <a:off x="6315075" y="1409700"/>
            <a:ext cx="247650" cy="247650"/>
          </a:xfrm>
          <a:prstGeom prst="roundRect">
            <a:avLst>
              <a:gd name="adj" fmla="val 11538"/>
            </a:avLst>
          </a:prstGeom>
          <a:solidFill>
            <a:srgbClr val="D2531A"/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6372225" y="1466850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6648450" y="1438275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现状和差距分析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6315075" y="1762125"/>
            <a:ext cx="509587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与业界实践对比，针对业务诉求识别业务和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上的差距；对标行业标杆，识别数字技术使用上的差距</a:t>
            </a:r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6315075" y="2438400"/>
            <a:ext cx="5095875" cy="342900"/>
          </a:xfrm>
          <a:prstGeom prst="roundRect">
            <a:avLst>
              <a:gd name="adj" fmla="val 8333"/>
            </a:avLst>
          </a:prstGeom>
          <a:solidFill>
            <a:srgbClr val="D2531A"/>
          </a:solidFill>
          <a:ln/>
        </p:spPr>
        <p:txBody>
          <a:bodyPr/>
          <a:p/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6419850" y="2543175"/>
            <a:ext cx="4886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产出：现状与差距清单</a:t>
            </a:r>
            <a:r>
              <a:rPr lang="en-US" sz="82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业界对标结论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609600" y="300037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差距要分三层看——混在一起说，就说不清该先补哪一层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647700" y="3238500"/>
            <a:ext cx="3600450" cy="182880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4" name=""/>
          <p:cNvSpPr/>
          <p:nvPr/>
        </p:nvSpPr>
        <p:spPr>
          <a:xfrm rot="0" flipH="0" flipV="0">
            <a:off x="647700" y="3238500"/>
            <a:ext cx="3600450" cy="1828800"/>
          </a:xfrm>
          <a:custGeom>
            <a:pathLst>
              <a:path w="378" h="192">
                <a:moveTo>
                  <a:pt x="4" y="192"/>
                </a:moveTo>
                <a:cubicBezTo>
                  <a:pt x="3" y="192"/>
                  <a:pt x="2" y="192"/>
                  <a:pt x="1" y="191"/>
                </a:cubicBezTo>
                <a:cubicBezTo>
                  <a:pt x="0" y="190"/>
                  <a:pt x="0" y="190"/>
                  <a:pt x="0" y="18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800100" y="3362325"/>
            <a:ext cx="3257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A4F24"/>
                </a:solidFill>
                <a:latin typeface="Microsoft YaHei"/>
                <a:ea typeface="Microsoft YaHei"/>
              </a:rPr>
              <a:t>能力差距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800100" y="3657600"/>
            <a:ext cx="3257550" cy="1066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业务能力本身缺什么——比如缺端到端计划能力、缺质量闭环能力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800100" y="4810125"/>
            <a:ext cx="3257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C43A17"/>
                </a:solidFill>
                <a:latin typeface="Microsoft YaHei"/>
                <a:ea typeface="Microsoft YaHei"/>
              </a:rPr>
              <a:t>对应</a:t>
            </a:r>
            <a:r>
              <a:rPr lang="en-US" sz="863">
                <a:solidFill>
                  <a:srgbClr val="C43A17"/>
                </a:solidFill>
                <a:latin typeface="Microsoft YaHei"/>
                <a:ea typeface="Microsoft YaHei"/>
              </a:rPr>
              <a:t xml:space="preserve"> BA</a:t>
            </a:r>
            <a:r>
              <a:rPr lang="zh-CN" sz="863">
                <a:solidFill>
                  <a:srgbClr val="C43A17"/>
                </a:solidFill>
                <a:latin typeface="Microsoft YaHei"/>
                <a:ea typeface="Microsoft YaHei"/>
              </a:rPr>
              <a:t>：价值流与能力体系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4333875" y="3238500"/>
            <a:ext cx="3600450" cy="182880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9" name=""/>
          <p:cNvSpPr/>
          <p:nvPr/>
        </p:nvSpPr>
        <p:spPr>
          <a:xfrm rot="0" flipH="0" flipV="0">
            <a:off x="4333875" y="3238500"/>
            <a:ext cx="3600450" cy="1828800"/>
          </a:xfrm>
          <a:custGeom>
            <a:pathLst>
              <a:path w="378" h="192">
                <a:moveTo>
                  <a:pt x="4" y="192"/>
                </a:moveTo>
                <a:cubicBezTo>
                  <a:pt x="3" y="192"/>
                  <a:pt x="2" y="192"/>
                  <a:pt x="1" y="191"/>
                </a:cubicBezTo>
                <a:cubicBezTo>
                  <a:pt x="0" y="190"/>
                  <a:pt x="0" y="190"/>
                  <a:pt x="0" y="18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4486275" y="3362325"/>
            <a:ext cx="3257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0641E"/>
                </a:solidFill>
                <a:latin typeface="Microsoft YaHei"/>
                <a:ea typeface="Microsoft YaHei"/>
              </a:rPr>
              <a:t>数据差距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4486275" y="3657600"/>
            <a:ext cx="3257550" cy="1066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同一条业务在不同系统里的口径不一致，主数据散在各处，没有统一定义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4486275" y="4810125"/>
            <a:ext cx="3257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C43A17"/>
                </a:solidFill>
                <a:latin typeface="Microsoft YaHei"/>
                <a:ea typeface="Microsoft YaHei"/>
              </a:rPr>
              <a:t>对应</a:t>
            </a:r>
            <a:r>
              <a:rPr lang="en-US" sz="863">
                <a:solidFill>
                  <a:srgbClr val="C43A17"/>
                </a:solidFill>
                <a:latin typeface="Microsoft YaHei"/>
                <a:ea typeface="Microsoft YaHei"/>
              </a:rPr>
              <a:t xml:space="preserve"> IA/DA</a:t>
            </a:r>
            <a:r>
              <a:rPr lang="zh-CN" sz="863">
                <a:solidFill>
                  <a:srgbClr val="C43A17"/>
                </a:solidFill>
                <a:latin typeface="Microsoft YaHei"/>
                <a:ea typeface="Microsoft YaHei"/>
              </a:rPr>
              <a:t>：数据标准与模型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8020050" y="3238500"/>
            <a:ext cx="3600450" cy="182880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4" name=""/>
          <p:cNvSpPr/>
          <p:nvPr/>
        </p:nvSpPr>
        <p:spPr>
          <a:xfrm rot="0" flipH="0" flipV="0">
            <a:off x="8020050" y="3238500"/>
            <a:ext cx="3600450" cy="1828800"/>
          </a:xfrm>
          <a:custGeom>
            <a:pathLst>
              <a:path w="378" h="192">
                <a:moveTo>
                  <a:pt x="4" y="192"/>
                </a:moveTo>
                <a:cubicBezTo>
                  <a:pt x="3" y="192"/>
                  <a:pt x="2" y="192"/>
                  <a:pt x="1" y="191"/>
                </a:cubicBezTo>
                <a:cubicBezTo>
                  <a:pt x="0" y="190"/>
                  <a:pt x="0" y="190"/>
                  <a:pt x="0" y="18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8172450" y="3362325"/>
            <a:ext cx="3257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43A17"/>
                </a:solidFill>
                <a:latin typeface="Microsoft YaHei"/>
                <a:ea typeface="Microsoft YaHei"/>
              </a:rPr>
              <a:t>技术差距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8172450" y="3657600"/>
            <a:ext cx="3257550" cy="1066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底座能力不足——算力、网络、安全、集成方式支撑不了新的架构要求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8172450" y="4810125"/>
            <a:ext cx="3257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C43A17"/>
                </a:solidFill>
                <a:latin typeface="Microsoft YaHei"/>
                <a:ea typeface="Microsoft YaHei"/>
              </a:rPr>
              <a:t>对应</a:t>
            </a:r>
            <a:r>
              <a:rPr lang="en-US" sz="863">
                <a:solidFill>
                  <a:srgbClr val="C43A17"/>
                </a:solidFill>
                <a:latin typeface="Microsoft YaHei"/>
                <a:ea typeface="Microsoft YaHei"/>
              </a:rPr>
              <a:t xml:space="preserve"> AA / TA</a:t>
            </a:r>
            <a:r>
              <a:rPr lang="zh-CN" sz="863">
                <a:solidFill>
                  <a:srgbClr val="C43A17"/>
                </a:solidFill>
                <a:latin typeface="Microsoft YaHei"/>
                <a:ea typeface="Microsoft YaHei"/>
              </a:rPr>
              <a:t>：应用与技术底座</a:t>
            </a:r>
            <a:endParaRPr/>
          </a:p>
        </p:txBody>
      </p:sp>
      <p:sp>
        <p:nvSpPr>
          <p:cNvPr id="438" name=""/>
          <p:cNvSpPr/>
          <p:nvPr/>
        </p:nvSpPr>
        <p:spPr>
          <a:xfrm rot="0" flipH="0" flipV="0">
            <a:off x="609600" y="5162550"/>
            <a:ext cx="10972800" cy="438150"/>
          </a:xfrm>
          <a:prstGeom prst="roundRect">
            <a:avLst>
              <a:gd name="adj" fmla="val 652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800100" y="5305425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为什么要分三层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2114550" y="5267325"/>
            <a:ext cx="9277350" cy="2381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88">
                <a:solidFill>
                  <a:srgbClr val="FFFFFF"/>
                </a:solidFill>
                <a:latin typeface="Microsoft YaHei"/>
                <a:ea typeface="Microsoft YaHei"/>
              </a:rPr>
              <a:t>因为三层差距</a:t>
            </a:r>
            <a:r>
              <a:rPr lang="zh-CN" sz="1088">
                <a:solidFill>
                  <a:srgbClr val="FFFFFF"/>
                </a:solidFill>
                <a:latin typeface="Microsoft YaHei"/>
                <a:ea typeface="Microsoft YaHei"/>
              </a:rPr>
              <a:t>分别对应后面第</a:t>
            </a:r>
            <a:r>
              <a:rPr lang="en-US" sz="1088">
                <a:solidFill>
                  <a:srgbClr val="FFFFFF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088">
                <a:solidFill>
                  <a:srgbClr val="FFFFFF"/>
                </a:solidFill>
                <a:latin typeface="Microsoft YaHei"/>
                <a:ea typeface="Microsoft YaHei"/>
              </a:rPr>
              <a:t>步里的三个架构域</a:t>
            </a:r>
            <a:r>
              <a:rPr lang="zh-CN" sz="1088">
                <a:solidFill>
                  <a:srgbClr val="FFFFFF"/>
                </a:solidFill>
                <a:latin typeface="Microsoft YaHei"/>
                <a:ea typeface="Microsoft YaHei"/>
              </a:rPr>
              <a:t>——差距分析不是描述现状，是在给架构设计派活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17 / 35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444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步骤 5：&lt;span style={{ color: '#FA4F24' }}&gt;描绘数字化转型愿景&lt;/span&gt;&#10;        &lt;/Text&gt;&#10;        &lt;Text style={{ fontSize: 20, color: '#8A8F99', marginTop: 8 }}&gt;&#10;            关键在「不拘泥于现状」——愿景是三年后要成为什么，不是现状加几个修饰词&#10;        &lt;/Text&gt;&#10;    &lt;/Box&gt;&#10;    &lt;Box style={{ height: 1, background: '#E8E8E8' }} /&gt;&#10;&#10;    {/* B 区 */}&#10;    &lt;Box style={{ paddingTop: 14, paddingBottom: 12, height: 479, flexDirection: 'column', gap: 10 }}&gt;&#10;&#10;        {/* 上：左 输入 / 右 愿景蓝图 */}&#10;        &lt;Box style={{ height: 236, flexDirection: 'row', gap: 10 }}&gt;&#10;&#10;            {/* 左：输入 */}&#10;            &lt;Box style={{ width: 372, background: '#F7F7F8', borderRadius: 4, padding: '14px 18px', flexDirection: 'column' }}&gt;&#10;                &lt;Text style={{ fontSize: 15, fontWeight: 'bold', color: '#0F1423' }}&gt;这一步的三个输入&lt;/Text&gt;&#10;                &lt;Box style={{ flex: 1, flexDirection: 'column', gap: 8, marginTop: 12 }}&gt;&#10;                    {[&#10;                        { n: '步骤 1', t: '战略关注要点', d: '战略解码后必须靠技术才能达成的那几条' },&#10;                        { n: '步骤 2', t: '5 看的扫描结论', d: '客户、行业、技术三方面看到的机会与风险' },&#10;                        { n: '步骤 3–4', t: '成熟度与差距', d: '当前在哪儿、与目标差多远' },&#10;                    ].map((x, i) =&gt; (&#10;                        &lt;Box key={x.n} style={{ flex: 1, background: '#FFFFFF', borderRadius: 3, borderLeft: '3px solid #FA4F24', padding: '0 12px', flexDirection: 'column', justifyContent: 'center' }}&gt;&#10;                            &lt;Box style={{ flexDirection: 'row', alignItems: 'center', gap: 7 }}&gt;&#10;                                &lt;Text style={{ fontSize: 11, color: '#FA4F24', fontWeight: 'bold' }}&gt;{x.n}&lt;/Text&gt;&#10;                                &lt;Text style={{ fontSize: 13.5, fontWeight: 'bold', color: '#0F1423' }}&gt;{x.t}&lt;/Text&gt;&#10;                            &lt;/Box&gt;&#10;                            &lt;Text style={{ fontSize: 11.5, color: '#5A6070', lineHeight: 1.4, marginTop: 4 }}&gt;{x.d}&lt;/Text&gt;&#10;                        &lt;/Box&gt;&#10;                    ))}&#10;                &lt;/Box&gt;&#10;            &lt;/Box&gt;&#10;&#10;            {/* 右：愿景蓝图要包含什么 */}&#10;            &lt;Box style={{ flex: 1, background: '#0F1423', borderRadius: 4, padding: '16px 20px', flexDirection: 'column' }}&gt;&#10;                &lt;Text style={{ fontSize: 15, fontWeight: 'bold', color: '#FBA15C' }}&gt;一份能用的愿景蓝图必须回答三件事&lt;/Text&gt;&#10;                &lt;Box style={{ flex: 1, flexDirection: 'column', gap: 8, marginTop: 13 }}&gt;&#10;                    {[&#10;                        { q: '变成什么样', a: '有量化的价值目标，而不是只有方向词——如运营成本降低多少、交付周期缩短多少' },&#10;                        { q: '客户体验变成什么样', a: '客户在哪些环节的体验被重构，重构后他能直接感知到什么差别' },&#10;                        { q: '靠什么技术路径', a: '要引入哪些技术使能，演进路线怎么走，哪一步是基础必做' },&#10;                    ].map((x, i) =&gt; (&#10;                        &lt;Box key={x.q} style={{ flex: 1, background: 'rgba(255,255,255,0.06)', borderRadius: 3, borderLeft: '3px solid ' + ['#FA4F24', '#E0641E', '#C43A17'][i], padding: '0 14px', flexDirection: 'row', alignItems: 'center', gap: 12 }}&gt;&#10;                            &lt;Text style={{ fontSize: 14.5, fontWeight: 'bold', color: '#FFFFFF', width: 138 }}&gt;{x.q}&lt;/Text&gt;&#10;                            &lt;Text style={{ fontSize: 12, color: 'rgba(255,255,255,0.8)', flex: 1, lineHeight: 1.4 }}&gt;{x.a}&lt;/Text&gt;&#10;                        &lt;/Box&gt;&#10;                    ))}&#10;                &lt;/Box&gt;&#10;            &lt;/Box&gt;&#10;        &lt;/Box&gt;&#10;&#10;        {/* 中：不合格 vs 合格 */}&#10;        &lt;Box style={{ height: 132, flexDirection: 'row', gap: 10 }}&gt;&#10;            &lt;Box style={{ flex: 1, background: '#FFFFFF', borderRadius: 3, border: '1px solid #E8E8E8', padding: '13px 18px', flexDirection: 'column' }}&gt;&#10;                &lt;Box style={{ flexDirection: 'row', alignItems: 'center', gap: 8 }}&gt;&#10;                    &lt;Text style={{ fontSize: 14, fontWeight: 'bold', color: '#8A8F99' }}&gt;不合格的愿景&lt;/Text&gt;&#10;                    &lt;Box style={{ height: 16, background: '#8A8F99', borderRadius: 2, padding: '0 6px', flexDirection: 'row', alignItems: 'center' }}&gt;&#10;                        &lt;Text style={{ fontSize: 10, color: '#FFFFFF' }}&gt;无法验证&lt;/Text&gt;&#10;                    &lt;/Box&gt;&#10;                &lt;/Box&gt;&#10;                &lt;Text style={{ fontSize: 13.5, color: '#3A4050', lineHeight: 1.5, marginTop: 11, flex: 1 }}&gt;&#10;                    「以客户为中心，用数据驱动，打造行业领先的智慧企业」&#10;                &lt;/Text&gt;&#10;                &lt;Text style={{ fontSize: 12, color: '#5A6070', lineHeight: 1.4 }}&gt;问题：没有一句能被验证，三年后无法判断做到没做到&lt;/Text&gt;&#10;            &lt;/Box&gt;&#10;            &lt;Box style={{ flex: 1, background: '#FFF3EE', borderRadius: 3, border: '1px solid #FBA15C', padding: '13px 18px', flexDirection: 'column' }}&gt;&#10;                &lt;Box style={{ flexDirection: 'row', alignItems: 'center', gap: 8 }}&gt;&#10;                    &lt;Text style={{ fontSize: 14, fontWeight: 'bold', color: '#C43A17' }}&gt;合格的愿景&lt;/Text&gt;&#10;                    &lt;Box style={{ height: 16, background: '#FA4F24', borderRadius: 2, padding: '0 6px', flexDirection: 'row', alignItems: 'center' }}&gt;&#10;                        &lt;Text style={{ fontSize: 10, color: '#FFFFFF' }}&gt;可验证&lt;/Text&gt;&#10;                    &lt;/Box&gt;&#10;                &lt;/Box&gt;&#10;                &lt;Text style={{ fontSize: 13.5, color: '#3A4050', lineHeight: 1.5, marginTop: 11, flex: 1 }}&gt;&#10;                    「三年内让一线报修到闭环的平均时长从 5 天缩到 1 天，客户自助解决率达到 60%」&#10;                &lt;/Text&gt;&#10;                &lt;Text style={{ fontSize: 12, color: '#C43A17', lineHeight: 1.4 }}&gt;好处：能直接进指标体系，年底就能验收&lt;/Text&gt;&#10;            &lt;/Box&gt;&#10;        &lt;/Box&gt;&#10;&#10;        {/* 底部 */}&#10;        &lt;Box style={{ height: 44, background: '#0F1423', borderRadius: 3, flexDirection: 'row', alignItems: 'center', padding: '0 20px', gap: 16 }}&gt;&#10;            &lt;Text style={{ fontSize: 13.5, fontWeight: 'bold', color: '#FBA15C', width: 130 }}&gt;交付这一步的判据&lt;/Text&gt;&#10;            &lt;Text style={{ fontSize: 15, color: '#FFFFFF', flex: 1 }}&gt;愿景里每一句都能被&lt;tspan style={{ color: '#FA4F24' }}&gt;拆成第 8 步的指标&lt;/tspan&gt;；拆不出来的，就是口号，删掉重写&lt;/Text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华为数字化转型之道&lt;/Text&gt;&#10;        &lt;/Box&gt;&#10;        &lt;Text style={{ fontSize: 14, color: '#8A8F99' }}&gt;18 / 3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步骤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5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描绘数字化转型愿景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关键在「不拘泥于现状」——愿景是三年后要成为什么，不是现状加几个修饰词</a:t>
            </a:r>
            <a:endParaRPr/>
          </a:p>
        </p:txBody>
      </p:sp>
      <p:sp>
        <p:nvSpPr>
          <p:cNvPr id="44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449" name=""/>
          <p:cNvSpPr/>
          <p:nvPr/>
        </p:nvSpPr>
        <p:spPr>
          <a:xfrm rot="0" flipH="0" flipV="0">
            <a:off x="609600" y="1285875"/>
            <a:ext cx="3543300" cy="2247900"/>
          </a:xfrm>
          <a:prstGeom prst="roundRect">
            <a:avLst>
              <a:gd name="adj" fmla="val 169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781050" y="1419225"/>
            <a:ext cx="3200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这一步的三个输入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809625" y="1704975"/>
            <a:ext cx="3200400" cy="5143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2" name=""/>
          <p:cNvSpPr/>
          <p:nvPr/>
        </p:nvSpPr>
        <p:spPr>
          <a:xfrm rot="0" flipH="0" flipV="0">
            <a:off x="809625" y="1704975"/>
            <a:ext cx="3200400" cy="514350"/>
          </a:xfrm>
          <a:custGeom>
            <a:pathLst>
              <a:path w="336" h="54">
                <a:moveTo>
                  <a:pt x="3" y="54"/>
                </a:moveTo>
                <a:cubicBezTo>
                  <a:pt x="1" y="54"/>
                  <a:pt x="0" y="53"/>
                  <a:pt x="0" y="5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923925" y="1790700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A4F24"/>
                </a:solidFill>
                <a:latin typeface="Microsoft YaHei"/>
                <a:ea typeface="Microsoft YaHei"/>
              </a:rPr>
              <a:t>步骤</a:t>
            </a: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1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1304925" y="1771650"/>
            <a:ext cx="771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战略关注要点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923925" y="1971675"/>
            <a:ext cx="29432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战略解码后必须靠技术才能达成的那几条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809625" y="2295525"/>
            <a:ext cx="3200400" cy="5143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7" name=""/>
          <p:cNvSpPr/>
          <p:nvPr/>
        </p:nvSpPr>
        <p:spPr>
          <a:xfrm rot="0" flipH="0" flipV="0">
            <a:off x="809625" y="2295525"/>
            <a:ext cx="3200400" cy="514350"/>
          </a:xfrm>
          <a:custGeom>
            <a:pathLst>
              <a:path w="336" h="54">
                <a:moveTo>
                  <a:pt x="3" y="54"/>
                </a:moveTo>
                <a:cubicBezTo>
                  <a:pt x="1" y="54"/>
                  <a:pt x="0" y="53"/>
                  <a:pt x="0" y="5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923925" y="2381250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A4F24"/>
                </a:solidFill>
                <a:latin typeface="Microsoft YaHei"/>
                <a:ea typeface="Microsoft YaHei"/>
              </a:rPr>
              <a:t>步骤</a:t>
            </a: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2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1304925" y="23622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看的扫描结论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923925" y="2562225"/>
            <a:ext cx="29432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客户、行业、技术三方面看到的机会与风险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809625" y="2886075"/>
            <a:ext cx="3200400" cy="5143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2" name=""/>
          <p:cNvSpPr/>
          <p:nvPr/>
        </p:nvSpPr>
        <p:spPr>
          <a:xfrm rot="0" flipH="0" flipV="0">
            <a:off x="809625" y="2886075"/>
            <a:ext cx="3200400" cy="514350"/>
          </a:xfrm>
          <a:custGeom>
            <a:pathLst>
              <a:path w="336" h="54">
                <a:moveTo>
                  <a:pt x="3" y="54"/>
                </a:moveTo>
                <a:cubicBezTo>
                  <a:pt x="1" y="54"/>
                  <a:pt x="0" y="53"/>
                  <a:pt x="0" y="5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923925" y="2971800"/>
            <a:ext cx="428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A4F24"/>
                </a:solidFill>
                <a:latin typeface="Microsoft YaHei"/>
                <a:ea typeface="Microsoft YaHei"/>
              </a:rPr>
              <a:t>步骤</a:t>
            </a: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3–4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1419225" y="2952750"/>
            <a:ext cx="771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成熟度与差距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923925" y="3152775"/>
            <a:ext cx="29432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当前在哪儿、与目标差多远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4248150" y="1285875"/>
            <a:ext cx="7334250" cy="2247900"/>
          </a:xfrm>
          <a:prstGeom prst="roundRect">
            <a:avLst>
              <a:gd name="adj" fmla="val 1695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4438650" y="1438275"/>
            <a:ext cx="695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一份能用的愿景蓝图必须回答三件事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4467225" y="1733550"/>
            <a:ext cx="6953250" cy="495300"/>
          </a:xfrm>
          <a:prstGeom prst="roundRect">
            <a:avLst>
              <a:gd name="adj" fmla="val 5769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69" name=""/>
          <p:cNvSpPr/>
          <p:nvPr/>
        </p:nvSpPr>
        <p:spPr>
          <a:xfrm rot="0" flipH="0" flipV="0">
            <a:off x="4467225" y="1733550"/>
            <a:ext cx="6953250" cy="495300"/>
          </a:xfrm>
          <a:custGeom>
            <a:pathLst>
              <a:path w="730" h="52">
                <a:moveTo>
                  <a:pt x="3" y="52"/>
                </a:moveTo>
                <a:cubicBezTo>
                  <a:pt x="1" y="52"/>
                  <a:pt x="0" y="51"/>
                  <a:pt x="0" y="4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4600575" y="1895475"/>
            <a:ext cx="1314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FFFFF"/>
                </a:solidFill>
                <a:latin typeface="Microsoft YaHei"/>
                <a:ea typeface="Microsoft YaHei"/>
              </a:rPr>
              <a:t>变成什么样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6029325" y="1885950"/>
            <a:ext cx="52292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有量化的价值目标，而不是只有方向词——如运营成本降低多少、交付周期缩短多少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4467225" y="2305050"/>
            <a:ext cx="6953250" cy="504825"/>
          </a:xfrm>
          <a:prstGeom prst="roundRect">
            <a:avLst>
              <a:gd name="adj" fmla="val 5660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73" name=""/>
          <p:cNvSpPr/>
          <p:nvPr/>
        </p:nvSpPr>
        <p:spPr>
          <a:xfrm rot="0" flipH="0" flipV="0">
            <a:off x="4467225" y="2305050"/>
            <a:ext cx="6953250" cy="504825"/>
          </a:xfrm>
          <a:custGeom>
            <a:pathLst>
              <a:path w="730" h="53">
                <a:moveTo>
                  <a:pt x="3" y="53"/>
                </a:moveTo>
                <a:cubicBezTo>
                  <a:pt x="1" y="53"/>
                  <a:pt x="0" y="52"/>
                  <a:pt x="0" y="50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3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4600575" y="2476500"/>
            <a:ext cx="1314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FFFFF"/>
                </a:solidFill>
                <a:latin typeface="Microsoft YaHei"/>
                <a:ea typeface="Microsoft YaHei"/>
              </a:rPr>
              <a:t>客户体验变成什么样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6029325" y="2457450"/>
            <a:ext cx="52292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客户在哪些环节的体验被重构，重构后他能直接感知到什么差别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4467225" y="2886075"/>
            <a:ext cx="6953250" cy="495300"/>
          </a:xfrm>
          <a:prstGeom prst="roundRect">
            <a:avLst>
              <a:gd name="adj" fmla="val 5769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77" name=""/>
          <p:cNvSpPr/>
          <p:nvPr/>
        </p:nvSpPr>
        <p:spPr>
          <a:xfrm rot="0" flipH="0" flipV="0">
            <a:off x="4467225" y="2886075"/>
            <a:ext cx="6953250" cy="495300"/>
          </a:xfrm>
          <a:custGeom>
            <a:pathLst>
              <a:path w="730" h="52">
                <a:moveTo>
                  <a:pt x="3" y="52"/>
                </a:moveTo>
                <a:cubicBezTo>
                  <a:pt x="1" y="52"/>
                  <a:pt x="0" y="51"/>
                  <a:pt x="0" y="4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2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4600575" y="3048000"/>
            <a:ext cx="1314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FFFFF"/>
                </a:solidFill>
                <a:latin typeface="Microsoft YaHei"/>
                <a:ea typeface="Microsoft YaHei"/>
              </a:rPr>
              <a:t>靠什么技术路径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6029325" y="3038475"/>
            <a:ext cx="52292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要引入哪些技术使能，演进路线怎么走，哪一步是基础必做</a:t>
            </a:r>
            <a:endParaRPr/>
          </a:p>
        </p:txBody>
      </p:sp>
      <p:sp>
        <p:nvSpPr>
          <p:cNvPr id="480" name=""/>
          <p:cNvSpPr/>
          <p:nvPr/>
        </p:nvSpPr>
        <p:spPr>
          <a:xfrm rot="0" flipH="0" flipV="0">
            <a:off x="609600" y="3629025"/>
            <a:ext cx="5438775" cy="12573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781050" y="375285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8A8F99"/>
                </a:solidFill>
                <a:latin typeface="Microsoft YaHei"/>
                <a:ea typeface="Microsoft YaHei"/>
              </a:rPr>
              <a:t>不合格的愿景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1657350" y="3762375"/>
            <a:ext cx="495300" cy="152400"/>
          </a:xfrm>
          <a:prstGeom prst="roundRect">
            <a:avLst>
              <a:gd name="adj" fmla="val 12500"/>
            </a:avLst>
          </a:prstGeom>
          <a:solidFill>
            <a:srgbClr val="8A8F99"/>
          </a:solidFill>
          <a:ln/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1714500" y="3781425"/>
            <a:ext cx="381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/>
                </a:solidFill>
                <a:latin typeface="Microsoft YaHei"/>
                <a:ea typeface="Microsoft YaHei"/>
              </a:rPr>
              <a:t>无法验证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781050" y="4019550"/>
            <a:ext cx="5095875" cy="5429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3A4050"/>
                </a:solidFill>
                <a:latin typeface="Microsoft YaHei"/>
                <a:ea typeface="Microsoft YaHei"/>
              </a:rPr>
              <a:t>「以客户为中心，用数据驱动，打造行业领先的智慧企业」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781050" y="4562475"/>
            <a:ext cx="50958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A6070"/>
                </a:solidFill>
                <a:latin typeface="Microsoft YaHei"/>
                <a:ea typeface="Microsoft YaHei"/>
              </a:rPr>
              <a:t>问题：没有一句能被验证，三年后无法判断做到没做到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6143625" y="3629025"/>
            <a:ext cx="5438775" cy="1257300"/>
          </a:xfrm>
          <a:prstGeom prst="roundRect">
            <a:avLst>
              <a:gd name="adj" fmla="val 2273"/>
            </a:avLst>
          </a:prstGeom>
          <a:solidFill>
            <a:srgbClr val="FFF3EE"/>
          </a:solidFill>
          <a:ln w="12700">
            <a:solidFill>
              <a:srgbClr val="FBA15C"/>
            </a:solidFill>
            <a:prstDash val="solid"/>
          </a:ln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6315075" y="375285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合格的愿景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7058025" y="3762375"/>
            <a:ext cx="400050" cy="152400"/>
          </a:xfrm>
          <a:prstGeom prst="roundRect">
            <a:avLst>
              <a:gd name="adj" fmla="val 125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7115175" y="3781425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/>
                </a:solidFill>
                <a:latin typeface="Microsoft YaHei"/>
                <a:ea typeface="Microsoft YaHei"/>
              </a:rPr>
              <a:t>可验证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6315075" y="4019550"/>
            <a:ext cx="5095875" cy="5429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3A4050"/>
                </a:solidFill>
                <a:latin typeface="Microsoft YaHei"/>
                <a:ea typeface="Microsoft YaHei"/>
              </a:rPr>
              <a:t>「三年内让一线报修到闭环的平均时长从</a:t>
            </a:r>
            <a:r>
              <a:rPr lang="en-US" sz="1013">
                <a:solidFill>
                  <a:srgbClr val="3A4050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013">
                <a:solidFill>
                  <a:srgbClr val="3A4050"/>
                </a:solidFill>
                <a:latin typeface="Microsoft YaHei"/>
                <a:ea typeface="Microsoft YaHei"/>
              </a:rPr>
              <a:t>天缩到</a:t>
            </a:r>
            <a:r>
              <a:rPr lang="en-US" sz="1013">
                <a:solidFill>
                  <a:srgbClr val="3A4050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013">
                <a:solidFill>
                  <a:srgbClr val="3A4050"/>
                </a:solidFill>
                <a:latin typeface="Microsoft YaHei"/>
                <a:ea typeface="Microsoft YaHei"/>
              </a:rPr>
              <a:t>天，客户自助解决率达到</a:t>
            </a:r>
            <a:r>
              <a:rPr lang="en-US" sz="1013">
                <a:solidFill>
                  <a:srgbClr val="3A4050"/>
                </a:solidFill>
                <a:latin typeface="Microsoft YaHei"/>
                <a:ea typeface="Microsoft YaHei"/>
              </a:rPr>
              <a:t xml:space="preserve"> 60%</a:t>
            </a:r>
            <a:r>
              <a:rPr lang="zh-CN" sz="1013">
                <a:solidFill>
                  <a:srgbClr val="3A4050"/>
                </a:solidFill>
                <a:latin typeface="Microsoft YaHei"/>
                <a:ea typeface="Microsoft YaHei"/>
              </a:rPr>
              <a:t>」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6315075" y="4562475"/>
            <a:ext cx="50958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好处：能直接进指标体系，年底就能验收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609600" y="4981575"/>
            <a:ext cx="10972800" cy="419100"/>
          </a:xfrm>
          <a:prstGeom prst="roundRect">
            <a:avLst>
              <a:gd name="adj" fmla="val 681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800100" y="5114925"/>
            <a:ext cx="1238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交付这一步的判据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2190750" y="5105400"/>
            <a:ext cx="9201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愿景里每一句都能被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拆成第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步的指标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；拆不出来的，就是口号，删掉重写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18 / 35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498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第二阶：统一认识，&lt;span style={{ color: '#FA4F24' }}&gt;设计架构蓝图&lt;/span&gt;（步骤 6–7）&#10;        &lt;/Text&gt;&#10;        &lt;Text style={{ fontSize: 20, color: '#8A8F99', marginTop: 8 }}&gt;&#10;            只有两步，但这两步是全册最重的——蓝图错了，后面所有举措都在错的方向上加速&#10;        &lt;/Text&gt;&#10;    &lt;/Box&gt;&#10;    &lt;Box style={{ height: 1, background: '#E8E8E8' }} /&gt;&#10;&#10;    {/* B 区 */}&#10;    &lt;Box style={{ paddingTop: 16, paddingBottom: 12, height: 479, flexDirection: 'column', gap: 10 }}&gt;&#10;&#10;        {/* 上：两步 */}&#10;        &lt;Box style={{ height: 134, flexDirection: 'row', gap: 10 }}&gt;&#10;            &lt;Box style={{ flex: 1, background: '#F7F7F8', borderRadius: 4, padding: '13px 18px', flexDirection: 'column' }}&gt;&#10;                &lt;Box style={{ flexDirection: 'row', alignItems: 'center', gap: 9 }}&gt;&#10;                    &lt;Box style={{ width: 26, height: 26, background: '#E0641E', borderRadius: 3, alignItems: 'center', justifyContent: 'center' }}&gt;&#10;                        &lt;Text style={{ fontSize: 12, fontWeight: 'bold', color: '#FFFFFF' }}&gt;06&lt;/Text&gt;&#10;                    &lt;/Box&gt;&#10;                    &lt;Text style={{ fontSize: 17, fontWeight: 'bold', color: '#0F1423' }}&gt;设计顶层架构蓝图&lt;/Text&gt;&#10;                &lt;/Box&gt;&#10;                &lt;Text style={{ fontSize: 12, color: '#3A4050', lineHeight: 1.45, marginTop: 9, flex: 1 }}&gt;&#10;                    从整个企业视角，对如何实现愿景，用企业架构方法进行清晰、系统性、分层分级的梳理和诠释&#10;                &lt;/Text&gt;&#10;                &lt;Box style={{ height: 30, background: '#E0641E', borderRadius: 3, padding: '0 11px', flexDirection: 'column', justifyContent: 'center' }}&gt;&#10;                    &lt;Text style={{ fontSize: 11, color: 'rgba(255,255,255,0.94)' }}&gt;产出：顶层架构蓝图（分层分级）&lt;/Text&gt;&#10;                &lt;/Box&gt;&#10;            &lt;/Box&gt;&#10;            &lt;Box style={{ flex: 1, background: '#F7F7F8', borderRadius: 4, padding: '13px 18px', flexDirection: 'column' }}&gt;&#10;                &lt;Box style={{ flexDirection: 'row', alignItems: 'center', gap: 9 }}&gt;&#10;                    &lt;Box style={{ width: 26, height: 26, background: '#C43A17', borderRadius: 3, alignItems: 'center', justifyContent: 'center' }}&gt;&#10;                        &lt;Text style={{ fontSize: 12, fontWeight: 'bold', color: '#FFFFFF' }}&gt;07&lt;/Text&gt;&#10;                    &lt;/Box&gt;&#10;                    &lt;Text style={{ fontSize: 17, fontWeight: 'bold', color: '#0F1423' }}&gt;「一体四面」细化架构蓝图&lt;/Text&gt;&#10;                    &lt;Box style={{ height: 16, background: '#C43A17', borderRadius: 2, padding: '0 6px', flexDirection: 'row', alignItems: 'center' }}&gt;&#10;                        &lt;Text style={{ fontSize: 10, color: '#FFFFFF' }}&gt;主线&lt;/Text&gt;&#10;                    &lt;/Box&gt;&#10;                &lt;/Box&gt;&#10;                &lt;Text style={{ fontSize: 12, color: '#3A4050', lineHeight: 1.45, marginTop: 9, flex: 1 }}&gt;&#10;                    各领域在公司统一蓝图下，以「一体四面」思路结合自身诉求细化，从架构上找到本领域的「突破口」&#10;                &lt;/Text&gt;&#10;                &lt;Box style={{ height: 30, background: '#C43A17', borderRadius: 3, padding: '0 11px', flexDirection: 'column', justifyContent: 'center' }}&gt;&#10;                    &lt;Text style={{ fontSize: 11, color: 'rgba(255,255,255,0.94)' }}&gt;产出：四A 分域细化成果 · 突破口识别&lt;/Text&gt;&#10;                &lt;/Box&gt;&#10;            &lt;/Box&gt;&#10;        &lt;/Box&gt;&#10;&#10;        {/* 中：一体四面 */}&#10;        &lt;Box style={{ flex: 1, flexDirection: 'column' }}&gt;&#10;            &lt;Box style={{ flexDirection: 'row', alignItems: 'center', gap: 12, marginBottom: 8 }}&gt;&#10;                &lt;Text style={{ fontSize: 16, fontWeight: 'bold', color: '#0F1423' }}&gt;「一体四面」是什么&lt;/Text&gt;&#10;                &lt;Text style={{ fontSize: 13, color: '#8A8F99' }}&gt;一体 = 统一蓝图下协同设计；四面 = 四个架构域互相支撑、迭代优化&lt;/Text&gt;&#10;            &lt;/Box&gt;&#10;            &lt;Box style={{ flex: 1, flexDirection: 'row', gap: 9 }}&gt;&#10;                {[&#10;                    { a: 'BA', t: '业务架构', d: '价值流、业务能力、业务流程、业务服务的关系；支持业务流灵活编排；确定用例视图', c: '#FA4F24', o: '解决「业务该长什么样」' },&#10;                    { a: 'IA/DA', t: '信息（数据）架构', d: '承上启下，完成业务对象的数据建模；概念模型识别主体、逻辑模型定义主键、物理模型具现化', c: '#E0641E', o: '解决「同一个业务对象在哪几个系统里各叫什么」' },&#10;                    { a: 'AA', t: '应用架构', d: '应用系统模块、应用服务识别、应用系统集成三要素；产品选型、系统关系、集成与接口设计', c: '#D2531A', o: '解决「用哪些系统承载、怎么集成」' },&#10;                    { a: 'TA', t: '技术架构', d: '组件技术选型、部署模型视图、自研开发模型、安全设计、运营设计、DFX 设计', c: '#C43A17', o: '解决「跑在什么底座上、扛不扛得住」' },&#10;                ].map((x) =&gt; (&#10;                    &lt;Box key={x.a} style={{ flex: 1, background: '#FFFFFF', borderRadius: 3, border: '1px solid #E8E8E8', borderTop: '3px solid ' + x.c, padding: '12px 14px', flexDirection: 'column' }}&gt;&#10;                        &lt;Text style={{ fontSize: 18, fontWeight: 'bold', color: x.c }}&gt;{x.a}&lt;/Text&gt;&#10;                        &lt;Text style={{ fontSize: 14, fontWeight: 'bold', color: '#0F1423', marginTop: 5 }}&gt;{x.t}&lt;/Text&gt;&#10;                        &lt;Text style={{ fontSize: 11.5, color: '#3A4050', lineHeight: 1.45, marginTop: 8, flex: 1 }}&gt;{x.d}&lt;/Text&gt;&#10;                        &lt;Box style={{ background: '#F7F7F8', borderRadius: 2, padding: '0 9px', paddingTop: 6, paddingBottom: 6 }}&gt;&#10;                            &lt;Text style={{ fontSize: 10.5, color: x.c, lineHeight: 1.35 }}&gt;{x.o}&lt;/Text&gt;&#10;                        &lt;/Box&gt;&#10;                    &lt;/Box&gt;&#10;                ))}&#10;            &lt;/Box&gt;&#10;        &lt;/Box&gt;&#10;&#10;        {/* 底部 */}&#10;        &lt;Box style={{ height: 44, background: '#0F1423', borderRadius: 3, flexDirection: 'row', alignItems: 'center', padding: '0 20px', gap: 16 }}&gt;&#10;            &lt;Text style={{ fontSize: 13.5, fontWeight: 'bold', color: '#FBA15C', width: 138 }}&gt;「突破口」是什么&lt;/Text&gt;&#10;            &lt;Text style={{ fontSize: 14.5, color: '#FFFFFF', flex: 1 }}&gt;本领域四A 里&lt;tspan style={{ color: '#FA4F24' }}&gt;最先该动手的那一处&lt;/tspan&gt;——抓手就是它，不是八个域一起上&lt;/Text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华为数字化转型之道&lt;/Text&gt;&#10;        &lt;/Box&gt;&#10;        &lt;Text style={{ fontSize: 14, color: '#8A8F99' }}&gt;19 / 3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第二阶：统一认识，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设计架构蓝图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（步骤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6–7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只有两步，但这两步是全册最重的——蓝图错了，后面所有举措都在错的方向上加速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503" name=""/>
          <p:cNvSpPr/>
          <p:nvPr/>
        </p:nvSpPr>
        <p:spPr>
          <a:xfrm rot="0" flipH="0" flipV="0">
            <a:off x="609600" y="1304925"/>
            <a:ext cx="5438775" cy="1276350"/>
          </a:xfrm>
          <a:prstGeom prst="roundRect">
            <a:avLst>
              <a:gd name="adj" fmla="val 298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04" name=""/>
          <p:cNvSpPr/>
          <p:nvPr/>
        </p:nvSpPr>
        <p:spPr>
          <a:xfrm rot="0" flipH="0" flipV="0">
            <a:off x="781050" y="1428750"/>
            <a:ext cx="247650" cy="247650"/>
          </a:xfrm>
          <a:prstGeom prst="roundRect">
            <a:avLst>
              <a:gd name="adj" fmla="val 11538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838200" y="1485900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1114425" y="1457325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设计顶层架构蓝图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781050" y="1762125"/>
            <a:ext cx="5095875" cy="4095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从整个企业视角，对如何实现愿景，用企业架构方法进行清晰、系统性、分层分级的梳理和诠释</a:t>
            </a:r>
            <a:endParaRPr/>
          </a:p>
        </p:txBody>
      </p:sp>
      <p:sp>
        <p:nvSpPr>
          <p:cNvPr id="508" name=""/>
          <p:cNvSpPr/>
          <p:nvPr/>
        </p:nvSpPr>
        <p:spPr>
          <a:xfrm rot="0" flipH="0" flipV="0">
            <a:off x="781050" y="2171700"/>
            <a:ext cx="5095875" cy="285750"/>
          </a:xfrm>
          <a:prstGeom prst="roundRect">
            <a:avLst>
              <a:gd name="adj" fmla="val 10000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885825" y="2247900"/>
            <a:ext cx="4886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产出：顶层架构蓝图（分层分级）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6143625" y="1304925"/>
            <a:ext cx="5438775" cy="1276350"/>
          </a:xfrm>
          <a:prstGeom prst="roundRect">
            <a:avLst>
              <a:gd name="adj" fmla="val 298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11" name=""/>
          <p:cNvSpPr/>
          <p:nvPr/>
        </p:nvSpPr>
        <p:spPr>
          <a:xfrm rot="0" flipH="0" flipV="0">
            <a:off x="6315075" y="1428750"/>
            <a:ext cx="247650" cy="247650"/>
          </a:xfrm>
          <a:prstGeom prst="roundRect">
            <a:avLst>
              <a:gd name="adj" fmla="val 11538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6372225" y="1485900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6648450" y="1457325"/>
            <a:ext cx="1943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「一体四面」细化架构蓝图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8677275" y="1476375"/>
            <a:ext cx="304800" cy="152400"/>
          </a:xfrm>
          <a:prstGeom prst="roundRect">
            <a:avLst>
              <a:gd name="adj" fmla="val 12500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8734425" y="1495425"/>
            <a:ext cx="190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/>
                </a:solidFill>
                <a:latin typeface="Microsoft YaHei"/>
                <a:ea typeface="Microsoft YaHei"/>
              </a:rPr>
              <a:t>主线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6315075" y="1762125"/>
            <a:ext cx="5095875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各领域在公司统一蓝图下，以「一体四面」思路结合自身诉求细化，从架构上找到本领域的「突破口」</a:t>
            </a:r>
            <a:endParaRPr/>
          </a:p>
        </p:txBody>
      </p:sp>
      <p:sp>
        <p:nvSpPr>
          <p:cNvPr id="517" name=""/>
          <p:cNvSpPr/>
          <p:nvPr/>
        </p:nvSpPr>
        <p:spPr>
          <a:xfrm rot="0" flipH="0" flipV="0">
            <a:off x="6315075" y="2171700"/>
            <a:ext cx="5095875" cy="285750"/>
          </a:xfrm>
          <a:prstGeom prst="roundRect">
            <a:avLst>
              <a:gd name="adj" fmla="val 10000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6419850" y="2247900"/>
            <a:ext cx="4886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产出：四</a:t>
            </a:r>
            <a:r>
              <a:rPr lang="en-US" sz="82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82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分域细化成果</a:t>
            </a:r>
            <a:r>
              <a:rPr lang="en-US" sz="82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突破口识别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609600" y="2676525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「一体四面」是什么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2095500" y="2695575"/>
            <a:ext cx="3800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一体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统一蓝图下协同设计；四面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四个架构域互相支撑、迭代优化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609600" y="2971800"/>
            <a:ext cx="2676525" cy="2143125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2" name=""/>
          <p:cNvSpPr/>
          <p:nvPr/>
        </p:nvSpPr>
        <p:spPr>
          <a:xfrm rot="0" flipH="0" flipV="0">
            <a:off x="609600" y="2971800"/>
            <a:ext cx="2676525" cy="2143125"/>
          </a:xfrm>
          <a:custGeom>
            <a:pathLst>
              <a:path w="281" h="225">
                <a:moveTo>
                  <a:pt x="278" y="0"/>
                </a:moveTo>
                <a:cubicBezTo>
                  <a:pt x="280" y="0"/>
                  <a:pt x="281" y="1"/>
                  <a:pt x="281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8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742950" y="3086100"/>
            <a:ext cx="2409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A4F24"/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742950" y="3343275"/>
            <a:ext cx="2409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业务架构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742950" y="3581400"/>
            <a:ext cx="2409825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价值流、业务能力、业务流程、业务服务的关系；支持业务流灵活编排；确定用例视图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742950" y="4686300"/>
            <a:ext cx="2409825" cy="285750"/>
          </a:xfrm>
          <a:prstGeom prst="roundRect">
            <a:avLst>
              <a:gd name="adj" fmla="val 66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828675" y="4743450"/>
            <a:ext cx="22383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FA4F24"/>
                </a:solidFill>
                <a:latin typeface="Microsoft YaHei"/>
                <a:ea typeface="Microsoft YaHei"/>
              </a:rPr>
              <a:t>解决「业务该长什么样」</a:t>
            </a:r>
            <a:endParaRPr/>
          </a:p>
        </p:txBody>
      </p:sp>
      <p:sp>
        <p:nvSpPr>
          <p:cNvPr id="528" name=""/>
          <p:cNvSpPr/>
          <p:nvPr/>
        </p:nvSpPr>
        <p:spPr>
          <a:xfrm rot="0" flipH="0" flipV="0">
            <a:off x="3371850" y="2971800"/>
            <a:ext cx="2686050" cy="2143125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9" name=""/>
          <p:cNvSpPr/>
          <p:nvPr/>
        </p:nvSpPr>
        <p:spPr>
          <a:xfrm rot="0" flipH="0" flipV="0">
            <a:off x="3371850" y="2971800"/>
            <a:ext cx="2686050" cy="2143125"/>
          </a:xfrm>
          <a:custGeom>
            <a:pathLst>
              <a:path w="282" h="225">
                <a:moveTo>
                  <a:pt x="279" y="0"/>
                </a:moveTo>
                <a:cubicBezTo>
                  <a:pt x="281" y="0"/>
                  <a:pt x="282" y="1"/>
                  <a:pt x="282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9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3505200" y="3086100"/>
            <a:ext cx="2419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0641E"/>
                </a:solidFill>
                <a:latin typeface="Microsoft YaHei"/>
                <a:ea typeface="Microsoft YaHei"/>
              </a:rPr>
              <a:t>IA/DA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3505200" y="3343275"/>
            <a:ext cx="2419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信息（数据）架构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3505200" y="3581400"/>
            <a:ext cx="241935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承上启下，完成业务对象的数据建模；概念模型识别主体、逻辑模型定义主键、物理模型具现化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3505200" y="4686300"/>
            <a:ext cx="2419350" cy="285750"/>
          </a:xfrm>
          <a:prstGeom prst="roundRect">
            <a:avLst>
              <a:gd name="adj" fmla="val 66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3590925" y="4743450"/>
            <a:ext cx="2247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E0641E"/>
                </a:solidFill>
                <a:latin typeface="Microsoft YaHei"/>
                <a:ea typeface="Microsoft YaHei"/>
              </a:rPr>
              <a:t>解决「同一个业务对象在哪几个系统里各叫什么」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6143625" y="2971800"/>
            <a:ext cx="2676525" cy="2143125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6" name=""/>
          <p:cNvSpPr/>
          <p:nvPr/>
        </p:nvSpPr>
        <p:spPr>
          <a:xfrm rot="0" flipH="0" flipV="0">
            <a:off x="6143625" y="2971800"/>
            <a:ext cx="2676525" cy="2143125"/>
          </a:xfrm>
          <a:custGeom>
            <a:pathLst>
              <a:path w="281" h="225">
                <a:moveTo>
                  <a:pt x="278" y="0"/>
                </a:moveTo>
                <a:cubicBezTo>
                  <a:pt x="280" y="0"/>
                  <a:pt x="281" y="1"/>
                  <a:pt x="281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8" y="0"/>
                </a:lnTo>
                <a:close/>
              </a:path>
            </a:pathLst>
          </a:custGeom>
          <a:solidFill>
            <a:srgbClr val="D2531A"/>
          </a:solidFill>
          <a:ln/>
        </p:spPr>
        <p:txBody>
          <a:bodyPr/>
          <a:p/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6276975" y="3086100"/>
            <a:ext cx="2409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D2531A"/>
                </a:solidFill>
                <a:latin typeface="Microsoft YaHei"/>
                <a:ea typeface="Microsoft YaHei"/>
              </a:rPr>
              <a:t>AA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6276975" y="3343275"/>
            <a:ext cx="2409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应用架构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6276975" y="3581400"/>
            <a:ext cx="2409825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应用系统模块、应用服务识别、应用系统集成三要素；产品选型、系统关系、集成与接口设计</a:t>
            </a:r>
            <a:endParaRPr/>
          </a:p>
        </p:txBody>
      </p:sp>
      <p:sp>
        <p:nvSpPr>
          <p:cNvPr id="540" name=""/>
          <p:cNvSpPr/>
          <p:nvPr/>
        </p:nvSpPr>
        <p:spPr>
          <a:xfrm rot="0" flipH="0" flipV="0">
            <a:off x="6276975" y="4686300"/>
            <a:ext cx="2409825" cy="285750"/>
          </a:xfrm>
          <a:prstGeom prst="roundRect">
            <a:avLst>
              <a:gd name="adj" fmla="val 66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6362700" y="4743450"/>
            <a:ext cx="22383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D2531A"/>
                </a:solidFill>
                <a:latin typeface="Microsoft YaHei"/>
                <a:ea typeface="Microsoft YaHei"/>
              </a:rPr>
              <a:t>解决「用哪些系统承载、怎么集成」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8905875" y="2971800"/>
            <a:ext cx="2676525" cy="2143125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3" name=""/>
          <p:cNvSpPr/>
          <p:nvPr/>
        </p:nvSpPr>
        <p:spPr>
          <a:xfrm rot="0" flipH="0" flipV="0">
            <a:off x="8905875" y="2971800"/>
            <a:ext cx="2676525" cy="2143125"/>
          </a:xfrm>
          <a:custGeom>
            <a:pathLst>
              <a:path w="281" h="225">
                <a:moveTo>
                  <a:pt x="278" y="0"/>
                </a:moveTo>
                <a:cubicBezTo>
                  <a:pt x="280" y="0"/>
                  <a:pt x="281" y="1"/>
                  <a:pt x="281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8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9039225" y="3086100"/>
            <a:ext cx="2409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C43A17"/>
                </a:solidFill>
                <a:latin typeface="Microsoft YaHei"/>
                <a:ea typeface="Microsoft YaHei"/>
              </a:rPr>
              <a:t>TA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9039225" y="3343275"/>
            <a:ext cx="2409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9039225" y="3581400"/>
            <a:ext cx="2409825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组件技术选型、部署模型视图、自研开发模型、安全设计、运营设计、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DFX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设计</a:t>
            </a:r>
            <a:endParaRPr/>
          </a:p>
        </p:txBody>
      </p:sp>
      <p:sp>
        <p:nvSpPr>
          <p:cNvPr id="547" name=""/>
          <p:cNvSpPr/>
          <p:nvPr/>
        </p:nvSpPr>
        <p:spPr>
          <a:xfrm rot="0" flipH="0" flipV="0">
            <a:off x="9039225" y="4686300"/>
            <a:ext cx="2409825" cy="285750"/>
          </a:xfrm>
          <a:prstGeom prst="roundRect">
            <a:avLst>
              <a:gd name="adj" fmla="val 66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9124950" y="4743450"/>
            <a:ext cx="22383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C43A17"/>
                </a:solidFill>
                <a:latin typeface="Microsoft YaHei"/>
                <a:ea typeface="Microsoft YaHei"/>
              </a:rPr>
              <a:t>解决「跑在什么底座上、扛不扛得住」</a:t>
            </a:r>
            <a:endParaRPr/>
          </a:p>
        </p:txBody>
      </p:sp>
      <p:sp>
        <p:nvSpPr>
          <p:cNvPr id="549" name=""/>
          <p:cNvSpPr/>
          <p:nvPr/>
        </p:nvSpPr>
        <p:spPr>
          <a:xfrm rot="0" flipH="0" flipV="0">
            <a:off x="609600" y="5181600"/>
            <a:ext cx="10972800" cy="419100"/>
          </a:xfrm>
          <a:prstGeom prst="roundRect">
            <a:avLst>
              <a:gd name="adj" fmla="val 681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800100" y="5314950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「突破口」是什么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2266950" y="5305425"/>
            <a:ext cx="912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FFFFFF"/>
                </a:solidFill>
                <a:latin typeface="Microsoft YaHei"/>
                <a:ea typeface="Microsoft YaHei"/>
              </a:rPr>
              <a:t>本领域四</a:t>
            </a:r>
            <a:r>
              <a:rPr lang="en-US" sz="1088">
                <a:solidFill>
                  <a:srgbClr val="FFFFFF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088">
                <a:solidFill>
                  <a:srgbClr val="FFFFFF"/>
                </a:solidFill>
                <a:latin typeface="Microsoft YaHei"/>
                <a:ea typeface="Microsoft YaHei"/>
              </a:rPr>
              <a:t>里</a:t>
            </a:r>
            <a:r>
              <a:rPr lang="zh-CN" sz="1088">
                <a:solidFill>
                  <a:srgbClr val="FFFFFF"/>
                </a:solidFill>
                <a:latin typeface="Microsoft YaHei"/>
                <a:ea typeface="Microsoft YaHei"/>
              </a:rPr>
              <a:t>最先该动手的那一处</a:t>
            </a:r>
            <a:r>
              <a:rPr lang="zh-CN" sz="1088">
                <a:solidFill>
                  <a:srgbClr val="FFFFFF"/>
                </a:solidFill>
                <a:latin typeface="Microsoft YaHei"/>
                <a:ea typeface="Microsoft YaHei"/>
              </a:rPr>
              <a:t>——抓手就是它，不是八个域一起上</a:t>
            </a:r>
            <a:endParaRPr/>
          </a:p>
        </p:txBody>
      </p:sp>
      <p:sp>
        <p:nvSpPr>
          <p:cNvPr id="552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19 / 35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601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架构蓝图的 &lt;span style={{ color: '#FA4F24' }}&gt;6 个设计原则&lt;/span&gt;&#10;        &lt;/Text&gt;&#10;        &lt;Text style={{ fontSize: 20, color: '#8A8F99', marginTop: 8 }}&gt;&#10;            这六条是审图清单——客户拿方案来对照这六条，六条都过的图基本不会跑偏&#10;        &lt;/Text&gt;&#10;    &lt;/Box&gt;&#10;    &lt;Box style={{ height: 1, background: '#E8E8E8' }} /&gt;&#10;&#10;    {/* B 区 */}&#10;    &lt;Box style={{ paddingTop: 16, paddingBottom: 12, height: 479, flexDirection: 'column', gap: 10 }}&gt;&#10;&#10;        {/* 六条 */}&#10;        &lt;Box style={{ height: 302, flexDirection: 'column', gap: 8 }}&gt;&#10;            {[&#10;                { n: '1', t: '以客户为中心，由外而内进行蓝图设计', d: '先看客户和端到端流程，再看内部环节——顺序反了就成了内部视角的自我改良', c: '#FA4F24', k: '最常被违反的一条' },&#10;                { n: '2', t: '明确在哪些端到端流程提升业务效率', d: '提升点必须落在端到端流程上，落在部门内不算数', c: '#E0641E', k: '落到 LTC 这样的主流程上' },&#10;                { n: '3', t: '从内部视角，看从哪些关键环节入手提升业务能力', d: '端到端定了方向，内部要落到具体能力上，否则方向无处执行', c: '#D2531A', k: '关键环节清单' },&#10;                { n: '4', t: '各部门的责任分工和层级关系要清晰', d: '架构图上能看出谁负责、谁支撑、谁被依赖', c: '#C43A17', k: '架构治理的前提' },&#10;                { n: '5', t: '明确定义全局性工作', d: '哪些事必须由公司统一做，不能各领域自己搞——数据标准、集成规范等', c: '#9E3410', k: '对应三个平台能力' },&#10;                { n: '6', t: '体现架构的演进方向', d: '蓝图要写清从当前到目标分几步走，不是把终态画出来就完事', c: '#8A3A0E', k: '连接第三阶的路标' },&#10;            ].map((x) =&gt; (&#10;                &lt;Box key={x.n} style={{ flex: 1, flexDirection: 'row', alignItems: 'stretch', gap: 9 }}&gt;&#10;                    &lt;Box style={{ width: 34, background: x.c, borderRadius: 3, alignItems: 'center', justifyContent: 'center' }}&gt;&#10;                        &lt;Text style={{ fontSize: 16, fontWeight: 'bold', color: '#FFFFFF' }}&gt;{x.n}&lt;/Text&gt;&#10;                    &lt;/Box&gt;&#10;                    &lt;Box style={{ width: 350, background: '#F7F7F8', borderRadius: 3, padding: '0 14px', flexDirection: 'column', justifyContent: 'center' }}&gt;&#10;                        &lt;Text style={{ fontSize: 14.5, fontWeight: 'bold', color: '#0F1423', lineHeight: 1.3 }}&gt;{x.t}&lt;/Text&gt;&#10;                    &lt;/Box&gt;&#10;                    &lt;Box style={{ flex: 1, background: '#F7F7F8', borderRadius: 3, padding: '0 14px', flexDirection: 'column', justifyContent: 'center' }}&gt;&#10;                        &lt;Text style={{ fontSize: 12.5, color: '#3A4050', lineHeight: 1.4 }}&gt;{x.d}&lt;/Text&gt;&#10;                    &lt;/Box&gt;&#10;                    &lt;Box style={{ width: 208, background: '#FFF3EE', borderRadius: 3, borderLeft: '4px solid ' + x.c, padding: '0 12px', flexDirection: 'column', justifyContent: 'center' }}&gt;&#10;                        &lt;Text style={{ fontSize: 11.5, color: '#C43A17', lineHeight: 1.35 }}&gt;{x.k}&lt;/Text&gt;&#10;                    &lt;/Box&gt;&#10;                &lt;/Box&gt;&#10;            ))}&#10;        &lt;/Box&gt;&#10;&#10;        {/* 底部审图清单 */}&#10;        &lt;Box style={{ flex: 1, background: '#0F1423', borderRadius: 3, padding: '12px 20px', flexDirection: 'row', alignItems: 'center', gap: 18 }}&gt;&#10;            &lt;Text style={{ fontSize: 14, fontWeight: 'bold', color: '#FBA15C', width: 150 }}&gt;拿到客户蓝图先问三句&lt;/Text&gt;&#10;            &lt;Text style={{ fontSize: 13.5, color: '#FFFFFF', flex: 1, lineHeight: 1.5 }}&gt;&#10;                ① 提升点落在端到端流程还是部门内？　② 全局性工作谁定标准？　③ 从现在到目标分几步？&#10;            &lt;/Text&gt;&#10;            &lt;Text style={{ fontSize: 12, color: 'rgba(255,255,255,0.68)', width: 218, lineHeight: 1.4 }}&gt;三问答不上来，这份蓝图还只是系统规划&lt;/Text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华为数字化转型之道&lt;/Text&gt;&#10;        &lt;/Box&gt;&#10;        &lt;Text style={{ fontSize: 14, color: '#8A8F99' }}&gt;20 / 3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架构蓝图的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6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个设计原则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这六条是审图清单——客户拿方案来对照这六条，六条都过的图基本不会跑偏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606" name=""/>
          <p:cNvSpPr/>
          <p:nvPr/>
        </p:nvSpPr>
        <p:spPr>
          <a:xfrm rot="0" flipH="0" flipV="0">
            <a:off x="609600" y="1304925"/>
            <a:ext cx="323850" cy="419100"/>
          </a:xfrm>
          <a:prstGeom prst="roundRect">
            <a:avLst>
              <a:gd name="adj" fmla="val 8824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723900" y="14192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608" name=""/>
          <p:cNvSpPr/>
          <p:nvPr/>
        </p:nvSpPr>
        <p:spPr>
          <a:xfrm rot="0" flipH="0" flipV="0">
            <a:off x="1019175" y="1304925"/>
            <a:ext cx="3333750" cy="419100"/>
          </a:xfrm>
          <a:prstGeom prst="roundRect">
            <a:avLst>
              <a:gd name="adj" fmla="val 681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1152525" y="1409700"/>
            <a:ext cx="3067050" cy="2190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以客户为中心，由外而内进行蓝图设计</a:t>
            </a:r>
            <a:endParaRPr/>
          </a:p>
        </p:txBody>
      </p:sp>
      <p:sp>
        <p:nvSpPr>
          <p:cNvPr id="610" name=""/>
          <p:cNvSpPr/>
          <p:nvPr/>
        </p:nvSpPr>
        <p:spPr>
          <a:xfrm rot="0" flipH="0" flipV="0">
            <a:off x="4438650" y="1304925"/>
            <a:ext cx="5076825" cy="419100"/>
          </a:xfrm>
          <a:prstGeom prst="roundRect">
            <a:avLst>
              <a:gd name="adj" fmla="val 681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4572000" y="1419225"/>
            <a:ext cx="48101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先看客户和端到端流程，再看内部环节——顺序反了就成了内部视角的自我改良</a:t>
            </a:r>
            <a:endParaRPr/>
          </a:p>
        </p:txBody>
      </p:sp>
      <p:sp>
        <p:nvSpPr>
          <p:cNvPr id="612" name=""/>
          <p:cNvSpPr/>
          <p:nvPr/>
        </p:nvSpPr>
        <p:spPr>
          <a:xfrm rot="0" flipH="0" flipV="0">
            <a:off x="9639300" y="1304925"/>
            <a:ext cx="1943100" cy="419100"/>
          </a:xfrm>
          <a:prstGeom prst="roundRect">
            <a:avLst>
              <a:gd name="adj" fmla="val 681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613" name=""/>
          <p:cNvSpPr/>
          <p:nvPr/>
        </p:nvSpPr>
        <p:spPr>
          <a:xfrm rot="0" flipH="0" flipV="0">
            <a:off x="9639300" y="1304925"/>
            <a:ext cx="1943100" cy="419100"/>
          </a:xfrm>
          <a:custGeom>
            <a:pathLst>
              <a:path w="204" h="44">
                <a:moveTo>
                  <a:pt x="4" y="44"/>
                </a:moveTo>
                <a:cubicBezTo>
                  <a:pt x="3" y="44"/>
                  <a:pt x="2" y="44"/>
                  <a:pt x="1" y="43"/>
                </a:cubicBezTo>
                <a:cubicBezTo>
                  <a:pt x="0" y="42"/>
                  <a:pt x="0" y="42"/>
                  <a:pt x="0" y="4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9753600" y="1428750"/>
            <a:ext cx="171450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C43A17"/>
                </a:solidFill>
                <a:latin typeface="Microsoft YaHei"/>
                <a:ea typeface="Microsoft YaHei"/>
              </a:rPr>
              <a:t>最常被违反的一条</a:t>
            </a:r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609600" y="1800225"/>
            <a:ext cx="323850" cy="409575"/>
          </a:xfrm>
          <a:prstGeom prst="roundRect">
            <a:avLst>
              <a:gd name="adj" fmla="val 8824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723900" y="19145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617" name=""/>
          <p:cNvSpPr/>
          <p:nvPr/>
        </p:nvSpPr>
        <p:spPr>
          <a:xfrm rot="0" flipH="0" flipV="0">
            <a:off x="1019175" y="1800225"/>
            <a:ext cx="3333750" cy="409575"/>
          </a:xfrm>
          <a:prstGeom prst="roundRect">
            <a:avLst>
              <a:gd name="adj" fmla="val 697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1152525" y="1895475"/>
            <a:ext cx="3067050" cy="2190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明确在哪些端到端流程提升业务效率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4438650" y="1800225"/>
            <a:ext cx="5076825" cy="409575"/>
          </a:xfrm>
          <a:prstGeom prst="roundRect">
            <a:avLst>
              <a:gd name="adj" fmla="val 697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4572000" y="1905000"/>
            <a:ext cx="48101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提升点必须落在端到端流程上，落在部门内不算数</a:t>
            </a:r>
            <a:endParaRPr/>
          </a:p>
        </p:txBody>
      </p:sp>
      <p:sp>
        <p:nvSpPr>
          <p:cNvPr id="621" name=""/>
          <p:cNvSpPr/>
          <p:nvPr/>
        </p:nvSpPr>
        <p:spPr>
          <a:xfrm rot="0" flipH="0" flipV="0">
            <a:off x="9639300" y="1800225"/>
            <a:ext cx="1943100" cy="409575"/>
          </a:xfrm>
          <a:prstGeom prst="roundRect">
            <a:avLst>
              <a:gd name="adj" fmla="val 697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622" name=""/>
          <p:cNvSpPr/>
          <p:nvPr/>
        </p:nvSpPr>
        <p:spPr>
          <a:xfrm rot="0" flipH="0" flipV="0">
            <a:off x="9639300" y="1800225"/>
            <a:ext cx="1943100" cy="409575"/>
          </a:xfrm>
          <a:custGeom>
            <a:pathLst>
              <a:path w="204" h="43">
                <a:moveTo>
                  <a:pt x="4" y="43"/>
                </a:moveTo>
                <a:cubicBezTo>
                  <a:pt x="3" y="43"/>
                  <a:pt x="2" y="43"/>
                  <a:pt x="1" y="42"/>
                </a:cubicBezTo>
                <a:cubicBezTo>
                  <a:pt x="0" y="41"/>
                  <a:pt x="0" y="41"/>
                  <a:pt x="0" y="40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9753600" y="1914525"/>
            <a:ext cx="171450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C43A17"/>
                </a:solidFill>
                <a:latin typeface="Microsoft YaHei"/>
                <a:ea typeface="Microsoft YaHei"/>
              </a:rPr>
              <a:t>落到</a:t>
            </a:r>
            <a:r>
              <a:rPr lang="en-US" sz="863">
                <a:solidFill>
                  <a:srgbClr val="C43A17"/>
                </a:solidFill>
                <a:latin typeface="Microsoft YaHei"/>
                <a:ea typeface="Microsoft YaHei"/>
              </a:rPr>
              <a:t xml:space="preserve"> LTC </a:t>
            </a:r>
            <a:r>
              <a:rPr lang="zh-CN" sz="863">
                <a:solidFill>
                  <a:srgbClr val="C43A17"/>
                </a:solidFill>
                <a:latin typeface="Microsoft YaHei"/>
                <a:ea typeface="Microsoft YaHei"/>
              </a:rPr>
              <a:t>这样的主流程上</a:t>
            </a:r>
            <a:endParaRPr/>
          </a:p>
        </p:txBody>
      </p:sp>
      <p:sp>
        <p:nvSpPr>
          <p:cNvPr id="624" name=""/>
          <p:cNvSpPr/>
          <p:nvPr/>
        </p:nvSpPr>
        <p:spPr>
          <a:xfrm rot="0" flipH="0" flipV="0">
            <a:off x="609600" y="2286000"/>
            <a:ext cx="323850" cy="419100"/>
          </a:xfrm>
          <a:prstGeom prst="roundRect">
            <a:avLst>
              <a:gd name="adj" fmla="val 8824"/>
            </a:avLst>
          </a:prstGeom>
          <a:solidFill>
            <a:srgbClr val="D2531A"/>
          </a:solidFill>
          <a:ln/>
        </p:spPr>
        <p:txBody>
          <a:bodyPr/>
          <a:p/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723900" y="24003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626" name=""/>
          <p:cNvSpPr/>
          <p:nvPr/>
        </p:nvSpPr>
        <p:spPr>
          <a:xfrm rot="0" flipH="0" flipV="0">
            <a:off x="1019175" y="2286000"/>
            <a:ext cx="3333750" cy="419100"/>
          </a:xfrm>
          <a:prstGeom prst="roundRect">
            <a:avLst>
              <a:gd name="adj" fmla="val 681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1152525" y="2390775"/>
            <a:ext cx="3067050" cy="2190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从内部视角，看从哪些关键环节入手提升业务能力</a:t>
            </a:r>
            <a:endParaRPr/>
          </a:p>
        </p:txBody>
      </p:sp>
      <p:sp>
        <p:nvSpPr>
          <p:cNvPr id="628" name=""/>
          <p:cNvSpPr/>
          <p:nvPr/>
        </p:nvSpPr>
        <p:spPr>
          <a:xfrm rot="0" flipH="0" flipV="0">
            <a:off x="4438650" y="2286000"/>
            <a:ext cx="5076825" cy="419100"/>
          </a:xfrm>
          <a:prstGeom prst="roundRect">
            <a:avLst>
              <a:gd name="adj" fmla="val 681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4572000" y="2400300"/>
            <a:ext cx="48101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端到端定了方向，内部要落到具体能力上，否则方向无处执行</a:t>
            </a:r>
            <a:endParaRPr/>
          </a:p>
        </p:txBody>
      </p:sp>
      <p:sp>
        <p:nvSpPr>
          <p:cNvPr id="630" name=""/>
          <p:cNvSpPr/>
          <p:nvPr/>
        </p:nvSpPr>
        <p:spPr>
          <a:xfrm rot="0" flipH="0" flipV="0">
            <a:off x="9639300" y="2286000"/>
            <a:ext cx="1943100" cy="419100"/>
          </a:xfrm>
          <a:prstGeom prst="roundRect">
            <a:avLst>
              <a:gd name="adj" fmla="val 681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631" name=""/>
          <p:cNvSpPr/>
          <p:nvPr/>
        </p:nvSpPr>
        <p:spPr>
          <a:xfrm rot="0" flipH="0" flipV="0">
            <a:off x="9639300" y="2286000"/>
            <a:ext cx="1943100" cy="419100"/>
          </a:xfrm>
          <a:custGeom>
            <a:pathLst>
              <a:path w="204" h="44">
                <a:moveTo>
                  <a:pt x="4" y="44"/>
                </a:moveTo>
                <a:cubicBezTo>
                  <a:pt x="3" y="44"/>
                  <a:pt x="2" y="44"/>
                  <a:pt x="1" y="43"/>
                </a:cubicBezTo>
                <a:cubicBezTo>
                  <a:pt x="0" y="42"/>
                  <a:pt x="0" y="42"/>
                  <a:pt x="0" y="4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D2531A"/>
          </a:solidFill>
          <a:ln/>
        </p:spPr>
        <p:txBody>
          <a:bodyPr/>
          <a:p/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9753600" y="2409825"/>
            <a:ext cx="171450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C43A17"/>
                </a:solidFill>
                <a:latin typeface="Microsoft YaHei"/>
                <a:ea typeface="Microsoft YaHei"/>
              </a:rPr>
              <a:t>关键环节清单</a:t>
            </a:r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609600" y="2781300"/>
            <a:ext cx="323850" cy="419100"/>
          </a:xfrm>
          <a:prstGeom prst="roundRect">
            <a:avLst>
              <a:gd name="adj" fmla="val 8824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723900" y="28956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635" name=""/>
          <p:cNvSpPr/>
          <p:nvPr/>
        </p:nvSpPr>
        <p:spPr>
          <a:xfrm rot="0" flipH="0" flipV="0">
            <a:off x="1019175" y="2781300"/>
            <a:ext cx="3333750" cy="419100"/>
          </a:xfrm>
          <a:prstGeom prst="roundRect">
            <a:avLst>
              <a:gd name="adj" fmla="val 681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1152525" y="2886075"/>
            <a:ext cx="3067050" cy="2190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各部门的责任分工和层级关系要清晰</a:t>
            </a:r>
            <a:endParaRPr/>
          </a:p>
        </p:txBody>
      </p:sp>
      <p:sp>
        <p:nvSpPr>
          <p:cNvPr id="637" name=""/>
          <p:cNvSpPr/>
          <p:nvPr/>
        </p:nvSpPr>
        <p:spPr>
          <a:xfrm rot="0" flipH="0" flipV="0">
            <a:off x="4438650" y="2781300"/>
            <a:ext cx="5076825" cy="419100"/>
          </a:xfrm>
          <a:prstGeom prst="roundRect">
            <a:avLst>
              <a:gd name="adj" fmla="val 681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4572000" y="2895600"/>
            <a:ext cx="48101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架构图上能看出谁负责、谁支撑、谁被依赖</a:t>
            </a:r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9639300" y="2781300"/>
            <a:ext cx="1943100" cy="419100"/>
          </a:xfrm>
          <a:prstGeom prst="roundRect">
            <a:avLst>
              <a:gd name="adj" fmla="val 681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640" name=""/>
          <p:cNvSpPr/>
          <p:nvPr/>
        </p:nvSpPr>
        <p:spPr>
          <a:xfrm rot="0" flipH="0" flipV="0">
            <a:off x="9639300" y="2781300"/>
            <a:ext cx="1943100" cy="419100"/>
          </a:xfrm>
          <a:custGeom>
            <a:pathLst>
              <a:path w="204" h="44">
                <a:moveTo>
                  <a:pt x="4" y="44"/>
                </a:moveTo>
                <a:cubicBezTo>
                  <a:pt x="3" y="44"/>
                  <a:pt x="2" y="44"/>
                  <a:pt x="1" y="43"/>
                </a:cubicBezTo>
                <a:cubicBezTo>
                  <a:pt x="0" y="42"/>
                  <a:pt x="0" y="42"/>
                  <a:pt x="0" y="4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9753600" y="2905125"/>
            <a:ext cx="171450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C43A17"/>
                </a:solidFill>
                <a:latin typeface="Microsoft YaHei"/>
                <a:ea typeface="Microsoft YaHei"/>
              </a:rPr>
              <a:t>架构治理的前提</a:t>
            </a:r>
            <a:endParaRPr/>
          </a:p>
        </p:txBody>
      </p:sp>
      <p:sp>
        <p:nvSpPr>
          <p:cNvPr id="642" name=""/>
          <p:cNvSpPr/>
          <p:nvPr/>
        </p:nvSpPr>
        <p:spPr>
          <a:xfrm rot="0" flipH="0" flipV="0">
            <a:off x="609600" y="3276600"/>
            <a:ext cx="323850" cy="409575"/>
          </a:xfrm>
          <a:prstGeom prst="roundRect">
            <a:avLst>
              <a:gd name="adj" fmla="val 8824"/>
            </a:avLst>
          </a:prstGeom>
          <a:solidFill>
            <a:srgbClr val="9E3410"/>
          </a:solidFill>
          <a:ln/>
        </p:spPr>
        <p:txBody>
          <a:bodyPr/>
          <a:p/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723900" y="33909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644" name=""/>
          <p:cNvSpPr/>
          <p:nvPr/>
        </p:nvSpPr>
        <p:spPr>
          <a:xfrm rot="0" flipH="0" flipV="0">
            <a:off x="1019175" y="3276600"/>
            <a:ext cx="3333750" cy="409575"/>
          </a:xfrm>
          <a:prstGeom prst="roundRect">
            <a:avLst>
              <a:gd name="adj" fmla="val 697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1152525" y="3371850"/>
            <a:ext cx="3067050" cy="2190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明确定义全局性工作</a:t>
            </a:r>
            <a:endParaRPr/>
          </a:p>
        </p:txBody>
      </p:sp>
      <p:sp>
        <p:nvSpPr>
          <p:cNvPr id="646" name=""/>
          <p:cNvSpPr/>
          <p:nvPr/>
        </p:nvSpPr>
        <p:spPr>
          <a:xfrm rot="0" flipH="0" flipV="0">
            <a:off x="4438650" y="3276600"/>
            <a:ext cx="5076825" cy="409575"/>
          </a:xfrm>
          <a:prstGeom prst="roundRect">
            <a:avLst>
              <a:gd name="adj" fmla="val 697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4572000" y="3381375"/>
            <a:ext cx="48101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哪些事必须由公司统一做，不能各领域自己搞——数据标准、集成规范等</a:t>
            </a:r>
            <a:endParaRPr/>
          </a:p>
        </p:txBody>
      </p:sp>
      <p:sp>
        <p:nvSpPr>
          <p:cNvPr id="648" name=""/>
          <p:cNvSpPr/>
          <p:nvPr/>
        </p:nvSpPr>
        <p:spPr>
          <a:xfrm rot="0" flipH="0" flipV="0">
            <a:off x="9639300" y="3276600"/>
            <a:ext cx="1943100" cy="409575"/>
          </a:xfrm>
          <a:prstGeom prst="roundRect">
            <a:avLst>
              <a:gd name="adj" fmla="val 697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649" name=""/>
          <p:cNvSpPr/>
          <p:nvPr/>
        </p:nvSpPr>
        <p:spPr>
          <a:xfrm rot="0" flipH="0" flipV="0">
            <a:off x="9639300" y="3276600"/>
            <a:ext cx="1943100" cy="409575"/>
          </a:xfrm>
          <a:custGeom>
            <a:pathLst>
              <a:path w="204" h="43">
                <a:moveTo>
                  <a:pt x="4" y="43"/>
                </a:moveTo>
                <a:cubicBezTo>
                  <a:pt x="3" y="43"/>
                  <a:pt x="2" y="43"/>
                  <a:pt x="1" y="42"/>
                </a:cubicBezTo>
                <a:cubicBezTo>
                  <a:pt x="0" y="41"/>
                  <a:pt x="0" y="41"/>
                  <a:pt x="0" y="40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9E3410"/>
          </a:solidFill>
          <a:ln/>
        </p:spPr>
        <p:txBody>
          <a:bodyPr/>
          <a:p/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9753600" y="3390900"/>
            <a:ext cx="171450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C43A17"/>
                </a:solidFill>
                <a:latin typeface="Microsoft YaHei"/>
                <a:ea typeface="Microsoft YaHei"/>
              </a:rPr>
              <a:t>对应三个平台能力</a:t>
            </a:r>
            <a:endParaRPr/>
          </a:p>
        </p:txBody>
      </p:sp>
      <p:sp>
        <p:nvSpPr>
          <p:cNvPr id="651" name=""/>
          <p:cNvSpPr/>
          <p:nvPr/>
        </p:nvSpPr>
        <p:spPr>
          <a:xfrm rot="0" flipH="0" flipV="0">
            <a:off x="609600" y="3762375"/>
            <a:ext cx="323850" cy="419100"/>
          </a:xfrm>
          <a:prstGeom prst="roundRect">
            <a:avLst>
              <a:gd name="adj" fmla="val 8824"/>
            </a:avLst>
          </a:prstGeom>
          <a:solidFill>
            <a:srgbClr val="8A3A0E"/>
          </a:solidFill>
          <a:ln/>
        </p:spPr>
        <p:txBody>
          <a:bodyPr/>
          <a:p/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723900" y="38766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653" name=""/>
          <p:cNvSpPr/>
          <p:nvPr/>
        </p:nvSpPr>
        <p:spPr>
          <a:xfrm rot="0" flipH="0" flipV="0">
            <a:off x="1019175" y="3762375"/>
            <a:ext cx="3333750" cy="419100"/>
          </a:xfrm>
          <a:prstGeom prst="roundRect">
            <a:avLst>
              <a:gd name="adj" fmla="val 681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1152525" y="3867150"/>
            <a:ext cx="3067050" cy="2190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体现架构的演进方向</a:t>
            </a:r>
            <a:endParaRPr/>
          </a:p>
        </p:txBody>
      </p:sp>
      <p:sp>
        <p:nvSpPr>
          <p:cNvPr id="655" name=""/>
          <p:cNvSpPr/>
          <p:nvPr/>
        </p:nvSpPr>
        <p:spPr>
          <a:xfrm rot="0" flipH="0" flipV="0">
            <a:off x="4438650" y="3762375"/>
            <a:ext cx="5076825" cy="419100"/>
          </a:xfrm>
          <a:prstGeom prst="roundRect">
            <a:avLst>
              <a:gd name="adj" fmla="val 681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4572000" y="3876675"/>
            <a:ext cx="48101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蓝图要写清从当前到目标分几步走，不是把终态画出来就完事</a:t>
            </a:r>
            <a:endParaRPr/>
          </a:p>
        </p:txBody>
      </p:sp>
      <p:sp>
        <p:nvSpPr>
          <p:cNvPr id="657" name=""/>
          <p:cNvSpPr/>
          <p:nvPr/>
        </p:nvSpPr>
        <p:spPr>
          <a:xfrm rot="0" flipH="0" flipV="0">
            <a:off x="9639300" y="3762375"/>
            <a:ext cx="1943100" cy="419100"/>
          </a:xfrm>
          <a:prstGeom prst="roundRect">
            <a:avLst>
              <a:gd name="adj" fmla="val 681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658" name=""/>
          <p:cNvSpPr/>
          <p:nvPr/>
        </p:nvSpPr>
        <p:spPr>
          <a:xfrm rot="0" flipH="0" flipV="0">
            <a:off x="9639300" y="3762375"/>
            <a:ext cx="1943100" cy="419100"/>
          </a:xfrm>
          <a:custGeom>
            <a:pathLst>
              <a:path w="204" h="44">
                <a:moveTo>
                  <a:pt x="4" y="44"/>
                </a:moveTo>
                <a:cubicBezTo>
                  <a:pt x="3" y="44"/>
                  <a:pt x="2" y="44"/>
                  <a:pt x="1" y="43"/>
                </a:cubicBezTo>
                <a:cubicBezTo>
                  <a:pt x="0" y="42"/>
                  <a:pt x="0" y="42"/>
                  <a:pt x="0" y="4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8A3A0E"/>
          </a:solidFill>
          <a:ln/>
        </p:spPr>
        <p:txBody>
          <a:bodyPr/>
          <a:p/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9753600" y="3886200"/>
            <a:ext cx="171450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C43A17"/>
                </a:solidFill>
                <a:latin typeface="Microsoft YaHei"/>
                <a:ea typeface="Microsoft YaHei"/>
              </a:rPr>
              <a:t>连接第三阶的路标</a:t>
            </a:r>
            <a:endParaRPr/>
          </a:p>
        </p:txBody>
      </p:sp>
      <p:sp>
        <p:nvSpPr>
          <p:cNvPr id="660" name=""/>
          <p:cNvSpPr/>
          <p:nvPr/>
        </p:nvSpPr>
        <p:spPr>
          <a:xfrm rot="0" flipH="0" flipV="0">
            <a:off x="609600" y="4276725"/>
            <a:ext cx="10972800" cy="1323975"/>
          </a:xfrm>
          <a:prstGeom prst="roundRect">
            <a:avLst>
              <a:gd name="adj" fmla="val 215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800100" y="485775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拿到客户蓝图先问三句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2400300" y="4819650"/>
            <a:ext cx="674370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FFFFFF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013">
                <a:solidFill>
                  <a:srgbClr val="FFFFFF"/>
                </a:solidFill>
                <a:latin typeface="Microsoft YaHei"/>
                <a:ea typeface="Microsoft YaHei"/>
              </a:rPr>
              <a:t>提升点落在端到端流程还是部门内？　②</a:t>
            </a:r>
            <a:r>
              <a:rPr lang="en-US" sz="1013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13">
                <a:solidFill>
                  <a:srgbClr val="FFFFFF"/>
                </a:solidFill>
                <a:latin typeface="Microsoft YaHei"/>
                <a:ea typeface="Microsoft YaHei"/>
              </a:rPr>
              <a:t>全局性工作谁定标准？　③</a:t>
            </a:r>
            <a:r>
              <a:rPr lang="en-US" sz="1013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13">
                <a:solidFill>
                  <a:srgbClr val="FFFFFF"/>
                </a:solidFill>
                <a:latin typeface="Microsoft YaHei"/>
                <a:ea typeface="Microsoft YaHei"/>
              </a:rPr>
              <a:t>从现在到目标分几步？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9315450" y="4838700"/>
            <a:ext cx="2076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</a:rPr>
              <a:t>三问答不上来，这份蓝图还只是系统规划</a:t>
            </a:r>
            <a:endParaRPr/>
          </a:p>
        </p:txBody>
      </p:sp>
      <p:sp>
        <p:nvSpPr>
          <p:cNvPr id="664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20 / 35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667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华为自己的架构蓝图：&lt;span style={{ color: '#FA4F24' }}&gt;五层结构&lt;/span&gt;&#10;        &lt;/Text&gt;&#10;        &lt;Text style={{ fontSize: 20, color: '#8A8F99', marginTop: 8 }}&gt;&#10;            原书 3.2.2——这是一个成熟企业的答案，可以用来跟客户说「做到这一层要多久」&#10;        &lt;/Text&gt;&#10;    &lt;/Box&gt;&#10;    &lt;Box style={{ height: 1, background: '#E8E8E8' }} /&gt;&#10;&#10;    {/* B 区 */}&#10;    &lt;Box style={{ paddingTop: 16, paddingBottom: 12, height: 479, flexDirection: 'column', gap: 10 }}&gt;&#10;&#10;        {/* 五层阶梯 */}&#10;        &lt;Box style={{ height: 300, flexDirection: 'row', alignItems: 'flex-end', gap: 8 }}&gt;&#10;            {[&#10;                { n: '1', t: '客户联接', d: '统一对外界面：客户能触达什么、能自助什么、能被感知到什么', h: 204, c: '#FA4F24', o: '对应 BA 的价值流起点' },&#10;                { n: '2', t: '一线作战平台', d: '给一线人员用的作战工具，把能力送到人手上而不是送到系统里', h: 228, c: '#E0641E', o: '对应 4 类场景中的作业场景' },&#10;                { n: '3', t: '能力数字化', d: '把业务能力沉淀成可复用的服务，而不是每个项目重新开发一遍', h: 252, c: '#D2531A', o: '对应 AA 的中台化与服务化' },&#10;                { n: '4', t: '数字化运营', d: '企业自己转得更快：运营可视、决策及时、异常主动预警', h: 276, c: '#C43A17', o: '对应 IA/DA + 指标体系' },&#10;                { n: '5', t: '云化 IT 平台', d: '统一技术底座，支撑上面四层弹性扩展与快速迭代', h: 300, c: '#9E3410', o: '对应 TA 与云化数字平台' },&#10;            ].map((x) =&gt; (&#10;                &lt;Box key={x.n} style={{ flex: 1, height: x.h, background: x.c, borderRadius: 4, padding: '14px 13px', flexDirection: 'column' }}&gt;&#10;                    &lt;Text style={{ fontSize: 13, color: 'rgba(255,255,255,0.7)', fontWeight: 'bold' }}&gt;{x.n}&lt;/Text&gt;&#10;                    &lt;Text style={{ fontSize: 18, fontWeight: 'bold', color: '#FFFFFF', marginTop: 5 }}&gt;{x.t}&lt;/Text&gt;&#10;                    &lt;Text style={{ fontSize: 11.5, color: 'rgba(255,255,255,0.9)', lineHeight: 1.45, marginTop: 9, flex: 1 }}&gt;{x.d}&lt;/Text&gt;&#10;                    &lt;Text style={{ fontSize: 10.5, color: 'rgba(255,255,255,0.95)', lineHeight: 1.35, borderTop: '1px solid rgba(255,255,255,0.28)', paddingTop: 8 }}&gt;{x.o}&lt;/Text&gt;&#10;                &lt;/Box&gt;&#10;            ))}&#10;        &lt;/Box&gt;&#10;&#10;        {/* 底部两块 */}&#10;        &lt;Box style={{ flex: 1, flexDirection: 'row', gap: 9 }}&gt;&#10;            &lt;Box style={{ flex: 1, background: '#0F1423', borderRadius: 3, padding: '0 20px', flexDirection: 'row', alignItems: 'center', gap: 18 }}&gt;&#10;                &lt;Text style={{ fontSize: 13.5, fontWeight: 'bold', color: '#FBA15C', width: 138 }}&gt;五层与 4A 的关系&lt;/Text&gt;&#10;                &lt;Text style={{ fontSize: 13.5, color: '#FFFFFF', flex: 1, lineHeight: 1.45 }}&gt;&#10;                    五层是&lt;tspan style={{ color: '#FA4F24' }}&gt;按能力视角&lt;/tspan&gt;的画法，4A 是&lt;tspan style={{ color: '#FA4F24' }}&gt;按架构域&lt;/tspan&gt;的画法。同一套内容，两种切法——汇报用五层，实施用 4A&#10;                &lt;/Text&gt;&#10;            &lt;/Box&gt;&#10;            &lt;Box style={{ width: 400, background: '#FFF3EE', borderRadius: 3, borderLeft: '4px solid #FBA15C', padding: '0 18px', flexDirection: 'column', justifyContent: 'center' }}&gt;&#10;                &lt;Text style={{ fontSize: 13, fontWeight: 'bold', color: '#C43A17' }}&gt;给客户的说法&lt;/Text&gt;&#10;                &lt;Text style={{ fontSize: 12.5, color: '#3A4050', lineHeight: 1.45, marginTop: 5 }}&gt;&#10;                    五层不必一次建齐。多数企业先做 2 和 3，底座跟着走，再回头补 1 和 4&#10;                &lt;/Text&gt;&#10;            &lt;/Box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华为数字化转型之道&lt;/Text&gt;&#10;        &lt;/Box&gt;&#10;        &lt;Text style={{ fontSize: 14, color: '#8A8F99' }}&gt;21 / 3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华为自己的架构蓝图：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五层结构</a:t>
            </a:r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原书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3.2.2——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这是一个成熟企业的答案，可以用来跟客户说「做到这一层要多久」</a:t>
            </a:r>
            <a:endParaRPr/>
          </a:p>
        </p:txBody>
      </p:sp>
      <p:sp>
        <p:nvSpPr>
          <p:cNvPr id="67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672" name=""/>
          <p:cNvSpPr/>
          <p:nvPr/>
        </p:nvSpPr>
        <p:spPr>
          <a:xfrm rot="0" flipH="0" flipV="0">
            <a:off x="609600" y="2219325"/>
            <a:ext cx="2133600" cy="1943100"/>
          </a:xfrm>
          <a:prstGeom prst="roundRect">
            <a:avLst>
              <a:gd name="adj" fmla="val 1961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733425" y="2352675"/>
            <a:ext cx="1885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733425" y="2552700"/>
            <a:ext cx="1885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客户联接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733425" y="2847975"/>
            <a:ext cx="18859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统一对外界面：客户能触达什么、能自助什么、能被感知到什么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733425" y="3781425"/>
            <a:ext cx="1885950" cy="247650"/>
          </a:xfrm>
          <a:prstGeom prst="rect"/>
        </p:spPr>
        <p:txBody>
          <a:bodyPr wrap="none" lIns="0" tIns="5715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对应</a:t>
            </a:r>
            <a:r>
              <a:rPr lang="en-US" sz="788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BA </a:t>
            </a:r>
            <a:r>
              <a:rPr lang="zh-CN" sz="788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的价值流起点</a:t>
            </a:r>
            <a:endParaRPr/>
          </a:p>
        </p:txBody>
      </p:sp>
      <p:sp>
        <p:nvSpPr>
          <p:cNvPr id="677" name=""/>
          <p:cNvSpPr/>
          <p:nvPr/>
        </p:nvSpPr>
        <p:spPr>
          <a:xfrm rot="0" flipH="0" flipV="0">
            <a:off x="2819400" y="1990725"/>
            <a:ext cx="2133600" cy="2171700"/>
          </a:xfrm>
          <a:prstGeom prst="roundRect">
            <a:avLst>
              <a:gd name="adj" fmla="val 1786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2943225" y="2124075"/>
            <a:ext cx="1885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2943225" y="2324100"/>
            <a:ext cx="1885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一线作战平台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2943225" y="2619375"/>
            <a:ext cx="1885950" cy="1162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给一线人员用的作战工具，把能力送到人手上而不是送到系统里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2943225" y="3781425"/>
            <a:ext cx="1885950" cy="247650"/>
          </a:xfrm>
          <a:prstGeom prst="rect"/>
        </p:spPr>
        <p:txBody>
          <a:bodyPr wrap="none" lIns="0" tIns="5715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对应</a:t>
            </a:r>
            <a:r>
              <a:rPr lang="en-US" sz="788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788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类场景中的作业场景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5029200" y="1762125"/>
            <a:ext cx="2133600" cy="2400300"/>
          </a:xfrm>
          <a:prstGeom prst="roundRect">
            <a:avLst>
              <a:gd name="adj" fmla="val 1786"/>
            </a:avLst>
          </a:prstGeom>
          <a:solidFill>
            <a:srgbClr val="D2531A"/>
          </a:solidFill>
          <a:ln/>
        </p:spPr>
        <p:txBody>
          <a:bodyPr/>
          <a:p/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5153025" y="1895475"/>
            <a:ext cx="1885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5153025" y="2095500"/>
            <a:ext cx="1885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能力数字化</a:t>
            </a:r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5153025" y="2390775"/>
            <a:ext cx="1885950" cy="1390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把业务能力沉淀成可复用的服务，而不是每个项目重新开发一遍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5153025" y="3781425"/>
            <a:ext cx="1885950" cy="247650"/>
          </a:xfrm>
          <a:prstGeom prst="rect"/>
        </p:spPr>
        <p:txBody>
          <a:bodyPr wrap="none" lIns="0" tIns="5715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对应</a:t>
            </a:r>
            <a:r>
              <a:rPr lang="en-US" sz="788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AA </a:t>
            </a:r>
            <a:r>
              <a:rPr lang="zh-CN" sz="788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的中台化与服务化</a:t>
            </a:r>
            <a:endParaRPr/>
          </a:p>
        </p:txBody>
      </p:sp>
      <p:sp>
        <p:nvSpPr>
          <p:cNvPr id="687" name=""/>
          <p:cNvSpPr/>
          <p:nvPr/>
        </p:nvSpPr>
        <p:spPr>
          <a:xfrm rot="0" flipH="0" flipV="0">
            <a:off x="7239000" y="1533525"/>
            <a:ext cx="2133600" cy="2628900"/>
          </a:xfrm>
          <a:prstGeom prst="roundRect">
            <a:avLst>
              <a:gd name="adj" fmla="val 1786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7362825" y="1666875"/>
            <a:ext cx="1885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7362825" y="1866900"/>
            <a:ext cx="1885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数字化运营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7362825" y="2162175"/>
            <a:ext cx="1885950" cy="1619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企业自己转得更快：运营可视、决策及时、异常主动预警</a:t>
            </a:r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7362825" y="3781425"/>
            <a:ext cx="1885950" cy="247650"/>
          </a:xfrm>
          <a:prstGeom prst="rect"/>
        </p:spPr>
        <p:txBody>
          <a:bodyPr wrap="none" lIns="0" tIns="5715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对应</a:t>
            </a:r>
            <a:r>
              <a:rPr lang="en-US" sz="788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IA/DA + </a:t>
            </a:r>
            <a:r>
              <a:rPr lang="zh-CN" sz="788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指标体系</a:t>
            </a:r>
            <a:endParaRPr/>
          </a:p>
        </p:txBody>
      </p:sp>
      <p:sp>
        <p:nvSpPr>
          <p:cNvPr id="692" name=""/>
          <p:cNvSpPr/>
          <p:nvPr/>
        </p:nvSpPr>
        <p:spPr>
          <a:xfrm rot="0" flipH="0" flipV="0">
            <a:off x="9448800" y="1304925"/>
            <a:ext cx="2133600" cy="2857500"/>
          </a:xfrm>
          <a:prstGeom prst="roundRect">
            <a:avLst>
              <a:gd name="adj" fmla="val 1786"/>
            </a:avLst>
          </a:prstGeom>
          <a:solidFill>
            <a:srgbClr val="9E3410"/>
          </a:solidFill>
          <a:ln/>
        </p:spPr>
        <p:txBody>
          <a:bodyPr/>
          <a:p/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9572625" y="1438275"/>
            <a:ext cx="1885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9572625" y="1638300"/>
            <a:ext cx="1885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云化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平台</a:t>
            </a:r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9572625" y="1933575"/>
            <a:ext cx="1885950" cy="1847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统一技术底座，支撑上面四层弹性扩展与快速迭代</a:t>
            </a:r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9572625" y="3781425"/>
            <a:ext cx="1885950" cy="247650"/>
          </a:xfrm>
          <a:prstGeom prst="rect"/>
        </p:spPr>
        <p:txBody>
          <a:bodyPr wrap="none" lIns="0" tIns="5715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对应</a:t>
            </a:r>
            <a:r>
              <a:rPr lang="en-US" sz="788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TA </a:t>
            </a:r>
            <a:r>
              <a:rPr lang="zh-CN" sz="788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与云化数字平台</a:t>
            </a:r>
            <a:endParaRPr/>
          </a:p>
        </p:txBody>
      </p:sp>
      <p:sp>
        <p:nvSpPr>
          <p:cNvPr id="697" name=""/>
          <p:cNvSpPr/>
          <p:nvPr/>
        </p:nvSpPr>
        <p:spPr>
          <a:xfrm rot="0" flipH="0" flipV="0">
            <a:off x="609600" y="4257675"/>
            <a:ext cx="7077075" cy="1343025"/>
          </a:xfrm>
          <a:prstGeom prst="roundRect">
            <a:avLst>
              <a:gd name="adj" fmla="val 212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800100" y="4848225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五层与</a:t>
            </a:r>
            <a:r>
              <a:rPr lang="en-US" sz="1013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 4A </a:t>
            </a: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的关系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2286000" y="4705350"/>
            <a:ext cx="52101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13">
                <a:solidFill>
                  <a:srgbClr val="FFFFFF"/>
                </a:solidFill>
                <a:latin typeface="Microsoft YaHei"/>
                <a:ea typeface="Microsoft YaHei"/>
              </a:rPr>
              <a:t>五层是</a:t>
            </a:r>
            <a:r>
              <a:rPr lang="zh-CN" sz="1013">
                <a:solidFill>
                  <a:srgbClr val="FFFFFF"/>
                </a:solidFill>
                <a:latin typeface="Microsoft YaHei"/>
                <a:ea typeface="Microsoft YaHei"/>
              </a:rPr>
              <a:t>按能力视角</a:t>
            </a:r>
            <a:r>
              <a:rPr lang="zh-CN" sz="1013">
                <a:solidFill>
                  <a:srgbClr val="FFFFFF"/>
                </a:solidFill>
                <a:latin typeface="Microsoft YaHei"/>
                <a:ea typeface="Microsoft YaHei"/>
              </a:rPr>
              <a:t>的画法，</a:t>
            </a:r>
            <a:r>
              <a:rPr lang="en-US" sz="1013">
                <a:solidFill>
                  <a:srgbClr val="FFFFFF"/>
                </a:solidFill>
                <a:latin typeface="Microsoft YaHei"/>
                <a:ea typeface="Microsoft YaHei"/>
              </a:rPr>
              <a:t xml:space="preserve">4A </a:t>
            </a:r>
            <a:r>
              <a:rPr lang="zh-CN" sz="1013">
                <a:solidFill>
                  <a:srgbClr val="FFFFFF"/>
                </a:solidFill>
                <a:latin typeface="Microsoft YaHei"/>
                <a:ea typeface="Microsoft YaHei"/>
              </a:rPr>
              <a:t>是</a:t>
            </a:r>
            <a:r>
              <a:rPr lang="zh-CN" sz="1013">
                <a:solidFill>
                  <a:srgbClr val="FFFFFF"/>
                </a:solidFill>
                <a:latin typeface="Microsoft YaHei"/>
                <a:ea typeface="Microsoft YaHei"/>
              </a:rPr>
              <a:t>按架构域</a:t>
            </a:r>
            <a:r>
              <a:rPr lang="zh-CN" sz="1013">
                <a:solidFill>
                  <a:srgbClr val="FFFFFF"/>
                </a:solidFill>
                <a:latin typeface="Microsoft YaHei"/>
                <a:ea typeface="Microsoft YaHei"/>
              </a:rPr>
              <a:t>的画法。同一套内容，两种切法——汇报用五层，实施用</a:t>
            </a:r>
            <a:r>
              <a:rPr lang="en-US" sz="1013">
                <a:solidFill>
                  <a:srgbClr val="FFFFFF"/>
                </a:solidFill>
                <a:latin typeface="Microsoft YaHei"/>
                <a:ea typeface="Microsoft YaHei"/>
              </a:rPr>
              <a:t xml:space="preserve"> 4A</a:t>
            </a:r>
            <a:endParaRPr/>
          </a:p>
        </p:txBody>
      </p:sp>
      <p:sp>
        <p:nvSpPr>
          <p:cNvPr id="700" name=""/>
          <p:cNvSpPr/>
          <p:nvPr/>
        </p:nvSpPr>
        <p:spPr>
          <a:xfrm rot="0" flipH="0" flipV="0">
            <a:off x="7810500" y="4257675"/>
            <a:ext cx="3771900" cy="1343025"/>
          </a:xfrm>
          <a:prstGeom prst="roundRect">
            <a:avLst>
              <a:gd name="adj" fmla="val 212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01" name=""/>
          <p:cNvSpPr/>
          <p:nvPr/>
        </p:nvSpPr>
        <p:spPr>
          <a:xfrm rot="0" flipH="0" flipV="0">
            <a:off x="7810500" y="4257675"/>
            <a:ext cx="3771900" cy="1343025"/>
          </a:xfrm>
          <a:custGeom>
            <a:pathLst>
              <a:path w="396" h="141">
                <a:moveTo>
                  <a:pt x="4" y="141"/>
                </a:moveTo>
                <a:cubicBezTo>
                  <a:pt x="3" y="141"/>
                  <a:pt x="2" y="141"/>
                  <a:pt x="1" y="140"/>
                </a:cubicBezTo>
                <a:cubicBezTo>
                  <a:pt x="0" y="139"/>
                  <a:pt x="0" y="139"/>
                  <a:pt x="0" y="13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7981950" y="4619625"/>
            <a:ext cx="3429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给客户的说法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7981950" y="4819650"/>
            <a:ext cx="34290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五层不必一次建齐。多数企业先做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和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3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，底座跟着走，再回头补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和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4</a:t>
            </a:r>
            <a:endParaRPr/>
          </a:p>
        </p:txBody>
      </p:sp>
      <p:sp>
        <p:nvSpPr>
          <p:cNvPr id="704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21 / 35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707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步骤 7详解：&lt;span style={{ color: '#FA4F24' }}&gt;「一体四面」与突破口识别&lt;/span&gt;&#10;        &lt;/Text&gt;&#10;        &lt;Text style={{ fontSize: 20, color: '#8A8F99', marginTop: 8 }}&gt;&#10;            一体是公司统一蓝图，四面是各领域自己的细化——四面不能各画各的，必须回到同一张图上对齐&#10;        &lt;/Text&gt;&#10;    &lt;/Box&gt;&#10;    &lt;Box style={{ height: 1, background: '#E8E8E8' }} /&gt;&#10;&#10;    {/* B 区 */}&#10;    &lt;Box style={{ paddingTop: 14, paddingBottom: 12, height: 479, flexDirection: 'column', gap: 9 }}&gt;&#10;&#10;        {/* 上：一体 vs 四面 */}&#10;        &lt;Box style={{ height: 118, flexDirection: 'row', gap: 10 }}&gt;&#10;            &lt;Box style={{ flex: 1, background: '#0F1423', borderRadius: 4, padding: '13px 18px', flexDirection: 'row', alignItems: 'center', gap: 16 }}&gt;&#10;                &lt;Box style={{ width: 46, height: 46, background: '#FA4F24', borderRadius: 3, alignItems: 'center', justifyContent: 'center' }}&gt;&#10;                    &lt;Text style={{ fontSize: 20, fontWeight: 'bold', color: '#FFFFFF' }}&gt;体&lt;/Text&gt;&#10;                &lt;/Box&gt;&#10;                &lt;Box style={{ flex: 1 }}&gt;&#10;                    &lt;Text style={{ fontSize: 17, fontWeight: 'bold', color: '#FFFFFF' }}&gt;一体：全公司一张统一蓝图&lt;/Text&gt;&#10;                    &lt;Text style={{ fontSize: 12.5, color: 'rgba(255,255,255,0.8)', lineHeight: 1.45, marginTop: 7 }}&gt;&#10;                        各领域在同一套方法、同一个愿景下细化，避免出现五套互不相认的架构&#10;                    &lt;/Text&gt;&#10;                &lt;/Box&gt;&#10;            &lt;/Box&gt;&#10;            &lt;Box style={{ flex: 1.5, background: '#F7F7F8', borderRadius: 4, padding: '13px 18px', flexDirection: 'column', justifyContent: 'center' }}&gt;&#10;                &lt;Text style={{ fontSize: 17, fontWeight: 'bold', color: '#0F1423' }}&gt;四面：各领域按四 A 各自细化&lt;/Text&gt;&#10;                &lt;Box style={{ flexDirection: 'row', gap: 6, marginTop: 9 }}&gt;&#10;                    {['BA 业务', 'IA/DA 信息', 'AA 应用', 'TA 技术'].map((x, i) =&gt; (&#10;                        &lt;Box key={x} style={{ flex: 1, height: 26, background: ['#FA4F24', '#E0641E', '#D2531A', '#C43A17'][i], borderRadius: 3, flexDirection: 'row', alignItems: 'center', justifyContent: 'center' }}&gt;&#10;                            &lt;Text style={{ fontSize: 11.5, fontWeight: 'bold', color: '#FFFFFF' }}&gt;{x}&lt;/Text&gt;&#10;                        &lt;/Box&gt;&#10;                    ))}&#10;                &lt;/Box&gt;&#10;                &lt;Text style={{ fontSize: 12, color: '#5A6070', lineHeight: 1.4, marginTop: 8 }}&gt;各领域结合自身诉求，从架构上思考本领域从哪些方面入手，识别「突破口」&lt;/Text&gt;&#10;            &lt;/Box&gt;&#10;        &lt;/Box&gt;&#10;&#10;        {/* 中：突破口怎么找 */}&#10;        &lt;Box style={{ flex: 1, flexDirection: 'column' }}&gt;&#10;            &lt;Text style={{ fontSize: 13.5, fontWeight: 'bold', color: '#0F1423', marginBottom: 8 }}&gt;突破口的判定逻辑：哪个域的缺失，已经卡住了另外三个域&lt;/Text&gt;&#10;            &lt;Box style={{ flex: 1, flexDirection: 'row', gap: 9 }}&gt;&#10;                {[&#10;                    { L: '卡 BA', s: '价值流本身没理顺，业务效率和体验都无从谈起', c: '#FA4F24', o: '先做业务能力与流程重构' },&#10;                    { L: '卡 IA/DA', s: '业务对象定义不清，同一实体在多系统里对不上，下游全错', c: '#E0641E', o: '先统一数据标准与主数据' },&#10;                    { L: '卡 AA', s: '系统烟囱林立，跨部门流程要人工在中间穿针引线', c: '#D2531A', o: '先做集成与服务化，拆掉重复功能' },&#10;                    { L: '卡 TA', s: '底座撑不住——性能、弹性、安全都不满足新的架构要求', c: '#C43A17', o: '先补云化底座与技术标准' },&#10;                ].map((x) =&gt; (&#10;                    &lt;Box key={x.L} style={{ flex: 1, background: '#FFFFFF', borderRadius: 3, border: '1px solid #E8E8E8', borderTop: '3px solid ' + x.c, padding: '12px 14px', flexDirection: 'column' }}&gt;&#10;                        &lt;Text style={{ fontSize: 17, fontWeight: 'bold', color: x.c }}&gt;{x.L}&lt;/Text&gt;&#10;                        &lt;Text style={{ fontSize: 12, color: '#3A4050', lineHeight: 1.5, marginTop: 9, flex: 1 }}&gt;{x.s}&lt;/Text&gt;&#10;                        &lt;Box style={{ background: '#FFF3EE', borderRadius: 2, paddingTop: 7, paddingBottom: 7, paddingLeft: 9, paddingRight: 9 }}&gt;&#10;                            &lt;Text style={{ fontSize: 11, color: '#C43A17', lineHeight: 1.35 }}&gt;{x.o}&lt;/Text&gt;&#10;                        &lt;/Box&gt;&#10;                    &lt;/Box&gt;&#10;                ))}&#10;            &lt;/Box&gt;&#10;        &lt;/Box&gt;&#10;&#10;        {/* 底部 */}&#10;        &lt;Box style={{ height: 46, background: '#0F1423', borderRadius: 3, flexDirection: 'row', alignItems: 'center', padding: '0 20px', gap: 16 }}&gt;&#10;            &lt;Text style={{ fontSize: 13.5, fontWeight: 'bold', color: '#FBA15C', width: 160 }}&gt;现场的一句硬判据&lt;/Text&gt;&#10;            &lt;Text style={{ fontSize: 15, color: '#FFFFFF', flex: 1, lineHeight: 1.4 }}&gt;&#10;                四个域里如果有两个都说「我这边要等对方」——&lt;tspan style={{ color: '#FA4F24' }}&gt;那就是突破口还没找到，不是事情复杂&lt;/tspan&gt;&#10;            &lt;/Text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华为数字化转型之道&lt;/Text&gt;&#10;        &lt;/Box&gt;&#10;        &lt;Text style={{ fontSize: 14, color: '#8A8F99' }}&gt;22 / 3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步骤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7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详解：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「一体四面」与突破口识别</a:t>
            </a:r>
            <a:endParaRPr/>
          </a:p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一体是公司统一蓝图，四面是各领域自己的细化——四面不能各画各的，必须回到同一张图上对齐</a:t>
            </a:r>
            <a:endParaRPr/>
          </a:p>
        </p:txBody>
      </p:sp>
      <p:sp>
        <p:nvSpPr>
          <p:cNvPr id="71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712" name=""/>
          <p:cNvSpPr/>
          <p:nvPr/>
        </p:nvSpPr>
        <p:spPr>
          <a:xfrm rot="0" flipH="0" flipV="0">
            <a:off x="609600" y="1285875"/>
            <a:ext cx="4352925" cy="1123950"/>
          </a:xfrm>
          <a:prstGeom prst="roundRect">
            <a:avLst>
              <a:gd name="adj" fmla="val 339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13" name=""/>
          <p:cNvSpPr/>
          <p:nvPr/>
        </p:nvSpPr>
        <p:spPr>
          <a:xfrm rot="0" flipH="0" flipV="0">
            <a:off x="781050" y="1628775"/>
            <a:ext cx="438150" cy="438150"/>
          </a:xfrm>
          <a:prstGeom prst="roundRect">
            <a:avLst>
              <a:gd name="adj" fmla="val 6522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904875" y="17335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体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1371600" y="1504950"/>
            <a:ext cx="3419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一体：全公司一张统一蓝图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1371600" y="1771650"/>
            <a:ext cx="341947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3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各领域在同一套方法、同一个愿景下细化，避免出现五套互不相认的架构</a:t>
            </a:r>
            <a:endParaRPr/>
          </a:p>
        </p:txBody>
      </p:sp>
      <p:sp>
        <p:nvSpPr>
          <p:cNvPr id="717" name=""/>
          <p:cNvSpPr/>
          <p:nvPr/>
        </p:nvSpPr>
        <p:spPr>
          <a:xfrm rot="0" flipH="0" flipV="0">
            <a:off x="5057775" y="1285875"/>
            <a:ext cx="6524625" cy="1123950"/>
          </a:xfrm>
          <a:prstGeom prst="roundRect">
            <a:avLst>
              <a:gd name="adj" fmla="val 339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5229225" y="1447800"/>
            <a:ext cx="6181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四面：各领域按四</a:t>
            </a:r>
            <a:r>
              <a:rPr lang="en-US" sz="12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各自细化</a:t>
            </a:r>
            <a:endParaRPr/>
          </a:p>
        </p:txBody>
      </p:sp>
      <p:sp>
        <p:nvSpPr>
          <p:cNvPr id="719" name=""/>
          <p:cNvSpPr/>
          <p:nvPr/>
        </p:nvSpPr>
        <p:spPr>
          <a:xfrm rot="0" flipH="0" flipV="0">
            <a:off x="5229225" y="1733550"/>
            <a:ext cx="1504950" cy="247650"/>
          </a:xfrm>
          <a:prstGeom prst="roundRect">
            <a:avLst>
              <a:gd name="adj" fmla="val 11538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5781675" y="1790700"/>
            <a:ext cx="409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业务</a:t>
            </a:r>
            <a:endParaRPr/>
          </a:p>
        </p:txBody>
      </p:sp>
      <p:sp>
        <p:nvSpPr>
          <p:cNvPr id="721" name=""/>
          <p:cNvSpPr/>
          <p:nvPr/>
        </p:nvSpPr>
        <p:spPr>
          <a:xfrm rot="0" flipH="0" flipV="0">
            <a:off x="6791325" y="1733550"/>
            <a:ext cx="1504950" cy="247650"/>
          </a:xfrm>
          <a:prstGeom prst="roundRect">
            <a:avLst>
              <a:gd name="adj" fmla="val 11538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7248525" y="1790700"/>
            <a:ext cx="590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IA/DA </a:t>
            </a: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信息</a:t>
            </a:r>
            <a:endParaRPr/>
          </a:p>
        </p:txBody>
      </p:sp>
      <p:sp>
        <p:nvSpPr>
          <p:cNvPr id="723" name=""/>
          <p:cNvSpPr/>
          <p:nvPr/>
        </p:nvSpPr>
        <p:spPr>
          <a:xfrm rot="0" flipH="0" flipV="0">
            <a:off x="8353425" y="1733550"/>
            <a:ext cx="1495425" cy="247650"/>
          </a:xfrm>
          <a:prstGeom prst="roundRect">
            <a:avLst>
              <a:gd name="adj" fmla="val 11538"/>
            </a:avLst>
          </a:prstGeom>
          <a:solidFill>
            <a:srgbClr val="D2531A"/>
          </a:solidFill>
          <a:ln/>
        </p:spPr>
        <p:txBody>
          <a:bodyPr/>
          <a:p/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8896350" y="1790700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应用</a:t>
            </a:r>
            <a:endParaRPr/>
          </a:p>
        </p:txBody>
      </p:sp>
      <p:sp>
        <p:nvSpPr>
          <p:cNvPr id="725" name=""/>
          <p:cNvSpPr/>
          <p:nvPr/>
        </p:nvSpPr>
        <p:spPr>
          <a:xfrm rot="0" flipH="0" flipV="0">
            <a:off x="9906000" y="1733550"/>
            <a:ext cx="1504950" cy="247650"/>
          </a:xfrm>
          <a:prstGeom prst="roundRect">
            <a:avLst>
              <a:gd name="adj" fmla="val 11538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10458450" y="1790700"/>
            <a:ext cx="400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技术</a:t>
            </a:r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5229225" y="2057400"/>
            <a:ext cx="61817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A6070"/>
                </a:solidFill>
                <a:latin typeface="Microsoft YaHei"/>
                <a:ea typeface="Microsoft YaHei"/>
              </a:rPr>
              <a:t>各领域结合自身诉求，从架构上思考本领域从哪些方面入手，识别「突破口」</a:t>
            </a:r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609600" y="2495550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突破口的判定逻辑：哪个域的缺失，已经卡住了另外三个域</a:t>
            </a:r>
            <a:endParaRPr/>
          </a:p>
        </p:txBody>
      </p:sp>
      <p:sp>
        <p:nvSpPr>
          <p:cNvPr id="729" name=""/>
          <p:cNvSpPr/>
          <p:nvPr/>
        </p:nvSpPr>
        <p:spPr>
          <a:xfrm rot="0" flipH="0" flipV="0">
            <a:off x="609600" y="2762250"/>
            <a:ext cx="2676525" cy="2343150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0" name=""/>
          <p:cNvSpPr/>
          <p:nvPr/>
        </p:nvSpPr>
        <p:spPr>
          <a:xfrm rot="0" flipH="0" flipV="0">
            <a:off x="609600" y="2762250"/>
            <a:ext cx="2676525" cy="2343150"/>
          </a:xfrm>
          <a:custGeom>
            <a:pathLst>
              <a:path w="281" h="246">
                <a:moveTo>
                  <a:pt x="278" y="0"/>
                </a:moveTo>
                <a:cubicBezTo>
                  <a:pt x="280" y="0"/>
                  <a:pt x="281" y="1"/>
                  <a:pt x="281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8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742950" y="2876550"/>
            <a:ext cx="2409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A4F24"/>
                </a:solidFill>
                <a:latin typeface="Microsoft YaHei"/>
                <a:ea typeface="Microsoft YaHei"/>
              </a:rPr>
              <a:t>卡</a:t>
            </a: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BA</a:t>
            </a:r>
            <a:endParaRPr/>
          </a:p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742950" y="3162300"/>
            <a:ext cx="2409825" cy="14954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价值流本身没理顺，业务效率和体验都无从谈起</a:t>
            </a:r>
            <a:endParaRPr/>
          </a:p>
        </p:txBody>
      </p:sp>
      <p:sp>
        <p:nvSpPr>
          <p:cNvPr id="733" name=""/>
          <p:cNvSpPr/>
          <p:nvPr/>
        </p:nvSpPr>
        <p:spPr>
          <a:xfrm rot="0" flipH="0" flipV="0">
            <a:off x="742950" y="4657725"/>
            <a:ext cx="2409825" cy="304800"/>
          </a:xfrm>
          <a:prstGeom prst="roundRect">
            <a:avLst>
              <a:gd name="adj" fmla="val 625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34" name="" descr="{&quot;isTemplate&quot;:true,&quot;type&quot;:&quot;text&quot;}"/>
          <p:cNvSpPr txBox="1"/>
          <p:nvPr/>
        </p:nvSpPr>
        <p:spPr>
          <a:xfrm rot="0" flipH="0" flipV="0">
            <a:off x="828675" y="4724400"/>
            <a:ext cx="22383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先做业务能力与流程重构</a:t>
            </a:r>
            <a:endParaRPr/>
          </a:p>
        </p:txBody>
      </p:sp>
      <p:sp>
        <p:nvSpPr>
          <p:cNvPr id="735" name=""/>
          <p:cNvSpPr/>
          <p:nvPr/>
        </p:nvSpPr>
        <p:spPr>
          <a:xfrm rot="0" flipH="0" flipV="0">
            <a:off x="3371850" y="2762250"/>
            <a:ext cx="2686050" cy="2343150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6" name=""/>
          <p:cNvSpPr/>
          <p:nvPr/>
        </p:nvSpPr>
        <p:spPr>
          <a:xfrm rot="0" flipH="0" flipV="0">
            <a:off x="3371850" y="2762250"/>
            <a:ext cx="2686050" cy="2343150"/>
          </a:xfrm>
          <a:custGeom>
            <a:pathLst>
              <a:path w="282" h="246">
                <a:moveTo>
                  <a:pt x="279" y="0"/>
                </a:moveTo>
                <a:cubicBezTo>
                  <a:pt x="281" y="0"/>
                  <a:pt x="282" y="1"/>
                  <a:pt x="282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9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3505200" y="2876550"/>
            <a:ext cx="2419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0641E"/>
                </a:solidFill>
                <a:latin typeface="Microsoft YaHei"/>
                <a:ea typeface="Microsoft YaHei"/>
              </a:rPr>
              <a:t>卡</a:t>
            </a:r>
            <a:r>
              <a:rPr lang="en-US" sz="1275" b="1">
                <a:solidFill>
                  <a:srgbClr val="E0641E"/>
                </a:solidFill>
                <a:latin typeface="Microsoft YaHei"/>
                <a:ea typeface="Microsoft YaHei"/>
              </a:rPr>
              <a:t xml:space="preserve"> IA/DA</a:t>
            </a:r>
            <a:endParaRPr/>
          </a:p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3505200" y="3162300"/>
            <a:ext cx="2419350" cy="1495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业务对象定义不清，同一实体在多系统里对不上，下游全错</a:t>
            </a:r>
            <a:endParaRPr/>
          </a:p>
        </p:txBody>
      </p:sp>
      <p:sp>
        <p:nvSpPr>
          <p:cNvPr id="739" name=""/>
          <p:cNvSpPr/>
          <p:nvPr/>
        </p:nvSpPr>
        <p:spPr>
          <a:xfrm rot="0" flipH="0" flipV="0">
            <a:off x="3505200" y="4657725"/>
            <a:ext cx="2419350" cy="304800"/>
          </a:xfrm>
          <a:prstGeom prst="roundRect">
            <a:avLst>
              <a:gd name="adj" fmla="val 625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3590925" y="4724400"/>
            <a:ext cx="2247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先统一数据标准与主数据</a:t>
            </a:r>
            <a:endParaRPr/>
          </a:p>
        </p:txBody>
      </p:sp>
      <p:sp>
        <p:nvSpPr>
          <p:cNvPr id="741" name=""/>
          <p:cNvSpPr/>
          <p:nvPr/>
        </p:nvSpPr>
        <p:spPr>
          <a:xfrm rot="0" flipH="0" flipV="0">
            <a:off x="6143625" y="2762250"/>
            <a:ext cx="2676525" cy="2343150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2" name=""/>
          <p:cNvSpPr/>
          <p:nvPr/>
        </p:nvSpPr>
        <p:spPr>
          <a:xfrm rot="0" flipH="0" flipV="0">
            <a:off x="6143625" y="2762250"/>
            <a:ext cx="2676525" cy="2343150"/>
          </a:xfrm>
          <a:custGeom>
            <a:pathLst>
              <a:path w="281" h="246">
                <a:moveTo>
                  <a:pt x="278" y="0"/>
                </a:moveTo>
                <a:cubicBezTo>
                  <a:pt x="280" y="0"/>
                  <a:pt x="281" y="1"/>
                  <a:pt x="281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8" y="0"/>
                </a:lnTo>
                <a:close/>
              </a:path>
            </a:pathLst>
          </a:custGeom>
          <a:solidFill>
            <a:srgbClr val="D2531A"/>
          </a:solidFill>
          <a:ln/>
        </p:spPr>
        <p:txBody>
          <a:bodyPr/>
          <a:p/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6276975" y="2876550"/>
            <a:ext cx="2409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D2531A"/>
                </a:solidFill>
                <a:latin typeface="Microsoft YaHei"/>
                <a:ea typeface="Microsoft YaHei"/>
              </a:rPr>
              <a:t>卡</a:t>
            </a:r>
            <a:r>
              <a:rPr lang="en-US" sz="1275" b="1">
                <a:solidFill>
                  <a:srgbClr val="D2531A"/>
                </a:solidFill>
                <a:latin typeface="Microsoft YaHei"/>
                <a:ea typeface="Microsoft YaHei"/>
              </a:rPr>
              <a:t xml:space="preserve"> AA</a:t>
            </a:r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6276975" y="3162300"/>
            <a:ext cx="2409825" cy="1495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系统烟囱林立，跨部门流程要人工在中间穿针引线</a:t>
            </a:r>
            <a:endParaRPr/>
          </a:p>
        </p:txBody>
      </p:sp>
      <p:sp>
        <p:nvSpPr>
          <p:cNvPr id="745" name=""/>
          <p:cNvSpPr/>
          <p:nvPr/>
        </p:nvSpPr>
        <p:spPr>
          <a:xfrm rot="0" flipH="0" flipV="0">
            <a:off x="6276975" y="4657725"/>
            <a:ext cx="2409825" cy="304800"/>
          </a:xfrm>
          <a:prstGeom prst="roundRect">
            <a:avLst>
              <a:gd name="adj" fmla="val 625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6362700" y="4724400"/>
            <a:ext cx="22383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先做集成与服务化，拆掉重复功能</a:t>
            </a:r>
            <a:endParaRPr/>
          </a:p>
        </p:txBody>
      </p:sp>
      <p:sp>
        <p:nvSpPr>
          <p:cNvPr id="747" name=""/>
          <p:cNvSpPr/>
          <p:nvPr/>
        </p:nvSpPr>
        <p:spPr>
          <a:xfrm rot="0" flipH="0" flipV="0">
            <a:off x="8905875" y="2762250"/>
            <a:ext cx="2676525" cy="2343150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8" name=""/>
          <p:cNvSpPr/>
          <p:nvPr/>
        </p:nvSpPr>
        <p:spPr>
          <a:xfrm rot="0" flipH="0" flipV="0">
            <a:off x="8905875" y="2762250"/>
            <a:ext cx="2676525" cy="2343150"/>
          </a:xfrm>
          <a:custGeom>
            <a:pathLst>
              <a:path w="281" h="246">
                <a:moveTo>
                  <a:pt x="278" y="0"/>
                </a:moveTo>
                <a:cubicBezTo>
                  <a:pt x="280" y="0"/>
                  <a:pt x="281" y="1"/>
                  <a:pt x="281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8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9039225" y="2876550"/>
            <a:ext cx="2409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43A17"/>
                </a:solidFill>
                <a:latin typeface="Microsoft YaHei"/>
                <a:ea typeface="Microsoft YaHei"/>
              </a:rPr>
              <a:t>卡</a:t>
            </a:r>
            <a:r>
              <a:rPr lang="en-US" sz="12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TA</a:t>
            </a:r>
            <a:endParaRPr/>
          </a:p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9039225" y="3162300"/>
            <a:ext cx="2409825" cy="1495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底座撑不住——性能、弹性、安全都不满足新的架构要求</a:t>
            </a:r>
            <a:endParaRPr/>
          </a:p>
        </p:txBody>
      </p:sp>
      <p:sp>
        <p:nvSpPr>
          <p:cNvPr id="751" name=""/>
          <p:cNvSpPr/>
          <p:nvPr/>
        </p:nvSpPr>
        <p:spPr>
          <a:xfrm rot="0" flipH="0" flipV="0">
            <a:off x="9039225" y="4657725"/>
            <a:ext cx="2409825" cy="304800"/>
          </a:xfrm>
          <a:prstGeom prst="roundRect">
            <a:avLst>
              <a:gd name="adj" fmla="val 625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9124950" y="4724400"/>
            <a:ext cx="22383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先补云化底座与技术标准</a:t>
            </a:r>
            <a:endParaRPr/>
          </a:p>
        </p:txBody>
      </p:sp>
      <p:sp>
        <p:nvSpPr>
          <p:cNvPr id="753" name=""/>
          <p:cNvSpPr/>
          <p:nvPr/>
        </p:nvSpPr>
        <p:spPr>
          <a:xfrm rot="0" flipH="0" flipV="0">
            <a:off x="609600" y="5162550"/>
            <a:ext cx="10972800" cy="438150"/>
          </a:xfrm>
          <a:prstGeom prst="roundRect">
            <a:avLst>
              <a:gd name="adj" fmla="val 652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800100" y="530542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现场的一句硬判据</a:t>
            </a:r>
            <a:endParaRPr/>
          </a:p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2476500" y="5257800"/>
            <a:ext cx="89154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四个域里如果有两个都说「我这边要等对方」——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那就是突破口还没找到，不是事情复杂</a:t>
            </a:r>
            <a:endParaRPr/>
          </a:p>
        </p:txBody>
      </p:sp>
      <p:sp>
        <p:nvSpPr>
          <p:cNvPr id="756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22 / 35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759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第三阶：把握节奏，&lt;span style={{ color: '#FA4F24' }}&gt;规划举措和项目&lt;/span&gt;（步骤 8–12）&#10;        &lt;/Text&gt;&#10;        &lt;Text style={{ fontSize: 20, color: '#8A8F99', marginTop: 8 }}&gt;&#10;            五步里有三步华为标注可选——但它们恰恰是决定「项目能不能接住」的三步&#10;        &lt;/Text&gt;&#10;    &lt;/Box&gt;&#10;    &lt;Box style={{ height: 1, background: '#E8E8E8' }} /&gt;&#10;&#10;    {/* B 区 */}&#10;    &lt;Box style={{ paddingTop: 16, paddingBottom: 12, height: 479, flexDirection: 'column', gap: 10 }}&gt;&#10;&#10;        {/* 五步 */}&#10;        &lt;Box style={{ height: 206, flexDirection: 'row', gap: 8 }}&gt;&#10;            {[&#10;                { n: '08', t: '指标体系', d: '衡量转型是否对准价值达成、是否达到预设值', o: '指标体系 + 预设值', c: '#C43A17', opt: true },&#10;                { n: '09', t: '识别举措', d: '基于架构蓝图识别关键成功要素，形成并定义举措', o: '举措清单 + 举措目标', c: '#C43A17' },&#10;                { n: '10', t: '举措设计', d: '打开每个举措，设计其架构方案，细化到具体变革点', o: '举措架构方案', c: '#C43A17', opt: true },&#10;                { n: '11', t: '转型路标', d: '明确哪些是基础工作需先期开展，每阶段的重点与抓手', o: '分期路标 + 抓手', c: '#C43A17', opt: true },&#10;                { n: '12', t: '规划项目', d: '规划变革项目落实举措，节奏与路标一致', o: '项目清单 + 分工 + 排期', c: '#C43A17', main: true },&#10;            ].map((x) =&gt; (&#10;                &lt;Box key={x.n} style={{ flex: 1, background: '#F7F7F8', borderRadius: 4, padding: '0 13px', flexDirection: 'column' }}&gt;&#10;                    &lt;Box style={{ flexDirection: 'row', alignItems: 'center', gap: 7, marginTop: 12 }}&gt;&#10;                        &lt;Text style={{ fontSize: 19, fontWeight: 'bold', color: x.c }}&gt;{x.n}&lt;/Text&gt;&#10;                        {x.opt &amp;&amp; (&#10;                            &lt;Box style={{ height: 16, borderRadius: 2, border: '1px solid #8A8F99', padding: '0 6px', flexDirection: 'row', alignItems: 'center' }}&gt;&#10;                                &lt;Text style={{ fontSize: 10, color: '#8A8F99' }}&gt;可选&lt;/Text&gt;&#10;                            &lt;/Box&gt;&#10;                        )}&#10;                        {x.main &amp;&amp; (&#10;                            &lt;Box style={{ height: 16, background: x.c, borderRadius: 2, padding: '0 6px', flexDirection: 'row', alignItems: 'center' }}&gt;&#10;                                &lt;Text style={{ fontSize: 10, color: '#FFFFFF' }}&gt;主线&lt;/Text&gt;&#10;                            &lt;/Box&gt;&#10;                        )}&#10;                    &lt;/Box&gt;&#10;                    &lt;Text style={{ fontSize: 16, fontWeight: 'bold', color: '#0F1423', marginTop: 10, lineHeight: 1.3 }}&gt;{x.t}&lt;/Text&gt;&#10;                    &lt;Text style={{ fontSize: 12, color: '#3A4050', lineHeight: 1.45, marginTop: 9, flex: 1 }}&gt;{x.d}&lt;/Text&gt;&#10;                    &lt;Box style={{ height: 40, background: x.c, borderRadius: 3, marginBottom: 10, padding: '0 9px', flexDirection: 'column', justifyContent: 'center' }}&gt;&#10;                        &lt;Text style={{ fontSize: 10.5, color: 'rgba(255,255,255,0.94)', lineHeight: 1.3 }}&gt;{x.o}&lt;/Text&gt;&#10;                    &lt;/Box&gt;&#10;                &lt;/Box&gt;&#10;            ))}&#10;        &lt;/Box&gt;&#10;&#10;        {/* 中：为什么三步可选但建议都做 */}&#10;        &lt;Box style={{ height: 148, flexDirection: 'row', gap: 10 }}&gt;&#10;            &lt;Box style={{ flex: 1.3, background: '#0F1423', borderRadius: 4, padding: '14px 20px', flexDirection: 'column' }}&gt;&#10;                &lt;Text style={{ fontSize: 14, fontWeight: 'bold', color: '#FBA15C' }}&gt;为什么华为标「可选」，却建议全走一遍&lt;/Text&gt;&#10;                &lt;Box style={{ flex: 1, flexDirection: 'column', gap: 8, marginTop: 12 }}&gt;&#10;                    {[&#10;                        { k: '不设指标', v: '举措做完了，说不清有没有对准价值——年底只能靠汇报口径自证' },&#10;                        { k: '不做举措设计', v: '举措停在口号层，项目承接时各自理解，落地变形' },&#10;                        { k: '不设路标', v: '所有项目同一时间上马，基础工作没做完就上应用，返工不可避免' },&#10;                    ].map((x) =&gt; (&#10;                        &lt;Box key={x.k} style={{ flex: 1, flexDirection: 'row', alignItems: 'center', background: 'rgba(255,255,255,0.06)', borderLeft: '3px solid #FA4F24', borderRadius: 2, padding: '0 12px', gap: 12 }}&gt;&#10;                            &lt;Text style={{ fontSize: 12.5, fontWeight: 'bold', color: '#FA4F24', width: 104 }}&gt;{x.k}&lt;/Text&gt;&#10;                            &lt;Text style={{ fontSize: 12, color: 'rgba(255,255,255,0.85)', flex: 1 }}&gt;{x.v}&lt;/Text&gt;&#10;                        &lt;/Box&gt;&#10;                    ))}&#10;                &lt;/Box&gt;&#10;            &lt;/Box&gt;&#10;            &lt;Box style={{ width: 452, background: '#FFF3EE', borderRadius: 4, borderLeft: '4px solid #FBA15C', padding: '14px 18px', flexDirection: 'column' }}&gt;&#10;                &lt;Text style={{ fontSize: 14, fontWeight: 'bold', color: '#C43A17' }}&gt;原书的关键提示&lt;/Text&gt;&#10;                &lt;Text style={{ fontSize: 13, color: '#3A4050', lineHeight: 1.55, marginTop: 12, flex: 1 }}&gt;&#10;                    粗线连接的方框是主线活动，部分步骤可选。华为明确建议：时间允许的话把步骤都走一遍——这样规划出来的项目更具实操性，更能被变革项目组承接和落地。&#10;                &lt;/Text&gt;&#10;                &lt;Text style={{ fontSize: 11.5, color: '#C43A17', lineHeight: 1.4 }}&gt;「更能被变革项目组承接」是这句话的重点：不是给领导看的，是给执行方用的&lt;/Text&gt;&#10;            &lt;/Box&gt;&#10;        &lt;/Box&gt;&#10;&#10;        {/* 底部 */}&#10;        &lt;Box style={{ flex: 1, background: '#0F1423', borderRadius: 3, padding: '0 20px', flexDirection: 'row', alignItems: 'center', gap: 18 }}&gt;&#10;            &lt;Text style={{ fontSize: 13.5, fontWeight: 'bold', color: '#FBA15C', width: 152 }}&gt;第三阶的收口判据&lt;/Text&gt;&#10;            &lt;Text style={{ fontSize: 15, color: '#FFFFFF', flex: 1, lineHeight: 1.4 }}&gt;&#10;                每个项目都能回答三个问题：&lt;tspan style={{ color: '#FA4F24' }}&gt;它承接哪条举措 · 在哪期路标 · 谁来做（公司级还是领域级）&lt;/tspan&gt;&#10;            &lt;/Text&gt;&#10;            &lt;Text style={{ fontSize: 12, color: 'rgba(255,255,255,0.68)', width: 230, lineHeight: 1.4 }}&gt;答不全就说明第三阶只是列了个清单&lt;/Text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华为数字化转型之道&lt;/Text&gt;&#10;        &lt;/Box&gt;&#10;        &lt;Text style={{ fontSize: 14, color: '#8A8F99' }}&gt;23 / 3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第三阶：把握节奏，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规划举措和项目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（步骤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8–12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76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五步里有三步华为标注可选——但它们恰恰是决定「项目能不能接住」的三步</a:t>
            </a:r>
            <a:endParaRPr/>
          </a:p>
        </p:txBody>
      </p:sp>
      <p:sp>
        <p:nvSpPr>
          <p:cNvPr id="76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764" name=""/>
          <p:cNvSpPr/>
          <p:nvPr/>
        </p:nvSpPr>
        <p:spPr>
          <a:xfrm rot="0" flipH="0" flipV="0">
            <a:off x="609600" y="1304925"/>
            <a:ext cx="2133600" cy="1962150"/>
          </a:xfrm>
          <a:prstGeom prst="roundRect">
            <a:avLst>
              <a:gd name="adj" fmla="val 194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733425" y="1419225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C43A17"/>
                </a:solidFill>
                <a:latin typeface="Microsoft YaHei"/>
                <a:ea typeface="Microsoft YaHei"/>
              </a:rPr>
              <a:t>08</a:t>
            </a:r>
            <a:endParaRPr/>
          </a:p>
        </p:txBody>
      </p:sp>
      <p:sp>
        <p:nvSpPr>
          <p:cNvPr id="766" name=""/>
          <p:cNvSpPr/>
          <p:nvPr/>
        </p:nvSpPr>
        <p:spPr>
          <a:xfrm rot="0" flipH="0" flipV="0">
            <a:off x="1028700" y="1457325"/>
            <a:ext cx="304800" cy="152400"/>
          </a:xfrm>
          <a:prstGeom prst="roundRect">
            <a:avLst>
              <a:gd name="adj" fmla="val 12500"/>
            </a:avLst>
          </a:prstGeom>
          <a:ln w="12700">
            <a:solidFill>
              <a:srgbClr val="8A8F99"/>
            </a:solidFill>
            <a:prstDash val="solid"/>
          </a:ln>
        </p:spPr>
        <p:txBody>
          <a:bodyPr/>
          <a:p/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1085850" y="1476375"/>
            <a:ext cx="190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可选</a:t>
            </a:r>
            <a:endParaRPr/>
          </a:p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733425" y="1733550"/>
            <a:ext cx="188595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指标体系</a:t>
            </a:r>
            <a:endParaRPr/>
          </a:p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733425" y="2057400"/>
            <a:ext cx="18859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衡量转型是否对准价值达成、是否达到预设值</a:t>
            </a:r>
            <a:endParaRPr/>
          </a:p>
        </p:txBody>
      </p:sp>
      <p:sp>
        <p:nvSpPr>
          <p:cNvPr id="770" name=""/>
          <p:cNvSpPr/>
          <p:nvPr/>
        </p:nvSpPr>
        <p:spPr>
          <a:xfrm rot="0" flipH="0" flipV="0">
            <a:off x="733425" y="2790825"/>
            <a:ext cx="1885950" cy="381000"/>
          </a:xfrm>
          <a:prstGeom prst="roundRect">
            <a:avLst>
              <a:gd name="adj" fmla="val 7500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819150" y="290512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8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指标体系</a:t>
            </a:r>
            <a:r>
              <a:rPr lang="en-US" sz="78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8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预设值</a:t>
            </a:r>
            <a:endParaRPr/>
          </a:p>
        </p:txBody>
      </p:sp>
      <p:sp>
        <p:nvSpPr>
          <p:cNvPr id="772" name=""/>
          <p:cNvSpPr/>
          <p:nvPr/>
        </p:nvSpPr>
        <p:spPr>
          <a:xfrm rot="0" flipH="0" flipV="0">
            <a:off x="2819400" y="1304925"/>
            <a:ext cx="2133600" cy="1962150"/>
          </a:xfrm>
          <a:prstGeom prst="roundRect">
            <a:avLst>
              <a:gd name="adj" fmla="val 194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2943225" y="1419225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C43A17"/>
                </a:solidFill>
                <a:latin typeface="Microsoft YaHei"/>
                <a:ea typeface="Microsoft YaHei"/>
              </a:rPr>
              <a:t>09</a:t>
            </a:r>
            <a:endParaRPr/>
          </a:p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2943225" y="1733550"/>
            <a:ext cx="188595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识别举措</a:t>
            </a:r>
            <a:endParaRPr/>
          </a:p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2943225" y="2057400"/>
            <a:ext cx="18859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基于架构蓝图识别关键成功要素，形成并定义举措</a:t>
            </a:r>
            <a:endParaRPr/>
          </a:p>
        </p:txBody>
      </p:sp>
      <p:sp>
        <p:nvSpPr>
          <p:cNvPr id="776" name=""/>
          <p:cNvSpPr/>
          <p:nvPr/>
        </p:nvSpPr>
        <p:spPr>
          <a:xfrm rot="0" flipH="0" flipV="0">
            <a:off x="2943225" y="2790825"/>
            <a:ext cx="1885950" cy="381000"/>
          </a:xfrm>
          <a:prstGeom prst="roundRect">
            <a:avLst>
              <a:gd name="adj" fmla="val 7500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3028950" y="290512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8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举措清单</a:t>
            </a:r>
            <a:r>
              <a:rPr lang="en-US" sz="78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8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举措目标</a:t>
            </a:r>
            <a:endParaRPr/>
          </a:p>
        </p:txBody>
      </p:sp>
      <p:sp>
        <p:nvSpPr>
          <p:cNvPr id="778" name=""/>
          <p:cNvSpPr/>
          <p:nvPr/>
        </p:nvSpPr>
        <p:spPr>
          <a:xfrm rot="0" flipH="0" flipV="0">
            <a:off x="5029200" y="1304925"/>
            <a:ext cx="2133600" cy="1962150"/>
          </a:xfrm>
          <a:prstGeom prst="roundRect">
            <a:avLst>
              <a:gd name="adj" fmla="val 194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5153025" y="1419225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C43A17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780" name=""/>
          <p:cNvSpPr/>
          <p:nvPr/>
        </p:nvSpPr>
        <p:spPr>
          <a:xfrm rot="0" flipH="0" flipV="0">
            <a:off x="5448300" y="1457325"/>
            <a:ext cx="304800" cy="152400"/>
          </a:xfrm>
          <a:prstGeom prst="roundRect">
            <a:avLst>
              <a:gd name="adj" fmla="val 12500"/>
            </a:avLst>
          </a:prstGeom>
          <a:ln w="12700">
            <a:solidFill>
              <a:srgbClr val="8A8F99"/>
            </a:solidFill>
            <a:prstDash val="solid"/>
          </a:ln>
        </p:spPr>
        <p:txBody>
          <a:bodyPr/>
          <a:p/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5505450" y="1476375"/>
            <a:ext cx="190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可选</a:t>
            </a:r>
            <a:endParaRPr/>
          </a:p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5153025" y="1733550"/>
            <a:ext cx="188595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举措设计</a:t>
            </a:r>
            <a:endParaRPr/>
          </a:p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5153025" y="2057400"/>
            <a:ext cx="18859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打开每个举措，设计其架构方案，细化到具体变革点</a:t>
            </a:r>
            <a:endParaRPr/>
          </a:p>
        </p:txBody>
      </p:sp>
      <p:sp>
        <p:nvSpPr>
          <p:cNvPr id="784" name=""/>
          <p:cNvSpPr/>
          <p:nvPr/>
        </p:nvSpPr>
        <p:spPr>
          <a:xfrm rot="0" flipH="0" flipV="0">
            <a:off x="5153025" y="2790825"/>
            <a:ext cx="1885950" cy="381000"/>
          </a:xfrm>
          <a:prstGeom prst="roundRect">
            <a:avLst>
              <a:gd name="adj" fmla="val 7500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5238750" y="290512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8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举措架构方案</a:t>
            </a:r>
            <a:endParaRPr/>
          </a:p>
        </p:txBody>
      </p:sp>
      <p:sp>
        <p:nvSpPr>
          <p:cNvPr id="786" name=""/>
          <p:cNvSpPr/>
          <p:nvPr/>
        </p:nvSpPr>
        <p:spPr>
          <a:xfrm rot="0" flipH="0" flipV="0">
            <a:off x="7239000" y="1304925"/>
            <a:ext cx="2133600" cy="1962150"/>
          </a:xfrm>
          <a:prstGeom prst="roundRect">
            <a:avLst>
              <a:gd name="adj" fmla="val 194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7362825" y="1419225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C43A17"/>
                </a:solidFill>
                <a:latin typeface="Microsoft YaHei"/>
                <a:ea typeface="Microsoft YaHei"/>
              </a:rPr>
              <a:t>11</a:t>
            </a:r>
            <a:endParaRPr/>
          </a:p>
        </p:txBody>
      </p:sp>
      <p:sp>
        <p:nvSpPr>
          <p:cNvPr id="788" name=""/>
          <p:cNvSpPr/>
          <p:nvPr/>
        </p:nvSpPr>
        <p:spPr>
          <a:xfrm rot="0" flipH="0" flipV="0">
            <a:off x="7658100" y="1457325"/>
            <a:ext cx="304800" cy="152400"/>
          </a:xfrm>
          <a:prstGeom prst="roundRect">
            <a:avLst>
              <a:gd name="adj" fmla="val 12500"/>
            </a:avLst>
          </a:prstGeom>
          <a:ln w="12700">
            <a:solidFill>
              <a:srgbClr val="8A8F99"/>
            </a:solidFill>
            <a:prstDash val="solid"/>
          </a:ln>
        </p:spPr>
        <p:txBody>
          <a:bodyPr/>
          <a:p/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7715250" y="1476375"/>
            <a:ext cx="190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可选</a:t>
            </a:r>
            <a:endParaRPr/>
          </a:p>
        </p:txBody>
      </p:sp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7362825" y="1733550"/>
            <a:ext cx="188595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转型路标</a:t>
            </a:r>
            <a:endParaRPr/>
          </a:p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7362825" y="2057400"/>
            <a:ext cx="18859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明确哪些是基础工作需先期开展，每阶段的重点与抓手</a:t>
            </a:r>
            <a:endParaRPr/>
          </a:p>
        </p:txBody>
      </p:sp>
      <p:sp>
        <p:nvSpPr>
          <p:cNvPr id="792" name=""/>
          <p:cNvSpPr/>
          <p:nvPr/>
        </p:nvSpPr>
        <p:spPr>
          <a:xfrm rot="0" flipH="0" flipV="0">
            <a:off x="7362825" y="2790825"/>
            <a:ext cx="1885950" cy="381000"/>
          </a:xfrm>
          <a:prstGeom prst="roundRect">
            <a:avLst>
              <a:gd name="adj" fmla="val 7500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7448550" y="290512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8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分期路标</a:t>
            </a:r>
            <a:r>
              <a:rPr lang="en-US" sz="78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8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抓手</a:t>
            </a:r>
            <a:endParaRPr/>
          </a:p>
        </p:txBody>
      </p:sp>
      <p:sp>
        <p:nvSpPr>
          <p:cNvPr id="794" name=""/>
          <p:cNvSpPr/>
          <p:nvPr/>
        </p:nvSpPr>
        <p:spPr>
          <a:xfrm rot="0" flipH="0" flipV="0">
            <a:off x="9448800" y="1304925"/>
            <a:ext cx="2133600" cy="1962150"/>
          </a:xfrm>
          <a:prstGeom prst="roundRect">
            <a:avLst>
              <a:gd name="adj" fmla="val 194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9572625" y="1419225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C43A17"/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  <p:sp>
        <p:nvSpPr>
          <p:cNvPr id="796" name=""/>
          <p:cNvSpPr/>
          <p:nvPr/>
        </p:nvSpPr>
        <p:spPr>
          <a:xfrm rot="0" flipH="0" flipV="0">
            <a:off x="9867900" y="1457325"/>
            <a:ext cx="304800" cy="152400"/>
          </a:xfrm>
          <a:prstGeom prst="roundRect">
            <a:avLst>
              <a:gd name="adj" fmla="val 12500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9925050" y="1476375"/>
            <a:ext cx="190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/>
                </a:solidFill>
                <a:latin typeface="Microsoft YaHei"/>
                <a:ea typeface="Microsoft YaHei"/>
              </a:rPr>
              <a:t>主线</a:t>
            </a:r>
            <a:endParaRPr/>
          </a:p>
        </p:txBody>
      </p:sp>
      <p:sp>
        <p:nvSpPr>
          <p:cNvPr id="798" name="" descr="{&quot;isTemplate&quot;:true,&quot;type&quot;:&quot;text&quot;}"/>
          <p:cNvSpPr txBox="1"/>
          <p:nvPr/>
        </p:nvSpPr>
        <p:spPr>
          <a:xfrm rot="0" flipH="0" flipV="0">
            <a:off x="9572625" y="1733550"/>
            <a:ext cx="188595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规划项目</a:t>
            </a:r>
            <a:endParaRPr/>
          </a:p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9572625" y="2057400"/>
            <a:ext cx="18859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规划变革项目落实举措，节奏与路标一致</a:t>
            </a:r>
            <a:endParaRPr/>
          </a:p>
        </p:txBody>
      </p:sp>
      <p:sp>
        <p:nvSpPr>
          <p:cNvPr id="800" name=""/>
          <p:cNvSpPr/>
          <p:nvPr/>
        </p:nvSpPr>
        <p:spPr>
          <a:xfrm rot="0" flipH="0" flipV="0">
            <a:off x="9572625" y="2790825"/>
            <a:ext cx="1885950" cy="381000"/>
          </a:xfrm>
          <a:prstGeom prst="roundRect">
            <a:avLst>
              <a:gd name="adj" fmla="val 7500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9658350" y="290512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8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项目清单</a:t>
            </a:r>
            <a:r>
              <a:rPr lang="en-US" sz="78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8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分工</a:t>
            </a:r>
            <a:r>
              <a:rPr lang="en-US" sz="78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8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排期</a:t>
            </a:r>
            <a:endParaRPr/>
          </a:p>
        </p:txBody>
      </p:sp>
      <p:sp>
        <p:nvSpPr>
          <p:cNvPr id="802" name=""/>
          <p:cNvSpPr/>
          <p:nvPr/>
        </p:nvSpPr>
        <p:spPr>
          <a:xfrm rot="0" flipH="0" flipV="0">
            <a:off x="609600" y="3362325"/>
            <a:ext cx="6572250" cy="1409700"/>
          </a:xfrm>
          <a:prstGeom prst="roundRect">
            <a:avLst>
              <a:gd name="adj" fmla="val 270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03" name="" descr="{&quot;isTemplate&quot;:true,&quot;type&quot;:&quot;text&quot;}"/>
          <p:cNvSpPr txBox="1"/>
          <p:nvPr/>
        </p:nvSpPr>
        <p:spPr>
          <a:xfrm rot="0" flipH="0" flipV="0">
            <a:off x="800100" y="3495675"/>
            <a:ext cx="619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为什么华为标「可选」，却建议全走一遍</a:t>
            </a:r>
            <a:endParaRPr/>
          </a:p>
        </p:txBody>
      </p:sp>
      <p:sp>
        <p:nvSpPr>
          <p:cNvPr id="804" name=""/>
          <p:cNvSpPr/>
          <p:nvPr/>
        </p:nvSpPr>
        <p:spPr>
          <a:xfrm rot="0" flipH="0" flipV="0">
            <a:off x="828675" y="3771900"/>
            <a:ext cx="6191250" cy="238125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805" name=""/>
          <p:cNvSpPr/>
          <p:nvPr/>
        </p:nvSpPr>
        <p:spPr>
          <a:xfrm rot="0" flipH="0" flipV="0">
            <a:off x="828675" y="3771900"/>
            <a:ext cx="6191250" cy="238125"/>
          </a:xfrm>
          <a:custGeom>
            <a:pathLst>
              <a:path w="650" h="25">
                <a:moveTo>
                  <a:pt x="3" y="25"/>
                </a:moveTo>
                <a:cubicBezTo>
                  <a:pt x="2" y="25"/>
                  <a:pt x="1" y="25"/>
                  <a:pt x="1" y="25"/>
                </a:cubicBezTo>
                <a:cubicBezTo>
                  <a:pt x="0" y="24"/>
                  <a:pt x="0" y="24"/>
                  <a:pt x="0" y="23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lnTo>
                  <a:pt x="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942975" y="3819525"/>
            <a:ext cx="99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A4F24"/>
                </a:solidFill>
                <a:latin typeface="Microsoft YaHei"/>
                <a:ea typeface="Microsoft YaHei"/>
              </a:rPr>
              <a:t>不设指标</a:t>
            </a:r>
            <a:endParaRPr/>
          </a:p>
        </p:txBody>
      </p:sp>
      <p:sp>
        <p:nvSpPr>
          <p:cNvPr id="807" name="" descr="{&quot;isTemplate&quot;:true,&quot;type&quot;:&quot;text&quot;}"/>
          <p:cNvSpPr txBox="1"/>
          <p:nvPr/>
        </p:nvSpPr>
        <p:spPr>
          <a:xfrm rot="0" flipH="0" flipV="0">
            <a:off x="2047875" y="3819525"/>
            <a:ext cx="4829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举措做完了，说不清有没有对准价值——年底只能靠汇报口径自证</a:t>
            </a:r>
            <a:endParaRPr/>
          </a:p>
        </p:txBody>
      </p:sp>
      <p:sp>
        <p:nvSpPr>
          <p:cNvPr id="808" name=""/>
          <p:cNvSpPr/>
          <p:nvPr/>
        </p:nvSpPr>
        <p:spPr>
          <a:xfrm rot="0" flipH="0" flipV="0">
            <a:off x="828675" y="4086225"/>
            <a:ext cx="6191250" cy="238125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809" name=""/>
          <p:cNvSpPr/>
          <p:nvPr/>
        </p:nvSpPr>
        <p:spPr>
          <a:xfrm rot="0" flipH="0" flipV="0">
            <a:off x="828675" y="4086225"/>
            <a:ext cx="6191250" cy="238125"/>
          </a:xfrm>
          <a:custGeom>
            <a:pathLst>
              <a:path w="650" h="25">
                <a:moveTo>
                  <a:pt x="3" y="25"/>
                </a:moveTo>
                <a:cubicBezTo>
                  <a:pt x="2" y="25"/>
                  <a:pt x="1" y="25"/>
                  <a:pt x="1" y="25"/>
                </a:cubicBezTo>
                <a:cubicBezTo>
                  <a:pt x="0" y="24"/>
                  <a:pt x="0" y="24"/>
                  <a:pt x="0" y="23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lnTo>
                  <a:pt x="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942975" y="4133850"/>
            <a:ext cx="99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A4F24"/>
                </a:solidFill>
                <a:latin typeface="Microsoft YaHei"/>
                <a:ea typeface="Microsoft YaHei"/>
              </a:rPr>
              <a:t>不做举措设计</a:t>
            </a:r>
            <a:endParaRPr/>
          </a:p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2047875" y="4133850"/>
            <a:ext cx="4829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举措停在口号层，项目承接时各自理解，落地变形</a:t>
            </a:r>
            <a:endParaRPr/>
          </a:p>
        </p:txBody>
      </p:sp>
      <p:sp>
        <p:nvSpPr>
          <p:cNvPr id="812" name=""/>
          <p:cNvSpPr/>
          <p:nvPr/>
        </p:nvSpPr>
        <p:spPr>
          <a:xfrm rot="0" flipH="0" flipV="0">
            <a:off x="828675" y="4400550"/>
            <a:ext cx="6191250" cy="238125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813" name=""/>
          <p:cNvSpPr/>
          <p:nvPr/>
        </p:nvSpPr>
        <p:spPr>
          <a:xfrm rot="0" flipH="0" flipV="0">
            <a:off x="828675" y="4400550"/>
            <a:ext cx="6191250" cy="238125"/>
          </a:xfrm>
          <a:custGeom>
            <a:pathLst>
              <a:path w="650" h="25">
                <a:moveTo>
                  <a:pt x="3" y="25"/>
                </a:moveTo>
                <a:cubicBezTo>
                  <a:pt x="2" y="25"/>
                  <a:pt x="1" y="25"/>
                  <a:pt x="1" y="25"/>
                </a:cubicBezTo>
                <a:cubicBezTo>
                  <a:pt x="0" y="24"/>
                  <a:pt x="0" y="24"/>
                  <a:pt x="0" y="23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lnTo>
                  <a:pt x="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942975" y="4448175"/>
            <a:ext cx="99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A4F24"/>
                </a:solidFill>
                <a:latin typeface="Microsoft YaHei"/>
                <a:ea typeface="Microsoft YaHei"/>
              </a:rPr>
              <a:t>不设路标</a:t>
            </a:r>
            <a:endParaRPr/>
          </a:p>
        </p:txBody>
      </p:sp>
      <p:sp>
        <p:nvSpPr>
          <p:cNvPr id="815" name="" descr="{&quot;isTemplate&quot;:true,&quot;type&quot;:&quot;text&quot;}"/>
          <p:cNvSpPr txBox="1"/>
          <p:nvPr/>
        </p:nvSpPr>
        <p:spPr>
          <a:xfrm rot="0" flipH="0" flipV="0">
            <a:off x="2047875" y="4448175"/>
            <a:ext cx="4829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所有项目同一时间上马，基础工作没做完就上应用，返工不可避免</a:t>
            </a:r>
            <a:endParaRPr/>
          </a:p>
        </p:txBody>
      </p:sp>
      <p:sp>
        <p:nvSpPr>
          <p:cNvPr id="816" name=""/>
          <p:cNvSpPr/>
          <p:nvPr/>
        </p:nvSpPr>
        <p:spPr>
          <a:xfrm rot="0" flipH="0" flipV="0">
            <a:off x="7315200" y="3362325"/>
            <a:ext cx="4267200" cy="1428750"/>
          </a:xfrm>
          <a:prstGeom prst="roundRect">
            <a:avLst>
              <a:gd name="adj" fmla="val 266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817" name=""/>
          <p:cNvSpPr/>
          <p:nvPr/>
        </p:nvSpPr>
        <p:spPr>
          <a:xfrm rot="0" flipH="0" flipV="0">
            <a:off x="7315200" y="3362325"/>
            <a:ext cx="4267200" cy="1428750"/>
          </a:xfrm>
          <a:custGeom>
            <a:pathLst>
              <a:path w="448" h="150">
                <a:moveTo>
                  <a:pt x="4" y="150"/>
                </a:moveTo>
                <a:cubicBezTo>
                  <a:pt x="2" y="150"/>
                  <a:pt x="0" y="148"/>
                  <a:pt x="0" y="14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5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818" name="" descr="{&quot;isTemplate&quot;:true,&quot;type&quot;:&quot;text&quot;}"/>
          <p:cNvSpPr txBox="1"/>
          <p:nvPr/>
        </p:nvSpPr>
        <p:spPr>
          <a:xfrm rot="0" flipH="0" flipV="0">
            <a:off x="7486650" y="3495675"/>
            <a:ext cx="3924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原书的关键提示</a:t>
            </a:r>
            <a:endParaRPr/>
          </a:p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7486650" y="3771900"/>
            <a:ext cx="39243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粗线连接的方框是主线活动，部分步骤可选。华为明确建议：时间允许的话把步骤都走一遍——这样规划出来的项目更具实操性，更能被变革项目组承接和落地。</a:t>
            </a:r>
            <a:endParaRPr/>
          </a:p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7486650" y="4467225"/>
            <a:ext cx="39243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C43A17"/>
                </a:solidFill>
                <a:latin typeface="Microsoft YaHei"/>
                <a:ea typeface="Microsoft YaHei"/>
              </a:rPr>
              <a:t>「更能被变革项目组承接」是这句话的重点：不是给领导看的，是给执行方用的</a:t>
            </a:r>
            <a:endParaRPr/>
          </a:p>
        </p:txBody>
      </p:sp>
      <p:sp>
        <p:nvSpPr>
          <p:cNvPr id="821" name=""/>
          <p:cNvSpPr/>
          <p:nvPr/>
        </p:nvSpPr>
        <p:spPr>
          <a:xfrm rot="0" flipH="0" flipV="0">
            <a:off x="609600" y="4867275"/>
            <a:ext cx="10972800" cy="733425"/>
          </a:xfrm>
          <a:prstGeom prst="roundRect">
            <a:avLst>
              <a:gd name="adj" fmla="val 3896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22" name="" descr="{&quot;isTemplate&quot;:true,&quot;type&quot;:&quot;text&quot;}"/>
          <p:cNvSpPr txBox="1"/>
          <p:nvPr/>
        </p:nvSpPr>
        <p:spPr>
          <a:xfrm rot="0" flipH="0" flipV="0">
            <a:off x="800100" y="5153025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第三阶的收口判据</a:t>
            </a:r>
            <a:endParaRPr/>
          </a:p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2419350" y="5114925"/>
            <a:ext cx="66103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每个项目都能回答三个问题：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它承接哪条举措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在哪期路标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谁来做（公司级还是领域级）</a:t>
            </a:r>
            <a:endParaRPr/>
          </a:p>
        </p:txBody>
      </p:sp>
      <p:sp>
        <p:nvSpPr>
          <p:cNvPr id="824" name="" descr="{&quot;isTemplate&quot;:true,&quot;type&quot;:&quot;text&quot;}"/>
          <p:cNvSpPr txBox="1"/>
          <p:nvPr/>
        </p:nvSpPr>
        <p:spPr>
          <a:xfrm rot="0" flipH="0" flipV="0">
            <a:off x="9201150" y="5133975"/>
            <a:ext cx="21907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</a:rPr>
              <a:t>答不全就说明第三阶只是列了个清单</a:t>
            </a:r>
            <a:endParaRPr/>
          </a:p>
        </p:txBody>
      </p:sp>
      <p:sp>
        <p:nvSpPr>
          <p:cNvPr id="825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26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23 / 35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828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步骤 8–10：&lt;span style={{ color: '#FA4F24' }}&gt;指标 → 举措 → 举措设计&lt;/span&gt;&#10;        &lt;/Text&gt;&#10;        &lt;Text style={{ fontSize: 20, color: '#8A8F99', marginTop: 8 }}&gt;&#10;            这三步是一条链：愿景定了价值，指标量价值，举措改价值——中间断一环，架构就落不了地&#10;        &lt;/Text&gt;&#10;    &lt;/Box&gt;&#10;    &lt;Box style={{ height: 1, background: '#E8E8E8' }} /&gt;&#10;&#10;    {/* B 区 */}&#10;    &lt;Box style={{ paddingTop: 14, paddingBottom: 12, height: 479, flexDirection: 'column', gap: 9 }}&gt;&#10;&#10;        {/* 上：三步链 */}&#10;        &lt;Box style={{ height: 168, flexDirection: 'row', alignItems: 'stretch' }}&gt;&#10;            {[&#10;                { n: '08', t: '定义数字化转型指标体系', c: '#C43A17', opt: true,&#10;                  a: '设计一套指标体系，衡量转型工作是否对准价值达成、是否达到预设指标值',&#10;                  b: '在传统指标基础上，增加与数字化转型直接相关的数字化指标',&#10;                  o: '指标体系与预设值' },&#10;                { n: '09', t: '识别数字化转型举措', c: '#C43A17', opt: false,&#10;                  a: '基于架构蓝图，识别支撑愿景实现的关键成功要素',&#10;                  b: '形成举措，对举措进行描述和定义，明确举措的目标',&#10;                  o: '举措清单与举措目标' },&#10;                { n: '10', t: '举措设计', c: '#C43A17', opt: true,&#10;                  a: '为更好落实举措，打开每个举措，设计举措的架构方案',&#10;                  b: '同时将举措细化到具体的变革点',&#10;                  o: '举措架构方案与变革点' },&#10;            ].map((x, i) =&gt; (&#10;                &lt;Box key={x.n} style={{ flex: 1, flexDirection: 'row', alignItems: 'stretch' }}&gt;&#10;                    &lt;Box style={{ flex: 1, background: '#F7F7F8', borderRadius: 4, padding: '13px 15px', flexDirection: 'column' }}&gt;&#10;                        &lt;Box style={{ flexDirection: 'row', alignItems: 'center', gap: 7 }}&gt;&#10;                            &lt;Text style={{ fontSize: 18, fontWeight: 'bold', color: x.c }}&gt;{x.n}&lt;/Text&gt;&#10;                            {x.opt &amp;&amp; (&#10;                                &lt;Box style={{ height: 15, borderRadius: 2, border: '1px solid #8A8F99', padding: '0 5px', flexDirection: 'row', alignItems: 'center' }}&gt;&#10;                                    &lt;Text style={{ fontSize: 9.5, color: '#8A8F99' }}&gt;可选&lt;/Text&gt;&#10;                                &lt;/Box&gt;&#10;                            )}&#10;                        &lt;/Box&gt;&#10;                        &lt;Text style={{ fontSize: 14.5, fontWeight: 'bold', color: '#0F1423', marginTop: 8, lineHeight: 1.3 }}&gt;{x.t}&lt;/Text&gt;&#10;                        &lt;Text style={{ fontSize: 11.5, color: '#3A4050', lineHeight: 1.45, marginTop: 8, flex: 1 }}&gt;{x.a}&lt;/Text&gt;&#10;                        &lt;Text style={{ fontSize: 11, color: '#5A6070', lineHeight: 1.4 }}&gt;{x.b}&lt;/Text&gt;&#10;                        &lt;Text style={{ fontSize: 10.5, color: x.c, marginTop: 7 }}&gt;产出：{x.o}&lt;/Text&gt;&#10;                    &lt;/Box&gt;&#10;                    {i &lt; 2 &amp;&amp; (&#10;                        &lt;Box style={{ width: 26, alignItems: 'center', justifyContent: 'center' }}&gt;&#10;                            &lt;Text style={{ fontSize: 16, fontWeight: 'bold', color: '#FBA15C' }}&gt;→&lt;/Text&gt;&#10;                        &lt;/Box&gt;&#10;                    )}&#10;                &lt;/Box&gt;&#10;            ))}&#10;        &lt;/Box&gt;&#10;&#10;        {/* 中：链条图与断裂点 */}&#10;        &lt;Box style={{ flex: 1, flexDirection: 'row', gap: 10 }}&gt;&#10;            &lt;Box style={{ flex: 1, background: '#0F1423', borderRadius: 4, padding: '14px 20px', flexDirection: 'column' }}&gt;&#10;                &lt;Text style={{ fontSize: 14, fontWeight: 'bold', color: '#FBA15C' }}&gt;这条链一旦断裂，后面全是空转&lt;/Text&gt;&#10;                &lt;Box style={{ flex: 1, flexDirection: 'column', gap: 8, marginTop: 12 }}&gt;&#10;                    {[&#10;                        { f: '愿景', t: '要成为什么', x: '没有指标 → 无法判断做到没做到' },&#10;                        { f: '指标', t: '值多少算成', x: '没有举措 → 指标挂在旧流程上' },&#10;                        { f: '举措', t: '做什么能改变', x: '没有设计 → 举措停在口号层' },&#10;                        { f: '变革点', t: '改到哪一步', x: '没有项目 → 变革点没人承接' },&#10;                    ].map((x, i) =&gt; (&#10;                        &lt;Box key={x.f} style={{ flex: 1, flexDirection: 'row', alignItems: 'center', background: 'rgba(255,255,255,0.06)', borderRadius: 2, padding: '0 13px', gap: 11 }}&gt;&#10;                            &lt;Box style={{ width: 54, height: 22, background: ['#FA4F24', '#E0641E', '#D2531A', '#C43A17'][i], borderRadius: 2, alignItems: 'center', justifyContent: 'center' }}&gt;&#10;                                &lt;Text style={{ fontSize: 11.5, fontWeight: 'bold', color: '#FFFFFF' }}&gt;{x.f}&lt;/Text&gt;&#10;                            &lt;/Box&gt;&#10;                            &lt;Text style={{ fontSize: 12, color: 'rgba(255,255,255,0.85)', width: 96 }}&gt;{x.t}&lt;/Text&gt;&#10;                            &lt;Text style={{ fontSize: 11.5, color: '#FBA15C', flex: 1 }}&gt;{x.x}&lt;/Text&gt;&#10;                        &lt;/Box&gt;&#10;                    ))}&#10;                &lt;/Box&gt;&#10;            &lt;/Box&gt;&#10;            &lt;Box style={{ width: 424, background: '#FFF3EE', borderRadius: 4, borderLeft: '4px solid #FBA15C', padding: '14px 18px', flexDirection: 'column' }}&gt;&#10;                &lt;Text style={{ fontSize: 14, fontWeight: 'bold', color: '#C43A17' }}&gt;指标体系最容易做错的地方&lt;/Text&gt;&#10;                &lt;Box style={{ flex: 1, flexDirection: 'column', gap: 9, marginTop: 12 }}&gt;&#10;                    {[&#10;                        { k: '全用结果指标', v: '只统计营收、成本、利润，改善动作无法归因，出问题没人认领' },&#10;                        { k: '全用过程指标', v: '上线率、培训人数都很漂亮，客户体验一点没变——装样子' },&#10;                        { k: '预设值没拍过', v: '指标定了但目标值是拍的，年底再改一次，体系就废了' },&#10;                    ].map((x) =&gt; (&#10;                        &lt;Box key={x.k} style={{ flex: 1, flexDirection: 'column', justifyContent: 'center' }}&gt;&#10;                            &lt;Text style={{ fontSize: 12.5, fontWeight: 'bold', color: '#0F1423' }}&gt;{x.k}&lt;/Text&gt;&#10;                            &lt;Text style={{ fontSize: 11.5, color: '#5A6070', lineHeight: 1.4, marginTop: 3 }}&gt;{x.v}&lt;/Text&gt;&#10;                        &lt;/Box&gt;&#10;                    ))}&#10;                &lt;/Box&gt;&#10;            &lt;/Box&gt;&#10;        &lt;/Box&gt;&#10;&#10;        {/* 底部 */}&#10;        &lt;Box style={{ height: 36, background: '#0F1423', borderRadius: 3, flexDirection: 'row', alignItems: 'center', padding: '0 20px', gap: 16 }}&gt;&#10;            &lt;Text style={{ fontSize: 13.5, fontWeight: 'bold', color: '#FBA15C', width: 148 }}&gt;结果 + 过程 + 体验&lt;/Text&gt;&#10;            &lt;Text style={{ fontSize: 14.5, color: '#FFFFFF', flex: 1 }}&gt;三类指标要一起上：只有结果说清原因，只有过程说清价值，只有体验说清这是不是转型&lt;/Text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华为数字化转型之道&lt;/Text&gt;&#10;        &lt;/Box&gt;&#10;        &lt;Text style={{ fontSize: 14, color: '#8A8F99' }}&gt;24 / 3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步骤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8–10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指标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举措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举措设计</a:t>
            </a:r>
            <a:endParaRPr/>
          </a:p>
        </p:txBody>
      </p:sp>
      <p:sp>
        <p:nvSpPr>
          <p:cNvPr id="83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这三步是一条链：愿景定了价值，指标量价值，举措改价值——中间断一环，架构就落不了地</a:t>
            </a:r>
            <a:endParaRPr/>
          </a:p>
        </p:txBody>
      </p:sp>
      <p:sp>
        <p:nvSpPr>
          <p:cNvPr id="83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833" name=""/>
          <p:cNvSpPr/>
          <p:nvPr/>
        </p:nvSpPr>
        <p:spPr>
          <a:xfrm rot="0" flipH="0" flipV="0">
            <a:off x="609600" y="1285875"/>
            <a:ext cx="3409950" cy="1600200"/>
          </a:xfrm>
          <a:prstGeom prst="roundRect">
            <a:avLst>
              <a:gd name="adj" fmla="val 238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752475" y="140970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C43A17"/>
                </a:solidFill>
                <a:latin typeface="Microsoft YaHei"/>
                <a:ea typeface="Microsoft YaHei"/>
              </a:rPr>
              <a:t>08</a:t>
            </a:r>
            <a:endParaRPr/>
          </a:p>
        </p:txBody>
      </p:sp>
      <p:sp>
        <p:nvSpPr>
          <p:cNvPr id="835" name=""/>
          <p:cNvSpPr/>
          <p:nvPr/>
        </p:nvSpPr>
        <p:spPr>
          <a:xfrm rot="0" flipH="0" flipV="0">
            <a:off x="1038225" y="1447800"/>
            <a:ext cx="276225" cy="142875"/>
          </a:xfrm>
          <a:prstGeom prst="roundRect">
            <a:avLst>
              <a:gd name="adj" fmla="val 13333"/>
            </a:avLst>
          </a:prstGeom>
          <a:ln w="12700">
            <a:solidFill>
              <a:srgbClr val="8A8F99"/>
            </a:solidFill>
            <a:prstDash val="solid"/>
          </a:ln>
        </p:spPr>
        <p:txBody>
          <a:bodyPr/>
          <a:p/>
        </p:txBody>
      </p:sp>
      <p:sp>
        <p:nvSpPr>
          <p:cNvPr id="836" name="" descr="{&quot;isTemplate&quot;:true,&quot;type&quot;:&quot;text&quot;}"/>
          <p:cNvSpPr txBox="1"/>
          <p:nvPr/>
        </p:nvSpPr>
        <p:spPr>
          <a:xfrm rot="0" flipH="0" flipV="0">
            <a:off x="1085850" y="1466850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8A8F99"/>
                </a:solidFill>
                <a:latin typeface="Microsoft YaHei"/>
                <a:ea typeface="Microsoft YaHei"/>
              </a:rPr>
              <a:t>可选</a:t>
            </a:r>
            <a:endParaRPr/>
          </a:p>
        </p:txBody>
      </p:sp>
      <p:sp>
        <p:nvSpPr>
          <p:cNvPr id="837" name="" descr="{&quot;isTemplate&quot;:true,&quot;type&quot;:&quot;text&quot;}"/>
          <p:cNvSpPr txBox="1"/>
          <p:nvPr/>
        </p:nvSpPr>
        <p:spPr>
          <a:xfrm rot="0" flipH="0" flipV="0">
            <a:off x="752475" y="1695450"/>
            <a:ext cx="3124200" cy="2190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定义数字化转型指标体系</a:t>
            </a:r>
            <a:endParaRPr/>
          </a:p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752475" y="1990725"/>
            <a:ext cx="31242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设计一套指标体系，衡量转型工作是否对准价值达成、是否达到预设指标值</a:t>
            </a:r>
            <a:endParaRPr/>
          </a:p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752475" y="2390775"/>
            <a:ext cx="31242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在传统指标基础上，增加与数字化转型直接相关的数字化指标</a:t>
            </a:r>
            <a:endParaRPr/>
          </a:p>
        </p:txBody>
      </p:sp>
      <p:sp>
        <p:nvSpPr>
          <p:cNvPr id="840" name="" descr="{&quot;isTemplate&quot;:true,&quot;type&quot;:&quot;text&quot;}"/>
          <p:cNvSpPr txBox="1"/>
          <p:nvPr/>
        </p:nvSpPr>
        <p:spPr>
          <a:xfrm rot="0" flipH="0" flipV="0">
            <a:off x="752475" y="2638425"/>
            <a:ext cx="31242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788">
                <a:solidFill>
                  <a:srgbClr val="C43A17"/>
                </a:solidFill>
                <a:latin typeface="Microsoft YaHei"/>
                <a:ea typeface="Microsoft YaHei"/>
              </a:rPr>
              <a:t>指标体系与预设值</a:t>
            </a:r>
            <a:endParaRPr/>
          </a:p>
        </p:txBody>
      </p:sp>
      <p:sp>
        <p:nvSpPr>
          <p:cNvPr id="841" name="" descr="{&quot;isTemplate&quot;:true,&quot;type&quot;:&quot;text&quot;}"/>
          <p:cNvSpPr txBox="1"/>
          <p:nvPr/>
        </p:nvSpPr>
        <p:spPr>
          <a:xfrm rot="0" flipH="0" flipV="0">
            <a:off x="4067175" y="199072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FBA15C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842" name=""/>
          <p:cNvSpPr/>
          <p:nvPr/>
        </p:nvSpPr>
        <p:spPr>
          <a:xfrm rot="0" flipH="0" flipV="0">
            <a:off x="4267200" y="1285875"/>
            <a:ext cx="3409950" cy="1600200"/>
          </a:xfrm>
          <a:prstGeom prst="roundRect">
            <a:avLst>
              <a:gd name="adj" fmla="val 238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43" name="" descr="{&quot;isTemplate&quot;:true,&quot;type&quot;:&quot;text&quot;}"/>
          <p:cNvSpPr txBox="1"/>
          <p:nvPr/>
        </p:nvSpPr>
        <p:spPr>
          <a:xfrm rot="0" flipH="0" flipV="0">
            <a:off x="4410075" y="140970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C43A17"/>
                </a:solidFill>
                <a:latin typeface="Microsoft YaHei"/>
                <a:ea typeface="Microsoft YaHei"/>
              </a:rPr>
              <a:t>09</a:t>
            </a:r>
            <a:endParaRPr/>
          </a:p>
        </p:txBody>
      </p:sp>
      <p:sp>
        <p:nvSpPr>
          <p:cNvPr id="844" name="" descr="{&quot;isTemplate&quot;:true,&quot;type&quot;:&quot;text&quot;}"/>
          <p:cNvSpPr txBox="1"/>
          <p:nvPr/>
        </p:nvSpPr>
        <p:spPr>
          <a:xfrm rot="0" flipH="0" flipV="0">
            <a:off x="4410075" y="1695450"/>
            <a:ext cx="3124200" cy="2190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识别数字化转型举措</a:t>
            </a:r>
            <a:endParaRPr/>
          </a:p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4410075" y="1990725"/>
            <a:ext cx="3124200" cy="400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基于架构蓝图，识别支撑愿景实现的关键成功要素</a:t>
            </a:r>
            <a:endParaRPr/>
          </a:p>
        </p:txBody>
      </p:sp>
      <p:sp>
        <p:nvSpPr>
          <p:cNvPr id="846" name="" descr="{&quot;isTemplate&quot;:true,&quot;type&quot;:&quot;text&quot;}"/>
          <p:cNvSpPr txBox="1"/>
          <p:nvPr/>
        </p:nvSpPr>
        <p:spPr>
          <a:xfrm rot="0" flipH="0" flipV="0">
            <a:off x="4410075" y="2390775"/>
            <a:ext cx="31242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形成举措，对举措进行描述和定义，明确举措的目标</a:t>
            </a:r>
            <a:endParaRPr/>
          </a:p>
        </p:txBody>
      </p:sp>
      <p:sp>
        <p:nvSpPr>
          <p:cNvPr id="847" name="" descr="{&quot;isTemplate&quot;:true,&quot;type&quot;:&quot;text&quot;}"/>
          <p:cNvSpPr txBox="1"/>
          <p:nvPr/>
        </p:nvSpPr>
        <p:spPr>
          <a:xfrm rot="0" flipH="0" flipV="0">
            <a:off x="4410075" y="2638425"/>
            <a:ext cx="31242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788">
                <a:solidFill>
                  <a:srgbClr val="C43A17"/>
                </a:solidFill>
                <a:latin typeface="Microsoft YaHei"/>
                <a:ea typeface="Microsoft YaHei"/>
              </a:rPr>
              <a:t>举措清单与举措目标</a:t>
            </a:r>
            <a:endParaRPr/>
          </a:p>
        </p:txBody>
      </p:sp>
      <p:sp>
        <p:nvSpPr>
          <p:cNvPr id="848" name="" descr="{&quot;isTemplate&quot;:true,&quot;type&quot;:&quot;text&quot;}"/>
          <p:cNvSpPr txBox="1"/>
          <p:nvPr/>
        </p:nvSpPr>
        <p:spPr>
          <a:xfrm rot="0" flipH="0" flipV="0">
            <a:off x="7724775" y="199072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FBA15C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849" name=""/>
          <p:cNvSpPr/>
          <p:nvPr/>
        </p:nvSpPr>
        <p:spPr>
          <a:xfrm rot="0" flipH="0" flipV="0">
            <a:off x="7924800" y="1285875"/>
            <a:ext cx="3657600" cy="1600200"/>
          </a:xfrm>
          <a:prstGeom prst="roundRect">
            <a:avLst>
              <a:gd name="adj" fmla="val 238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50" name="" descr="{&quot;isTemplate&quot;:true,&quot;type&quot;:&quot;text&quot;}"/>
          <p:cNvSpPr txBox="1"/>
          <p:nvPr/>
        </p:nvSpPr>
        <p:spPr>
          <a:xfrm rot="0" flipH="0" flipV="0">
            <a:off x="8067675" y="140970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C43A17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851" name=""/>
          <p:cNvSpPr/>
          <p:nvPr/>
        </p:nvSpPr>
        <p:spPr>
          <a:xfrm rot="0" flipH="0" flipV="0">
            <a:off x="8353425" y="1447800"/>
            <a:ext cx="276225" cy="142875"/>
          </a:xfrm>
          <a:prstGeom prst="roundRect">
            <a:avLst>
              <a:gd name="adj" fmla="val 13333"/>
            </a:avLst>
          </a:prstGeom>
          <a:ln w="12700">
            <a:solidFill>
              <a:srgbClr val="8A8F99"/>
            </a:solidFill>
            <a:prstDash val="solid"/>
          </a:ln>
        </p:spPr>
        <p:txBody>
          <a:bodyPr/>
          <a:p/>
        </p:txBody>
      </p:sp>
      <p:sp>
        <p:nvSpPr>
          <p:cNvPr id="852" name="" descr="{&quot;isTemplate&quot;:true,&quot;type&quot;:&quot;text&quot;}"/>
          <p:cNvSpPr txBox="1"/>
          <p:nvPr/>
        </p:nvSpPr>
        <p:spPr>
          <a:xfrm rot="0" flipH="0" flipV="0">
            <a:off x="8401050" y="1466850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8A8F99"/>
                </a:solidFill>
                <a:latin typeface="Microsoft YaHei"/>
                <a:ea typeface="Microsoft YaHei"/>
              </a:rPr>
              <a:t>可选</a:t>
            </a:r>
            <a:endParaRPr/>
          </a:p>
        </p:txBody>
      </p:sp>
      <p:sp>
        <p:nvSpPr>
          <p:cNvPr id="853" name="" descr="{&quot;isTemplate&quot;:true,&quot;type&quot;:&quot;text&quot;}"/>
          <p:cNvSpPr txBox="1"/>
          <p:nvPr/>
        </p:nvSpPr>
        <p:spPr>
          <a:xfrm rot="0" flipH="0" flipV="0">
            <a:off x="8067675" y="1695450"/>
            <a:ext cx="3371850" cy="2190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举措设计</a:t>
            </a:r>
            <a:endParaRPr/>
          </a:p>
        </p:txBody>
      </p:sp>
      <p:sp>
        <p:nvSpPr>
          <p:cNvPr id="854" name="" descr="{&quot;isTemplate&quot;:true,&quot;type&quot;:&quot;text&quot;}"/>
          <p:cNvSpPr txBox="1"/>
          <p:nvPr/>
        </p:nvSpPr>
        <p:spPr>
          <a:xfrm rot="0" flipH="0" flipV="0">
            <a:off x="8067675" y="1990725"/>
            <a:ext cx="3371850" cy="400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为更好落实举措，打开每个举措，设计举措的架构方案</a:t>
            </a:r>
            <a:endParaRPr/>
          </a:p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8067675" y="2390775"/>
            <a:ext cx="33718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同时将举措细化到具体的变革点</a:t>
            </a:r>
            <a:endParaRPr/>
          </a:p>
        </p:txBody>
      </p:sp>
      <p:sp>
        <p:nvSpPr>
          <p:cNvPr id="856" name="" descr="{&quot;isTemplate&quot;:true,&quot;type&quot;:&quot;text&quot;}"/>
          <p:cNvSpPr txBox="1"/>
          <p:nvPr/>
        </p:nvSpPr>
        <p:spPr>
          <a:xfrm rot="0" flipH="0" flipV="0">
            <a:off x="8067675" y="2638425"/>
            <a:ext cx="33718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788">
                <a:solidFill>
                  <a:srgbClr val="C43A17"/>
                </a:solidFill>
                <a:latin typeface="Microsoft YaHei"/>
                <a:ea typeface="Microsoft YaHei"/>
              </a:rPr>
              <a:t>举措架构方案与变革点</a:t>
            </a:r>
            <a:endParaRPr/>
          </a:p>
        </p:txBody>
      </p:sp>
      <p:sp>
        <p:nvSpPr>
          <p:cNvPr id="857" name=""/>
          <p:cNvSpPr/>
          <p:nvPr/>
        </p:nvSpPr>
        <p:spPr>
          <a:xfrm rot="0" flipH="0" flipV="0">
            <a:off x="609600" y="2971800"/>
            <a:ext cx="6838950" cy="2200275"/>
          </a:xfrm>
          <a:prstGeom prst="roundRect">
            <a:avLst>
              <a:gd name="adj" fmla="val 173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58" name="" descr="{&quot;isTemplate&quot;:true,&quot;type&quot;:&quot;text&quot;}"/>
          <p:cNvSpPr txBox="1"/>
          <p:nvPr/>
        </p:nvSpPr>
        <p:spPr>
          <a:xfrm rot="0" flipH="0" flipV="0">
            <a:off x="800100" y="3105150"/>
            <a:ext cx="6457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这条链一旦断裂，后面全是空转</a:t>
            </a:r>
            <a:endParaRPr/>
          </a:p>
        </p:txBody>
      </p:sp>
      <p:sp>
        <p:nvSpPr>
          <p:cNvPr id="859" name=""/>
          <p:cNvSpPr/>
          <p:nvPr/>
        </p:nvSpPr>
        <p:spPr>
          <a:xfrm rot="0" flipH="0" flipV="0">
            <a:off x="800100" y="3381375"/>
            <a:ext cx="6457950" cy="361950"/>
          </a:xfrm>
          <a:prstGeom prst="roundRect">
            <a:avLst>
              <a:gd name="adj" fmla="val 5263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860" name=""/>
          <p:cNvSpPr/>
          <p:nvPr/>
        </p:nvSpPr>
        <p:spPr>
          <a:xfrm rot="0" flipH="0" flipV="0">
            <a:off x="923925" y="3457575"/>
            <a:ext cx="514350" cy="209550"/>
          </a:xfrm>
          <a:prstGeom prst="roundRect">
            <a:avLst>
              <a:gd name="adj" fmla="val 9091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1076325" y="3495675"/>
            <a:ext cx="2190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愿景</a:t>
            </a:r>
            <a:endParaRPr/>
          </a:p>
        </p:txBody>
      </p:sp>
      <p:sp>
        <p:nvSpPr>
          <p:cNvPr id="862" name="" descr="{&quot;isTemplate&quot;:true,&quot;type&quot;:&quot;text&quot;}"/>
          <p:cNvSpPr txBox="1"/>
          <p:nvPr/>
        </p:nvSpPr>
        <p:spPr>
          <a:xfrm rot="0" flipH="0" flipV="0">
            <a:off x="1543050" y="3495675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要成为什么</a:t>
            </a:r>
            <a:endParaRPr/>
          </a:p>
        </p:txBody>
      </p:sp>
      <p:sp>
        <p:nvSpPr>
          <p:cNvPr id="863" name="" descr="{&quot;isTemplate&quot;:true,&quot;type&quot;:&quot;text&quot;}"/>
          <p:cNvSpPr txBox="1"/>
          <p:nvPr/>
        </p:nvSpPr>
        <p:spPr>
          <a:xfrm rot="0" flipH="0" flipV="0">
            <a:off x="2562225" y="3495675"/>
            <a:ext cx="4572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BA15C"/>
                </a:solidFill>
                <a:latin typeface="Microsoft YaHei"/>
                <a:ea typeface="Microsoft YaHei"/>
              </a:rPr>
              <a:t>没有指标</a:t>
            </a:r>
            <a:r>
              <a:rPr lang="en-US" sz="863">
                <a:solidFill>
                  <a:srgbClr val="FBA15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63">
                <a:solidFill>
                  <a:srgbClr val="FBA15C"/>
                </a:solidFill>
                <a:latin typeface="Microsoft YaHei"/>
                <a:ea typeface="Microsoft YaHei"/>
              </a:rPr>
              <a:t>无法判断做到没做到</a:t>
            </a:r>
            <a:endParaRPr/>
          </a:p>
        </p:txBody>
      </p:sp>
      <p:sp>
        <p:nvSpPr>
          <p:cNvPr id="864" name=""/>
          <p:cNvSpPr/>
          <p:nvPr/>
        </p:nvSpPr>
        <p:spPr>
          <a:xfrm rot="0" flipH="0" flipV="0">
            <a:off x="800100" y="3819525"/>
            <a:ext cx="6457950" cy="352425"/>
          </a:xfrm>
          <a:prstGeom prst="roundRect">
            <a:avLst>
              <a:gd name="adj" fmla="val 5405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865" name=""/>
          <p:cNvSpPr/>
          <p:nvPr/>
        </p:nvSpPr>
        <p:spPr>
          <a:xfrm rot="0" flipH="0" flipV="0">
            <a:off x="923925" y="3895725"/>
            <a:ext cx="514350" cy="209550"/>
          </a:xfrm>
          <a:prstGeom prst="roundRect">
            <a:avLst>
              <a:gd name="adj" fmla="val 9091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866" name="" descr="{&quot;isTemplate&quot;:true,&quot;type&quot;:&quot;text&quot;}"/>
          <p:cNvSpPr txBox="1"/>
          <p:nvPr/>
        </p:nvSpPr>
        <p:spPr>
          <a:xfrm rot="0" flipH="0" flipV="0">
            <a:off x="1076325" y="3933825"/>
            <a:ext cx="2190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指标</a:t>
            </a:r>
            <a:endParaRPr/>
          </a:p>
        </p:txBody>
      </p:sp>
      <p:sp>
        <p:nvSpPr>
          <p:cNvPr id="867" name="" descr="{&quot;isTemplate&quot;:true,&quot;type&quot;:&quot;text&quot;}"/>
          <p:cNvSpPr txBox="1"/>
          <p:nvPr/>
        </p:nvSpPr>
        <p:spPr>
          <a:xfrm rot="0" flipH="0" flipV="0">
            <a:off x="1543050" y="3924300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值多少算成</a:t>
            </a:r>
            <a:endParaRPr/>
          </a:p>
        </p:txBody>
      </p:sp>
      <p:sp>
        <p:nvSpPr>
          <p:cNvPr id="868" name="" descr="{&quot;isTemplate&quot;:true,&quot;type&quot;:&quot;text&quot;}"/>
          <p:cNvSpPr txBox="1"/>
          <p:nvPr/>
        </p:nvSpPr>
        <p:spPr>
          <a:xfrm rot="0" flipH="0" flipV="0">
            <a:off x="2562225" y="3933825"/>
            <a:ext cx="4572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BA15C"/>
                </a:solidFill>
                <a:latin typeface="Microsoft YaHei"/>
                <a:ea typeface="Microsoft YaHei"/>
              </a:rPr>
              <a:t>没有举措</a:t>
            </a:r>
            <a:r>
              <a:rPr lang="en-US" sz="863">
                <a:solidFill>
                  <a:srgbClr val="FBA15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63">
                <a:solidFill>
                  <a:srgbClr val="FBA15C"/>
                </a:solidFill>
                <a:latin typeface="Microsoft YaHei"/>
                <a:ea typeface="Microsoft YaHei"/>
              </a:rPr>
              <a:t>指标挂在旧流程上</a:t>
            </a:r>
            <a:endParaRPr/>
          </a:p>
        </p:txBody>
      </p:sp>
      <p:sp>
        <p:nvSpPr>
          <p:cNvPr id="869" name=""/>
          <p:cNvSpPr/>
          <p:nvPr/>
        </p:nvSpPr>
        <p:spPr>
          <a:xfrm rot="0" flipH="0" flipV="0">
            <a:off x="800100" y="4248150"/>
            <a:ext cx="6457950" cy="361950"/>
          </a:xfrm>
          <a:prstGeom prst="roundRect">
            <a:avLst>
              <a:gd name="adj" fmla="val 5263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870" name=""/>
          <p:cNvSpPr/>
          <p:nvPr/>
        </p:nvSpPr>
        <p:spPr>
          <a:xfrm rot="0" flipH="0" flipV="0">
            <a:off x="923925" y="4324350"/>
            <a:ext cx="514350" cy="209550"/>
          </a:xfrm>
          <a:prstGeom prst="roundRect">
            <a:avLst>
              <a:gd name="adj" fmla="val 9091"/>
            </a:avLst>
          </a:prstGeom>
          <a:solidFill>
            <a:srgbClr val="D2531A"/>
          </a:solidFill>
          <a:ln/>
        </p:spPr>
        <p:txBody>
          <a:bodyPr/>
          <a:p/>
        </p:txBody>
      </p:sp>
      <p:sp>
        <p:nvSpPr>
          <p:cNvPr id="871" name="" descr="{&quot;isTemplate&quot;:true,&quot;type&quot;:&quot;text&quot;}"/>
          <p:cNvSpPr txBox="1"/>
          <p:nvPr/>
        </p:nvSpPr>
        <p:spPr>
          <a:xfrm rot="0" flipH="0" flipV="0">
            <a:off x="1076325" y="4362450"/>
            <a:ext cx="2190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举措</a:t>
            </a:r>
            <a:endParaRPr/>
          </a:p>
        </p:txBody>
      </p:sp>
      <p:sp>
        <p:nvSpPr>
          <p:cNvPr id="872" name="" descr="{&quot;isTemplate&quot;:true,&quot;type&quot;:&quot;text&quot;}"/>
          <p:cNvSpPr txBox="1"/>
          <p:nvPr/>
        </p:nvSpPr>
        <p:spPr>
          <a:xfrm rot="0" flipH="0" flipV="0">
            <a:off x="1543050" y="4362450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做什么能改变</a:t>
            </a:r>
            <a:endParaRPr/>
          </a:p>
        </p:txBody>
      </p:sp>
      <p:sp>
        <p:nvSpPr>
          <p:cNvPr id="873" name="" descr="{&quot;isTemplate&quot;:true,&quot;type&quot;:&quot;text&quot;}"/>
          <p:cNvSpPr txBox="1"/>
          <p:nvPr/>
        </p:nvSpPr>
        <p:spPr>
          <a:xfrm rot="0" flipH="0" flipV="0">
            <a:off x="2562225" y="4362450"/>
            <a:ext cx="4572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BA15C"/>
                </a:solidFill>
                <a:latin typeface="Microsoft YaHei"/>
                <a:ea typeface="Microsoft YaHei"/>
              </a:rPr>
              <a:t>没有设计</a:t>
            </a:r>
            <a:r>
              <a:rPr lang="en-US" sz="863">
                <a:solidFill>
                  <a:srgbClr val="FBA15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63">
                <a:solidFill>
                  <a:srgbClr val="FBA15C"/>
                </a:solidFill>
                <a:latin typeface="Microsoft YaHei"/>
                <a:ea typeface="Microsoft YaHei"/>
              </a:rPr>
              <a:t>举措停在口号层</a:t>
            </a:r>
            <a:endParaRPr/>
          </a:p>
        </p:txBody>
      </p:sp>
      <p:sp>
        <p:nvSpPr>
          <p:cNvPr id="874" name=""/>
          <p:cNvSpPr/>
          <p:nvPr/>
        </p:nvSpPr>
        <p:spPr>
          <a:xfrm rot="0" flipH="0" flipV="0">
            <a:off x="800100" y="4686300"/>
            <a:ext cx="6457950" cy="352425"/>
          </a:xfrm>
          <a:prstGeom prst="roundRect">
            <a:avLst>
              <a:gd name="adj" fmla="val 5405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875" name=""/>
          <p:cNvSpPr/>
          <p:nvPr/>
        </p:nvSpPr>
        <p:spPr>
          <a:xfrm rot="0" flipH="0" flipV="0">
            <a:off x="923925" y="4762500"/>
            <a:ext cx="514350" cy="209550"/>
          </a:xfrm>
          <a:prstGeom prst="roundRect">
            <a:avLst>
              <a:gd name="adj" fmla="val 9091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876" name="" descr="{&quot;isTemplate&quot;:true,&quot;type&quot;:&quot;text&quot;}"/>
          <p:cNvSpPr txBox="1"/>
          <p:nvPr/>
        </p:nvSpPr>
        <p:spPr>
          <a:xfrm rot="0" flipH="0" flipV="0">
            <a:off x="1019175" y="4800600"/>
            <a:ext cx="333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变革点</a:t>
            </a:r>
            <a:endParaRPr/>
          </a:p>
        </p:txBody>
      </p:sp>
      <p:sp>
        <p:nvSpPr>
          <p:cNvPr id="877" name="" descr="{&quot;isTemplate&quot;:true,&quot;type&quot;:&quot;text&quot;}"/>
          <p:cNvSpPr txBox="1"/>
          <p:nvPr/>
        </p:nvSpPr>
        <p:spPr>
          <a:xfrm rot="0" flipH="0" flipV="0">
            <a:off x="1543050" y="4791075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改到哪一步</a:t>
            </a:r>
            <a:endParaRPr/>
          </a:p>
        </p:txBody>
      </p:sp>
      <p:sp>
        <p:nvSpPr>
          <p:cNvPr id="878" name="" descr="{&quot;isTemplate&quot;:true,&quot;type&quot;:&quot;text&quot;}"/>
          <p:cNvSpPr txBox="1"/>
          <p:nvPr/>
        </p:nvSpPr>
        <p:spPr>
          <a:xfrm rot="0" flipH="0" flipV="0">
            <a:off x="2562225" y="4800600"/>
            <a:ext cx="4572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BA15C"/>
                </a:solidFill>
                <a:latin typeface="Microsoft YaHei"/>
                <a:ea typeface="Microsoft YaHei"/>
              </a:rPr>
              <a:t>没有项目</a:t>
            </a:r>
            <a:r>
              <a:rPr lang="en-US" sz="863">
                <a:solidFill>
                  <a:srgbClr val="FBA15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63">
                <a:solidFill>
                  <a:srgbClr val="FBA15C"/>
                </a:solidFill>
                <a:latin typeface="Microsoft YaHei"/>
                <a:ea typeface="Microsoft YaHei"/>
              </a:rPr>
              <a:t>变革点没人承接</a:t>
            </a:r>
            <a:endParaRPr/>
          </a:p>
        </p:txBody>
      </p:sp>
      <p:sp>
        <p:nvSpPr>
          <p:cNvPr id="879" name=""/>
          <p:cNvSpPr/>
          <p:nvPr/>
        </p:nvSpPr>
        <p:spPr>
          <a:xfrm rot="0" flipH="0" flipV="0">
            <a:off x="7581900" y="2971800"/>
            <a:ext cx="4000500" cy="2200275"/>
          </a:xfrm>
          <a:prstGeom prst="roundRect">
            <a:avLst>
              <a:gd name="adj" fmla="val 173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880" name=""/>
          <p:cNvSpPr/>
          <p:nvPr/>
        </p:nvSpPr>
        <p:spPr>
          <a:xfrm rot="0" flipH="0" flipV="0">
            <a:off x="7581900" y="2971800"/>
            <a:ext cx="4000500" cy="2200275"/>
          </a:xfrm>
          <a:custGeom>
            <a:pathLst>
              <a:path w="420" h="231">
                <a:moveTo>
                  <a:pt x="4" y="231"/>
                </a:moveTo>
                <a:cubicBezTo>
                  <a:pt x="2" y="231"/>
                  <a:pt x="0" y="229"/>
                  <a:pt x="0" y="22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3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881" name="" descr="{&quot;isTemplate&quot;:true,&quot;type&quot;:&quot;text&quot;}"/>
          <p:cNvSpPr txBox="1"/>
          <p:nvPr/>
        </p:nvSpPr>
        <p:spPr>
          <a:xfrm rot="0" flipH="0" flipV="0">
            <a:off x="7753350" y="3105150"/>
            <a:ext cx="3657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指标体系最容易做错的地方</a:t>
            </a:r>
            <a:endParaRPr/>
          </a:p>
        </p:txBody>
      </p:sp>
      <p:sp>
        <p:nvSpPr>
          <p:cNvPr id="882" name="" descr="{&quot;isTemplate&quot;:true,&quot;type&quot;:&quot;text&quot;}"/>
          <p:cNvSpPr txBox="1"/>
          <p:nvPr/>
        </p:nvSpPr>
        <p:spPr>
          <a:xfrm rot="0" flipH="0" flipV="0">
            <a:off x="7753350" y="3448050"/>
            <a:ext cx="3657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全用结果指标</a:t>
            </a:r>
            <a:endParaRPr/>
          </a:p>
        </p:txBody>
      </p:sp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7753350" y="3619500"/>
            <a:ext cx="36576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只统计营收、成本、利润，改善动作无法归因，出问题没人认领</a:t>
            </a:r>
            <a:endParaRPr/>
          </a:p>
        </p:txBody>
      </p:sp>
      <p:sp>
        <p:nvSpPr>
          <p:cNvPr id="884" name="" descr="{&quot;isTemplate&quot;:true,&quot;type&quot;:&quot;text&quot;}"/>
          <p:cNvSpPr txBox="1"/>
          <p:nvPr/>
        </p:nvSpPr>
        <p:spPr>
          <a:xfrm rot="0" flipH="0" flipV="0">
            <a:off x="7753350" y="4029075"/>
            <a:ext cx="3657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全用过程指标</a:t>
            </a:r>
            <a:endParaRPr/>
          </a:p>
        </p:txBody>
      </p:sp>
      <p:sp>
        <p:nvSpPr>
          <p:cNvPr id="885" name="" descr="{&quot;isTemplate&quot;:true,&quot;type&quot;:&quot;text&quot;}"/>
          <p:cNvSpPr txBox="1"/>
          <p:nvPr/>
        </p:nvSpPr>
        <p:spPr>
          <a:xfrm rot="0" flipH="0" flipV="0">
            <a:off x="7753350" y="4200525"/>
            <a:ext cx="36576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上线率、培训人数都很漂亮，客户体验一点没变——装样子</a:t>
            </a:r>
            <a:endParaRPr/>
          </a:p>
        </p:txBody>
      </p:sp>
      <p:sp>
        <p:nvSpPr>
          <p:cNvPr id="886" name="" descr="{&quot;isTemplate&quot;:true,&quot;type&quot;:&quot;text&quot;}"/>
          <p:cNvSpPr txBox="1"/>
          <p:nvPr/>
        </p:nvSpPr>
        <p:spPr>
          <a:xfrm rot="0" flipH="0" flipV="0">
            <a:off x="7753350" y="4610100"/>
            <a:ext cx="3657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预设值没拍过</a:t>
            </a:r>
            <a:endParaRPr/>
          </a:p>
        </p:txBody>
      </p:sp>
      <p:sp>
        <p:nvSpPr>
          <p:cNvPr id="887" name="" descr="{&quot;isTemplate&quot;:true,&quot;type&quot;:&quot;text&quot;}"/>
          <p:cNvSpPr txBox="1"/>
          <p:nvPr/>
        </p:nvSpPr>
        <p:spPr>
          <a:xfrm rot="0" flipH="0" flipV="0">
            <a:off x="7753350" y="4781550"/>
            <a:ext cx="36576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指标定了但目标值是拍的，年底再改一次，体系就废了</a:t>
            </a:r>
            <a:endParaRPr/>
          </a:p>
        </p:txBody>
      </p:sp>
      <p:sp>
        <p:nvSpPr>
          <p:cNvPr id="888" name=""/>
          <p:cNvSpPr/>
          <p:nvPr/>
        </p:nvSpPr>
        <p:spPr>
          <a:xfrm rot="0" flipH="0" flipV="0">
            <a:off x="609600" y="5257800"/>
            <a:ext cx="10972800" cy="342900"/>
          </a:xfrm>
          <a:prstGeom prst="roundRect">
            <a:avLst>
              <a:gd name="adj" fmla="val 833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89" name="" descr="{&quot;isTemplate&quot;:true,&quot;type&quot;:&quot;text&quot;}"/>
          <p:cNvSpPr txBox="1"/>
          <p:nvPr/>
        </p:nvSpPr>
        <p:spPr>
          <a:xfrm rot="0" flipH="0" flipV="0">
            <a:off x="800100" y="5353050"/>
            <a:ext cx="1409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结果</a:t>
            </a:r>
            <a:r>
              <a:rPr lang="en-US" sz="1013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过程</a:t>
            </a:r>
            <a:r>
              <a:rPr lang="en-US" sz="1013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体验</a:t>
            </a:r>
            <a:endParaRPr/>
          </a:p>
        </p:txBody>
      </p:sp>
      <p:sp>
        <p:nvSpPr>
          <p:cNvPr id="890" name="" descr="{&quot;isTemplate&quot;:true,&quot;type&quot;:&quot;text&quot;}"/>
          <p:cNvSpPr txBox="1"/>
          <p:nvPr/>
        </p:nvSpPr>
        <p:spPr>
          <a:xfrm rot="0" flipH="0" flipV="0">
            <a:off x="2362200" y="5343525"/>
            <a:ext cx="9029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FFFFFF"/>
                </a:solidFill>
                <a:latin typeface="Microsoft YaHei"/>
                <a:ea typeface="Microsoft YaHei"/>
              </a:rPr>
              <a:t>三类指标要一起上：只有结果说清原因，只有过程说清价值，只有体验说清这是不是转型</a:t>
            </a:r>
            <a:endParaRPr/>
          </a:p>
        </p:txBody>
      </p:sp>
      <p:sp>
        <p:nvSpPr>
          <p:cNvPr id="891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92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893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24 / 35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894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步骤 11–12：&lt;span style={{ color: '#FA4F24' }}&gt;转型路标&lt;/span&gt;与项目规划&#10;        &lt;/Text&gt;&#10;        &lt;Text style={{ fontSize: 20, color: '#8A8F99', marginTop: 8 }}&gt;&#10;            路标的作用不是给时间表，是明确「哪件事必须先做完，否则后面全是白做」&#10;        &lt;/Text&gt;&#10;    &lt;/Box&gt;&#10;    &lt;Box style={{ height: 1, background: '#E8E8E8' }} /&gt;&#10;&#10;    {/* B 区 */}&#10;    &lt;Box style={{ paddingTop: 14, paddingBottom: 12, height: 479, flexDirection: 'column', gap: 10 }}&gt;&#10;&#10;        {/* 上：路标三阶段示意 */}&#10;        &lt;Box style={{ height: 168, flexDirection: 'row', gap: 8, alignItems: 'stretch' }}&gt;&#10;            {[&#10;                { t: '第一期', s: '基础期', d: '先把底座类工作做完——数据标准、主数据、集成规范', c: '#FA4F24', k: '这一期不上应用' },&#10;                { t: '第二期', s: '能力期', d: '把业务能力沉淀为服务，场景在服务上搭起来', c: '#E0641E', k: '按能力分批上线' },&#10;                { t: '第三期', s: '智能期', d: '数据与能力齐备后，才谈智能优化与 AI 原生', c: '#C43A17', k: '不能提前' },&#10;            ].map((x, i) =&gt; (&#10;                &lt;Box key={x.t} style={{ flex: 1, background: '#F7F7F8', borderRadius: 4, borderTop: '3px solid ' + x.c, padding: '13px 16px', flexDirection: 'column' }}&gt;&#10;                    &lt;Box style={{ flexDirection: 'row', alignItems: 'center', gap: 9 }}&gt;&#10;                        &lt;Text style={{ fontSize: 17, fontWeight: 'bold', color: x.c }}&gt;{x.t}&lt;/Text&gt;&#10;                        &lt;Text style={{ fontSize: 13, color: '#0F1423', fontWeight: 'bold' }}&gt;{x.s}&lt;/Text&gt;&#10;                    &lt;/Box&gt;&#10;                    &lt;Text style={{ fontSize: 12.5, color: '#3A4050', lineHeight: 1.5, marginTop: 10, flex: 1 }}&gt;{x.d}&lt;/Text&gt;&#10;                    &lt;Box style={{ height: 26, background: x.c, borderRadius: 2, flexDirection: 'row', alignItems: 'center', padding: '0 10px' }}&gt;&#10;                        &lt;Text style={{ fontSize: 11, color: 'rgba(255,255,255,0.95)' }}&gt;{x.k}&lt;/Text&gt;&#10;                    &lt;/Box&gt;&#10;                &lt;/Box&gt;&#10;            ))}&#10;            &lt;Box style={{ width: 300, background: '#0F1423', borderRadius: 4, padding: '13px 16px', flexDirection: 'column', justifyContent: 'center' }}&gt;&#10;                &lt;Text style={{ fontSize: 14, fontWeight: 'bold', color: '#FBA15C' }}&gt;路标要写清三件事&lt;/Text&gt;&#10;                &lt;Box style={{ flex: 1, flexDirection: 'column', gap: 8, marginTop: 11 }}&gt;&#10;                    {[&#10;                        '哪些工作是基础工作，必须先期开展',&#10;                        '每一阶段的关注重点是什么',&#10;                        '每一阶段的抓手是什么',&#10;                    ].map((x, i) =&gt; (&#10;                        &lt;Box key={x} style={{ flexDirection: 'row', alignItems: 'center', gap: 7, flex: 1 }}&gt;&#10;                            &lt;Text style={{ fontSize: 11, color: '#FA4F24', fontWeight: 'bold' }}&gt;{'0' + (i + 1)}&lt;/Text&gt;&#10;                            &lt;Text style={{ fontSize: 11.5, color: 'rgba(255,255,255,0.86)', lineHeight: 1.35, flex: 1 }}&gt;{x}&lt;/Text&gt;&#10;                        &lt;/Box&gt;&#10;                    ))}&#10;                &lt;/Box&gt;&#10;            &lt;/Box&gt;&#10;        &lt;/Box&gt;&#10;&#10;        {/* 中：项目规划两件事 */}&#10;        &lt;Box style={{ height: 130, flexDirection: 'row', gap: 10 }}&gt;&#10;            &lt;Box style={{ flex: 1, background: '#F7F7F8', borderRadius: 4, padding: '13px 18px', flexDirection: 'column' }}&gt;&#10;                &lt;Box style={{ flexDirection: 'row', alignItems: 'center', gap: 9 }}&gt;&#10;                    &lt;Box style={{ width: 26, height: 26, background: '#C43A17', borderRadius: 3, alignItems: 'center', justifyContent: 'center' }}&gt;&#10;                        &lt;Text style={{ fontSize: 12, fontWeight: 'bold', color: '#FFFFFF' }}&gt;12&lt;/Text&gt;&#10;                    &lt;/Box&gt;&#10;                    &lt;Text style={{ fontSize: 17, fontWeight: 'bold', color: '#0F1423' }}&gt;规划变革项目&lt;/Text&gt;&#10;                &lt;/Box&gt;&#10;                &lt;Box style={{ flex: 1, flexDirection: 'column', gap: 8, marginTop: 11 }}&gt;&#10;                    {[&#10;                        '规划变革项目，落实数字化转型愿景和举措',&#10;                        '项目的节奏与数字化转型路标保持一致',&#10;                    ].map((x, i) =&gt; (&#10;                        &lt;Box key={x} style={{ flexDirection: 'row', alignItems: 'center', gap: 8, flex: 1 }}&gt;&#10;                            &lt;Text style={{ fontSize: 11, color: '#FA4F24', fontWeight: 'bold' }}&gt;{'0' + (i + 1)}&lt;/Text&gt;&#10;                            &lt;Text style={{ fontSize: 12.5, color: '#3A4050', lineHeight: 1.4, flex: 1 }}&gt;{x}&lt;/Text&gt;&#10;                        &lt;/Box&gt;&#10;                    ))}&#10;                &lt;/Box&gt;&#10;            &lt;/Box&gt;&#10;            &lt;Box style={{ flex: 1, background: '#FFF3EE', borderRadius: 4, borderLeft: '4px solid #FA4F24', padding: '13px 18px', flexDirection: 'column' }}&gt;&#10;                &lt;Text style={{ fontSize: 17, fontWeight: 'bold', color: '#C43A17' }}&gt;明确两级分工&lt;/Text&gt;&#10;                &lt;Box style={{ flex: 1, flexDirection: 'row', gap: 10, marginTop: 12 }}&gt;&#10;                    {[&#10;                        { t: '公司层级做', d: '全局性工作：数据标准、集成规范、平台底座', c: '#FA4F24' },&#10;                        { t: '领域自己做', d: '本领域应用与流程，按公司规范执行', c: '#E0641E' },&#10;                    ].map((x) =&gt; (&#10;                        &lt;Box key={x.t} style={{ flex: 1, background: '#FFFFFF', borderRadius: 3, borderLeft: '3px solid ' + x.c, padding: '0 12px', flexDirection: 'column', justifyContent: 'center' }}&gt;&#10;                            &lt;Text style={{ fontSize: 14, fontWeight: 'bold', color: x.c }}&gt;{x.t}&lt;/Text&gt;&#10;                            &lt;Text style={{ fontSize: 11.5, color: '#5A6070', lineHeight: 1.4, marginTop: 6 }}&gt;{x.d}&lt;/Text&gt;&#10;                        &lt;/Box&gt;&#10;                    ))}&#10;                &lt;/Box&gt;&#10;            &lt;/Box&gt;&#10;        &lt;/Box&gt;&#10;&#10;        {/* 底部 */}&#10;        &lt;Box style={{ flex: 1, background: '#0F1423', borderRadius: 3, padding: '12px 20px', flexDirection: 'row', alignItems: 'center', gap: 18 }}&gt;&#10;            &lt;Text style={{ fontSize: 13.5, fontWeight: 'bold', color: '#FBA15C', width: 160 }}&gt;这一阶最容易出的错&lt;/Text&gt;&#10;            &lt;Text style={{ fontSize: 14, color: '#FFFFFF', flex: 1, lineHeight: 1.5 }}&gt;&#10;                所有项目都写成「公司级重点项目」——&lt;tspan style={{ color: '#FA4F24' }}&gt;责任一旦不清，最先做的就是基础工作，因为谁都想先摘看得见的果子&lt;/tspan&gt;&#10;            &lt;/Text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华为数字化转型之道&lt;/Text&gt;&#10;        &lt;/Box&gt;&#10;        &lt;Text style={{ fontSize: 14, color: '#8A8F99' }}&gt;25 / 3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9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步骤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11–12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转型路标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与项目规划</a:t>
            </a:r>
            <a:endParaRPr/>
          </a:p>
        </p:txBody>
      </p:sp>
      <p:sp>
        <p:nvSpPr>
          <p:cNvPr id="89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路标的作用不是给时间表，是明确「哪件事必须先做完，否则后面全是白做」</a:t>
            </a:r>
            <a:endParaRPr/>
          </a:p>
        </p:txBody>
      </p:sp>
      <p:sp>
        <p:nvSpPr>
          <p:cNvPr id="89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899" name=""/>
          <p:cNvSpPr/>
          <p:nvPr/>
        </p:nvSpPr>
        <p:spPr>
          <a:xfrm rot="0" flipH="0" flipV="0">
            <a:off x="609600" y="1314450"/>
            <a:ext cx="2628900" cy="1600200"/>
          </a:xfrm>
          <a:prstGeom prst="roundRect">
            <a:avLst>
              <a:gd name="adj" fmla="val 238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00" name=""/>
          <p:cNvSpPr/>
          <p:nvPr/>
        </p:nvSpPr>
        <p:spPr>
          <a:xfrm rot="0" flipH="0" flipV="0">
            <a:off x="609600" y="1314450"/>
            <a:ext cx="2628900" cy="1600200"/>
          </a:xfrm>
          <a:custGeom>
            <a:pathLst>
              <a:path w="276" h="168">
                <a:moveTo>
                  <a:pt x="272" y="0"/>
                </a:moveTo>
                <a:cubicBezTo>
                  <a:pt x="274" y="0"/>
                  <a:pt x="276" y="2"/>
                  <a:pt x="276" y="4"/>
                </a:cubicBezTo>
                <a:cubicBezTo>
                  <a:pt x="276" y="3"/>
                  <a:pt x="275" y="3"/>
                  <a:pt x="275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2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01" name="" descr="{&quot;isTemplate&quot;:true,&quot;type&quot;:&quot;text&quot;}"/>
          <p:cNvSpPr txBox="1"/>
          <p:nvPr/>
        </p:nvSpPr>
        <p:spPr>
          <a:xfrm rot="0" flipH="0" flipV="0">
            <a:off x="762000" y="1438275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A4F24"/>
                </a:solidFill>
                <a:latin typeface="Microsoft YaHei"/>
                <a:ea typeface="Microsoft YaHei"/>
              </a:rPr>
              <a:t>第一期</a:t>
            </a:r>
            <a:endParaRPr/>
          </a:p>
        </p:txBody>
      </p:sp>
      <p:sp>
        <p:nvSpPr>
          <p:cNvPr id="902" name="" descr="{&quot;isTemplate&quot;:true,&quot;type&quot;:&quot;text&quot;}"/>
          <p:cNvSpPr txBox="1"/>
          <p:nvPr/>
        </p:nvSpPr>
        <p:spPr>
          <a:xfrm rot="0" flipH="0" flipV="0">
            <a:off x="1333500" y="14668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基础期</a:t>
            </a:r>
            <a:endParaRPr/>
          </a:p>
        </p:txBody>
      </p:sp>
      <p:sp>
        <p:nvSpPr>
          <p:cNvPr id="903" name="" descr="{&quot;isTemplate&quot;:true,&quot;type&quot;:&quot;text&quot;}"/>
          <p:cNvSpPr txBox="1"/>
          <p:nvPr/>
        </p:nvSpPr>
        <p:spPr>
          <a:xfrm rot="0" flipH="0" flipV="0">
            <a:off x="762000" y="1733550"/>
            <a:ext cx="2324100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先把底座类工作做完——数据标准、主数据、集成规范</a:t>
            </a:r>
            <a:endParaRPr/>
          </a:p>
        </p:txBody>
      </p:sp>
      <p:sp>
        <p:nvSpPr>
          <p:cNvPr id="904" name=""/>
          <p:cNvSpPr/>
          <p:nvPr/>
        </p:nvSpPr>
        <p:spPr>
          <a:xfrm rot="0" flipH="0" flipV="0">
            <a:off x="762000" y="2514600"/>
            <a:ext cx="2324100" cy="247650"/>
          </a:xfrm>
          <a:prstGeom prst="roundRect">
            <a:avLst>
              <a:gd name="adj" fmla="val 7692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05" name="" descr="{&quot;isTemplate&quot;:true,&quot;type&quot;:&quot;text&quot;}"/>
          <p:cNvSpPr txBox="1"/>
          <p:nvPr/>
        </p:nvSpPr>
        <p:spPr>
          <a:xfrm rot="0" flipH="0" flipV="0">
            <a:off x="857250" y="2571750"/>
            <a:ext cx="733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这一期不上应用</a:t>
            </a:r>
            <a:endParaRPr/>
          </a:p>
        </p:txBody>
      </p:sp>
      <p:sp>
        <p:nvSpPr>
          <p:cNvPr id="906" name=""/>
          <p:cNvSpPr/>
          <p:nvPr/>
        </p:nvSpPr>
        <p:spPr>
          <a:xfrm rot="0" flipH="0" flipV="0">
            <a:off x="3314700" y="1314450"/>
            <a:ext cx="2628900" cy="1600200"/>
          </a:xfrm>
          <a:prstGeom prst="roundRect">
            <a:avLst>
              <a:gd name="adj" fmla="val 238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07" name=""/>
          <p:cNvSpPr/>
          <p:nvPr/>
        </p:nvSpPr>
        <p:spPr>
          <a:xfrm rot="0" flipH="0" flipV="0">
            <a:off x="3314700" y="1314450"/>
            <a:ext cx="2628900" cy="1600200"/>
          </a:xfrm>
          <a:custGeom>
            <a:pathLst>
              <a:path w="276" h="168">
                <a:moveTo>
                  <a:pt x="272" y="0"/>
                </a:moveTo>
                <a:cubicBezTo>
                  <a:pt x="274" y="0"/>
                  <a:pt x="276" y="2"/>
                  <a:pt x="276" y="4"/>
                </a:cubicBezTo>
                <a:cubicBezTo>
                  <a:pt x="276" y="3"/>
                  <a:pt x="275" y="3"/>
                  <a:pt x="275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2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908" name="" descr="{&quot;isTemplate&quot;:true,&quot;type&quot;:&quot;text&quot;}"/>
          <p:cNvSpPr txBox="1"/>
          <p:nvPr/>
        </p:nvSpPr>
        <p:spPr>
          <a:xfrm rot="0" flipH="0" flipV="0">
            <a:off x="3467100" y="1438275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0641E"/>
                </a:solidFill>
                <a:latin typeface="Microsoft YaHei"/>
                <a:ea typeface="Microsoft YaHei"/>
              </a:rPr>
              <a:t>第二期</a:t>
            </a:r>
            <a:endParaRPr/>
          </a:p>
        </p:txBody>
      </p:sp>
      <p:sp>
        <p:nvSpPr>
          <p:cNvPr id="909" name="" descr="{&quot;isTemplate&quot;:true,&quot;type&quot;:&quot;text&quot;}"/>
          <p:cNvSpPr txBox="1"/>
          <p:nvPr/>
        </p:nvSpPr>
        <p:spPr>
          <a:xfrm rot="0" flipH="0" flipV="0">
            <a:off x="4038600" y="14668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能力期</a:t>
            </a:r>
            <a:endParaRPr/>
          </a:p>
        </p:txBody>
      </p:sp>
      <p:sp>
        <p:nvSpPr>
          <p:cNvPr id="910" name="" descr="{&quot;isTemplate&quot;:true,&quot;type&quot;:&quot;text&quot;}"/>
          <p:cNvSpPr txBox="1"/>
          <p:nvPr/>
        </p:nvSpPr>
        <p:spPr>
          <a:xfrm rot="0" flipH="0" flipV="0">
            <a:off x="3467100" y="1733550"/>
            <a:ext cx="2324100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把业务能力沉淀为服务，场景在服务上搭起来</a:t>
            </a:r>
            <a:endParaRPr/>
          </a:p>
        </p:txBody>
      </p:sp>
      <p:sp>
        <p:nvSpPr>
          <p:cNvPr id="911" name=""/>
          <p:cNvSpPr/>
          <p:nvPr/>
        </p:nvSpPr>
        <p:spPr>
          <a:xfrm rot="0" flipH="0" flipV="0">
            <a:off x="3467100" y="2514600"/>
            <a:ext cx="2324100" cy="247650"/>
          </a:xfrm>
          <a:prstGeom prst="roundRect">
            <a:avLst>
              <a:gd name="adj" fmla="val 7692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912" name="" descr="{&quot;isTemplate&quot;:true,&quot;type&quot;:&quot;text&quot;}"/>
          <p:cNvSpPr txBox="1"/>
          <p:nvPr/>
        </p:nvSpPr>
        <p:spPr>
          <a:xfrm rot="0" flipH="0" flipV="0">
            <a:off x="3562350" y="2571750"/>
            <a:ext cx="733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按能力分批上线</a:t>
            </a:r>
            <a:endParaRPr/>
          </a:p>
        </p:txBody>
      </p:sp>
      <p:sp>
        <p:nvSpPr>
          <p:cNvPr id="913" name=""/>
          <p:cNvSpPr/>
          <p:nvPr/>
        </p:nvSpPr>
        <p:spPr>
          <a:xfrm rot="0" flipH="0" flipV="0">
            <a:off x="6019800" y="1314450"/>
            <a:ext cx="2628900" cy="1600200"/>
          </a:xfrm>
          <a:prstGeom prst="roundRect">
            <a:avLst>
              <a:gd name="adj" fmla="val 238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14" name=""/>
          <p:cNvSpPr/>
          <p:nvPr/>
        </p:nvSpPr>
        <p:spPr>
          <a:xfrm rot="0" flipH="0" flipV="0">
            <a:off x="6019800" y="1314450"/>
            <a:ext cx="2628900" cy="1600200"/>
          </a:xfrm>
          <a:custGeom>
            <a:pathLst>
              <a:path w="276" h="168">
                <a:moveTo>
                  <a:pt x="272" y="0"/>
                </a:moveTo>
                <a:cubicBezTo>
                  <a:pt x="274" y="0"/>
                  <a:pt x="276" y="2"/>
                  <a:pt x="276" y="4"/>
                </a:cubicBezTo>
                <a:cubicBezTo>
                  <a:pt x="276" y="3"/>
                  <a:pt x="275" y="3"/>
                  <a:pt x="275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2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915" name="" descr="{&quot;isTemplate&quot;:true,&quot;type&quot;:&quot;text&quot;}"/>
          <p:cNvSpPr txBox="1"/>
          <p:nvPr/>
        </p:nvSpPr>
        <p:spPr>
          <a:xfrm rot="0" flipH="0" flipV="0">
            <a:off x="6172200" y="1438275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43A17"/>
                </a:solidFill>
                <a:latin typeface="Microsoft YaHei"/>
                <a:ea typeface="Microsoft YaHei"/>
              </a:rPr>
              <a:t>第三期</a:t>
            </a:r>
            <a:endParaRPr/>
          </a:p>
        </p:txBody>
      </p:sp>
      <p:sp>
        <p:nvSpPr>
          <p:cNvPr id="916" name="" descr="{&quot;isTemplate&quot;:true,&quot;type&quot;:&quot;text&quot;}"/>
          <p:cNvSpPr txBox="1"/>
          <p:nvPr/>
        </p:nvSpPr>
        <p:spPr>
          <a:xfrm rot="0" flipH="0" flipV="0">
            <a:off x="6743700" y="14668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智能期</a:t>
            </a:r>
            <a:endParaRPr/>
          </a:p>
        </p:txBody>
      </p:sp>
      <p:sp>
        <p:nvSpPr>
          <p:cNvPr id="917" name="" descr="{&quot;isTemplate&quot;:true,&quot;type&quot;:&quot;text&quot;}"/>
          <p:cNvSpPr txBox="1"/>
          <p:nvPr/>
        </p:nvSpPr>
        <p:spPr>
          <a:xfrm rot="0" flipH="0" flipV="0">
            <a:off x="6172200" y="1733550"/>
            <a:ext cx="2324100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数据与能力齐备后，才谈智能优化与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原生</a:t>
            </a:r>
            <a:endParaRPr/>
          </a:p>
        </p:txBody>
      </p:sp>
      <p:sp>
        <p:nvSpPr>
          <p:cNvPr id="918" name=""/>
          <p:cNvSpPr/>
          <p:nvPr/>
        </p:nvSpPr>
        <p:spPr>
          <a:xfrm rot="0" flipH="0" flipV="0">
            <a:off x="6172200" y="2514600"/>
            <a:ext cx="2324100" cy="247650"/>
          </a:xfrm>
          <a:prstGeom prst="roundRect">
            <a:avLst>
              <a:gd name="adj" fmla="val 7692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919" name="" descr="{&quot;isTemplate&quot;:true,&quot;type&quot;:&quot;text&quot;}"/>
          <p:cNvSpPr txBox="1"/>
          <p:nvPr/>
        </p:nvSpPr>
        <p:spPr>
          <a:xfrm rot="0" flipH="0" flipV="0">
            <a:off x="6267450" y="2571750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不能提前</a:t>
            </a:r>
            <a:endParaRPr/>
          </a:p>
        </p:txBody>
      </p:sp>
      <p:sp>
        <p:nvSpPr>
          <p:cNvPr id="920" name=""/>
          <p:cNvSpPr/>
          <p:nvPr/>
        </p:nvSpPr>
        <p:spPr>
          <a:xfrm rot="0" flipH="0" flipV="0">
            <a:off x="8724900" y="1285875"/>
            <a:ext cx="2857500" cy="1600200"/>
          </a:xfrm>
          <a:prstGeom prst="roundRect">
            <a:avLst>
              <a:gd name="adj" fmla="val 238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21" name="" descr="{&quot;isTemplate&quot;:true,&quot;type&quot;:&quot;text&quot;}"/>
          <p:cNvSpPr txBox="1"/>
          <p:nvPr/>
        </p:nvSpPr>
        <p:spPr>
          <a:xfrm rot="0" flipH="0" flipV="0">
            <a:off x="8877300" y="1409700"/>
            <a:ext cx="2552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路标要写清三件事</a:t>
            </a:r>
            <a:endParaRPr/>
          </a:p>
        </p:txBody>
      </p:sp>
      <p:sp>
        <p:nvSpPr>
          <p:cNvPr id="922" name="" descr="{&quot;isTemplate&quot;:true,&quot;type&quot;:&quot;text&quot;}"/>
          <p:cNvSpPr txBox="1"/>
          <p:nvPr/>
        </p:nvSpPr>
        <p:spPr>
          <a:xfrm rot="0" flipH="0" flipV="0">
            <a:off x="8877300" y="1771650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923" name="" descr="{&quot;isTemplate&quot;:true,&quot;type&quot;:&quot;text&quot;}"/>
          <p:cNvSpPr txBox="1"/>
          <p:nvPr/>
        </p:nvSpPr>
        <p:spPr>
          <a:xfrm rot="0" flipH="0" flipV="0">
            <a:off x="9077325" y="1743075"/>
            <a:ext cx="235267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哪些工作是基础工作，必须先期开展</a:t>
            </a:r>
            <a:endParaRPr/>
          </a:p>
        </p:txBody>
      </p:sp>
      <p:sp>
        <p:nvSpPr>
          <p:cNvPr id="924" name="" descr="{&quot;isTemplate&quot;:true,&quot;type&quot;:&quot;text&quot;}"/>
          <p:cNvSpPr txBox="1"/>
          <p:nvPr/>
        </p:nvSpPr>
        <p:spPr>
          <a:xfrm rot="0" flipH="0" flipV="0">
            <a:off x="8877300" y="2152650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925" name="" descr="{&quot;isTemplate&quot;:true,&quot;type&quot;:&quot;text&quot;}"/>
          <p:cNvSpPr txBox="1"/>
          <p:nvPr/>
        </p:nvSpPr>
        <p:spPr>
          <a:xfrm rot="0" flipH="0" flipV="0">
            <a:off x="9077325" y="2133600"/>
            <a:ext cx="235267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每一阶段的关注重点是什么</a:t>
            </a:r>
            <a:endParaRPr/>
          </a:p>
        </p:txBody>
      </p:sp>
      <p:sp>
        <p:nvSpPr>
          <p:cNvPr id="926" name="" descr="{&quot;isTemplate&quot;:true,&quot;type&quot;:&quot;text&quot;}"/>
          <p:cNvSpPr txBox="1"/>
          <p:nvPr/>
        </p:nvSpPr>
        <p:spPr>
          <a:xfrm rot="0" flipH="0" flipV="0">
            <a:off x="8877300" y="2543175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927" name="" descr="{&quot;isTemplate&quot;:true,&quot;type&quot;:&quot;text&quot;}"/>
          <p:cNvSpPr txBox="1"/>
          <p:nvPr/>
        </p:nvSpPr>
        <p:spPr>
          <a:xfrm rot="0" flipH="0" flipV="0">
            <a:off x="9077325" y="2514600"/>
            <a:ext cx="235267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每一阶段的抓手是什么</a:t>
            </a:r>
            <a:endParaRPr/>
          </a:p>
        </p:txBody>
      </p:sp>
      <p:sp>
        <p:nvSpPr>
          <p:cNvPr id="928" name=""/>
          <p:cNvSpPr/>
          <p:nvPr/>
        </p:nvSpPr>
        <p:spPr>
          <a:xfrm rot="0" flipH="0" flipV="0">
            <a:off x="609600" y="2981325"/>
            <a:ext cx="5438775" cy="1238250"/>
          </a:xfrm>
          <a:prstGeom prst="roundRect">
            <a:avLst>
              <a:gd name="adj" fmla="val 307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29" name=""/>
          <p:cNvSpPr/>
          <p:nvPr/>
        </p:nvSpPr>
        <p:spPr>
          <a:xfrm rot="0" flipH="0" flipV="0">
            <a:off x="781050" y="3105150"/>
            <a:ext cx="247650" cy="247650"/>
          </a:xfrm>
          <a:prstGeom prst="roundRect">
            <a:avLst>
              <a:gd name="adj" fmla="val 11538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930" name="" descr="{&quot;isTemplate&quot;:true,&quot;type&quot;:&quot;text&quot;}"/>
          <p:cNvSpPr txBox="1"/>
          <p:nvPr/>
        </p:nvSpPr>
        <p:spPr>
          <a:xfrm rot="0" flipH="0" flipV="0">
            <a:off x="838200" y="3162300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  <p:sp>
        <p:nvSpPr>
          <p:cNvPr id="931" name="" descr="{&quot;isTemplate&quot;:true,&quot;type&quot;:&quot;text&quot;}"/>
          <p:cNvSpPr txBox="1"/>
          <p:nvPr/>
        </p:nvSpPr>
        <p:spPr>
          <a:xfrm rot="0" flipH="0" flipV="0">
            <a:off x="1114425" y="3133725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规划变革项目</a:t>
            </a:r>
            <a:endParaRPr/>
          </a:p>
        </p:txBody>
      </p:sp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781050" y="3533775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933" name="" descr="{&quot;isTemplate&quot;:true,&quot;type&quot;:&quot;text&quot;}"/>
          <p:cNvSpPr txBox="1"/>
          <p:nvPr/>
        </p:nvSpPr>
        <p:spPr>
          <a:xfrm rot="0" flipH="0" flipV="0">
            <a:off x="990600" y="3505200"/>
            <a:ext cx="48863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规划变革项目，落实数字化转型愿景和举措</a:t>
            </a:r>
            <a:endParaRPr/>
          </a:p>
        </p:txBody>
      </p:sp>
      <p:sp>
        <p:nvSpPr>
          <p:cNvPr id="934" name="" descr="{&quot;isTemplate&quot;:true,&quot;type&quot;:&quot;text&quot;}"/>
          <p:cNvSpPr txBox="1"/>
          <p:nvPr/>
        </p:nvSpPr>
        <p:spPr>
          <a:xfrm rot="0" flipH="0" flipV="0">
            <a:off x="781050" y="3895725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935" name="" descr="{&quot;isTemplate&quot;:true,&quot;type&quot;:&quot;text&quot;}"/>
          <p:cNvSpPr txBox="1"/>
          <p:nvPr/>
        </p:nvSpPr>
        <p:spPr>
          <a:xfrm rot="0" flipH="0" flipV="0">
            <a:off x="990600" y="3857625"/>
            <a:ext cx="48863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项目的节奏与数字化转型路标保持一致</a:t>
            </a:r>
            <a:endParaRPr/>
          </a:p>
        </p:txBody>
      </p:sp>
      <p:sp>
        <p:nvSpPr>
          <p:cNvPr id="936" name=""/>
          <p:cNvSpPr/>
          <p:nvPr/>
        </p:nvSpPr>
        <p:spPr>
          <a:xfrm rot="0" flipH="0" flipV="0">
            <a:off x="6181725" y="2981325"/>
            <a:ext cx="5438775" cy="1238250"/>
          </a:xfrm>
          <a:prstGeom prst="roundRect">
            <a:avLst>
              <a:gd name="adj" fmla="val 307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37" name=""/>
          <p:cNvSpPr/>
          <p:nvPr/>
        </p:nvSpPr>
        <p:spPr>
          <a:xfrm rot="0" flipH="0" flipV="0">
            <a:off x="6181725" y="2981325"/>
            <a:ext cx="5438775" cy="1238250"/>
          </a:xfrm>
          <a:custGeom>
            <a:pathLst>
              <a:path w="571" h="130">
                <a:moveTo>
                  <a:pt x="4" y="130"/>
                </a:moveTo>
                <a:cubicBezTo>
                  <a:pt x="2" y="130"/>
                  <a:pt x="0" y="128"/>
                  <a:pt x="0" y="12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3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38" name="" descr="{&quot;isTemplate&quot;:true,&quot;type&quot;:&quot;text&quot;}"/>
          <p:cNvSpPr txBox="1"/>
          <p:nvPr/>
        </p:nvSpPr>
        <p:spPr>
          <a:xfrm rot="0" flipH="0" flipV="0">
            <a:off x="6353175" y="3105150"/>
            <a:ext cx="5057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43A17"/>
                </a:solidFill>
                <a:latin typeface="Microsoft YaHei"/>
                <a:ea typeface="Microsoft YaHei"/>
              </a:rPr>
              <a:t>明确两级分工</a:t>
            </a:r>
            <a:endParaRPr/>
          </a:p>
        </p:txBody>
      </p:sp>
      <p:sp>
        <p:nvSpPr>
          <p:cNvPr id="939" name=""/>
          <p:cNvSpPr/>
          <p:nvPr/>
        </p:nvSpPr>
        <p:spPr>
          <a:xfrm rot="0" flipH="0" flipV="0">
            <a:off x="6381750" y="3419475"/>
            <a:ext cx="2486025" cy="676275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40" name=""/>
          <p:cNvSpPr/>
          <p:nvPr/>
        </p:nvSpPr>
        <p:spPr>
          <a:xfrm rot="0" flipH="0" flipV="0">
            <a:off x="6381750" y="3419475"/>
            <a:ext cx="2486025" cy="676275"/>
          </a:xfrm>
          <a:custGeom>
            <a:pathLst>
              <a:path w="261" h="71">
                <a:moveTo>
                  <a:pt x="3" y="71"/>
                </a:moveTo>
                <a:cubicBezTo>
                  <a:pt x="1" y="71"/>
                  <a:pt x="0" y="70"/>
                  <a:pt x="0" y="6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41" name="" descr="{&quot;isTemplate&quot;:true,&quot;type&quot;:&quot;text&quot;}"/>
          <p:cNvSpPr txBox="1"/>
          <p:nvPr/>
        </p:nvSpPr>
        <p:spPr>
          <a:xfrm rot="0" flipH="0" flipV="0">
            <a:off x="6496050" y="3552825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公司层级做</a:t>
            </a:r>
            <a:endParaRPr/>
          </a:p>
        </p:txBody>
      </p:sp>
      <p:sp>
        <p:nvSpPr>
          <p:cNvPr id="942" name="" descr="{&quot;isTemplate&quot;:true,&quot;type&quot;:&quot;text&quot;}"/>
          <p:cNvSpPr txBox="1"/>
          <p:nvPr/>
        </p:nvSpPr>
        <p:spPr>
          <a:xfrm rot="0" flipH="0" flipV="0">
            <a:off x="6496050" y="3771900"/>
            <a:ext cx="22288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全局性工作：数据标准、集成规范、平台底座</a:t>
            </a:r>
            <a:endParaRPr/>
          </a:p>
        </p:txBody>
      </p:sp>
      <p:sp>
        <p:nvSpPr>
          <p:cNvPr id="943" name=""/>
          <p:cNvSpPr/>
          <p:nvPr/>
        </p:nvSpPr>
        <p:spPr>
          <a:xfrm rot="0" flipH="0" flipV="0">
            <a:off x="8963025" y="3419475"/>
            <a:ext cx="2476500" cy="676275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44" name=""/>
          <p:cNvSpPr/>
          <p:nvPr/>
        </p:nvSpPr>
        <p:spPr>
          <a:xfrm rot="0" flipH="0" flipV="0">
            <a:off x="8963025" y="3419475"/>
            <a:ext cx="2476500" cy="676275"/>
          </a:xfrm>
          <a:custGeom>
            <a:pathLst>
              <a:path w="260" h="71">
                <a:moveTo>
                  <a:pt x="3" y="71"/>
                </a:moveTo>
                <a:cubicBezTo>
                  <a:pt x="1" y="71"/>
                  <a:pt x="0" y="70"/>
                  <a:pt x="0" y="6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1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945" name="" descr="{&quot;isTemplate&quot;:true,&quot;type&quot;:&quot;text&quot;}"/>
          <p:cNvSpPr txBox="1"/>
          <p:nvPr/>
        </p:nvSpPr>
        <p:spPr>
          <a:xfrm rot="0" flipH="0" flipV="0">
            <a:off x="9077325" y="3552825"/>
            <a:ext cx="2219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0641E"/>
                </a:solidFill>
                <a:latin typeface="Microsoft YaHei"/>
                <a:ea typeface="Microsoft YaHei"/>
              </a:rPr>
              <a:t>领域自己做</a:t>
            </a:r>
            <a:endParaRPr/>
          </a:p>
        </p:txBody>
      </p:sp>
      <p:sp>
        <p:nvSpPr>
          <p:cNvPr id="946" name="" descr="{&quot;isTemplate&quot;:true,&quot;type&quot;:&quot;text&quot;}"/>
          <p:cNvSpPr txBox="1"/>
          <p:nvPr/>
        </p:nvSpPr>
        <p:spPr>
          <a:xfrm rot="0" flipH="0" flipV="0">
            <a:off x="9077325" y="3771900"/>
            <a:ext cx="22193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本领域应用与流程，按公司规范执行</a:t>
            </a:r>
            <a:endParaRPr/>
          </a:p>
        </p:txBody>
      </p:sp>
      <p:sp>
        <p:nvSpPr>
          <p:cNvPr id="947" name=""/>
          <p:cNvSpPr/>
          <p:nvPr/>
        </p:nvSpPr>
        <p:spPr>
          <a:xfrm rot="0" flipH="0" flipV="0">
            <a:off x="609600" y="4314825"/>
            <a:ext cx="10972800" cy="1285875"/>
          </a:xfrm>
          <a:prstGeom prst="roundRect">
            <a:avLst>
              <a:gd name="adj" fmla="val 222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48" name="" descr="{&quot;isTemplate&quot;:true,&quot;type&quot;:&quot;text&quot;}"/>
          <p:cNvSpPr txBox="1"/>
          <p:nvPr/>
        </p:nvSpPr>
        <p:spPr>
          <a:xfrm rot="0" flipH="0" flipV="0">
            <a:off x="800100" y="4876800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这一阶最容易出的错</a:t>
            </a:r>
            <a:endParaRPr/>
          </a:p>
        </p:txBody>
      </p:sp>
      <p:sp>
        <p:nvSpPr>
          <p:cNvPr id="949" name="" descr="{&quot;isTemplate&quot;:true,&quot;type&quot;:&quot;text&quot;}"/>
          <p:cNvSpPr txBox="1"/>
          <p:nvPr/>
        </p:nvSpPr>
        <p:spPr>
          <a:xfrm rot="0" flipH="0" flipV="0">
            <a:off x="2495550" y="4838700"/>
            <a:ext cx="8896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所有项目都写成「公司级重点项目」——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责任一旦不清，最先做的就是基础工作，因为谁都想先摘看得见的果子</a:t>
            </a:r>
            <a:endParaRPr/>
          </a:p>
        </p:txBody>
      </p:sp>
      <p:sp>
        <p:nvSpPr>
          <p:cNvPr id="950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51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952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25 / 35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953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三阶与 4A 的&lt;span style={{ color: '#FA4F24' }}&gt;交叉关系&lt;/span&gt;&#10;        &lt;/Text&gt;&#10;        &lt;Text style={{ fontSize: 20, color: '#8A8F99', marginTop: 8 }}&gt;&#10;            十二步是时间轴，4A 是内容轴——两条轴交叉才能定位：某一步该产出哪个架构域的东西&#10;        &lt;/Text&gt;&#10;    &lt;/Box&gt;&#10;    &lt;Box style={{ height: 1, background: '#E8E8E8' }} /&gt;&#10;&#10;    {/* B 区 */}&#10;    &lt;Box style={{ paddingTop: 16, paddingBottom: 12, height: 479, flexDirection: 'column', gap: 10 }}&gt;&#10;&#10;        {/* 上：交叉矩阵 */}&#10;        &lt;Box style={{ height: 288, flexDirection: 'row', gap: 8 }}&gt;&#10;&#10;            {/* 行标 */}&#10;            &lt;Box style={{ width: 128, flexDirection: 'column', gap: 6 }}&gt;&#10;                &lt;Box style={{ height: 34, flexDirection: 'row', alignItems: 'center' }} /&gt;&#10;                {[&#10;                    { t: '第一阶', s: '描绘愿景', c: '#FA4F24' },&#10;                    { t: '第二阶', s: '设计蓝图', c: '#E0641E' },&#10;                    { t: '第三阶', s: '举措项目', c: '#C43A17' },&#10;                ].map((x) =&gt; (&#10;                    &lt;Box key={x.t} style={{ flex: 1, background: x.c, borderRadius: 3, flexDirection: 'column', alignItems: 'center', justifyContent: 'center' }}&gt;&#10;                        &lt;Text style={{ fontSize: 13, fontWeight: 'bold', color: '#FFFFFF' }}&gt;{x.t}&lt;/Text&gt;&#10;                        &lt;Text style={{ fontSize: 10.5, color: 'rgba(255,255,255,0.88)', marginTop: 2 }}&gt;{x.s}&lt;/Text&gt;&#10;                    &lt;/Box&gt;&#10;                ))}&#10;            &lt;/Box&gt;&#10;&#10;            {/* 列标 + 交叉内容 */}&#10;            &lt;Box style={{ flex: 1, flexDirection: 'column', gap: 6 }}&gt;&#10;                &lt;Box style={{ height: 34, flexDirection: 'row', gap: 6 }}&gt;&#10;                    {[&#10;                        { a: 'BA', t: '业务架构', c: '#FA4F24' },&#10;                        { a: 'IA/DA', t: '信息架构', c: '#E0641E' },&#10;                        { a: 'AA', t: '应用架构', c: '#D2531A' },&#10;                        { a: 'TA', t: '技术架构', c: '#C43A17' },&#10;                    ].map((x) =&gt; (&#10;                        &lt;Box key={x.a} style={{ flex: 1, background: '#0F1423', borderRadius: 3, flexDirection: 'row', alignItems: 'center', justifyContent: 'center', gap: 7 }}&gt;&#10;                            &lt;Text style={{ fontSize: 13, fontWeight: 'bold', color: '#FBA15C' }}&gt;{x.a}&lt;/Text&gt;&#10;                            &lt;Text style={{ fontSize: 11.5, color: '#FFFFFF' }}&gt;{x.t}&lt;/Text&gt;&#10;                        &lt;/Box&gt;&#10;                    ))}&#10;                &lt;/Box&gt;&#10;                {[&#10;                    [&#10;                        { c: '愿景要对准业务战略', t: '能力与体验目标写进愿景' },&#10;                        { c: '数据差距进愿景', t: '数据乱象写进愿景' },&#10;                        { c: '系统现状进愿景', t: '烟囱现状写进愿景' },&#10;                        { c: '技术欠账进愿景', t: '底座约束写进愿景' },&#10;                    ],&#10;                    [&#10;                        { c: '价值流与业务能力', t: '核心产出：BA' },&#10;                        { c: '概念 / 逻辑 / 物理模型', t: '核心产出：IA/DA' },&#10;                        { c: '系统边界与集成关系', t: '核心产出：AA' },&#10;                        { c: '底座与技术标准', t: '核心产出：TA' },&#10;                    ],&#10;                    [&#10;                        { c: '流程重构类举措', t: '改的是流程和权责' },&#10;                        { c: '治理与口径类举措', t: '改的是标准与定义' },&#10;                        { c: '集成与服务化举措', t: '改的是系统关系' },&#10;                        { c: '底座与技术举措', t: '改的是基础设施' },&#10;                    ],&#10;                ].map((row, ri) =&gt; (&#10;                    &lt;Box key={ri} style={{ flex: 1, flexDirection: 'row', gap: 6 }}&gt;&#10;                        {row.map((x, ci) =&gt; (&#10;                            &lt;Box key={ci} style={{ flex: 1, background: ri === 1 ? '#FFF3EE' : '#F7F7F8', borderRadius: 3, borderLeft: '3px solid ' + ['#FA4F24', '#E0641E', '#D2531A', '#C43A17'][ci], padding: '0 11px', flexDirection: 'column', justifyContent: 'center' }}&gt;&#10;                                &lt;Text style={{ fontSize: 11.5, fontWeight: 'bold', color: '#0F1423', lineHeight: 1.3 }}&gt;{x.c}&lt;/Text&gt;&#10;                                &lt;Text style={{ fontSize: 10.5, color: '#8A8F99', lineHeight: 1.3, marginTop: 4 }}&gt;{x.t}&lt;/Text&gt;&#10;                            &lt;/Box&gt;&#10;                        ))}&#10;                    &lt;/Box&gt;&#10;                ))}&#10;            &lt;/Box&gt;&#10;        &lt;/Box&gt;&#10;&#10;        {/* 底部两条 */}&#10;        &lt;Box style={{ flex: 1, flexDirection: 'row', gap: 9 }}&gt;&#10;            &lt;Box style={{ flex: 1, background: '#0F1423', borderRadius: 3, padding: '0 20px', flexDirection: 'column', justifyContent: 'center' }}&gt;&#10;                &lt;Text style={{ fontSize: 13.5, fontWeight: 'bold', color: '#FBA15C' }}&gt;交叉矩阵读出来的第一件事&lt;/Text&gt;&#10;                &lt;Text style={{ fontSize: 13, color: 'rgba(255,255,255,0.86)', lineHeight: 1.45, marginTop: 7 }}&gt;&#10;                    第一阶四个架构域都碰，但碰的是&lt;span style={{ color: '#FA4F24' }}&gt;现状与差距&lt;/span&gt;；第二阶才产出正式设计成果——两个阶段性质完全不同&#10;                &lt;/Text&gt;&#10;            &lt;/Box&gt;&#10;            &lt;Box style={{ flex: 1, background: '#FFF3EE', borderRadius: 3, borderLeft: '4px solid #FA4F24', padding: '0 20px', flexDirection: 'column', justifyContent: 'center' }}&gt;&#10;                &lt;Text style={{ fontSize: 13.5, fontWeight: 'bold', color: '#C43A17' }}&gt;交叉矩阵读出来的第二件事&lt;/Text&gt;&#10;                &lt;Text style={{ fontSize: 13, color: '#3A4050', lineHeight: 1.45, marginTop: 7 }}&gt;&#10;                    第三阶每一列的举措性质不同——&lt;tspan style={{ color: '#FA4F24' }}&gt;数据举措不能由业务部门牵头&lt;/tspan&gt;，分工不清就会卡住&#10;                &lt;/Text&gt;&#10;            &lt;/Box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华为数字化转型之道&lt;/Text&gt;&#10;        &lt;/Box&gt;&#10;        &lt;Text style={{ fontSize: 14, color: '#8A8F99' }}&gt;26 / 3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55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三阶与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4A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的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交叉关系</a:t>
            </a:r>
            <a:endParaRPr/>
          </a:p>
        </p:txBody>
      </p:sp>
      <p:sp>
        <p:nvSpPr>
          <p:cNvPr id="956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十二步是时间轴，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4A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是内容轴——两条轴交叉才能定位：某一步该产出哪个架构域的东西</a:t>
            </a:r>
            <a:endParaRPr/>
          </a:p>
        </p:txBody>
      </p:sp>
      <p:sp>
        <p:nvSpPr>
          <p:cNvPr id="957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958" name=""/>
          <p:cNvSpPr/>
          <p:nvPr/>
        </p:nvSpPr>
        <p:spPr>
          <a:xfrm rot="0" flipH="0" flipV="0">
            <a:off x="609600" y="1685925"/>
            <a:ext cx="1219200" cy="752475"/>
          </a:xfrm>
          <a:prstGeom prst="roundRect">
            <a:avLst>
              <a:gd name="adj" fmla="val 3797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59" name="" descr="{&quot;isTemplate&quot;:true,&quot;type&quot;:&quot;text&quot;}"/>
          <p:cNvSpPr txBox="1"/>
          <p:nvPr/>
        </p:nvSpPr>
        <p:spPr>
          <a:xfrm rot="0" flipH="0" flipV="0">
            <a:off x="1038225" y="191452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第一阶</a:t>
            </a:r>
            <a:endParaRPr/>
          </a:p>
        </p:txBody>
      </p:sp>
      <p:sp>
        <p:nvSpPr>
          <p:cNvPr id="960" name="" descr="{&quot;isTemplate&quot;:true,&quot;type&quot;:&quot;text&quot;}"/>
          <p:cNvSpPr txBox="1"/>
          <p:nvPr/>
        </p:nvSpPr>
        <p:spPr>
          <a:xfrm rot="0" flipH="0" flipV="0">
            <a:off x="1019175" y="208597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描绘愿景</a:t>
            </a:r>
            <a:endParaRPr/>
          </a:p>
        </p:txBody>
      </p:sp>
      <p:sp>
        <p:nvSpPr>
          <p:cNvPr id="961" name=""/>
          <p:cNvSpPr/>
          <p:nvPr/>
        </p:nvSpPr>
        <p:spPr>
          <a:xfrm rot="0" flipH="0" flipV="0">
            <a:off x="609600" y="2495550"/>
            <a:ext cx="1219200" cy="742950"/>
          </a:xfrm>
          <a:prstGeom prst="roundRect">
            <a:avLst>
              <a:gd name="adj" fmla="val 3846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962" name="" descr="{&quot;isTemplate&quot;:true,&quot;type&quot;:&quot;text&quot;}"/>
          <p:cNvSpPr txBox="1"/>
          <p:nvPr/>
        </p:nvSpPr>
        <p:spPr>
          <a:xfrm rot="0" flipH="0" flipV="0">
            <a:off x="1038225" y="27241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第二阶</a:t>
            </a:r>
            <a:endParaRPr/>
          </a:p>
        </p:txBody>
      </p:sp>
      <p:sp>
        <p:nvSpPr>
          <p:cNvPr id="963" name="" descr="{&quot;isTemplate&quot;:true,&quot;type&quot;:&quot;text&quot;}"/>
          <p:cNvSpPr txBox="1"/>
          <p:nvPr/>
        </p:nvSpPr>
        <p:spPr>
          <a:xfrm rot="0" flipH="0" flipV="0">
            <a:off x="1019175" y="2895600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设计蓝图</a:t>
            </a:r>
            <a:endParaRPr/>
          </a:p>
        </p:txBody>
      </p:sp>
      <p:sp>
        <p:nvSpPr>
          <p:cNvPr id="964" name=""/>
          <p:cNvSpPr/>
          <p:nvPr/>
        </p:nvSpPr>
        <p:spPr>
          <a:xfrm rot="0" flipH="0" flipV="0">
            <a:off x="609600" y="3295650"/>
            <a:ext cx="1219200" cy="752475"/>
          </a:xfrm>
          <a:prstGeom prst="roundRect">
            <a:avLst>
              <a:gd name="adj" fmla="val 3797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965" name="" descr="{&quot;isTemplate&quot;:true,&quot;type&quot;:&quot;text&quot;}"/>
          <p:cNvSpPr txBox="1"/>
          <p:nvPr/>
        </p:nvSpPr>
        <p:spPr>
          <a:xfrm rot="0" flipH="0" flipV="0">
            <a:off x="1038225" y="35242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第三阶</a:t>
            </a:r>
            <a:endParaRPr/>
          </a:p>
        </p:txBody>
      </p:sp>
      <p:sp>
        <p:nvSpPr>
          <p:cNvPr id="966" name="" descr="{&quot;isTemplate&quot;:true,&quot;type&quot;:&quot;text&quot;}"/>
          <p:cNvSpPr txBox="1"/>
          <p:nvPr/>
        </p:nvSpPr>
        <p:spPr>
          <a:xfrm rot="0" flipH="0" flipV="0">
            <a:off x="1019175" y="3695700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举措项目</a:t>
            </a:r>
            <a:endParaRPr/>
          </a:p>
        </p:txBody>
      </p:sp>
      <p:sp>
        <p:nvSpPr>
          <p:cNvPr id="967" name=""/>
          <p:cNvSpPr/>
          <p:nvPr/>
        </p:nvSpPr>
        <p:spPr>
          <a:xfrm rot="0" flipH="0" flipV="0">
            <a:off x="1905000" y="1304925"/>
            <a:ext cx="2381250" cy="323850"/>
          </a:xfrm>
          <a:prstGeom prst="roundRect">
            <a:avLst>
              <a:gd name="adj" fmla="val 8824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68" name="" descr="{&quot;isTemplate&quot;:true,&quot;type&quot;:&quot;text&quot;}"/>
          <p:cNvSpPr txBox="1"/>
          <p:nvPr/>
        </p:nvSpPr>
        <p:spPr>
          <a:xfrm rot="0" flipH="0" flipV="0">
            <a:off x="2752725" y="1390650"/>
            <a:ext cx="180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BA15C"/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969" name="" descr="{&quot;isTemplate&quot;:true,&quot;type&quot;:&quot;text&quot;}"/>
          <p:cNvSpPr txBox="1"/>
          <p:nvPr/>
        </p:nvSpPr>
        <p:spPr>
          <a:xfrm rot="0" flipH="0" flipV="0">
            <a:off x="3000375" y="14001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/>
                </a:solidFill>
                <a:latin typeface="Microsoft YaHei"/>
                <a:ea typeface="Microsoft YaHei"/>
              </a:rPr>
              <a:t>业务架构</a:t>
            </a:r>
            <a:endParaRPr/>
          </a:p>
        </p:txBody>
      </p:sp>
      <p:sp>
        <p:nvSpPr>
          <p:cNvPr id="970" name=""/>
          <p:cNvSpPr/>
          <p:nvPr/>
        </p:nvSpPr>
        <p:spPr>
          <a:xfrm rot="0" flipH="0" flipV="0">
            <a:off x="4343400" y="1304925"/>
            <a:ext cx="2371725" cy="323850"/>
          </a:xfrm>
          <a:prstGeom prst="roundRect">
            <a:avLst>
              <a:gd name="adj" fmla="val 8824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71" name="" descr="{&quot;isTemplate&quot;:true,&quot;type&quot;:&quot;text&quot;}"/>
          <p:cNvSpPr txBox="1"/>
          <p:nvPr/>
        </p:nvSpPr>
        <p:spPr>
          <a:xfrm rot="0" flipH="0" flipV="0">
            <a:off x="5086350" y="139065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BA15C"/>
                </a:solidFill>
                <a:latin typeface="Microsoft YaHei"/>
                <a:ea typeface="Microsoft YaHei"/>
              </a:rPr>
              <a:t>IA/DA</a:t>
            </a:r>
            <a:endParaRPr/>
          </a:p>
        </p:txBody>
      </p:sp>
      <p:sp>
        <p:nvSpPr>
          <p:cNvPr id="972" name="" descr="{&quot;isTemplate&quot;:true,&quot;type&quot;:&quot;text&quot;}"/>
          <p:cNvSpPr txBox="1"/>
          <p:nvPr/>
        </p:nvSpPr>
        <p:spPr>
          <a:xfrm rot="0" flipH="0" flipV="0">
            <a:off x="5543550" y="14001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/>
                </a:solidFill>
                <a:latin typeface="Microsoft YaHei"/>
                <a:ea typeface="Microsoft YaHei"/>
              </a:rPr>
              <a:t>信息架构</a:t>
            </a:r>
            <a:endParaRPr/>
          </a:p>
        </p:txBody>
      </p:sp>
      <p:sp>
        <p:nvSpPr>
          <p:cNvPr id="973" name=""/>
          <p:cNvSpPr/>
          <p:nvPr/>
        </p:nvSpPr>
        <p:spPr>
          <a:xfrm rot="0" flipH="0" flipV="0">
            <a:off x="6772275" y="1304925"/>
            <a:ext cx="2381250" cy="323850"/>
          </a:xfrm>
          <a:prstGeom prst="roundRect">
            <a:avLst>
              <a:gd name="adj" fmla="val 8824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74" name="" descr="{&quot;isTemplate&quot;:true,&quot;type&quot;:&quot;text&quot;}"/>
          <p:cNvSpPr txBox="1"/>
          <p:nvPr/>
        </p:nvSpPr>
        <p:spPr>
          <a:xfrm rot="0" flipH="0" flipV="0">
            <a:off x="7620000" y="1390650"/>
            <a:ext cx="190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BA15C"/>
                </a:solidFill>
                <a:latin typeface="Microsoft YaHei"/>
                <a:ea typeface="Microsoft YaHei"/>
              </a:rPr>
              <a:t>AA</a:t>
            </a:r>
            <a:endParaRPr/>
          </a:p>
        </p:txBody>
      </p:sp>
      <p:sp>
        <p:nvSpPr>
          <p:cNvPr id="975" name="" descr="{&quot;isTemplate&quot;:true,&quot;type&quot;:&quot;text&quot;}"/>
          <p:cNvSpPr txBox="1"/>
          <p:nvPr/>
        </p:nvSpPr>
        <p:spPr>
          <a:xfrm rot="0" flipH="0" flipV="0">
            <a:off x="7877175" y="14001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/>
                </a:solidFill>
                <a:latin typeface="Microsoft YaHei"/>
                <a:ea typeface="Microsoft YaHei"/>
              </a:rPr>
              <a:t>应用架构</a:t>
            </a:r>
            <a:endParaRPr/>
          </a:p>
        </p:txBody>
      </p:sp>
      <p:sp>
        <p:nvSpPr>
          <p:cNvPr id="976" name=""/>
          <p:cNvSpPr/>
          <p:nvPr/>
        </p:nvSpPr>
        <p:spPr>
          <a:xfrm rot="0" flipH="0" flipV="0">
            <a:off x="9210675" y="1304925"/>
            <a:ext cx="2371725" cy="323850"/>
          </a:xfrm>
          <a:prstGeom prst="roundRect">
            <a:avLst>
              <a:gd name="adj" fmla="val 8824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77" name="" descr="{&quot;isTemplate&quot;:true,&quot;type&quot;:&quot;text&quot;}"/>
          <p:cNvSpPr txBox="1"/>
          <p:nvPr/>
        </p:nvSpPr>
        <p:spPr>
          <a:xfrm rot="0" flipH="0" flipV="0">
            <a:off x="10067925" y="1390650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BA15C"/>
                </a:solidFill>
                <a:latin typeface="Microsoft YaHei"/>
                <a:ea typeface="Microsoft YaHei"/>
              </a:rPr>
              <a:t>TA</a:t>
            </a:r>
            <a:endParaRPr/>
          </a:p>
        </p:txBody>
      </p:sp>
      <p:sp>
        <p:nvSpPr>
          <p:cNvPr id="978" name="" descr="{&quot;isTemplate&quot;:true,&quot;type&quot;:&quot;text&quot;}"/>
          <p:cNvSpPr txBox="1"/>
          <p:nvPr/>
        </p:nvSpPr>
        <p:spPr>
          <a:xfrm rot="0" flipH="0" flipV="0">
            <a:off x="10296525" y="14001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/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979" name=""/>
          <p:cNvSpPr/>
          <p:nvPr/>
        </p:nvSpPr>
        <p:spPr>
          <a:xfrm rot="0" flipH="0" flipV="0">
            <a:off x="1933575" y="1685925"/>
            <a:ext cx="2381250" cy="752475"/>
          </a:xfrm>
          <a:prstGeom prst="roundRect">
            <a:avLst>
              <a:gd name="adj" fmla="val 37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80" name=""/>
          <p:cNvSpPr/>
          <p:nvPr/>
        </p:nvSpPr>
        <p:spPr>
          <a:xfrm rot="0" flipH="0" flipV="0">
            <a:off x="1933575" y="1685925"/>
            <a:ext cx="2381250" cy="752475"/>
          </a:xfrm>
          <a:custGeom>
            <a:pathLst>
              <a:path w="250" h="79">
                <a:moveTo>
                  <a:pt x="3" y="79"/>
                </a:moveTo>
                <a:cubicBezTo>
                  <a:pt x="1" y="79"/>
                  <a:pt x="0" y="78"/>
                  <a:pt x="0" y="7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81" name="" descr="{&quot;isTemplate&quot;:true,&quot;type&quot;:&quot;text&quot;}"/>
          <p:cNvSpPr txBox="1"/>
          <p:nvPr/>
        </p:nvSpPr>
        <p:spPr>
          <a:xfrm rot="0" flipH="0" flipV="0">
            <a:off x="2038350" y="1876425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愿景要对准业务战略</a:t>
            </a:r>
            <a:endParaRPr/>
          </a:p>
        </p:txBody>
      </p:sp>
      <p:sp>
        <p:nvSpPr>
          <p:cNvPr id="982" name="" descr="{&quot;isTemplate&quot;:true,&quot;type&quot;:&quot;text&quot;}"/>
          <p:cNvSpPr txBox="1"/>
          <p:nvPr/>
        </p:nvSpPr>
        <p:spPr>
          <a:xfrm rot="0" flipH="0" flipV="0">
            <a:off x="2038350" y="2085975"/>
            <a:ext cx="2143125" cy="161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能力与体验目标写进愿景</a:t>
            </a:r>
            <a:endParaRPr/>
          </a:p>
        </p:txBody>
      </p:sp>
      <p:sp>
        <p:nvSpPr>
          <p:cNvPr id="983" name=""/>
          <p:cNvSpPr/>
          <p:nvPr/>
        </p:nvSpPr>
        <p:spPr>
          <a:xfrm rot="0" flipH="0" flipV="0">
            <a:off x="4371975" y="1685925"/>
            <a:ext cx="2371725" cy="752475"/>
          </a:xfrm>
          <a:prstGeom prst="roundRect">
            <a:avLst>
              <a:gd name="adj" fmla="val 37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84" name=""/>
          <p:cNvSpPr/>
          <p:nvPr/>
        </p:nvSpPr>
        <p:spPr>
          <a:xfrm rot="0" flipH="0" flipV="0">
            <a:off x="4371975" y="1685925"/>
            <a:ext cx="2371725" cy="752475"/>
          </a:xfrm>
          <a:custGeom>
            <a:pathLst>
              <a:path w="249" h="79">
                <a:moveTo>
                  <a:pt x="3" y="79"/>
                </a:moveTo>
                <a:cubicBezTo>
                  <a:pt x="1" y="79"/>
                  <a:pt x="0" y="78"/>
                  <a:pt x="0" y="7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9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985" name="" descr="{&quot;isTemplate&quot;:true,&quot;type&quot;:&quot;text&quot;}"/>
          <p:cNvSpPr txBox="1"/>
          <p:nvPr/>
        </p:nvSpPr>
        <p:spPr>
          <a:xfrm rot="0" flipH="0" flipV="0">
            <a:off x="4476750" y="1876425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数据差距进愿景</a:t>
            </a:r>
            <a:endParaRPr/>
          </a:p>
        </p:txBody>
      </p:sp>
      <p:sp>
        <p:nvSpPr>
          <p:cNvPr id="986" name="" descr="{&quot;isTemplate&quot;:true,&quot;type&quot;:&quot;text&quot;}"/>
          <p:cNvSpPr txBox="1"/>
          <p:nvPr/>
        </p:nvSpPr>
        <p:spPr>
          <a:xfrm rot="0" flipH="0" flipV="0">
            <a:off x="4476750" y="2085975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数据乱象写进愿景</a:t>
            </a:r>
            <a:endParaRPr/>
          </a:p>
        </p:txBody>
      </p:sp>
      <p:sp>
        <p:nvSpPr>
          <p:cNvPr id="987" name=""/>
          <p:cNvSpPr/>
          <p:nvPr/>
        </p:nvSpPr>
        <p:spPr>
          <a:xfrm rot="0" flipH="0" flipV="0">
            <a:off x="6800850" y="1685925"/>
            <a:ext cx="2381250" cy="752475"/>
          </a:xfrm>
          <a:prstGeom prst="roundRect">
            <a:avLst>
              <a:gd name="adj" fmla="val 37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88" name=""/>
          <p:cNvSpPr/>
          <p:nvPr/>
        </p:nvSpPr>
        <p:spPr>
          <a:xfrm rot="0" flipH="0" flipV="0">
            <a:off x="6800850" y="1685925"/>
            <a:ext cx="2381250" cy="752475"/>
          </a:xfrm>
          <a:custGeom>
            <a:pathLst>
              <a:path w="250" h="79">
                <a:moveTo>
                  <a:pt x="3" y="79"/>
                </a:moveTo>
                <a:cubicBezTo>
                  <a:pt x="1" y="79"/>
                  <a:pt x="0" y="78"/>
                  <a:pt x="0" y="7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9"/>
                </a:lnTo>
                <a:close/>
              </a:path>
            </a:pathLst>
          </a:custGeom>
          <a:solidFill>
            <a:srgbClr val="D2531A"/>
          </a:solidFill>
          <a:ln/>
        </p:spPr>
        <p:txBody>
          <a:bodyPr/>
          <a:p/>
        </p:txBody>
      </p:sp>
      <p:sp>
        <p:nvSpPr>
          <p:cNvPr id="989" name="" descr="{&quot;isTemplate&quot;:true,&quot;type&quot;:&quot;text&quot;}"/>
          <p:cNvSpPr txBox="1"/>
          <p:nvPr/>
        </p:nvSpPr>
        <p:spPr>
          <a:xfrm rot="0" flipH="0" flipV="0">
            <a:off x="6905625" y="1876425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系统现状进愿景</a:t>
            </a:r>
            <a:endParaRPr/>
          </a:p>
        </p:txBody>
      </p:sp>
      <p:sp>
        <p:nvSpPr>
          <p:cNvPr id="990" name="" descr="{&quot;isTemplate&quot;:true,&quot;type&quot;:&quot;text&quot;}"/>
          <p:cNvSpPr txBox="1"/>
          <p:nvPr/>
        </p:nvSpPr>
        <p:spPr>
          <a:xfrm rot="0" flipH="0" flipV="0">
            <a:off x="6905625" y="2085975"/>
            <a:ext cx="2143125" cy="161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烟囱现状写进愿景</a:t>
            </a:r>
            <a:endParaRPr/>
          </a:p>
        </p:txBody>
      </p:sp>
      <p:sp>
        <p:nvSpPr>
          <p:cNvPr id="991" name=""/>
          <p:cNvSpPr/>
          <p:nvPr/>
        </p:nvSpPr>
        <p:spPr>
          <a:xfrm rot="0" flipH="0" flipV="0">
            <a:off x="9239250" y="1685925"/>
            <a:ext cx="2371725" cy="752475"/>
          </a:xfrm>
          <a:prstGeom prst="roundRect">
            <a:avLst>
              <a:gd name="adj" fmla="val 37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92" name=""/>
          <p:cNvSpPr/>
          <p:nvPr/>
        </p:nvSpPr>
        <p:spPr>
          <a:xfrm rot="0" flipH="0" flipV="0">
            <a:off x="9239250" y="1685925"/>
            <a:ext cx="2371725" cy="752475"/>
          </a:xfrm>
          <a:custGeom>
            <a:pathLst>
              <a:path w="249" h="79">
                <a:moveTo>
                  <a:pt x="3" y="79"/>
                </a:moveTo>
                <a:cubicBezTo>
                  <a:pt x="1" y="79"/>
                  <a:pt x="0" y="78"/>
                  <a:pt x="0" y="7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9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993" name="" descr="{&quot;isTemplate&quot;:true,&quot;type&quot;:&quot;text&quot;}"/>
          <p:cNvSpPr txBox="1"/>
          <p:nvPr/>
        </p:nvSpPr>
        <p:spPr>
          <a:xfrm rot="0" flipH="0" flipV="0">
            <a:off x="9344025" y="1876425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技术欠账进愿景</a:t>
            </a:r>
            <a:endParaRPr/>
          </a:p>
        </p:txBody>
      </p:sp>
      <p:sp>
        <p:nvSpPr>
          <p:cNvPr id="994" name="" descr="{&quot;isTemplate&quot;:true,&quot;type&quot;:&quot;text&quot;}"/>
          <p:cNvSpPr txBox="1"/>
          <p:nvPr/>
        </p:nvSpPr>
        <p:spPr>
          <a:xfrm rot="0" flipH="0" flipV="0">
            <a:off x="9344025" y="2085975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底座约束写进愿景</a:t>
            </a:r>
            <a:endParaRPr/>
          </a:p>
        </p:txBody>
      </p:sp>
      <p:sp>
        <p:nvSpPr>
          <p:cNvPr id="995" name=""/>
          <p:cNvSpPr/>
          <p:nvPr/>
        </p:nvSpPr>
        <p:spPr>
          <a:xfrm rot="0" flipH="0" flipV="0">
            <a:off x="1933575" y="2495550"/>
            <a:ext cx="2381250" cy="742950"/>
          </a:xfrm>
          <a:prstGeom prst="roundRect">
            <a:avLst>
              <a:gd name="adj" fmla="val 3846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96" name=""/>
          <p:cNvSpPr/>
          <p:nvPr/>
        </p:nvSpPr>
        <p:spPr>
          <a:xfrm rot="0" flipH="0" flipV="0">
            <a:off x="1933575" y="2495550"/>
            <a:ext cx="2381250" cy="742950"/>
          </a:xfrm>
          <a:custGeom>
            <a:pathLst>
              <a:path w="250" h="78">
                <a:moveTo>
                  <a:pt x="3" y="78"/>
                </a:moveTo>
                <a:cubicBezTo>
                  <a:pt x="1" y="78"/>
                  <a:pt x="0" y="77"/>
                  <a:pt x="0" y="7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97" name="" descr="{&quot;isTemplate&quot;:true,&quot;type&quot;:&quot;text&quot;}"/>
          <p:cNvSpPr txBox="1"/>
          <p:nvPr/>
        </p:nvSpPr>
        <p:spPr>
          <a:xfrm rot="0" flipH="0" flipV="0">
            <a:off x="2038350" y="2686050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价值流与业务能力</a:t>
            </a:r>
            <a:endParaRPr/>
          </a:p>
        </p:txBody>
      </p:sp>
      <p:sp>
        <p:nvSpPr>
          <p:cNvPr id="998" name="" descr="{&quot;isTemplate&quot;:true,&quot;type&quot;:&quot;text&quot;}"/>
          <p:cNvSpPr txBox="1"/>
          <p:nvPr/>
        </p:nvSpPr>
        <p:spPr>
          <a:xfrm rot="0" flipH="0" flipV="0">
            <a:off x="2038350" y="2895600"/>
            <a:ext cx="2143125" cy="161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核心产出：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999" name=""/>
          <p:cNvSpPr/>
          <p:nvPr/>
        </p:nvSpPr>
        <p:spPr>
          <a:xfrm rot="0" flipH="0" flipV="0">
            <a:off x="4371975" y="2495550"/>
            <a:ext cx="2371725" cy="742950"/>
          </a:xfrm>
          <a:prstGeom prst="roundRect">
            <a:avLst>
              <a:gd name="adj" fmla="val 3846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000" name=""/>
          <p:cNvSpPr/>
          <p:nvPr/>
        </p:nvSpPr>
        <p:spPr>
          <a:xfrm rot="0" flipH="0" flipV="0">
            <a:off x="4371975" y="2495550"/>
            <a:ext cx="2371725" cy="742950"/>
          </a:xfrm>
          <a:custGeom>
            <a:pathLst>
              <a:path w="249" h="78">
                <a:moveTo>
                  <a:pt x="3" y="78"/>
                </a:moveTo>
                <a:cubicBezTo>
                  <a:pt x="1" y="78"/>
                  <a:pt x="0" y="77"/>
                  <a:pt x="0" y="7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8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1001" name="" descr="{&quot;isTemplate&quot;:true,&quot;type&quot;:&quot;text&quot;}"/>
          <p:cNvSpPr txBox="1"/>
          <p:nvPr/>
        </p:nvSpPr>
        <p:spPr>
          <a:xfrm rot="0" flipH="0" flipV="0">
            <a:off x="4476750" y="2686050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概念</a:t>
            </a:r>
            <a:r>
              <a:rPr lang="en-US" sz="863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逻辑</a:t>
            </a:r>
            <a:r>
              <a:rPr lang="en-US" sz="863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物理模型</a:t>
            </a:r>
            <a:endParaRPr/>
          </a:p>
        </p:txBody>
      </p:sp>
      <p:sp>
        <p:nvSpPr>
          <p:cNvPr id="1002" name="" descr="{&quot;isTemplate&quot;:true,&quot;type&quot;:&quot;text&quot;}"/>
          <p:cNvSpPr txBox="1"/>
          <p:nvPr/>
        </p:nvSpPr>
        <p:spPr>
          <a:xfrm rot="0" flipH="0" flipV="0">
            <a:off x="4476750" y="289560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核心产出：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>IA/DA</a:t>
            </a:r>
            <a:endParaRPr/>
          </a:p>
        </p:txBody>
      </p:sp>
      <p:sp>
        <p:nvSpPr>
          <p:cNvPr id="1003" name=""/>
          <p:cNvSpPr/>
          <p:nvPr/>
        </p:nvSpPr>
        <p:spPr>
          <a:xfrm rot="0" flipH="0" flipV="0">
            <a:off x="6800850" y="2495550"/>
            <a:ext cx="2381250" cy="742950"/>
          </a:xfrm>
          <a:prstGeom prst="roundRect">
            <a:avLst>
              <a:gd name="adj" fmla="val 3846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004" name=""/>
          <p:cNvSpPr/>
          <p:nvPr/>
        </p:nvSpPr>
        <p:spPr>
          <a:xfrm rot="0" flipH="0" flipV="0">
            <a:off x="6800850" y="2495550"/>
            <a:ext cx="2381250" cy="742950"/>
          </a:xfrm>
          <a:custGeom>
            <a:pathLst>
              <a:path w="250" h="78">
                <a:moveTo>
                  <a:pt x="3" y="78"/>
                </a:moveTo>
                <a:cubicBezTo>
                  <a:pt x="1" y="78"/>
                  <a:pt x="0" y="77"/>
                  <a:pt x="0" y="7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8"/>
                </a:lnTo>
                <a:close/>
              </a:path>
            </a:pathLst>
          </a:custGeom>
          <a:solidFill>
            <a:srgbClr val="D2531A"/>
          </a:solidFill>
          <a:ln/>
        </p:spPr>
        <p:txBody>
          <a:bodyPr/>
          <a:p/>
        </p:txBody>
      </p:sp>
      <p:sp>
        <p:nvSpPr>
          <p:cNvPr id="1005" name="" descr="{&quot;isTemplate&quot;:true,&quot;type&quot;:&quot;text&quot;}"/>
          <p:cNvSpPr txBox="1"/>
          <p:nvPr/>
        </p:nvSpPr>
        <p:spPr>
          <a:xfrm rot="0" flipH="0" flipV="0">
            <a:off x="6905625" y="2686050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系统边界与集成关系</a:t>
            </a:r>
            <a:endParaRPr/>
          </a:p>
        </p:txBody>
      </p:sp>
      <p:sp>
        <p:nvSpPr>
          <p:cNvPr id="1006" name="" descr="{&quot;isTemplate&quot;:true,&quot;type&quot;:&quot;text&quot;}"/>
          <p:cNvSpPr txBox="1"/>
          <p:nvPr/>
        </p:nvSpPr>
        <p:spPr>
          <a:xfrm rot="0" flipH="0" flipV="0">
            <a:off x="6905625" y="2895600"/>
            <a:ext cx="2143125" cy="161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核心产出：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>AA</a:t>
            </a:r>
            <a:endParaRPr/>
          </a:p>
        </p:txBody>
      </p:sp>
      <p:sp>
        <p:nvSpPr>
          <p:cNvPr id="1007" name=""/>
          <p:cNvSpPr/>
          <p:nvPr/>
        </p:nvSpPr>
        <p:spPr>
          <a:xfrm rot="0" flipH="0" flipV="0">
            <a:off x="9239250" y="2495550"/>
            <a:ext cx="2371725" cy="742950"/>
          </a:xfrm>
          <a:prstGeom prst="roundRect">
            <a:avLst>
              <a:gd name="adj" fmla="val 3846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008" name=""/>
          <p:cNvSpPr/>
          <p:nvPr/>
        </p:nvSpPr>
        <p:spPr>
          <a:xfrm rot="0" flipH="0" flipV="0">
            <a:off x="9239250" y="2495550"/>
            <a:ext cx="2371725" cy="742950"/>
          </a:xfrm>
          <a:custGeom>
            <a:pathLst>
              <a:path w="249" h="78">
                <a:moveTo>
                  <a:pt x="3" y="78"/>
                </a:moveTo>
                <a:cubicBezTo>
                  <a:pt x="1" y="78"/>
                  <a:pt x="0" y="77"/>
                  <a:pt x="0" y="7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8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009" name="" descr="{&quot;isTemplate&quot;:true,&quot;type&quot;:&quot;text&quot;}"/>
          <p:cNvSpPr txBox="1"/>
          <p:nvPr/>
        </p:nvSpPr>
        <p:spPr>
          <a:xfrm rot="0" flipH="0" flipV="0">
            <a:off x="9344025" y="2686050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底座与技术标准</a:t>
            </a:r>
            <a:endParaRPr/>
          </a:p>
        </p:txBody>
      </p:sp>
      <p:sp>
        <p:nvSpPr>
          <p:cNvPr id="1010" name="" descr="{&quot;isTemplate&quot;:true,&quot;type&quot;:&quot;text&quot;}"/>
          <p:cNvSpPr txBox="1"/>
          <p:nvPr/>
        </p:nvSpPr>
        <p:spPr>
          <a:xfrm rot="0" flipH="0" flipV="0">
            <a:off x="9344025" y="289560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核心产出：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>TA</a:t>
            </a:r>
            <a:endParaRPr/>
          </a:p>
        </p:txBody>
      </p:sp>
      <p:sp>
        <p:nvSpPr>
          <p:cNvPr id="1011" name=""/>
          <p:cNvSpPr/>
          <p:nvPr/>
        </p:nvSpPr>
        <p:spPr>
          <a:xfrm rot="0" flipH="0" flipV="0">
            <a:off x="1933575" y="3295650"/>
            <a:ext cx="2381250" cy="752475"/>
          </a:xfrm>
          <a:prstGeom prst="roundRect">
            <a:avLst>
              <a:gd name="adj" fmla="val 37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12" name=""/>
          <p:cNvSpPr/>
          <p:nvPr/>
        </p:nvSpPr>
        <p:spPr>
          <a:xfrm rot="0" flipH="0" flipV="0">
            <a:off x="1933575" y="3295650"/>
            <a:ext cx="2381250" cy="752475"/>
          </a:xfrm>
          <a:custGeom>
            <a:pathLst>
              <a:path w="250" h="79">
                <a:moveTo>
                  <a:pt x="3" y="79"/>
                </a:moveTo>
                <a:cubicBezTo>
                  <a:pt x="1" y="79"/>
                  <a:pt x="0" y="78"/>
                  <a:pt x="0" y="7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13" name="" descr="{&quot;isTemplate&quot;:true,&quot;type&quot;:&quot;text&quot;}"/>
          <p:cNvSpPr txBox="1"/>
          <p:nvPr/>
        </p:nvSpPr>
        <p:spPr>
          <a:xfrm rot="0" flipH="0" flipV="0">
            <a:off x="2038350" y="3486150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流程重构类举措</a:t>
            </a:r>
            <a:endParaRPr/>
          </a:p>
        </p:txBody>
      </p:sp>
      <p:sp>
        <p:nvSpPr>
          <p:cNvPr id="1014" name="" descr="{&quot;isTemplate&quot;:true,&quot;type&quot;:&quot;text&quot;}"/>
          <p:cNvSpPr txBox="1"/>
          <p:nvPr/>
        </p:nvSpPr>
        <p:spPr>
          <a:xfrm rot="0" flipH="0" flipV="0">
            <a:off x="2038350" y="3695700"/>
            <a:ext cx="2143125" cy="161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改的是流程和权责</a:t>
            </a:r>
            <a:endParaRPr/>
          </a:p>
        </p:txBody>
      </p:sp>
      <p:sp>
        <p:nvSpPr>
          <p:cNvPr id="1015" name=""/>
          <p:cNvSpPr/>
          <p:nvPr/>
        </p:nvSpPr>
        <p:spPr>
          <a:xfrm rot="0" flipH="0" flipV="0">
            <a:off x="4371975" y="3295650"/>
            <a:ext cx="2371725" cy="752475"/>
          </a:xfrm>
          <a:prstGeom prst="roundRect">
            <a:avLst>
              <a:gd name="adj" fmla="val 37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16" name=""/>
          <p:cNvSpPr/>
          <p:nvPr/>
        </p:nvSpPr>
        <p:spPr>
          <a:xfrm rot="0" flipH="0" flipV="0">
            <a:off x="4371975" y="3295650"/>
            <a:ext cx="2371725" cy="752475"/>
          </a:xfrm>
          <a:custGeom>
            <a:pathLst>
              <a:path w="249" h="79">
                <a:moveTo>
                  <a:pt x="3" y="79"/>
                </a:moveTo>
                <a:cubicBezTo>
                  <a:pt x="1" y="79"/>
                  <a:pt x="0" y="78"/>
                  <a:pt x="0" y="7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9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1017" name="" descr="{&quot;isTemplate&quot;:true,&quot;type&quot;:&quot;text&quot;}"/>
          <p:cNvSpPr txBox="1"/>
          <p:nvPr/>
        </p:nvSpPr>
        <p:spPr>
          <a:xfrm rot="0" flipH="0" flipV="0">
            <a:off x="4476750" y="3486150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治理与口径类举措</a:t>
            </a:r>
            <a:endParaRPr/>
          </a:p>
        </p:txBody>
      </p:sp>
      <p:sp>
        <p:nvSpPr>
          <p:cNvPr id="1018" name="" descr="{&quot;isTemplate&quot;:true,&quot;type&quot;:&quot;text&quot;}"/>
          <p:cNvSpPr txBox="1"/>
          <p:nvPr/>
        </p:nvSpPr>
        <p:spPr>
          <a:xfrm rot="0" flipH="0" flipV="0">
            <a:off x="4476750" y="369570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改的是标准与定义</a:t>
            </a:r>
            <a:endParaRPr/>
          </a:p>
        </p:txBody>
      </p:sp>
      <p:sp>
        <p:nvSpPr>
          <p:cNvPr id="1019" name=""/>
          <p:cNvSpPr/>
          <p:nvPr/>
        </p:nvSpPr>
        <p:spPr>
          <a:xfrm rot="0" flipH="0" flipV="0">
            <a:off x="6800850" y="3295650"/>
            <a:ext cx="2381250" cy="752475"/>
          </a:xfrm>
          <a:prstGeom prst="roundRect">
            <a:avLst>
              <a:gd name="adj" fmla="val 37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20" name=""/>
          <p:cNvSpPr/>
          <p:nvPr/>
        </p:nvSpPr>
        <p:spPr>
          <a:xfrm rot="0" flipH="0" flipV="0">
            <a:off x="6800850" y="3295650"/>
            <a:ext cx="2381250" cy="752475"/>
          </a:xfrm>
          <a:custGeom>
            <a:pathLst>
              <a:path w="250" h="79">
                <a:moveTo>
                  <a:pt x="3" y="79"/>
                </a:moveTo>
                <a:cubicBezTo>
                  <a:pt x="1" y="79"/>
                  <a:pt x="0" y="78"/>
                  <a:pt x="0" y="7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9"/>
                </a:lnTo>
                <a:close/>
              </a:path>
            </a:pathLst>
          </a:custGeom>
          <a:solidFill>
            <a:srgbClr val="D2531A"/>
          </a:solidFill>
          <a:ln/>
        </p:spPr>
        <p:txBody>
          <a:bodyPr/>
          <a:p/>
        </p:txBody>
      </p:sp>
      <p:sp>
        <p:nvSpPr>
          <p:cNvPr id="1021" name="" descr="{&quot;isTemplate&quot;:true,&quot;type&quot;:&quot;text&quot;}"/>
          <p:cNvSpPr txBox="1"/>
          <p:nvPr/>
        </p:nvSpPr>
        <p:spPr>
          <a:xfrm rot="0" flipH="0" flipV="0">
            <a:off x="6905625" y="3486150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集成与服务化举措</a:t>
            </a:r>
            <a:endParaRPr/>
          </a:p>
        </p:txBody>
      </p:sp>
      <p:sp>
        <p:nvSpPr>
          <p:cNvPr id="1022" name="" descr="{&quot;isTemplate&quot;:true,&quot;type&quot;:&quot;text&quot;}"/>
          <p:cNvSpPr txBox="1"/>
          <p:nvPr/>
        </p:nvSpPr>
        <p:spPr>
          <a:xfrm rot="0" flipH="0" flipV="0">
            <a:off x="6905625" y="3695700"/>
            <a:ext cx="2143125" cy="161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改的是系统关系</a:t>
            </a:r>
            <a:endParaRPr/>
          </a:p>
        </p:txBody>
      </p:sp>
      <p:sp>
        <p:nvSpPr>
          <p:cNvPr id="1023" name=""/>
          <p:cNvSpPr/>
          <p:nvPr/>
        </p:nvSpPr>
        <p:spPr>
          <a:xfrm rot="0" flipH="0" flipV="0">
            <a:off x="9239250" y="3295650"/>
            <a:ext cx="2371725" cy="752475"/>
          </a:xfrm>
          <a:prstGeom prst="roundRect">
            <a:avLst>
              <a:gd name="adj" fmla="val 37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24" name=""/>
          <p:cNvSpPr/>
          <p:nvPr/>
        </p:nvSpPr>
        <p:spPr>
          <a:xfrm rot="0" flipH="0" flipV="0">
            <a:off x="9239250" y="3295650"/>
            <a:ext cx="2371725" cy="752475"/>
          </a:xfrm>
          <a:custGeom>
            <a:pathLst>
              <a:path w="249" h="79">
                <a:moveTo>
                  <a:pt x="3" y="79"/>
                </a:moveTo>
                <a:cubicBezTo>
                  <a:pt x="1" y="79"/>
                  <a:pt x="0" y="78"/>
                  <a:pt x="0" y="7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9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025" name="" descr="{&quot;isTemplate&quot;:true,&quot;type&quot;:&quot;text&quot;}"/>
          <p:cNvSpPr txBox="1"/>
          <p:nvPr/>
        </p:nvSpPr>
        <p:spPr>
          <a:xfrm rot="0" flipH="0" flipV="0">
            <a:off x="9344025" y="3486150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底座与技术举措</a:t>
            </a:r>
            <a:endParaRPr/>
          </a:p>
        </p:txBody>
      </p:sp>
      <p:sp>
        <p:nvSpPr>
          <p:cNvPr id="1026" name="" descr="{&quot;isTemplate&quot;:true,&quot;type&quot;:&quot;text&quot;}"/>
          <p:cNvSpPr txBox="1"/>
          <p:nvPr/>
        </p:nvSpPr>
        <p:spPr>
          <a:xfrm rot="0" flipH="0" flipV="0">
            <a:off x="9344025" y="369570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改的是基础设施</a:t>
            </a:r>
            <a:endParaRPr/>
          </a:p>
        </p:txBody>
      </p:sp>
      <p:sp>
        <p:nvSpPr>
          <p:cNvPr id="1027" name=""/>
          <p:cNvSpPr/>
          <p:nvPr/>
        </p:nvSpPr>
        <p:spPr>
          <a:xfrm rot="0" flipH="0" flipV="0">
            <a:off x="609600" y="4143375"/>
            <a:ext cx="5448300" cy="1457325"/>
          </a:xfrm>
          <a:prstGeom prst="roundRect">
            <a:avLst>
              <a:gd name="adj" fmla="val 196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28" name="" descr="{&quot;isTemplate&quot;:true,&quot;type&quot;:&quot;text&quot;}"/>
          <p:cNvSpPr txBox="1"/>
          <p:nvPr/>
        </p:nvSpPr>
        <p:spPr>
          <a:xfrm rot="0" flipH="0" flipV="0">
            <a:off x="800100" y="4543425"/>
            <a:ext cx="506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交叉矩阵读出来的第一件事</a:t>
            </a:r>
            <a:endParaRPr/>
          </a:p>
        </p:txBody>
      </p:sp>
      <p:sp>
        <p:nvSpPr>
          <p:cNvPr id="1029" name="" descr="{&quot;isTemplate&quot;:true,&quot;type&quot;:&quot;text&quot;}"/>
          <p:cNvSpPr txBox="1"/>
          <p:nvPr/>
        </p:nvSpPr>
        <p:spPr>
          <a:xfrm rot="0" flipH="0" flipV="0">
            <a:off x="800100" y="4772025"/>
            <a:ext cx="50673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第一阶四个架构域都碰，但碰的是</a:t>
            </a:r>
            <a:r>
              <a:rPr lang="zh-CN" sz="975">
                <a:solidFill>
                  <a:srgbClr val="FA4F24"/>
                </a:solidFill>
                <a:latin typeface="Microsoft YaHei"/>
                <a:ea typeface="Microsoft YaHei"/>
              </a:rPr>
              <a:t>现状与差距</a:t>
            </a:r>
            <a:r>
              <a:rPr lang="zh-CN" sz="975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；第二阶才产出正式设计成果——两个阶段性质完全不同</a:t>
            </a:r>
            <a:endParaRPr/>
          </a:p>
        </p:txBody>
      </p:sp>
      <p:sp>
        <p:nvSpPr>
          <p:cNvPr id="1030" name=""/>
          <p:cNvSpPr/>
          <p:nvPr/>
        </p:nvSpPr>
        <p:spPr>
          <a:xfrm rot="0" flipH="0" flipV="0">
            <a:off x="6181725" y="4143375"/>
            <a:ext cx="5438775" cy="1457325"/>
          </a:xfrm>
          <a:prstGeom prst="roundRect">
            <a:avLst>
              <a:gd name="adj" fmla="val 196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031" name=""/>
          <p:cNvSpPr/>
          <p:nvPr/>
        </p:nvSpPr>
        <p:spPr>
          <a:xfrm rot="0" flipH="0" flipV="0">
            <a:off x="6181725" y="4143375"/>
            <a:ext cx="5438775" cy="1457325"/>
          </a:xfrm>
          <a:custGeom>
            <a:pathLst>
              <a:path w="571" h="153">
                <a:moveTo>
                  <a:pt x="4" y="153"/>
                </a:moveTo>
                <a:cubicBezTo>
                  <a:pt x="3" y="153"/>
                  <a:pt x="2" y="153"/>
                  <a:pt x="1" y="152"/>
                </a:cubicBezTo>
                <a:cubicBezTo>
                  <a:pt x="0" y="151"/>
                  <a:pt x="0" y="151"/>
                  <a:pt x="0" y="150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32" name="" descr="{&quot;isTemplate&quot;:true,&quot;type&quot;:&quot;text&quot;}"/>
          <p:cNvSpPr txBox="1"/>
          <p:nvPr/>
        </p:nvSpPr>
        <p:spPr>
          <a:xfrm rot="0" flipH="0" flipV="0">
            <a:off x="6372225" y="4648200"/>
            <a:ext cx="5019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C43A17"/>
                </a:solidFill>
                <a:latin typeface="Microsoft YaHei"/>
                <a:ea typeface="Microsoft YaHei"/>
              </a:rPr>
              <a:t>交叉矩阵读出来的第二件事</a:t>
            </a:r>
            <a:endParaRPr/>
          </a:p>
        </p:txBody>
      </p:sp>
      <p:sp>
        <p:nvSpPr>
          <p:cNvPr id="1033" name="" descr="{&quot;isTemplate&quot;:true,&quot;type&quot;:&quot;text&quot;}"/>
          <p:cNvSpPr txBox="1"/>
          <p:nvPr/>
        </p:nvSpPr>
        <p:spPr>
          <a:xfrm rot="0" flipH="0" flipV="0">
            <a:off x="6372225" y="4876800"/>
            <a:ext cx="501967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第三阶每一列的举措性质不同——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数据举措不能由业务部门牵头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，分工不清就会卡住</a:t>
            </a:r>
            <a:endParaRPr/>
          </a:p>
        </p:txBody>
      </p:sp>
      <p:sp>
        <p:nvSpPr>
          <p:cNvPr id="1034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35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1036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26 / 35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037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十二步的&lt;span style={{ color: '#FA4F24' }}&gt;产出物清单&lt;/span&gt;&#10;        &lt;/Text&gt;&#10;        &lt;Text style={{ fontSize: 20, color: '#8A8F99', marginTop: 8 }}&gt;&#10;            这张表就是交付清单——每一步交不出来什么，是判断规划做没做扎实的唯一客观标准&#10;        &lt;/Text&gt;&#10;    &lt;/Box&gt;&#10;    &lt;Box style={{ height: 1, background: '#E8E8E8' }} /&gt;&#10;&#10;    {/* B 区 */}&#10;    &lt;Box style={{ paddingTop: 14, paddingBottom: 12, height: 479, flexDirection: 'column', gap: 9 }}&gt;&#10;&#10;        {/* 清单表 */}&#10;        &lt;Box style={{ flex: 1, flexDirection: 'column', gap: 4 }}&gt;&#10;            &lt;Box style={{ height: 24, flexDirection: 'row', gap: 4 }}&gt;&#10;                &lt;Text style={{ fontSize: 11.5, fontWeight: 'bold', color: '#8A8F99', width: 42 }}&gt;步骤&lt;/Text&gt;&#10;                &lt;Text style={{ fontSize: 11.5, fontWeight: 'bold', color: '#8A8F99', width: 218 }}&gt;做什么&lt;/Text&gt;&#10;                &lt;Text style={{ fontSize: 11.5, fontWeight: 'bold', color: '#8A8F99', flex: 1 }}&gt;必须交出来的产出物&lt;/Text&gt;&#10;                &lt;Text style={{ fontSize: 11.5, fontWeight: 'bold', color: '#8A8F99', width: 62 }}&gt;性质&lt;/Text&gt;&#10;            &lt;/Box&gt;&#10;            {[&#10;                { n: '01', d: '理解企业战略诉求', o: '高层访谈纪要 · 战略解码与关注要点', k: '主线', c: '#FA4F24' },&#10;                { n: '02', d: '5「看」', o: '五看扫描记录 · 数字化机会与价值清单', k: '主线', c: '#FA4F24' },&#10;                { n: '03', d: '成熟度评估', o: '关键用户访谈纪要 · 成熟度打分表', k: '主线', c: '#FA4F24' },&#10;                { n: '04', d: '现状和差距分析', o: '三层差距清单（能力 / 数据 / 技术）', k: '主线', c: '#FA4F24' },&#10;                { n: '05', d: '描绘数字化愿景', o: '愿景蓝图（三件事：什么样 / 体验 / 技术路径）', k: '主线', c: '#FA4F24' },&#10;                { n: '06', d: '设计顶层架构蓝图', o: '顶层架构蓝图（分层分级 · 六个设计原则过审）', k: '主线', c: '#E0641E' },&#10;                { n: '07', d: '一体四面细化', o: 'BA / IA/DA / AA / TA 分域成果 · 突破口结论', k: '主线', c: '#E0641E' },&#10;                { n: '08', d: '指标体系', o: '转型指标体系与预设值（结果 / 过程 / 体验）', k: '可选', c: '#C43A17', o2: true },&#10;                { n: '09', d: '识别转型举措', o: '举措清单与举措目标', k: '主线', c: '#C43A17' },&#10;                { n: '10', d: '举措设计', o: '举措架构方案 · 变革点细分', k: '可选', c: '#C43A17', o2: true },&#10;                { n: '11', d: '转型路标', o: '分期路标 · 每期重点与抓手', k: '可选', c: '#C43A17', o2: true },&#10;                { n: '12', d: '规划项目', o: '项目清单 · 公司级 / 领域级分工 · 排期', k: '主线', c: '#C43A17' },&#10;            ].map((x) =&gt; (&#10;                &lt;Box key={x.n} style={{ flex: 1, flexDirection: 'row', gap: 4, alignItems: 'stretch' }}&gt;&#10;                    &lt;Box style={{ width: 42, background: x.c, borderRadius: 2, alignItems: 'center', justifyContent: 'center' }}&gt;&#10;                        &lt;Text style={{ fontSize: 12, fontWeight: 'bold', color: '#FFFFFF' }}&gt;{x.n}&lt;/Text&gt;&#10;                    &lt;/Box&gt;&#10;                    &lt;Box style={{ width: 218, background: '#F7F7F8', borderRadius: 2, padding: '0 11px', flexDirection: 'row', alignItems: 'center' }}&gt;&#10;                        &lt;Text style={{ fontSize: 12, fontWeight: 'bold', color: '#0F1423' }}&gt;{x.d}&lt;/Text&gt;&#10;                    &lt;/Box&gt;&#10;                    &lt;Box style={{ flex: 1, background: x.o2 ? '#FFF3EE' : '#F7F7F8', borderRadius: 2, padding: '0 11px', flexDirection: 'row', alignItems: 'center' }}&gt;&#10;                        &lt;Text style={{ fontSize: 11.5, color: '#3A4050' }}&gt;{x.o}&lt;/Text&gt;&#10;                    &lt;/Box&gt;&#10;                    &lt;Box style={{ width: 62, borderRadius: 2, background: x.o2 ? '#FFFFFF' : '#0F1423', border: x.o2 ? '1px solid #E8E8E8' : 'none', flexDirection: 'row', alignItems: 'center', justifyContent: 'center' }}&gt;&#10;                        &lt;Text style={{ fontSize: 10.5, color: x.o2 ? '#8A8F99' : '#FBA15C', fontWeight: 'bold' }}&gt;{x.k}&lt;/Text&gt;&#10;                    &lt;/Box&gt;&#10;                &lt;/Box&gt;&#10;            ))}&#10;        &lt;/Box&gt;&#10;&#10;        {/* 底部三条 */}&#10;        &lt;Box style={{ height: 50, flexDirection: 'row', gap: 9 }}&gt;&#10;            {[&#10;                { k: '主线 9 项', v: '交不出来，说明这一阶没做完，后面全是推演' },&#10;                { k: '可选 3 项', v: '不交不会立刻崩，但年底一定无法验收' },&#10;                { k: '整张表的用法', v: '评审时逐行打勾，空行不超过两行算合格' },&#10;            ].map((x, i) =&gt; (&#10;                &lt;Box key={x.k} style={{ flex: 1, background: i === 0 ? '#0F1423' : '#F7F7F8', borderLeft: '4px solid #FA4F24', borderRadius: 3, padding: '0 14px', flexDirection: 'column', justifyContent: 'center' }}&gt;&#10;                    &lt;Text style={{ fontSize: 12.5, fontWeight: 'bold', color: i === 0 ? '#FBA15C' : '#0F1423' }}&gt;{x.k}&lt;/Text&gt;&#10;                    &lt;Text style={{ fontSize: 11.5, color: i === 0 ? 'rgba(255,255,255,0.82)' : '#5A6070', marginTop: 3 }}&gt;{x.v}&lt;/Text&gt;&#10;                &lt;/Box&gt;&#10;            ))}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华为数字化转型之道&lt;/Text&gt;&#10;        &lt;/Box&gt;&#10;        &lt;Text style={{ fontSize: 14, color: '#8A8F99' }}&gt;27 / 3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3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十二步的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产出物清单</a:t>
            </a:r>
            <a:endParaRPr/>
          </a:p>
        </p:txBody>
      </p:sp>
      <p:sp>
        <p:nvSpPr>
          <p:cNvPr id="104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这张表就是交付清单——每一步交不出来什么，是判断规划做没做扎实的唯一客观标准</a:t>
            </a:r>
            <a:endParaRPr/>
          </a:p>
        </p:txBody>
      </p:sp>
      <p:sp>
        <p:nvSpPr>
          <p:cNvPr id="104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42" name="" descr="{&quot;isTemplate&quot;:true,&quot;type&quot;:&quot;text&quot;}"/>
          <p:cNvSpPr txBox="1"/>
          <p:nvPr/>
        </p:nvSpPr>
        <p:spPr>
          <a:xfrm rot="0" flipH="0" flipV="0">
            <a:off x="609600" y="1285875"/>
            <a:ext cx="400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8A8F99"/>
                </a:solidFill>
                <a:latin typeface="Microsoft YaHei"/>
                <a:ea typeface="Microsoft YaHei"/>
              </a:rPr>
              <a:t>步骤</a:t>
            </a:r>
            <a:endParaRPr/>
          </a:p>
        </p:txBody>
      </p:sp>
      <p:sp>
        <p:nvSpPr>
          <p:cNvPr id="1043" name="" descr="{&quot;isTemplate&quot;:true,&quot;type&quot;:&quot;text&quot;}"/>
          <p:cNvSpPr txBox="1"/>
          <p:nvPr/>
        </p:nvSpPr>
        <p:spPr>
          <a:xfrm rot="0" flipH="0" flipV="0">
            <a:off x="1047750" y="1285875"/>
            <a:ext cx="2076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8A8F99"/>
                </a:solidFill>
                <a:latin typeface="Microsoft YaHei"/>
                <a:ea typeface="Microsoft YaHei"/>
              </a:rPr>
              <a:t>做什么</a:t>
            </a:r>
            <a:endParaRPr/>
          </a:p>
        </p:txBody>
      </p:sp>
      <p:sp>
        <p:nvSpPr>
          <p:cNvPr id="1044" name="" descr="{&quot;isTemplate&quot;:true,&quot;type&quot;:&quot;text&quot;}"/>
          <p:cNvSpPr txBox="1"/>
          <p:nvPr/>
        </p:nvSpPr>
        <p:spPr>
          <a:xfrm rot="0" flipH="0" flipV="0">
            <a:off x="3162300" y="1285875"/>
            <a:ext cx="7791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8A8F99"/>
                </a:solidFill>
                <a:latin typeface="Microsoft YaHei"/>
                <a:ea typeface="Microsoft YaHei"/>
              </a:rPr>
              <a:t>必须交出来的产出物</a:t>
            </a:r>
            <a:endParaRPr/>
          </a:p>
        </p:txBody>
      </p:sp>
      <p:sp>
        <p:nvSpPr>
          <p:cNvPr id="1045" name="" descr="{&quot;isTemplate&quot;:true,&quot;type&quot;:&quot;text&quot;}"/>
          <p:cNvSpPr txBox="1"/>
          <p:nvPr/>
        </p:nvSpPr>
        <p:spPr>
          <a:xfrm rot="0" flipH="0" flipV="0">
            <a:off x="10991850" y="1285875"/>
            <a:ext cx="590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8A8F99"/>
                </a:solidFill>
                <a:latin typeface="Microsoft YaHei"/>
                <a:ea typeface="Microsoft YaHei"/>
              </a:rPr>
              <a:t>性质</a:t>
            </a:r>
            <a:endParaRPr/>
          </a:p>
        </p:txBody>
      </p:sp>
      <p:sp>
        <p:nvSpPr>
          <p:cNvPr id="1046" name=""/>
          <p:cNvSpPr/>
          <p:nvPr/>
        </p:nvSpPr>
        <p:spPr>
          <a:xfrm rot="0" flipH="0" flipV="0">
            <a:off x="609600" y="1552575"/>
            <a:ext cx="400050" cy="257175"/>
          </a:xfrm>
          <a:prstGeom prst="roundRect">
            <a:avLst>
              <a:gd name="adj" fmla="val 7407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47" name="" descr="{&quot;isTemplate&quot;:true,&quot;type&quot;:&quot;text&quot;}"/>
          <p:cNvSpPr txBox="1"/>
          <p:nvPr/>
        </p:nvSpPr>
        <p:spPr>
          <a:xfrm rot="0" flipH="0" flipV="0">
            <a:off x="742950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048" name=""/>
          <p:cNvSpPr/>
          <p:nvPr/>
        </p:nvSpPr>
        <p:spPr>
          <a:xfrm rot="0" flipH="0" flipV="0">
            <a:off x="1047750" y="1552575"/>
            <a:ext cx="2076450" cy="257175"/>
          </a:xfrm>
          <a:prstGeom prst="roundRect">
            <a:avLst>
              <a:gd name="adj" fmla="val 740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49" name="" descr="{&quot;isTemplate&quot;:true,&quot;type&quot;:&quot;text&quot;}"/>
          <p:cNvSpPr txBox="1"/>
          <p:nvPr/>
        </p:nvSpPr>
        <p:spPr>
          <a:xfrm rot="0" flipH="0" flipV="0">
            <a:off x="1152525" y="1609725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理解企业战略诉求</a:t>
            </a:r>
            <a:endParaRPr/>
          </a:p>
        </p:txBody>
      </p:sp>
      <p:sp>
        <p:nvSpPr>
          <p:cNvPr id="1050" name=""/>
          <p:cNvSpPr/>
          <p:nvPr/>
        </p:nvSpPr>
        <p:spPr>
          <a:xfrm rot="0" flipH="0" flipV="0">
            <a:off x="3162300" y="1552575"/>
            <a:ext cx="7791450" cy="257175"/>
          </a:xfrm>
          <a:prstGeom prst="roundRect">
            <a:avLst>
              <a:gd name="adj" fmla="val 740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51" name="" descr="{&quot;isTemplate&quot;:true,&quot;type&quot;:&quot;text&quot;}"/>
          <p:cNvSpPr txBox="1"/>
          <p:nvPr/>
        </p:nvSpPr>
        <p:spPr>
          <a:xfrm rot="0" flipH="0" flipV="0">
            <a:off x="3267075" y="1619250"/>
            <a:ext cx="17430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高层访谈纪要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战略解码与关注要点</a:t>
            </a:r>
            <a:endParaRPr/>
          </a:p>
        </p:txBody>
      </p:sp>
      <p:sp>
        <p:nvSpPr>
          <p:cNvPr id="1052" name=""/>
          <p:cNvSpPr/>
          <p:nvPr/>
        </p:nvSpPr>
        <p:spPr>
          <a:xfrm rot="0" flipH="0" flipV="0">
            <a:off x="10991850" y="1552575"/>
            <a:ext cx="590550" cy="257175"/>
          </a:xfrm>
          <a:prstGeom prst="roundRect">
            <a:avLst>
              <a:gd name="adj" fmla="val 740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53" name="" descr="{&quot;isTemplate&quot;:true,&quot;type&quot;:&quot;text&quot;}"/>
          <p:cNvSpPr txBox="1"/>
          <p:nvPr/>
        </p:nvSpPr>
        <p:spPr>
          <a:xfrm rot="0" flipH="0" flipV="0">
            <a:off x="11191875" y="1619250"/>
            <a:ext cx="200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FBA15C"/>
                </a:solidFill>
                <a:latin typeface="Microsoft YaHei"/>
                <a:ea typeface="Microsoft YaHei"/>
              </a:rPr>
              <a:t>主线</a:t>
            </a:r>
            <a:endParaRPr/>
          </a:p>
        </p:txBody>
      </p:sp>
      <p:sp>
        <p:nvSpPr>
          <p:cNvPr id="1054" name=""/>
          <p:cNvSpPr/>
          <p:nvPr/>
        </p:nvSpPr>
        <p:spPr>
          <a:xfrm rot="0" flipH="0" flipV="0">
            <a:off x="609600" y="1847850"/>
            <a:ext cx="400050" cy="257175"/>
          </a:xfrm>
          <a:prstGeom prst="roundRect">
            <a:avLst>
              <a:gd name="adj" fmla="val 7407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55" name="" descr="{&quot;isTemplate&quot;:true,&quot;type&quot;:&quot;text&quot;}"/>
          <p:cNvSpPr txBox="1"/>
          <p:nvPr/>
        </p:nvSpPr>
        <p:spPr>
          <a:xfrm rot="0" flipH="0" flipV="0">
            <a:off x="742950" y="1905000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056" name=""/>
          <p:cNvSpPr/>
          <p:nvPr/>
        </p:nvSpPr>
        <p:spPr>
          <a:xfrm rot="0" flipH="0" flipV="0">
            <a:off x="1047750" y="1847850"/>
            <a:ext cx="2076450" cy="257175"/>
          </a:xfrm>
          <a:prstGeom prst="roundRect">
            <a:avLst>
              <a:gd name="adj" fmla="val 740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57" name="" descr="{&quot;isTemplate&quot;:true,&quot;type&quot;:&quot;text&quot;}"/>
          <p:cNvSpPr txBox="1"/>
          <p:nvPr/>
        </p:nvSpPr>
        <p:spPr>
          <a:xfrm rot="0" flipH="0" flipV="0">
            <a:off x="1152525" y="190500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>5</a:t>
            </a: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「看」</a:t>
            </a:r>
            <a:endParaRPr/>
          </a:p>
        </p:txBody>
      </p:sp>
      <p:sp>
        <p:nvSpPr>
          <p:cNvPr id="1058" name=""/>
          <p:cNvSpPr/>
          <p:nvPr/>
        </p:nvSpPr>
        <p:spPr>
          <a:xfrm rot="0" flipH="0" flipV="0">
            <a:off x="3162300" y="1847850"/>
            <a:ext cx="7791450" cy="257175"/>
          </a:xfrm>
          <a:prstGeom prst="roundRect">
            <a:avLst>
              <a:gd name="adj" fmla="val 740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59" name="" descr="{&quot;isTemplate&quot;:true,&quot;type&quot;:&quot;text&quot;}"/>
          <p:cNvSpPr txBox="1"/>
          <p:nvPr/>
        </p:nvSpPr>
        <p:spPr>
          <a:xfrm rot="0" flipH="0" flipV="0">
            <a:off x="3267075" y="1914525"/>
            <a:ext cx="1847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五看扫描记录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数字化机会与价值清单</a:t>
            </a:r>
            <a:endParaRPr/>
          </a:p>
        </p:txBody>
      </p:sp>
      <p:sp>
        <p:nvSpPr>
          <p:cNvPr id="1060" name=""/>
          <p:cNvSpPr/>
          <p:nvPr/>
        </p:nvSpPr>
        <p:spPr>
          <a:xfrm rot="0" flipH="0" flipV="0">
            <a:off x="10991850" y="1847850"/>
            <a:ext cx="590550" cy="257175"/>
          </a:xfrm>
          <a:prstGeom prst="roundRect">
            <a:avLst>
              <a:gd name="adj" fmla="val 740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61" name="" descr="{&quot;isTemplate&quot;:true,&quot;type&quot;:&quot;text&quot;}"/>
          <p:cNvSpPr txBox="1"/>
          <p:nvPr/>
        </p:nvSpPr>
        <p:spPr>
          <a:xfrm rot="0" flipH="0" flipV="0">
            <a:off x="11191875" y="1914525"/>
            <a:ext cx="200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FBA15C"/>
                </a:solidFill>
                <a:latin typeface="Microsoft YaHei"/>
                <a:ea typeface="Microsoft YaHei"/>
              </a:rPr>
              <a:t>主线</a:t>
            </a:r>
            <a:endParaRPr/>
          </a:p>
        </p:txBody>
      </p:sp>
      <p:sp>
        <p:nvSpPr>
          <p:cNvPr id="1062" name=""/>
          <p:cNvSpPr/>
          <p:nvPr/>
        </p:nvSpPr>
        <p:spPr>
          <a:xfrm rot="0" flipH="0" flipV="0">
            <a:off x="609600" y="2143125"/>
            <a:ext cx="400050" cy="257175"/>
          </a:xfrm>
          <a:prstGeom prst="roundRect">
            <a:avLst>
              <a:gd name="adj" fmla="val 7407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63" name="" descr="{&quot;isTemplate&quot;:true,&quot;type&quot;:&quot;text&quot;}"/>
          <p:cNvSpPr txBox="1"/>
          <p:nvPr/>
        </p:nvSpPr>
        <p:spPr>
          <a:xfrm rot="0" flipH="0" flipV="0">
            <a:off x="742950" y="220027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064" name=""/>
          <p:cNvSpPr/>
          <p:nvPr/>
        </p:nvSpPr>
        <p:spPr>
          <a:xfrm rot="0" flipH="0" flipV="0">
            <a:off x="1047750" y="2143125"/>
            <a:ext cx="2076450" cy="257175"/>
          </a:xfrm>
          <a:prstGeom prst="roundRect">
            <a:avLst>
              <a:gd name="adj" fmla="val 740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65" name="" descr="{&quot;isTemplate&quot;:true,&quot;type&quot;:&quot;text&quot;}"/>
          <p:cNvSpPr txBox="1"/>
          <p:nvPr/>
        </p:nvSpPr>
        <p:spPr>
          <a:xfrm rot="0" flipH="0" flipV="0">
            <a:off x="1152525" y="220027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成熟度评估</a:t>
            </a:r>
            <a:endParaRPr/>
          </a:p>
        </p:txBody>
      </p:sp>
      <p:sp>
        <p:nvSpPr>
          <p:cNvPr id="1066" name=""/>
          <p:cNvSpPr/>
          <p:nvPr/>
        </p:nvSpPr>
        <p:spPr>
          <a:xfrm rot="0" flipH="0" flipV="0">
            <a:off x="3162300" y="2143125"/>
            <a:ext cx="7791450" cy="257175"/>
          </a:xfrm>
          <a:prstGeom prst="roundRect">
            <a:avLst>
              <a:gd name="adj" fmla="val 740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67" name="" descr="{&quot;isTemplate&quot;:true,&quot;type&quot;:&quot;text&quot;}"/>
          <p:cNvSpPr txBox="1"/>
          <p:nvPr/>
        </p:nvSpPr>
        <p:spPr>
          <a:xfrm rot="0" flipH="0" flipV="0">
            <a:off x="3267075" y="2209800"/>
            <a:ext cx="1628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关键用户访谈纪要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成熟度打分表</a:t>
            </a:r>
            <a:endParaRPr/>
          </a:p>
        </p:txBody>
      </p:sp>
      <p:sp>
        <p:nvSpPr>
          <p:cNvPr id="1068" name=""/>
          <p:cNvSpPr/>
          <p:nvPr/>
        </p:nvSpPr>
        <p:spPr>
          <a:xfrm rot="0" flipH="0" flipV="0">
            <a:off x="10991850" y="2143125"/>
            <a:ext cx="590550" cy="257175"/>
          </a:xfrm>
          <a:prstGeom prst="roundRect">
            <a:avLst>
              <a:gd name="adj" fmla="val 740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69" name="" descr="{&quot;isTemplate&quot;:true,&quot;type&quot;:&quot;text&quot;}"/>
          <p:cNvSpPr txBox="1"/>
          <p:nvPr/>
        </p:nvSpPr>
        <p:spPr>
          <a:xfrm rot="0" flipH="0" flipV="0">
            <a:off x="11191875" y="2209800"/>
            <a:ext cx="200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FBA15C"/>
                </a:solidFill>
                <a:latin typeface="Microsoft YaHei"/>
                <a:ea typeface="Microsoft YaHei"/>
              </a:rPr>
              <a:t>主线</a:t>
            </a:r>
            <a:endParaRPr/>
          </a:p>
        </p:txBody>
      </p:sp>
      <p:sp>
        <p:nvSpPr>
          <p:cNvPr id="1070" name=""/>
          <p:cNvSpPr/>
          <p:nvPr/>
        </p:nvSpPr>
        <p:spPr>
          <a:xfrm rot="0" flipH="0" flipV="0">
            <a:off x="609600" y="2438400"/>
            <a:ext cx="400050" cy="247650"/>
          </a:xfrm>
          <a:prstGeom prst="roundRect">
            <a:avLst>
              <a:gd name="adj" fmla="val 7692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71" name="" descr="{&quot;isTemplate&quot;:true,&quot;type&quot;:&quot;text&quot;}"/>
          <p:cNvSpPr txBox="1"/>
          <p:nvPr/>
        </p:nvSpPr>
        <p:spPr>
          <a:xfrm rot="0" flipH="0" flipV="0">
            <a:off x="742950" y="2495550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072" name=""/>
          <p:cNvSpPr/>
          <p:nvPr/>
        </p:nvSpPr>
        <p:spPr>
          <a:xfrm rot="0" flipH="0" flipV="0">
            <a:off x="1047750" y="2438400"/>
            <a:ext cx="2076450" cy="247650"/>
          </a:xfrm>
          <a:prstGeom prst="roundRect">
            <a:avLst>
              <a:gd name="adj" fmla="val 769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73" name="" descr="{&quot;isTemplate&quot;:true,&quot;type&quot;:&quot;text&quot;}"/>
          <p:cNvSpPr txBox="1"/>
          <p:nvPr/>
        </p:nvSpPr>
        <p:spPr>
          <a:xfrm rot="0" flipH="0" flipV="0">
            <a:off x="1152525" y="2495550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现状和差距分析</a:t>
            </a:r>
            <a:endParaRPr/>
          </a:p>
        </p:txBody>
      </p:sp>
      <p:sp>
        <p:nvSpPr>
          <p:cNvPr id="1074" name=""/>
          <p:cNvSpPr/>
          <p:nvPr/>
        </p:nvSpPr>
        <p:spPr>
          <a:xfrm rot="0" flipH="0" flipV="0">
            <a:off x="3162300" y="2438400"/>
            <a:ext cx="7791450" cy="247650"/>
          </a:xfrm>
          <a:prstGeom prst="roundRect">
            <a:avLst>
              <a:gd name="adj" fmla="val 769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75" name="" descr="{&quot;isTemplate&quot;:true,&quot;type&quot;:&quot;text&quot;}"/>
          <p:cNvSpPr txBox="1"/>
          <p:nvPr/>
        </p:nvSpPr>
        <p:spPr>
          <a:xfrm rot="0" flipH="0" flipV="0">
            <a:off x="3267075" y="2495550"/>
            <a:ext cx="1762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三层差距清单（能力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数据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技术）</a:t>
            </a:r>
            <a:endParaRPr/>
          </a:p>
        </p:txBody>
      </p:sp>
      <p:sp>
        <p:nvSpPr>
          <p:cNvPr id="1076" name=""/>
          <p:cNvSpPr/>
          <p:nvPr/>
        </p:nvSpPr>
        <p:spPr>
          <a:xfrm rot="0" flipH="0" flipV="0">
            <a:off x="10991850" y="2438400"/>
            <a:ext cx="590550" cy="247650"/>
          </a:xfrm>
          <a:prstGeom prst="roundRect">
            <a:avLst>
              <a:gd name="adj" fmla="val 769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77" name="" descr="{&quot;isTemplate&quot;:true,&quot;type&quot;:&quot;text&quot;}"/>
          <p:cNvSpPr txBox="1"/>
          <p:nvPr/>
        </p:nvSpPr>
        <p:spPr>
          <a:xfrm rot="0" flipH="0" flipV="0">
            <a:off x="11191875" y="2505075"/>
            <a:ext cx="200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FBA15C"/>
                </a:solidFill>
                <a:latin typeface="Microsoft YaHei"/>
                <a:ea typeface="Microsoft YaHei"/>
              </a:rPr>
              <a:t>主线</a:t>
            </a:r>
            <a:endParaRPr/>
          </a:p>
        </p:txBody>
      </p:sp>
      <p:sp>
        <p:nvSpPr>
          <p:cNvPr id="1078" name=""/>
          <p:cNvSpPr/>
          <p:nvPr/>
        </p:nvSpPr>
        <p:spPr>
          <a:xfrm rot="0" flipH="0" flipV="0">
            <a:off x="609600" y="2724150"/>
            <a:ext cx="400050" cy="257175"/>
          </a:xfrm>
          <a:prstGeom prst="roundRect">
            <a:avLst>
              <a:gd name="adj" fmla="val 7407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79" name="" descr="{&quot;isTemplate&quot;:true,&quot;type&quot;:&quot;text&quot;}"/>
          <p:cNvSpPr txBox="1"/>
          <p:nvPr/>
        </p:nvSpPr>
        <p:spPr>
          <a:xfrm rot="0" flipH="0" flipV="0">
            <a:off x="742950" y="2781300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080" name=""/>
          <p:cNvSpPr/>
          <p:nvPr/>
        </p:nvSpPr>
        <p:spPr>
          <a:xfrm rot="0" flipH="0" flipV="0">
            <a:off x="1047750" y="2724150"/>
            <a:ext cx="2076450" cy="257175"/>
          </a:xfrm>
          <a:prstGeom prst="roundRect">
            <a:avLst>
              <a:gd name="adj" fmla="val 740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81" name="" descr="{&quot;isTemplate&quot;:true,&quot;type&quot;:&quot;text&quot;}"/>
          <p:cNvSpPr txBox="1"/>
          <p:nvPr/>
        </p:nvSpPr>
        <p:spPr>
          <a:xfrm rot="0" flipH="0" flipV="0">
            <a:off x="1152525" y="2781300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描绘数字化愿景</a:t>
            </a:r>
            <a:endParaRPr/>
          </a:p>
        </p:txBody>
      </p:sp>
      <p:sp>
        <p:nvSpPr>
          <p:cNvPr id="1082" name=""/>
          <p:cNvSpPr/>
          <p:nvPr/>
        </p:nvSpPr>
        <p:spPr>
          <a:xfrm rot="0" flipH="0" flipV="0">
            <a:off x="3162300" y="2724150"/>
            <a:ext cx="7791450" cy="257175"/>
          </a:xfrm>
          <a:prstGeom prst="roundRect">
            <a:avLst>
              <a:gd name="adj" fmla="val 740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83" name="" descr="{&quot;isTemplate&quot;:true,&quot;type&quot;:&quot;text&quot;}"/>
          <p:cNvSpPr txBox="1"/>
          <p:nvPr/>
        </p:nvSpPr>
        <p:spPr>
          <a:xfrm rot="0" flipH="0" flipV="0">
            <a:off x="3267075" y="2790825"/>
            <a:ext cx="2305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愿景蓝图（三件事：什么样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体验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技术路径）</a:t>
            </a:r>
            <a:endParaRPr/>
          </a:p>
        </p:txBody>
      </p:sp>
      <p:sp>
        <p:nvSpPr>
          <p:cNvPr id="1084" name=""/>
          <p:cNvSpPr/>
          <p:nvPr/>
        </p:nvSpPr>
        <p:spPr>
          <a:xfrm rot="0" flipH="0" flipV="0">
            <a:off x="10991850" y="2724150"/>
            <a:ext cx="590550" cy="257175"/>
          </a:xfrm>
          <a:prstGeom prst="roundRect">
            <a:avLst>
              <a:gd name="adj" fmla="val 740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85" name="" descr="{&quot;isTemplate&quot;:true,&quot;type&quot;:&quot;text&quot;}"/>
          <p:cNvSpPr txBox="1"/>
          <p:nvPr/>
        </p:nvSpPr>
        <p:spPr>
          <a:xfrm rot="0" flipH="0" flipV="0">
            <a:off x="11191875" y="2790825"/>
            <a:ext cx="200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FBA15C"/>
                </a:solidFill>
                <a:latin typeface="Microsoft YaHei"/>
                <a:ea typeface="Microsoft YaHei"/>
              </a:rPr>
              <a:t>主线</a:t>
            </a:r>
            <a:endParaRPr/>
          </a:p>
        </p:txBody>
      </p:sp>
      <p:sp>
        <p:nvSpPr>
          <p:cNvPr id="1086" name=""/>
          <p:cNvSpPr/>
          <p:nvPr/>
        </p:nvSpPr>
        <p:spPr>
          <a:xfrm rot="0" flipH="0" flipV="0">
            <a:off x="609600" y="3019425"/>
            <a:ext cx="400050" cy="257175"/>
          </a:xfrm>
          <a:prstGeom prst="roundRect">
            <a:avLst>
              <a:gd name="adj" fmla="val 7407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1087" name="" descr="{&quot;isTemplate&quot;:true,&quot;type&quot;:&quot;text&quot;}"/>
          <p:cNvSpPr txBox="1"/>
          <p:nvPr/>
        </p:nvSpPr>
        <p:spPr>
          <a:xfrm rot="0" flipH="0" flipV="0">
            <a:off x="742950" y="307657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1088" name=""/>
          <p:cNvSpPr/>
          <p:nvPr/>
        </p:nvSpPr>
        <p:spPr>
          <a:xfrm rot="0" flipH="0" flipV="0">
            <a:off x="1047750" y="3019425"/>
            <a:ext cx="2076450" cy="257175"/>
          </a:xfrm>
          <a:prstGeom prst="roundRect">
            <a:avLst>
              <a:gd name="adj" fmla="val 740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89" name="" descr="{&quot;isTemplate&quot;:true,&quot;type&quot;:&quot;text&quot;}"/>
          <p:cNvSpPr txBox="1"/>
          <p:nvPr/>
        </p:nvSpPr>
        <p:spPr>
          <a:xfrm rot="0" flipH="0" flipV="0">
            <a:off x="1152525" y="3076575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设计顶层架构蓝图</a:t>
            </a:r>
            <a:endParaRPr/>
          </a:p>
        </p:txBody>
      </p:sp>
      <p:sp>
        <p:nvSpPr>
          <p:cNvPr id="1090" name=""/>
          <p:cNvSpPr/>
          <p:nvPr/>
        </p:nvSpPr>
        <p:spPr>
          <a:xfrm rot="0" flipH="0" flipV="0">
            <a:off x="3162300" y="3019425"/>
            <a:ext cx="7791450" cy="257175"/>
          </a:xfrm>
          <a:prstGeom prst="roundRect">
            <a:avLst>
              <a:gd name="adj" fmla="val 740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91" name="" descr="{&quot;isTemplate&quot;:true,&quot;type&quot;:&quot;text&quot;}"/>
          <p:cNvSpPr txBox="1"/>
          <p:nvPr/>
        </p:nvSpPr>
        <p:spPr>
          <a:xfrm rot="0" flipH="0" flipV="0">
            <a:off x="3267075" y="3086100"/>
            <a:ext cx="2286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顶层架构蓝图（分层分级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六个设计原则过审）</a:t>
            </a:r>
            <a:endParaRPr/>
          </a:p>
        </p:txBody>
      </p:sp>
      <p:sp>
        <p:nvSpPr>
          <p:cNvPr id="1092" name=""/>
          <p:cNvSpPr/>
          <p:nvPr/>
        </p:nvSpPr>
        <p:spPr>
          <a:xfrm rot="0" flipH="0" flipV="0">
            <a:off x="10991850" y="3019425"/>
            <a:ext cx="590550" cy="257175"/>
          </a:xfrm>
          <a:prstGeom prst="roundRect">
            <a:avLst>
              <a:gd name="adj" fmla="val 740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93" name="" descr="{&quot;isTemplate&quot;:true,&quot;type&quot;:&quot;text&quot;}"/>
          <p:cNvSpPr txBox="1"/>
          <p:nvPr/>
        </p:nvSpPr>
        <p:spPr>
          <a:xfrm rot="0" flipH="0" flipV="0">
            <a:off x="11191875" y="3086100"/>
            <a:ext cx="200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FBA15C"/>
                </a:solidFill>
                <a:latin typeface="Microsoft YaHei"/>
                <a:ea typeface="Microsoft YaHei"/>
              </a:rPr>
              <a:t>主线</a:t>
            </a:r>
            <a:endParaRPr/>
          </a:p>
        </p:txBody>
      </p:sp>
      <p:sp>
        <p:nvSpPr>
          <p:cNvPr id="1094" name=""/>
          <p:cNvSpPr/>
          <p:nvPr/>
        </p:nvSpPr>
        <p:spPr>
          <a:xfrm rot="0" flipH="0" flipV="0">
            <a:off x="609600" y="3314700"/>
            <a:ext cx="400050" cy="257175"/>
          </a:xfrm>
          <a:prstGeom prst="roundRect">
            <a:avLst>
              <a:gd name="adj" fmla="val 7407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1095" name="" descr="{&quot;isTemplate&quot;:true,&quot;type&quot;:&quot;text&quot;}"/>
          <p:cNvSpPr txBox="1"/>
          <p:nvPr/>
        </p:nvSpPr>
        <p:spPr>
          <a:xfrm rot="0" flipH="0" flipV="0">
            <a:off x="742950" y="3371850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1096" name=""/>
          <p:cNvSpPr/>
          <p:nvPr/>
        </p:nvSpPr>
        <p:spPr>
          <a:xfrm rot="0" flipH="0" flipV="0">
            <a:off x="1047750" y="3314700"/>
            <a:ext cx="2076450" cy="257175"/>
          </a:xfrm>
          <a:prstGeom prst="roundRect">
            <a:avLst>
              <a:gd name="adj" fmla="val 740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97" name="" descr="{&quot;isTemplate&quot;:true,&quot;type&quot;:&quot;text&quot;}"/>
          <p:cNvSpPr txBox="1"/>
          <p:nvPr/>
        </p:nvSpPr>
        <p:spPr>
          <a:xfrm rot="0" flipH="0" flipV="0">
            <a:off x="1152525" y="337185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一体四面细化</a:t>
            </a:r>
            <a:endParaRPr/>
          </a:p>
        </p:txBody>
      </p:sp>
      <p:sp>
        <p:nvSpPr>
          <p:cNvPr id="1098" name=""/>
          <p:cNvSpPr/>
          <p:nvPr/>
        </p:nvSpPr>
        <p:spPr>
          <a:xfrm rot="0" flipH="0" flipV="0">
            <a:off x="3162300" y="3314700"/>
            <a:ext cx="7791450" cy="257175"/>
          </a:xfrm>
          <a:prstGeom prst="roundRect">
            <a:avLst>
              <a:gd name="adj" fmla="val 740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99" name="" descr="{&quot;isTemplate&quot;:true,&quot;type&quot;:&quot;text&quot;}"/>
          <p:cNvSpPr txBox="1"/>
          <p:nvPr/>
        </p:nvSpPr>
        <p:spPr>
          <a:xfrm rot="0" flipH="0" flipV="0">
            <a:off x="3267075" y="3381375"/>
            <a:ext cx="2190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BA / IA/DA / AA / TA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分域成果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突破口结论</a:t>
            </a:r>
            <a:endParaRPr/>
          </a:p>
        </p:txBody>
      </p:sp>
      <p:sp>
        <p:nvSpPr>
          <p:cNvPr id="1100" name=""/>
          <p:cNvSpPr/>
          <p:nvPr/>
        </p:nvSpPr>
        <p:spPr>
          <a:xfrm rot="0" flipH="0" flipV="0">
            <a:off x="10991850" y="3314700"/>
            <a:ext cx="590550" cy="257175"/>
          </a:xfrm>
          <a:prstGeom prst="roundRect">
            <a:avLst>
              <a:gd name="adj" fmla="val 740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01" name="" descr="{&quot;isTemplate&quot;:true,&quot;type&quot;:&quot;text&quot;}"/>
          <p:cNvSpPr txBox="1"/>
          <p:nvPr/>
        </p:nvSpPr>
        <p:spPr>
          <a:xfrm rot="0" flipH="0" flipV="0">
            <a:off x="11191875" y="3381375"/>
            <a:ext cx="200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FBA15C"/>
                </a:solidFill>
                <a:latin typeface="Microsoft YaHei"/>
                <a:ea typeface="Microsoft YaHei"/>
              </a:rPr>
              <a:t>主线</a:t>
            </a:r>
            <a:endParaRPr/>
          </a:p>
        </p:txBody>
      </p:sp>
      <p:sp>
        <p:nvSpPr>
          <p:cNvPr id="1102" name=""/>
          <p:cNvSpPr/>
          <p:nvPr/>
        </p:nvSpPr>
        <p:spPr>
          <a:xfrm rot="0" flipH="0" flipV="0">
            <a:off x="609600" y="3609975"/>
            <a:ext cx="400050" cy="257175"/>
          </a:xfrm>
          <a:prstGeom prst="roundRect">
            <a:avLst>
              <a:gd name="adj" fmla="val 7407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1103" name="" descr="{&quot;isTemplate&quot;:true,&quot;type&quot;:&quot;text&quot;}"/>
          <p:cNvSpPr txBox="1"/>
          <p:nvPr/>
        </p:nvSpPr>
        <p:spPr>
          <a:xfrm rot="0" flipH="0" flipV="0">
            <a:off x="742950" y="36671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08</a:t>
            </a:r>
            <a:endParaRPr/>
          </a:p>
        </p:txBody>
      </p:sp>
      <p:sp>
        <p:nvSpPr>
          <p:cNvPr id="1104" name=""/>
          <p:cNvSpPr/>
          <p:nvPr/>
        </p:nvSpPr>
        <p:spPr>
          <a:xfrm rot="0" flipH="0" flipV="0">
            <a:off x="1047750" y="3609975"/>
            <a:ext cx="2076450" cy="257175"/>
          </a:xfrm>
          <a:prstGeom prst="roundRect">
            <a:avLst>
              <a:gd name="adj" fmla="val 740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05" name="" descr="{&quot;isTemplate&quot;:true,&quot;type&quot;:&quot;text&quot;}"/>
          <p:cNvSpPr txBox="1"/>
          <p:nvPr/>
        </p:nvSpPr>
        <p:spPr>
          <a:xfrm rot="0" flipH="0" flipV="0">
            <a:off x="1152525" y="36671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指标体系</a:t>
            </a:r>
            <a:endParaRPr/>
          </a:p>
        </p:txBody>
      </p:sp>
      <p:sp>
        <p:nvSpPr>
          <p:cNvPr id="1106" name=""/>
          <p:cNvSpPr/>
          <p:nvPr/>
        </p:nvSpPr>
        <p:spPr>
          <a:xfrm rot="0" flipH="0" flipV="0">
            <a:off x="3162300" y="3609975"/>
            <a:ext cx="7791450" cy="257175"/>
          </a:xfrm>
          <a:prstGeom prst="roundRect">
            <a:avLst>
              <a:gd name="adj" fmla="val 740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107" name="" descr="{&quot;isTemplate&quot;:true,&quot;type&quot;:&quot;text&quot;}"/>
          <p:cNvSpPr txBox="1"/>
          <p:nvPr/>
        </p:nvSpPr>
        <p:spPr>
          <a:xfrm rot="0" flipH="0" flipV="0">
            <a:off x="3267075" y="3676650"/>
            <a:ext cx="22002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转型指标体系与预设值（结果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过程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体验）</a:t>
            </a:r>
            <a:endParaRPr/>
          </a:p>
        </p:txBody>
      </p:sp>
      <p:sp>
        <p:nvSpPr>
          <p:cNvPr id="1108" name=""/>
          <p:cNvSpPr/>
          <p:nvPr/>
        </p:nvSpPr>
        <p:spPr>
          <a:xfrm rot="0" flipH="0" flipV="0">
            <a:off x="10991850" y="3609975"/>
            <a:ext cx="590550" cy="25717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109" name="" descr="{&quot;isTemplate&quot;:true,&quot;type&quot;:&quot;text&quot;}"/>
          <p:cNvSpPr txBox="1"/>
          <p:nvPr/>
        </p:nvSpPr>
        <p:spPr>
          <a:xfrm rot="0" flipH="0" flipV="0">
            <a:off x="11191875" y="3676650"/>
            <a:ext cx="200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8A8F99"/>
                </a:solidFill>
                <a:latin typeface="Microsoft YaHei"/>
                <a:ea typeface="Microsoft YaHei"/>
              </a:rPr>
              <a:t>可选</a:t>
            </a:r>
            <a:endParaRPr/>
          </a:p>
        </p:txBody>
      </p:sp>
      <p:sp>
        <p:nvSpPr>
          <p:cNvPr id="1110" name=""/>
          <p:cNvSpPr/>
          <p:nvPr/>
        </p:nvSpPr>
        <p:spPr>
          <a:xfrm rot="0" flipH="0" flipV="0">
            <a:off x="609600" y="3905250"/>
            <a:ext cx="400050" cy="257175"/>
          </a:xfrm>
          <a:prstGeom prst="roundRect">
            <a:avLst>
              <a:gd name="adj" fmla="val 7407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1111" name="" descr="{&quot;isTemplate&quot;:true,&quot;type&quot;:&quot;text&quot;}"/>
          <p:cNvSpPr txBox="1"/>
          <p:nvPr/>
        </p:nvSpPr>
        <p:spPr>
          <a:xfrm rot="0" flipH="0" flipV="0">
            <a:off x="742950" y="3962400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09</a:t>
            </a:r>
            <a:endParaRPr/>
          </a:p>
        </p:txBody>
      </p:sp>
      <p:sp>
        <p:nvSpPr>
          <p:cNvPr id="1112" name=""/>
          <p:cNvSpPr/>
          <p:nvPr/>
        </p:nvSpPr>
        <p:spPr>
          <a:xfrm rot="0" flipH="0" flipV="0">
            <a:off x="1047750" y="3905250"/>
            <a:ext cx="2076450" cy="257175"/>
          </a:xfrm>
          <a:prstGeom prst="roundRect">
            <a:avLst>
              <a:gd name="adj" fmla="val 740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13" name="" descr="{&quot;isTemplate&quot;:true,&quot;type&quot;:&quot;text&quot;}"/>
          <p:cNvSpPr txBox="1"/>
          <p:nvPr/>
        </p:nvSpPr>
        <p:spPr>
          <a:xfrm rot="0" flipH="0" flipV="0">
            <a:off x="1152525" y="396240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识别转型举措</a:t>
            </a:r>
            <a:endParaRPr/>
          </a:p>
        </p:txBody>
      </p:sp>
      <p:sp>
        <p:nvSpPr>
          <p:cNvPr id="1114" name=""/>
          <p:cNvSpPr/>
          <p:nvPr/>
        </p:nvSpPr>
        <p:spPr>
          <a:xfrm rot="0" flipH="0" flipV="0">
            <a:off x="3162300" y="3905250"/>
            <a:ext cx="7791450" cy="257175"/>
          </a:xfrm>
          <a:prstGeom prst="roundRect">
            <a:avLst>
              <a:gd name="adj" fmla="val 740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15" name="" descr="{&quot;isTemplate&quot;:true,&quot;type&quot;:&quot;text&quot;}"/>
          <p:cNvSpPr txBox="1"/>
          <p:nvPr/>
        </p:nvSpPr>
        <p:spPr>
          <a:xfrm rot="0" flipH="0" flipV="0">
            <a:off x="3267075" y="3971925"/>
            <a:ext cx="990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举措清单与举措目标</a:t>
            </a:r>
            <a:endParaRPr/>
          </a:p>
        </p:txBody>
      </p:sp>
      <p:sp>
        <p:nvSpPr>
          <p:cNvPr id="1116" name=""/>
          <p:cNvSpPr/>
          <p:nvPr/>
        </p:nvSpPr>
        <p:spPr>
          <a:xfrm rot="0" flipH="0" flipV="0">
            <a:off x="10991850" y="3905250"/>
            <a:ext cx="590550" cy="257175"/>
          </a:xfrm>
          <a:prstGeom prst="roundRect">
            <a:avLst>
              <a:gd name="adj" fmla="val 740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17" name="" descr="{&quot;isTemplate&quot;:true,&quot;type&quot;:&quot;text&quot;}"/>
          <p:cNvSpPr txBox="1"/>
          <p:nvPr/>
        </p:nvSpPr>
        <p:spPr>
          <a:xfrm rot="0" flipH="0" flipV="0">
            <a:off x="11191875" y="3971925"/>
            <a:ext cx="200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FBA15C"/>
                </a:solidFill>
                <a:latin typeface="Microsoft YaHei"/>
                <a:ea typeface="Microsoft YaHei"/>
              </a:rPr>
              <a:t>主线</a:t>
            </a:r>
            <a:endParaRPr/>
          </a:p>
        </p:txBody>
      </p:sp>
      <p:sp>
        <p:nvSpPr>
          <p:cNvPr id="1118" name=""/>
          <p:cNvSpPr/>
          <p:nvPr/>
        </p:nvSpPr>
        <p:spPr>
          <a:xfrm rot="0" flipH="0" flipV="0">
            <a:off x="609600" y="4200525"/>
            <a:ext cx="400050" cy="247650"/>
          </a:xfrm>
          <a:prstGeom prst="roundRect">
            <a:avLst>
              <a:gd name="adj" fmla="val 7692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1119" name="" descr="{&quot;isTemplate&quot;:true,&quot;type&quot;:&quot;text&quot;}"/>
          <p:cNvSpPr txBox="1"/>
          <p:nvPr/>
        </p:nvSpPr>
        <p:spPr>
          <a:xfrm rot="0" flipH="0" flipV="0">
            <a:off x="742950" y="425767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1120" name=""/>
          <p:cNvSpPr/>
          <p:nvPr/>
        </p:nvSpPr>
        <p:spPr>
          <a:xfrm rot="0" flipH="0" flipV="0">
            <a:off x="1047750" y="4200525"/>
            <a:ext cx="2076450" cy="247650"/>
          </a:xfrm>
          <a:prstGeom prst="roundRect">
            <a:avLst>
              <a:gd name="adj" fmla="val 769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21" name="" descr="{&quot;isTemplate&quot;:true,&quot;type&quot;:&quot;text&quot;}"/>
          <p:cNvSpPr txBox="1"/>
          <p:nvPr/>
        </p:nvSpPr>
        <p:spPr>
          <a:xfrm rot="0" flipH="0" flipV="0">
            <a:off x="1152525" y="42576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举措设计</a:t>
            </a:r>
            <a:endParaRPr/>
          </a:p>
        </p:txBody>
      </p:sp>
      <p:sp>
        <p:nvSpPr>
          <p:cNvPr id="1122" name=""/>
          <p:cNvSpPr/>
          <p:nvPr/>
        </p:nvSpPr>
        <p:spPr>
          <a:xfrm rot="0" flipH="0" flipV="0">
            <a:off x="3162300" y="4200525"/>
            <a:ext cx="7791450" cy="247650"/>
          </a:xfrm>
          <a:prstGeom prst="roundRect">
            <a:avLst>
              <a:gd name="adj" fmla="val 769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123" name="" descr="{&quot;isTemplate&quot;:true,&quot;type&quot;:&quot;text&quot;}"/>
          <p:cNvSpPr txBox="1"/>
          <p:nvPr/>
        </p:nvSpPr>
        <p:spPr>
          <a:xfrm rot="0" flipH="0" flipV="0">
            <a:off x="3267075" y="4257675"/>
            <a:ext cx="13049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举措架构方案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变革点细分</a:t>
            </a:r>
            <a:endParaRPr/>
          </a:p>
        </p:txBody>
      </p:sp>
      <p:sp>
        <p:nvSpPr>
          <p:cNvPr id="1124" name=""/>
          <p:cNvSpPr/>
          <p:nvPr/>
        </p:nvSpPr>
        <p:spPr>
          <a:xfrm rot="0" flipH="0" flipV="0">
            <a:off x="10991850" y="4200525"/>
            <a:ext cx="590550" cy="2476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125" name="" descr="{&quot;isTemplate&quot;:true,&quot;type&quot;:&quot;text&quot;}"/>
          <p:cNvSpPr txBox="1"/>
          <p:nvPr/>
        </p:nvSpPr>
        <p:spPr>
          <a:xfrm rot="0" flipH="0" flipV="0">
            <a:off x="11191875" y="4267200"/>
            <a:ext cx="200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8A8F99"/>
                </a:solidFill>
                <a:latin typeface="Microsoft YaHei"/>
                <a:ea typeface="Microsoft YaHei"/>
              </a:rPr>
              <a:t>可选</a:t>
            </a:r>
            <a:endParaRPr/>
          </a:p>
        </p:txBody>
      </p:sp>
      <p:sp>
        <p:nvSpPr>
          <p:cNvPr id="1126" name=""/>
          <p:cNvSpPr/>
          <p:nvPr/>
        </p:nvSpPr>
        <p:spPr>
          <a:xfrm rot="0" flipH="0" flipV="0">
            <a:off x="609600" y="4486275"/>
            <a:ext cx="400050" cy="257175"/>
          </a:xfrm>
          <a:prstGeom prst="roundRect">
            <a:avLst>
              <a:gd name="adj" fmla="val 7407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1127" name="" descr="{&quot;isTemplate&quot;:true,&quot;type&quot;:&quot;text&quot;}"/>
          <p:cNvSpPr txBox="1"/>
          <p:nvPr/>
        </p:nvSpPr>
        <p:spPr>
          <a:xfrm rot="0" flipH="0" flipV="0">
            <a:off x="742950" y="45434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11</a:t>
            </a:r>
            <a:endParaRPr/>
          </a:p>
        </p:txBody>
      </p:sp>
      <p:sp>
        <p:nvSpPr>
          <p:cNvPr id="1128" name=""/>
          <p:cNvSpPr/>
          <p:nvPr/>
        </p:nvSpPr>
        <p:spPr>
          <a:xfrm rot="0" flipH="0" flipV="0">
            <a:off x="1047750" y="4486275"/>
            <a:ext cx="2076450" cy="257175"/>
          </a:xfrm>
          <a:prstGeom prst="roundRect">
            <a:avLst>
              <a:gd name="adj" fmla="val 740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29" name="" descr="{&quot;isTemplate&quot;:true,&quot;type&quot;:&quot;text&quot;}"/>
          <p:cNvSpPr txBox="1"/>
          <p:nvPr/>
        </p:nvSpPr>
        <p:spPr>
          <a:xfrm rot="0" flipH="0" flipV="0">
            <a:off x="1152525" y="45434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转型路标</a:t>
            </a:r>
            <a:endParaRPr/>
          </a:p>
        </p:txBody>
      </p:sp>
      <p:sp>
        <p:nvSpPr>
          <p:cNvPr id="1130" name=""/>
          <p:cNvSpPr/>
          <p:nvPr/>
        </p:nvSpPr>
        <p:spPr>
          <a:xfrm rot="0" flipH="0" flipV="0">
            <a:off x="3162300" y="4486275"/>
            <a:ext cx="7791450" cy="257175"/>
          </a:xfrm>
          <a:prstGeom prst="roundRect">
            <a:avLst>
              <a:gd name="adj" fmla="val 740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131" name="" descr="{&quot;isTemplate&quot;:true,&quot;type&quot;:&quot;text&quot;}"/>
          <p:cNvSpPr txBox="1"/>
          <p:nvPr/>
        </p:nvSpPr>
        <p:spPr>
          <a:xfrm rot="0" flipH="0" flipV="0">
            <a:off x="3267075" y="4552950"/>
            <a:ext cx="13049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分期路标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每期重点与抓手</a:t>
            </a:r>
            <a:endParaRPr/>
          </a:p>
        </p:txBody>
      </p:sp>
      <p:sp>
        <p:nvSpPr>
          <p:cNvPr id="1132" name=""/>
          <p:cNvSpPr/>
          <p:nvPr/>
        </p:nvSpPr>
        <p:spPr>
          <a:xfrm rot="0" flipH="0" flipV="0">
            <a:off x="10991850" y="4486275"/>
            <a:ext cx="590550" cy="25717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133" name="" descr="{&quot;isTemplate&quot;:true,&quot;type&quot;:&quot;text&quot;}"/>
          <p:cNvSpPr txBox="1"/>
          <p:nvPr/>
        </p:nvSpPr>
        <p:spPr>
          <a:xfrm rot="0" flipH="0" flipV="0">
            <a:off x="11191875" y="4552950"/>
            <a:ext cx="200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8A8F99"/>
                </a:solidFill>
                <a:latin typeface="Microsoft YaHei"/>
                <a:ea typeface="Microsoft YaHei"/>
              </a:rPr>
              <a:t>可选</a:t>
            </a:r>
            <a:endParaRPr/>
          </a:p>
        </p:txBody>
      </p:sp>
      <p:sp>
        <p:nvSpPr>
          <p:cNvPr id="1134" name=""/>
          <p:cNvSpPr/>
          <p:nvPr/>
        </p:nvSpPr>
        <p:spPr>
          <a:xfrm rot="0" flipH="0" flipV="0">
            <a:off x="609600" y="4781550"/>
            <a:ext cx="400050" cy="257175"/>
          </a:xfrm>
          <a:prstGeom prst="roundRect">
            <a:avLst>
              <a:gd name="adj" fmla="val 7407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1135" name="" descr="{&quot;isTemplate&quot;:true,&quot;type&quot;:&quot;text&quot;}"/>
          <p:cNvSpPr txBox="1"/>
          <p:nvPr/>
        </p:nvSpPr>
        <p:spPr>
          <a:xfrm rot="0" flipH="0" flipV="0">
            <a:off x="742950" y="4838700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  <p:sp>
        <p:nvSpPr>
          <p:cNvPr id="1136" name=""/>
          <p:cNvSpPr/>
          <p:nvPr/>
        </p:nvSpPr>
        <p:spPr>
          <a:xfrm rot="0" flipH="0" flipV="0">
            <a:off x="1047750" y="4781550"/>
            <a:ext cx="2076450" cy="257175"/>
          </a:xfrm>
          <a:prstGeom prst="roundRect">
            <a:avLst>
              <a:gd name="adj" fmla="val 740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37" name="" descr="{&quot;isTemplate&quot;:true,&quot;type&quot;:&quot;text&quot;}"/>
          <p:cNvSpPr txBox="1"/>
          <p:nvPr/>
        </p:nvSpPr>
        <p:spPr>
          <a:xfrm rot="0" flipH="0" flipV="0">
            <a:off x="1152525" y="48387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规划项目</a:t>
            </a:r>
            <a:endParaRPr/>
          </a:p>
        </p:txBody>
      </p:sp>
      <p:sp>
        <p:nvSpPr>
          <p:cNvPr id="1138" name=""/>
          <p:cNvSpPr/>
          <p:nvPr/>
        </p:nvSpPr>
        <p:spPr>
          <a:xfrm rot="0" flipH="0" flipV="0">
            <a:off x="3162300" y="4781550"/>
            <a:ext cx="7791450" cy="257175"/>
          </a:xfrm>
          <a:prstGeom prst="roundRect">
            <a:avLst>
              <a:gd name="adj" fmla="val 740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39" name="" descr="{&quot;isTemplate&quot;:true,&quot;type&quot;:&quot;text&quot;}"/>
          <p:cNvSpPr txBox="1"/>
          <p:nvPr/>
        </p:nvSpPr>
        <p:spPr>
          <a:xfrm rot="0" flipH="0" flipV="0">
            <a:off x="3267075" y="4848225"/>
            <a:ext cx="1828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项目清单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公司级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领域级分工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排期</a:t>
            </a:r>
            <a:endParaRPr/>
          </a:p>
        </p:txBody>
      </p:sp>
      <p:sp>
        <p:nvSpPr>
          <p:cNvPr id="1140" name=""/>
          <p:cNvSpPr/>
          <p:nvPr/>
        </p:nvSpPr>
        <p:spPr>
          <a:xfrm rot="0" flipH="0" flipV="0">
            <a:off x="10991850" y="4781550"/>
            <a:ext cx="590550" cy="257175"/>
          </a:xfrm>
          <a:prstGeom prst="roundRect">
            <a:avLst>
              <a:gd name="adj" fmla="val 740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41" name="" descr="{&quot;isTemplate&quot;:true,&quot;type&quot;:&quot;text&quot;}"/>
          <p:cNvSpPr txBox="1"/>
          <p:nvPr/>
        </p:nvSpPr>
        <p:spPr>
          <a:xfrm rot="0" flipH="0" flipV="0">
            <a:off x="11191875" y="4848225"/>
            <a:ext cx="200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FBA15C"/>
                </a:solidFill>
                <a:latin typeface="Microsoft YaHei"/>
                <a:ea typeface="Microsoft YaHei"/>
              </a:rPr>
              <a:t>主线</a:t>
            </a:r>
            <a:endParaRPr/>
          </a:p>
        </p:txBody>
      </p:sp>
      <p:sp>
        <p:nvSpPr>
          <p:cNvPr id="1142" name=""/>
          <p:cNvSpPr/>
          <p:nvPr/>
        </p:nvSpPr>
        <p:spPr>
          <a:xfrm rot="0" flipH="0" flipV="0">
            <a:off x="647700" y="5124450"/>
            <a:ext cx="3600450" cy="476250"/>
          </a:xfrm>
          <a:prstGeom prst="roundRect">
            <a:avLst>
              <a:gd name="adj" fmla="val 6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43" name=""/>
          <p:cNvSpPr/>
          <p:nvPr/>
        </p:nvSpPr>
        <p:spPr>
          <a:xfrm rot="0" flipH="0" flipV="0">
            <a:off x="647700" y="5124450"/>
            <a:ext cx="3600450" cy="476250"/>
          </a:xfrm>
          <a:custGeom>
            <a:pathLst>
              <a:path w="378" h="50">
                <a:moveTo>
                  <a:pt x="4" y="50"/>
                </a:moveTo>
                <a:cubicBezTo>
                  <a:pt x="3" y="50"/>
                  <a:pt x="2" y="50"/>
                  <a:pt x="1" y="49"/>
                </a:cubicBezTo>
                <a:cubicBezTo>
                  <a:pt x="0" y="48"/>
                  <a:pt x="0" y="48"/>
                  <a:pt x="0" y="4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44" name="" descr="{&quot;isTemplate&quot;:true,&quot;type&quot;:&quot;text&quot;}"/>
          <p:cNvSpPr txBox="1"/>
          <p:nvPr/>
        </p:nvSpPr>
        <p:spPr>
          <a:xfrm rot="0" flipH="0" flipV="0">
            <a:off x="781050" y="5210175"/>
            <a:ext cx="3295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BA15C"/>
                </a:solidFill>
                <a:latin typeface="Microsoft YaHei"/>
                <a:ea typeface="Microsoft YaHei"/>
              </a:rPr>
              <a:t>主线</a:t>
            </a:r>
            <a:r>
              <a:rPr lang="en-US" sz="938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 9 </a:t>
            </a:r>
            <a:r>
              <a:rPr lang="zh-CN" sz="938" b="1">
                <a:solidFill>
                  <a:srgbClr val="FBA15C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1145" name="" descr="{&quot;isTemplate&quot;:true,&quot;type&quot;:&quot;text&quot;}"/>
          <p:cNvSpPr txBox="1"/>
          <p:nvPr/>
        </p:nvSpPr>
        <p:spPr>
          <a:xfrm rot="0" flipH="0" flipV="0">
            <a:off x="781050" y="5381625"/>
            <a:ext cx="3295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交不出来，说明这一阶没做完，后面全是推演</a:t>
            </a:r>
            <a:endParaRPr/>
          </a:p>
        </p:txBody>
      </p:sp>
      <p:sp>
        <p:nvSpPr>
          <p:cNvPr id="1146" name=""/>
          <p:cNvSpPr/>
          <p:nvPr/>
        </p:nvSpPr>
        <p:spPr>
          <a:xfrm rot="0" flipH="0" flipV="0">
            <a:off x="4333875" y="5124450"/>
            <a:ext cx="3600450" cy="47625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47" name=""/>
          <p:cNvSpPr/>
          <p:nvPr/>
        </p:nvSpPr>
        <p:spPr>
          <a:xfrm rot="0" flipH="0" flipV="0">
            <a:off x="4333875" y="5124450"/>
            <a:ext cx="3600450" cy="476250"/>
          </a:xfrm>
          <a:custGeom>
            <a:pathLst>
              <a:path w="378" h="50">
                <a:moveTo>
                  <a:pt x="4" y="50"/>
                </a:moveTo>
                <a:cubicBezTo>
                  <a:pt x="3" y="50"/>
                  <a:pt x="2" y="50"/>
                  <a:pt x="1" y="49"/>
                </a:cubicBezTo>
                <a:cubicBezTo>
                  <a:pt x="0" y="48"/>
                  <a:pt x="0" y="48"/>
                  <a:pt x="0" y="4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48" name="" descr="{&quot;isTemplate&quot;:true,&quot;type&quot;:&quot;text&quot;}"/>
          <p:cNvSpPr txBox="1"/>
          <p:nvPr/>
        </p:nvSpPr>
        <p:spPr>
          <a:xfrm rot="0" flipH="0" flipV="0">
            <a:off x="4467225" y="5210175"/>
            <a:ext cx="3295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可选</a:t>
            </a: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1149" name="" descr="{&quot;isTemplate&quot;:true,&quot;type&quot;:&quot;text&quot;}"/>
          <p:cNvSpPr txBox="1"/>
          <p:nvPr/>
        </p:nvSpPr>
        <p:spPr>
          <a:xfrm rot="0" flipH="0" flipV="0">
            <a:off x="4467225" y="5381625"/>
            <a:ext cx="3295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不交不会立刻崩，但年底一定无法验收</a:t>
            </a:r>
            <a:endParaRPr/>
          </a:p>
        </p:txBody>
      </p:sp>
      <p:sp>
        <p:nvSpPr>
          <p:cNvPr id="1150" name=""/>
          <p:cNvSpPr/>
          <p:nvPr/>
        </p:nvSpPr>
        <p:spPr>
          <a:xfrm rot="0" flipH="0" flipV="0">
            <a:off x="8020050" y="5124450"/>
            <a:ext cx="3600450" cy="47625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51" name=""/>
          <p:cNvSpPr/>
          <p:nvPr/>
        </p:nvSpPr>
        <p:spPr>
          <a:xfrm rot="0" flipH="0" flipV="0">
            <a:off x="8020050" y="5124450"/>
            <a:ext cx="3600450" cy="476250"/>
          </a:xfrm>
          <a:custGeom>
            <a:pathLst>
              <a:path w="378" h="50">
                <a:moveTo>
                  <a:pt x="4" y="50"/>
                </a:moveTo>
                <a:cubicBezTo>
                  <a:pt x="3" y="50"/>
                  <a:pt x="2" y="50"/>
                  <a:pt x="1" y="49"/>
                </a:cubicBezTo>
                <a:cubicBezTo>
                  <a:pt x="0" y="48"/>
                  <a:pt x="0" y="48"/>
                  <a:pt x="0" y="4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52" name="" descr="{&quot;isTemplate&quot;:true,&quot;type&quot;:&quot;text&quot;}"/>
          <p:cNvSpPr txBox="1"/>
          <p:nvPr/>
        </p:nvSpPr>
        <p:spPr>
          <a:xfrm rot="0" flipH="0" flipV="0">
            <a:off x="8153400" y="5210175"/>
            <a:ext cx="3295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整张表的用法</a:t>
            </a:r>
            <a:endParaRPr/>
          </a:p>
        </p:txBody>
      </p:sp>
      <p:sp>
        <p:nvSpPr>
          <p:cNvPr id="1153" name="" descr="{&quot;isTemplate&quot;:true,&quot;type&quot;:&quot;text&quot;}"/>
          <p:cNvSpPr txBox="1"/>
          <p:nvPr/>
        </p:nvSpPr>
        <p:spPr>
          <a:xfrm rot="0" flipH="0" flipV="0">
            <a:off x="8153400" y="5381625"/>
            <a:ext cx="3295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评审时逐行打勾，空行不超过两行算合格</a:t>
            </a:r>
            <a:endParaRPr/>
          </a:p>
        </p:txBody>
      </p:sp>
      <p:sp>
        <p:nvSpPr>
          <p:cNvPr id="1154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55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1156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27 / 35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157" name="" descr="&lt;Slide style={{ width: 1280, height: 720, background: '#0F1423' }}&gt;&#10;  &lt;Box style={{ position: 'absolute', left: 0, top: 0, width: 1280, height: 720, background: 'linear-gradient(135deg, #0F1423 0%, #2A1810 100%)' }} /&gt;&#10;  &lt;Box style={{ position: 'absolute', right: 0, top: 0, width: 560, height: 720, background: 'linear-gradient(200deg, rgba(250,79,36,0.28) 0%, rgba(250,79,36,0) 70%)' }} /&gt;&#10;&#10;  &lt;Box style={{ position: 'absolute', right: 70, top: 110 }}&gt;&#10;    &lt;Text style={{ fontSize: 300, fontWeight: 'bold', color: 'rgba(255,255,255,0.08)', lineHeight: 1.0 }}&gt;03&lt;/Text&gt;&#10;  &lt;/Box&gt;&#10;&#10;  &lt;Box style={{ position: 'absolute', left: 88, top: 240, width: 760, flexDirection: 'column' }}&gt;&#10;    &lt;Text style={{ fontSize: 15, color: 'rgba(255,255,255,0.5)', letterSpacing: 3 }}&gt;PART 03&lt;/Text&gt;&#10;    &lt;Box style={{ width: 72, height: 5, background: '#FA4F24', marginTop: 22 }} /&gt;&#10;    &lt;Text style={{ fontSize: 56, fontWeight: 'bold', color: '#FFFFFF', marginTop: 28, lineHeight: 1.15 }}&gt;4A Y 模型&lt;/Text&gt;&#10;    &lt;Text style={{ fontSize: 17, color: 'rgba(255,255,255,0.62)', letterSpacing: 2, marginTop: 20 }}&gt;THE FOUR-A Y MODEL&lt;/Text&gt;&#10;    &lt;Text style={{ fontSize: 19, color: 'rgba(255,255,255,0.85)', marginTop: 26, lineHeight: 1.6 }}&gt;四面怎么排、怎么对齐、为什么必须收口到业务对象——以及 IA 与 DA 的口径差异&lt;/Text&gt;&#10;  &lt;/Box&gt;&#10;&#10;  &lt;Box style={{ position: 'absolute', left: 88, top: 520, flexDirection: 'row', gap: 34 }}&gt;&#10;    {[&#10;      { k: 'BA', v: '业务架构' },&#10;      { k: 'IA / DA', v: '信息（数据）架构' },&#10;      { k: 'AA', v: '应用架构' },&#10;      { k: 'TA', v: '技术架构' },&#10;      { k: 'Y', v: '收口：业务对象', c: '#FA4F24' }&#10;    ].map((x) =&gt; (&#10;      &lt;Box key={x.k} style={{ opacity: x.c ? 1 : 0.7 }}&gt;&#10;        &lt;Text style={{ fontSize: 13.5, color: x.c || '#FBA15C', fontWeight: 'bold' }}&gt;{x.k}&lt;/Text&gt;&#10;        &lt;Text style={{ fontSize: 12, color: 'rgba(255,255,255,0.8)', marginTop: 4 }}&gt;{x.v}&lt;/Text&gt;&#10;      &lt;/Box&gt;&#10;    ))}&#10;  &lt;/Box&gt;&#10;&#10;  &lt;Box style={{ position: 'absolute', right: 88, bottom: 64, flexDirection: 'row', alignItems: 'center', gap: 12 }}&gt;&#10;    &lt;Box style={{ width: 14, height: 14, background: '#FA4F24' }} /&gt;&#10;    &lt;Text style={{ fontSize: 14, color: 'rgba(255,255,255,0.5)' }}&gt;硕磐机密 · 华为数字化转型之道&lt;/Text&gt;&#10;    &lt;Text style={{ fontSize: 14, color: 'rgba(255,255,255,0.5)', marginLeft: 12 }}&gt;28 / 35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160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1161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162" name="" descr="{&quot;isTemplate&quot;:true,&quot;type&quot;:&quot;text&quot;}"/>
          <p:cNvSpPr txBox="1"/>
          <p:nvPr/>
        </p:nvSpPr>
        <p:spPr>
          <a:xfrm rot="0" flipH="0" flipV="0">
            <a:off x="838200" y="2286000"/>
            <a:ext cx="723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03</a:t>
            </a:r>
            <a:endParaRPr/>
          </a:p>
        </p:txBody>
      </p:sp>
      <p:sp>
        <p:nvSpPr>
          <p:cNvPr id="1163" name=""/>
          <p:cNvSpPr/>
          <p:nvPr/>
        </p:nvSpPr>
        <p:spPr>
          <a:xfrm rot="0" flipH="0" flipV="0">
            <a:off x="838200" y="26670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64" name="" descr="{&quot;isTemplate&quot;:true,&quot;type&quot;:&quot;text&quot;}"/>
          <p:cNvSpPr txBox="1"/>
          <p:nvPr/>
        </p:nvSpPr>
        <p:spPr>
          <a:xfrm rot="0" flipH="0" flipV="0">
            <a:off x="838200" y="2981325"/>
            <a:ext cx="72390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4A Y </a:t>
            </a: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模型</a:t>
            </a:r>
            <a:endParaRPr/>
          </a:p>
        </p:txBody>
      </p:sp>
      <p:sp>
        <p:nvSpPr>
          <p:cNvPr id="1165" name="" descr="{&quot;isTemplate&quot;:true,&quot;type&quot;:&quot;text&quot;}"/>
          <p:cNvSpPr txBox="1"/>
          <p:nvPr/>
        </p:nvSpPr>
        <p:spPr>
          <a:xfrm rot="0" flipH="0" flipV="0">
            <a:off x="838200" y="3914775"/>
            <a:ext cx="723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THE FOUR-A Y MODEL</a:t>
            </a:r>
            <a:endParaRPr/>
          </a:p>
        </p:txBody>
      </p:sp>
      <p:sp>
        <p:nvSpPr>
          <p:cNvPr id="1166" name="" descr="{&quot;isTemplate&quot;:true,&quot;type&quot;:&quot;text&quot;}"/>
          <p:cNvSpPr txBox="1"/>
          <p:nvPr/>
        </p:nvSpPr>
        <p:spPr>
          <a:xfrm rot="0" flipH="0" flipV="0">
            <a:off x="838200" y="4362450"/>
            <a:ext cx="72390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四面怎么排、怎么对齐、为什么必须收口到业务对象——以及</a:t>
            </a:r>
            <a:r>
              <a:rPr lang="en-US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IA </a:t>
            </a: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与</a:t>
            </a:r>
            <a:r>
              <a:rPr lang="en-US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DA </a:t>
            </a: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的口径差异</a:t>
            </a:r>
            <a:endParaRPr/>
          </a:p>
        </p:txBody>
      </p:sp>
      <p:sp>
        <p:nvSpPr>
          <p:cNvPr id="1167" name="" descr="{&quot;isTemplate&quot;:true,&quot;type&quot;:&quot;text&quot;}"/>
          <p:cNvSpPr txBox="1"/>
          <p:nvPr/>
        </p:nvSpPr>
        <p:spPr>
          <a:xfrm rot="0" flipH="0" flipV="0">
            <a:off x="4419600" y="49530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A4F24"/>
                </a:solidFill>
                <a:latin typeface="Microsoft YaHei"/>
                <a:ea typeface="Microsoft YaHei"/>
              </a:rPr>
              <a:t>Y</a:t>
            </a:r>
            <a:endParaRPr/>
          </a:p>
        </p:txBody>
      </p:sp>
      <p:sp>
        <p:nvSpPr>
          <p:cNvPr id="1168" name="" descr="{&quot;isTemplate&quot;:true,&quot;type&quot;:&quot;text&quot;}"/>
          <p:cNvSpPr txBox="1"/>
          <p:nvPr/>
        </p:nvSpPr>
        <p:spPr>
          <a:xfrm rot="0" flipH="0" flipV="0">
            <a:off x="4419600" y="5153025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收口：业务对象</a:t>
            </a:r>
            <a:endParaRPr/>
          </a:p>
        </p:txBody>
      </p:sp>
      <p:sp>
        <p:nvSpPr>
          <p:cNvPr id="1169" name="" descr="{&quot;isTemplate&quot;:true,&quot;type&quot;:&quot;text&quot;}"/>
          <p:cNvSpPr txBox="1"/>
          <p:nvPr/>
        </p:nvSpPr>
        <p:spPr>
          <a:xfrm rot="0" flipH="0" flipV="0">
            <a:off x="838200" y="49530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BA15C">
                    <a:alpha val="70000"/>
                  </a:srgbClr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1170" name="" descr="{&quot;isTemplate&quot;:true,&quot;type&quot;:&quot;text&quot;}"/>
          <p:cNvSpPr txBox="1"/>
          <p:nvPr/>
        </p:nvSpPr>
        <p:spPr>
          <a:xfrm rot="0" flipH="0" flipV="0">
            <a:off x="838200" y="51530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6000"/>
                  </a:srgbClr>
                </a:solidFill>
                <a:latin typeface="Microsoft YaHei"/>
                <a:ea typeface="Microsoft YaHei"/>
              </a:rPr>
              <a:t>业务架构</a:t>
            </a:r>
            <a:endParaRPr/>
          </a:p>
        </p:txBody>
      </p:sp>
      <p:sp>
        <p:nvSpPr>
          <p:cNvPr id="1171" name="" descr="{&quot;isTemplate&quot;:true,&quot;type&quot;:&quot;text&quot;}"/>
          <p:cNvSpPr txBox="1"/>
          <p:nvPr/>
        </p:nvSpPr>
        <p:spPr>
          <a:xfrm rot="0" flipH="0" flipV="0">
            <a:off x="1619250" y="49530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BA15C">
                    <a:alpha val="70000"/>
                  </a:srgbClr>
                </a:solidFill>
                <a:latin typeface="Microsoft YaHei"/>
                <a:ea typeface="Microsoft YaHei"/>
              </a:rPr>
              <a:t>IA / DA</a:t>
            </a:r>
            <a:endParaRPr/>
          </a:p>
        </p:txBody>
      </p:sp>
      <p:sp>
        <p:nvSpPr>
          <p:cNvPr id="1172" name="" descr="{&quot;isTemplate&quot;:true,&quot;type&quot;:&quot;text&quot;}"/>
          <p:cNvSpPr txBox="1"/>
          <p:nvPr/>
        </p:nvSpPr>
        <p:spPr>
          <a:xfrm rot="0" flipH="0" flipV="0">
            <a:off x="1619250" y="5153025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6000"/>
                  </a:srgbClr>
                </a:solidFill>
                <a:latin typeface="Microsoft YaHei"/>
                <a:ea typeface="Microsoft YaHei"/>
              </a:rPr>
              <a:t>信息（数据）架构</a:t>
            </a:r>
            <a:endParaRPr/>
          </a:p>
        </p:txBody>
      </p:sp>
      <p:sp>
        <p:nvSpPr>
          <p:cNvPr id="1173" name="" descr="{&quot;isTemplate&quot;:true,&quot;type&quot;:&quot;text&quot;}"/>
          <p:cNvSpPr txBox="1"/>
          <p:nvPr/>
        </p:nvSpPr>
        <p:spPr>
          <a:xfrm rot="0" flipH="0" flipV="0">
            <a:off x="2857500" y="49530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BA15C">
                    <a:alpha val="70000"/>
                  </a:srgbClr>
                </a:solidFill>
                <a:latin typeface="Microsoft YaHei"/>
                <a:ea typeface="Microsoft YaHei"/>
              </a:rPr>
              <a:t>AA</a:t>
            </a:r>
            <a:endParaRPr/>
          </a:p>
        </p:txBody>
      </p:sp>
      <p:sp>
        <p:nvSpPr>
          <p:cNvPr id="1174" name="" descr="{&quot;isTemplate&quot;:true,&quot;type&quot;:&quot;text&quot;}"/>
          <p:cNvSpPr txBox="1"/>
          <p:nvPr/>
        </p:nvSpPr>
        <p:spPr>
          <a:xfrm rot="0" flipH="0" flipV="0">
            <a:off x="2857500" y="51530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6000"/>
                  </a:srgbClr>
                </a:solidFill>
                <a:latin typeface="Microsoft YaHei"/>
                <a:ea typeface="Microsoft YaHei"/>
              </a:rPr>
              <a:t>应用架构</a:t>
            </a:r>
            <a:endParaRPr/>
          </a:p>
        </p:txBody>
      </p:sp>
      <p:sp>
        <p:nvSpPr>
          <p:cNvPr id="1175" name="" descr="{&quot;isTemplate&quot;:true,&quot;type&quot;:&quot;text&quot;}"/>
          <p:cNvSpPr txBox="1"/>
          <p:nvPr/>
        </p:nvSpPr>
        <p:spPr>
          <a:xfrm rot="0" flipH="0" flipV="0">
            <a:off x="3638550" y="49530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BA15C">
                    <a:alpha val="70000"/>
                  </a:srgbClr>
                </a:solidFill>
                <a:latin typeface="Microsoft YaHei"/>
                <a:ea typeface="Microsoft YaHei"/>
              </a:rPr>
              <a:t>TA</a:t>
            </a:r>
            <a:endParaRPr/>
          </a:p>
        </p:txBody>
      </p:sp>
      <p:sp>
        <p:nvSpPr>
          <p:cNvPr id="1176" name="" descr="{&quot;isTemplate&quot;:true,&quot;type&quot;:&quot;text&quot;}"/>
          <p:cNvSpPr txBox="1"/>
          <p:nvPr/>
        </p:nvSpPr>
        <p:spPr>
          <a:xfrm rot="0" flipH="0" flipV="0">
            <a:off x="3638550" y="51530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6000"/>
                  </a:srgbClr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1177" name=""/>
          <p:cNvSpPr/>
          <p:nvPr/>
        </p:nvSpPr>
        <p:spPr>
          <a:xfrm rot="0" flipH="0" flipV="0">
            <a:off x="8572500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78" name="" descr="{&quot;isTemplate&quot;:true,&quot;type&quot;:&quot;text&quot;}"/>
          <p:cNvSpPr txBox="1"/>
          <p:nvPr/>
        </p:nvSpPr>
        <p:spPr>
          <a:xfrm rot="0" flipH="0" flipV="0">
            <a:off x="8820150" y="60864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1179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28 / 35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180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4A &lt;span style={{ color: '#FA4F24' }}&gt;Y 模型&lt;/span&gt;全景：为什么必须收口到业务对象&#10;        &lt;/Text&gt;&#10;        &lt;Text style={{ fontSize: 20, color: '#8A8F99', marginTop: 8 }}&gt;&#10;            Y 的上半身是业务往下拆，下半身是数据往上收，两条线在「业务对象」这个点上交汇——不交汇，四 A 就各画各的&#10;        &lt;/Text&gt;&#10;    &lt;/Box&gt;&#10;    &lt;Box style={{ height: 1, background: '#E8E8E8' }} /&gt;&#10;&#10;    {/* B 区 */}&#10;    &lt;Box style={{ paddingTop: 12, paddingBottom: 8, height: 479, flexDirection: 'column', gap: 7 }}&gt;&#10;&#10;        {/* 左：三段式 Y 形 */}&#10;        &lt;Box style={{ flex: 1, flexDirection: 'row', gap: 10 }}&gt;&#10;&#10;            {/* 上半身 BA */}&#10;            &lt;Box style={{ width: 296, background: '#F7F7F8', borderRadius: 4, padding: '11px 13px', flexDirection: 'column' }}&gt;&#10;                &lt;Box style={{ flexDirection: 'row', alignItems: 'center', gap: 7 }}&gt;&#10;                    &lt;Box style={{ width: 30, height: 20, background: '#FA4F24', borderRadius: 2, alignItems: 'center', justifyContent: 'center' }}&gt;&#10;                        &lt;Text style={{ fontSize: 10.5, fontWeight: 'bold', color: '#FFFFFF' }}&gt;BA&lt;/Text&gt;&#10;                    &lt;/Box&gt;&#10;                    &lt;Text style={{ fontSize: 13.5, fontWeight: 'bold', color: '#0F1423' }}&gt;业务架构（上半身）&lt;/Text&gt;&#10;                &lt;/Box&gt;&#10;                &lt;Box style={{ flex: 1, flexDirection: 'column', gap: 5, marginTop: 9 }}&gt;&#10;                    {[&#10;                        { n: '1', t: '价值流', d: 'LTC / IPD / ITR 等端到端' },&#10;                        { n: '2', t: '业务能力', d: '价值流分解出的能力清单' },&#10;                        { n: '3', t: '业务活动', d: '能力落成的具体活动' },&#10;                    ].map((x) =&gt; (&#10;                        &lt;Box key={x.n} style={{ flex: 1, background: '#FFFFFF', borderRadius: 2, borderLeft: '3px solid #FA4F24', padding: '0 10px', flexDirection: 'column', justifyContent: 'center' }}&gt;&#10;                            &lt;Text style={{ fontSize: 12, fontWeight: 'bold', color: '#FA4F24' }}&gt;{x.n}. {x.t}&lt;/Text&gt;&#10;                            &lt;Text style={{ fontSize: 10.5, color: '#5A6070', marginTop: 2 }}&gt;{x.d}&lt;/Text&gt;&#10;                        &lt;/Box&gt;&#10;                    ))}&#10;                    &lt;Box style={{ height: 34, background: '#FA4F24', borderRadius: 2, flexDirection: 'row', alignItems: 'center', justifyContent: 'center' }}&gt;&#10;                        &lt;Text style={{ fontSize: 12.5, fontWeight: 'bold', color: '#FFFFFF' }}&gt;↓ 拆到业务对象为止&lt;/Text&gt;&#10;                    &lt;/Box&gt;&#10;                &lt;/Box&gt;&#10;            &lt;/Box&gt;&#10;&#10;            {/* 中间收口 */}&#10;            &lt;Box style={{ width: 322, flexDirection: 'column', gap: 7 }}&gt;&#10;                &lt;Box style={{ height: 92, background: '#0F1423', borderRadius: 4, flexDirection: 'column', alignItems: 'center', justifyContent: 'center', padding: '0 16px' }}&gt;&#10;                    &lt;Text style={{ fontSize: 26, fontWeight: 'bold', color: '#FA4F24' }}&gt;业务对象&lt;/Text&gt;&#10;                    &lt;Text style={{ fontSize: 11.5, color: 'rgba(255,255,255,0.82)', marginTop: 7, textAlign: 'center', lineHeight: 1.4 }}&gt;连接 BA 与IA/DA 的桥梁，也是整个 Y 的收口点&lt;/Text&gt;&#10;                &lt;/Box&gt;&#10;                &lt;Box style={{ flex: 1, flexDirection: 'column', gap: 6 }}&gt;&#10;                    {[&#10;                        { a: 'AA', t: '应用架构', r: '通过业务服务收口到业务对象', c: '#D2531A' },&#10;                        { a: 'IA/DA', t: '信息架构', r: '通过数据实体收口到业务对象', c: '#E0641E' },&#10;                    ].map((x) =&gt; (&#10;                        &lt;Box key={x.a} style={{ flex: 1, background: '#F7F7F8', borderRadius: 3, borderLeft: '4px solid ' + x.c, padding: '0 13px', flexDirection: 'column', justifyContent: 'center' }}&gt;&#10;                            &lt;Box style={{ flexDirection: 'row', alignItems: 'center', gap: 7 }}&gt;&#10;                                &lt;Text style={{ fontSize: 13.5, fontWeight: 'bold', color: x.c }}&gt;{x.a}&lt;/Text&gt;&#10;                                &lt;Text style={{ fontSize: 12.5, color: '#0F1423', fontWeight: 'bold' }}&gt;{x.t}&lt;/Text&gt;&#10;                            &lt;/Box&gt;&#10;                            &lt;Text style={{ fontSize: 10.5, color: '#5A6070', marginTop: 4 }}&gt;{x.r}&lt;/Text&gt;&#10;                        &lt;/Box&gt;&#10;                    ))}&#10;                &lt;/Box&gt;&#10;            &lt;/Box&gt;&#10;&#10;            {/* 下半身 IA/DA + TA */}&#10;            &lt;Box style={{ flex: 1, flexDirection: 'column', gap: 7 }}&gt;&#10;                &lt;Box style={{ height: 132, background: '#F7F7F8', borderRadius: 4, padding: '11px 13px', flexDirection: 'column' }}&gt;&#10;                    &lt;Box style={{ flexDirection: 'row', alignItems: 'center', gap: 7 }}&gt;&#10;                        &lt;Box style={{ width: 44, height: 20, background: '#E0641E', borderRadius: 2, alignItems: 'center', justifyContent: 'center' }}&gt;&#10;                            &lt;Text style={{ fontSize: 10, fontWeight: 'bold', color: '#FFFFFF' }}&gt;IA/DA&lt;/Text&gt;&#10;                        &lt;/Box&gt;&#10;                        &lt;Text style={{ fontSize: 13, fontWeight: 'bold', color: '#0F1423' }}&gt;信息架构（下半身）&lt;/Text&gt;&#10;                    &lt;/Box&gt;&#10;                    &lt;Box style={{ flex: 1, flexDirection: 'row', gap: 5, marginTop: 9 }}&gt;&#10;                        {['概念模型', '逻辑模型', '物理模型'].map((t, i) =&gt; (&#10;                            &lt;Box key={t} style={{ flex: 1, background: '#FFFFFF', borderRadius: 2, flexDirection: 'column', alignItems: 'center', justifyContent: 'center', gap: 3 }}&gt;&#10;                                &lt;Text style={{ fontSize: 11.5, fontWeight: 'bold', color: '#E0641E' }}&gt;{t}&lt;/Text&gt;&#10;                                &lt;Text style={{ fontSize: 9.5, color: '#8A8F99', textAlign: 'center', lineHeight: 1.3 }}&gt;&#10;                                    {['识别主体', '定义主键', '具现化'][i]}&#10;                                &lt;/Text&gt;&#10;                            &lt;/Box&gt;&#10;                        ))}&#10;                    &lt;/Box&gt;&#10;                    &lt;Text style={{ fontSize: 10.5, color: '#5A6070', marginTop: 8 }}&gt;对象 → 数据实体 → 表结构，一步不落&lt;/Text&gt;&#10;                &lt;/Box&gt;&#10;                &lt;Box style={{ flex: 1, background: '#0F1423', borderRadius: 4, padding: '11px 15px', flexDirection: 'column', justifyContent: 'center' }}&gt;&#10;                    &lt;Box style={{ flexDirection: 'row', alignItems: 'center', gap: 7 }}&gt;&#10;                        &lt;Box style={{ width: 30, height: 20, background: '#C43A17', borderRadius: 2, alignItems: 'center', justifyContent: 'center' }}&gt;&#10;                            &lt;Text style={{ fontSize: 10.5, fontWeight: 'bold', color: '#FFFFFF' }}&gt;TA&lt;/Text&gt;&#10;                        &lt;/Box&gt;&#10;                        &lt;Text style={{ fontSize: 13.5, fontWeight: 'bold', color: '#FFFFFF' }}&gt;技术架构（贯穿托底）&lt;/Text&gt;&#10;                    &lt;/Box&gt;&#10;                    &lt;Text style={{ fontSize: 11, color: 'rgba(255,255,255,0.82)', lineHeight: 1.45, marginTop: 8 }}&gt;&#10;                        组件选型 · 部署模型 · 安全设计 · 运营设计 · DFX—— 支撑上面三层跑得动、扛得住&#10;                    &lt;/Text&gt;&#10;                &lt;/Box&gt;&#10;            &lt;/Box&gt;&#10;        &lt;/Box&gt;&#10;&#10;        {/* 底部三句 */}&#10;        &lt;Box style={{ height: 46, flexDirection: 'row', gap: 7 }}&gt;&#10;            {[&#10;                { k: '上半身：从外而内', v: '价值流 → 能力 → 活动 → 对象', c: '#FA4F24', dark: false },&#10;                { k: '下半身：从内而上', v: '对象 → 数据实体 → 表结构', c: '#E0641E', dark: false },&#10;                { k: 'TA：贯穿托底', v: '不参与拆分，但决定这一切能不能真跑', c: '#C43A17', dark: true },&#10;            ].map((x) =&gt; (&#10;                &lt;Box key={x.k} style={{ flex: 1, background: x.dark ? '#0F1423' : '#F7F7F8', borderLeft: '4px solid ' + x.c, borderRadius: 3, padding: '0 13px', flexDirection: 'column', justifyContent: 'center' }}&gt;&#10;                    &lt;Text style={{ fontSize: 12, fontWeight: 'bold', color: x.dark ? '#FBA15C' : x.c }}&gt;{x.k}&lt;/Text&gt;&#10;                    &lt;Text style={{ fontSize: 11, color: x.dark ? 'rgba(255,255,255,0.85)' : '#5A6070', marginTop: 3 }}&gt;{x.v}&lt;/Text&gt;&#10;                &lt;/Box&gt;&#10;            ))}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华为数字化转型之道&lt;/Text&gt;&#10;        &lt;/Box&gt;&#10;        &lt;Text style={{ fontSize: 14, color: '#8A8F99' }}&gt;29 / 3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8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4A 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Y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模型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全景：为什么必须收口到业务对象</a:t>
            </a:r>
            <a:endParaRPr/>
          </a:p>
        </p:txBody>
      </p:sp>
      <p:sp>
        <p:nvSpPr>
          <p:cNvPr id="118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Y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的上半身是业务往下拆，下半身是数据往上收，两条线在「业务对象」这个点上交汇——不交汇，四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就各画各的</a:t>
            </a:r>
            <a:endParaRPr/>
          </a:p>
        </p:txBody>
      </p:sp>
      <p:sp>
        <p:nvSpPr>
          <p:cNvPr id="118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85" name=""/>
          <p:cNvSpPr/>
          <p:nvPr/>
        </p:nvSpPr>
        <p:spPr>
          <a:xfrm rot="0" flipH="0" flipV="0">
            <a:off x="609600" y="1266825"/>
            <a:ext cx="2819400" cy="3867150"/>
          </a:xfrm>
          <a:prstGeom prst="roundRect">
            <a:avLst>
              <a:gd name="adj" fmla="val 135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86" name=""/>
          <p:cNvSpPr/>
          <p:nvPr/>
        </p:nvSpPr>
        <p:spPr>
          <a:xfrm rot="0" flipH="0" flipV="0">
            <a:off x="733425" y="1371600"/>
            <a:ext cx="285750" cy="190500"/>
          </a:xfrm>
          <a:prstGeom prst="roundRect">
            <a:avLst>
              <a:gd name="adj" fmla="val 1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87" name="" descr="{&quot;isTemplate&quot;:true,&quot;type&quot;:&quot;text&quot;}"/>
          <p:cNvSpPr txBox="1"/>
          <p:nvPr/>
        </p:nvSpPr>
        <p:spPr>
          <a:xfrm rot="0" flipH="0" flipV="0">
            <a:off x="800100" y="1409700"/>
            <a:ext cx="1524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FFFFF"/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1188" name="" descr="{&quot;isTemplate&quot;:true,&quot;type&quot;:&quot;text&quot;}"/>
          <p:cNvSpPr txBox="1"/>
          <p:nvPr/>
        </p:nvSpPr>
        <p:spPr>
          <a:xfrm rot="0" flipH="0" flipV="0">
            <a:off x="1085850" y="139065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业务架构（上半身）</a:t>
            </a:r>
            <a:endParaRPr/>
          </a:p>
        </p:txBody>
      </p:sp>
      <p:sp>
        <p:nvSpPr>
          <p:cNvPr id="1189" name=""/>
          <p:cNvSpPr/>
          <p:nvPr/>
        </p:nvSpPr>
        <p:spPr>
          <a:xfrm rot="0" flipH="0" flipV="0">
            <a:off x="762000" y="1647825"/>
            <a:ext cx="2571750" cy="97155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90" name=""/>
          <p:cNvSpPr/>
          <p:nvPr/>
        </p:nvSpPr>
        <p:spPr>
          <a:xfrm rot="0" flipH="0" flipV="0">
            <a:off x="762000" y="1647825"/>
            <a:ext cx="2571750" cy="971550"/>
          </a:xfrm>
          <a:custGeom>
            <a:pathLst>
              <a:path w="270" h="102">
                <a:moveTo>
                  <a:pt x="3" y="102"/>
                </a:moveTo>
                <a:cubicBezTo>
                  <a:pt x="2" y="102"/>
                  <a:pt x="1" y="102"/>
                  <a:pt x="1" y="102"/>
                </a:cubicBezTo>
                <a:cubicBezTo>
                  <a:pt x="0" y="101"/>
                  <a:pt x="0" y="101"/>
                  <a:pt x="0" y="100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lnTo>
                  <a:pt x="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91" name="" descr="{&quot;isTemplate&quot;:true,&quot;type&quot;:&quot;text&quot;}"/>
          <p:cNvSpPr txBox="1"/>
          <p:nvPr/>
        </p:nvSpPr>
        <p:spPr>
          <a:xfrm rot="0" flipH="0" flipV="0">
            <a:off x="857250" y="1990725"/>
            <a:ext cx="2352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1</a:t>
            </a: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. </a:t>
            </a: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价值流</a:t>
            </a:r>
            <a:endParaRPr/>
          </a:p>
        </p:txBody>
      </p:sp>
      <p:sp>
        <p:nvSpPr>
          <p:cNvPr id="1192" name="" descr="{&quot;isTemplate&quot;:true,&quot;type&quot;:&quot;text&quot;}"/>
          <p:cNvSpPr txBox="1"/>
          <p:nvPr/>
        </p:nvSpPr>
        <p:spPr>
          <a:xfrm rot="0" flipH="0" flipV="0">
            <a:off x="857250" y="2152650"/>
            <a:ext cx="23526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5A6070"/>
                </a:solidFill>
                <a:latin typeface="Microsoft YaHei"/>
                <a:ea typeface="Microsoft YaHei"/>
              </a:rPr>
              <a:t xml:space="preserve">LTC / IPD / ITR </a:t>
            </a: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等端到端</a:t>
            </a:r>
            <a:endParaRPr/>
          </a:p>
        </p:txBody>
      </p:sp>
      <p:sp>
        <p:nvSpPr>
          <p:cNvPr id="1193" name=""/>
          <p:cNvSpPr/>
          <p:nvPr/>
        </p:nvSpPr>
        <p:spPr>
          <a:xfrm rot="0" flipH="0" flipV="0">
            <a:off x="762000" y="2667000"/>
            <a:ext cx="2571750" cy="97155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94" name=""/>
          <p:cNvSpPr/>
          <p:nvPr/>
        </p:nvSpPr>
        <p:spPr>
          <a:xfrm rot="0" flipH="0" flipV="0">
            <a:off x="762000" y="2667000"/>
            <a:ext cx="2571750" cy="971550"/>
          </a:xfrm>
          <a:custGeom>
            <a:pathLst>
              <a:path w="270" h="102">
                <a:moveTo>
                  <a:pt x="3" y="102"/>
                </a:moveTo>
                <a:cubicBezTo>
                  <a:pt x="2" y="102"/>
                  <a:pt x="1" y="102"/>
                  <a:pt x="1" y="102"/>
                </a:cubicBezTo>
                <a:cubicBezTo>
                  <a:pt x="0" y="101"/>
                  <a:pt x="0" y="101"/>
                  <a:pt x="0" y="100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lnTo>
                  <a:pt x="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95" name="" descr="{&quot;isTemplate&quot;:true,&quot;type&quot;:&quot;text&quot;}"/>
          <p:cNvSpPr txBox="1"/>
          <p:nvPr/>
        </p:nvSpPr>
        <p:spPr>
          <a:xfrm rot="0" flipH="0" flipV="0">
            <a:off x="857250" y="3009900"/>
            <a:ext cx="2352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2</a:t>
            </a: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. </a:t>
            </a: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业务能力</a:t>
            </a:r>
            <a:endParaRPr/>
          </a:p>
        </p:txBody>
      </p:sp>
      <p:sp>
        <p:nvSpPr>
          <p:cNvPr id="1196" name="" descr="{&quot;isTemplate&quot;:true,&quot;type&quot;:&quot;text&quot;}"/>
          <p:cNvSpPr txBox="1"/>
          <p:nvPr/>
        </p:nvSpPr>
        <p:spPr>
          <a:xfrm rot="0" flipH="0" flipV="0">
            <a:off x="857250" y="3171825"/>
            <a:ext cx="23526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价值流分解出的能力清单</a:t>
            </a:r>
            <a:endParaRPr/>
          </a:p>
        </p:txBody>
      </p:sp>
      <p:sp>
        <p:nvSpPr>
          <p:cNvPr id="1197" name=""/>
          <p:cNvSpPr/>
          <p:nvPr/>
        </p:nvSpPr>
        <p:spPr>
          <a:xfrm rot="0" flipH="0" flipV="0">
            <a:off x="762000" y="3686175"/>
            <a:ext cx="2571750" cy="97155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98" name=""/>
          <p:cNvSpPr/>
          <p:nvPr/>
        </p:nvSpPr>
        <p:spPr>
          <a:xfrm rot="0" flipH="0" flipV="0">
            <a:off x="762000" y="3686175"/>
            <a:ext cx="2571750" cy="971550"/>
          </a:xfrm>
          <a:custGeom>
            <a:pathLst>
              <a:path w="270" h="102">
                <a:moveTo>
                  <a:pt x="3" y="102"/>
                </a:moveTo>
                <a:cubicBezTo>
                  <a:pt x="2" y="102"/>
                  <a:pt x="1" y="102"/>
                  <a:pt x="1" y="102"/>
                </a:cubicBezTo>
                <a:cubicBezTo>
                  <a:pt x="0" y="101"/>
                  <a:pt x="0" y="101"/>
                  <a:pt x="0" y="100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lnTo>
                  <a:pt x="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99" name="" descr="{&quot;isTemplate&quot;:true,&quot;type&quot;:&quot;text&quot;}"/>
          <p:cNvSpPr txBox="1"/>
          <p:nvPr/>
        </p:nvSpPr>
        <p:spPr>
          <a:xfrm rot="0" flipH="0" flipV="0">
            <a:off x="857250" y="4029075"/>
            <a:ext cx="2352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3</a:t>
            </a: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. </a:t>
            </a: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业务活动</a:t>
            </a:r>
            <a:endParaRPr/>
          </a:p>
        </p:txBody>
      </p:sp>
      <p:sp>
        <p:nvSpPr>
          <p:cNvPr id="1200" name="" descr="{&quot;isTemplate&quot;:true,&quot;type&quot;:&quot;text&quot;}"/>
          <p:cNvSpPr txBox="1"/>
          <p:nvPr/>
        </p:nvSpPr>
        <p:spPr>
          <a:xfrm rot="0" flipH="0" flipV="0">
            <a:off x="857250" y="4191000"/>
            <a:ext cx="23526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能力落成的具体活动</a:t>
            </a:r>
            <a:endParaRPr/>
          </a:p>
        </p:txBody>
      </p:sp>
      <p:sp>
        <p:nvSpPr>
          <p:cNvPr id="1201" name=""/>
          <p:cNvSpPr/>
          <p:nvPr/>
        </p:nvSpPr>
        <p:spPr>
          <a:xfrm rot="0" flipH="0" flipV="0">
            <a:off x="733425" y="4705350"/>
            <a:ext cx="2571750" cy="323850"/>
          </a:xfrm>
          <a:prstGeom prst="roundRect">
            <a:avLst>
              <a:gd name="adj" fmla="val 5882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02" name="" descr="{&quot;isTemplate&quot;:true,&quot;type&quot;:&quot;text&quot;}"/>
          <p:cNvSpPr txBox="1"/>
          <p:nvPr/>
        </p:nvSpPr>
        <p:spPr>
          <a:xfrm rot="0" flipH="0" flipV="0">
            <a:off x="1495425" y="4800600"/>
            <a:ext cx="1047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↓ </a:t>
            </a: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拆到业务对象为止</a:t>
            </a:r>
            <a:endParaRPr/>
          </a:p>
        </p:txBody>
      </p:sp>
      <p:sp>
        <p:nvSpPr>
          <p:cNvPr id="1203" name=""/>
          <p:cNvSpPr/>
          <p:nvPr/>
        </p:nvSpPr>
        <p:spPr>
          <a:xfrm rot="0" flipH="0" flipV="0">
            <a:off x="3524250" y="1266825"/>
            <a:ext cx="3067050" cy="876300"/>
          </a:xfrm>
          <a:prstGeom prst="roundRect">
            <a:avLst>
              <a:gd name="adj" fmla="val 434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04" name="" descr="{&quot;isTemplate&quot;:true,&quot;type&quot;:&quot;text&quot;}"/>
          <p:cNvSpPr txBox="1"/>
          <p:nvPr/>
        </p:nvSpPr>
        <p:spPr>
          <a:xfrm rot="0" flipH="0" flipV="0">
            <a:off x="4562475" y="1428750"/>
            <a:ext cx="990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A4F24"/>
                </a:solidFill>
                <a:latin typeface="Microsoft YaHei"/>
                <a:ea typeface="Microsoft YaHei"/>
              </a:rPr>
              <a:t>业务对象</a:t>
            </a:r>
            <a:endParaRPr/>
          </a:p>
        </p:txBody>
      </p:sp>
      <p:sp>
        <p:nvSpPr>
          <p:cNvPr id="1205" name="" descr="{&quot;isTemplate&quot;:true,&quot;type&quot;:&quot;text&quot;}"/>
          <p:cNvSpPr txBox="1"/>
          <p:nvPr/>
        </p:nvSpPr>
        <p:spPr>
          <a:xfrm rot="0" flipH="0" flipV="0">
            <a:off x="3895725" y="1800225"/>
            <a:ext cx="2333625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连接</a:t>
            </a: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BA </a:t>
            </a: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与</a:t>
            </a: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IA/DA </a:t>
            </a: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的桥梁，也是整个</a:t>
            </a: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Y </a:t>
            </a: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的收口点</a:t>
            </a:r>
            <a:endParaRPr/>
          </a:p>
        </p:txBody>
      </p:sp>
      <p:sp>
        <p:nvSpPr>
          <p:cNvPr id="1206" name=""/>
          <p:cNvSpPr/>
          <p:nvPr/>
        </p:nvSpPr>
        <p:spPr>
          <a:xfrm rot="0" flipH="0" flipV="0">
            <a:off x="3562350" y="2209800"/>
            <a:ext cx="3067050" cy="1438275"/>
          </a:xfrm>
          <a:prstGeom prst="roundRect">
            <a:avLst>
              <a:gd name="adj" fmla="val 198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07" name=""/>
          <p:cNvSpPr/>
          <p:nvPr/>
        </p:nvSpPr>
        <p:spPr>
          <a:xfrm rot="0" flipH="0" flipV="0">
            <a:off x="3562350" y="2209800"/>
            <a:ext cx="3067050" cy="1438275"/>
          </a:xfrm>
          <a:custGeom>
            <a:pathLst>
              <a:path w="322" h="151">
                <a:moveTo>
                  <a:pt x="4" y="151"/>
                </a:moveTo>
                <a:cubicBezTo>
                  <a:pt x="3" y="151"/>
                  <a:pt x="2" y="151"/>
                  <a:pt x="1" y="150"/>
                </a:cubicBezTo>
                <a:cubicBezTo>
                  <a:pt x="0" y="149"/>
                  <a:pt x="0" y="149"/>
                  <a:pt x="0" y="14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D2531A"/>
          </a:solidFill>
          <a:ln/>
        </p:spPr>
        <p:txBody>
          <a:bodyPr/>
          <a:p/>
        </p:txBody>
      </p:sp>
      <p:sp>
        <p:nvSpPr>
          <p:cNvPr id="1208" name="" descr="{&quot;isTemplate&quot;:true,&quot;type&quot;:&quot;text&quot;}"/>
          <p:cNvSpPr txBox="1"/>
          <p:nvPr/>
        </p:nvSpPr>
        <p:spPr>
          <a:xfrm rot="0" flipH="0" flipV="0">
            <a:off x="3686175" y="2771775"/>
            <a:ext cx="200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D2531A"/>
                </a:solidFill>
                <a:latin typeface="Microsoft YaHei"/>
                <a:ea typeface="Microsoft YaHei"/>
              </a:rPr>
              <a:t>AA</a:t>
            </a:r>
            <a:endParaRPr/>
          </a:p>
        </p:txBody>
      </p:sp>
      <p:sp>
        <p:nvSpPr>
          <p:cNvPr id="1209" name="" descr="{&quot;isTemplate&quot;:true,&quot;type&quot;:&quot;text&quot;}"/>
          <p:cNvSpPr txBox="1"/>
          <p:nvPr/>
        </p:nvSpPr>
        <p:spPr>
          <a:xfrm rot="0" flipH="0" flipV="0">
            <a:off x="3952875" y="2781300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应用架构</a:t>
            </a:r>
            <a:endParaRPr/>
          </a:p>
        </p:txBody>
      </p:sp>
      <p:sp>
        <p:nvSpPr>
          <p:cNvPr id="1210" name="" descr="{&quot;isTemplate&quot;:true,&quot;type&quot;:&quot;text&quot;}"/>
          <p:cNvSpPr txBox="1"/>
          <p:nvPr/>
        </p:nvSpPr>
        <p:spPr>
          <a:xfrm rot="0" flipH="0" flipV="0">
            <a:off x="3686175" y="2971800"/>
            <a:ext cx="2781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通过业务服务收口到业务对象</a:t>
            </a:r>
            <a:endParaRPr/>
          </a:p>
        </p:txBody>
      </p:sp>
      <p:sp>
        <p:nvSpPr>
          <p:cNvPr id="1211" name=""/>
          <p:cNvSpPr/>
          <p:nvPr/>
        </p:nvSpPr>
        <p:spPr>
          <a:xfrm rot="0" flipH="0" flipV="0">
            <a:off x="3562350" y="3705225"/>
            <a:ext cx="3067050" cy="1428750"/>
          </a:xfrm>
          <a:prstGeom prst="roundRect">
            <a:avLst>
              <a:gd name="adj" fmla="val 2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12" name=""/>
          <p:cNvSpPr/>
          <p:nvPr/>
        </p:nvSpPr>
        <p:spPr>
          <a:xfrm rot="0" flipH="0" flipV="0">
            <a:off x="3562350" y="3705225"/>
            <a:ext cx="3067050" cy="1428750"/>
          </a:xfrm>
          <a:custGeom>
            <a:pathLst>
              <a:path w="322" h="150">
                <a:moveTo>
                  <a:pt x="4" y="150"/>
                </a:moveTo>
                <a:cubicBezTo>
                  <a:pt x="3" y="150"/>
                  <a:pt x="2" y="150"/>
                  <a:pt x="1" y="149"/>
                </a:cubicBezTo>
                <a:cubicBezTo>
                  <a:pt x="0" y="148"/>
                  <a:pt x="0" y="148"/>
                  <a:pt x="0" y="14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1213" name="" descr="{&quot;isTemplate&quot;:true,&quot;type&quot;:&quot;text&quot;}"/>
          <p:cNvSpPr txBox="1"/>
          <p:nvPr/>
        </p:nvSpPr>
        <p:spPr>
          <a:xfrm rot="0" flipH="0" flipV="0">
            <a:off x="3686175" y="42576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E0641E"/>
                </a:solidFill>
                <a:latin typeface="Microsoft YaHei"/>
                <a:ea typeface="Microsoft YaHei"/>
              </a:rPr>
              <a:t>IA/DA</a:t>
            </a:r>
            <a:endParaRPr/>
          </a:p>
        </p:txBody>
      </p:sp>
      <p:sp>
        <p:nvSpPr>
          <p:cNvPr id="1214" name="" descr="{&quot;isTemplate&quot;:true,&quot;type&quot;:&quot;text&quot;}"/>
          <p:cNvSpPr txBox="1"/>
          <p:nvPr/>
        </p:nvSpPr>
        <p:spPr>
          <a:xfrm rot="0" flipH="0" flipV="0">
            <a:off x="4152900" y="4267200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信息架构</a:t>
            </a:r>
            <a:endParaRPr/>
          </a:p>
        </p:txBody>
      </p:sp>
      <p:sp>
        <p:nvSpPr>
          <p:cNvPr id="1215" name="" descr="{&quot;isTemplate&quot;:true,&quot;type&quot;:&quot;text&quot;}"/>
          <p:cNvSpPr txBox="1"/>
          <p:nvPr/>
        </p:nvSpPr>
        <p:spPr>
          <a:xfrm rot="0" flipH="0" flipV="0">
            <a:off x="3686175" y="4457700"/>
            <a:ext cx="2781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通过数据实体收口到业务对象</a:t>
            </a:r>
            <a:endParaRPr/>
          </a:p>
        </p:txBody>
      </p:sp>
      <p:sp>
        <p:nvSpPr>
          <p:cNvPr id="1216" name=""/>
          <p:cNvSpPr/>
          <p:nvPr/>
        </p:nvSpPr>
        <p:spPr>
          <a:xfrm rot="0" flipH="0" flipV="0">
            <a:off x="6686550" y="1266825"/>
            <a:ext cx="4895850" cy="1257300"/>
          </a:xfrm>
          <a:prstGeom prst="roundRect">
            <a:avLst>
              <a:gd name="adj" fmla="val 303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17" name=""/>
          <p:cNvSpPr/>
          <p:nvPr/>
        </p:nvSpPr>
        <p:spPr>
          <a:xfrm rot="0" flipH="0" flipV="0">
            <a:off x="6810375" y="1371600"/>
            <a:ext cx="419100" cy="190500"/>
          </a:xfrm>
          <a:prstGeom prst="roundRect">
            <a:avLst>
              <a:gd name="adj" fmla="val 10000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1218" name="" descr="{&quot;isTemplate&quot;:true,&quot;type&quot;:&quot;text&quot;}"/>
          <p:cNvSpPr txBox="1"/>
          <p:nvPr/>
        </p:nvSpPr>
        <p:spPr>
          <a:xfrm rot="0" flipH="0" flipV="0">
            <a:off x="6877050" y="1409700"/>
            <a:ext cx="2952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FFFFF"/>
                </a:solidFill>
                <a:latin typeface="Microsoft YaHei"/>
                <a:ea typeface="Microsoft YaHei"/>
              </a:rPr>
              <a:t>IA/DA</a:t>
            </a:r>
            <a:endParaRPr/>
          </a:p>
        </p:txBody>
      </p:sp>
      <p:sp>
        <p:nvSpPr>
          <p:cNvPr id="1219" name="" descr="{&quot;isTemplate&quot;:true,&quot;type&quot;:&quot;text&quot;}"/>
          <p:cNvSpPr txBox="1"/>
          <p:nvPr/>
        </p:nvSpPr>
        <p:spPr>
          <a:xfrm rot="0" flipH="0" flipV="0">
            <a:off x="7296150" y="139065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信息架构（下半身）</a:t>
            </a:r>
            <a:endParaRPr/>
          </a:p>
        </p:txBody>
      </p:sp>
      <p:sp>
        <p:nvSpPr>
          <p:cNvPr id="1220" name=""/>
          <p:cNvSpPr/>
          <p:nvPr/>
        </p:nvSpPr>
        <p:spPr>
          <a:xfrm rot="0" flipH="0" flipV="0">
            <a:off x="6810375" y="1647825"/>
            <a:ext cx="1514475" cy="571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21" name="" descr="{&quot;isTemplate&quot;:true,&quot;type&quot;:&quot;text&quot;}"/>
          <p:cNvSpPr txBox="1"/>
          <p:nvPr/>
        </p:nvSpPr>
        <p:spPr>
          <a:xfrm rot="0" flipH="0" flipV="0">
            <a:off x="7353300" y="17811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E0641E"/>
                </a:solidFill>
                <a:latin typeface="Microsoft YaHei"/>
                <a:ea typeface="Microsoft YaHei"/>
              </a:rPr>
              <a:t>概念模型</a:t>
            </a:r>
            <a:endParaRPr/>
          </a:p>
        </p:txBody>
      </p:sp>
      <p:sp>
        <p:nvSpPr>
          <p:cNvPr id="1222" name="" descr="{&quot;isTemplate&quot;:true,&quot;type&quot;:&quot;text&quot;}"/>
          <p:cNvSpPr txBox="1"/>
          <p:nvPr/>
        </p:nvSpPr>
        <p:spPr>
          <a:xfrm rot="0" flipH="0" flipV="0">
            <a:off x="7391400" y="1943100"/>
            <a:ext cx="36195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713">
                <a:solidFill>
                  <a:srgbClr val="8A8F99"/>
                </a:solidFill>
                <a:latin typeface="Microsoft YaHei"/>
                <a:ea typeface="Microsoft YaHei"/>
              </a:rPr>
              <a:t>识别主体</a:t>
            </a:r>
            <a:endParaRPr/>
          </a:p>
        </p:txBody>
      </p:sp>
      <p:sp>
        <p:nvSpPr>
          <p:cNvPr id="1223" name=""/>
          <p:cNvSpPr/>
          <p:nvPr/>
        </p:nvSpPr>
        <p:spPr>
          <a:xfrm rot="0" flipH="0" flipV="0">
            <a:off x="8372475" y="1647825"/>
            <a:ext cx="1524000" cy="571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24" name="" descr="{&quot;isTemplate&quot;:true,&quot;type&quot;:&quot;text&quot;}"/>
          <p:cNvSpPr txBox="1"/>
          <p:nvPr/>
        </p:nvSpPr>
        <p:spPr>
          <a:xfrm rot="0" flipH="0" flipV="0">
            <a:off x="8915400" y="17811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E0641E"/>
                </a:solidFill>
                <a:latin typeface="Microsoft YaHei"/>
                <a:ea typeface="Microsoft YaHei"/>
              </a:rPr>
              <a:t>逻辑模型</a:t>
            </a:r>
            <a:endParaRPr/>
          </a:p>
        </p:txBody>
      </p:sp>
      <p:sp>
        <p:nvSpPr>
          <p:cNvPr id="1225" name="" descr="{&quot;isTemplate&quot;:true,&quot;type&quot;:&quot;text&quot;}"/>
          <p:cNvSpPr txBox="1"/>
          <p:nvPr/>
        </p:nvSpPr>
        <p:spPr>
          <a:xfrm rot="0" flipH="0" flipV="0">
            <a:off x="8953500" y="1943100"/>
            <a:ext cx="36195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713">
                <a:solidFill>
                  <a:srgbClr val="8A8F99"/>
                </a:solidFill>
                <a:latin typeface="Microsoft YaHei"/>
                <a:ea typeface="Microsoft YaHei"/>
              </a:rPr>
              <a:t>定义主键</a:t>
            </a:r>
            <a:endParaRPr/>
          </a:p>
        </p:txBody>
      </p:sp>
      <p:sp>
        <p:nvSpPr>
          <p:cNvPr id="1226" name=""/>
          <p:cNvSpPr/>
          <p:nvPr/>
        </p:nvSpPr>
        <p:spPr>
          <a:xfrm rot="0" flipH="0" flipV="0">
            <a:off x="9944100" y="1647825"/>
            <a:ext cx="1514475" cy="571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27" name="" descr="{&quot;isTemplate&quot;:true,&quot;type&quot;:&quot;text&quot;}"/>
          <p:cNvSpPr txBox="1"/>
          <p:nvPr/>
        </p:nvSpPr>
        <p:spPr>
          <a:xfrm rot="0" flipH="0" flipV="0">
            <a:off x="10487025" y="17811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E0641E"/>
                </a:solidFill>
                <a:latin typeface="Microsoft YaHei"/>
                <a:ea typeface="Microsoft YaHei"/>
              </a:rPr>
              <a:t>物理模型</a:t>
            </a:r>
            <a:endParaRPr/>
          </a:p>
        </p:txBody>
      </p:sp>
      <p:sp>
        <p:nvSpPr>
          <p:cNvPr id="1228" name="" descr="{&quot;isTemplate&quot;:true,&quot;type&quot;:&quot;text&quot;}"/>
          <p:cNvSpPr txBox="1"/>
          <p:nvPr/>
        </p:nvSpPr>
        <p:spPr>
          <a:xfrm rot="0" flipH="0" flipV="0">
            <a:off x="10563225" y="1943100"/>
            <a:ext cx="27622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713">
                <a:solidFill>
                  <a:srgbClr val="8A8F99"/>
                </a:solidFill>
                <a:latin typeface="Microsoft YaHei"/>
                <a:ea typeface="Microsoft YaHei"/>
              </a:rPr>
              <a:t>具现化</a:t>
            </a:r>
            <a:endParaRPr/>
          </a:p>
        </p:txBody>
      </p:sp>
      <p:sp>
        <p:nvSpPr>
          <p:cNvPr id="1229" name="" descr="{&quot;isTemplate&quot;:true,&quot;type&quot;:&quot;text&quot;}"/>
          <p:cNvSpPr txBox="1"/>
          <p:nvPr/>
        </p:nvSpPr>
        <p:spPr>
          <a:xfrm rot="0" flipH="0" flipV="0">
            <a:off x="6810375" y="2295525"/>
            <a:ext cx="46482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对象</a:t>
            </a:r>
            <a:r>
              <a:rPr lang="en-US" sz="788">
                <a:solidFill>
                  <a:srgbClr val="5A607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数据实体</a:t>
            </a:r>
            <a:r>
              <a:rPr lang="en-US" sz="788">
                <a:solidFill>
                  <a:srgbClr val="5A607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表结构，一步不落</a:t>
            </a:r>
            <a:endParaRPr/>
          </a:p>
        </p:txBody>
      </p:sp>
      <p:sp>
        <p:nvSpPr>
          <p:cNvPr id="1230" name=""/>
          <p:cNvSpPr/>
          <p:nvPr/>
        </p:nvSpPr>
        <p:spPr>
          <a:xfrm rot="0" flipH="0" flipV="0">
            <a:off x="6686550" y="2590800"/>
            <a:ext cx="4895850" cy="2543175"/>
          </a:xfrm>
          <a:prstGeom prst="roundRect">
            <a:avLst>
              <a:gd name="adj" fmla="val 149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31" name=""/>
          <p:cNvSpPr/>
          <p:nvPr/>
        </p:nvSpPr>
        <p:spPr>
          <a:xfrm rot="0" flipH="0" flipV="0">
            <a:off x="6829425" y="3638550"/>
            <a:ext cx="285750" cy="190500"/>
          </a:xfrm>
          <a:prstGeom prst="roundRect">
            <a:avLst>
              <a:gd name="adj" fmla="val 10000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1232" name="" descr="{&quot;isTemplate&quot;:true,&quot;type&quot;:&quot;text&quot;}"/>
          <p:cNvSpPr txBox="1"/>
          <p:nvPr/>
        </p:nvSpPr>
        <p:spPr>
          <a:xfrm rot="0" flipH="0" flipV="0">
            <a:off x="6905625" y="3676650"/>
            <a:ext cx="1333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FFFFF"/>
                </a:solidFill>
                <a:latin typeface="Microsoft YaHei"/>
                <a:ea typeface="Microsoft YaHei"/>
              </a:rPr>
              <a:t>TA</a:t>
            </a:r>
            <a:endParaRPr/>
          </a:p>
        </p:txBody>
      </p:sp>
      <p:sp>
        <p:nvSpPr>
          <p:cNvPr id="1233" name="" descr="{&quot;isTemplate&quot;:true,&quot;type&quot;:&quot;text&quot;}"/>
          <p:cNvSpPr txBox="1"/>
          <p:nvPr/>
        </p:nvSpPr>
        <p:spPr>
          <a:xfrm rot="0" flipH="0" flipV="0">
            <a:off x="7181850" y="3657600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FFFFF"/>
                </a:solidFill>
                <a:latin typeface="Microsoft YaHei"/>
                <a:ea typeface="Microsoft YaHei"/>
              </a:rPr>
              <a:t>技术架构（贯穿托底）</a:t>
            </a:r>
            <a:endParaRPr/>
          </a:p>
        </p:txBody>
      </p:sp>
      <p:sp>
        <p:nvSpPr>
          <p:cNvPr id="1234" name="" descr="{&quot;isTemplate&quot;:true,&quot;type&quot;:&quot;text&quot;}"/>
          <p:cNvSpPr txBox="1"/>
          <p:nvPr/>
        </p:nvSpPr>
        <p:spPr>
          <a:xfrm rot="0" flipH="0" flipV="0">
            <a:off x="6829425" y="3905250"/>
            <a:ext cx="46101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组件选型</a:t>
            </a:r>
            <a:r>
              <a:rPr lang="en-US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部署模型</a:t>
            </a:r>
            <a:r>
              <a:rPr lang="en-US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安全设计</a:t>
            </a:r>
            <a:r>
              <a:rPr lang="en-US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运营设计</a:t>
            </a:r>
            <a:r>
              <a:rPr lang="en-US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· DFX—— </a:t>
            </a: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支撑上面三层跑得动、扛得住</a:t>
            </a:r>
            <a:endParaRPr/>
          </a:p>
        </p:txBody>
      </p:sp>
      <p:sp>
        <p:nvSpPr>
          <p:cNvPr id="1235" name=""/>
          <p:cNvSpPr/>
          <p:nvPr/>
        </p:nvSpPr>
        <p:spPr>
          <a:xfrm rot="0" flipH="0" flipV="0">
            <a:off x="647700" y="5200650"/>
            <a:ext cx="3609975" cy="438150"/>
          </a:xfrm>
          <a:prstGeom prst="roundRect">
            <a:avLst>
              <a:gd name="adj" fmla="val 652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36" name=""/>
          <p:cNvSpPr/>
          <p:nvPr/>
        </p:nvSpPr>
        <p:spPr>
          <a:xfrm rot="0" flipH="0" flipV="0">
            <a:off x="647700" y="5200650"/>
            <a:ext cx="3609975" cy="438150"/>
          </a:xfrm>
          <a:custGeom>
            <a:pathLst>
              <a:path w="379" h="46">
                <a:moveTo>
                  <a:pt x="4" y="46"/>
                </a:moveTo>
                <a:cubicBezTo>
                  <a:pt x="3" y="46"/>
                  <a:pt x="2" y="46"/>
                  <a:pt x="1" y="45"/>
                </a:cubicBezTo>
                <a:cubicBezTo>
                  <a:pt x="0" y="44"/>
                  <a:pt x="0" y="44"/>
                  <a:pt x="0" y="4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37" name="" descr="{&quot;isTemplate&quot;:true,&quot;type&quot;:&quot;text&quot;}"/>
          <p:cNvSpPr txBox="1"/>
          <p:nvPr/>
        </p:nvSpPr>
        <p:spPr>
          <a:xfrm rot="0" flipH="0" flipV="0">
            <a:off x="771525" y="5267325"/>
            <a:ext cx="3324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上半身：从外而内</a:t>
            </a:r>
            <a:endParaRPr/>
          </a:p>
        </p:txBody>
      </p:sp>
      <p:sp>
        <p:nvSpPr>
          <p:cNvPr id="1238" name="" descr="{&quot;isTemplate&quot;:true,&quot;type&quot;:&quot;text&quot;}"/>
          <p:cNvSpPr txBox="1"/>
          <p:nvPr/>
        </p:nvSpPr>
        <p:spPr>
          <a:xfrm rot="0" flipH="0" flipV="0">
            <a:off x="771525" y="5438775"/>
            <a:ext cx="3324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价值流</a:t>
            </a:r>
            <a:r>
              <a:rPr lang="en-US" sz="825">
                <a:solidFill>
                  <a:srgbClr val="5A607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能力</a:t>
            </a:r>
            <a:r>
              <a:rPr lang="en-US" sz="825">
                <a:solidFill>
                  <a:srgbClr val="5A607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活动</a:t>
            </a:r>
            <a:r>
              <a:rPr lang="en-US" sz="825">
                <a:solidFill>
                  <a:srgbClr val="5A607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对象</a:t>
            </a:r>
            <a:endParaRPr/>
          </a:p>
        </p:txBody>
      </p:sp>
      <p:sp>
        <p:nvSpPr>
          <p:cNvPr id="1239" name=""/>
          <p:cNvSpPr/>
          <p:nvPr/>
        </p:nvSpPr>
        <p:spPr>
          <a:xfrm rot="0" flipH="0" flipV="0">
            <a:off x="4324350" y="5200650"/>
            <a:ext cx="3619500" cy="438150"/>
          </a:xfrm>
          <a:prstGeom prst="roundRect">
            <a:avLst>
              <a:gd name="adj" fmla="val 652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40" name=""/>
          <p:cNvSpPr/>
          <p:nvPr/>
        </p:nvSpPr>
        <p:spPr>
          <a:xfrm rot="0" flipH="0" flipV="0">
            <a:off x="4324350" y="5200650"/>
            <a:ext cx="3619500" cy="438150"/>
          </a:xfrm>
          <a:custGeom>
            <a:pathLst>
              <a:path w="380" h="46">
                <a:moveTo>
                  <a:pt x="4" y="46"/>
                </a:moveTo>
                <a:cubicBezTo>
                  <a:pt x="3" y="46"/>
                  <a:pt x="2" y="46"/>
                  <a:pt x="1" y="45"/>
                </a:cubicBezTo>
                <a:cubicBezTo>
                  <a:pt x="0" y="44"/>
                  <a:pt x="0" y="44"/>
                  <a:pt x="0" y="4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1241" name="" descr="{&quot;isTemplate&quot;:true,&quot;type&quot;:&quot;text&quot;}"/>
          <p:cNvSpPr txBox="1"/>
          <p:nvPr/>
        </p:nvSpPr>
        <p:spPr>
          <a:xfrm rot="0" flipH="0" flipV="0">
            <a:off x="4448175" y="5267325"/>
            <a:ext cx="3333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E0641E"/>
                </a:solidFill>
                <a:latin typeface="Microsoft YaHei"/>
                <a:ea typeface="Microsoft YaHei"/>
              </a:rPr>
              <a:t>下半身：从内而上</a:t>
            </a:r>
            <a:endParaRPr/>
          </a:p>
        </p:txBody>
      </p:sp>
      <p:sp>
        <p:nvSpPr>
          <p:cNvPr id="1242" name="" descr="{&quot;isTemplate&quot;:true,&quot;type&quot;:&quot;text&quot;}"/>
          <p:cNvSpPr txBox="1"/>
          <p:nvPr/>
        </p:nvSpPr>
        <p:spPr>
          <a:xfrm rot="0" flipH="0" flipV="0">
            <a:off x="4448175" y="5438775"/>
            <a:ext cx="3333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对象</a:t>
            </a:r>
            <a:r>
              <a:rPr lang="en-US" sz="825">
                <a:solidFill>
                  <a:srgbClr val="5A607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数据实体</a:t>
            </a:r>
            <a:r>
              <a:rPr lang="en-US" sz="825">
                <a:solidFill>
                  <a:srgbClr val="5A607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表结构</a:t>
            </a:r>
            <a:endParaRPr/>
          </a:p>
        </p:txBody>
      </p:sp>
      <p:sp>
        <p:nvSpPr>
          <p:cNvPr id="1243" name=""/>
          <p:cNvSpPr/>
          <p:nvPr/>
        </p:nvSpPr>
        <p:spPr>
          <a:xfrm rot="0" flipH="0" flipV="0">
            <a:off x="8010525" y="5200650"/>
            <a:ext cx="3609975" cy="438150"/>
          </a:xfrm>
          <a:prstGeom prst="roundRect">
            <a:avLst>
              <a:gd name="adj" fmla="val 652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44" name=""/>
          <p:cNvSpPr/>
          <p:nvPr/>
        </p:nvSpPr>
        <p:spPr>
          <a:xfrm rot="0" flipH="0" flipV="0">
            <a:off x="8010525" y="5200650"/>
            <a:ext cx="3609975" cy="438150"/>
          </a:xfrm>
          <a:custGeom>
            <a:pathLst>
              <a:path w="379" h="46">
                <a:moveTo>
                  <a:pt x="4" y="46"/>
                </a:moveTo>
                <a:cubicBezTo>
                  <a:pt x="3" y="46"/>
                  <a:pt x="2" y="46"/>
                  <a:pt x="1" y="45"/>
                </a:cubicBezTo>
                <a:cubicBezTo>
                  <a:pt x="0" y="44"/>
                  <a:pt x="0" y="44"/>
                  <a:pt x="0" y="4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245" name="" descr="{&quot;isTemplate&quot;:true,&quot;type&quot;:&quot;text&quot;}"/>
          <p:cNvSpPr txBox="1"/>
          <p:nvPr/>
        </p:nvSpPr>
        <p:spPr>
          <a:xfrm rot="0" flipH="0" flipV="0">
            <a:off x="8134350" y="5267325"/>
            <a:ext cx="3324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BA15C"/>
                </a:solidFill>
                <a:latin typeface="Microsoft YaHei"/>
                <a:ea typeface="Microsoft YaHei"/>
              </a:rPr>
              <a:t>TA</a:t>
            </a: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：贯穿托底</a:t>
            </a:r>
            <a:endParaRPr/>
          </a:p>
        </p:txBody>
      </p:sp>
      <p:sp>
        <p:nvSpPr>
          <p:cNvPr id="1246" name="" descr="{&quot;isTemplate&quot;:true,&quot;type&quot;:&quot;text&quot;}"/>
          <p:cNvSpPr txBox="1"/>
          <p:nvPr/>
        </p:nvSpPr>
        <p:spPr>
          <a:xfrm rot="0" flipH="0" flipV="0">
            <a:off x="8134350" y="5438775"/>
            <a:ext cx="3324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不参与拆分，但决定这一切能不能真跑</a:t>
            </a:r>
            <a:endParaRPr/>
          </a:p>
        </p:txBody>
      </p:sp>
      <p:sp>
        <p:nvSpPr>
          <p:cNvPr id="1247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48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1249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29 / 35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337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收口点：为什么是&lt;span style={{ color: '#FA4F24' }}&gt;业务对象&lt;/span&gt;，不是流程也不是系统&#10;        &lt;/Text&gt;&#10;        &lt;Text style={{ fontSize: 20, color: '#8A8F99', marginTop: 8 }}&gt;&#10;            流程会变、系统会换、业务对象不会——它是唯一一个能在四 A 之间稳定传递的锚点&#10;        &lt;/Text&gt;&#10;    &lt;/Box&gt;&#10;    &lt;Box style={{ height: 1, background: '#E8E8E8' }} /&gt;&#10;&#10;    {/* B 区 */}&#10;    &lt;Box style={{ paddingTop: 16, paddingBottom: 12, height: 479, flexDirection: 'column', gap: 10 }}&gt;&#10;&#10;        {/* 上：三种候选收口点对比 */}&#10;        &lt;Box style={{ height: 188, flexDirection: 'row', gap: 9 }}&gt;&#10;            {[&#10;                { t: '流程', ok: false, d: '流程随组织调整频繁变动，架构图改一次就得跟着动一次', x: '不稳定，不能当锚' },&#10;                { t: '系统', ok: false, d: '系统是实现的载体，不是业务的本质——先有系统后有业务的路径会走偏', x: '本末倒置' },&#10;                { t: '业务对象', ok: true, d: '订单、设备、缺陷、批次——是业务里真实存在的东西，换系统换流程它还在', x: '稳定的锚', c: '#FA4F24' },&#10;            ].map((x) =&gt; (&#10;                &lt;Box key={x.t} style={{ flex: 1, background: x.ok ? '#FFF3EE' : '#F7F7F8', borderRadius: 4, borderTop: '3px solid ' + (x.ok ? '#FA4F24' : '#8A8F99'), padding: '14px 16px', flexDirection: 'column' }}&gt;&#10;                    &lt;Box style={{ flexDirection: 'row', alignItems: 'center', gap: 9 }}&gt;&#10;                        &lt;Text style={{ fontSize: 20, fontWeight: 'bold', color: x.ok ? '#FA4F24' : '#8A8F99' }}&gt;{x.t}&lt;/Text&gt;&#10;                        &lt;Box style={{ height: 16, background: x.ok ? '#FA4F24' : '#8A8F99', borderRadius: 2, padding: '0 6px', flexDirection: 'row', alignItems: 'center' }}&gt;&#10;                            &lt;Text style={{ fontSize: 10, color: '#FFFFFF' }}&gt;{x.ok ? '正确' : '错误'}&lt;/Text&gt;&#10;                        &lt;/Box&gt;&#10;                    &lt;/Box&gt;&#10;                    &lt;Text style={{ fontSize: 13, color: '#3A4050', lineHeight: 1.5, marginTop: 11, flex: 1 }}&gt;{x.d}&lt;/Text&gt;&#10;                    &lt;Text style={{ fontSize: 11.5, color: x.ok ? '#C43A17' : '#8A8F99' }}&gt;{x.x}&lt;/Text&gt;&#10;                &lt;/Box&gt;&#10;            ))}&#10;        &lt;/Box&gt;&#10;&#10;        {/* 中：三条收口路径 */}&#10;        &lt;Box style={{ flex: 1, flexDirection: 'column' }}&gt;&#10;            &lt;Text style={{ fontSize: 13.5, fontWeight: 'bold', color: '#0F1423', marginBottom: 8 }}&gt;同一个业务对象，三条收口路径必须都对得上&lt;/Text&gt;&#10;            &lt;Box style={{ flex: 1, flexDirection: 'row', gap: 9 }}&gt;&#10;                {[&#10;                    { p: 'AA →', t: '通过业务服务', d: '应用提供的是「业务服务」，不是一个孤立的接口——服务要按业务对象定义，而不是按技术组件定义', c: '#D2531A' },&#10;                    { p: 'IA/DA →', t: '通过数据实体', d: '一个业务对象对应一个逻辑实体，再落到具体表——概念、逻辑、物理三层必须一一对应得上', c: '#E0641E' },&#10;                    { p: 'BA →', t: '直接落在对象上', d: '价值流和能力的最终产物就是业务对象——拆不到对象这一层，说明价值流没梳理到底', c: '#FA4F24' },&#10;                ].map((x) =&gt; (&#10;                    &lt;Box key={x.p} style={{ flex: 1, background: '#FFFFFF', borderRadius: 3, border: '1px solid #E8E8E8', borderLeft: '4px solid ' + x.c, padding: '13px 16px', flexDirection: 'column', justifyContent: 'center' }}&gt;&#10;                        &lt;Box style={{ flexDirection: 'row', alignItems: 'center', gap: 9 }}&gt;&#10;                            &lt;Text style={{ fontSize: 13, fontWeight: 'bold', color: x.c }}&gt;{x.p}&lt;/Text&gt;&#10;                            &lt;Text style={{ fontSize: 15, fontWeight: 'bold', color: '#0F1423' }}&gt;{x.t}&lt;/Text&gt;&#10;                        &lt;/Box&gt;&#10;                        &lt;Text style={{ fontSize: 12.5, color: '#3A4050', lineHeight: 1.5, marginTop: 10, flex: 1 }}&gt;{x.d}&lt;/Text&gt;&#10;                    &lt;/Box&gt;&#10;                ))}&#10;            &lt;/Box&gt;&#10;        &lt;/Box&gt;&#10;&#10;        {/* 底部现场判据 */}&#10;        &lt;Box style={{ height: 56, background: '#0F1423', borderRadius: 3, padding: '0 20px', flexDirection: 'row', alignItems: 'center', gap: 18 }}&gt;&#10;            &lt;Text style={{ fontSize: 13.5, fontWeight: 'bold', color: '#FBA15C', width: 156 }}&gt;现场一句话判据&lt;/Text&gt;&#10;            &lt;Text style={{ fontSize: 14, color: '#FFFFFF', flex: 1, lineHeight: 1.45 }}&gt;&#10;                随便指一个业务对象，问「它在哪个系统里、叫什么、有几份、谁是权威」——&lt;tspan style={{ color: '#FA4F24' }}&gt;四个答案对不上，就是 Y 没画完&lt;/tspan&gt;&#10;            &lt;/Text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华为数字化转型之道&lt;/Text&gt;&#10;        &lt;/Box&gt;&#10;        &lt;Text style={{ fontSize: 14, color: '#8A8F99' }}&gt;30 / 3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3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收口点：为什么是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业务对象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，不是流程也不是系统</a:t>
            </a:r>
            <a:endParaRPr/>
          </a:p>
        </p:txBody>
      </p:sp>
      <p:sp>
        <p:nvSpPr>
          <p:cNvPr id="134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流程会变、系统会换、业务对象不会——它是唯一一个能在四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之间稳定传递的锚点</a:t>
            </a:r>
            <a:endParaRPr/>
          </a:p>
        </p:txBody>
      </p:sp>
      <p:sp>
        <p:nvSpPr>
          <p:cNvPr id="134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342" name=""/>
          <p:cNvSpPr/>
          <p:nvPr/>
        </p:nvSpPr>
        <p:spPr>
          <a:xfrm rot="0" flipH="0" flipV="0">
            <a:off x="609600" y="1333500"/>
            <a:ext cx="3600450" cy="1790700"/>
          </a:xfrm>
          <a:prstGeom prst="roundRect">
            <a:avLst>
              <a:gd name="adj" fmla="val 212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43" name=""/>
          <p:cNvSpPr/>
          <p:nvPr/>
        </p:nvSpPr>
        <p:spPr>
          <a:xfrm rot="0" flipH="0" flipV="0">
            <a:off x="609600" y="1333500"/>
            <a:ext cx="3600450" cy="1790700"/>
          </a:xfrm>
          <a:custGeom>
            <a:pathLst>
              <a:path w="378" h="188">
                <a:moveTo>
                  <a:pt x="374" y="0"/>
                </a:moveTo>
                <a:cubicBezTo>
                  <a:pt x="376" y="0"/>
                  <a:pt x="378" y="2"/>
                  <a:pt x="378" y="4"/>
                </a:cubicBezTo>
                <a:cubicBezTo>
                  <a:pt x="378" y="3"/>
                  <a:pt x="377" y="3"/>
                  <a:pt x="377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74" y="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1344" name="" descr="{&quot;isTemplate&quot;:true,&quot;type&quot;:&quot;text&quot;}"/>
          <p:cNvSpPr txBox="1"/>
          <p:nvPr/>
        </p:nvSpPr>
        <p:spPr>
          <a:xfrm rot="0" flipH="0" flipV="0">
            <a:off x="762000" y="14668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8A8F99"/>
                </a:solidFill>
                <a:latin typeface="Microsoft YaHei"/>
                <a:ea typeface="Microsoft YaHei"/>
              </a:rPr>
              <a:t>流程</a:t>
            </a:r>
            <a:endParaRPr/>
          </a:p>
        </p:txBody>
      </p:sp>
      <p:sp>
        <p:nvSpPr>
          <p:cNvPr id="1345" name=""/>
          <p:cNvSpPr/>
          <p:nvPr/>
        </p:nvSpPr>
        <p:spPr>
          <a:xfrm rot="0" flipH="0" flipV="0">
            <a:off x="1228725" y="1504950"/>
            <a:ext cx="304800" cy="152400"/>
          </a:xfrm>
          <a:prstGeom prst="roundRect">
            <a:avLst>
              <a:gd name="adj" fmla="val 12500"/>
            </a:avLst>
          </a:prstGeom>
          <a:solidFill>
            <a:srgbClr val="8A8F99"/>
          </a:solidFill>
          <a:ln/>
        </p:spPr>
        <p:txBody>
          <a:bodyPr/>
          <a:p/>
        </p:txBody>
      </p:sp>
      <p:sp>
        <p:nvSpPr>
          <p:cNvPr id="1346" name="" descr="{&quot;isTemplate&quot;:true,&quot;type&quot;:&quot;text&quot;}"/>
          <p:cNvSpPr txBox="1"/>
          <p:nvPr/>
        </p:nvSpPr>
        <p:spPr>
          <a:xfrm rot="0" flipH="0" flipV="0">
            <a:off x="1285875" y="1524000"/>
            <a:ext cx="190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/>
                </a:solidFill>
                <a:latin typeface="Microsoft YaHei"/>
                <a:ea typeface="Microsoft YaHei"/>
              </a:rPr>
              <a:t>错误</a:t>
            </a:r>
            <a:endParaRPr/>
          </a:p>
        </p:txBody>
      </p:sp>
      <p:sp>
        <p:nvSpPr>
          <p:cNvPr id="1347" name="" descr="{&quot;isTemplate&quot;:true,&quot;type&quot;:&quot;text&quot;}"/>
          <p:cNvSpPr txBox="1"/>
          <p:nvPr/>
        </p:nvSpPr>
        <p:spPr>
          <a:xfrm rot="0" flipH="0" flipV="0">
            <a:off x="762000" y="1800225"/>
            <a:ext cx="3295650" cy="1028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流程随组织调整频繁变动，架构图改一次就得跟着动一次</a:t>
            </a:r>
            <a:endParaRPr/>
          </a:p>
        </p:txBody>
      </p:sp>
      <p:sp>
        <p:nvSpPr>
          <p:cNvPr id="1348" name="" descr="{&quot;isTemplate&quot;:true,&quot;type&quot;:&quot;text&quot;}"/>
          <p:cNvSpPr txBox="1"/>
          <p:nvPr/>
        </p:nvSpPr>
        <p:spPr>
          <a:xfrm rot="0" flipH="0" flipV="0">
            <a:off x="762000" y="2828925"/>
            <a:ext cx="3295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8A8F99"/>
                </a:solidFill>
                <a:latin typeface="Microsoft YaHei"/>
                <a:ea typeface="Microsoft YaHei"/>
              </a:rPr>
              <a:t>不稳定，不能当锚</a:t>
            </a:r>
            <a:endParaRPr/>
          </a:p>
        </p:txBody>
      </p:sp>
      <p:sp>
        <p:nvSpPr>
          <p:cNvPr id="1349" name=""/>
          <p:cNvSpPr/>
          <p:nvPr/>
        </p:nvSpPr>
        <p:spPr>
          <a:xfrm rot="0" flipH="0" flipV="0">
            <a:off x="4295775" y="1333500"/>
            <a:ext cx="3600450" cy="1790700"/>
          </a:xfrm>
          <a:prstGeom prst="roundRect">
            <a:avLst>
              <a:gd name="adj" fmla="val 212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50" name=""/>
          <p:cNvSpPr/>
          <p:nvPr/>
        </p:nvSpPr>
        <p:spPr>
          <a:xfrm rot="0" flipH="0" flipV="0">
            <a:off x="4295775" y="1333500"/>
            <a:ext cx="3600450" cy="1790700"/>
          </a:xfrm>
          <a:custGeom>
            <a:pathLst>
              <a:path w="378" h="188">
                <a:moveTo>
                  <a:pt x="374" y="0"/>
                </a:moveTo>
                <a:cubicBezTo>
                  <a:pt x="376" y="0"/>
                  <a:pt x="378" y="2"/>
                  <a:pt x="378" y="4"/>
                </a:cubicBezTo>
                <a:cubicBezTo>
                  <a:pt x="378" y="3"/>
                  <a:pt x="377" y="3"/>
                  <a:pt x="377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74" y="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1351" name="" descr="{&quot;isTemplate&quot;:true,&quot;type&quot;:&quot;text&quot;}"/>
          <p:cNvSpPr txBox="1"/>
          <p:nvPr/>
        </p:nvSpPr>
        <p:spPr>
          <a:xfrm rot="0" flipH="0" flipV="0">
            <a:off x="4448175" y="14668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8A8F99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1352" name=""/>
          <p:cNvSpPr/>
          <p:nvPr/>
        </p:nvSpPr>
        <p:spPr>
          <a:xfrm rot="0" flipH="0" flipV="0">
            <a:off x="4914900" y="1504950"/>
            <a:ext cx="304800" cy="152400"/>
          </a:xfrm>
          <a:prstGeom prst="roundRect">
            <a:avLst>
              <a:gd name="adj" fmla="val 12500"/>
            </a:avLst>
          </a:prstGeom>
          <a:solidFill>
            <a:srgbClr val="8A8F99"/>
          </a:solidFill>
          <a:ln/>
        </p:spPr>
        <p:txBody>
          <a:bodyPr/>
          <a:p/>
        </p:txBody>
      </p:sp>
      <p:sp>
        <p:nvSpPr>
          <p:cNvPr id="1353" name="" descr="{&quot;isTemplate&quot;:true,&quot;type&quot;:&quot;text&quot;}"/>
          <p:cNvSpPr txBox="1"/>
          <p:nvPr/>
        </p:nvSpPr>
        <p:spPr>
          <a:xfrm rot="0" flipH="0" flipV="0">
            <a:off x="4972050" y="1524000"/>
            <a:ext cx="190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/>
                </a:solidFill>
                <a:latin typeface="Microsoft YaHei"/>
                <a:ea typeface="Microsoft YaHei"/>
              </a:rPr>
              <a:t>错误</a:t>
            </a:r>
            <a:endParaRPr/>
          </a:p>
        </p:txBody>
      </p:sp>
      <p:sp>
        <p:nvSpPr>
          <p:cNvPr id="1354" name="" descr="{&quot;isTemplate&quot;:true,&quot;type&quot;:&quot;text&quot;}"/>
          <p:cNvSpPr txBox="1"/>
          <p:nvPr/>
        </p:nvSpPr>
        <p:spPr>
          <a:xfrm rot="0" flipH="0" flipV="0">
            <a:off x="4448175" y="1800225"/>
            <a:ext cx="329565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系统是实现的载体，不是业务的本质——先有系统后有业务的路径会走偏</a:t>
            </a:r>
            <a:endParaRPr/>
          </a:p>
        </p:txBody>
      </p:sp>
      <p:sp>
        <p:nvSpPr>
          <p:cNvPr id="1355" name="" descr="{&quot;isTemplate&quot;:true,&quot;type&quot;:&quot;text&quot;}"/>
          <p:cNvSpPr txBox="1"/>
          <p:nvPr/>
        </p:nvSpPr>
        <p:spPr>
          <a:xfrm rot="0" flipH="0" flipV="0">
            <a:off x="4448175" y="2828925"/>
            <a:ext cx="3295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8A8F99"/>
                </a:solidFill>
                <a:latin typeface="Microsoft YaHei"/>
                <a:ea typeface="Microsoft YaHei"/>
              </a:rPr>
              <a:t>本末倒置</a:t>
            </a:r>
            <a:endParaRPr/>
          </a:p>
        </p:txBody>
      </p:sp>
      <p:sp>
        <p:nvSpPr>
          <p:cNvPr id="1356" name=""/>
          <p:cNvSpPr/>
          <p:nvPr/>
        </p:nvSpPr>
        <p:spPr>
          <a:xfrm rot="0" flipH="0" flipV="0">
            <a:off x="7981950" y="1333500"/>
            <a:ext cx="3600450" cy="1790700"/>
          </a:xfrm>
          <a:prstGeom prst="roundRect">
            <a:avLst>
              <a:gd name="adj" fmla="val 212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357" name=""/>
          <p:cNvSpPr/>
          <p:nvPr/>
        </p:nvSpPr>
        <p:spPr>
          <a:xfrm rot="0" flipH="0" flipV="0">
            <a:off x="7981950" y="1333500"/>
            <a:ext cx="3600450" cy="1790700"/>
          </a:xfrm>
          <a:custGeom>
            <a:pathLst>
              <a:path w="378" h="188">
                <a:moveTo>
                  <a:pt x="374" y="0"/>
                </a:moveTo>
                <a:cubicBezTo>
                  <a:pt x="376" y="0"/>
                  <a:pt x="378" y="2"/>
                  <a:pt x="378" y="4"/>
                </a:cubicBezTo>
                <a:cubicBezTo>
                  <a:pt x="378" y="3"/>
                  <a:pt x="377" y="3"/>
                  <a:pt x="377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7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58" name="" descr="{&quot;isTemplate&quot;:true,&quot;type&quot;:&quot;text&quot;}"/>
          <p:cNvSpPr txBox="1"/>
          <p:nvPr/>
        </p:nvSpPr>
        <p:spPr>
          <a:xfrm rot="0" flipH="0" flipV="0">
            <a:off x="8134350" y="14668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A4F24"/>
                </a:solidFill>
                <a:latin typeface="Microsoft YaHei"/>
                <a:ea typeface="Microsoft YaHei"/>
              </a:rPr>
              <a:t>业务对象</a:t>
            </a:r>
            <a:endParaRPr/>
          </a:p>
        </p:txBody>
      </p:sp>
      <p:sp>
        <p:nvSpPr>
          <p:cNvPr id="1359" name=""/>
          <p:cNvSpPr/>
          <p:nvPr/>
        </p:nvSpPr>
        <p:spPr>
          <a:xfrm rot="0" flipH="0" flipV="0">
            <a:off x="8982075" y="1504950"/>
            <a:ext cx="304800" cy="152400"/>
          </a:xfrm>
          <a:prstGeom prst="roundRect">
            <a:avLst>
              <a:gd name="adj" fmla="val 125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60" name="" descr="{&quot;isTemplate&quot;:true,&quot;type&quot;:&quot;text&quot;}"/>
          <p:cNvSpPr txBox="1"/>
          <p:nvPr/>
        </p:nvSpPr>
        <p:spPr>
          <a:xfrm rot="0" flipH="0" flipV="0">
            <a:off x="9039225" y="1524000"/>
            <a:ext cx="190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/>
                </a:solidFill>
                <a:latin typeface="Microsoft YaHei"/>
                <a:ea typeface="Microsoft YaHei"/>
              </a:rPr>
              <a:t>正确</a:t>
            </a:r>
            <a:endParaRPr/>
          </a:p>
        </p:txBody>
      </p:sp>
      <p:sp>
        <p:nvSpPr>
          <p:cNvPr id="1361" name="" descr="{&quot;isTemplate&quot;:true,&quot;type&quot;:&quot;text&quot;}"/>
          <p:cNvSpPr txBox="1"/>
          <p:nvPr/>
        </p:nvSpPr>
        <p:spPr>
          <a:xfrm rot="0" flipH="0" flipV="0">
            <a:off x="8134350" y="1800225"/>
            <a:ext cx="329565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订单、设备、缺陷、批次——是业务里真实存在的东西，换系统换流程它还在</a:t>
            </a:r>
            <a:endParaRPr/>
          </a:p>
        </p:txBody>
      </p:sp>
      <p:sp>
        <p:nvSpPr>
          <p:cNvPr id="1362" name="" descr="{&quot;isTemplate&quot;:true,&quot;type&quot;:&quot;text&quot;}"/>
          <p:cNvSpPr txBox="1"/>
          <p:nvPr/>
        </p:nvSpPr>
        <p:spPr>
          <a:xfrm rot="0" flipH="0" flipV="0">
            <a:off x="8134350" y="2828925"/>
            <a:ext cx="3295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C43A17"/>
                </a:solidFill>
                <a:latin typeface="Microsoft YaHei"/>
                <a:ea typeface="Microsoft YaHei"/>
              </a:rPr>
              <a:t>稳定的锚</a:t>
            </a:r>
            <a:endParaRPr/>
          </a:p>
        </p:txBody>
      </p:sp>
      <p:sp>
        <p:nvSpPr>
          <p:cNvPr id="1363" name="" descr="{&quot;isTemplate&quot;:true,&quot;type&quot;:&quot;text&quot;}"/>
          <p:cNvSpPr txBox="1"/>
          <p:nvPr/>
        </p:nvSpPr>
        <p:spPr>
          <a:xfrm rot="0" flipH="0" flipV="0">
            <a:off x="609600" y="319087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同一个业务对象，三条收口路径必须都对得上</a:t>
            </a:r>
            <a:endParaRPr/>
          </a:p>
        </p:txBody>
      </p:sp>
      <p:sp>
        <p:nvSpPr>
          <p:cNvPr id="1364" name=""/>
          <p:cNvSpPr/>
          <p:nvPr/>
        </p:nvSpPr>
        <p:spPr>
          <a:xfrm rot="0" flipH="0" flipV="0">
            <a:off x="647700" y="3429000"/>
            <a:ext cx="3600450" cy="154305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65" name=""/>
          <p:cNvSpPr/>
          <p:nvPr/>
        </p:nvSpPr>
        <p:spPr>
          <a:xfrm rot="0" flipH="0" flipV="0">
            <a:off x="647700" y="3429000"/>
            <a:ext cx="3600450" cy="1543050"/>
          </a:xfrm>
          <a:custGeom>
            <a:pathLst>
              <a:path w="378" h="162">
                <a:moveTo>
                  <a:pt x="4" y="162"/>
                </a:moveTo>
                <a:cubicBezTo>
                  <a:pt x="3" y="162"/>
                  <a:pt x="2" y="162"/>
                  <a:pt x="1" y="161"/>
                </a:cubicBezTo>
                <a:cubicBezTo>
                  <a:pt x="0" y="160"/>
                  <a:pt x="0" y="160"/>
                  <a:pt x="0" y="15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D2531A"/>
          </a:solidFill>
          <a:ln/>
        </p:spPr>
        <p:txBody>
          <a:bodyPr/>
          <a:p/>
        </p:txBody>
      </p:sp>
      <p:sp>
        <p:nvSpPr>
          <p:cNvPr id="1366" name="" descr="{&quot;isTemplate&quot;:true,&quot;type&quot;:&quot;text&quot;}"/>
          <p:cNvSpPr txBox="1"/>
          <p:nvPr/>
        </p:nvSpPr>
        <p:spPr>
          <a:xfrm rot="0" flipH="0" flipV="0">
            <a:off x="800100" y="3562350"/>
            <a:ext cx="352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D2531A"/>
                </a:solidFill>
                <a:latin typeface="Microsoft YaHei"/>
                <a:ea typeface="Microsoft YaHei"/>
              </a:rPr>
              <a:t>AA →</a:t>
            </a:r>
            <a:endParaRPr/>
          </a:p>
        </p:txBody>
      </p:sp>
      <p:sp>
        <p:nvSpPr>
          <p:cNvPr id="1367" name="" descr="{&quot;isTemplate&quot;:true,&quot;type&quot;:&quot;text&quot;}"/>
          <p:cNvSpPr txBox="1"/>
          <p:nvPr/>
        </p:nvSpPr>
        <p:spPr>
          <a:xfrm rot="0" flipH="0" flipV="0">
            <a:off x="1238250" y="35528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通过业务服务</a:t>
            </a:r>
            <a:endParaRPr/>
          </a:p>
        </p:txBody>
      </p:sp>
      <p:sp>
        <p:nvSpPr>
          <p:cNvPr id="1368" name="" descr="{&quot;isTemplate&quot;:true,&quot;type&quot;:&quot;text&quot;}"/>
          <p:cNvSpPr txBox="1"/>
          <p:nvPr/>
        </p:nvSpPr>
        <p:spPr>
          <a:xfrm rot="0" flipH="0" flipV="0">
            <a:off x="800100" y="3819525"/>
            <a:ext cx="325755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应用提供的是「业务服务」，不是一个孤立的接口——服务要按业务对象定义，而不是按技术组件定义</a:t>
            </a:r>
            <a:endParaRPr/>
          </a:p>
        </p:txBody>
      </p:sp>
      <p:sp>
        <p:nvSpPr>
          <p:cNvPr id="1369" name=""/>
          <p:cNvSpPr/>
          <p:nvPr/>
        </p:nvSpPr>
        <p:spPr>
          <a:xfrm rot="0" flipH="0" flipV="0">
            <a:off x="4333875" y="3429000"/>
            <a:ext cx="3600450" cy="154305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70" name=""/>
          <p:cNvSpPr/>
          <p:nvPr/>
        </p:nvSpPr>
        <p:spPr>
          <a:xfrm rot="0" flipH="0" flipV="0">
            <a:off x="4333875" y="3429000"/>
            <a:ext cx="3600450" cy="1543050"/>
          </a:xfrm>
          <a:custGeom>
            <a:pathLst>
              <a:path w="378" h="162">
                <a:moveTo>
                  <a:pt x="4" y="162"/>
                </a:moveTo>
                <a:cubicBezTo>
                  <a:pt x="3" y="162"/>
                  <a:pt x="2" y="162"/>
                  <a:pt x="1" y="161"/>
                </a:cubicBezTo>
                <a:cubicBezTo>
                  <a:pt x="0" y="160"/>
                  <a:pt x="0" y="160"/>
                  <a:pt x="0" y="15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1371" name="" descr="{&quot;isTemplate&quot;:true,&quot;type&quot;:&quot;text&quot;}"/>
          <p:cNvSpPr txBox="1"/>
          <p:nvPr/>
        </p:nvSpPr>
        <p:spPr>
          <a:xfrm rot="0" flipH="0" flipV="0">
            <a:off x="4486275" y="3562350"/>
            <a:ext cx="552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0641E"/>
                </a:solidFill>
                <a:latin typeface="Microsoft YaHei"/>
                <a:ea typeface="Microsoft YaHei"/>
              </a:rPr>
              <a:t>IA/DA →</a:t>
            </a:r>
            <a:endParaRPr/>
          </a:p>
        </p:txBody>
      </p:sp>
      <p:sp>
        <p:nvSpPr>
          <p:cNvPr id="1372" name="" descr="{&quot;isTemplate&quot;:true,&quot;type&quot;:&quot;text&quot;}"/>
          <p:cNvSpPr txBox="1"/>
          <p:nvPr/>
        </p:nvSpPr>
        <p:spPr>
          <a:xfrm rot="0" flipH="0" flipV="0">
            <a:off x="5124450" y="35528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通过数据实体</a:t>
            </a:r>
            <a:endParaRPr/>
          </a:p>
        </p:txBody>
      </p:sp>
      <p:sp>
        <p:nvSpPr>
          <p:cNvPr id="1373" name="" descr="{&quot;isTemplate&quot;:true,&quot;type&quot;:&quot;text&quot;}"/>
          <p:cNvSpPr txBox="1"/>
          <p:nvPr/>
        </p:nvSpPr>
        <p:spPr>
          <a:xfrm rot="0" flipH="0" flipV="0">
            <a:off x="4486275" y="3819525"/>
            <a:ext cx="325755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一个业务对象对应一个逻辑实体，再落到具体表——概念、逻辑、物理三层必须一一对应得上</a:t>
            </a:r>
            <a:endParaRPr/>
          </a:p>
        </p:txBody>
      </p:sp>
      <p:sp>
        <p:nvSpPr>
          <p:cNvPr id="1374" name=""/>
          <p:cNvSpPr/>
          <p:nvPr/>
        </p:nvSpPr>
        <p:spPr>
          <a:xfrm rot="0" flipH="0" flipV="0">
            <a:off x="8020050" y="3429000"/>
            <a:ext cx="3600450" cy="154305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75" name=""/>
          <p:cNvSpPr/>
          <p:nvPr/>
        </p:nvSpPr>
        <p:spPr>
          <a:xfrm rot="0" flipH="0" flipV="0">
            <a:off x="8020050" y="3429000"/>
            <a:ext cx="3600450" cy="1543050"/>
          </a:xfrm>
          <a:custGeom>
            <a:pathLst>
              <a:path w="378" h="162">
                <a:moveTo>
                  <a:pt x="4" y="162"/>
                </a:moveTo>
                <a:cubicBezTo>
                  <a:pt x="3" y="162"/>
                  <a:pt x="2" y="162"/>
                  <a:pt x="1" y="161"/>
                </a:cubicBezTo>
                <a:cubicBezTo>
                  <a:pt x="0" y="160"/>
                  <a:pt x="0" y="160"/>
                  <a:pt x="0" y="15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76" name="" descr="{&quot;isTemplate&quot;:true,&quot;type&quot;:&quot;text&quot;}"/>
          <p:cNvSpPr txBox="1"/>
          <p:nvPr/>
        </p:nvSpPr>
        <p:spPr>
          <a:xfrm rot="0" flipH="0" flipV="0">
            <a:off x="8172450" y="3562350"/>
            <a:ext cx="342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A4F24"/>
                </a:solidFill>
                <a:latin typeface="Microsoft YaHei"/>
                <a:ea typeface="Microsoft YaHei"/>
              </a:rPr>
              <a:t>BA →</a:t>
            </a:r>
            <a:endParaRPr/>
          </a:p>
        </p:txBody>
      </p:sp>
      <p:sp>
        <p:nvSpPr>
          <p:cNvPr id="1377" name="" descr="{&quot;isTemplate&quot;:true,&quot;type&quot;:&quot;text&quot;}"/>
          <p:cNvSpPr txBox="1"/>
          <p:nvPr/>
        </p:nvSpPr>
        <p:spPr>
          <a:xfrm rot="0" flipH="0" flipV="0">
            <a:off x="8601075" y="355282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直接落在对象上</a:t>
            </a:r>
            <a:endParaRPr/>
          </a:p>
        </p:txBody>
      </p:sp>
      <p:sp>
        <p:nvSpPr>
          <p:cNvPr id="1378" name="" descr="{&quot;isTemplate&quot;:true,&quot;type&quot;:&quot;text&quot;}"/>
          <p:cNvSpPr txBox="1"/>
          <p:nvPr/>
        </p:nvSpPr>
        <p:spPr>
          <a:xfrm rot="0" flipH="0" flipV="0">
            <a:off x="8172450" y="3819525"/>
            <a:ext cx="325755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价值流和能力的最终产物就是业务对象——拆不到对象这一层，说明价值流没梳理到底</a:t>
            </a:r>
            <a:endParaRPr/>
          </a:p>
        </p:txBody>
      </p:sp>
      <p:sp>
        <p:nvSpPr>
          <p:cNvPr id="1379" name=""/>
          <p:cNvSpPr/>
          <p:nvPr/>
        </p:nvSpPr>
        <p:spPr>
          <a:xfrm rot="0" flipH="0" flipV="0">
            <a:off x="609600" y="5067300"/>
            <a:ext cx="10972800" cy="533400"/>
          </a:xfrm>
          <a:prstGeom prst="roundRect">
            <a:avLst>
              <a:gd name="adj" fmla="val 535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80" name="" descr="{&quot;isTemplate&quot;:true,&quot;type&quot;:&quot;text&quot;}"/>
          <p:cNvSpPr txBox="1"/>
          <p:nvPr/>
        </p:nvSpPr>
        <p:spPr>
          <a:xfrm rot="0" flipH="0" flipV="0">
            <a:off x="800100" y="5257800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现场一句话判据</a:t>
            </a:r>
            <a:endParaRPr/>
          </a:p>
        </p:txBody>
      </p:sp>
      <p:sp>
        <p:nvSpPr>
          <p:cNvPr id="1381" name="" descr="{&quot;isTemplate&quot;:true,&quot;type&quot;:&quot;text&quot;}"/>
          <p:cNvSpPr txBox="1"/>
          <p:nvPr/>
        </p:nvSpPr>
        <p:spPr>
          <a:xfrm rot="0" flipH="0" flipV="0">
            <a:off x="2457450" y="5219700"/>
            <a:ext cx="89344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随便指一个业务对象，问「它在哪个系统里、叫什么、有几份、谁是权威」——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四个答案对不上，就是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Y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没画完</a:t>
            </a:r>
            <a:endParaRPr/>
          </a:p>
        </p:txBody>
      </p:sp>
      <p:sp>
        <p:nvSpPr>
          <p:cNvPr id="1382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83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1384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30 / 35</a:t>
            </a:r>
            <a:endParaRPr/>
          </a:p>
        </p:txBody>
      </p:sp>
    </p:spTree>
  </p:cSld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385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BA 业务架构：&lt;span style={{ color: '#FA4F24' }}&gt;四类结构化资产&lt;/span&gt;&#10;        &lt;/Text&gt;&#10;        &lt;Text style={{ fontSize: 20, color: '#8A8F99', marginTop: 8 }}&gt;&#10;            业务架构不是画流程图，是把业务战略翻译成四类可复用的结构化资产&#10;        &lt;/Text&gt;&#10;    &lt;/Box&gt;&#10;    &lt;Box style={{ height: 1, background: '#E8E8E8' }} /&gt;&#10;&#10;    {/* B 区 */}&#10;    &lt;Box style={{ paddingTop: 16, paddingBottom: 12, height: 479, flexDirection: 'column', gap: 10 }}&gt;&#10;&#10;        {/* 四类资产 */}&#10;        &lt;Box style={{ height: 202, flexDirection: 'row', gap: 9 }}&gt;&#10;            {[&#10;                { n: '1', t: '价值链', d: '识别企业级价值流——LTC 线索到现金、IPD 集成产品开发、ITR 问题到解决', o: '企业级价值流清单', c: '#FA4F24' },&#10;                { n: '2', t: '流程体系', d: '端到端流程分层（华为常用 L1–L5），并用 PDCA 把规则固化', o: '流程分层清单 + 规则', c: '#E0641E' },&#10;                { n: '3', t: '能力体系', d: '把价值流分解成分层能力清单，明确责任归属与成熟度要求', o: '能力地图与归属', c: '#D2531A' },&#10;                { n: '4', t: '业务对象', d: '识别核心业务实体及其协作关系——这是喂给数据架构的输入', o: '业务对象与关系', c: '#C43A17' },&#10;            ].map((x) =&gt; (&#10;                &lt;Box key={x.n} style={{ flex: 1, background: '#F7F7F8', borderRadius: 4, padding: '14px 15px', flexDirection: 'column' }}&gt;&#10;                    &lt;Box style={{ flexDirection: 'row', alignItems: 'center', gap: 8 }}&gt;&#10;                        &lt;Box style={{ width: 26, height: 26, background: x.c, borderRadius: 3, alignItems: 'center', justifyContent: 'center' }}&gt;&#10;                            &lt;Text style={{ fontSize: 13, fontWeight: 'bold', color: '#FFFFFF' }}&gt;{x.n}&lt;/Text&gt;&#10;                        &lt;/Box&gt;&#10;                        &lt;Text style={{ fontSize: 18, fontWeight: 'bold', color: '#0F1423' }}&gt;{x.t}&lt;/Text&gt;&#10;                    &lt;/Box&gt;&#10;                    &lt;Text style={{ fontSize: 12.5, color: '#3A4050', lineHeight: 1.5, marginTop: 12, flex: 1 }}&gt;{x.d}&lt;/Text&gt;&#10;                    &lt;Box style={{ height: 34, background: x.c, borderRadius: 3, padding: '0 10px', flexDirection: 'column', justifyContent: 'center' }}&gt;&#10;                        &lt;Text style={{ fontSize: 10.5, color: 'rgba(255,255,255,0.94)', lineHeight: 1.3 }}&gt;产出：{x.o}&lt;/Text&gt;&#10;                    &lt;/Box&gt;&#10;                &lt;/Box&gt;&#10;            ))}&#10;        &lt;/Box&gt;&#10;&#10;        {/* 中：三个要素关系 */}&#10;        &lt;Box style={{ height: 146, flexDirection: 'row', gap: 10 }}&gt;&#10;            &lt;Box style={{ flex: 1.4, background: '#0F1423', borderRadius: 4, padding: '14px 20px', flexDirection: 'column' }}&gt;&#10;                &lt;Text style={{ fontSize: 14, fontWeight: 'bold', color: '#FBA15C' }}&gt;BA 要确定的三件事&lt;/Text&gt;&#10;                &lt;Box style={{ flex: 1, flexDirection: 'column', gap: 8, marginTop: 11 }}&gt;&#10;                    {[&#10;                        { t: '价值流', d: '为客户创造什么价值（业务语言）', c: '#FA4F24' },&#10;                        { t: '业务能力', d: '业务场景与形态（能力语言）', c: '#E0641E' },&#10;                        { t: '业务流程与服务', d: '支持业务流灵活编排（落地语言）', c: '#D2531A' },&#10;                    ].map((x) =&gt; (&#10;                        &lt;Box key={x.t} style={{ flex: 1, flexDirection: 'row', alignItems: 'center', background: 'rgba(255,255,255,0.06)', borderLeft: '3px solid ' + x.c, borderRadius: 2, padding: '0 12px', gap: 12 }}&gt;&#10;                            &lt;Text style={{ fontSize: 12.5, fontWeight: 'bold', color: x.c, width: 108 }}&gt;{x.t}&lt;/Text&gt;&#10;                            &lt;Text style={{ fontSize: 12, color: 'rgba(255,255,255,0.85)' }}&gt;{x.d}&lt;/Text&gt;&#10;                        &lt;/Box&gt;&#10;                    ))}&#10;                &lt;/Box&gt;&#10;            &lt;/Box&gt;&#10;            &lt;Box style={{ width: 372, background: '#FFF3EE', borderRadius: 4, borderLeft: '4px solid #FA4F24', padding: '14px 18px', flexDirection: 'column' }}&gt;&#10;                &lt;Text style={{ fontSize: 14, fontWeight: 'bold', color: '#C43A17' }}&gt;确定用例视图&lt;/Text&gt;&#10;                &lt;Text style={{ fontSize: 12.5, color: '#3A4050', lineHeight: 1.5, marginTop: 10, flex: 1 }}&gt;&#10;                    华为对 BA 的最终要求是「确定用例视图」——不是画一版静态组织图，而是定义清楚未来业务要交付哪几类能力、每类能力服务谁&#10;                &lt;/Text&gt;&#10;                &lt;Text style={{ fontSize: 11, color: '#C43A17', lineHeight: 1.4 }}&gt;用例视图定不下来，说明还停留在组织调整层面&lt;/Text&gt;&#10;            &lt;/Box&gt;&#10;        &lt;/Box&gt;&#10;&#10;        {/* 底部 */}&#10;        &lt;Box style={{ flex: 1, background: '#0F1423', borderRadius: 3, padding: '0 20px', flexDirection: 'row', alignItems: 'center', gap: 18 }}&gt;&#10;            &lt;Text style={{ fontSize: 13.5, fontWeight: 'bold', color: '#FBA15C', width: 148 }}&gt;风险控制点&lt;/Text&gt;&#10;            &lt;Text style={{ fontSize: 14, color: '#FFFFFF', flex: 1, lineHeight: 1.45 }}&gt;&#10;                华为实践里在流程中嵌入八类风险控制点（角色分离、合规内嵌等）——&lt;tspan style={{ color: '#FA4F24' }}&gt;把控制放进流程，而不是流程之外再设一道审批&lt;/tspan&gt;&#10;            &lt;/Text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华为数字化转型之道&lt;/Text&gt;&#10;        &lt;/Box&gt;&#10;        &lt;Text style={{ fontSize: 14, color: '#8A8F99' }}&gt;31 / 3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87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业务架构：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四类结构化资产</a:t>
            </a:r>
            <a:endParaRPr/>
          </a:p>
        </p:txBody>
      </p:sp>
      <p:sp>
        <p:nvSpPr>
          <p:cNvPr id="138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业务架构不是画流程图，是把业务战略翻译成四类可复用的结构化资产</a:t>
            </a:r>
            <a:endParaRPr/>
          </a:p>
        </p:txBody>
      </p:sp>
      <p:sp>
        <p:nvSpPr>
          <p:cNvPr id="1389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390" name=""/>
          <p:cNvSpPr/>
          <p:nvPr/>
        </p:nvSpPr>
        <p:spPr>
          <a:xfrm rot="0" flipH="0" flipV="0">
            <a:off x="609600" y="1304925"/>
            <a:ext cx="2676525" cy="1924050"/>
          </a:xfrm>
          <a:prstGeom prst="roundRect">
            <a:avLst>
              <a:gd name="adj" fmla="val 198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91" name=""/>
          <p:cNvSpPr/>
          <p:nvPr/>
        </p:nvSpPr>
        <p:spPr>
          <a:xfrm rot="0" flipH="0" flipV="0">
            <a:off x="752475" y="1438275"/>
            <a:ext cx="247650" cy="247650"/>
          </a:xfrm>
          <a:prstGeom prst="roundRect">
            <a:avLst>
              <a:gd name="adj" fmla="val 11538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92" name="" descr="{&quot;isTemplate&quot;:true,&quot;type&quot;:&quot;text&quot;}"/>
          <p:cNvSpPr txBox="1"/>
          <p:nvPr/>
        </p:nvSpPr>
        <p:spPr>
          <a:xfrm rot="0" flipH="0" flipV="0">
            <a:off x="838200" y="1485900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393" name="" descr="{&quot;isTemplate&quot;:true,&quot;type&quot;:&quot;text&quot;}"/>
          <p:cNvSpPr txBox="1"/>
          <p:nvPr/>
        </p:nvSpPr>
        <p:spPr>
          <a:xfrm rot="0" flipH="0" flipV="0">
            <a:off x="1076325" y="14573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价值链</a:t>
            </a:r>
            <a:endParaRPr/>
          </a:p>
        </p:txBody>
      </p:sp>
      <p:sp>
        <p:nvSpPr>
          <p:cNvPr id="1394" name="" descr="{&quot;isTemplate&quot;:true,&quot;type&quot;:&quot;text&quot;}"/>
          <p:cNvSpPr txBox="1"/>
          <p:nvPr/>
        </p:nvSpPr>
        <p:spPr>
          <a:xfrm rot="0" flipH="0" flipV="0">
            <a:off x="752475" y="1800225"/>
            <a:ext cx="2390775" cy="971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识别企业级价值流——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LTC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线索到现金、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IPD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集成产品开发、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ITR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问题到解决</a:t>
            </a:r>
            <a:endParaRPr/>
          </a:p>
        </p:txBody>
      </p:sp>
      <p:sp>
        <p:nvSpPr>
          <p:cNvPr id="1395" name=""/>
          <p:cNvSpPr/>
          <p:nvPr/>
        </p:nvSpPr>
        <p:spPr>
          <a:xfrm rot="0" flipH="0" flipV="0">
            <a:off x="752475" y="2771775"/>
            <a:ext cx="2390775" cy="323850"/>
          </a:xfrm>
          <a:prstGeom prst="roundRect">
            <a:avLst>
              <a:gd name="adj" fmla="val 8824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96" name="" descr="{&quot;isTemplate&quot;:true,&quot;type&quot;:&quot;text&quot;}"/>
          <p:cNvSpPr txBox="1"/>
          <p:nvPr/>
        </p:nvSpPr>
        <p:spPr>
          <a:xfrm rot="0" flipH="0" flipV="0">
            <a:off x="847725" y="2857500"/>
            <a:ext cx="2200275" cy="161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8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产出：</a:t>
            </a:r>
            <a:r>
              <a:rPr lang="zh-CN" sz="78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企业级价值流清单</a:t>
            </a:r>
            <a:endParaRPr/>
          </a:p>
        </p:txBody>
      </p:sp>
      <p:sp>
        <p:nvSpPr>
          <p:cNvPr id="1397" name=""/>
          <p:cNvSpPr/>
          <p:nvPr/>
        </p:nvSpPr>
        <p:spPr>
          <a:xfrm rot="0" flipH="0" flipV="0">
            <a:off x="3371850" y="1304925"/>
            <a:ext cx="2686050" cy="1924050"/>
          </a:xfrm>
          <a:prstGeom prst="roundRect">
            <a:avLst>
              <a:gd name="adj" fmla="val 198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98" name=""/>
          <p:cNvSpPr/>
          <p:nvPr/>
        </p:nvSpPr>
        <p:spPr>
          <a:xfrm rot="0" flipH="0" flipV="0">
            <a:off x="3514725" y="1438275"/>
            <a:ext cx="247650" cy="247650"/>
          </a:xfrm>
          <a:prstGeom prst="roundRect">
            <a:avLst>
              <a:gd name="adj" fmla="val 11538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1399" name="" descr="{&quot;isTemplate&quot;:true,&quot;type&quot;:&quot;text&quot;}"/>
          <p:cNvSpPr txBox="1"/>
          <p:nvPr/>
        </p:nvSpPr>
        <p:spPr>
          <a:xfrm rot="0" flipH="0" flipV="0">
            <a:off x="3600450" y="1485900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400" name="" descr="{&quot;isTemplate&quot;:true,&quot;type&quot;:&quot;text&quot;}"/>
          <p:cNvSpPr txBox="1"/>
          <p:nvPr/>
        </p:nvSpPr>
        <p:spPr>
          <a:xfrm rot="0" flipH="0" flipV="0">
            <a:off x="3838575" y="14573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流程体系</a:t>
            </a:r>
            <a:endParaRPr/>
          </a:p>
        </p:txBody>
      </p:sp>
      <p:sp>
        <p:nvSpPr>
          <p:cNvPr id="1401" name="" descr="{&quot;isTemplate&quot;:true,&quot;type&quot;:&quot;text&quot;}"/>
          <p:cNvSpPr txBox="1"/>
          <p:nvPr/>
        </p:nvSpPr>
        <p:spPr>
          <a:xfrm rot="0" flipH="0" flipV="0">
            <a:off x="3514725" y="1800225"/>
            <a:ext cx="2400300" cy="971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端到端流程分层（华为常用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L1–L5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），并用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PDCA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把规则固化</a:t>
            </a:r>
            <a:endParaRPr/>
          </a:p>
        </p:txBody>
      </p:sp>
      <p:sp>
        <p:nvSpPr>
          <p:cNvPr id="1402" name=""/>
          <p:cNvSpPr/>
          <p:nvPr/>
        </p:nvSpPr>
        <p:spPr>
          <a:xfrm rot="0" flipH="0" flipV="0">
            <a:off x="3514725" y="2771775"/>
            <a:ext cx="2400300" cy="323850"/>
          </a:xfrm>
          <a:prstGeom prst="roundRect">
            <a:avLst>
              <a:gd name="adj" fmla="val 8824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1403" name="" descr="{&quot;isTemplate&quot;:true,&quot;type&quot;:&quot;text&quot;}"/>
          <p:cNvSpPr txBox="1"/>
          <p:nvPr/>
        </p:nvSpPr>
        <p:spPr>
          <a:xfrm rot="0" flipH="0" flipV="0">
            <a:off x="3609975" y="2857500"/>
            <a:ext cx="2209800" cy="161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8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产出：</a:t>
            </a:r>
            <a:r>
              <a:rPr lang="zh-CN" sz="78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流程分层清单</a:t>
            </a:r>
            <a:r>
              <a:rPr lang="en-US" sz="78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8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规则</a:t>
            </a:r>
            <a:endParaRPr/>
          </a:p>
        </p:txBody>
      </p:sp>
      <p:sp>
        <p:nvSpPr>
          <p:cNvPr id="1404" name=""/>
          <p:cNvSpPr/>
          <p:nvPr/>
        </p:nvSpPr>
        <p:spPr>
          <a:xfrm rot="0" flipH="0" flipV="0">
            <a:off x="6143625" y="1304925"/>
            <a:ext cx="2676525" cy="1924050"/>
          </a:xfrm>
          <a:prstGeom prst="roundRect">
            <a:avLst>
              <a:gd name="adj" fmla="val 198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05" name=""/>
          <p:cNvSpPr/>
          <p:nvPr/>
        </p:nvSpPr>
        <p:spPr>
          <a:xfrm rot="0" flipH="0" flipV="0">
            <a:off x="6286500" y="1438275"/>
            <a:ext cx="247650" cy="247650"/>
          </a:xfrm>
          <a:prstGeom prst="roundRect">
            <a:avLst>
              <a:gd name="adj" fmla="val 11538"/>
            </a:avLst>
          </a:prstGeom>
          <a:solidFill>
            <a:srgbClr val="D2531A"/>
          </a:solidFill>
          <a:ln/>
        </p:spPr>
        <p:txBody>
          <a:bodyPr/>
          <a:p/>
        </p:txBody>
      </p:sp>
      <p:sp>
        <p:nvSpPr>
          <p:cNvPr id="1406" name="" descr="{&quot;isTemplate&quot;:true,&quot;type&quot;:&quot;text&quot;}"/>
          <p:cNvSpPr txBox="1"/>
          <p:nvPr/>
        </p:nvSpPr>
        <p:spPr>
          <a:xfrm rot="0" flipH="0" flipV="0">
            <a:off x="6372225" y="1485900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407" name="" descr="{&quot;isTemplate&quot;:true,&quot;type&quot;:&quot;text&quot;}"/>
          <p:cNvSpPr txBox="1"/>
          <p:nvPr/>
        </p:nvSpPr>
        <p:spPr>
          <a:xfrm rot="0" flipH="0" flipV="0">
            <a:off x="6610350" y="14573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能力体系</a:t>
            </a:r>
            <a:endParaRPr/>
          </a:p>
        </p:txBody>
      </p:sp>
      <p:sp>
        <p:nvSpPr>
          <p:cNvPr id="1408" name="" descr="{&quot;isTemplate&quot;:true,&quot;type&quot;:&quot;text&quot;}"/>
          <p:cNvSpPr txBox="1"/>
          <p:nvPr/>
        </p:nvSpPr>
        <p:spPr>
          <a:xfrm rot="0" flipH="0" flipV="0">
            <a:off x="6286500" y="1800225"/>
            <a:ext cx="2390775" cy="971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把价值流分解成分层能力清单，明确责任归属与成熟度要求</a:t>
            </a:r>
            <a:endParaRPr/>
          </a:p>
        </p:txBody>
      </p:sp>
      <p:sp>
        <p:nvSpPr>
          <p:cNvPr id="1409" name=""/>
          <p:cNvSpPr/>
          <p:nvPr/>
        </p:nvSpPr>
        <p:spPr>
          <a:xfrm rot="0" flipH="0" flipV="0">
            <a:off x="6286500" y="2771775"/>
            <a:ext cx="2390775" cy="323850"/>
          </a:xfrm>
          <a:prstGeom prst="roundRect">
            <a:avLst>
              <a:gd name="adj" fmla="val 8824"/>
            </a:avLst>
          </a:prstGeom>
          <a:solidFill>
            <a:srgbClr val="D2531A"/>
          </a:solidFill>
          <a:ln/>
        </p:spPr>
        <p:txBody>
          <a:bodyPr/>
          <a:p/>
        </p:txBody>
      </p:sp>
      <p:sp>
        <p:nvSpPr>
          <p:cNvPr id="1410" name="" descr="{&quot;isTemplate&quot;:true,&quot;type&quot;:&quot;text&quot;}"/>
          <p:cNvSpPr txBox="1"/>
          <p:nvPr/>
        </p:nvSpPr>
        <p:spPr>
          <a:xfrm rot="0" flipH="0" flipV="0">
            <a:off x="6381750" y="2857500"/>
            <a:ext cx="2200275" cy="161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8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产出：</a:t>
            </a:r>
            <a:r>
              <a:rPr lang="zh-CN" sz="78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能力地图与归属</a:t>
            </a:r>
            <a:endParaRPr/>
          </a:p>
        </p:txBody>
      </p:sp>
      <p:sp>
        <p:nvSpPr>
          <p:cNvPr id="1411" name=""/>
          <p:cNvSpPr/>
          <p:nvPr/>
        </p:nvSpPr>
        <p:spPr>
          <a:xfrm rot="0" flipH="0" flipV="0">
            <a:off x="8905875" y="1304925"/>
            <a:ext cx="2676525" cy="1924050"/>
          </a:xfrm>
          <a:prstGeom prst="roundRect">
            <a:avLst>
              <a:gd name="adj" fmla="val 198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12" name=""/>
          <p:cNvSpPr/>
          <p:nvPr/>
        </p:nvSpPr>
        <p:spPr>
          <a:xfrm rot="0" flipH="0" flipV="0">
            <a:off x="9048750" y="1438275"/>
            <a:ext cx="247650" cy="247650"/>
          </a:xfrm>
          <a:prstGeom prst="roundRect">
            <a:avLst>
              <a:gd name="adj" fmla="val 11538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1413" name="" descr="{&quot;isTemplate&quot;:true,&quot;type&quot;:&quot;text&quot;}"/>
          <p:cNvSpPr txBox="1"/>
          <p:nvPr/>
        </p:nvSpPr>
        <p:spPr>
          <a:xfrm rot="0" flipH="0" flipV="0">
            <a:off x="9134475" y="1485900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414" name="" descr="{&quot;isTemplate&quot;:true,&quot;type&quot;:&quot;text&quot;}"/>
          <p:cNvSpPr txBox="1"/>
          <p:nvPr/>
        </p:nvSpPr>
        <p:spPr>
          <a:xfrm rot="0" flipH="0" flipV="0">
            <a:off x="9372600" y="14573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业务对象</a:t>
            </a:r>
            <a:endParaRPr/>
          </a:p>
        </p:txBody>
      </p:sp>
      <p:sp>
        <p:nvSpPr>
          <p:cNvPr id="1415" name="" descr="{&quot;isTemplate&quot;:true,&quot;type&quot;:&quot;text&quot;}"/>
          <p:cNvSpPr txBox="1"/>
          <p:nvPr/>
        </p:nvSpPr>
        <p:spPr>
          <a:xfrm rot="0" flipH="0" flipV="0">
            <a:off x="9048750" y="1800225"/>
            <a:ext cx="2390775" cy="971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识别核心业务实体及其协作关系——这是喂给数据架构的输入</a:t>
            </a:r>
            <a:endParaRPr/>
          </a:p>
        </p:txBody>
      </p:sp>
      <p:sp>
        <p:nvSpPr>
          <p:cNvPr id="1416" name=""/>
          <p:cNvSpPr/>
          <p:nvPr/>
        </p:nvSpPr>
        <p:spPr>
          <a:xfrm rot="0" flipH="0" flipV="0">
            <a:off x="9048750" y="2771775"/>
            <a:ext cx="2390775" cy="323850"/>
          </a:xfrm>
          <a:prstGeom prst="roundRect">
            <a:avLst>
              <a:gd name="adj" fmla="val 8824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1417" name="" descr="{&quot;isTemplate&quot;:true,&quot;type&quot;:&quot;text&quot;}"/>
          <p:cNvSpPr txBox="1"/>
          <p:nvPr/>
        </p:nvSpPr>
        <p:spPr>
          <a:xfrm rot="0" flipH="0" flipV="0">
            <a:off x="9144000" y="2857500"/>
            <a:ext cx="2200275" cy="161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8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产出：</a:t>
            </a:r>
            <a:r>
              <a:rPr lang="zh-CN" sz="78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业务对象与关系</a:t>
            </a:r>
            <a:endParaRPr/>
          </a:p>
        </p:txBody>
      </p:sp>
      <p:sp>
        <p:nvSpPr>
          <p:cNvPr id="1418" name=""/>
          <p:cNvSpPr/>
          <p:nvPr/>
        </p:nvSpPr>
        <p:spPr>
          <a:xfrm rot="0" flipH="0" flipV="0">
            <a:off x="609600" y="3324225"/>
            <a:ext cx="7334250" cy="1390650"/>
          </a:xfrm>
          <a:prstGeom prst="roundRect">
            <a:avLst>
              <a:gd name="adj" fmla="val 274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419" name="" descr="{&quot;isTemplate&quot;:true,&quot;type&quot;:&quot;text&quot;}"/>
          <p:cNvSpPr txBox="1"/>
          <p:nvPr/>
        </p:nvSpPr>
        <p:spPr>
          <a:xfrm rot="0" flipH="0" flipV="0">
            <a:off x="800100" y="3457575"/>
            <a:ext cx="695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要确定的三件事</a:t>
            </a:r>
            <a:endParaRPr/>
          </a:p>
        </p:txBody>
      </p:sp>
      <p:sp>
        <p:nvSpPr>
          <p:cNvPr id="1420" name=""/>
          <p:cNvSpPr/>
          <p:nvPr/>
        </p:nvSpPr>
        <p:spPr>
          <a:xfrm rot="0" flipH="0" flipV="0">
            <a:off x="828675" y="3724275"/>
            <a:ext cx="6953250" cy="238125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421" name=""/>
          <p:cNvSpPr/>
          <p:nvPr/>
        </p:nvSpPr>
        <p:spPr>
          <a:xfrm rot="0" flipH="0" flipV="0">
            <a:off x="828675" y="3724275"/>
            <a:ext cx="6953250" cy="238125"/>
          </a:xfrm>
          <a:custGeom>
            <a:pathLst>
              <a:path w="730" h="25">
                <a:moveTo>
                  <a:pt x="3" y="25"/>
                </a:moveTo>
                <a:cubicBezTo>
                  <a:pt x="2" y="25"/>
                  <a:pt x="1" y="25"/>
                  <a:pt x="1" y="25"/>
                </a:cubicBezTo>
                <a:cubicBezTo>
                  <a:pt x="0" y="24"/>
                  <a:pt x="0" y="24"/>
                  <a:pt x="0" y="23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lnTo>
                  <a:pt x="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22" name="" descr="{&quot;isTemplate&quot;:true,&quot;type&quot;:&quot;text&quot;}"/>
          <p:cNvSpPr txBox="1"/>
          <p:nvPr/>
        </p:nvSpPr>
        <p:spPr>
          <a:xfrm rot="0" flipH="0" flipV="0">
            <a:off x="942975" y="3771900"/>
            <a:ext cx="102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A4F24"/>
                </a:solidFill>
                <a:latin typeface="Microsoft YaHei"/>
                <a:ea typeface="Microsoft YaHei"/>
              </a:rPr>
              <a:t>价值流</a:t>
            </a:r>
            <a:endParaRPr/>
          </a:p>
        </p:txBody>
      </p:sp>
      <p:sp>
        <p:nvSpPr>
          <p:cNvPr id="1423" name="" descr="{&quot;isTemplate&quot;:true,&quot;type&quot;:&quot;text&quot;}"/>
          <p:cNvSpPr txBox="1"/>
          <p:nvPr/>
        </p:nvSpPr>
        <p:spPr>
          <a:xfrm rot="0" flipH="0" flipV="0">
            <a:off x="2085975" y="3771900"/>
            <a:ext cx="1714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为客户创造什么价值（业务语言）</a:t>
            </a:r>
            <a:endParaRPr/>
          </a:p>
        </p:txBody>
      </p:sp>
      <p:sp>
        <p:nvSpPr>
          <p:cNvPr id="1424" name=""/>
          <p:cNvSpPr/>
          <p:nvPr/>
        </p:nvSpPr>
        <p:spPr>
          <a:xfrm rot="0" flipH="0" flipV="0">
            <a:off x="828675" y="4038600"/>
            <a:ext cx="6953250" cy="228600"/>
          </a:xfrm>
          <a:prstGeom prst="roundRect">
            <a:avLst>
              <a:gd name="adj" fmla="val 8333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425" name=""/>
          <p:cNvSpPr/>
          <p:nvPr/>
        </p:nvSpPr>
        <p:spPr>
          <a:xfrm rot="0" flipH="0" flipV="0">
            <a:off x="828675" y="4038600"/>
            <a:ext cx="6953250" cy="228600"/>
          </a:xfrm>
          <a:custGeom>
            <a:pathLst>
              <a:path w="730" h="24">
                <a:moveTo>
                  <a:pt x="3" y="24"/>
                </a:moveTo>
                <a:cubicBezTo>
                  <a:pt x="2" y="24"/>
                  <a:pt x="1" y="24"/>
                  <a:pt x="1" y="24"/>
                </a:cubicBezTo>
                <a:cubicBezTo>
                  <a:pt x="0" y="23"/>
                  <a:pt x="0" y="23"/>
                  <a:pt x="0" y="22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lnTo>
                  <a:pt x="3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1426" name="" descr="{&quot;isTemplate&quot;:true,&quot;type&quot;:&quot;text&quot;}"/>
          <p:cNvSpPr txBox="1"/>
          <p:nvPr/>
        </p:nvSpPr>
        <p:spPr>
          <a:xfrm rot="0" flipH="0" flipV="0">
            <a:off x="942975" y="4086225"/>
            <a:ext cx="102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E0641E"/>
                </a:solidFill>
                <a:latin typeface="Microsoft YaHei"/>
                <a:ea typeface="Microsoft YaHei"/>
              </a:rPr>
              <a:t>业务能力</a:t>
            </a:r>
            <a:endParaRPr/>
          </a:p>
        </p:txBody>
      </p:sp>
      <p:sp>
        <p:nvSpPr>
          <p:cNvPr id="1427" name="" descr="{&quot;isTemplate&quot;:true,&quot;type&quot;:&quot;text&quot;}"/>
          <p:cNvSpPr txBox="1"/>
          <p:nvPr/>
        </p:nvSpPr>
        <p:spPr>
          <a:xfrm rot="0" flipH="0" flipV="0">
            <a:off x="2085975" y="4086225"/>
            <a:ext cx="1485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业务场景与形态（能力语言）</a:t>
            </a:r>
            <a:endParaRPr/>
          </a:p>
        </p:txBody>
      </p:sp>
      <p:sp>
        <p:nvSpPr>
          <p:cNvPr id="1428" name=""/>
          <p:cNvSpPr/>
          <p:nvPr/>
        </p:nvSpPr>
        <p:spPr>
          <a:xfrm rot="0" flipH="0" flipV="0">
            <a:off x="828675" y="4343400"/>
            <a:ext cx="6953250" cy="238125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429" name=""/>
          <p:cNvSpPr/>
          <p:nvPr/>
        </p:nvSpPr>
        <p:spPr>
          <a:xfrm rot="0" flipH="0" flipV="0">
            <a:off x="828675" y="4343400"/>
            <a:ext cx="6953250" cy="238125"/>
          </a:xfrm>
          <a:custGeom>
            <a:pathLst>
              <a:path w="730" h="25">
                <a:moveTo>
                  <a:pt x="3" y="25"/>
                </a:moveTo>
                <a:cubicBezTo>
                  <a:pt x="2" y="25"/>
                  <a:pt x="1" y="25"/>
                  <a:pt x="1" y="25"/>
                </a:cubicBezTo>
                <a:cubicBezTo>
                  <a:pt x="0" y="24"/>
                  <a:pt x="0" y="24"/>
                  <a:pt x="0" y="23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lnTo>
                  <a:pt x="3" y="0"/>
                </a:lnTo>
                <a:close/>
              </a:path>
            </a:pathLst>
          </a:custGeom>
          <a:solidFill>
            <a:srgbClr val="D2531A"/>
          </a:solidFill>
          <a:ln/>
        </p:spPr>
        <p:txBody>
          <a:bodyPr/>
          <a:p/>
        </p:txBody>
      </p:sp>
      <p:sp>
        <p:nvSpPr>
          <p:cNvPr id="1430" name="" descr="{&quot;isTemplate&quot;:true,&quot;type&quot;:&quot;text&quot;}"/>
          <p:cNvSpPr txBox="1"/>
          <p:nvPr/>
        </p:nvSpPr>
        <p:spPr>
          <a:xfrm rot="0" flipH="0" flipV="0">
            <a:off x="942975" y="4391025"/>
            <a:ext cx="102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D2531A"/>
                </a:solidFill>
                <a:latin typeface="Microsoft YaHei"/>
                <a:ea typeface="Microsoft YaHei"/>
              </a:rPr>
              <a:t>业务流程与服务</a:t>
            </a:r>
            <a:endParaRPr/>
          </a:p>
        </p:txBody>
      </p:sp>
      <p:sp>
        <p:nvSpPr>
          <p:cNvPr id="1431" name="" descr="{&quot;isTemplate&quot;:true,&quot;type&quot;:&quot;text&quot;}"/>
          <p:cNvSpPr txBox="1"/>
          <p:nvPr/>
        </p:nvSpPr>
        <p:spPr>
          <a:xfrm rot="0" flipH="0" flipV="0">
            <a:off x="2085975" y="4391025"/>
            <a:ext cx="1714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支持业务流灵活编排（落地语言）</a:t>
            </a:r>
            <a:endParaRPr/>
          </a:p>
        </p:txBody>
      </p:sp>
      <p:sp>
        <p:nvSpPr>
          <p:cNvPr id="1432" name=""/>
          <p:cNvSpPr/>
          <p:nvPr/>
        </p:nvSpPr>
        <p:spPr>
          <a:xfrm rot="0" flipH="0" flipV="0">
            <a:off x="8077200" y="3324225"/>
            <a:ext cx="3505200" cy="1390650"/>
          </a:xfrm>
          <a:prstGeom prst="roundRect">
            <a:avLst>
              <a:gd name="adj" fmla="val 274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33" name=""/>
          <p:cNvSpPr/>
          <p:nvPr/>
        </p:nvSpPr>
        <p:spPr>
          <a:xfrm rot="0" flipH="0" flipV="0">
            <a:off x="8077200" y="3324225"/>
            <a:ext cx="3505200" cy="1390650"/>
          </a:xfrm>
          <a:custGeom>
            <a:pathLst>
              <a:path w="368" h="146">
                <a:moveTo>
                  <a:pt x="4" y="146"/>
                </a:moveTo>
                <a:cubicBezTo>
                  <a:pt x="2" y="146"/>
                  <a:pt x="0" y="144"/>
                  <a:pt x="0" y="14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4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34" name="" descr="{&quot;isTemplate&quot;:true,&quot;type&quot;:&quot;text&quot;}"/>
          <p:cNvSpPr txBox="1"/>
          <p:nvPr/>
        </p:nvSpPr>
        <p:spPr>
          <a:xfrm rot="0" flipH="0" flipV="0">
            <a:off x="8248650" y="3457575"/>
            <a:ext cx="3162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确定用例视图</a:t>
            </a:r>
            <a:endParaRPr/>
          </a:p>
        </p:txBody>
      </p:sp>
      <p:sp>
        <p:nvSpPr>
          <p:cNvPr id="1435" name="" descr="{&quot;isTemplate&quot;:true,&quot;type&quot;:&quot;text&quot;}"/>
          <p:cNvSpPr txBox="1"/>
          <p:nvPr/>
        </p:nvSpPr>
        <p:spPr>
          <a:xfrm rot="0" flipH="0" flipV="0">
            <a:off x="8248650" y="3714750"/>
            <a:ext cx="31623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华为对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BA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的最终要求是「确定用例视图」——不是画一版静态组织图，而是定义清楚未来业务要交付哪几类能力、每类能力服务谁</a:t>
            </a:r>
            <a:endParaRPr/>
          </a:p>
        </p:txBody>
      </p:sp>
      <p:sp>
        <p:nvSpPr>
          <p:cNvPr id="1436" name="" descr="{&quot;isTemplate&quot;:true,&quot;type&quot;:&quot;text&quot;}"/>
          <p:cNvSpPr txBox="1"/>
          <p:nvPr/>
        </p:nvSpPr>
        <p:spPr>
          <a:xfrm rot="0" flipH="0" flipV="0">
            <a:off x="8248650" y="4400550"/>
            <a:ext cx="31623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用例视图定不下来，说明还停留在组织调整层面</a:t>
            </a:r>
            <a:endParaRPr/>
          </a:p>
        </p:txBody>
      </p:sp>
      <p:sp>
        <p:nvSpPr>
          <p:cNvPr id="1437" name=""/>
          <p:cNvSpPr/>
          <p:nvPr/>
        </p:nvSpPr>
        <p:spPr>
          <a:xfrm rot="0" flipH="0" flipV="0">
            <a:off x="609600" y="4810125"/>
            <a:ext cx="10972800" cy="790575"/>
          </a:xfrm>
          <a:prstGeom prst="roundRect">
            <a:avLst>
              <a:gd name="adj" fmla="val 3614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438" name="" descr="{&quot;isTemplate&quot;:true,&quot;type&quot;:&quot;text&quot;}"/>
          <p:cNvSpPr txBox="1"/>
          <p:nvPr/>
        </p:nvSpPr>
        <p:spPr>
          <a:xfrm rot="0" flipH="0" flipV="0">
            <a:off x="800100" y="5124450"/>
            <a:ext cx="1409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风险控制点</a:t>
            </a:r>
            <a:endParaRPr/>
          </a:p>
        </p:txBody>
      </p:sp>
      <p:sp>
        <p:nvSpPr>
          <p:cNvPr id="1439" name="" descr="{&quot;isTemplate&quot;:true,&quot;type&quot;:&quot;text&quot;}"/>
          <p:cNvSpPr txBox="1"/>
          <p:nvPr/>
        </p:nvSpPr>
        <p:spPr>
          <a:xfrm rot="0" flipH="0" flipV="0">
            <a:off x="2381250" y="5086350"/>
            <a:ext cx="90106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华为实践里在流程中嵌入八类风险控制点（角色分离、合规内嵌等）——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把控制放进流程，而不是流程之外再设一道审批</a:t>
            </a:r>
            <a:endParaRPr/>
          </a:p>
        </p:txBody>
      </p:sp>
      <p:sp>
        <p:nvSpPr>
          <p:cNvPr id="1440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41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1442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31 / 35</a:t>
            </a:r>
            <a:endParaRPr/>
          </a:p>
        </p:txBody>
      </p:sp>
    </p:spTree>
  </p:cSld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1443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IA / DA 信息架构：&lt;span style={{ color: '#FA4F24' }}&gt;承上启下&lt;/span&gt;的三层模型&#10;        &lt;/Text&gt;&#10;        &lt;Text style={{ fontSize: 20, color: '#8A8F99', marginTop: 8 }}&gt;&#10;            这一层最占口舌：原书写 IA，《华为数据之道》写 DA，同一层两种叫法——现场被挑口径时怎么答&#10;        &lt;/Text&gt;&#10;    &lt;/Box&gt;&#10;    &lt;Box style={{ height: 1, background: '#E8E8E8' }} /&gt;&#10;&#10;    {/* B 区 */}&#10;    &lt;Box style={{ paddingTop: 14, paddingBottom: 10, height: 479, flexDirection: 'column', gap: 8 }}&gt;&#10;&#10;        {/* 上：口径差异 */}&#10;        &lt;Box style={{ height: 92, flexDirection: 'row', gap: 9 }}&gt;&#10;            &lt;Box style={{ flex: 1, background: '#0F1423', borderRadius: 4, padding: '12px 18px', flexDirection: 'row', alignItems: 'center', gap: 14 }}&gt;&#10;                &lt;Box style={{ width: 42, height: 42, background: '#E0641E', borderRadius: 3, alignItems: 'center', justifyContent: 'center' }}&gt;&#10;                    &lt;Text style={{ fontSize: 15, fontWeight: 'bold', color: '#FFFFFF' }}&gt;IA&lt;/Text&gt;&#10;                &lt;/Box&gt;&#10;                &lt;Box style={{ flex: 1 }}&gt;&#10;                    &lt;Text style={{ fontSize: 14.5, fontWeight: 'bold', color: '#FFFFFF' }}&gt;《华为数字化转型之道》原书写法&lt;/Text&gt;&#10;                    &lt;Text style={{ fontSize: 11.5, color: 'rgba(255,255,255,0.78)', marginTop: 5 }}&gt;Information Architecture　信息架构&lt;/Text&gt;&#10;                &lt;/Box&gt;&#10;            &lt;/Box&gt;&#10;            &lt;Box style={{ width: 96, background: '#FA4F24', borderRadius: 4, flexDirection: 'column', alignItems: 'center', justifyContent: 'center' }}&gt;&#10;                &lt;Text style={{ fontSize: 22, fontWeight: 'bold', color: '#FFFFFF' }}&gt;=&lt;/Text&gt;&#10;                &lt;Text style={{ fontSize: 11, color: 'rgba(255,255,255,0.92)', marginTop: 4 }}&gt;同一层&lt;/Text&gt;&#10;            &lt;/Box&gt;&#10;            &lt;Box style={{ flex: 1, background: '#0F1423', borderRadius: 4, padding: '12px 18px', flexDirection: 'row', alignItems: 'center', gap: 14 }}&gt;&#10;                &lt;Box style={{ width: 42, height: 42, background: '#D2531A', borderRadius: 3, alignItems: 'center', justifyContent: 'center' }}&gt;&#10;                    &lt;Text style={{ fontSize: 15, fontWeight: 'bold', color: '#FFFFFF' }}&gt;DA&lt;/Text&gt;&#10;                &lt;/Box&gt;&#10;                &lt;Box style={{ flex: 1 }}&gt;&#10;                    &lt;Text style={{ fontSize: 14.5, fontWeight: 'bold', color: '#FFFFFF' }}&gt;《华为数据之道》与业界通用写法&lt;/Text&gt;&#10;                    &lt;Text style={{ fontSize: 11.5, color: 'rgba(255,255,255,0.78)', marginTop: 5 }}&gt;Data Architecture　数据架构&lt;/Text&gt;&#10;                &lt;/Box&gt;&#10;            &lt;/Box&gt;&#10;            &lt;Box style={{ width: 316, background: '#FFF3EE', borderRadius: 4, borderLeft: '4px solid #FA4F24', padding: '0 15px', flexDirection: 'column', justifyContent: 'center' }}&gt;&#10;                &lt;Text style={{ fontSize: 12.5, fontWeight: 'bold', color: '#C43A17' }}&gt;现场怎么答&lt;/Text&gt;&#10;                &lt;Text style={{ fontSize: 11.5, color: '#3A4050', lineHeight: 1.4, marginTop: 4 }}&gt;两种都对，但要能立刻说清是哪本册子的哪一层&lt;/Text&gt;&#10;            &lt;/Box&gt;&#10;        &lt;/Box&gt;&#10;&#10;        {/* 中：三层模型 */}&#10;        &lt;Box style={{ flex: 1, flexDirection: 'row', gap: 9, alignItems: 'stretch' }}&gt;&#10;            {[&#10;                {&#10;                    L: '概念数据模型', q: '识别主体', c: '#E0641E',&#10;                    d: '从业务架构的业务对象出发，识别出主体及其关系——不涉及任何技术词',&#10;                    ex: '设备、批次、缺陷、订单 之间的关系',&#10;                    o: '概念模型图',&#10;                },&#10;                {&#10;                    L: '逻辑数据模型', q: '定义主键', c: '#D2531A',&#10;                    d: '给每个主体定义唯一标识与属性，消除歧义——多系统口径统一的真正抓手',&#10;                    ex: '一个设备在设备台账、工单、质检三处主键如何一致',&#10;                    o: '逻辑表结构 + 主键规则',&#10;                },&#10;                {&#10;                    L: '物理数据模型', q: '具现化', c: '#C43A17',&#10;                    d: '落到具体库表结构、存储位置与访问方式——这一步才进入技术范畴',&#10;                    ex: '设备表的主键、分区策略、读写路径',&#10;                    o: '库表结构与分布',&#10;                },&#10;            ].map((x) =&gt; (&#10;                &lt;Box key={x.L} style={{ flex: 1, background: '#F7F7F8', borderRadius: 4, padding: '13px 15px', flexDirection: 'column' }}&gt;&#10;                    &lt;Box style={{ flexDirection: 'row', alignItems: 'center', gap: 8 }}&gt;&#10;                        &lt;Text style={{ fontSize: 16.5, fontWeight: 'bold', color: x.c }}&gt;{x.L}&lt;/Text&gt;&#10;                        &lt;Box style={{ height: 16, background: x.c, borderRadius: 2, padding: '0 6px', flexDirection: 'row', alignItems: 'center' }}&gt;&#10;                            &lt;Text style={{ fontSize: 10, color: '#FFFFFF' }}&gt;{x.q}&lt;/Text&gt;&#10;                        &lt;/Box&gt;&#10;                    &lt;/Box&gt;&#10;                    &lt;Text style={{ fontSize: 12, color: '#3A4050', lineHeight: 1.5, marginTop: 10, flex: 1 }}&gt;{x.d}&lt;/Text&gt;&#10;                    &lt;Box style={{ background: '#FFFFFF', borderRadius: 2, padding: '7px 10px' }}&gt;&#10;                        &lt;Text style={{ fontSize: 10.5, color: '#5A6070', lineHeight: 1.4 }}&gt;{x.ex}&lt;/Text&gt;&#10;                    &lt;/Box&gt;&#10;                    &lt;Text style={{ fontSize: 11, color: x.c, marginTop: 8 }}&gt;产出：{x.o}&lt;/Text&gt;&#10;                &lt;/Box&gt;&#10;            ))}&#10;        &lt;/Box&gt;&#10;&#10;        {/* 底部：现场话术 */}&#10;        &lt;Box style={{ height: 42, background: '#0F1423', borderRadius: 3, flexDirection: 'row', alignItems: 'center', padding: '0 20px', gap: 16 }}&gt;&#10;            &lt;Text style={{ fontSize: 13.5, fontWeight: 'bold', color: '#FBA15C', width: 138 }}&gt;被追问时的说法&lt;/Text&gt;&#10;            &lt;Text style={{ fontSize: 14, color: '#FFFFFF', flex: 1, lineHeight: 1.4 }}&gt;&#10;                「这一层华为原书叫 IA，数据之道叫 DA，&lt;tspan style={{ color: '#FA4F24' }}&gt;指的都是业务对象往数据落的那一层&lt;/tspan&gt;——您按哪本册子叫都行，内容是同一件事。」&#10;            &lt;/Text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华为数字化转型之道&lt;/Text&gt;&#10;        &lt;/Box&gt;&#10;        &lt;Text style={{ fontSize: 14, color: '#8A8F99' }}&gt;32 / 3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45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IA / DA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信息架构：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承上启下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的三层模型</a:t>
            </a:r>
            <a:endParaRPr/>
          </a:p>
        </p:txBody>
      </p:sp>
      <p:sp>
        <p:nvSpPr>
          <p:cNvPr id="1446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这一层最占口舌：原书写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IA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，《华为数据之道》写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DA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，同一层两种叫法——现场被挑口径时怎么答</a:t>
            </a:r>
            <a:endParaRPr/>
          </a:p>
        </p:txBody>
      </p:sp>
      <p:sp>
        <p:nvSpPr>
          <p:cNvPr id="1447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448" name=""/>
          <p:cNvSpPr/>
          <p:nvPr/>
        </p:nvSpPr>
        <p:spPr>
          <a:xfrm rot="0" flipH="0" flipV="0">
            <a:off x="609600" y="1285875"/>
            <a:ext cx="3400425" cy="876300"/>
          </a:xfrm>
          <a:prstGeom prst="roundRect">
            <a:avLst>
              <a:gd name="adj" fmla="val 434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449" name=""/>
          <p:cNvSpPr/>
          <p:nvPr/>
        </p:nvSpPr>
        <p:spPr>
          <a:xfrm rot="0" flipH="0" flipV="0">
            <a:off x="781050" y="1524000"/>
            <a:ext cx="400050" cy="400050"/>
          </a:xfrm>
          <a:prstGeom prst="roundRect">
            <a:avLst>
              <a:gd name="adj" fmla="val 7143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1450" name="" descr="{&quot;isTemplate&quot;:true,&quot;type&quot;:&quot;text&quot;}"/>
          <p:cNvSpPr txBox="1"/>
          <p:nvPr/>
        </p:nvSpPr>
        <p:spPr>
          <a:xfrm rot="0" flipH="0" flipV="0">
            <a:off x="904875" y="1638300"/>
            <a:ext cx="161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IA</a:t>
            </a:r>
            <a:endParaRPr/>
          </a:p>
        </p:txBody>
      </p:sp>
      <p:sp>
        <p:nvSpPr>
          <p:cNvPr id="1451" name="" descr="{&quot;isTemplate&quot;:true,&quot;type&quot;:&quot;text&quot;}"/>
          <p:cNvSpPr txBox="1"/>
          <p:nvPr/>
        </p:nvSpPr>
        <p:spPr>
          <a:xfrm rot="0" flipH="0" flipV="0">
            <a:off x="1314450" y="1552575"/>
            <a:ext cx="2524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FFFFF"/>
                </a:solidFill>
                <a:latin typeface="Microsoft YaHei"/>
                <a:ea typeface="Microsoft YaHei"/>
              </a:rPr>
              <a:t>《华为数字化转型之道》原书写法</a:t>
            </a:r>
            <a:endParaRPr/>
          </a:p>
        </p:txBody>
      </p:sp>
      <p:sp>
        <p:nvSpPr>
          <p:cNvPr id="1452" name="" descr="{&quot;isTemplate&quot;:true,&quot;type&quot;:&quot;text&quot;}"/>
          <p:cNvSpPr txBox="1"/>
          <p:nvPr/>
        </p:nvSpPr>
        <p:spPr>
          <a:xfrm rot="0" flipH="0" flipV="0">
            <a:off x="1314450" y="1771650"/>
            <a:ext cx="2524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Information Architecture</a:t>
            </a:r>
            <a:r>
              <a:rPr lang="zh-CN" sz="863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　信息架构</a:t>
            </a:r>
            <a:endParaRPr/>
          </a:p>
        </p:txBody>
      </p:sp>
      <p:sp>
        <p:nvSpPr>
          <p:cNvPr id="1453" name=""/>
          <p:cNvSpPr/>
          <p:nvPr/>
        </p:nvSpPr>
        <p:spPr>
          <a:xfrm rot="0" flipH="0" flipV="0">
            <a:off x="4095750" y="1285875"/>
            <a:ext cx="914400" cy="876300"/>
          </a:xfrm>
          <a:prstGeom prst="roundRect">
            <a:avLst>
              <a:gd name="adj" fmla="val 4348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54" name="" descr="{&quot;isTemplate&quot;:true,&quot;type&quot;:&quot;text&quot;}"/>
          <p:cNvSpPr txBox="1"/>
          <p:nvPr/>
        </p:nvSpPr>
        <p:spPr>
          <a:xfrm rot="0" flipH="0" flipV="0">
            <a:off x="4476750" y="1514475"/>
            <a:ext cx="161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=</a:t>
            </a:r>
            <a:endParaRPr/>
          </a:p>
        </p:txBody>
      </p:sp>
      <p:sp>
        <p:nvSpPr>
          <p:cNvPr id="1455" name="" descr="{&quot;isTemplate&quot;:true,&quot;type&quot;:&quot;text&quot;}"/>
          <p:cNvSpPr txBox="1"/>
          <p:nvPr/>
        </p:nvSpPr>
        <p:spPr>
          <a:xfrm rot="0" flipH="0" flipV="0">
            <a:off x="4400550" y="1809750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同一层</a:t>
            </a:r>
            <a:endParaRPr/>
          </a:p>
        </p:txBody>
      </p:sp>
      <p:sp>
        <p:nvSpPr>
          <p:cNvPr id="1456" name=""/>
          <p:cNvSpPr/>
          <p:nvPr/>
        </p:nvSpPr>
        <p:spPr>
          <a:xfrm rot="0" flipH="0" flipV="0">
            <a:off x="5095875" y="1285875"/>
            <a:ext cx="3390900" cy="876300"/>
          </a:xfrm>
          <a:prstGeom prst="roundRect">
            <a:avLst>
              <a:gd name="adj" fmla="val 434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457" name=""/>
          <p:cNvSpPr/>
          <p:nvPr/>
        </p:nvSpPr>
        <p:spPr>
          <a:xfrm rot="0" flipH="0" flipV="0">
            <a:off x="5267325" y="1524000"/>
            <a:ext cx="400050" cy="400050"/>
          </a:xfrm>
          <a:prstGeom prst="roundRect">
            <a:avLst>
              <a:gd name="adj" fmla="val 7143"/>
            </a:avLst>
          </a:prstGeom>
          <a:solidFill>
            <a:srgbClr val="D2531A"/>
          </a:solidFill>
          <a:ln/>
        </p:spPr>
        <p:txBody>
          <a:bodyPr/>
          <a:p/>
        </p:txBody>
      </p:sp>
      <p:sp>
        <p:nvSpPr>
          <p:cNvPr id="1458" name="" descr="{&quot;isTemplate&quot;:true,&quot;type&quot;:&quot;text&quot;}"/>
          <p:cNvSpPr txBox="1"/>
          <p:nvPr/>
        </p:nvSpPr>
        <p:spPr>
          <a:xfrm rot="0" flipH="0" flipV="0">
            <a:off x="5362575" y="1638300"/>
            <a:ext cx="219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DA</a:t>
            </a:r>
            <a:endParaRPr/>
          </a:p>
        </p:txBody>
      </p:sp>
      <p:sp>
        <p:nvSpPr>
          <p:cNvPr id="1459" name="" descr="{&quot;isTemplate&quot;:true,&quot;type&quot;:&quot;text&quot;}"/>
          <p:cNvSpPr txBox="1"/>
          <p:nvPr/>
        </p:nvSpPr>
        <p:spPr>
          <a:xfrm rot="0" flipH="0" flipV="0">
            <a:off x="5800725" y="1552575"/>
            <a:ext cx="2514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FFFFF"/>
                </a:solidFill>
                <a:latin typeface="Microsoft YaHei"/>
                <a:ea typeface="Microsoft YaHei"/>
              </a:rPr>
              <a:t>《华为数据之道》与业界通用写法</a:t>
            </a:r>
            <a:endParaRPr/>
          </a:p>
        </p:txBody>
      </p:sp>
      <p:sp>
        <p:nvSpPr>
          <p:cNvPr id="1460" name="" descr="{&quot;isTemplate&quot;:true,&quot;type&quot;:&quot;text&quot;}"/>
          <p:cNvSpPr txBox="1"/>
          <p:nvPr/>
        </p:nvSpPr>
        <p:spPr>
          <a:xfrm rot="0" flipH="0" flipV="0">
            <a:off x="5800725" y="1771650"/>
            <a:ext cx="2514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Data Architecture</a:t>
            </a:r>
            <a:r>
              <a:rPr lang="zh-CN" sz="863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　数据架构</a:t>
            </a:r>
            <a:endParaRPr/>
          </a:p>
        </p:txBody>
      </p:sp>
      <p:sp>
        <p:nvSpPr>
          <p:cNvPr id="1461" name=""/>
          <p:cNvSpPr/>
          <p:nvPr/>
        </p:nvSpPr>
        <p:spPr>
          <a:xfrm rot="0" flipH="0" flipV="0">
            <a:off x="8610600" y="1285875"/>
            <a:ext cx="2971800" cy="876300"/>
          </a:xfrm>
          <a:prstGeom prst="roundRect">
            <a:avLst>
              <a:gd name="adj" fmla="val 434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62" name=""/>
          <p:cNvSpPr/>
          <p:nvPr/>
        </p:nvSpPr>
        <p:spPr>
          <a:xfrm rot="0" flipH="0" flipV="0">
            <a:off x="8610600" y="1285875"/>
            <a:ext cx="2971800" cy="876300"/>
          </a:xfrm>
          <a:custGeom>
            <a:pathLst>
              <a:path w="31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63" name="" descr="{&quot;isTemplate&quot;:true,&quot;type&quot;:&quot;text&quot;}"/>
          <p:cNvSpPr txBox="1"/>
          <p:nvPr/>
        </p:nvSpPr>
        <p:spPr>
          <a:xfrm rot="0" flipH="0" flipV="0">
            <a:off x="8753475" y="1543050"/>
            <a:ext cx="2686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现场怎么答</a:t>
            </a:r>
            <a:endParaRPr/>
          </a:p>
        </p:txBody>
      </p:sp>
      <p:sp>
        <p:nvSpPr>
          <p:cNvPr id="1464" name="" descr="{&quot;isTemplate&quot;:true,&quot;type&quot;:&quot;text&quot;}"/>
          <p:cNvSpPr txBox="1"/>
          <p:nvPr/>
        </p:nvSpPr>
        <p:spPr>
          <a:xfrm rot="0" flipH="0" flipV="0">
            <a:off x="8753475" y="1724025"/>
            <a:ext cx="26860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两种都对，但要能立刻说清是哪本册子的哪一层</a:t>
            </a:r>
            <a:endParaRPr/>
          </a:p>
        </p:txBody>
      </p:sp>
      <p:sp>
        <p:nvSpPr>
          <p:cNvPr id="1465" name=""/>
          <p:cNvSpPr/>
          <p:nvPr/>
        </p:nvSpPr>
        <p:spPr>
          <a:xfrm rot="0" flipH="0" flipV="0">
            <a:off x="609600" y="2238375"/>
            <a:ext cx="3600450" cy="2905125"/>
          </a:xfrm>
          <a:prstGeom prst="roundRect">
            <a:avLst>
              <a:gd name="adj" fmla="val 131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66" name="" descr="{&quot;isTemplate&quot;:true,&quot;type&quot;:&quot;text&quot;}"/>
          <p:cNvSpPr txBox="1"/>
          <p:nvPr/>
        </p:nvSpPr>
        <p:spPr>
          <a:xfrm rot="0" flipH="0" flipV="0">
            <a:off x="752475" y="2362200"/>
            <a:ext cx="942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E0641E"/>
                </a:solidFill>
                <a:latin typeface="Microsoft YaHei"/>
                <a:ea typeface="Microsoft YaHei"/>
              </a:rPr>
              <a:t>概念数据模型</a:t>
            </a:r>
            <a:endParaRPr/>
          </a:p>
        </p:txBody>
      </p:sp>
      <p:sp>
        <p:nvSpPr>
          <p:cNvPr id="1467" name=""/>
          <p:cNvSpPr/>
          <p:nvPr/>
        </p:nvSpPr>
        <p:spPr>
          <a:xfrm rot="0" flipH="0" flipV="0">
            <a:off x="1771650" y="2381250"/>
            <a:ext cx="495300" cy="152400"/>
          </a:xfrm>
          <a:prstGeom prst="roundRect">
            <a:avLst>
              <a:gd name="adj" fmla="val 12500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1468" name="" descr="{&quot;isTemplate&quot;:true,&quot;type&quot;:&quot;text&quot;}"/>
          <p:cNvSpPr txBox="1"/>
          <p:nvPr/>
        </p:nvSpPr>
        <p:spPr>
          <a:xfrm rot="0" flipH="0" flipV="0">
            <a:off x="1828800" y="2400300"/>
            <a:ext cx="381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/>
                </a:solidFill>
                <a:latin typeface="Microsoft YaHei"/>
                <a:ea typeface="Microsoft YaHei"/>
              </a:rPr>
              <a:t>识别主体</a:t>
            </a:r>
            <a:endParaRPr/>
          </a:p>
        </p:txBody>
      </p:sp>
      <p:sp>
        <p:nvSpPr>
          <p:cNvPr id="1469" name="" descr="{&quot;isTemplate&quot;:true,&quot;type&quot;:&quot;text&quot;}"/>
          <p:cNvSpPr txBox="1"/>
          <p:nvPr/>
        </p:nvSpPr>
        <p:spPr>
          <a:xfrm rot="0" flipH="0" flipV="0">
            <a:off x="752475" y="2647950"/>
            <a:ext cx="3314700" cy="1857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从业务架构的业务对象出发，识别出主体及其关系——不涉及任何技术词</a:t>
            </a:r>
            <a:endParaRPr/>
          </a:p>
        </p:txBody>
      </p:sp>
      <p:sp>
        <p:nvSpPr>
          <p:cNvPr id="1470" name=""/>
          <p:cNvSpPr/>
          <p:nvPr/>
        </p:nvSpPr>
        <p:spPr>
          <a:xfrm rot="0" flipH="0" flipV="0">
            <a:off x="752475" y="4505325"/>
            <a:ext cx="3314700" cy="304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71" name="" descr="{&quot;isTemplate&quot;:true,&quot;type&quot;:&quot;text&quot;}"/>
          <p:cNvSpPr txBox="1"/>
          <p:nvPr/>
        </p:nvSpPr>
        <p:spPr>
          <a:xfrm rot="0" flipH="0" flipV="0">
            <a:off x="847725" y="4572000"/>
            <a:ext cx="31242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设备、批次、缺陷、订单</a:t>
            </a:r>
            <a:r>
              <a:rPr lang="en-US" sz="788">
                <a:solidFill>
                  <a:srgbClr val="5A607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之间的关系</a:t>
            </a:r>
            <a:endParaRPr/>
          </a:p>
        </p:txBody>
      </p:sp>
      <p:sp>
        <p:nvSpPr>
          <p:cNvPr id="1472" name="" descr="{&quot;isTemplate&quot;:true,&quot;type&quot;:&quot;text&quot;}"/>
          <p:cNvSpPr txBox="1"/>
          <p:nvPr/>
        </p:nvSpPr>
        <p:spPr>
          <a:xfrm rot="0" flipH="0" flipV="0">
            <a:off x="752475" y="4886325"/>
            <a:ext cx="3314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E0641E"/>
                </a:solidFill>
                <a:latin typeface="Microsoft YaHei"/>
                <a:ea typeface="Microsoft YaHei"/>
              </a:rPr>
              <a:t>产出：</a:t>
            </a:r>
            <a:r>
              <a:rPr lang="zh-CN" sz="825">
                <a:solidFill>
                  <a:srgbClr val="E0641E"/>
                </a:solidFill>
                <a:latin typeface="Microsoft YaHei"/>
                <a:ea typeface="Microsoft YaHei"/>
              </a:rPr>
              <a:t>概念模型图</a:t>
            </a:r>
            <a:endParaRPr/>
          </a:p>
        </p:txBody>
      </p:sp>
      <p:sp>
        <p:nvSpPr>
          <p:cNvPr id="1473" name=""/>
          <p:cNvSpPr/>
          <p:nvPr/>
        </p:nvSpPr>
        <p:spPr>
          <a:xfrm rot="0" flipH="0" flipV="0">
            <a:off x="4295775" y="2238375"/>
            <a:ext cx="3600450" cy="2905125"/>
          </a:xfrm>
          <a:prstGeom prst="roundRect">
            <a:avLst>
              <a:gd name="adj" fmla="val 131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74" name="" descr="{&quot;isTemplate&quot;:true,&quot;type&quot;:&quot;text&quot;}"/>
          <p:cNvSpPr txBox="1"/>
          <p:nvPr/>
        </p:nvSpPr>
        <p:spPr>
          <a:xfrm rot="0" flipH="0" flipV="0">
            <a:off x="4438650" y="2362200"/>
            <a:ext cx="942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D2531A"/>
                </a:solidFill>
                <a:latin typeface="Microsoft YaHei"/>
                <a:ea typeface="Microsoft YaHei"/>
              </a:rPr>
              <a:t>逻辑数据模型</a:t>
            </a:r>
            <a:endParaRPr/>
          </a:p>
        </p:txBody>
      </p:sp>
      <p:sp>
        <p:nvSpPr>
          <p:cNvPr id="1475" name=""/>
          <p:cNvSpPr/>
          <p:nvPr/>
        </p:nvSpPr>
        <p:spPr>
          <a:xfrm rot="0" flipH="0" flipV="0">
            <a:off x="5457825" y="2381250"/>
            <a:ext cx="495300" cy="152400"/>
          </a:xfrm>
          <a:prstGeom prst="roundRect">
            <a:avLst>
              <a:gd name="adj" fmla="val 12500"/>
            </a:avLst>
          </a:prstGeom>
          <a:solidFill>
            <a:srgbClr val="D2531A"/>
          </a:solidFill>
          <a:ln/>
        </p:spPr>
        <p:txBody>
          <a:bodyPr/>
          <a:p/>
        </p:txBody>
      </p:sp>
      <p:sp>
        <p:nvSpPr>
          <p:cNvPr id="1476" name="" descr="{&quot;isTemplate&quot;:true,&quot;type&quot;:&quot;text&quot;}"/>
          <p:cNvSpPr txBox="1"/>
          <p:nvPr/>
        </p:nvSpPr>
        <p:spPr>
          <a:xfrm rot="0" flipH="0" flipV="0">
            <a:off x="5514975" y="2400300"/>
            <a:ext cx="381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/>
                </a:solidFill>
                <a:latin typeface="Microsoft YaHei"/>
                <a:ea typeface="Microsoft YaHei"/>
              </a:rPr>
              <a:t>定义主键</a:t>
            </a:r>
            <a:endParaRPr/>
          </a:p>
        </p:txBody>
      </p:sp>
      <p:sp>
        <p:nvSpPr>
          <p:cNvPr id="1477" name="" descr="{&quot;isTemplate&quot;:true,&quot;type&quot;:&quot;text&quot;}"/>
          <p:cNvSpPr txBox="1"/>
          <p:nvPr/>
        </p:nvSpPr>
        <p:spPr>
          <a:xfrm rot="0" flipH="0" flipV="0">
            <a:off x="4438650" y="2647950"/>
            <a:ext cx="3314700" cy="1857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给每个主体定义唯一标识与属性，消除歧义——多系统口径统一的真正抓手</a:t>
            </a:r>
            <a:endParaRPr/>
          </a:p>
        </p:txBody>
      </p:sp>
      <p:sp>
        <p:nvSpPr>
          <p:cNvPr id="1478" name=""/>
          <p:cNvSpPr/>
          <p:nvPr/>
        </p:nvSpPr>
        <p:spPr>
          <a:xfrm rot="0" flipH="0" flipV="0">
            <a:off x="4438650" y="4505325"/>
            <a:ext cx="3314700" cy="304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79" name="" descr="{&quot;isTemplate&quot;:true,&quot;type&quot;:&quot;text&quot;}"/>
          <p:cNvSpPr txBox="1"/>
          <p:nvPr/>
        </p:nvSpPr>
        <p:spPr>
          <a:xfrm rot="0" flipH="0" flipV="0">
            <a:off x="4533900" y="4572000"/>
            <a:ext cx="31242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一个设备在设备台账、工单、质检三处主键如何一致</a:t>
            </a:r>
            <a:endParaRPr/>
          </a:p>
        </p:txBody>
      </p:sp>
      <p:sp>
        <p:nvSpPr>
          <p:cNvPr id="1480" name="" descr="{&quot;isTemplate&quot;:true,&quot;type&quot;:&quot;text&quot;}"/>
          <p:cNvSpPr txBox="1"/>
          <p:nvPr/>
        </p:nvSpPr>
        <p:spPr>
          <a:xfrm rot="0" flipH="0" flipV="0">
            <a:off x="4438650" y="4886325"/>
            <a:ext cx="3314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D2531A"/>
                </a:solidFill>
                <a:latin typeface="Microsoft YaHei"/>
                <a:ea typeface="Microsoft YaHei"/>
              </a:rPr>
              <a:t>产出：</a:t>
            </a:r>
            <a:r>
              <a:rPr lang="zh-CN" sz="825">
                <a:solidFill>
                  <a:srgbClr val="D2531A"/>
                </a:solidFill>
                <a:latin typeface="Microsoft YaHei"/>
                <a:ea typeface="Microsoft YaHei"/>
              </a:rPr>
              <a:t>逻辑表结构</a:t>
            </a:r>
            <a:r>
              <a:rPr lang="en-US" sz="825">
                <a:solidFill>
                  <a:srgbClr val="D2531A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25">
                <a:solidFill>
                  <a:srgbClr val="D2531A"/>
                </a:solidFill>
                <a:latin typeface="Microsoft YaHei"/>
                <a:ea typeface="Microsoft YaHei"/>
              </a:rPr>
              <a:t>主键规则</a:t>
            </a:r>
            <a:endParaRPr/>
          </a:p>
        </p:txBody>
      </p:sp>
      <p:sp>
        <p:nvSpPr>
          <p:cNvPr id="1481" name=""/>
          <p:cNvSpPr/>
          <p:nvPr/>
        </p:nvSpPr>
        <p:spPr>
          <a:xfrm rot="0" flipH="0" flipV="0">
            <a:off x="7981950" y="2238375"/>
            <a:ext cx="3600450" cy="2905125"/>
          </a:xfrm>
          <a:prstGeom prst="roundRect">
            <a:avLst>
              <a:gd name="adj" fmla="val 131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82" name="" descr="{&quot;isTemplate&quot;:true,&quot;type&quot;:&quot;text&quot;}"/>
          <p:cNvSpPr txBox="1"/>
          <p:nvPr/>
        </p:nvSpPr>
        <p:spPr>
          <a:xfrm rot="0" flipH="0" flipV="0">
            <a:off x="8124825" y="2362200"/>
            <a:ext cx="942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C43A17"/>
                </a:solidFill>
                <a:latin typeface="Microsoft YaHei"/>
                <a:ea typeface="Microsoft YaHei"/>
              </a:rPr>
              <a:t>物理数据模型</a:t>
            </a:r>
            <a:endParaRPr/>
          </a:p>
        </p:txBody>
      </p:sp>
      <p:sp>
        <p:nvSpPr>
          <p:cNvPr id="1483" name=""/>
          <p:cNvSpPr/>
          <p:nvPr/>
        </p:nvSpPr>
        <p:spPr>
          <a:xfrm rot="0" flipH="0" flipV="0">
            <a:off x="9144000" y="2381250"/>
            <a:ext cx="400050" cy="152400"/>
          </a:xfrm>
          <a:prstGeom prst="roundRect">
            <a:avLst>
              <a:gd name="adj" fmla="val 12500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1484" name="" descr="{&quot;isTemplate&quot;:true,&quot;type&quot;:&quot;text&quot;}"/>
          <p:cNvSpPr txBox="1"/>
          <p:nvPr/>
        </p:nvSpPr>
        <p:spPr>
          <a:xfrm rot="0" flipH="0" flipV="0">
            <a:off x="9201150" y="2400300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/>
                </a:solidFill>
                <a:latin typeface="Microsoft YaHei"/>
                <a:ea typeface="Microsoft YaHei"/>
              </a:rPr>
              <a:t>具现化</a:t>
            </a:r>
            <a:endParaRPr/>
          </a:p>
        </p:txBody>
      </p:sp>
      <p:sp>
        <p:nvSpPr>
          <p:cNvPr id="1485" name="" descr="{&quot;isTemplate&quot;:true,&quot;type&quot;:&quot;text&quot;}"/>
          <p:cNvSpPr txBox="1"/>
          <p:nvPr/>
        </p:nvSpPr>
        <p:spPr>
          <a:xfrm rot="0" flipH="0" flipV="0">
            <a:off x="8124825" y="2647950"/>
            <a:ext cx="3314700" cy="1857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落到具体库表结构、存储位置与访问方式——这一步才进入技术范畴</a:t>
            </a:r>
            <a:endParaRPr/>
          </a:p>
        </p:txBody>
      </p:sp>
      <p:sp>
        <p:nvSpPr>
          <p:cNvPr id="1486" name=""/>
          <p:cNvSpPr/>
          <p:nvPr/>
        </p:nvSpPr>
        <p:spPr>
          <a:xfrm rot="0" flipH="0" flipV="0">
            <a:off x="8124825" y="4505325"/>
            <a:ext cx="3314700" cy="304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87" name="" descr="{&quot;isTemplate&quot;:true,&quot;type&quot;:&quot;text&quot;}"/>
          <p:cNvSpPr txBox="1"/>
          <p:nvPr/>
        </p:nvSpPr>
        <p:spPr>
          <a:xfrm rot="0" flipH="0" flipV="0">
            <a:off x="8220075" y="4572000"/>
            <a:ext cx="31242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设备表的主键、分区策略、读写路径</a:t>
            </a:r>
            <a:endParaRPr/>
          </a:p>
        </p:txBody>
      </p:sp>
      <p:sp>
        <p:nvSpPr>
          <p:cNvPr id="1488" name="" descr="{&quot;isTemplate&quot;:true,&quot;type&quot;:&quot;text&quot;}"/>
          <p:cNvSpPr txBox="1"/>
          <p:nvPr/>
        </p:nvSpPr>
        <p:spPr>
          <a:xfrm rot="0" flipH="0" flipV="0">
            <a:off x="8124825" y="4886325"/>
            <a:ext cx="3314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库表结构与分布</a:t>
            </a:r>
            <a:endParaRPr/>
          </a:p>
        </p:txBody>
      </p:sp>
      <p:sp>
        <p:nvSpPr>
          <p:cNvPr id="1489" name=""/>
          <p:cNvSpPr/>
          <p:nvPr/>
        </p:nvSpPr>
        <p:spPr>
          <a:xfrm rot="0" flipH="0" flipV="0">
            <a:off x="609600" y="5219700"/>
            <a:ext cx="10972800" cy="40005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490" name="" descr="{&quot;isTemplate&quot;:true,&quot;type&quot;:&quot;text&quot;}"/>
          <p:cNvSpPr txBox="1"/>
          <p:nvPr/>
        </p:nvSpPr>
        <p:spPr>
          <a:xfrm rot="0" flipH="0" flipV="0">
            <a:off x="800100" y="5343525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被追问时的说法</a:t>
            </a:r>
            <a:endParaRPr/>
          </a:p>
        </p:txBody>
      </p:sp>
      <p:sp>
        <p:nvSpPr>
          <p:cNvPr id="1491" name="" descr="{&quot;isTemplate&quot;:true,&quot;type&quot;:&quot;text&quot;}"/>
          <p:cNvSpPr txBox="1"/>
          <p:nvPr/>
        </p:nvSpPr>
        <p:spPr>
          <a:xfrm rot="0" flipH="0" flipV="0">
            <a:off x="2266950" y="5305425"/>
            <a:ext cx="91249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「这一层华为原书叫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IA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，数据之道叫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DA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，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指的都是业务对象往数据落的那一层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——您按哪本册子叫都行，内容是同一件事。」</a:t>
            </a:r>
            <a:endParaRPr/>
          </a:p>
        </p:txBody>
      </p:sp>
      <p:sp>
        <p:nvSpPr>
          <p:cNvPr id="1492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93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1494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32 / 35</a:t>
            </a:r>
            <a:endParaRPr/>
          </a:p>
        </p:txBody>
      </p:sp>
    </p:spTree>
  </p:cSld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495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AA 应用架构：&lt;span style={{ color: '#FA4F24' }}&gt;三要素与两条设计路径&lt;/span&gt;&#10;        &lt;/Text&gt;&#10;        &lt;Text style={{ fontSize: 20, color: '#8A8F99', marginTop: 8 }}&gt;&#10;            应用架构的任务是把业务能力变成可执行的软件能力——高内聚、低耦合，还要跟得上业务变化&#10;        &lt;/Text&gt;&#10;    &lt;/Box&gt;&#10;    &lt;Box style={{ height: 1, background: '#E8E8E8' }} /&gt;&#10;&#10;    {/* B 区 */}&#10;    &lt;Box style={{ paddingTop: 16, paddingBottom: 12, height: 479, flexDirection: 'column', gap: 10 }}&gt;&#10;&#10;        {/* 三要素 */}&#10;        &lt;Box style={{ height: 152, flexDirection: 'row', gap: 9 }}&gt;&#10;            {[&#10;                { n: '1', t: '应用系统模块', d: '按业务能力划分模块与系统边界，避免重复建设', o: '系统边界与模块清单', c: '#D2531A' },&#10;                { n: '2', t: '应用服务识别', d: '把共性业务能力沉淀为可复用服务，支撑中台化', o: '公共/共享服务清单', c: '#C43A17' },&#10;                { n: '3', t: '应用系统集成', d: '确定集成方式与接口设计，让端到端流程真正贯通', o: '集成架构与接口设计', c: '#9E3410' },&#10;            ].map((x) =&gt; (&#10;                &lt;Box key={x.n} style={{ flex: 1, background: '#F7F7F8', borderRadius: 4, padding: '13px 16px', flexDirection: 'column' }}&gt;&#10;                    &lt;Box style={{ flexDirection: 'row', alignItems: 'center', gap: 9 }}&gt;&#10;                        &lt;Box style={{ width: 26, height: 26, background: x.c, borderRadius: 3, alignItems: 'center', justifyContent: 'center' }}&gt;&#10;                            &lt;Text style={{ fontSize: 13, fontWeight: 'bold', color: '#FFFFFF' }}&gt;{x.n}&lt;/Text&gt;&#10;                        &lt;/Box&gt;&#10;                        &lt;Text style={{ fontSize: 16.5, fontWeight: 'bold', color: '#0F1423' }}&gt;{x.t}&lt;/Text&gt;&#10;                    &lt;/Box&gt;&#10;                    &lt;Text style={{ fontSize: 12.5, color: '#3A4050', lineHeight: 1.5, marginTop: 11, flex: 1 }}&gt;{x.d}&lt;/Text&gt;&#10;                    &lt;Text style={{ fontSize: 11, color: x.c }}&gt;产出：{x.o}&lt;/Text&gt;&#10;                &lt;/Box&gt;&#10;            ))}&#10;        &lt;/Box&gt;&#10;&#10;        {/* 中：两条路径 */}&#10;        &lt;Box style={{ flex: 1, flexDirection: 'row', gap: 10 }}&gt;&#10;            &lt;Box style={{ flex: 1, background: '#FFFFFF', borderRadius: 4, border: '1px solid #E8E8E8', borderLeft: '4px solid #D2531A', padding: '13px 18px', flexDirection: 'column' }}&gt;&#10;                &lt;Text style={{ fontSize: 16, fontWeight: 'bold', color: '#D2531A' }}&gt;自上而下：从业务能力推导&lt;/Text&gt;&#10;                &lt;Text style={{ fontSize: 12.5, color: '#3A4050', lineHeight: 1.5, marginTop: 9, flex: 1 }}&gt;&#10;                    企业价值流 → 应用域 → 应用组 → 功能模块，在每一层定义系统边界&#10;                &lt;/Text&gt;&#10;                &lt;Text style={{ fontSize: 11, color: '#8A8F99', lineHeight: 1.4 }}&gt;优点：不漏掉战略需要的能力　风险：容易忽略存量系统的实际情况&lt;/Text&gt;&#10;            &lt;/Box&gt;&#10;            &lt;Box style={{ width: 60, flexDirection: 'column', alignItems: 'center', justifyContent: 'center' }}&gt;&#10;                &lt;Text style={{ fontSize: 16, fontWeight: 'bold', color: '#FBA15C' }}&gt;＋&lt;/Text&gt;&#10;            &lt;/Box&gt;&#10;            &lt;Box style={{ flex: 1, background: '#FFFFFF', borderRadius: 4, border: '1px solid #E8E8E8', borderLeft: '4px solid #9E3410', padding: '13px 18px', flexDirection: 'column' }}&gt;&#10;                &lt;Text style={{ fontSize: 16, fontWeight: 'bold', color: '#9E3410' }}&gt;自下而上：从现有系统整合&lt;/Text&gt;&#10;                &lt;Text style={{ fontSize: 12.5, color: '#3A4050', lineHeight: 1.5, marginTop: 9, flex: 1 }}&gt;&#10;                    从已有系统出发，把共性能力聚合为服务，把重复功能合并掉&#10;                &lt;/Text&gt;&#10;                &lt;Text style={{ fontSize: 11, color: '#8A8F99', lineHeight: 1.4 }}&gt;优点：见效快　风险：容易被历史包袱牵着走&lt;/Text&gt;&#10;            &lt;/Box&gt;&#10;            &lt;Box style={{ width: 336, background: '#0F1423', borderRadius: 4, padding: '13px 18px', flexDirection: 'column', justifyContent: 'center' }}&gt;&#10;                &lt;Text style={{ fontSize: 14, fontWeight: 'bold', color: '#FBA15C' }}&gt;华为的立场：双路径收敛&lt;/Text&gt;&#10;                &lt;Text style={{ fontSize: 12.5, color: 'rgba(255,255,255,0.86)', lineHeight: 1.5, marginTop: 8, flex: 1 }}&gt;&#10;                    两条路径必须同时走并最终收敛。只自上而下会推倒重建，只自下而上会长出新的烟囱&#10;                &lt;/Text&gt;&#10;                &lt;Text style={{ fontSize: 11, color: '#FBA15C', lineHeight: 1.4 }}&gt;收敛不成的标志：两套应用清单对不上&lt;/Text&gt;&#10;            &lt;/Box&gt;&#10;        &lt;/Box&gt;&#10;&#10;        {/* 底部 */}&#10;        &lt;Box style={{ height: 44, background: '#0F1423', borderRadius: 3, flexDirection: 'row', alignItems: 'center', padding: '0 20px', gap: 16 }}&gt;&#10;            &lt;Text style={{ fontSize: 13.5, fontWeight: 'bold', color: '#FBA15C', width: 156 }}&gt;AA 要交付的两张图&lt;/Text&gt;&#10;            &lt;Text style={{ fontSize: 15, color: '#FFFFFF', flex: 1 }}&gt;功能项设计视图（做什么）＋&lt;tspan style={{ color: '#FA4F24' }}&gt;运行模型视图（怎么跑、怎么集成）&lt;/tspan&gt;&lt;/Text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华为数字化转型之道&lt;/Text&gt;&#10;        &lt;/Box&gt;&#10;        &lt;Text style={{ fontSize: 14, color: '#8A8F99' }}&gt;33 / 3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97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应用架构：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三要素与两条设计路径</a:t>
            </a:r>
            <a:endParaRPr/>
          </a:p>
        </p:txBody>
      </p:sp>
      <p:sp>
        <p:nvSpPr>
          <p:cNvPr id="149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应用架构的任务是把业务能力变成可执行的软件能力——高内聚、低耦合，还要跟得上业务变化</a:t>
            </a:r>
            <a:endParaRPr/>
          </a:p>
        </p:txBody>
      </p:sp>
      <p:sp>
        <p:nvSpPr>
          <p:cNvPr id="1499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00" name=""/>
          <p:cNvSpPr/>
          <p:nvPr/>
        </p:nvSpPr>
        <p:spPr>
          <a:xfrm rot="0" flipH="0" flipV="0">
            <a:off x="609600" y="1304925"/>
            <a:ext cx="3600450" cy="1447800"/>
          </a:xfrm>
          <a:prstGeom prst="roundRect">
            <a:avLst>
              <a:gd name="adj" fmla="val 263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01" name=""/>
          <p:cNvSpPr/>
          <p:nvPr/>
        </p:nvSpPr>
        <p:spPr>
          <a:xfrm rot="0" flipH="0" flipV="0">
            <a:off x="762000" y="1428750"/>
            <a:ext cx="247650" cy="247650"/>
          </a:xfrm>
          <a:prstGeom prst="roundRect">
            <a:avLst>
              <a:gd name="adj" fmla="val 11538"/>
            </a:avLst>
          </a:prstGeom>
          <a:solidFill>
            <a:srgbClr val="D2531A"/>
          </a:solidFill>
          <a:ln/>
        </p:spPr>
        <p:txBody>
          <a:bodyPr/>
          <a:p/>
        </p:txBody>
      </p:sp>
      <p:sp>
        <p:nvSpPr>
          <p:cNvPr id="1502" name="" descr="{&quot;isTemplate&quot;:true,&quot;type&quot;:&quot;text&quot;}"/>
          <p:cNvSpPr txBox="1"/>
          <p:nvPr/>
        </p:nvSpPr>
        <p:spPr>
          <a:xfrm rot="0" flipH="0" flipV="0">
            <a:off x="847725" y="147637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503" name="" descr="{&quot;isTemplate&quot;:true,&quot;type&quot;:&quot;text&quot;}"/>
          <p:cNvSpPr txBox="1"/>
          <p:nvPr/>
        </p:nvSpPr>
        <p:spPr>
          <a:xfrm rot="0" flipH="0" flipV="0">
            <a:off x="1095375" y="1457325"/>
            <a:ext cx="942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0F1423"/>
                </a:solidFill>
                <a:latin typeface="Microsoft YaHei"/>
                <a:ea typeface="Microsoft YaHei"/>
              </a:rPr>
              <a:t>应用系统模块</a:t>
            </a:r>
            <a:endParaRPr/>
          </a:p>
        </p:txBody>
      </p:sp>
      <p:sp>
        <p:nvSpPr>
          <p:cNvPr id="1504" name="" descr="{&quot;isTemplate&quot;:true,&quot;type&quot;:&quot;text&quot;}"/>
          <p:cNvSpPr txBox="1"/>
          <p:nvPr/>
        </p:nvSpPr>
        <p:spPr>
          <a:xfrm rot="0" flipH="0" flipV="0">
            <a:off x="762000" y="1781175"/>
            <a:ext cx="3295650" cy="714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按业务能力划分模块与系统边界，避免重复建设</a:t>
            </a:r>
            <a:endParaRPr/>
          </a:p>
        </p:txBody>
      </p:sp>
      <p:sp>
        <p:nvSpPr>
          <p:cNvPr id="1505" name="" descr="{&quot;isTemplate&quot;:true,&quot;type&quot;:&quot;text&quot;}"/>
          <p:cNvSpPr txBox="1"/>
          <p:nvPr/>
        </p:nvSpPr>
        <p:spPr>
          <a:xfrm rot="0" flipH="0" flipV="0">
            <a:off x="762000" y="2495550"/>
            <a:ext cx="3295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D2531A"/>
                </a:solidFill>
                <a:latin typeface="Microsoft YaHei"/>
                <a:ea typeface="Microsoft YaHei"/>
              </a:rPr>
              <a:t>产出：</a:t>
            </a:r>
            <a:r>
              <a:rPr lang="zh-CN" sz="825">
                <a:solidFill>
                  <a:srgbClr val="D2531A"/>
                </a:solidFill>
                <a:latin typeface="Microsoft YaHei"/>
                <a:ea typeface="Microsoft YaHei"/>
              </a:rPr>
              <a:t>系统边界与模块清单</a:t>
            </a:r>
            <a:endParaRPr/>
          </a:p>
        </p:txBody>
      </p:sp>
      <p:sp>
        <p:nvSpPr>
          <p:cNvPr id="1506" name=""/>
          <p:cNvSpPr/>
          <p:nvPr/>
        </p:nvSpPr>
        <p:spPr>
          <a:xfrm rot="0" flipH="0" flipV="0">
            <a:off x="4295775" y="1304925"/>
            <a:ext cx="3600450" cy="1447800"/>
          </a:xfrm>
          <a:prstGeom prst="roundRect">
            <a:avLst>
              <a:gd name="adj" fmla="val 263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07" name=""/>
          <p:cNvSpPr/>
          <p:nvPr/>
        </p:nvSpPr>
        <p:spPr>
          <a:xfrm rot="0" flipH="0" flipV="0">
            <a:off x="4448175" y="1428750"/>
            <a:ext cx="247650" cy="247650"/>
          </a:xfrm>
          <a:prstGeom prst="roundRect">
            <a:avLst>
              <a:gd name="adj" fmla="val 11538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1508" name="" descr="{&quot;isTemplate&quot;:true,&quot;type&quot;:&quot;text&quot;}"/>
          <p:cNvSpPr txBox="1"/>
          <p:nvPr/>
        </p:nvSpPr>
        <p:spPr>
          <a:xfrm rot="0" flipH="0" flipV="0">
            <a:off x="4533900" y="147637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509" name="" descr="{&quot;isTemplate&quot;:true,&quot;type&quot;:&quot;text&quot;}"/>
          <p:cNvSpPr txBox="1"/>
          <p:nvPr/>
        </p:nvSpPr>
        <p:spPr>
          <a:xfrm rot="0" flipH="0" flipV="0">
            <a:off x="4781550" y="1457325"/>
            <a:ext cx="942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0F1423"/>
                </a:solidFill>
                <a:latin typeface="Microsoft YaHei"/>
                <a:ea typeface="Microsoft YaHei"/>
              </a:rPr>
              <a:t>应用服务识别</a:t>
            </a:r>
            <a:endParaRPr/>
          </a:p>
        </p:txBody>
      </p:sp>
      <p:sp>
        <p:nvSpPr>
          <p:cNvPr id="1510" name="" descr="{&quot;isTemplate&quot;:true,&quot;type&quot;:&quot;text&quot;}"/>
          <p:cNvSpPr txBox="1"/>
          <p:nvPr/>
        </p:nvSpPr>
        <p:spPr>
          <a:xfrm rot="0" flipH="0" flipV="0">
            <a:off x="4448175" y="1781175"/>
            <a:ext cx="3295650" cy="714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把共性业务能力沉淀为可复用服务，支撑中台化</a:t>
            </a:r>
            <a:endParaRPr/>
          </a:p>
        </p:txBody>
      </p:sp>
      <p:sp>
        <p:nvSpPr>
          <p:cNvPr id="1511" name="" descr="{&quot;isTemplate&quot;:true,&quot;type&quot;:&quot;text&quot;}"/>
          <p:cNvSpPr txBox="1"/>
          <p:nvPr/>
        </p:nvSpPr>
        <p:spPr>
          <a:xfrm rot="0" flipH="0" flipV="0">
            <a:off x="4448175" y="2495550"/>
            <a:ext cx="3295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公共</a:t>
            </a: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>/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共享服务清单</a:t>
            </a:r>
            <a:endParaRPr/>
          </a:p>
        </p:txBody>
      </p:sp>
      <p:sp>
        <p:nvSpPr>
          <p:cNvPr id="1512" name=""/>
          <p:cNvSpPr/>
          <p:nvPr/>
        </p:nvSpPr>
        <p:spPr>
          <a:xfrm rot="0" flipH="0" flipV="0">
            <a:off x="7981950" y="1304925"/>
            <a:ext cx="3600450" cy="1447800"/>
          </a:xfrm>
          <a:prstGeom prst="roundRect">
            <a:avLst>
              <a:gd name="adj" fmla="val 263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13" name=""/>
          <p:cNvSpPr/>
          <p:nvPr/>
        </p:nvSpPr>
        <p:spPr>
          <a:xfrm rot="0" flipH="0" flipV="0">
            <a:off x="8134350" y="1428750"/>
            <a:ext cx="247650" cy="247650"/>
          </a:xfrm>
          <a:prstGeom prst="roundRect">
            <a:avLst>
              <a:gd name="adj" fmla="val 11538"/>
            </a:avLst>
          </a:prstGeom>
          <a:solidFill>
            <a:srgbClr val="9E3410"/>
          </a:solidFill>
          <a:ln/>
        </p:spPr>
        <p:txBody>
          <a:bodyPr/>
          <a:p/>
        </p:txBody>
      </p:sp>
      <p:sp>
        <p:nvSpPr>
          <p:cNvPr id="1514" name="" descr="{&quot;isTemplate&quot;:true,&quot;type&quot;:&quot;text&quot;}"/>
          <p:cNvSpPr txBox="1"/>
          <p:nvPr/>
        </p:nvSpPr>
        <p:spPr>
          <a:xfrm rot="0" flipH="0" flipV="0">
            <a:off x="8220075" y="147637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515" name="" descr="{&quot;isTemplate&quot;:true,&quot;type&quot;:&quot;text&quot;}"/>
          <p:cNvSpPr txBox="1"/>
          <p:nvPr/>
        </p:nvSpPr>
        <p:spPr>
          <a:xfrm rot="0" flipH="0" flipV="0">
            <a:off x="8467725" y="1457325"/>
            <a:ext cx="942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0F1423"/>
                </a:solidFill>
                <a:latin typeface="Microsoft YaHei"/>
                <a:ea typeface="Microsoft YaHei"/>
              </a:rPr>
              <a:t>应用系统集成</a:t>
            </a:r>
            <a:endParaRPr/>
          </a:p>
        </p:txBody>
      </p:sp>
      <p:sp>
        <p:nvSpPr>
          <p:cNvPr id="1516" name="" descr="{&quot;isTemplate&quot;:true,&quot;type&quot;:&quot;text&quot;}"/>
          <p:cNvSpPr txBox="1"/>
          <p:nvPr/>
        </p:nvSpPr>
        <p:spPr>
          <a:xfrm rot="0" flipH="0" flipV="0">
            <a:off x="8134350" y="1781175"/>
            <a:ext cx="3295650" cy="714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确定集成方式与接口设计，让端到端流程真正贯通</a:t>
            </a:r>
            <a:endParaRPr/>
          </a:p>
        </p:txBody>
      </p:sp>
      <p:sp>
        <p:nvSpPr>
          <p:cNvPr id="1517" name="" descr="{&quot;isTemplate&quot;:true,&quot;type&quot;:&quot;text&quot;}"/>
          <p:cNvSpPr txBox="1"/>
          <p:nvPr/>
        </p:nvSpPr>
        <p:spPr>
          <a:xfrm rot="0" flipH="0" flipV="0">
            <a:off x="8134350" y="2495550"/>
            <a:ext cx="3295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9E3410"/>
                </a:solidFill>
                <a:latin typeface="Microsoft YaHei"/>
                <a:ea typeface="Microsoft YaHei"/>
              </a:rPr>
              <a:t>产出：</a:t>
            </a:r>
            <a:r>
              <a:rPr lang="zh-CN" sz="825">
                <a:solidFill>
                  <a:srgbClr val="9E3410"/>
                </a:solidFill>
                <a:latin typeface="Microsoft YaHei"/>
                <a:ea typeface="Microsoft YaHei"/>
              </a:rPr>
              <a:t>集成架构与接口设计</a:t>
            </a:r>
            <a:endParaRPr/>
          </a:p>
        </p:txBody>
      </p:sp>
      <p:sp>
        <p:nvSpPr>
          <p:cNvPr id="1518" name=""/>
          <p:cNvSpPr/>
          <p:nvPr/>
        </p:nvSpPr>
        <p:spPr>
          <a:xfrm rot="0" flipH="0" flipV="0">
            <a:off x="647700" y="2847975"/>
            <a:ext cx="3457575" cy="2238375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19" name=""/>
          <p:cNvSpPr/>
          <p:nvPr/>
        </p:nvSpPr>
        <p:spPr>
          <a:xfrm rot="0" flipH="0" flipV="0">
            <a:off x="647700" y="2847975"/>
            <a:ext cx="3457575" cy="2238375"/>
          </a:xfrm>
          <a:custGeom>
            <a:pathLst>
              <a:path w="363" h="235">
                <a:moveTo>
                  <a:pt x="4" y="235"/>
                </a:moveTo>
                <a:cubicBezTo>
                  <a:pt x="2" y="235"/>
                  <a:pt x="0" y="233"/>
                  <a:pt x="0" y="23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35"/>
                </a:lnTo>
                <a:close/>
              </a:path>
            </a:pathLst>
          </a:custGeom>
          <a:solidFill>
            <a:srgbClr val="D2531A"/>
          </a:solidFill>
          <a:ln/>
        </p:spPr>
        <p:txBody>
          <a:bodyPr/>
          <a:p/>
        </p:txBody>
      </p:sp>
      <p:sp>
        <p:nvSpPr>
          <p:cNvPr id="1520" name="" descr="{&quot;isTemplate&quot;:true,&quot;type&quot;:&quot;text&quot;}"/>
          <p:cNvSpPr txBox="1"/>
          <p:nvPr/>
        </p:nvSpPr>
        <p:spPr>
          <a:xfrm rot="0" flipH="0" flipV="0">
            <a:off x="819150" y="2971800"/>
            <a:ext cx="3076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D2531A"/>
                </a:solidFill>
                <a:latin typeface="Microsoft YaHei"/>
                <a:ea typeface="Microsoft YaHei"/>
              </a:rPr>
              <a:t>自上而下：从业务能力推导</a:t>
            </a:r>
            <a:endParaRPr/>
          </a:p>
        </p:txBody>
      </p:sp>
      <p:sp>
        <p:nvSpPr>
          <p:cNvPr id="1521" name="" descr="{&quot;isTemplate&quot;:true,&quot;type&quot;:&quot;text&quot;}"/>
          <p:cNvSpPr txBox="1"/>
          <p:nvPr/>
        </p:nvSpPr>
        <p:spPr>
          <a:xfrm rot="0" flipH="0" flipV="0">
            <a:off x="819150" y="3248025"/>
            <a:ext cx="3076575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企业价值流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应用域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应用组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功能模块，在每一层定义系统边界</a:t>
            </a:r>
            <a:endParaRPr/>
          </a:p>
        </p:txBody>
      </p:sp>
      <p:sp>
        <p:nvSpPr>
          <p:cNvPr id="1522" name="" descr="{&quot;isTemplate&quot;:true,&quot;type&quot;:&quot;text&quot;}"/>
          <p:cNvSpPr txBox="1"/>
          <p:nvPr/>
        </p:nvSpPr>
        <p:spPr>
          <a:xfrm rot="0" flipH="0" flipV="0">
            <a:off x="819150" y="4610100"/>
            <a:ext cx="3076575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优点：不漏掉战略需要的能力　风险：容易忽略存量系统的实际情况</a:t>
            </a:r>
            <a:endParaRPr/>
          </a:p>
        </p:txBody>
      </p:sp>
      <p:sp>
        <p:nvSpPr>
          <p:cNvPr id="1523" name="" descr="{&quot;isTemplate&quot;:true,&quot;type&quot;:&quot;text&quot;}"/>
          <p:cNvSpPr txBox="1"/>
          <p:nvPr/>
        </p:nvSpPr>
        <p:spPr>
          <a:xfrm rot="0" flipH="0" flipV="0">
            <a:off x="4371975" y="387667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BA15C"/>
                </a:solidFill>
                <a:latin typeface="Microsoft YaHei"/>
                <a:ea typeface="Microsoft YaHei"/>
              </a:rPr>
              <a:t>＋</a:t>
            </a:r>
            <a:endParaRPr/>
          </a:p>
        </p:txBody>
      </p:sp>
      <p:sp>
        <p:nvSpPr>
          <p:cNvPr id="1524" name=""/>
          <p:cNvSpPr/>
          <p:nvPr/>
        </p:nvSpPr>
        <p:spPr>
          <a:xfrm rot="0" flipH="0" flipV="0">
            <a:off x="4867275" y="2847975"/>
            <a:ext cx="3457575" cy="2238375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25" name=""/>
          <p:cNvSpPr/>
          <p:nvPr/>
        </p:nvSpPr>
        <p:spPr>
          <a:xfrm rot="0" flipH="0" flipV="0">
            <a:off x="4867275" y="2847975"/>
            <a:ext cx="3457575" cy="2238375"/>
          </a:xfrm>
          <a:custGeom>
            <a:pathLst>
              <a:path w="363" h="235">
                <a:moveTo>
                  <a:pt x="4" y="235"/>
                </a:moveTo>
                <a:cubicBezTo>
                  <a:pt x="2" y="235"/>
                  <a:pt x="0" y="233"/>
                  <a:pt x="0" y="23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35"/>
                </a:lnTo>
                <a:close/>
              </a:path>
            </a:pathLst>
          </a:custGeom>
          <a:solidFill>
            <a:srgbClr val="9E3410"/>
          </a:solidFill>
          <a:ln/>
        </p:spPr>
        <p:txBody>
          <a:bodyPr/>
          <a:p/>
        </p:txBody>
      </p:sp>
      <p:sp>
        <p:nvSpPr>
          <p:cNvPr id="1526" name="" descr="{&quot;isTemplate&quot;:true,&quot;type&quot;:&quot;text&quot;}"/>
          <p:cNvSpPr txBox="1"/>
          <p:nvPr/>
        </p:nvSpPr>
        <p:spPr>
          <a:xfrm rot="0" flipH="0" flipV="0">
            <a:off x="5038725" y="2971800"/>
            <a:ext cx="3076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9E3410"/>
                </a:solidFill>
                <a:latin typeface="Microsoft YaHei"/>
                <a:ea typeface="Microsoft YaHei"/>
              </a:rPr>
              <a:t>自下而上：从现有系统整合</a:t>
            </a:r>
            <a:endParaRPr/>
          </a:p>
        </p:txBody>
      </p:sp>
      <p:sp>
        <p:nvSpPr>
          <p:cNvPr id="1527" name="" descr="{&quot;isTemplate&quot;:true,&quot;type&quot;:&quot;text&quot;}"/>
          <p:cNvSpPr txBox="1"/>
          <p:nvPr/>
        </p:nvSpPr>
        <p:spPr>
          <a:xfrm rot="0" flipH="0" flipV="0">
            <a:off x="5038725" y="3248025"/>
            <a:ext cx="3076575" cy="1533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从已有系统出发，把共性能力聚合为服务，把重复功能合并掉</a:t>
            </a:r>
            <a:endParaRPr/>
          </a:p>
        </p:txBody>
      </p:sp>
      <p:sp>
        <p:nvSpPr>
          <p:cNvPr id="1528" name="" descr="{&quot;isTemplate&quot;:true,&quot;type&quot;:&quot;text&quot;}"/>
          <p:cNvSpPr txBox="1"/>
          <p:nvPr/>
        </p:nvSpPr>
        <p:spPr>
          <a:xfrm rot="0" flipH="0" flipV="0">
            <a:off x="5038725" y="4781550"/>
            <a:ext cx="307657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优点：见效快　风险：容易被历史包袱牵着走</a:t>
            </a:r>
            <a:endParaRPr/>
          </a:p>
        </p:txBody>
      </p:sp>
      <p:sp>
        <p:nvSpPr>
          <p:cNvPr id="1529" name=""/>
          <p:cNvSpPr/>
          <p:nvPr/>
        </p:nvSpPr>
        <p:spPr>
          <a:xfrm rot="0" flipH="0" flipV="0">
            <a:off x="8382000" y="2847975"/>
            <a:ext cx="3200400" cy="2238375"/>
          </a:xfrm>
          <a:prstGeom prst="roundRect">
            <a:avLst>
              <a:gd name="adj" fmla="val 170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530" name="" descr="{&quot;isTemplate&quot;:true,&quot;type&quot;:&quot;text&quot;}"/>
          <p:cNvSpPr txBox="1"/>
          <p:nvPr/>
        </p:nvSpPr>
        <p:spPr>
          <a:xfrm rot="0" flipH="0" flipV="0">
            <a:off x="8553450" y="2971800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华为的立场：双路径收敛</a:t>
            </a:r>
            <a:endParaRPr/>
          </a:p>
        </p:txBody>
      </p:sp>
      <p:sp>
        <p:nvSpPr>
          <p:cNvPr id="1531" name="" descr="{&quot;isTemplate&quot;:true,&quot;type&quot;:&quot;text&quot;}"/>
          <p:cNvSpPr txBox="1"/>
          <p:nvPr/>
        </p:nvSpPr>
        <p:spPr>
          <a:xfrm rot="0" flipH="0" flipV="0">
            <a:off x="8553450" y="3209925"/>
            <a:ext cx="2857500" cy="1571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两条路径必须同时走并最终收敛。只自上而下会推倒重建，只自下而上会长出新的烟囱</a:t>
            </a:r>
            <a:endParaRPr/>
          </a:p>
        </p:txBody>
      </p:sp>
      <p:sp>
        <p:nvSpPr>
          <p:cNvPr id="1532" name="" descr="{&quot;isTemplate&quot;:true,&quot;type&quot;:&quot;text&quot;}"/>
          <p:cNvSpPr txBox="1"/>
          <p:nvPr/>
        </p:nvSpPr>
        <p:spPr>
          <a:xfrm rot="0" flipH="0" flipV="0">
            <a:off x="8553450" y="4781550"/>
            <a:ext cx="28575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FBA15C"/>
                </a:solidFill>
                <a:latin typeface="Microsoft YaHei"/>
                <a:ea typeface="Microsoft YaHei"/>
              </a:rPr>
              <a:t>收敛不成的标志：两套应用清单对不上</a:t>
            </a:r>
            <a:endParaRPr/>
          </a:p>
        </p:txBody>
      </p:sp>
      <p:sp>
        <p:nvSpPr>
          <p:cNvPr id="1533" name=""/>
          <p:cNvSpPr/>
          <p:nvPr/>
        </p:nvSpPr>
        <p:spPr>
          <a:xfrm rot="0" flipH="0" flipV="0">
            <a:off x="609600" y="5181600"/>
            <a:ext cx="10972800" cy="419100"/>
          </a:xfrm>
          <a:prstGeom prst="roundRect">
            <a:avLst>
              <a:gd name="adj" fmla="val 681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534" name="" descr="{&quot;isTemplate&quot;:true,&quot;type&quot;:&quot;text&quot;}"/>
          <p:cNvSpPr txBox="1"/>
          <p:nvPr/>
        </p:nvSpPr>
        <p:spPr>
          <a:xfrm rot="0" flipH="0" flipV="0">
            <a:off x="800100" y="5314950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要交付的两张图</a:t>
            </a:r>
            <a:endParaRPr/>
          </a:p>
        </p:txBody>
      </p:sp>
      <p:sp>
        <p:nvSpPr>
          <p:cNvPr id="1535" name="" descr="{&quot;isTemplate&quot;:true,&quot;type&quot;:&quot;text&quot;}"/>
          <p:cNvSpPr txBox="1"/>
          <p:nvPr/>
        </p:nvSpPr>
        <p:spPr>
          <a:xfrm rot="0" flipH="0" flipV="0">
            <a:off x="2438400" y="5305425"/>
            <a:ext cx="895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功能项设计视图（做什么）＋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运行模型视图（怎么跑、怎么集成）</a:t>
            </a:r>
            <a:endParaRPr/>
          </a:p>
        </p:txBody>
      </p:sp>
      <p:sp>
        <p:nvSpPr>
          <p:cNvPr id="1536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37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1538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33 / 35</a:t>
            </a:r>
            <a:endParaRPr/>
          </a:p>
        </p:txBody>
      </p:sp>
    </p:spTree>
  </p:cSld>
</p:sld>
</file>

<file path=ppt/slides/slide34.xml><?xml version="1.0" encoding="utf-8"?>
<p:sld xmlns:p="http://schemas.openxmlformats.org/presentationml/2006/main" xmlns:a="http://schemas.openxmlformats.org/drawingml/2006/main">
  <p:cSld>
    <p:spTree>
      <p:nvGrpSpPr>
        <p:cNvPr id="1539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TA 技术架构：&lt;span style={{ color: '#FA4F24' }}&gt;六层设计与三横两纵&lt;/span&gt;&#10;        &lt;/Text&gt;&#10;        &lt;Text style={{ fontSize: 20, color: '#8A8F99', marginTop: 8 }}&gt;&#10;            技术架构不参与业务拆分，但决定上面三层能不能真跑——弹性、安全、自主可控都在这一层定&#10;        &lt;/Text&gt;&#10;    &lt;/Box&gt;&#10;    &lt;Box style={{ height: 1, background: '#E8E8E8' }} /&gt;&#10;&#10;    {/* B 区 */}&#10;    &lt;Box style={{ paddingTop: 14, paddingBottom: 12, height: 479, flexDirection: 'column', gap: 9 }}&gt;&#10;&#10;        {/* 上：六层设计 */}&#10;        &lt;Box style={{ height: 148, flexDirection: 'column' }}&gt;&#10;            &lt;Text style={{ fontSize: 13.5, fontWeight: 'bold', color: '#0F1423', marginBottom: 8 }}&gt;TA 的六个设计层次（自上而下逐层收敛）&lt;/Text&gt;&#10;            &lt;Box style={{ flex: 1, flexDirection: 'row', gap: 5 }}&gt;&#10;                {[&#10;                    { n: '策略', d: '技术路线与自主可控' },&#10;                    { n: '框架', d: '整体技术标准体系' },&#10;                    { n: '组件', d: '组件化与可复用' },&#10;                    { n: '服务', d: '平台服务能力' },&#10;                    { n: '平台', d: '云化数字底座' },&#10;                    { n: '部署', d: '部署模型与运行视图' },&#10;                ].map((x, i) =&gt; (&#10;                    &lt;Box key={x.n} style={{ flex: 1, background: '#F7F7F8', borderRadius: 3, borderBottom: '3px solid ' + ['#FA4F24', '#E0641E', '#D2531A', '#C43A17', '#9E3410', '#8A3A0E'][i], padding: '0 8px', flexDirection: 'column', alignItems: 'center', justifyContent: 'center' }}&gt;&#10;                        &lt;Text style={{ fontSize: 15, fontWeight: 'bold', color: ['#FA4F24', '#E0641E', '#D2531A', '#C43A17', '#9E3410', '#8A3A0E'][i] }}&gt;{x.n}&lt;/Text&gt;&#10;                        &lt;Text style={{ fontSize: 10.5, color: '#5A6070', marginTop: 5, textAlign: 'center', lineHeight: 1.35 }}&gt;{x.d}&lt;/Text&gt;&#10;                    &lt;/Box&gt;&#10;                ))}&#10;            &lt;/Box&gt;&#10;        &lt;/Box&gt;&#10;&#10;        {/* 中：三横两纵 */}&#10;        &lt;Box style={{ flex: 1, flexDirection: 'row', gap: 10 }}&gt;&#10;            &lt;Box style={{ flex: 1, background: '#0F1423', borderRadius: 4, padding: '13px 18px', flexDirection: 'column' }}&gt;&#10;                &lt;Text style={{ fontSize: 14, fontWeight: 'bold', color: '#FBA15C' }}&gt;华为云化数字平台：三横两纵&lt;/Text&gt;&#10;                &lt;Box style={{ flex: 1, flexDirection: 'column', gap: 6, marginTop: 11 }}&gt;&#10;                    {[&#10;                        { t: '基础设施层', d: '计算、存储、网络、AI 算力', c: '#FA4F24' },&#10;                        { t: '数字平台层', d: '数据平台、集成平台、开发平台', c: '#E0641E' },&#10;                        { t: '公共服务层', d: '对内对外统一的能力开放接口', c: '#D2531A' },&#10;                    ].map((x) =&gt; (&#10;                        &lt;Box key={x.t} style={{ flex: 1, flexDirection: 'row', alignItems: 'center', background: 'rgba(255,255,255,0.06)', borderLeft: '3px solid ' + x.c, borderRadius: 2, padding: '0 12px', gap: 12 }}&gt;&#10;                            &lt;Text style={{ fontSize: 12.5, fontWeight: 'bold', color: x.c, width: 96 }}&gt;{x.t}&lt;/Text&gt;&#10;                            &lt;Text style={{ fontSize: 11.5, color: 'rgba(255,255,255,0.85)' }}&gt;{x.d}&lt;/Text&gt;&#10;                        &lt;/Box&gt;&#10;                    ))}&#10;                &lt;/Box&gt;&#10;                &lt;Text style={{ fontSize: 11, color: 'rgba(255,255,255,0.68)', marginTop: 10 }}&gt;两纵贯穿全部：安全保障体系 · 运营维护体系&lt;/Text&gt;&#10;            &lt;/Box&gt;&#10;            &lt;Box style={{ flex: 1, background: '#FFFFFF', borderRadius: 4, border: '1px solid #E8E8E8', padding: '13px 18px', flexDirection: 'column' }}&gt;&#10;                &lt;Text style={{ fontSize: 14, fontWeight: 'bold', color: '#C43A17' }}&gt;TA 要确定的设计内容&lt;/Text&gt;&#10;                &lt;Box style={{ flex: 1, flexDirection: 'column', gap: 7, marginTop: 11 }}&gt;&#10;                    {[&#10;                        { t: '组件技术选型', d: '能自主可控的优先，不被单一厂商锁定' },&#10;                        { t: '部署模型视图', d: '云、边、端怎么协同，流量峰值怎么扛' },&#10;                        { t: '自研开发模型', d: '自研与外购的边界在哪，怎么管' },&#10;                        { t: '安全设计', d: '身份、权限、审计、数据边界' },&#10;                        { t: '运营设计', d: '监控、计量、成本怎么管' },&#10;                        { t: 'DFX 设计', d: '可用、可扩展、可维护、可测试性的量化目标' },&#10;                    ].map((x) =&gt; (&#10;                        &lt;Box key={x.t} style={{ flex: 1, flexDirection: 'row', alignItems: 'center', gap: 10 }}&gt;&#10;                            &lt;Box style={{ width: 132, background: '#F7F7F8', borderRadius: 2, height: '100%', padding: '0 9px', flexDirection: 'row', alignItems: 'center' }}&gt;&#10;                                &lt;Text style={{ fontSize: 11.5, fontWeight: 'bold', color: '#0F1423' }}&gt;{x.t}&lt;/Text&gt;&#10;                            &lt;/Box&gt;&#10;                            &lt;Text style={{ fontSize: 11.5, color: '#5A6070', flex: 1 }}&gt;{x.d}&lt;/Text&gt;&#10;                        &lt;/Box&gt;&#10;                    ))}&#10;                &lt;/Box&gt;&#10;            &lt;/Box&gt;&#10;        &lt;/Box&gt;&#10;&#10;        {/* 底部 */}&#10;        &lt;Box style={{ height: 44, background: '#0F1423', borderRadius: 3, flexDirection: 'row', alignItems: 'center', padding: '0 20px', gap: 16 }}&gt;&#10;            &lt;Text style={{ fontSize: 13.5, fontWeight: 'bold', color: '#FBA15C', width: 138 }}&gt;三个层次治理&lt;/Text&gt;&#10;            &lt;Text style={{ fontSize: 14, color: '#FFFFFF', flex: 1 }}&gt;企业级管原则与标准· 领域级管本域设计 · 解决方案级管项目落地&lt;/Text&gt;&#10;            &lt;Text style={{ fontSize: 12, color: 'rgba(255,255,255,0.68)', width: 236, lineHeight: 1.4 }}&gt;管控三招：立法、嵌入流程、合规审计&lt;/Text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华为数字化转型之道&lt;/Text&gt;&#10;        &lt;/Box&gt;&#10;        &lt;Text style={{ fontSize: 14, color: '#8A8F99' }}&gt;34 / 3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4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技术架构：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六层设计与三横两纵</a:t>
            </a:r>
            <a:endParaRPr/>
          </a:p>
        </p:txBody>
      </p:sp>
      <p:sp>
        <p:nvSpPr>
          <p:cNvPr id="154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技术架构不参与业务拆分，但决定上面三层能不能真跑——弹性、安全、自主可控都在这一层定</a:t>
            </a:r>
            <a:endParaRPr/>
          </a:p>
        </p:txBody>
      </p:sp>
      <p:sp>
        <p:nvSpPr>
          <p:cNvPr id="154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44" name="" descr="{&quot;isTemplate&quot;:true,&quot;type&quot;:&quot;text&quot;}"/>
          <p:cNvSpPr txBox="1"/>
          <p:nvPr/>
        </p:nvSpPr>
        <p:spPr>
          <a:xfrm rot="0" flipH="0" flipV="0">
            <a:off x="609600" y="128587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的六个设计层次（自上而下逐层收敛）</a:t>
            </a:r>
            <a:endParaRPr/>
          </a:p>
        </p:txBody>
      </p:sp>
      <p:sp>
        <p:nvSpPr>
          <p:cNvPr id="1545" name=""/>
          <p:cNvSpPr/>
          <p:nvPr/>
        </p:nvSpPr>
        <p:spPr>
          <a:xfrm rot="0" flipH="0" flipV="0">
            <a:off x="609600" y="1524000"/>
            <a:ext cx="1790700" cy="1171575"/>
          </a:xfrm>
          <a:prstGeom prst="roundRect">
            <a:avLst>
              <a:gd name="adj" fmla="val 243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46" name=""/>
          <p:cNvSpPr/>
          <p:nvPr/>
        </p:nvSpPr>
        <p:spPr>
          <a:xfrm rot="0" flipH="0" flipV="0">
            <a:off x="609600" y="1524000"/>
            <a:ext cx="1790700" cy="1171575"/>
          </a:xfrm>
          <a:custGeom>
            <a:pathLst>
              <a:path w="188" h="123">
                <a:moveTo>
                  <a:pt x="188" y="120"/>
                </a:moveTo>
                <a:cubicBezTo>
                  <a:pt x="188" y="122"/>
                  <a:pt x="187" y="123"/>
                  <a:pt x="185" y="123"/>
                </a:cubicBezTo>
                <a:lnTo>
                  <a:pt x="3" y="123"/>
                </a:lnTo>
                <a:cubicBezTo>
                  <a:pt x="1" y="123"/>
                  <a:pt x="0" y="122"/>
                  <a:pt x="0" y="120"/>
                </a:cubicBezTo>
                <a:lnTo>
                  <a:pt x="188" y="12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47" name="" descr="{&quot;isTemplate&quot;:true,&quot;type&quot;:&quot;text&quot;}"/>
          <p:cNvSpPr txBox="1"/>
          <p:nvPr/>
        </p:nvSpPr>
        <p:spPr>
          <a:xfrm rot="0" flipH="0" flipV="0">
            <a:off x="1362075" y="19050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策略</a:t>
            </a:r>
            <a:endParaRPr/>
          </a:p>
        </p:txBody>
      </p:sp>
      <p:sp>
        <p:nvSpPr>
          <p:cNvPr id="1548" name="" descr="{&quot;isTemplate&quot;:true,&quot;type&quot;:&quot;text&quot;}"/>
          <p:cNvSpPr txBox="1"/>
          <p:nvPr/>
        </p:nvSpPr>
        <p:spPr>
          <a:xfrm rot="0" flipH="0" flipV="0">
            <a:off x="1057275" y="2124075"/>
            <a:ext cx="90487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技术路线与自主可控</a:t>
            </a:r>
            <a:endParaRPr/>
          </a:p>
        </p:txBody>
      </p:sp>
      <p:sp>
        <p:nvSpPr>
          <p:cNvPr id="1549" name=""/>
          <p:cNvSpPr/>
          <p:nvPr/>
        </p:nvSpPr>
        <p:spPr>
          <a:xfrm rot="0" flipH="0" flipV="0">
            <a:off x="2447925" y="1524000"/>
            <a:ext cx="1790700" cy="1171575"/>
          </a:xfrm>
          <a:prstGeom prst="roundRect">
            <a:avLst>
              <a:gd name="adj" fmla="val 243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50" name=""/>
          <p:cNvSpPr/>
          <p:nvPr/>
        </p:nvSpPr>
        <p:spPr>
          <a:xfrm rot="0" flipH="0" flipV="0">
            <a:off x="2447925" y="1524000"/>
            <a:ext cx="1790700" cy="1171575"/>
          </a:xfrm>
          <a:custGeom>
            <a:pathLst>
              <a:path w="188" h="123">
                <a:moveTo>
                  <a:pt x="188" y="120"/>
                </a:moveTo>
                <a:cubicBezTo>
                  <a:pt x="188" y="122"/>
                  <a:pt x="187" y="123"/>
                  <a:pt x="185" y="123"/>
                </a:cubicBezTo>
                <a:lnTo>
                  <a:pt x="3" y="123"/>
                </a:lnTo>
                <a:cubicBezTo>
                  <a:pt x="1" y="123"/>
                  <a:pt x="0" y="122"/>
                  <a:pt x="0" y="120"/>
                </a:cubicBezTo>
                <a:lnTo>
                  <a:pt x="188" y="12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1551" name="" descr="{&quot;isTemplate&quot;:true,&quot;type&quot;:&quot;text&quot;}"/>
          <p:cNvSpPr txBox="1"/>
          <p:nvPr/>
        </p:nvSpPr>
        <p:spPr>
          <a:xfrm rot="0" flipH="0" flipV="0">
            <a:off x="3200400" y="19050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0641E"/>
                </a:solidFill>
                <a:latin typeface="Microsoft YaHei"/>
                <a:ea typeface="Microsoft YaHei"/>
              </a:rPr>
              <a:t>框架</a:t>
            </a:r>
            <a:endParaRPr/>
          </a:p>
        </p:txBody>
      </p:sp>
      <p:sp>
        <p:nvSpPr>
          <p:cNvPr id="1552" name="" descr="{&quot;isTemplate&quot;:true,&quot;type&quot;:&quot;text&quot;}"/>
          <p:cNvSpPr txBox="1"/>
          <p:nvPr/>
        </p:nvSpPr>
        <p:spPr>
          <a:xfrm rot="0" flipH="0" flipV="0">
            <a:off x="2943225" y="2124075"/>
            <a:ext cx="8001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整体技术标准体系</a:t>
            </a:r>
            <a:endParaRPr/>
          </a:p>
        </p:txBody>
      </p:sp>
      <p:sp>
        <p:nvSpPr>
          <p:cNvPr id="1553" name=""/>
          <p:cNvSpPr/>
          <p:nvPr/>
        </p:nvSpPr>
        <p:spPr>
          <a:xfrm rot="0" flipH="0" flipV="0">
            <a:off x="4286250" y="1524000"/>
            <a:ext cx="1790700" cy="1171575"/>
          </a:xfrm>
          <a:prstGeom prst="roundRect">
            <a:avLst>
              <a:gd name="adj" fmla="val 243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54" name=""/>
          <p:cNvSpPr/>
          <p:nvPr/>
        </p:nvSpPr>
        <p:spPr>
          <a:xfrm rot="0" flipH="0" flipV="0">
            <a:off x="4286250" y="1524000"/>
            <a:ext cx="1790700" cy="1171575"/>
          </a:xfrm>
          <a:custGeom>
            <a:pathLst>
              <a:path w="188" h="123">
                <a:moveTo>
                  <a:pt x="188" y="120"/>
                </a:moveTo>
                <a:cubicBezTo>
                  <a:pt x="188" y="122"/>
                  <a:pt x="187" y="123"/>
                  <a:pt x="185" y="123"/>
                </a:cubicBezTo>
                <a:lnTo>
                  <a:pt x="3" y="123"/>
                </a:lnTo>
                <a:cubicBezTo>
                  <a:pt x="1" y="123"/>
                  <a:pt x="0" y="122"/>
                  <a:pt x="0" y="120"/>
                </a:cubicBezTo>
                <a:lnTo>
                  <a:pt x="188" y="120"/>
                </a:lnTo>
                <a:close/>
              </a:path>
            </a:pathLst>
          </a:custGeom>
          <a:solidFill>
            <a:srgbClr val="D2531A"/>
          </a:solidFill>
          <a:ln/>
        </p:spPr>
        <p:txBody>
          <a:bodyPr/>
          <a:p/>
        </p:txBody>
      </p:sp>
      <p:sp>
        <p:nvSpPr>
          <p:cNvPr id="1555" name="" descr="{&quot;isTemplate&quot;:true,&quot;type&quot;:&quot;text&quot;}"/>
          <p:cNvSpPr txBox="1"/>
          <p:nvPr/>
        </p:nvSpPr>
        <p:spPr>
          <a:xfrm rot="0" flipH="0" flipV="0">
            <a:off x="5038725" y="19050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2531A"/>
                </a:solidFill>
                <a:latin typeface="Microsoft YaHei"/>
                <a:ea typeface="Microsoft YaHei"/>
              </a:rPr>
              <a:t>组件</a:t>
            </a:r>
            <a:endParaRPr/>
          </a:p>
        </p:txBody>
      </p:sp>
      <p:sp>
        <p:nvSpPr>
          <p:cNvPr id="1556" name="" descr="{&quot;isTemplate&quot;:true,&quot;type&quot;:&quot;text&quot;}"/>
          <p:cNvSpPr txBox="1"/>
          <p:nvPr/>
        </p:nvSpPr>
        <p:spPr>
          <a:xfrm rot="0" flipH="0" flipV="0">
            <a:off x="4829175" y="2124075"/>
            <a:ext cx="7048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组件化与可复用</a:t>
            </a:r>
            <a:endParaRPr/>
          </a:p>
        </p:txBody>
      </p:sp>
      <p:sp>
        <p:nvSpPr>
          <p:cNvPr id="1557" name=""/>
          <p:cNvSpPr/>
          <p:nvPr/>
        </p:nvSpPr>
        <p:spPr>
          <a:xfrm rot="0" flipH="0" flipV="0">
            <a:off x="6124575" y="1524000"/>
            <a:ext cx="1781175" cy="1171575"/>
          </a:xfrm>
          <a:prstGeom prst="roundRect">
            <a:avLst>
              <a:gd name="adj" fmla="val 243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58" name=""/>
          <p:cNvSpPr/>
          <p:nvPr/>
        </p:nvSpPr>
        <p:spPr>
          <a:xfrm rot="0" flipH="0" flipV="0">
            <a:off x="6124575" y="1524000"/>
            <a:ext cx="1781175" cy="1171575"/>
          </a:xfrm>
          <a:custGeom>
            <a:pathLst>
              <a:path w="187" h="123">
                <a:moveTo>
                  <a:pt x="187" y="120"/>
                </a:moveTo>
                <a:cubicBezTo>
                  <a:pt x="187" y="122"/>
                  <a:pt x="186" y="123"/>
                  <a:pt x="184" y="123"/>
                </a:cubicBezTo>
                <a:lnTo>
                  <a:pt x="3" y="123"/>
                </a:lnTo>
                <a:cubicBezTo>
                  <a:pt x="1" y="123"/>
                  <a:pt x="0" y="122"/>
                  <a:pt x="0" y="120"/>
                </a:cubicBezTo>
                <a:lnTo>
                  <a:pt x="187" y="12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559" name="" descr="{&quot;isTemplate&quot;:true,&quot;type&quot;:&quot;text&quot;}"/>
          <p:cNvSpPr txBox="1"/>
          <p:nvPr/>
        </p:nvSpPr>
        <p:spPr>
          <a:xfrm rot="0" flipH="0" flipV="0">
            <a:off x="6877050" y="19050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服务</a:t>
            </a:r>
            <a:endParaRPr/>
          </a:p>
        </p:txBody>
      </p:sp>
      <p:sp>
        <p:nvSpPr>
          <p:cNvPr id="1560" name="" descr="{&quot;isTemplate&quot;:true,&quot;type&quot;:&quot;text&quot;}"/>
          <p:cNvSpPr txBox="1"/>
          <p:nvPr/>
        </p:nvSpPr>
        <p:spPr>
          <a:xfrm rot="0" flipH="0" flipV="0">
            <a:off x="6715125" y="2124075"/>
            <a:ext cx="60007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平台服务能力</a:t>
            </a:r>
            <a:endParaRPr/>
          </a:p>
        </p:txBody>
      </p:sp>
      <p:sp>
        <p:nvSpPr>
          <p:cNvPr id="1561" name=""/>
          <p:cNvSpPr/>
          <p:nvPr/>
        </p:nvSpPr>
        <p:spPr>
          <a:xfrm rot="0" flipH="0" flipV="0">
            <a:off x="7953375" y="1524000"/>
            <a:ext cx="1790700" cy="1171575"/>
          </a:xfrm>
          <a:prstGeom prst="roundRect">
            <a:avLst>
              <a:gd name="adj" fmla="val 243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62" name=""/>
          <p:cNvSpPr/>
          <p:nvPr/>
        </p:nvSpPr>
        <p:spPr>
          <a:xfrm rot="0" flipH="0" flipV="0">
            <a:off x="7953375" y="1524000"/>
            <a:ext cx="1790700" cy="1171575"/>
          </a:xfrm>
          <a:custGeom>
            <a:pathLst>
              <a:path w="188" h="123">
                <a:moveTo>
                  <a:pt x="188" y="120"/>
                </a:moveTo>
                <a:cubicBezTo>
                  <a:pt x="188" y="122"/>
                  <a:pt x="187" y="123"/>
                  <a:pt x="185" y="123"/>
                </a:cubicBezTo>
                <a:lnTo>
                  <a:pt x="3" y="123"/>
                </a:lnTo>
                <a:cubicBezTo>
                  <a:pt x="1" y="123"/>
                  <a:pt x="0" y="122"/>
                  <a:pt x="0" y="120"/>
                </a:cubicBezTo>
                <a:lnTo>
                  <a:pt x="188" y="120"/>
                </a:lnTo>
                <a:close/>
              </a:path>
            </a:pathLst>
          </a:custGeom>
          <a:solidFill>
            <a:srgbClr val="9E3410"/>
          </a:solidFill>
          <a:ln/>
        </p:spPr>
        <p:txBody>
          <a:bodyPr/>
          <a:p/>
        </p:txBody>
      </p:sp>
      <p:sp>
        <p:nvSpPr>
          <p:cNvPr id="1563" name="" descr="{&quot;isTemplate&quot;:true,&quot;type&quot;:&quot;text&quot;}"/>
          <p:cNvSpPr txBox="1"/>
          <p:nvPr/>
        </p:nvSpPr>
        <p:spPr>
          <a:xfrm rot="0" flipH="0" flipV="0">
            <a:off x="8705850" y="19050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9E3410"/>
                </a:solidFill>
                <a:latin typeface="Microsoft YaHei"/>
                <a:ea typeface="Microsoft YaHei"/>
              </a:rPr>
              <a:t>平台</a:t>
            </a:r>
            <a:endParaRPr/>
          </a:p>
        </p:txBody>
      </p:sp>
      <p:sp>
        <p:nvSpPr>
          <p:cNvPr id="1564" name="" descr="{&quot;isTemplate&quot;:true,&quot;type&quot;:&quot;text&quot;}"/>
          <p:cNvSpPr txBox="1"/>
          <p:nvPr/>
        </p:nvSpPr>
        <p:spPr>
          <a:xfrm rot="0" flipH="0" flipV="0">
            <a:off x="8553450" y="2124075"/>
            <a:ext cx="60007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云化数字底座</a:t>
            </a:r>
            <a:endParaRPr/>
          </a:p>
        </p:txBody>
      </p:sp>
      <p:sp>
        <p:nvSpPr>
          <p:cNvPr id="1565" name=""/>
          <p:cNvSpPr/>
          <p:nvPr/>
        </p:nvSpPr>
        <p:spPr>
          <a:xfrm rot="0" flipH="0" flipV="0">
            <a:off x="9791700" y="1524000"/>
            <a:ext cx="1790700" cy="1171575"/>
          </a:xfrm>
          <a:prstGeom prst="roundRect">
            <a:avLst>
              <a:gd name="adj" fmla="val 243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66" name=""/>
          <p:cNvSpPr/>
          <p:nvPr/>
        </p:nvSpPr>
        <p:spPr>
          <a:xfrm rot="0" flipH="0" flipV="0">
            <a:off x="9791700" y="1524000"/>
            <a:ext cx="1790700" cy="1171575"/>
          </a:xfrm>
          <a:custGeom>
            <a:pathLst>
              <a:path w="188" h="123">
                <a:moveTo>
                  <a:pt x="188" y="120"/>
                </a:moveTo>
                <a:cubicBezTo>
                  <a:pt x="188" y="122"/>
                  <a:pt x="187" y="123"/>
                  <a:pt x="185" y="123"/>
                </a:cubicBezTo>
                <a:lnTo>
                  <a:pt x="3" y="123"/>
                </a:lnTo>
                <a:cubicBezTo>
                  <a:pt x="1" y="123"/>
                  <a:pt x="0" y="122"/>
                  <a:pt x="0" y="120"/>
                </a:cubicBezTo>
                <a:lnTo>
                  <a:pt x="188" y="120"/>
                </a:lnTo>
                <a:close/>
              </a:path>
            </a:pathLst>
          </a:custGeom>
          <a:solidFill>
            <a:srgbClr val="8A3A0E"/>
          </a:solidFill>
          <a:ln/>
        </p:spPr>
        <p:txBody>
          <a:bodyPr/>
          <a:p/>
        </p:txBody>
      </p:sp>
      <p:sp>
        <p:nvSpPr>
          <p:cNvPr id="1567" name="" descr="{&quot;isTemplate&quot;:true,&quot;type&quot;:&quot;text&quot;}"/>
          <p:cNvSpPr txBox="1"/>
          <p:nvPr/>
        </p:nvSpPr>
        <p:spPr>
          <a:xfrm rot="0" flipH="0" flipV="0">
            <a:off x="10544175" y="19050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A3A0E"/>
                </a:solidFill>
                <a:latin typeface="Microsoft YaHei"/>
                <a:ea typeface="Microsoft YaHei"/>
              </a:rPr>
              <a:t>部署</a:t>
            </a:r>
            <a:endParaRPr/>
          </a:p>
        </p:txBody>
      </p:sp>
      <p:sp>
        <p:nvSpPr>
          <p:cNvPr id="1568" name="" descr="{&quot;isTemplate&quot;:true,&quot;type&quot;:&quot;text&quot;}"/>
          <p:cNvSpPr txBox="1"/>
          <p:nvPr/>
        </p:nvSpPr>
        <p:spPr>
          <a:xfrm rot="0" flipH="0" flipV="0">
            <a:off x="10239375" y="2124075"/>
            <a:ext cx="90487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部署模型与运行视图</a:t>
            </a:r>
            <a:endParaRPr/>
          </a:p>
        </p:txBody>
      </p:sp>
      <p:sp>
        <p:nvSpPr>
          <p:cNvPr id="1569" name=""/>
          <p:cNvSpPr/>
          <p:nvPr/>
        </p:nvSpPr>
        <p:spPr>
          <a:xfrm rot="0" flipH="0" flipV="0">
            <a:off x="609600" y="2781300"/>
            <a:ext cx="5438775" cy="2314575"/>
          </a:xfrm>
          <a:prstGeom prst="roundRect">
            <a:avLst>
              <a:gd name="adj" fmla="val 1646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570" name="" descr="{&quot;isTemplate&quot;:true,&quot;type&quot;:&quot;text&quot;}"/>
          <p:cNvSpPr txBox="1"/>
          <p:nvPr/>
        </p:nvSpPr>
        <p:spPr>
          <a:xfrm rot="0" flipH="0" flipV="0">
            <a:off x="781050" y="2905125"/>
            <a:ext cx="509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华为云化数字平台：三横两纵</a:t>
            </a:r>
            <a:endParaRPr/>
          </a:p>
        </p:txBody>
      </p:sp>
      <p:sp>
        <p:nvSpPr>
          <p:cNvPr id="1571" name=""/>
          <p:cNvSpPr/>
          <p:nvPr/>
        </p:nvSpPr>
        <p:spPr>
          <a:xfrm rot="0" flipH="0" flipV="0">
            <a:off x="809625" y="3171825"/>
            <a:ext cx="5095875" cy="485775"/>
          </a:xfrm>
          <a:prstGeom prst="roundRect">
            <a:avLst>
              <a:gd name="adj" fmla="val 3922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572" name=""/>
          <p:cNvSpPr/>
          <p:nvPr/>
        </p:nvSpPr>
        <p:spPr>
          <a:xfrm rot="0" flipH="0" flipV="0">
            <a:off x="809625" y="3171825"/>
            <a:ext cx="5095875" cy="485775"/>
          </a:xfrm>
          <a:custGeom>
            <a:pathLst>
              <a:path w="535" h="51">
                <a:moveTo>
                  <a:pt x="3" y="51"/>
                </a:moveTo>
                <a:cubicBezTo>
                  <a:pt x="2" y="51"/>
                  <a:pt x="1" y="51"/>
                  <a:pt x="1" y="51"/>
                </a:cubicBezTo>
                <a:cubicBezTo>
                  <a:pt x="0" y="50"/>
                  <a:pt x="0" y="50"/>
                  <a:pt x="0" y="49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lnTo>
                  <a:pt x="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73" name="" descr="{&quot;isTemplate&quot;:true,&quot;type&quot;:&quot;text&quot;}"/>
          <p:cNvSpPr txBox="1"/>
          <p:nvPr/>
        </p:nvSpPr>
        <p:spPr>
          <a:xfrm rot="0" flipH="0" flipV="0">
            <a:off x="923925" y="3343275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A4F24"/>
                </a:solidFill>
                <a:latin typeface="Microsoft YaHei"/>
                <a:ea typeface="Microsoft YaHei"/>
              </a:rPr>
              <a:t>基础设施层</a:t>
            </a:r>
            <a:endParaRPr/>
          </a:p>
        </p:txBody>
      </p:sp>
      <p:sp>
        <p:nvSpPr>
          <p:cNvPr id="1574" name="" descr="{&quot;isTemplate&quot;:true,&quot;type&quot;:&quot;text&quot;}"/>
          <p:cNvSpPr txBox="1"/>
          <p:nvPr/>
        </p:nvSpPr>
        <p:spPr>
          <a:xfrm rot="0" flipH="0" flipV="0">
            <a:off x="1952625" y="3352800"/>
            <a:ext cx="1352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计算、存储、网络、</a:t>
            </a: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算力</a:t>
            </a:r>
            <a:endParaRPr/>
          </a:p>
        </p:txBody>
      </p:sp>
      <p:sp>
        <p:nvSpPr>
          <p:cNvPr id="1575" name=""/>
          <p:cNvSpPr/>
          <p:nvPr/>
        </p:nvSpPr>
        <p:spPr>
          <a:xfrm rot="0" flipH="0" flipV="0">
            <a:off x="809625" y="3714750"/>
            <a:ext cx="5095875" cy="485775"/>
          </a:xfrm>
          <a:prstGeom prst="roundRect">
            <a:avLst>
              <a:gd name="adj" fmla="val 3922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576" name=""/>
          <p:cNvSpPr/>
          <p:nvPr/>
        </p:nvSpPr>
        <p:spPr>
          <a:xfrm rot="0" flipH="0" flipV="0">
            <a:off x="809625" y="3714750"/>
            <a:ext cx="5095875" cy="485775"/>
          </a:xfrm>
          <a:custGeom>
            <a:pathLst>
              <a:path w="535" h="51">
                <a:moveTo>
                  <a:pt x="3" y="51"/>
                </a:moveTo>
                <a:cubicBezTo>
                  <a:pt x="2" y="51"/>
                  <a:pt x="1" y="51"/>
                  <a:pt x="1" y="51"/>
                </a:cubicBezTo>
                <a:cubicBezTo>
                  <a:pt x="0" y="50"/>
                  <a:pt x="0" y="50"/>
                  <a:pt x="0" y="49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lnTo>
                  <a:pt x="3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1577" name="" descr="{&quot;isTemplate&quot;:true,&quot;type&quot;:&quot;text&quot;}"/>
          <p:cNvSpPr txBox="1"/>
          <p:nvPr/>
        </p:nvSpPr>
        <p:spPr>
          <a:xfrm rot="0" flipH="0" flipV="0">
            <a:off x="923925" y="3886200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E0641E"/>
                </a:solidFill>
                <a:latin typeface="Microsoft YaHei"/>
                <a:ea typeface="Microsoft YaHei"/>
              </a:rPr>
              <a:t>数字平台层</a:t>
            </a:r>
            <a:endParaRPr/>
          </a:p>
        </p:txBody>
      </p:sp>
      <p:sp>
        <p:nvSpPr>
          <p:cNvPr id="1578" name="" descr="{&quot;isTemplate&quot;:true,&quot;type&quot;:&quot;text&quot;}"/>
          <p:cNvSpPr txBox="1"/>
          <p:nvPr/>
        </p:nvSpPr>
        <p:spPr>
          <a:xfrm rot="0" flipH="0" flipV="0">
            <a:off x="1952625" y="3895725"/>
            <a:ext cx="1533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数据平台、集成平台、开发平台</a:t>
            </a:r>
            <a:endParaRPr/>
          </a:p>
        </p:txBody>
      </p:sp>
      <p:sp>
        <p:nvSpPr>
          <p:cNvPr id="1579" name=""/>
          <p:cNvSpPr/>
          <p:nvPr/>
        </p:nvSpPr>
        <p:spPr>
          <a:xfrm rot="0" flipH="0" flipV="0">
            <a:off x="809625" y="4257675"/>
            <a:ext cx="5095875" cy="485775"/>
          </a:xfrm>
          <a:prstGeom prst="roundRect">
            <a:avLst>
              <a:gd name="adj" fmla="val 3922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580" name=""/>
          <p:cNvSpPr/>
          <p:nvPr/>
        </p:nvSpPr>
        <p:spPr>
          <a:xfrm rot="0" flipH="0" flipV="0">
            <a:off x="809625" y="4257675"/>
            <a:ext cx="5095875" cy="485775"/>
          </a:xfrm>
          <a:custGeom>
            <a:pathLst>
              <a:path w="535" h="51">
                <a:moveTo>
                  <a:pt x="3" y="51"/>
                </a:moveTo>
                <a:cubicBezTo>
                  <a:pt x="2" y="51"/>
                  <a:pt x="1" y="51"/>
                  <a:pt x="1" y="51"/>
                </a:cubicBezTo>
                <a:cubicBezTo>
                  <a:pt x="0" y="50"/>
                  <a:pt x="0" y="50"/>
                  <a:pt x="0" y="49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lnTo>
                  <a:pt x="3" y="0"/>
                </a:lnTo>
                <a:close/>
              </a:path>
            </a:pathLst>
          </a:custGeom>
          <a:solidFill>
            <a:srgbClr val="D2531A"/>
          </a:solidFill>
          <a:ln/>
        </p:spPr>
        <p:txBody>
          <a:bodyPr/>
          <a:p/>
        </p:txBody>
      </p:sp>
      <p:sp>
        <p:nvSpPr>
          <p:cNvPr id="1581" name="" descr="{&quot;isTemplate&quot;:true,&quot;type&quot;:&quot;text&quot;}"/>
          <p:cNvSpPr txBox="1"/>
          <p:nvPr/>
        </p:nvSpPr>
        <p:spPr>
          <a:xfrm rot="0" flipH="0" flipV="0">
            <a:off x="923925" y="4429125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D2531A"/>
                </a:solidFill>
                <a:latin typeface="Microsoft YaHei"/>
                <a:ea typeface="Microsoft YaHei"/>
              </a:rPr>
              <a:t>公共服务层</a:t>
            </a:r>
            <a:endParaRPr/>
          </a:p>
        </p:txBody>
      </p:sp>
      <p:sp>
        <p:nvSpPr>
          <p:cNvPr id="1582" name="" descr="{&quot;isTemplate&quot;:true,&quot;type&quot;:&quot;text&quot;}"/>
          <p:cNvSpPr txBox="1"/>
          <p:nvPr/>
        </p:nvSpPr>
        <p:spPr>
          <a:xfrm rot="0" flipH="0" flipV="0">
            <a:off x="1952625" y="4438650"/>
            <a:ext cx="1428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对内对外统一的能力开放接口</a:t>
            </a:r>
            <a:endParaRPr/>
          </a:p>
        </p:txBody>
      </p:sp>
      <p:sp>
        <p:nvSpPr>
          <p:cNvPr id="1583" name="" descr="{&quot;isTemplate&quot;:true,&quot;type&quot;:&quot;text&quot;}"/>
          <p:cNvSpPr txBox="1"/>
          <p:nvPr/>
        </p:nvSpPr>
        <p:spPr>
          <a:xfrm rot="0" flipH="0" flipV="0">
            <a:off x="781050" y="4838700"/>
            <a:ext cx="5095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</a:rPr>
              <a:t>两纵贯穿全部：安全保障体系</a:t>
            </a:r>
            <a:r>
              <a:rPr lang="en-US" sz="825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</a:rPr>
              <a:t>运营维护体系</a:t>
            </a:r>
            <a:endParaRPr/>
          </a:p>
        </p:txBody>
      </p:sp>
      <p:sp>
        <p:nvSpPr>
          <p:cNvPr id="1584" name=""/>
          <p:cNvSpPr/>
          <p:nvPr/>
        </p:nvSpPr>
        <p:spPr>
          <a:xfrm rot="0" flipH="0" flipV="0">
            <a:off x="6143625" y="2781300"/>
            <a:ext cx="5438775" cy="2314575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585" name="" descr="{&quot;isTemplate&quot;:true,&quot;type&quot;:&quot;text&quot;}"/>
          <p:cNvSpPr txBox="1"/>
          <p:nvPr/>
        </p:nvSpPr>
        <p:spPr>
          <a:xfrm rot="0" flipH="0" flipV="0">
            <a:off x="6315075" y="2905125"/>
            <a:ext cx="509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要确定的设计内容</a:t>
            </a:r>
            <a:endParaRPr/>
          </a:p>
        </p:txBody>
      </p:sp>
      <p:sp>
        <p:nvSpPr>
          <p:cNvPr id="1586" name=""/>
          <p:cNvSpPr/>
          <p:nvPr/>
        </p:nvSpPr>
        <p:spPr>
          <a:xfrm rot="0" flipH="0" flipV="0">
            <a:off x="6315075" y="3171825"/>
            <a:ext cx="1257300" cy="247650"/>
          </a:xfrm>
          <a:prstGeom prst="roundRect">
            <a:avLst>
              <a:gd name="adj" fmla="val 769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87" name="" descr="{&quot;isTemplate&quot;:true,&quot;type&quot;:&quot;text&quot;}"/>
          <p:cNvSpPr txBox="1"/>
          <p:nvPr/>
        </p:nvSpPr>
        <p:spPr>
          <a:xfrm rot="0" flipH="0" flipV="0">
            <a:off x="6400800" y="3228975"/>
            <a:ext cx="657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组件技术选型</a:t>
            </a:r>
            <a:endParaRPr/>
          </a:p>
        </p:txBody>
      </p:sp>
      <p:sp>
        <p:nvSpPr>
          <p:cNvPr id="1588" name="" descr="{&quot;isTemplate&quot;:true,&quot;type&quot;:&quot;text&quot;}"/>
          <p:cNvSpPr txBox="1"/>
          <p:nvPr/>
        </p:nvSpPr>
        <p:spPr>
          <a:xfrm rot="0" flipH="0" flipV="0">
            <a:off x="7667625" y="3228975"/>
            <a:ext cx="3743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能自主可控的优先，不被单一厂商锁定</a:t>
            </a:r>
            <a:endParaRPr/>
          </a:p>
        </p:txBody>
      </p:sp>
      <p:sp>
        <p:nvSpPr>
          <p:cNvPr id="1589" name=""/>
          <p:cNvSpPr/>
          <p:nvPr/>
        </p:nvSpPr>
        <p:spPr>
          <a:xfrm rot="0" flipH="0" flipV="0">
            <a:off x="6315075" y="3486150"/>
            <a:ext cx="1257300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90" name="" descr="{&quot;isTemplate&quot;:true,&quot;type&quot;:&quot;text&quot;}"/>
          <p:cNvSpPr txBox="1"/>
          <p:nvPr/>
        </p:nvSpPr>
        <p:spPr>
          <a:xfrm rot="0" flipH="0" flipV="0">
            <a:off x="6400800" y="3543300"/>
            <a:ext cx="657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部署模型视图</a:t>
            </a:r>
            <a:endParaRPr/>
          </a:p>
        </p:txBody>
      </p:sp>
      <p:sp>
        <p:nvSpPr>
          <p:cNvPr id="1591" name="" descr="{&quot;isTemplate&quot;:true,&quot;type&quot;:&quot;text&quot;}"/>
          <p:cNvSpPr txBox="1"/>
          <p:nvPr/>
        </p:nvSpPr>
        <p:spPr>
          <a:xfrm rot="0" flipH="0" flipV="0">
            <a:off x="7667625" y="3543300"/>
            <a:ext cx="3743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云、边、端怎么协同，流量峰值怎么扛</a:t>
            </a:r>
            <a:endParaRPr/>
          </a:p>
        </p:txBody>
      </p:sp>
      <p:sp>
        <p:nvSpPr>
          <p:cNvPr id="1592" name=""/>
          <p:cNvSpPr/>
          <p:nvPr/>
        </p:nvSpPr>
        <p:spPr>
          <a:xfrm rot="0" flipH="0" flipV="0">
            <a:off x="6315075" y="3790950"/>
            <a:ext cx="1257300" cy="247650"/>
          </a:xfrm>
          <a:prstGeom prst="roundRect">
            <a:avLst>
              <a:gd name="adj" fmla="val 769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93" name="" descr="{&quot;isTemplate&quot;:true,&quot;type&quot;:&quot;text&quot;}"/>
          <p:cNvSpPr txBox="1"/>
          <p:nvPr/>
        </p:nvSpPr>
        <p:spPr>
          <a:xfrm rot="0" flipH="0" flipV="0">
            <a:off x="6400800" y="3848100"/>
            <a:ext cx="657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自研开发模型</a:t>
            </a:r>
            <a:endParaRPr/>
          </a:p>
        </p:txBody>
      </p:sp>
      <p:sp>
        <p:nvSpPr>
          <p:cNvPr id="1594" name="" descr="{&quot;isTemplate&quot;:true,&quot;type&quot;:&quot;text&quot;}"/>
          <p:cNvSpPr txBox="1"/>
          <p:nvPr/>
        </p:nvSpPr>
        <p:spPr>
          <a:xfrm rot="0" flipH="0" flipV="0">
            <a:off x="7667625" y="3848100"/>
            <a:ext cx="3743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自研与外购的边界在哪，怎么管</a:t>
            </a:r>
            <a:endParaRPr/>
          </a:p>
        </p:txBody>
      </p:sp>
      <p:sp>
        <p:nvSpPr>
          <p:cNvPr id="1595" name=""/>
          <p:cNvSpPr/>
          <p:nvPr/>
        </p:nvSpPr>
        <p:spPr>
          <a:xfrm rot="0" flipH="0" flipV="0">
            <a:off x="6315075" y="4105275"/>
            <a:ext cx="1257300" cy="247650"/>
          </a:xfrm>
          <a:prstGeom prst="roundRect">
            <a:avLst>
              <a:gd name="adj" fmla="val 769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96" name="" descr="{&quot;isTemplate&quot;:true,&quot;type&quot;:&quot;text&quot;}"/>
          <p:cNvSpPr txBox="1"/>
          <p:nvPr/>
        </p:nvSpPr>
        <p:spPr>
          <a:xfrm rot="0" flipH="0" flipV="0">
            <a:off x="6400800" y="416242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安全设计</a:t>
            </a:r>
            <a:endParaRPr/>
          </a:p>
        </p:txBody>
      </p:sp>
      <p:sp>
        <p:nvSpPr>
          <p:cNvPr id="1597" name="" descr="{&quot;isTemplate&quot;:true,&quot;type&quot;:&quot;text&quot;}"/>
          <p:cNvSpPr txBox="1"/>
          <p:nvPr/>
        </p:nvSpPr>
        <p:spPr>
          <a:xfrm rot="0" flipH="0" flipV="0">
            <a:off x="7667625" y="4162425"/>
            <a:ext cx="3743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身份、权限、审计、数据边界</a:t>
            </a:r>
            <a:endParaRPr/>
          </a:p>
        </p:txBody>
      </p:sp>
      <p:sp>
        <p:nvSpPr>
          <p:cNvPr id="1598" name=""/>
          <p:cNvSpPr/>
          <p:nvPr/>
        </p:nvSpPr>
        <p:spPr>
          <a:xfrm rot="0" flipH="0" flipV="0">
            <a:off x="6315075" y="4419600"/>
            <a:ext cx="1257300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99" name="" descr="{&quot;isTemplate&quot;:true,&quot;type&quot;:&quot;text&quot;}"/>
          <p:cNvSpPr txBox="1"/>
          <p:nvPr/>
        </p:nvSpPr>
        <p:spPr>
          <a:xfrm rot="0" flipH="0" flipV="0">
            <a:off x="6400800" y="4476750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运营设计</a:t>
            </a:r>
            <a:endParaRPr/>
          </a:p>
        </p:txBody>
      </p:sp>
      <p:sp>
        <p:nvSpPr>
          <p:cNvPr id="1600" name="" descr="{&quot;isTemplate&quot;:true,&quot;type&quot;:&quot;text&quot;}"/>
          <p:cNvSpPr txBox="1"/>
          <p:nvPr/>
        </p:nvSpPr>
        <p:spPr>
          <a:xfrm rot="0" flipH="0" flipV="0">
            <a:off x="7667625" y="4476750"/>
            <a:ext cx="3743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监控、计量、成本怎么管</a:t>
            </a:r>
            <a:endParaRPr/>
          </a:p>
        </p:txBody>
      </p:sp>
      <p:sp>
        <p:nvSpPr>
          <p:cNvPr id="1601" name=""/>
          <p:cNvSpPr/>
          <p:nvPr/>
        </p:nvSpPr>
        <p:spPr>
          <a:xfrm rot="0" flipH="0" flipV="0">
            <a:off x="6315075" y="4724400"/>
            <a:ext cx="1257300" cy="247650"/>
          </a:xfrm>
          <a:prstGeom prst="roundRect">
            <a:avLst>
              <a:gd name="adj" fmla="val 769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02" name="" descr="{&quot;isTemplate&quot;:true,&quot;type&quot;:&quot;text&quot;}"/>
          <p:cNvSpPr txBox="1"/>
          <p:nvPr/>
        </p:nvSpPr>
        <p:spPr>
          <a:xfrm rot="0" flipH="0" flipV="0">
            <a:off x="6400800" y="4781550"/>
            <a:ext cx="476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DFX </a:t>
            </a: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设计</a:t>
            </a:r>
            <a:endParaRPr/>
          </a:p>
        </p:txBody>
      </p:sp>
      <p:sp>
        <p:nvSpPr>
          <p:cNvPr id="1603" name="" descr="{&quot;isTemplate&quot;:true,&quot;type&quot;:&quot;text&quot;}"/>
          <p:cNvSpPr txBox="1"/>
          <p:nvPr/>
        </p:nvSpPr>
        <p:spPr>
          <a:xfrm rot="0" flipH="0" flipV="0">
            <a:off x="7667625" y="4781550"/>
            <a:ext cx="3743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可用、可扩展、可维护、可测试性的量化目标</a:t>
            </a:r>
            <a:endParaRPr/>
          </a:p>
        </p:txBody>
      </p:sp>
      <p:sp>
        <p:nvSpPr>
          <p:cNvPr id="1604" name=""/>
          <p:cNvSpPr/>
          <p:nvPr/>
        </p:nvSpPr>
        <p:spPr>
          <a:xfrm rot="0" flipH="0" flipV="0">
            <a:off x="609600" y="5181600"/>
            <a:ext cx="10972800" cy="419100"/>
          </a:xfrm>
          <a:prstGeom prst="roundRect">
            <a:avLst>
              <a:gd name="adj" fmla="val 681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605" name="" descr="{&quot;isTemplate&quot;:true,&quot;type&quot;:&quot;text&quot;}"/>
          <p:cNvSpPr txBox="1"/>
          <p:nvPr/>
        </p:nvSpPr>
        <p:spPr>
          <a:xfrm rot="0" flipH="0" flipV="0">
            <a:off x="800100" y="5314950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三个层次治理</a:t>
            </a:r>
            <a:endParaRPr/>
          </a:p>
        </p:txBody>
      </p:sp>
      <p:sp>
        <p:nvSpPr>
          <p:cNvPr id="1606" name="" descr="{&quot;isTemplate&quot;:true,&quot;type&quot;:&quot;text&quot;}"/>
          <p:cNvSpPr txBox="1"/>
          <p:nvPr/>
        </p:nvSpPr>
        <p:spPr>
          <a:xfrm rot="0" flipH="0" flipV="0">
            <a:off x="2266950" y="5314950"/>
            <a:ext cx="672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企业级管原则与标准·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领域级管本域设计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解决方案级管项目落地</a:t>
            </a:r>
            <a:endParaRPr/>
          </a:p>
        </p:txBody>
      </p:sp>
      <p:sp>
        <p:nvSpPr>
          <p:cNvPr id="1607" name="" descr="{&quot;isTemplate&quot;:true,&quot;type&quot;:&quot;text&quot;}"/>
          <p:cNvSpPr txBox="1"/>
          <p:nvPr/>
        </p:nvSpPr>
        <p:spPr>
          <a:xfrm rot="0" flipH="0" flipV="0">
            <a:off x="9144000" y="5295900"/>
            <a:ext cx="22479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</a:rPr>
              <a:t>管控三招：立法、嵌入流程、合规审计</a:t>
            </a:r>
            <a:endParaRPr/>
          </a:p>
        </p:txBody>
      </p:sp>
      <p:sp>
        <p:nvSpPr>
          <p:cNvPr id="1608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09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1610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34 / 35</a:t>
            </a:r>
            <a:endParaRPr/>
          </a:p>
        </p:txBody>
      </p:sp>
    </p:spTree>
  </p:cSld>
</p:sld>
</file>

<file path=ppt/slides/slide35.xml><?xml version="1.0" encoding="utf-8"?>
<p:sld xmlns:p="http://schemas.openxmlformats.org/presentationml/2006/main" xmlns:a="http://schemas.openxmlformats.org/drawingml/2006/main">
  <p:cSld>
    <p:spTree>
      <p:nvGrpSpPr>
        <p:cNvPr id="1611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结语：这一册是底座，&lt;span style={{ color: '#FA4F24' }}&gt;十三册合起来才是一套打法&lt;/span&gt;&#10;        &lt;/Text&gt;&#10;        &lt;Text style={{ fontSize: 20, color: '#8A8F99', marginTop: 8 }}&gt;&#10;            三阶十二步管顺序，4A Y 模型管内容，其余各册管做法——三样齐了才是完整的咨询交付&#10;        &lt;/Text&gt;&#10;    &lt;/Box&gt;&#10;    &lt;Box style={{ height: 1, background: '#E8E8E8' }} /&gt;&#10;&#10;    {/* B 区 */}&#10;    &lt;Box style={{ paddingTop: 16, paddingBottom: 12, height: 479, flexDirection: 'column', gap: 10 }}&gt;&#10;&#10;        {/* 上：三条立场 */}&#10;        &lt;Box style={{ height: 128, flexDirection: 'row', gap: 9 }}&gt;&#10;            {[&#10;                { n: '1', t: '顺序不可颠倒', d: '三阶有强依赖。先有愿景才有架构，先有架构才有举措，先有举措才有项目——跳步做的架构接不住前面的愿景', c: '#FA4F24' },&#10;                { n: '2', t: '主线与可选要分清', d: '8、10、11 是华为标注的可选步，但跳过它们的规划出来的项目一定接不住——因为没指标、没设计、没节奏', c: '#E0641E' },&#10;                { n: '3', t: '四 A 必落业务对象', d: 'Y 模型的收口点不是流程也不是系统。落不到业务对象，四A 就各画各的，谁也接不住谁', c: '#C43A17' },&#10;            ].map((x) =&gt; (&#10;                &lt;Box key={x.n} style={{ flex: 1, background: '#F7F7F8', borderRadius: 4, borderTop: '3px solid ' + x.c, padding: '14px 16px', flexDirection: 'column' }}&gt;&#10;                    &lt;Box style={{ flexDirection: 'row', alignItems: 'center', gap: 9 }}&gt;&#10;                        &lt;Box style={{ width: 24, height: 24, background: x.c, borderRadius: 3, alignItems: 'center', justifyContent: 'center' }}&gt;&#10;                            &lt;Text style={{ fontSize: 12, fontWeight: 'bold', color: '#FFFFFF' }}&gt;{x.n}&lt;/Text&gt;&#10;                        &lt;/Box&gt;&#10;                        &lt;Text style={{ fontSize: 17, fontWeight: 'bold', color: '#0F1423' }}&gt;{x.t}&lt;/Text&gt;&#10;                    &lt;/Box&gt;&#10;                    &lt;Text style={{ fontSize: 12, color: '#3A4050', lineHeight: 1.5, marginTop: 10, flex: 1 }}&gt;{x.d}&lt;/Text&gt;&#10;                &lt;/Box&gt;&#10;            ))}&#10;        &lt;/Box&gt;&#10;&#10;        {/* 中：13 册全景 */}&#10;        &lt;Box style={{ flex: 1, flexDirection: 'column' }}&gt;&#10;            &lt;Text style={{ fontSize: 13.5, fontWeight: 'bold', color: '#0F1423', marginBottom: 8 }}&gt;十三册的分工：顺序轴 · 内容轴 · 做法轴&lt;/Text&gt;&#10;            &lt;Box style={{ flex: 1, flexDirection: 'row', gap: 9 }}&gt;&#10;                &lt;Box style={{ width: 296, background: '#0F1423', borderRadius: 4, padding: '13px 15px', flexDirection: 'column' }}&gt;&#10;                    &lt;Text style={{ fontSize: 13.5, fontWeight: 'bold', color: '#FBA15C' }}&gt;顺序轴（本册）&lt;/Text&gt;&#10;                    &lt;Text style={{ fontSize: 11.5, color: 'rgba(255,255,255,0.78)', lineHeight: 1.45, marginTop: 8, flex: 1 }}&gt;&#10;                        三阶十二步：先做什么、后做什么、每一步交什么&#10;                    &lt;/Text&gt;&#10;                    &lt;Box style={{ height: 30, background: '#FA4F24', borderRadius: 3, flexDirection: 'row', alignItems: 'center', justifyContent: 'center' }}&gt;&#10;                        &lt;Text style={{ fontSize: 11.5, fontWeight: 'bold', color: '#FFFFFF' }}&gt;本册 · 35 页&lt;/Text&gt;&#10;                    &lt;/Box&gt;&#10;                &lt;/Box&gt;&#10;                &lt;Box style={{ width: 296, background: '#0F1423', borderRadius: 4, padding: '13px 15px', flexDirection: 'column' }}&gt;&#10;                    &lt;Text style={{ fontSize: 13.5, fontWeight: 'bold', color: '#FBA15C' }}&gt;内容轴（本册）&lt;/Text&gt;&#10;                    &lt;Text style={{ fontSize: 11.5, color: 'rgba(255,255,255,0.78)', lineHeight: 1.45, marginTop: 8, flex: 1 }}&gt;&#10;                        4A Y 模型：四个架构域怎么排、怎么对齐、收口在哪里&#10;                    &lt;/Text&gt;&#10;                    &lt;Box style={{ height: 30, background: '#C43A17', borderRadius: 3, flexDirection: 'row', alignItems: 'center', justifyContent: 'center' }}&gt;&#10;                        &lt;Text style={{ fontSize: 11.5, fontWeight: 'bold', color: '#FFFFFF' }}&gt;BA / IA(DA) / AA / TA&lt;/Text&gt;&#10;                    &lt;/Box&gt;&#10;                &lt;/Box&gt;&#10;                &lt;Box style={{ flex: 1, background: '#FFF3EE', borderRadius: 4, padding: '13px 15px', flexDirection: 'column' }}&gt;&#10;                    &lt;Text style={{ fontSize: 13.5, fontWeight: 'bold', color: '#C43A17' }}&gt;做法轴（前面十二册）&lt;/Text&gt;&#10;                    &lt;Box style={{ flex: 1, flexDirection: 'row', flexWrap: 'wrap', gap: 4, marginTop: 9, alignContent: 'flex-start' }}&gt;&#10;                        {['EA 企业架构', 'BA 业务架构', 'DA 数据架构', 'AA 应用架构', 'TA 技术架构', 'Ontology', 'Agent', '知识库', '管道处理', '数据治理', '主数据', '指标', 'FDE'].map((x, i) =&gt; (&#10;                            &lt;Box key={x} style={{ height: 22, background: '#FFFFFF', borderRadius: 2, border: '1px solid #E8E8E8', padding: '0 8px', flexDirection: 'row', alignItems: 'center' }}&gt;&#10;                                &lt;Text style={{ fontSize: 10.5, color: i === 12 ? '#FA4F24' : '#0F1423', fontWeight: i === 12 ? 'bold' : 'normal' }}&gt;{x}&lt;/Text&gt;&#10;                            &lt;/Box&gt;&#10;                        ))}&#10;                    &lt;/Box&gt;&#10;                    &lt;Text style={{ fontSize: 11, color: '#5A6070', marginTop: 8 }}&gt;每一册都是做法轴上的一段，挂在顺序轴的某一步上用&lt;/Text&gt;&#10;                &lt;/Box&gt;&#10;            &lt;/Box&gt;&#10;        &lt;/Box&gt;&#10;&#10;        {/* 底部红牌 */}&#10;        &lt;Box style={{ height: 58, background: 'linear-gradient(160deg, #FA4F24 0%, #F87D2F 100%)', borderRadius: 3, padding: '0 22px', flexDirection: 'row', alignItems: 'center', gap: 20 }}&gt;&#10;            &lt;Text style={{ fontSize: 14, color: 'rgba(255,255,255,0.85)', width: 158 }}&gt;一句可复用的收口问法&lt;/Text&gt;&#10;            &lt;Text style={{ fontSize: 19, fontWeight: 'bold', color: '#FFFFFF', flex: 1, lineHeight: 1.3 }}&gt;&#10;                把这次规划的 PPT 全部删掉，客户手里还剩下什么？&#10;            &lt;/Text&gt;&#10;            &lt;Text style={{ fontSize: 12, color: 'rgba(255,255,255,0.88)', width: 220, lineHeight: 1.4 }}&gt;剩下的如果是产出物清单，答对了；如果只剩愿景和举措，没有清单，还没做完&lt;/Text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华为数字化转型之道&lt;/Text&gt;&#10;        &lt;/Box&gt;&#10;        &lt;Text style={{ fontSize: 14, color: '#8A8F99' }}&gt;35 / 3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13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结语：这一册是底座，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十三册合起来才是一套打法</a:t>
            </a:r>
            <a:endParaRPr/>
          </a:p>
        </p:txBody>
      </p:sp>
      <p:sp>
        <p:nvSpPr>
          <p:cNvPr id="1614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三阶十二步管顺序，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4A Y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模型管内容，其余各册管做法——三样齐了才是完整的咨询交付</a:t>
            </a:r>
            <a:endParaRPr/>
          </a:p>
        </p:txBody>
      </p:sp>
      <p:sp>
        <p:nvSpPr>
          <p:cNvPr id="1615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616" name=""/>
          <p:cNvSpPr/>
          <p:nvPr/>
        </p:nvSpPr>
        <p:spPr>
          <a:xfrm rot="0" flipH="0" flipV="0">
            <a:off x="609600" y="1333500"/>
            <a:ext cx="3600450" cy="1219200"/>
          </a:xfrm>
          <a:prstGeom prst="roundRect">
            <a:avLst>
              <a:gd name="adj" fmla="val 312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17" name=""/>
          <p:cNvSpPr/>
          <p:nvPr/>
        </p:nvSpPr>
        <p:spPr>
          <a:xfrm rot="0" flipH="0" flipV="0">
            <a:off x="609600" y="1333500"/>
            <a:ext cx="3600450" cy="1219200"/>
          </a:xfrm>
          <a:custGeom>
            <a:pathLst>
              <a:path w="378" h="128">
                <a:moveTo>
                  <a:pt x="374" y="0"/>
                </a:moveTo>
                <a:cubicBezTo>
                  <a:pt x="376" y="0"/>
                  <a:pt x="378" y="2"/>
                  <a:pt x="378" y="4"/>
                </a:cubicBezTo>
                <a:cubicBezTo>
                  <a:pt x="378" y="3"/>
                  <a:pt x="377" y="3"/>
                  <a:pt x="377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7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18" name=""/>
          <p:cNvSpPr/>
          <p:nvPr/>
        </p:nvSpPr>
        <p:spPr>
          <a:xfrm rot="0" flipH="0" flipV="0">
            <a:off x="762000" y="14668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19" name="" descr="{&quot;isTemplate&quot;:true,&quot;type&quot;:&quot;text&quot;}"/>
          <p:cNvSpPr txBox="1"/>
          <p:nvPr/>
        </p:nvSpPr>
        <p:spPr>
          <a:xfrm rot="0" flipH="0" flipV="0">
            <a:off x="838200" y="151447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620" name="" descr="{&quot;isTemplate&quot;:true,&quot;type&quot;:&quot;text&quot;}"/>
          <p:cNvSpPr txBox="1"/>
          <p:nvPr/>
        </p:nvSpPr>
        <p:spPr>
          <a:xfrm rot="0" flipH="0" flipV="0">
            <a:off x="1076325" y="1485900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顺序不可颠倒</a:t>
            </a:r>
            <a:endParaRPr/>
          </a:p>
        </p:txBody>
      </p:sp>
      <p:sp>
        <p:nvSpPr>
          <p:cNvPr id="1621" name="" descr="{&quot;isTemplate&quot;:true,&quot;type&quot;:&quot;text&quot;}"/>
          <p:cNvSpPr txBox="1"/>
          <p:nvPr/>
        </p:nvSpPr>
        <p:spPr>
          <a:xfrm rot="0" flipH="0" flipV="0">
            <a:off x="762000" y="1790700"/>
            <a:ext cx="329565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三阶有强依赖。先有愿景才有架构，先有架构才有举措，先有举措才有项目——跳步做的架构接不住前面的愿景</a:t>
            </a:r>
            <a:endParaRPr/>
          </a:p>
        </p:txBody>
      </p:sp>
      <p:sp>
        <p:nvSpPr>
          <p:cNvPr id="1622" name=""/>
          <p:cNvSpPr/>
          <p:nvPr/>
        </p:nvSpPr>
        <p:spPr>
          <a:xfrm rot="0" flipH="0" flipV="0">
            <a:off x="4295775" y="1333500"/>
            <a:ext cx="3600450" cy="1219200"/>
          </a:xfrm>
          <a:prstGeom prst="roundRect">
            <a:avLst>
              <a:gd name="adj" fmla="val 312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23" name=""/>
          <p:cNvSpPr/>
          <p:nvPr/>
        </p:nvSpPr>
        <p:spPr>
          <a:xfrm rot="0" flipH="0" flipV="0">
            <a:off x="4295775" y="1333500"/>
            <a:ext cx="3600450" cy="1219200"/>
          </a:xfrm>
          <a:custGeom>
            <a:pathLst>
              <a:path w="378" h="128">
                <a:moveTo>
                  <a:pt x="374" y="0"/>
                </a:moveTo>
                <a:cubicBezTo>
                  <a:pt x="376" y="0"/>
                  <a:pt x="378" y="2"/>
                  <a:pt x="378" y="4"/>
                </a:cubicBezTo>
                <a:cubicBezTo>
                  <a:pt x="378" y="3"/>
                  <a:pt x="377" y="3"/>
                  <a:pt x="377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74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1624" name=""/>
          <p:cNvSpPr/>
          <p:nvPr/>
        </p:nvSpPr>
        <p:spPr>
          <a:xfrm rot="0" flipH="0" flipV="0">
            <a:off x="4448175" y="14668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1625" name="" descr="{&quot;isTemplate&quot;:true,&quot;type&quot;:&quot;text&quot;}"/>
          <p:cNvSpPr txBox="1"/>
          <p:nvPr/>
        </p:nvSpPr>
        <p:spPr>
          <a:xfrm rot="0" flipH="0" flipV="0">
            <a:off x="4524375" y="151447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626" name="" descr="{&quot;isTemplate&quot;:true,&quot;type&quot;:&quot;text&quot;}"/>
          <p:cNvSpPr txBox="1"/>
          <p:nvPr/>
        </p:nvSpPr>
        <p:spPr>
          <a:xfrm rot="0" flipH="0" flipV="0">
            <a:off x="4762500" y="1485900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主线与可选要分清</a:t>
            </a:r>
            <a:endParaRPr/>
          </a:p>
        </p:txBody>
      </p:sp>
      <p:sp>
        <p:nvSpPr>
          <p:cNvPr id="1627" name="" descr="{&quot;isTemplate&quot;:true,&quot;type&quot;:&quot;text&quot;}"/>
          <p:cNvSpPr txBox="1"/>
          <p:nvPr/>
        </p:nvSpPr>
        <p:spPr>
          <a:xfrm rot="0" flipH="0" flipV="0">
            <a:off x="4448175" y="1790700"/>
            <a:ext cx="329565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8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10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11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是华为标注的可选步，但跳过它们的规划出来的项目一定接不住——因为没指标、没设计、没节奏</a:t>
            </a:r>
            <a:endParaRPr/>
          </a:p>
        </p:txBody>
      </p:sp>
      <p:sp>
        <p:nvSpPr>
          <p:cNvPr id="1628" name=""/>
          <p:cNvSpPr/>
          <p:nvPr/>
        </p:nvSpPr>
        <p:spPr>
          <a:xfrm rot="0" flipH="0" flipV="0">
            <a:off x="7981950" y="1333500"/>
            <a:ext cx="3600450" cy="1219200"/>
          </a:xfrm>
          <a:prstGeom prst="roundRect">
            <a:avLst>
              <a:gd name="adj" fmla="val 312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29" name=""/>
          <p:cNvSpPr/>
          <p:nvPr/>
        </p:nvSpPr>
        <p:spPr>
          <a:xfrm rot="0" flipH="0" flipV="0">
            <a:off x="7981950" y="1333500"/>
            <a:ext cx="3600450" cy="1219200"/>
          </a:xfrm>
          <a:custGeom>
            <a:pathLst>
              <a:path w="378" h="128">
                <a:moveTo>
                  <a:pt x="374" y="0"/>
                </a:moveTo>
                <a:cubicBezTo>
                  <a:pt x="376" y="0"/>
                  <a:pt x="378" y="2"/>
                  <a:pt x="378" y="4"/>
                </a:cubicBezTo>
                <a:cubicBezTo>
                  <a:pt x="378" y="3"/>
                  <a:pt x="377" y="3"/>
                  <a:pt x="377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74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630" name=""/>
          <p:cNvSpPr/>
          <p:nvPr/>
        </p:nvSpPr>
        <p:spPr>
          <a:xfrm rot="0" flipH="0" flipV="0">
            <a:off x="8134350" y="14668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1631" name="" descr="{&quot;isTemplate&quot;:true,&quot;type&quot;:&quot;text&quot;}"/>
          <p:cNvSpPr txBox="1"/>
          <p:nvPr/>
        </p:nvSpPr>
        <p:spPr>
          <a:xfrm rot="0" flipH="0" flipV="0">
            <a:off x="8210550" y="151447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632" name="" descr="{&quot;isTemplate&quot;:true,&quot;type&quot;:&quot;text&quot;}"/>
          <p:cNvSpPr txBox="1"/>
          <p:nvPr/>
        </p:nvSpPr>
        <p:spPr>
          <a:xfrm rot="0" flipH="0" flipV="0">
            <a:off x="8448675" y="1485900"/>
            <a:ext cx="1352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四</a:t>
            </a:r>
            <a:r>
              <a:rPr lang="en-US" sz="12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必落业务对象</a:t>
            </a:r>
            <a:endParaRPr/>
          </a:p>
        </p:txBody>
      </p:sp>
      <p:sp>
        <p:nvSpPr>
          <p:cNvPr id="1633" name="" descr="{&quot;isTemplate&quot;:true,&quot;type&quot;:&quot;text&quot;}"/>
          <p:cNvSpPr txBox="1"/>
          <p:nvPr/>
        </p:nvSpPr>
        <p:spPr>
          <a:xfrm rot="0" flipH="0" flipV="0">
            <a:off x="8134350" y="1790700"/>
            <a:ext cx="329565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Y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模型的收口点不是流程也不是系统。落不到业务对象，四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就各画各的，谁也接不住谁</a:t>
            </a:r>
            <a:endParaRPr/>
          </a:p>
        </p:txBody>
      </p:sp>
      <p:sp>
        <p:nvSpPr>
          <p:cNvPr id="1634" name="" descr="{&quot;isTemplate&quot;:true,&quot;type&quot;:&quot;text&quot;}"/>
          <p:cNvSpPr txBox="1"/>
          <p:nvPr/>
        </p:nvSpPr>
        <p:spPr>
          <a:xfrm rot="0" flipH="0" flipV="0">
            <a:off x="609600" y="261937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十三册的分工：顺序轴</a:t>
            </a:r>
            <a:r>
              <a:rPr lang="en-US" sz="1013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内容轴</a:t>
            </a:r>
            <a:r>
              <a:rPr lang="en-US" sz="1013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做法轴</a:t>
            </a:r>
            <a:endParaRPr/>
          </a:p>
        </p:txBody>
      </p:sp>
      <p:sp>
        <p:nvSpPr>
          <p:cNvPr id="1635" name=""/>
          <p:cNvSpPr/>
          <p:nvPr/>
        </p:nvSpPr>
        <p:spPr>
          <a:xfrm rot="0" flipH="0" flipV="0">
            <a:off x="609600" y="2857500"/>
            <a:ext cx="2819400" cy="2095500"/>
          </a:xfrm>
          <a:prstGeom prst="roundRect">
            <a:avLst>
              <a:gd name="adj" fmla="val 181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636" name="" descr="{&quot;isTemplate&quot;:true,&quot;type&quot;:&quot;text&quot;}"/>
          <p:cNvSpPr txBox="1"/>
          <p:nvPr/>
        </p:nvSpPr>
        <p:spPr>
          <a:xfrm rot="0" flipH="0" flipV="0">
            <a:off x="752475" y="2981325"/>
            <a:ext cx="2533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顺序轴（本册）</a:t>
            </a:r>
            <a:endParaRPr/>
          </a:p>
        </p:txBody>
      </p:sp>
      <p:sp>
        <p:nvSpPr>
          <p:cNvPr id="1637" name="" descr="{&quot;isTemplate&quot;:true,&quot;type&quot;:&quot;text&quot;}"/>
          <p:cNvSpPr txBox="1"/>
          <p:nvPr/>
        </p:nvSpPr>
        <p:spPr>
          <a:xfrm rot="0" flipH="0" flipV="0">
            <a:off x="752475" y="3219450"/>
            <a:ext cx="2533650" cy="1323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三阶十二步：先做什么、后做什么、每一步交什么</a:t>
            </a:r>
            <a:endParaRPr/>
          </a:p>
        </p:txBody>
      </p:sp>
      <p:sp>
        <p:nvSpPr>
          <p:cNvPr id="1638" name=""/>
          <p:cNvSpPr/>
          <p:nvPr/>
        </p:nvSpPr>
        <p:spPr>
          <a:xfrm rot="0" flipH="0" flipV="0">
            <a:off x="752475" y="4543425"/>
            <a:ext cx="2533650" cy="285750"/>
          </a:xfrm>
          <a:prstGeom prst="roundRect">
            <a:avLst>
              <a:gd name="adj" fmla="val 1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39" name="" descr="{&quot;isTemplate&quot;:true,&quot;type&quot;:&quot;text&quot;}"/>
          <p:cNvSpPr txBox="1"/>
          <p:nvPr/>
        </p:nvSpPr>
        <p:spPr>
          <a:xfrm rot="0" flipH="0" flipV="0">
            <a:off x="1714500" y="4619625"/>
            <a:ext cx="619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本册</a:t>
            </a:r>
            <a:r>
              <a:rPr lang="en-US" sz="863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35 </a:t>
            </a: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1640" name=""/>
          <p:cNvSpPr/>
          <p:nvPr/>
        </p:nvSpPr>
        <p:spPr>
          <a:xfrm rot="0" flipH="0" flipV="0">
            <a:off x="3514725" y="2857500"/>
            <a:ext cx="2819400" cy="2095500"/>
          </a:xfrm>
          <a:prstGeom prst="roundRect">
            <a:avLst>
              <a:gd name="adj" fmla="val 181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641" name="" descr="{&quot;isTemplate&quot;:true,&quot;type&quot;:&quot;text&quot;}"/>
          <p:cNvSpPr txBox="1"/>
          <p:nvPr/>
        </p:nvSpPr>
        <p:spPr>
          <a:xfrm rot="0" flipH="0" flipV="0">
            <a:off x="3657600" y="2981325"/>
            <a:ext cx="2533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内容轴（本册）</a:t>
            </a:r>
            <a:endParaRPr/>
          </a:p>
        </p:txBody>
      </p:sp>
      <p:sp>
        <p:nvSpPr>
          <p:cNvPr id="1642" name="" descr="{&quot;isTemplate&quot;:true,&quot;type&quot;:&quot;text&quot;}"/>
          <p:cNvSpPr txBox="1"/>
          <p:nvPr/>
        </p:nvSpPr>
        <p:spPr>
          <a:xfrm rot="0" flipH="0" flipV="0">
            <a:off x="3657600" y="3219450"/>
            <a:ext cx="2533650" cy="1323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863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4A Y </a:t>
            </a:r>
            <a:r>
              <a:rPr lang="zh-CN" sz="863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模型：四个架构域怎么排、怎么对齐、收口在哪里</a:t>
            </a:r>
            <a:endParaRPr/>
          </a:p>
        </p:txBody>
      </p:sp>
      <p:sp>
        <p:nvSpPr>
          <p:cNvPr id="1643" name=""/>
          <p:cNvSpPr/>
          <p:nvPr/>
        </p:nvSpPr>
        <p:spPr>
          <a:xfrm rot="0" flipH="0" flipV="0">
            <a:off x="3657600" y="4543425"/>
            <a:ext cx="2533650" cy="285750"/>
          </a:xfrm>
          <a:prstGeom prst="roundRect">
            <a:avLst>
              <a:gd name="adj" fmla="val 10000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1644" name="" descr="{&quot;isTemplate&quot;:true,&quot;type&quot;:&quot;text&quot;}"/>
          <p:cNvSpPr txBox="1"/>
          <p:nvPr/>
        </p:nvSpPr>
        <p:spPr>
          <a:xfrm rot="0" flipH="0" flipV="0">
            <a:off x="4333875" y="4619625"/>
            <a:ext cx="1190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FFFFFF"/>
                </a:solidFill>
                <a:latin typeface="Microsoft YaHei"/>
                <a:ea typeface="Microsoft YaHei"/>
              </a:rPr>
              <a:t>BA / IA(DA) / AA / TA</a:t>
            </a:r>
            <a:endParaRPr/>
          </a:p>
        </p:txBody>
      </p:sp>
      <p:sp>
        <p:nvSpPr>
          <p:cNvPr id="1645" name=""/>
          <p:cNvSpPr/>
          <p:nvPr/>
        </p:nvSpPr>
        <p:spPr>
          <a:xfrm rot="0" flipH="0" flipV="0">
            <a:off x="6419850" y="2857500"/>
            <a:ext cx="5162550" cy="2095500"/>
          </a:xfrm>
          <a:prstGeom prst="roundRect">
            <a:avLst>
              <a:gd name="adj" fmla="val 181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646" name="" descr="{&quot;isTemplate&quot;:true,&quot;type&quot;:&quot;text&quot;}"/>
          <p:cNvSpPr txBox="1"/>
          <p:nvPr/>
        </p:nvSpPr>
        <p:spPr>
          <a:xfrm rot="0" flipH="0" flipV="0">
            <a:off x="6562725" y="2981325"/>
            <a:ext cx="487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C43A17"/>
                </a:solidFill>
                <a:latin typeface="Microsoft YaHei"/>
                <a:ea typeface="Microsoft YaHei"/>
              </a:rPr>
              <a:t>做法轴（前面十二册）</a:t>
            </a:r>
            <a:endParaRPr/>
          </a:p>
        </p:txBody>
      </p:sp>
      <p:sp>
        <p:nvSpPr>
          <p:cNvPr id="1647" name=""/>
          <p:cNvSpPr/>
          <p:nvPr/>
        </p:nvSpPr>
        <p:spPr>
          <a:xfrm rot="0" flipH="0" flipV="0">
            <a:off x="6562725" y="3228975"/>
            <a:ext cx="714375" cy="2095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648" name="" descr="{&quot;isTemplate&quot;:true,&quot;type&quot;:&quot;text&quot;}"/>
          <p:cNvSpPr txBox="1"/>
          <p:nvPr/>
        </p:nvSpPr>
        <p:spPr>
          <a:xfrm rot="0" flipH="0" flipV="0">
            <a:off x="6638925" y="3276600"/>
            <a:ext cx="5619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0F1423"/>
                </a:solidFill>
                <a:latin typeface="Microsoft YaHei"/>
                <a:ea typeface="Microsoft YaHei"/>
              </a:rPr>
              <a:t xml:space="preserve">EA </a:t>
            </a:r>
            <a:r>
              <a:rPr lang="zh-CN" sz="788">
                <a:solidFill>
                  <a:srgbClr val="0F1423"/>
                </a:solidFill>
                <a:latin typeface="Microsoft YaHei"/>
                <a:ea typeface="Microsoft YaHei"/>
              </a:rPr>
              <a:t>企业架构</a:t>
            </a:r>
            <a:endParaRPr/>
          </a:p>
        </p:txBody>
      </p:sp>
      <p:sp>
        <p:nvSpPr>
          <p:cNvPr id="1649" name=""/>
          <p:cNvSpPr/>
          <p:nvPr/>
        </p:nvSpPr>
        <p:spPr>
          <a:xfrm rot="0" flipH="0" flipV="0">
            <a:off x="7315200" y="3228975"/>
            <a:ext cx="723900" cy="2095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650" name="" descr="{&quot;isTemplate&quot;:true,&quot;type&quot;:&quot;text&quot;}"/>
          <p:cNvSpPr txBox="1"/>
          <p:nvPr/>
        </p:nvSpPr>
        <p:spPr>
          <a:xfrm rot="0" flipH="0" flipV="0">
            <a:off x="7391400" y="3276600"/>
            <a:ext cx="5715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0F1423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788">
                <a:solidFill>
                  <a:srgbClr val="0F1423"/>
                </a:solidFill>
                <a:latin typeface="Microsoft YaHei"/>
                <a:ea typeface="Microsoft YaHei"/>
              </a:rPr>
              <a:t>业务架构</a:t>
            </a:r>
            <a:endParaRPr/>
          </a:p>
        </p:txBody>
      </p:sp>
      <p:sp>
        <p:nvSpPr>
          <p:cNvPr id="1651" name=""/>
          <p:cNvSpPr/>
          <p:nvPr/>
        </p:nvSpPr>
        <p:spPr>
          <a:xfrm rot="0" flipH="0" flipV="0">
            <a:off x="8077200" y="3228975"/>
            <a:ext cx="733425" cy="2095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652" name="" descr="{&quot;isTemplate&quot;:true,&quot;type&quot;:&quot;text&quot;}"/>
          <p:cNvSpPr txBox="1"/>
          <p:nvPr/>
        </p:nvSpPr>
        <p:spPr>
          <a:xfrm rot="0" flipH="0" flipV="0">
            <a:off x="8153400" y="3276600"/>
            <a:ext cx="581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0F1423"/>
                </a:solidFill>
                <a:latin typeface="Microsoft YaHei"/>
                <a:ea typeface="Microsoft YaHei"/>
              </a:rPr>
              <a:t xml:space="preserve">DA </a:t>
            </a:r>
            <a:r>
              <a:rPr lang="zh-CN" sz="788">
                <a:solidFill>
                  <a:srgbClr val="0F1423"/>
                </a:solidFill>
                <a:latin typeface="Microsoft YaHei"/>
                <a:ea typeface="Microsoft YaHei"/>
              </a:rPr>
              <a:t>数据架构</a:t>
            </a:r>
            <a:endParaRPr/>
          </a:p>
        </p:txBody>
      </p:sp>
      <p:sp>
        <p:nvSpPr>
          <p:cNvPr id="1653" name=""/>
          <p:cNvSpPr/>
          <p:nvPr/>
        </p:nvSpPr>
        <p:spPr>
          <a:xfrm rot="0" flipH="0" flipV="0">
            <a:off x="8848725" y="3228975"/>
            <a:ext cx="723900" cy="2095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654" name="" descr="{&quot;isTemplate&quot;:true,&quot;type&quot;:&quot;text&quot;}"/>
          <p:cNvSpPr txBox="1"/>
          <p:nvPr/>
        </p:nvSpPr>
        <p:spPr>
          <a:xfrm rot="0" flipH="0" flipV="0">
            <a:off x="8924925" y="3276600"/>
            <a:ext cx="5715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0F1423"/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788">
                <a:solidFill>
                  <a:srgbClr val="0F1423"/>
                </a:solidFill>
                <a:latin typeface="Microsoft YaHei"/>
                <a:ea typeface="Microsoft YaHei"/>
              </a:rPr>
              <a:t>应用架构</a:t>
            </a:r>
            <a:endParaRPr/>
          </a:p>
        </p:txBody>
      </p:sp>
      <p:sp>
        <p:nvSpPr>
          <p:cNvPr id="1655" name=""/>
          <p:cNvSpPr/>
          <p:nvPr/>
        </p:nvSpPr>
        <p:spPr>
          <a:xfrm rot="0" flipH="0" flipV="0">
            <a:off x="9610725" y="3228975"/>
            <a:ext cx="704850" cy="2095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656" name="" descr="{&quot;isTemplate&quot;:true,&quot;type&quot;:&quot;text&quot;}"/>
          <p:cNvSpPr txBox="1"/>
          <p:nvPr/>
        </p:nvSpPr>
        <p:spPr>
          <a:xfrm rot="0" flipH="0" flipV="0">
            <a:off x="9686925" y="3276600"/>
            <a:ext cx="5524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0F1423"/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788">
                <a:solidFill>
                  <a:srgbClr val="0F1423"/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1657" name=""/>
          <p:cNvSpPr/>
          <p:nvPr/>
        </p:nvSpPr>
        <p:spPr>
          <a:xfrm rot="0" flipH="0" flipV="0">
            <a:off x="10353675" y="3228975"/>
            <a:ext cx="609600" cy="2095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658" name="" descr="{&quot;isTemplate&quot;:true,&quot;type&quot;:&quot;text&quot;}"/>
          <p:cNvSpPr txBox="1"/>
          <p:nvPr/>
        </p:nvSpPr>
        <p:spPr>
          <a:xfrm rot="0" flipH="0" flipV="0">
            <a:off x="10429875" y="3276600"/>
            <a:ext cx="4572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0F1423"/>
                </a:solidFill>
                <a:latin typeface="Microsoft YaHei"/>
                <a:ea typeface="Microsoft YaHei"/>
              </a:rPr>
              <a:t>Ontology</a:t>
            </a:r>
            <a:endParaRPr/>
          </a:p>
        </p:txBody>
      </p:sp>
      <p:sp>
        <p:nvSpPr>
          <p:cNvPr id="1659" name=""/>
          <p:cNvSpPr/>
          <p:nvPr/>
        </p:nvSpPr>
        <p:spPr>
          <a:xfrm rot="0" flipH="0" flipV="0">
            <a:off x="6562725" y="3943350"/>
            <a:ext cx="447675" cy="2095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660" name="" descr="{&quot;isTemplate&quot;:true,&quot;type&quot;:&quot;text&quot;}"/>
          <p:cNvSpPr txBox="1"/>
          <p:nvPr/>
        </p:nvSpPr>
        <p:spPr>
          <a:xfrm rot="0" flipH="0" flipV="0">
            <a:off x="6638925" y="3990975"/>
            <a:ext cx="2952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0F1423"/>
                </a:solidFill>
                <a:latin typeface="Microsoft YaHei"/>
                <a:ea typeface="Microsoft YaHei"/>
              </a:rPr>
              <a:t>Agent</a:t>
            </a:r>
            <a:endParaRPr/>
          </a:p>
        </p:txBody>
      </p:sp>
      <p:sp>
        <p:nvSpPr>
          <p:cNvPr id="1661" name=""/>
          <p:cNvSpPr/>
          <p:nvPr/>
        </p:nvSpPr>
        <p:spPr>
          <a:xfrm rot="0" flipH="0" flipV="0">
            <a:off x="7048500" y="3943350"/>
            <a:ext cx="457200" cy="2095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662" name="" descr="{&quot;isTemplate&quot;:true,&quot;type&quot;:&quot;text&quot;}"/>
          <p:cNvSpPr txBox="1"/>
          <p:nvPr/>
        </p:nvSpPr>
        <p:spPr>
          <a:xfrm rot="0" flipH="0" flipV="0">
            <a:off x="7124700" y="3990975"/>
            <a:ext cx="3048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0F1423"/>
                </a:solidFill>
                <a:latin typeface="Microsoft YaHei"/>
                <a:ea typeface="Microsoft YaHei"/>
              </a:rPr>
              <a:t>知识库</a:t>
            </a:r>
            <a:endParaRPr/>
          </a:p>
        </p:txBody>
      </p:sp>
      <p:sp>
        <p:nvSpPr>
          <p:cNvPr id="1663" name=""/>
          <p:cNvSpPr/>
          <p:nvPr/>
        </p:nvSpPr>
        <p:spPr>
          <a:xfrm rot="0" flipH="0" flipV="0">
            <a:off x="7543800" y="3943350"/>
            <a:ext cx="552450" cy="2095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664" name="" descr="{&quot;isTemplate&quot;:true,&quot;type&quot;:&quot;text&quot;}"/>
          <p:cNvSpPr txBox="1"/>
          <p:nvPr/>
        </p:nvSpPr>
        <p:spPr>
          <a:xfrm rot="0" flipH="0" flipV="0">
            <a:off x="7620000" y="399097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0F1423"/>
                </a:solidFill>
                <a:latin typeface="Microsoft YaHei"/>
                <a:ea typeface="Microsoft YaHei"/>
              </a:rPr>
              <a:t>管道处理</a:t>
            </a:r>
            <a:endParaRPr/>
          </a:p>
        </p:txBody>
      </p:sp>
      <p:sp>
        <p:nvSpPr>
          <p:cNvPr id="1665" name=""/>
          <p:cNvSpPr/>
          <p:nvPr/>
        </p:nvSpPr>
        <p:spPr>
          <a:xfrm rot="0" flipH="0" flipV="0">
            <a:off x="8134350" y="3943350"/>
            <a:ext cx="552450" cy="2095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666" name="" descr="{&quot;isTemplate&quot;:true,&quot;type&quot;:&quot;text&quot;}"/>
          <p:cNvSpPr txBox="1"/>
          <p:nvPr/>
        </p:nvSpPr>
        <p:spPr>
          <a:xfrm rot="0" flipH="0" flipV="0">
            <a:off x="8210550" y="399097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0F1423"/>
                </a:solidFill>
                <a:latin typeface="Microsoft YaHei"/>
                <a:ea typeface="Microsoft YaHei"/>
              </a:rPr>
              <a:t>数据治理</a:t>
            </a:r>
            <a:endParaRPr/>
          </a:p>
        </p:txBody>
      </p:sp>
      <p:sp>
        <p:nvSpPr>
          <p:cNvPr id="1667" name=""/>
          <p:cNvSpPr/>
          <p:nvPr/>
        </p:nvSpPr>
        <p:spPr>
          <a:xfrm rot="0" flipH="0" flipV="0">
            <a:off x="8724900" y="3943350"/>
            <a:ext cx="457200" cy="2095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668" name="" descr="{&quot;isTemplate&quot;:true,&quot;type&quot;:&quot;text&quot;}"/>
          <p:cNvSpPr txBox="1"/>
          <p:nvPr/>
        </p:nvSpPr>
        <p:spPr>
          <a:xfrm rot="0" flipH="0" flipV="0">
            <a:off x="8801100" y="3990975"/>
            <a:ext cx="3048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0F1423"/>
                </a:solidFill>
                <a:latin typeface="Microsoft YaHei"/>
                <a:ea typeface="Microsoft YaHei"/>
              </a:rPr>
              <a:t>主数据</a:t>
            </a:r>
            <a:endParaRPr/>
          </a:p>
        </p:txBody>
      </p:sp>
      <p:sp>
        <p:nvSpPr>
          <p:cNvPr id="1669" name=""/>
          <p:cNvSpPr/>
          <p:nvPr/>
        </p:nvSpPr>
        <p:spPr>
          <a:xfrm rot="0" flipH="0" flipV="0">
            <a:off x="9220200" y="3943350"/>
            <a:ext cx="352425" cy="2095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670" name="" descr="{&quot;isTemplate&quot;:true,&quot;type&quot;:&quot;text&quot;}"/>
          <p:cNvSpPr txBox="1"/>
          <p:nvPr/>
        </p:nvSpPr>
        <p:spPr>
          <a:xfrm rot="0" flipH="0" flipV="0">
            <a:off x="9296400" y="3990975"/>
            <a:ext cx="200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0F1423"/>
                </a:solidFill>
                <a:latin typeface="Microsoft YaHei"/>
                <a:ea typeface="Microsoft YaHei"/>
              </a:rPr>
              <a:t>指标</a:t>
            </a:r>
            <a:endParaRPr/>
          </a:p>
        </p:txBody>
      </p:sp>
      <p:sp>
        <p:nvSpPr>
          <p:cNvPr id="1671" name=""/>
          <p:cNvSpPr/>
          <p:nvPr/>
        </p:nvSpPr>
        <p:spPr>
          <a:xfrm rot="0" flipH="0" flipV="0">
            <a:off x="9610725" y="3943350"/>
            <a:ext cx="352425" cy="2095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672" name="" descr="{&quot;isTemplate&quot;:true,&quot;type&quot;:&quot;text&quot;}"/>
          <p:cNvSpPr txBox="1"/>
          <p:nvPr/>
        </p:nvSpPr>
        <p:spPr>
          <a:xfrm rot="0" flipH="0" flipV="0">
            <a:off x="9686925" y="3990975"/>
            <a:ext cx="200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A4F24"/>
                </a:solidFill>
                <a:latin typeface="Microsoft YaHei"/>
                <a:ea typeface="Microsoft YaHei"/>
              </a:rPr>
              <a:t>FDE</a:t>
            </a:r>
            <a:endParaRPr/>
          </a:p>
        </p:txBody>
      </p:sp>
      <p:sp>
        <p:nvSpPr>
          <p:cNvPr id="1673" name="" descr="{&quot;isTemplate&quot;:true,&quot;type&quot;:&quot;text&quot;}"/>
          <p:cNvSpPr txBox="1"/>
          <p:nvPr/>
        </p:nvSpPr>
        <p:spPr>
          <a:xfrm rot="0" flipH="0" flipV="0">
            <a:off x="6562725" y="4695825"/>
            <a:ext cx="4876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每一册都是做法轴上的一段，挂在顺序轴的某一步上用</a:t>
            </a:r>
            <a:endParaRPr/>
          </a:p>
        </p:txBody>
      </p:sp>
      <p:sp>
        <p:nvSpPr>
          <p:cNvPr id="1674" name=""/>
          <p:cNvSpPr/>
          <p:nvPr/>
        </p:nvSpPr>
        <p:spPr>
          <a:xfrm rot="0" flipH="0" flipV="0">
            <a:off x="609600" y="5048250"/>
            <a:ext cx="10972800" cy="552450"/>
          </a:xfrm>
          <a:prstGeom prst="roundRect">
            <a:avLst>
              <a:gd name="adj" fmla="val 5172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675" name="" descr="{&quot;isTemplate&quot;:true,&quot;type&quot;:&quot;text&quot;}"/>
          <p:cNvSpPr txBox="1"/>
          <p:nvPr/>
        </p:nvSpPr>
        <p:spPr>
          <a:xfrm rot="0" flipH="0" flipV="0">
            <a:off x="819150" y="5248275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一句可复用的收口问法</a:t>
            </a:r>
            <a:endParaRPr/>
          </a:p>
        </p:txBody>
      </p:sp>
      <p:sp>
        <p:nvSpPr>
          <p:cNvPr id="1676" name="" descr="{&quot;isTemplate&quot;:true,&quot;type&quot;:&quot;text&quot;}"/>
          <p:cNvSpPr txBox="1"/>
          <p:nvPr/>
        </p:nvSpPr>
        <p:spPr>
          <a:xfrm rot="0" flipH="0" flipV="0">
            <a:off x="2514600" y="5181600"/>
            <a:ext cx="657225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把这次规划的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PPT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全部删掉，客户手里还剩下什么？</a:t>
            </a:r>
            <a:endParaRPr/>
          </a:p>
        </p:txBody>
      </p:sp>
      <p:sp>
        <p:nvSpPr>
          <p:cNvPr id="1677" name="" descr="{&quot;isTemplate&quot;:true,&quot;type&quot;:&quot;text&quot;}"/>
          <p:cNvSpPr txBox="1"/>
          <p:nvPr/>
        </p:nvSpPr>
        <p:spPr>
          <a:xfrm rot="0" flipH="0" flipV="0">
            <a:off x="9277350" y="5133975"/>
            <a:ext cx="20955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剩下的如果是产出物清单，答对了；如果只剩愿景和举措，没有清单，还没做完</a:t>
            </a:r>
            <a:endParaRPr/>
          </a:p>
        </p:txBody>
      </p:sp>
      <p:sp>
        <p:nvSpPr>
          <p:cNvPr id="1678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79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华为数字化转型之道</a:t>
            </a:r>
            <a:endParaRPr/>
          </a:p>
        </p:txBody>
      </p:sp>
      <p:sp>
        <p:nvSpPr>
          <p:cNvPr id="1680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35 / 35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2026-10-14T12:00:10Z</dcterms:created>
  <dcterms:modified xsi:type="dcterms:W3CDTF">2026-10-14T12:00:10Z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{"AIGC":{"Label":"1","ContentProducer":"00119111010856365494821B355","ProduceID":"0d127a6dbb45404fabe324f2b1e6d24b","ReservedCode1":"","ContentPropagator":"00119111010856365494821B355","PropagateID":"0d127a6dbb45404fabe324f2b1e6d24b","ReservedCode2":""}}</vt:lpwstr>
  </property>
</Properties>
</file>