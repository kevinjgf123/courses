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tableStyles" Target="tableStyles.xml"/><Relationship Id="rId3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各位好，这套企业架构咨询方法论我们已经出过五册：数据架构、业务架构、应用架构、技术架构，加上本体这一册。今天要补的第六册，是Agent。</a:t>
            </a:r>
          </a:p>
          <a:p>
            <a:endParaRPr lang="zh-CN"/>
          </a:p>
          <a:p>
            <a:r>
              <a:rPr lang="zh-CN" sz="1200" dirty="0"/>
              <a:t>之所以要单独成册，是因为过去两年AI 的推进速度，已经让传统四A 框架里少了一个必须被讨论的位置。以前我们架构一个应用，能明确说出它解决什么业务问题、依赖哪些数据、由哪个系统承载、跑在什么基础设施上。现在多了一类东西：它自己会判断、会调用工具、会在没有明确规则的地方自己做决定。既然它在做决定，架构就必须回答一个问题——它被允许决定什么。</a:t>
            </a:r>
          </a:p>
          <a:p>
            <a:endParaRPr lang="zh-CN"/>
          </a:p>
          <a:p>
            <a:r>
              <a:rPr lang="zh-CN" sz="1200" dirty="0"/>
              <a:t>这一册三十页，结构上仍然遵循前三段式的惯例：第一部分讲方法，第二部分讲内容，第三部分讲怎么落地。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先看整体结构。全册分四个部分，加一篇序论、一页方法论总览和一篇结语。</a:t>
            </a:r>
          </a:p>
          <a:p>
            <a:endParaRPr lang="zh-CN"/>
          </a:p>
          <a:p>
            <a:r>
              <a:rPr lang="zh-CN" sz="1200" dirty="0"/>
              <a:t>第一部分先把Agent 本身讲清楚：它到底是什么、由哪些部件组成、有哪几个能力档位、岗位说明书怎么写、上下文怎么设计。</a:t>
            </a:r>
          </a:p>
          <a:p>
            <a:endParaRPr lang="zh-CN"/>
          </a:p>
          <a:p>
            <a:r>
              <a:rPr lang="zh-CN" sz="1200" dirty="0"/>
              <a:t>第二部分专门讲 Agent 和 Ontology 的关系，这是这一册里最需要被讲透的部分——七个页面，后面会详细展开。</a:t>
            </a:r>
          </a:p>
          <a:p>
            <a:endParaRPr lang="zh-CN"/>
          </a:p>
          <a:p>
            <a:r>
              <a:rPr lang="zh-CN" sz="1200" dirty="0"/>
              <a:t>第三部分回到4A，讲 Agent 作为业务应用时，它的业务架构、数据架构、应用架构、技术架构分别长什么样，以及多Agent 的拓扑怎么选。</a:t>
            </a:r>
          </a:p>
          <a:p>
            <a:endParaRPr lang="zh-CN"/>
          </a:p>
          <a:p>
            <a:r>
              <a:rPr lang="zh-CN" sz="1200" dirty="0"/>
              <a:t>第四部分讲工程与治理：五道闸门、五类失败模式、六层评测、上线评审十二项，以及从单Agent 到Agent 网络的四步演进。</a:t>
            </a:r>
          </a:p>
          <a:p>
            <a:endParaRPr lang="zh-CN"/>
          </a:p>
          <a:p>
            <a:r>
              <a:rPr lang="zh-CN" sz="1200" dirty="0"/>
              <a:t>第四章第二页是这一册新增的一页方法论总览，叫 Approach，英文里的意思是路径。老外的咨询方法论都会带这么一页，回答先做什么后做什么、每一步产出什么。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这一页是全册的立论。</a:t>
            </a:r>
          </a:p>
          <a:p>
            <a:endParaRPr lang="zh-CN"/>
          </a:p>
          <a:p>
            <a:r>
              <a:rPr lang="zh-CN" sz="1200" dirty="0"/>
              <a:t>传统架构的核心命题是：把一个确定要发生的事情，一次性设计对。所以我们做需求、做建模、做接口设计，都是在事先把逻辑固定下来。</a:t>
            </a:r>
          </a:p>
          <a:p>
            <a:endParaRPr lang="zh-CN"/>
          </a:p>
          <a:p>
            <a:r>
              <a:rPr lang="zh-CN" sz="1200" dirty="0"/>
              <a:t>Agent 打破的是这个前提。它在运行的时候现场生成决策路径，同一个输入两次执行，路径可能不同。这意味着传统的架构方法论里，「事先设计好」这个假设失效了。</a:t>
            </a:r>
          </a:p>
          <a:p>
            <a:endParaRPr lang="zh-CN"/>
          </a:p>
          <a:p>
            <a:r>
              <a:rPr lang="zh-CN" sz="1200" dirty="0"/>
              <a:t>但架构并没有因此失效，反而更重要了。因为当决策不再由代码写死的时候，就必须由架构来明确边界：它能读什么、能改什么、能决定什么、什么时候必须停下来交给人。</a:t>
            </a:r>
          </a:p>
          <a:p>
            <a:endParaRPr lang="zh-CN"/>
          </a:p>
          <a:p>
            <a:r>
              <a:rPr lang="zh-CN" sz="1200" dirty="0"/>
              <a:t>所以这一册的一句话主张是：Agent 是4A 的新实践点，不是第五个架构。它把四个架构的共同关注点——边界和责任——重新推到台前。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这是这一册新增的一页方法论总览，标题沿用英文的 Approach。</a:t>
            </a:r>
          </a:p>
          <a:p>
            <a:endParaRPr lang="zh-CN"/>
          </a:p>
          <a:p>
            <a:r>
              <a:rPr lang="zh-CN" sz="1200" dirty="0"/>
              <a:t>它回答三个问题：七个阶段先后顺序是什么、每个阶段的产出物是什么、哪些顺序绝对不能颠倒。</a:t>
            </a:r>
          </a:p>
          <a:p>
            <a:endParaRPr lang="zh-CN"/>
          </a:p>
          <a:p>
            <a:r>
              <a:rPr lang="zh-CN" sz="1200" dirty="0"/>
              <a:t>前七个阶段不是瀑布，可以迭代，但顺序上的依赖关系是硬约束。</a:t>
            </a:r>
          </a:p>
          <a:p>
            <a:endParaRPr lang="zh-CN"/>
          </a:p>
          <a:p>
            <a:r>
              <a:rPr lang="zh-CN" sz="1200" dirty="0"/>
              <a:t>阶段一是场景与岗位定义，产出是场景清单和岗位说明书。注意产出物里没有一行代码，因为还不知道这个 Agent 要替代谁的哪部分职责。</a:t>
            </a:r>
          </a:p>
          <a:p>
            <a:endParaRPr lang="zh-CN"/>
          </a:p>
          <a:p>
            <a:r>
              <a:rPr lang="zh-CN" sz="1200" dirty="0"/>
              <a:t>阶段二是本体与动作就绪评估，产出是就绪度报告和缺口清单。这一步经常被跳过，结果就是场景做完了才发现本体里没有可调用的对象。</a:t>
            </a:r>
          </a:p>
          <a:p>
            <a:endParaRPr lang="zh-CN"/>
          </a:p>
          <a:p>
            <a:r>
              <a:rPr lang="zh-CN" sz="1200" dirty="0"/>
              <a:t>阶段三是上下文设计，产出上下文规格书。阶段四是工具与技能装配。阶段五是权限与终止条件设计，这两样东西必须一起做，分开做就会出现有权限但停不下来，或者停得下来但权限太大。</a:t>
            </a:r>
          </a:p>
          <a:p>
            <a:endParaRPr lang="zh-CN"/>
          </a:p>
          <a:p>
            <a:r>
              <a:rPr lang="zh-CN" sz="1200" dirty="0"/>
              <a:t>阶段六是评测集与试运行。阶段七是上线与演进治理。</a:t>
            </a:r>
          </a:p>
          <a:p>
            <a:endParaRPr lang="zh-CN"/>
          </a:p>
          <a:p>
            <a:r>
              <a:rPr lang="zh-CN" sz="1200" dirty="0"/>
              <a:t>下面三条硬规则请大家记住：先单Agent 后多Agent、先只给建议后给权限、先评估通过再扩量。这三条如果违背，后面所有工作都是在放大风险。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进入第一部分，Agent 本身。</a:t>
            </a:r>
          </a:p>
          <a:p>
            <a:endParaRPr lang="zh-CN"/>
          </a:p>
          <a:p>
            <a:r>
              <a:rPr lang="zh-CN" sz="1200" dirty="0"/>
              <a:t>这一部分六页，回答三个问题：Agent 是什么、它由什么构成、它有多少种能力档位以及怎么写岗位说明书、上下文怎么设计。</a:t>
            </a:r>
          </a:p>
          <a:p>
            <a:endParaRPr lang="zh-CN"/>
          </a:p>
          <a:p>
            <a:r>
              <a:rPr lang="zh-CN" sz="1200" dirty="0"/>
              <a:t>这里的立场比较明确：Agent 不是一个技术组件，是一个有职权的角色。理解这一点，后面的架构和治理才有落点。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先把定义说清楚。</a:t>
            </a:r>
          </a:p>
          <a:p>
            <a:endParaRPr lang="zh-CN"/>
          </a:p>
          <a:p>
            <a:r>
              <a:rPr lang="zh-CN" sz="1200" dirty="0"/>
              <a:t>我们把 Agent 定义为：一个被授予了明确职权、能够自主调用工具完成任务、并对结果留痕的角色。四个要素：岗位、职权、停手、留痕。</a:t>
            </a:r>
          </a:p>
          <a:p>
            <a:endParaRPr lang="zh-CN"/>
          </a:p>
          <a:p>
            <a:r>
              <a:rPr lang="zh-CN" sz="1200" dirty="0"/>
              <a:t>这四个要素里，业界讨论最多的是职权，讨论最少但最要紧的是停手和留痕。停手指的是什么情况下必须交给人，留痕指的是依据什么、做了什么、结果如何。</a:t>
            </a:r>
          </a:p>
          <a:p>
            <a:endParaRPr lang="zh-CN"/>
          </a:p>
          <a:p>
            <a:r>
              <a:rPr lang="zh-CN" sz="1200" dirty="0"/>
              <a:t>对比一下就会发现，一个只做到前两个要素的，其实就是个自动化脚本。之所以要叫 Agent，是因为它有第三和第四个要素——它会自己决定路径，所以必须约定它什么时候不决定，并且把它的判断过程记录下来。</a:t>
            </a:r>
          </a:p>
          <a:p>
            <a:endParaRPr lang="zh-CN"/>
          </a:p>
          <a:p>
            <a:r>
              <a:rPr lang="zh-CN" sz="1200" dirty="0"/>
              <a:t>再说它不是什么。不是一个会聊天的模型，聊天只是交互界面，不是它的本质。不是一个接了大模型的接口，模型提供的是语言能力，Agent 需要的是职权和边界。也不是一个RPA，RPA 的路径是人事先写死的，Agent 的路径是运行时生成的。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这一页是Agent 的六个组成部件，六个都必须显式设计，不能靠默认。</a:t>
            </a:r>
          </a:p>
          <a:p>
            <a:endParaRPr lang="zh-CN"/>
          </a:p>
          <a:p>
            <a:r>
              <a:rPr lang="zh-CN" sz="1200" dirty="0"/>
              <a:t>第一个是指令，也就是岗位说明书里那部分职责描述，规定它该做什么、不该做什么。第二个是应用变量，也就是这一次任务的临时状态：用户是谁、要处理哪个单据、当前进行到哪一步。</a:t>
            </a:r>
          </a:p>
          <a:p>
            <a:endParaRPr lang="zh-CN"/>
          </a:p>
          <a:p>
            <a:r>
              <a:rPr lang="zh-CN" sz="1200" dirty="0"/>
              <a:t>第三是检索上下文，从本体和文档里取回来的事实切片。第四是工具，也就是它能调用的动作。第五是技能，是可以按需加载的任务方法包。第六是记忆，是跨任务积累下来的信息。</a:t>
            </a:r>
          </a:p>
          <a:p>
            <a:endParaRPr lang="zh-CN"/>
          </a:p>
          <a:p>
            <a:r>
              <a:rPr lang="zh-CN" sz="1200" dirty="0"/>
              <a:t>这六个里面，最容易被忽略的是第五和第六。技能决定它能不能在需要的时候才加载相关方法，避免所有方法都塞在提示词里导致上下文膨胀。记忆决定它能不能越用越顺手，但也决定了它会不会把错误一遍遍复现——所以记忆必须有时效和清除入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这一页讲能力档位，这是整个方法论里最需要跟客户达成共识的部分。</a:t>
            </a:r>
          </a:p>
          <a:p>
            <a:endParaRPr lang="zh-CN"/>
          </a:p>
          <a:p>
            <a:r>
              <a:rPr lang="zh-CN" sz="1200" dirty="0"/>
              <a:t>L1 只给建议，人百分之百执行。L2 是审批执行，Agent 调动作，人确认后生效。L3 是受限自主，低风险动作自动执行，高风险动作仍然转人工。</a:t>
            </a:r>
          </a:p>
          <a:p>
            <a:endParaRPr lang="zh-CN"/>
          </a:p>
          <a:p>
            <a:r>
              <a:rPr lang="zh-CN" sz="1200" dirty="0"/>
              <a:t>为什么大多数企业应该停在 L2？因为L3 要求的不只是技术条件，还有组织条件。</a:t>
            </a:r>
          </a:p>
          <a:p>
            <a:endParaRPr lang="zh-CN"/>
          </a:p>
          <a:p>
            <a:r>
              <a:rPr lang="zh-CN" sz="1200" dirty="0"/>
              <a:t>进入L3 有四个前提条件：动作可逆、损失低、范围有界、结果可察。四个都满足才能进。</a:t>
            </a:r>
          </a:p>
          <a:p>
            <a:endParaRPr lang="zh-CN"/>
          </a:p>
          <a:p>
            <a:r>
              <a:rPr lang="zh-CN" sz="1200" dirty="0"/>
              <a:t>反过来有四类动作永远不要进 L3：不可逆的动作、跨组织的动作、低频但高损的动作、无法解释的动作。最后这一类最容易被忽略——如果一个决策事后解释不清，那它就不该由Agent 自动做。</a:t>
            </a:r>
          </a:p>
          <a:p>
            <a:endParaRPr lang="zh-CN"/>
          </a:p>
          <a:p>
            <a:r>
              <a:rPr lang="zh-CN" sz="1200" dirty="0"/>
              <a:t>架构师的价值就体现在这里：能明确说出这个业务只配得上 L1，这比硬把它推到 L3 要专业得多。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这一页是岗位说明书模板，这是第一阶段的正式产出物。</a:t>
            </a:r>
          </a:p>
          <a:p>
            <a:endParaRPr lang="zh-CN"/>
          </a:p>
          <a:p>
            <a:r>
              <a:rPr lang="zh-CN" sz="1200" dirty="0"/>
              <a:t>中间这张表有八栏，每一栏都要能被验证。最后两栏最容易被写成废话——验收口径写成「输出质量良好」，失败处置写成「视情况人工介入」，这样的说明书写了等于没写。</a:t>
            </a:r>
          </a:p>
          <a:p>
            <a:endParaRPr lang="zh-CN"/>
          </a:p>
          <a:p>
            <a:r>
              <a:rPr lang="zh-CN" sz="1200" dirty="0"/>
              <a:t>验收口径必须可量化，比如字段准确率超过多少、必须引用哪些来源。失败处置必须写明什么条件下交给人、交给谁、带什么信息过去。</a:t>
            </a:r>
          </a:p>
          <a:p>
            <a:endParaRPr lang="zh-CN"/>
          </a:p>
          <a:p>
            <a:r>
              <a:rPr lang="zh-CN" sz="1200" dirty="0"/>
              <a:t>左边的能力判断矩阵是使用方法：横轴是业务影响，纵轴是决策确定性。右上角是高影响、高确定，适合往 L3 走；右下角是高影响、低确定，也就是真正需要人做判断的区域，Agent 最多给建议。</a:t>
            </a:r>
          </a:p>
          <a:p>
            <a:endParaRPr lang="zh-CN"/>
          </a:p>
          <a:p>
            <a:r>
              <a:rPr lang="zh-CN" sz="1200" dirty="0"/>
              <a:t>下面的红线清单对应前面讲的五类人类保留事项，这五条不能出现在 Agent 的职权范围内。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这一页讲上下文工程，这是 Agent 架构里最实操的部分。</a:t>
            </a:r>
          </a:p>
          <a:p>
            <a:endParaRPr lang="zh-CN"/>
          </a:p>
          <a:p>
            <a:r>
              <a:rPr lang="zh-CN" sz="1200" dirty="0"/>
              <a:t>上下文四问：塞什么、塞多少、怎么压缩、怎么隔离。</a:t>
            </a:r>
          </a:p>
          <a:p>
            <a:endParaRPr lang="zh-CN"/>
          </a:p>
          <a:p>
            <a:r>
              <a:rPr lang="zh-CN" sz="1200" dirty="0"/>
              <a:t>塞什么要区分来源可信度。系统内的本体事实、权威文档、外部来源，这三类的可信度不同，进来的时候要带上标记。不可信来源的内容只能作为参考，不能作为判断依据。</a:t>
            </a:r>
          </a:p>
          <a:p>
            <a:endParaRPr lang="zh-CN"/>
          </a:p>
          <a:p>
            <a:r>
              <a:rPr lang="zh-CN" sz="1200" dirty="0"/>
              <a:t>塞多少是预算问题。上下文窗口不是越大越好，塞满了反而会因为噪声降低质量。</a:t>
            </a:r>
          </a:p>
          <a:p>
            <a:endParaRPr lang="zh-CN"/>
          </a:p>
          <a:p>
            <a:r>
              <a:rPr lang="zh-CN" sz="1200" dirty="0"/>
              <a:t>怎么压缩是有优先级的：先删无关内容，再摘要长文档，再降级成索引而不是正文，最后才截断。直接截断是最差的做法，因为会把关键约束截掉。</a:t>
            </a:r>
          </a:p>
          <a:p>
            <a:endParaRPr lang="zh-CN"/>
          </a:p>
          <a:p>
            <a:r>
              <a:rPr lang="zh-CN" sz="1200" dirty="0"/>
              <a:t>怎么隔离讲的是会话和租户的边界，尤其是有长期记忆的应用，隔离没做好就会出现数据串用。</a:t>
            </a:r>
          </a:p>
          <a:p>
            <a:endParaRPr lang="zh-CN"/>
          </a:p>
          <a:p>
            <a:r>
              <a:rPr lang="zh-CN" sz="1200" dirty="0"/>
              <a:t>下面是上下文规格书的五个必填项：来源、预算、时效、压缩规则、不可信标记。这一页的内容如果能在项目里落成一份文档，Agent 的质量基本就稳了一半。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进入第二部分，Agent 与本体。</a:t>
            </a:r>
          </a:p>
          <a:p>
            <a:endParaRPr lang="zh-CN"/>
          </a:p>
          <a:p>
            <a:r>
              <a:rPr lang="zh-CN" sz="1200" dirty="0"/>
              <a:t>这一部分是这一册里最需要被单独拿出来讲的一块，一共七页。</a:t>
            </a:r>
          </a:p>
          <a:p>
            <a:endParaRPr lang="zh-CN"/>
          </a:p>
          <a:p>
            <a:r>
              <a:rPr lang="zh-CN" sz="1200" dirty="0"/>
              <a:t>之所以要专门讲，是因为业界现在有两种并行的说法：一种强调 Agent 的自主性，觉得 Agent 会自己想办法；另一种强调本体的约束力，觉得一切都得在本体里定义。这两种说法都对，但合起来才是完整答案。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这一页是总览，一句话概括两者关系：本体是被调用的对象，Agent 是发起调用的角色。</a:t>
            </a:r>
          </a:p>
          <a:p>
            <a:endParaRPr lang="zh-CN"/>
          </a:p>
          <a:p>
            <a:r>
              <a:rPr lang="zh-CN" sz="1200" dirty="0"/>
              <a:t>下面这条链路是整册最重要的一段，建议在客户面前完整念一遍：本体提供对象、链接、Action 和权限；Agent 承担岗位、指令、上下文和工具；Action 负责受控变更、校验和幂等；最终落到源系统，比如 ERP、CRM、工单系统。</a:t>
            </a:r>
          </a:p>
          <a:p>
            <a:endParaRPr lang="zh-CN"/>
          </a:p>
          <a:p>
            <a:r>
              <a:rPr lang="zh-CN" sz="1200" dirty="0"/>
              <a:t>这条链路上有个关键判断：Agent 不直接连源系统。所有写操作都必须经过 Action。这不是流程上的建议，这是架构上的硬约束，因为一旦允许直连，权限、校验和审计这三样就全部失效了。</a:t>
            </a:r>
          </a:p>
          <a:p>
            <a:endParaRPr lang="zh-CN"/>
          </a:p>
          <a:p>
            <a:r>
              <a:rPr lang="zh-CN" sz="1200" dirty="0"/>
              <a:t>对比 Palantir 的做法，会发现思路是一致的：Agent 是在本体和 Action 之上组织起来的入口，它本身不是操作层。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这一页是三条硬边界，我把它称为 Agent 架构的宪法三条。</a:t>
            </a:r>
          </a:p>
          <a:p>
            <a:endParaRPr lang="zh-CN"/>
          </a:p>
          <a:p>
            <a:r>
              <a:rPr lang="zh-CN" sz="1200" dirty="0"/>
              <a:t>边界一：Agent 的一切认知来自本体，它自己不持有业务事实。具体说，就是不能把口径写在提示词里、不能把规则藏在代码注释里。破这条的后果是，同一个概念在两个 Agent 里会有两个解释，而且谁也没法统一。</a:t>
            </a:r>
          </a:p>
          <a:p>
            <a:endParaRPr lang="zh-CN"/>
          </a:p>
          <a:p>
            <a:r>
              <a:rPr lang="zh-CN" sz="1200" dirty="0"/>
              <a:t>边界二：Agent 的一切改变通过 Action，它自己直连任何外部系统都算越权。破这条的后果是审计缺失——你无法回答这次变更依据了什么。</a:t>
            </a:r>
          </a:p>
          <a:p>
            <a:endParaRPr lang="zh-CN"/>
          </a:p>
          <a:p>
            <a:r>
              <a:rPr lang="zh-CN" sz="1200" dirty="0"/>
              <a:t>边界三：Agent 以最终用户的身份执行，它不是超级账号。用服务号统一提权，绕过了个人权限。破这条的后果最严重，而且是延迟发作的：一旦模型串味或者被注入，个人数据全部暴露。</a:t>
            </a:r>
          </a:p>
          <a:p>
            <a:endParaRPr lang="zh-CN"/>
          </a:p>
          <a:p>
            <a:r>
              <a:rPr lang="zh-CN" sz="1200" dirty="0"/>
              <a:t>下面这行专门解释为什么第三条最要紧：前两条错了是口径不一致和审计缺失，只有第三条错了会直接造成数据泄露，而且它平时不出事，出事就是一次注入攻击。所以这条必须由架构强制，不能靠开发自觉。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这一页讲一个具体的落地场景：把标准作业程序，也就是 SOP，放进本体。</a:t>
            </a:r>
          </a:p>
          <a:p>
            <a:endParaRPr lang="zh-CN"/>
          </a:p>
          <a:p>
            <a:r>
              <a:rPr lang="zh-CN" sz="1200" dirty="0"/>
              <a:t>这是本体和 Agent 结合最有价值的一类场景，也是很多企业最缺的东西——流程都写在人的脑子里和散落的文档里。</a:t>
            </a:r>
          </a:p>
          <a:p>
            <a:endParaRPr lang="zh-CN"/>
          </a:p>
          <a:p>
            <a:r>
              <a:rPr lang="zh-CN" sz="1200" dirty="0"/>
              <a:t>做法分三步：第一步把 SOP 分解成步骤、条件和判断点；第二步把每一步要操作的对象建模出来，明确是哪个订单、哪个设备、哪个工单；第三步定义每一步对应的 Action。</a:t>
            </a:r>
          </a:p>
          <a:p>
            <a:endParaRPr lang="zh-CN"/>
          </a:p>
          <a:p>
            <a:r>
              <a:rPr lang="zh-CN" sz="1200" dirty="0"/>
              <a:t>这样做的价值是，SOP 从文档变成了可执行对象。Agent 不再是「参照文档回答问题」，而是「按本体里的流程去执行」。后者的可靠性完全不是一个量级。</a:t>
            </a:r>
          </a:p>
          <a:p>
            <a:endParaRPr lang="zh-CN"/>
          </a:p>
          <a:p>
            <a:r>
              <a:rPr lang="zh-CN" sz="1200" dirty="0"/>
              <a:t>这一步做完了，Agent 网络才有可能成立——因为流程在本体里，Agent 之间交接的时候传的是结构化对象，不是自然语言。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这一页做个反向推演：如果没有本体，Agent 会变成什么样。</a:t>
            </a:r>
          </a:p>
          <a:p>
            <a:endParaRPr lang="zh-CN"/>
          </a:p>
          <a:p>
            <a:r>
              <a:rPr lang="zh-CN" sz="1200" dirty="0"/>
              <a:t>左边三条是没有本体的做法。第一条，业务规则写在提示词里，规则一多就互相冲突，且没人知道冲突在哪。第二条，每个 Agent 自己拼 SQL 取数，同一个指标在不同 Agent 里算法不一样。第三条，权限靠对话约定，一句「我给你开个权限」就绕过了所有管控。</a:t>
            </a:r>
          </a:p>
          <a:p>
            <a:endParaRPr lang="zh-CN"/>
          </a:p>
          <a:p>
            <a:r>
              <a:rPr lang="zh-CN" sz="1200" dirty="0"/>
              <a:t>右边三列是每一项的代价。这里想强调的是，这三个问题不会在Demo 阶段暴露，只会在生产阶段、在跨部门复用的时候才暴露，那时候改造的成本是现在的十倍。</a:t>
            </a:r>
          </a:p>
          <a:p>
            <a:endParaRPr lang="zh-CN"/>
          </a:p>
          <a:p>
            <a:r>
              <a:rPr lang="zh-CN" sz="1200" dirty="0"/>
              <a:t>底部这句话是这一页想说的：本体不是 Agent 的一个可选配件，它是 Agent 能不能被治理的前提。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这一页是前面内容的操作化版本，是第一到第六阶段的检查表。</a:t>
            </a:r>
          </a:p>
          <a:p>
            <a:endParaRPr lang="zh-CN"/>
          </a:p>
          <a:p>
            <a:r>
              <a:rPr lang="zh-CN" sz="1200" dirty="0"/>
              <a:t>左边八格问本体和Action 准备好了没有：对象有身份、关系有方向、属性有口径、写操作已建模、写操作有校验、权限已绑定、有逆操作、有模拟环境。</a:t>
            </a:r>
          </a:p>
          <a:p>
            <a:endParaRPr lang="zh-CN"/>
          </a:p>
          <a:p>
            <a:r>
              <a:rPr lang="zh-CN" sz="1200" dirty="0"/>
              <a:t>右边八格问Agent 装配到位没有：岗位已定义、上下文有规格、工具已封装、技能可渐进披露、记忆有分层、权限继承到人、停手条件明确、评测集已就绪。</a:t>
            </a:r>
          </a:p>
          <a:p>
            <a:endParaRPr lang="zh-CN"/>
          </a:p>
          <a:p>
            <a:r>
              <a:rPr lang="zh-CN" sz="1200" dirty="0"/>
              <a:t>每格填有、半、无。规则是：任何一格填无，这个 Agent 就不许进入试运行。填半的必须写清补齐计划和时间点。</a:t>
            </a:r>
          </a:p>
          <a:p>
            <a:endParaRPr lang="zh-CN"/>
          </a:p>
          <a:p>
            <a:r>
              <a:rPr lang="zh-CN" sz="1200" dirty="0"/>
              <a:t>之所以做成这种形式，是因为它可以直接当评审表用。评审会上逐格过，比讨论「你觉得这个Agent 行不行」有效得多。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回到 4A。这是第三部分，讨论 Agent 作为业务应用时，它的四层架构分别长什么样。</a:t>
            </a:r>
          </a:p>
          <a:p>
            <a:endParaRPr lang="zh-CN"/>
          </a:p>
          <a:p>
            <a:r>
              <a:rPr lang="zh-CN" sz="1200" dirty="0"/>
              <a:t>这里要先说清一个前提：Agent 是一个业务应用。判断它是不是一个业务应用的標準很朴素——它有没有明确的岗位、明确的服务对象、明确的可度量产出。有这三条，它就是个业务应用，就该有完整的架构。</a:t>
            </a:r>
          </a:p>
          <a:p>
            <a:endParaRPr lang="zh-CN"/>
          </a:p>
          <a:p>
            <a:r>
              <a:rPr lang="zh-CN" sz="1200" dirty="0"/>
              <a:t>六页内容：先是4A 映射总览，然后分BA、DA、AA、TA 四页，最后一页是多Agent 拓扑选型。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4A 映射总览，横着看是 Agent 场景下每一层变成什么，第四列是 Agent 独有的那部分。</a:t>
            </a:r>
          </a:p>
          <a:p>
            <a:endParaRPr lang="zh-CN"/>
          </a:p>
          <a:p>
            <a:r>
              <a:rPr lang="zh-CN" sz="1200" dirty="0"/>
              <a:t>BA 那一行，传统是岗位流程职责边界，Agent 场景变成岗位被拆成人做的部分、Agent 做的部分和必须人做的部分，独有的是职权边界。</a:t>
            </a:r>
          </a:p>
          <a:p>
            <a:endParaRPr lang="zh-CN"/>
          </a:p>
          <a:p>
            <a:r>
              <a:rPr lang="zh-CN" sz="1200" dirty="0"/>
              <a:t>DA 那一行，传统是数据模型和指标口径，Agent 场景变成数据分成本体事实、上下文和记忆三层，独有的是记忆分层与会话隔离。</a:t>
            </a:r>
          </a:p>
          <a:p>
            <a:endParaRPr lang="zh-CN"/>
          </a:p>
          <a:p>
            <a:r>
              <a:rPr lang="zh-CN" sz="1200" dirty="0"/>
              <a:t>AA 那一行，传统是应用清单和调用链，Agent 场景变成拓扑问题——谁调度谁、谁交接给谁，独有的是编排拓扑和身份传递。</a:t>
            </a:r>
          </a:p>
          <a:p>
            <a:endParaRPr lang="zh-CN"/>
          </a:p>
          <a:p>
            <a:r>
              <a:rPr lang="zh-CN" sz="1200" dirty="0"/>
              <a:t>TA 那一行，传统是运行环境和非功能指标，Agent 场景多出模型服务、上下文窗口、工具网关和终止控制，独有的是步数、成本、超时和熔断。</a:t>
            </a:r>
          </a:p>
          <a:p>
            <a:endParaRPr lang="zh-CN"/>
          </a:p>
          <a:p>
            <a:r>
              <a:rPr lang="zh-CN" sz="1200" dirty="0"/>
              <a:t>最后这句话是这一页的落点：传统架构决定系统能做什么，Agent 架构还要额外决定它被允许做什么。多出来的这一层就是职权、编排、终止和留痕，管不好这层，Agent 就从自动化资产变成风险资产。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先看业务架构这一层。</a:t>
            </a:r>
          </a:p>
          <a:p>
            <a:endParaRPr lang="zh-CN"/>
          </a:p>
          <a:p>
            <a:r>
              <a:rPr lang="zh-CN" sz="1200" dirty="0"/>
              <a:t>左边是一岗三分的职责切分，这是引入任何 Agent 之前必须先做的一次工作：Agent 做高频、判断规则明确、出错可回滚的部分；Agent 建议人做规则存在但例外多、需要担责的部分；人做 Agent 辅助的是价值判断、跨组织协同和不可逆的部分。</a:t>
            </a:r>
          </a:p>
          <a:p>
            <a:endParaRPr lang="zh-CN"/>
          </a:p>
          <a:p>
            <a:r>
              <a:rPr lang="zh-CN" sz="1200" dirty="0"/>
              <a:t>这里最常见的错误是切口选错——把需要担责的判断交给了 Agent。这是企业级Agent 事故的头号来源，比技术问题严重得多。</a:t>
            </a:r>
          </a:p>
          <a:p>
            <a:endParaRPr lang="zh-CN"/>
          </a:p>
          <a:p>
            <a:r>
              <a:rPr lang="zh-CN" sz="1200" dirty="0"/>
              <a:t>右上列了五类必须留在人手里的决定：决定对人的处置、决定资金与承诺、决定合规与法律立场、决定不可逆操作、决定冲突与例外。这五条对应第八页的红线清单。</a:t>
            </a:r>
          </a:p>
          <a:p>
            <a:endParaRPr lang="zh-CN"/>
          </a:p>
          <a:p>
            <a:r>
              <a:rPr lang="zh-CN" sz="1200" dirty="0"/>
              <a:t>右下是岗位说明书的六个必填栏，和第九页的模板对应。</a:t>
            </a:r>
          </a:p>
          <a:p>
            <a:endParaRPr lang="zh-CN"/>
          </a:p>
          <a:p>
            <a:r>
              <a:rPr lang="zh-CN" sz="1200" dirty="0"/>
              <a:t>最下面这条是配套的组织动作，三件事必须同时做：设 Agent 责任人——他对 Agent 的输出负责，不对代码负责；建代理授权矩阵；把建议采纳率纳入团队指标。做不到这三件，Agent 就会变成没人负责的灰色地带。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 Agent 数据架构最特殊的地方：它有三层数据，不是一张库。</a:t>
            </a:r>
          </a:p>
          <a:p>
            <a:endParaRPr lang="zh-CN"/>
          </a:p>
          <a:p>
            <a:r>
              <a:rPr lang="zh-CN" sz="1200" dirty="0"/>
              <a:t>第一层是本体事实层，业务对象、关系、指标定义、权限都在这一层。注意这一层不归 Agent 管，归本体管，Agent 只读，不建自己的影子表。这一层是权威的、可追溯的、口径唯一的。</a:t>
            </a:r>
          </a:p>
          <a:p>
            <a:endParaRPr lang="zh-CN"/>
          </a:p>
          <a:p>
            <a:r>
              <a:rPr lang="zh-CN" sz="1200" dirty="0"/>
              <a:t>第二层是运行上下文层，是这次任务相关的数据切片、命中的文档片段、工具返回结果和引用标记。这一层有预算约束、可压缩、会失效。超预算就压缩，宁可少给，也不要让上下文溢出之后靠模型自己截断。</a:t>
            </a:r>
          </a:p>
          <a:p>
            <a:endParaRPr lang="zh-CN"/>
          </a:p>
          <a:p>
            <a:r>
              <a:rPr lang="zh-CN" sz="1200" dirty="0"/>
              <a:t>第三层是 Agent 记忆层，分会话态、任务态、长期态和反馈态。这一层会积累，所以必须有 TTL 和人工清除入口，否则一个错误会被 Agent 一遍遍复现。</a:t>
            </a:r>
          </a:p>
          <a:p>
            <a:endParaRPr lang="zh-CN"/>
          </a:p>
          <a:p>
            <a:r>
              <a:rPr lang="zh-CN" sz="1200" dirty="0"/>
              <a:t>底部是上下文预算的建议分配：本体事实切片 35%、检索文档 25%、工具与历史 20%、技能定义 10%、输出推理 10%。这个比例要按业务调，但一定得有预算分配这件事，不能凭感觉往里塞。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这一层是应用架构，讲的是编排和身份。</a:t>
            </a:r>
          </a:p>
          <a:p>
            <a:endParaRPr lang="zh-CN"/>
          </a:p>
          <a:p>
            <a:r>
              <a:rPr lang="zh-CN" sz="1200" dirty="0"/>
              <a:t>先看编排面上的四个角色。入口 Router 接住用户意图，只做分诊不做业务判断。调度 Supervisor 在团队内分工、决定顺序、决定是否重来，不直接干业务。执行 Worker 只做一类任务，可以被并行派发。兜底 Human Gate 是人接手的节点，必须有明确的进入条件和交付物。</a:t>
            </a:r>
          </a:p>
          <a:p>
            <a:endParaRPr lang="zh-CN"/>
          </a:p>
          <a:p>
            <a:r>
              <a:rPr lang="zh-CN" sz="1200" dirty="0"/>
              <a:t>这四个角色必须显式定义，不能混在一起。混在一起的后果是分诊的Agent 顺手把业务也做了，然后没人说得清是谁的判断。</a:t>
            </a:r>
          </a:p>
          <a:p>
            <a:endParaRPr lang="zh-CN"/>
          </a:p>
          <a:p>
            <a:r>
              <a:rPr lang="zh-CN" sz="1200" dirty="0"/>
              <a:t>中间这条身份传递链是这一页最要紧的内容：最终用户张三，Agent 以张三身份运行，数据集只可见张三有权数据，检索索引过滤后切片，Action 权限与张三一致。这条链必须一环一环传下来，中间任何一环断了变成服务号提权，权限就漏了。</a:t>
            </a:r>
          </a:p>
          <a:p>
            <a:endParaRPr lang="zh-CN"/>
          </a:p>
          <a:p>
            <a:r>
              <a:rPr lang="zh-CN" sz="1200" dirty="0"/>
              <a:t>底部三条硬规则：状态契约先于调用，Agent 之间传结构化对象而不是自然语言；职责不重叠，两个 Agent 不允许同时对同一对象有写权限；每条轨迹可追。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这一层是技术架构，Agent 比传统应用多扛四件事。</a:t>
            </a:r>
          </a:p>
          <a:p>
            <a:endParaRPr lang="zh-CN"/>
          </a:p>
          <a:p>
            <a:r>
              <a:rPr lang="zh-CN" sz="1200" dirty="0"/>
              <a:t>上面这条运行时组件链，标成「新」的五块都是 Agent 特有的：编排引擎、模型网关、上下文装配器、工具网关、终止控制。传统应用里没有这几块，也就是说Agent 系统的故障面比传统应用大不少。</a:t>
            </a:r>
          </a:p>
          <a:p>
            <a:endParaRPr lang="zh-CN"/>
          </a:p>
          <a:p>
            <a:r>
              <a:rPr lang="zh-CN" sz="1200" dirty="0"/>
              <a:t>中间四项非功能指标：成本可预测，按任务设预算上限，超限就降级或转人工；延迟可接受，长任务要给进度；失败可恢复，靠幂等 Action 加检查点实现断点续跑；质量可度量，靠离线评测集加在线抽检。</a:t>
            </a:r>
          </a:p>
          <a:p>
            <a:endParaRPr lang="zh-CN"/>
          </a:p>
          <a:p>
            <a:r>
              <a:rPr lang="zh-CN" sz="1200" dirty="0"/>
              <a:t>最下面是五条终止条件，这是 Agent 独有的非功能：步数、成本、超时、重复、置信度。</a:t>
            </a:r>
          </a:p>
          <a:p>
            <a:endParaRPr lang="zh-CN"/>
          </a:p>
          <a:p>
            <a:r>
              <a:rPr lang="zh-CN" sz="1200" dirty="0"/>
              <a:t>这里强调一句：终止条件必须在设计时就写进 Agent 配置，不能等上线后靠监控兜底。失控的任务往往在几秒钟内就把预算烧完了，等你发现的时候已经来不及了。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这一页是多 Agent 拓扑选型，五种摆法加上各自的触发条件。</a:t>
            </a:r>
          </a:p>
          <a:p>
            <a:endParaRPr lang="zh-CN"/>
          </a:p>
          <a:p>
            <a:r>
              <a:rPr lang="zh-CN" sz="1200" dirty="0"/>
              <a:t>先说选型原则：拓扑不是设计出来的，是被阈值逼出来的。没被逼出来就别拆。</a:t>
            </a:r>
          </a:p>
          <a:p>
            <a:endParaRPr lang="zh-CN"/>
          </a:p>
          <a:p>
            <a:r>
              <a:rPr lang="zh-CN" sz="1200" dirty="0"/>
              <a:t>五种拓扑：单Agent 是绝大多数场景的起点，不需要额外理由。Supervisor 适合任务需要分工且需统一收口，上它的条件是上下文容量突破或职责明显可分。Pipeline 适合阶段固定、前后强依赖的流程。Parallel 加Voter 适合答案可判定对错的场景，代价是成本和延迟成倍增长。Loop 适合文本类交付物，但很容易停不下来，必须配终止条件。</a:t>
            </a:r>
          </a:p>
          <a:p>
            <a:endParaRPr lang="zh-CN"/>
          </a:p>
          <a:p>
            <a:r>
              <a:rPr lang="zh-CN" sz="1200" dirty="0"/>
              <a:t>中间这一列是主要代价，写出来是为了提醒：每一种拓扑都有它的账要付。</a:t>
            </a:r>
          </a:p>
          <a:p>
            <a:endParaRPr lang="zh-CN"/>
          </a:p>
          <a:p>
            <a:r>
              <a:rPr lang="zh-CN" sz="1200" dirty="0"/>
              <a:t>最下面是生产环境的常见真实组合：入口用 Router 分诊，团队内用 Supervisor 分工，实际工作用 Pipeline 或 Parallel 执行，只有质量敏感的那一步用 Loop 兜底。生产上很少用单一拓扑，通常四种叠在一起，但每一层的职责边界必须清晰。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进入第四部分，工程与治理。</a:t>
            </a:r>
          </a:p>
          <a:p>
            <a:endParaRPr lang="zh-CN"/>
          </a:p>
          <a:p>
            <a:r>
              <a:rPr lang="zh-CN" sz="1200" dirty="0"/>
              <a:t>前面三部分讲的是怎么建，这部分讲怎么让它长期活着。这一部分六页：五道闸门、五类失败模式、六层评测、上线评审十二项，以及最后的四步演进。</a:t>
            </a:r>
          </a:p>
          <a:p>
            <a:endParaRPr lang="zh-CN"/>
          </a:p>
          <a:p>
            <a:r>
              <a:rPr lang="zh-CN" sz="1200" dirty="0"/>
              <a:t>这一部分的核心观点是：Demo 好看不算上线，能被审计、能被度量和能被停掉才算上线。</a:t>
            </a:r>
          </a:p>
          <a:p>
            <a:endParaRPr lang="zh-CN"/>
          </a:p>
          <a:p>
            <a:r>
              <a:rPr lang="zh-CN" sz="1200" dirty="0"/>
              <a:t>为什么这册要把治理单独成一部分？因为前面那些架构设计都属于「建得对不对」，而治理回答的是「建完之后能不能一直安全地跑下去」。企业里的 Agent 项目通常不是死在设计阶段，而是死在上线三个月之后——因为没有人持续看它的评测分数有没有掉、有没有人复核它的越权防御、有没有人准备好一键停用。</a:t>
            </a:r>
          </a:p>
          <a:p>
            <a:endParaRPr lang="zh-CN"/>
          </a:p>
          <a:p>
            <a:r>
              <a:rPr lang="zh-CN" sz="1200" dirty="0"/>
              <a:t>所以这一部分讲的东西，都是要有专人定期执行的流程，而不是一次性检查。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 Agent 专属的五道闸门。</a:t>
            </a:r>
          </a:p>
          <a:p>
            <a:endParaRPr lang="zh-CN"/>
          </a:p>
          <a:p>
            <a:r>
              <a:rPr lang="zh-CN" sz="1200" dirty="0"/>
              <a:t>第一道权限门，问它能看见的数据是不是它本来那个人能看见的。测法是用张三的账号跑一遍，再换李四跑同一请求，比对返回结果。</a:t>
            </a:r>
          </a:p>
          <a:p>
            <a:endParaRPr lang="zh-CN"/>
          </a:p>
          <a:p>
            <a:r>
              <a:rPr lang="zh-CN" sz="1200" dirty="0"/>
              <a:t>第二道职权门，问它做的每个动作是不是这个岗位本来就有权做的。测法是列出 Action 调用清单，逐条比对岗位授权矩阵。</a:t>
            </a:r>
          </a:p>
          <a:p>
            <a:endParaRPr lang="zh-CN"/>
          </a:p>
          <a:p>
            <a:r>
              <a:rPr lang="zh-CN" sz="1200" dirty="0"/>
              <a:t>第三道提示注入门，把恶意指令塞进它要读的文档里，看它会不会照做。这一道是传统应用完全没有的攻击面。</a:t>
            </a:r>
          </a:p>
          <a:p>
            <a:endParaRPr lang="zh-CN"/>
          </a:p>
          <a:p>
            <a:r>
              <a:rPr lang="zh-CN" sz="1200" dirty="0"/>
              <a:t>第四道停手门，注入超限、超时、低置信度的样本，看它是否正确中止并转人工。</a:t>
            </a:r>
          </a:p>
          <a:p>
            <a:endParaRPr lang="zh-CN"/>
          </a:p>
          <a:p>
            <a:r>
              <a:rPr lang="zh-CN" sz="1200" dirty="0"/>
              <a:t>第五道留痕门，随机抽二十条轨迹，检查是否含输入、依据、动作、结果和耗时。</a:t>
            </a:r>
          </a:p>
          <a:p>
            <a:endParaRPr lang="zh-CN"/>
          </a:p>
          <a:p>
            <a:r>
              <a:rPr lang="zh-CN" sz="1200" dirty="0"/>
              <a:t>底下这句话点出了和传统应用测试的根本区别：传统应用的功能是代码写死的，测的是功能对不对；Agent 的功能是模型每次现场生成的，测的是行为边界——所以这里问的不是「它能不能做」，而是「它该不该做、有没有做、依据是什么」。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这一页是五类典型失败模式，每一类都给了设计阶段的对策。</a:t>
            </a:r>
          </a:p>
          <a:p>
            <a:endParaRPr lang="zh-CN"/>
          </a:p>
          <a:p>
            <a:r>
              <a:rPr lang="zh-CN" sz="1200" dirty="0"/>
              <a:t>上下文膨胀，症状是越跑越慢、开始胡言乱语，根因是把所有相关资料一股脑塞进窗口，对策是上下文规格书加预算分配加分层压缩。</a:t>
            </a:r>
          </a:p>
          <a:p>
            <a:endParaRPr lang="zh-CN"/>
          </a:p>
          <a:p>
            <a:r>
              <a:rPr lang="zh-CN" sz="1200" dirty="0"/>
              <a:t>级联错误，症状是第一步判断错后面全错，根因是上游没有校验下游无条件信任，对策是 Action 前置校验加关键节点交叉验证。</a:t>
            </a:r>
          </a:p>
          <a:p>
            <a:endParaRPr lang="zh-CN"/>
          </a:p>
          <a:p>
            <a:r>
              <a:rPr lang="zh-CN" sz="1200" dirty="0"/>
              <a:t>循环烧钱，症状是同一个工具反复调用不停，根因是没有步数和重复检测，对策是五条终止条件加熔断加预算硬上限。</a:t>
            </a:r>
          </a:p>
          <a:p>
            <a:endParaRPr lang="zh-CN"/>
          </a:p>
          <a:p>
            <a:r>
              <a:rPr lang="zh-CN" sz="1200" dirty="0"/>
              <a:t>成本黑箱，症状是账单上涨说不清在哪，根因是没有按任务按Agent 归集，对策是成本埋点下沉到轨迹层。</a:t>
            </a:r>
          </a:p>
          <a:p>
            <a:endParaRPr lang="zh-CN"/>
          </a:p>
          <a:p>
            <a:r>
              <a:rPr lang="zh-CN" sz="1200" dirty="0"/>
              <a:t>权限泄漏，症状是看到了本不该看的内容，根因是用服务账号统一提权，对策是权限继承最终用户加数据集级可见范围。</a:t>
            </a:r>
          </a:p>
          <a:p>
            <a:endParaRPr lang="zh-CN"/>
          </a:p>
          <a:p>
            <a:r>
              <a:rPr lang="zh-CN" sz="1200" dirty="0"/>
              <a:t>这一页最想说的是底下这句话：这五类里没有一类是模型不够强造成的，全部是架构与配置问题。所以 Agent 项目失败的根因通常不在模型选型，而在于没有人把上下文、校验、终止、成本、权限这五件事当成设计对象。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这一页讲怎么证明它真的能干这个活。</a:t>
            </a:r>
          </a:p>
          <a:p>
            <a:endParaRPr lang="zh-CN"/>
          </a:p>
          <a:p>
            <a:r>
              <a:rPr lang="zh-CN" sz="1200" dirty="0"/>
              <a:t>左边是六层评测体系，由内到外逐层变贵，也逐层接近真相。L1 指令遵循，看有没有照做格式和约束，用五十条固定指令。L2 事实准确，看引用的数字和本体里是否一致，用一百条带答案样例。L3 工具正确，看该调的工具有没有调、调对没有，用真实轨迹回放。L4 流程完成，看整个任务有没有跑到终点，用三十条端到端场景。L5 越权防御，看该停的有没有停、该拒的有没有拒，用注入和边界样本。L6 业务价值，看省了多少人时、少错了多少单，用上线前后对比。</a:t>
            </a:r>
          </a:p>
          <a:p>
            <a:endParaRPr lang="zh-CN"/>
          </a:p>
          <a:p>
            <a:r>
              <a:rPr lang="zh-CN" sz="1200" dirty="0"/>
              <a:t>通过线的划法：L1 到 L3 必须百分之百才允许进试运行；L4 要达到百分之八十五以上；L5 必须百分之百，一条不过就不许上；L6 用于持续跟踪收益。</a:t>
            </a:r>
          </a:p>
          <a:p>
            <a:endParaRPr lang="zh-CN"/>
          </a:p>
          <a:p>
            <a:r>
              <a:rPr lang="zh-CN" sz="1200" dirty="0"/>
              <a:t>右边讲轨迹可观测。一条轨迹必须能看到九项，包括触发人、任务类型、上下文装载明细、模型和参数版本、每次工具调用参数和返回、耗时和 token 消耗、置信度和判定依据、最终结果和后续动作。</a:t>
            </a:r>
          </a:p>
          <a:p>
            <a:endParaRPr lang="zh-CN"/>
          </a:p>
          <a:p>
            <a:r>
              <a:rPr lang="zh-CN" sz="1200" dirty="0"/>
              <a:t>底下这句话是这一页的落点：没有轨迹就没有信任。评测集只能证明它过去能做对，轨迹才能证明它这次为什么这么做——审计的对象是轨迹，不是模型。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这一页是上线评审十二项，分四组。</a:t>
            </a:r>
          </a:p>
          <a:p>
            <a:endParaRPr lang="zh-CN"/>
          </a:p>
          <a:p>
            <a:r>
              <a:rPr lang="zh-CN" sz="1200" dirty="0"/>
              <a:t>第一组岗位与授权三项：岗位说明书是否已签署、职权清单是否与授权矩阵一致、是否明确人类保留事项。</a:t>
            </a:r>
          </a:p>
          <a:p>
            <a:endParaRPr lang="zh-CN"/>
          </a:p>
          <a:p>
            <a:r>
              <a:rPr lang="zh-CN" sz="1200" dirty="0"/>
              <a:t>第二组本体与数据三项：是否无Agent 私有事实、上下文规格书是否完成、记忆是否有 TTL 和清除入口。</a:t>
            </a:r>
          </a:p>
          <a:p>
            <a:endParaRPr lang="zh-CN"/>
          </a:p>
          <a:p>
            <a:r>
              <a:rPr lang="zh-CN" sz="1200" dirty="0"/>
              <a:t>第三组运行时与终止三项：五条终止条件是否已配置、降级路径是否已演练、成本归集是否可按任务下钻。</a:t>
            </a:r>
          </a:p>
          <a:p>
            <a:endParaRPr lang="zh-CN"/>
          </a:p>
          <a:p>
            <a:r>
              <a:rPr lang="zh-CN" sz="1200" dirty="0"/>
              <a:t>第四组质量与留痕三项：六层评测是否跑通并留档、五道门是否逐项验证过、退役预案是否写好。</a:t>
            </a:r>
          </a:p>
          <a:p>
            <a:endParaRPr lang="zh-CN"/>
          </a:p>
          <a:p>
            <a:r>
              <a:rPr lang="zh-CN" sz="1200" dirty="0"/>
              <a:t>最下面这条要特别强调：第 03、06、09、12 项是一票否决项。人类保留事项没写清、记忆无法清除、成本无法下钻、退役没有预案，任何一项缺失都意味着出事的时候无法止损。</a:t>
            </a:r>
          </a:p>
          <a:p>
            <a:endParaRPr lang="zh-CN"/>
          </a:p>
          <a:p>
            <a:r>
              <a:rPr lang="zh-CN" sz="1200" dirty="0"/>
              <a:t>还有一点：Agent 上线评审要拿到业务、架构、安全、法务四方签字，不是技术团队自己签个字就放行。原因是它有职权，出了事不只是技术问题。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这一页讲从单 Agent 到 Agent 网络的四步演进。</a:t>
            </a:r>
          </a:p>
          <a:p>
            <a:endParaRPr lang="zh-CN"/>
          </a:p>
          <a:p>
            <a:r>
              <a:rPr lang="zh-CN" sz="1200" dirty="0"/>
              <a:t>第一步单 Agent 只读建议，门槛是没有，评测集跑通 L1 到 L3 就行。</a:t>
            </a:r>
          </a:p>
          <a:p>
            <a:endParaRPr lang="zh-CN"/>
          </a:p>
          <a:p>
            <a:r>
              <a:rPr lang="zh-CN" sz="1200" dirty="0"/>
              <a:t>第二步单 Agent 审批执行，门槛是建议采纳率百分之七十以上，且连续四周稳定。采纳率这一条很重要——如果人一直不用它的建议，说明 Agent 做得不对，强行推进只会积累信任负债。</a:t>
            </a:r>
          </a:p>
          <a:p>
            <a:endParaRPr lang="zh-CN"/>
          </a:p>
          <a:p>
            <a:r>
              <a:rPr lang="zh-CN" sz="1200" dirty="0"/>
              <a:t>第三步单 Agent 受限自主，门槛是 L4 通过率百分之八十五以上，并且 L5 越权防御必须百分之百。</a:t>
            </a:r>
          </a:p>
          <a:p>
            <a:endParaRPr lang="zh-CN"/>
          </a:p>
          <a:p>
            <a:r>
              <a:rPr lang="zh-CN" sz="1200" dirty="0"/>
              <a:t>第四步才是 Agent 网络多角色协作，门槛是出现了真实的分工需求——也就是说单 Agent 已经确实承载不了了，而不是因为看起来更先进。</a:t>
            </a:r>
          </a:p>
          <a:p>
            <a:endParaRPr lang="zh-CN"/>
          </a:p>
          <a:p>
            <a:r>
              <a:rPr lang="zh-CN" sz="1200" dirty="0"/>
              <a:t>中间这三条是三条不可跳步的硬规则：先单后多、先读后写、先评估后扩量。</a:t>
            </a:r>
          </a:p>
          <a:p>
            <a:endParaRPr lang="zh-CN"/>
          </a:p>
          <a:p>
            <a:r>
              <a:rPr lang="zh-CN" sz="1200" dirty="0"/>
              <a:t>最后这一条我想专门说一下：退步也是选项。指标连续下滑或者出现越权事件时，允许主动降级回上一级。企业里最难的不是把 Agent 推到 L3，而是承认它只配得上 L2，然后重新设计岗位边界。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zh-CN" sz="1200" dirty="0"/>
              <a:t>最后收一下。</a:t>
            </a:r>
          </a:p>
          <a:p>
            <a:endParaRPr lang="zh-CN"/>
          </a:p>
          <a:p>
            <a:r>
              <a:rPr lang="zh-CN" sz="1200" dirty="0"/>
              <a:t>这一册的核心主张是一句话：架构的终点，不是把系统建完，而是把权责划清。</a:t>
            </a:r>
          </a:p>
          <a:p>
            <a:endParaRPr lang="zh-CN"/>
          </a:p>
          <a:p>
            <a:r>
              <a:rPr lang="zh-CN" sz="1200" dirty="0"/>
              <a:t>下面六册串成一条完整链路：数据架构解决先有治才有存，业务架构解决能力与组织解耦，应用架构解决数量增长带来的技术债，技术架构解决不押注单点技术，本体是 4A 的汇流点，Agent 是 4A 的新实践点。</a:t>
            </a:r>
          </a:p>
          <a:p>
            <a:endParaRPr lang="zh-CN"/>
          </a:p>
          <a:p>
            <a:r>
              <a:rPr lang="zh-CN" sz="1200" dirty="0"/>
              <a:t>三个收束句：Agent 改变的不是能力，是职权。过去架构只管系统能做什么，现在还要管它被允许做什么。Ontology 决定 Agent 能知道多少，没有本体，Agent 的一切认知都变成不可审计的推测。方法论的价值是划出红线——说清谁来判断、权限多大、什么情况必须停手。</a:t>
            </a:r>
          </a:p>
          <a:p>
            <a:endParaRPr lang="zh-CN"/>
          </a:p>
          <a:p>
            <a:r>
              <a:rPr lang="zh-CN" sz="1200" dirty="0"/>
              <a:t>如果只带走一句话，就是这句：让 Agent 有用有的是方法，难的是让它有边界。而边界这件事，架构师不说就没人说了。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 }}&gt;&#10;    {/* 左侧橙红几何带 */}&#10;    &lt;Box style={{ position: 'absolute', left: 0, top: 0, width: 460, height: 720, background: 'linear-gradient(160deg, #FA4F24 0%, #F87D2F 100%)' }} /&gt;&#10;    &lt;Box style={{ position: 'absolute', left: 400, top: 0, width: 120, height: 720, background: 'linear-gradient(160deg, rgba(250,79,36,0.35) 0%, rgba(248,125,47,0) 100%)' }} /&gt;&#10;&#10;    {/* 左侧品牌文字 */}&#10;    &lt;Box style={{ position: 'absolute', left: 64, top: 64, flexDirection: 'column' }}&gt;&#10;        &lt;Text style={{ fontSize: 16, color: 'rgba(255,255,255,0.85)', letterSpacing: 3 }}&gt;BOULDERAI&lt;/Text&gt;&#10;        &lt;Text style={{ fontSize: 13, color: 'rgba(255,255,255,0.65)', letterSpacing: 2, marginTop: 4 }}&gt;TECHNOLOGIES · SOLUTION&lt;/Text&gt;&#10;    &lt;/Box&gt;&#10;    &lt;Box style={{ position: 'absolute', left: 64, bottom: 72, flexDirection: 'column' }}&gt;&#10;        &lt;Box style={{ width: 56, height: 4, background: 'rgba(255,255,255,0.8)' }} /&gt;&#10;        &lt;Text style={{ fontSize: 20, color: '#FFFFFF', fontWeight: 'bold', marginTop: 18 }}&gt;硕磐智能&lt;/Text&gt;&#10;        &lt;Text style={{ fontSize: 14, color: 'rgba(255,255,255,0.8)', marginTop: 6 }}&gt;咨询交付版 · AGENT&lt;/Text&gt;&#10;    &lt;/Box&gt;&#10;&#10;    {/* 右侧主标题 */}&#10;    &lt;Box style={{ position: 'absolute', left: 540, top: 150, width: 680, flexDirection: 'column' }}&gt;&#10;    &lt;Text style={{ fontSize: 78, fontWeight: 'bold', color: '#FA4F24', lineHeight: 1.0 }}&gt;Agent&lt;/Text&gt;&#10;    &lt;Text style={{ fontSize: 44, fontWeight: 'bold', color: '#0F1423', marginTop: 18, lineHeight: 1.2 }}&gt;智能体咨询方法论&lt;/Text&gt;&#10;        &lt;Box style={{ width: 88, height: 5, background: '#FA4F24', marginTop: 26 }} /&gt;&#10;     &lt;Text style={{ fontSize: 21, color: '#3A4050', marginTop: 26, lineHeight: 1.6 }}&gt;&#10;   把「谁来判断、判断到什么程度、何时必须停手」定义清楚&#10;    &lt;/Text&gt;&#10;    &lt;/Box&gt;&#10;&#10;    {/* 底部四个标签 */}&#10;    &lt;Box style={{ position: 'absolute', left: 540, top: 560, flexDirection: 'row', gap: 12 }}&gt;&#10;        {['Approach 作业路径', '自身 4A 架构', '与本体关系', '治理与评测'].map((t, i) =&gt; (&#10;     &lt;Box key={i} style={{ background: 'rgba(250,79,36,0.08)', borderRadius: 3, padding: '8px 18px' }}&gt;&#10;     &lt;Text style={{ fontSize: 16, color: '#C43A17', fontWeight: 'bold' }}&gt;{t}&lt;/Text&gt;&#10;      &lt;/Box&gt;&#10;        ))}&#10;    &lt;/Box&gt;&#10;&#10;    {/* 依据说明 */}&#10;    &lt;Box style={{ position: 'absolute', left: 540, bottom: 78, flexDirection: 'row', alignItems: 'center', gap: 10 }}&gt;&#10;        &lt;Box style={{ width: 4, height: 18, background: '#F87D2F' }} /&gt;&#10;   &lt;Text style={{ fontSize: 14, color: '#8A8F99' }}&gt;方法论依据：Palantir AIP Agent Studio 官方文档 · 多智能体工程实践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38150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3810000" y="0"/>
            <a:ext cx="1143000" cy="6858000"/>
          </a:xfrm>
          <a:prstGeom prst="rect">
            <a:avLst/>
          </a:prstGeom>
          <a:gradFill>
            <a:gsLst>
              <a:gs pos="0">
                <a:srgbClr val="FA4F24">
                  <a:alpha val="35000"/>
                </a:srgbClr>
              </a:gs>
              <a:gs pos="100000">
                <a:srgbClr val="F87D2F">
                  <a:alpha val="0"/>
                </a:srgbClr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838200"/>
            <a:ext cx="2133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14975"/>
            <a:ext cx="533400" cy="381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12287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硕磐智能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10275"/>
            <a:ext cx="1228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143500" y="1428750"/>
            <a:ext cx="6477000" cy="895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850" b="1">
                <a:solidFill>
                  <a:srgbClr val="FA4F24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143500" y="2495550"/>
            <a:ext cx="6477000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0F1423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143500" y="3352800"/>
            <a:ext cx="8382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143500" y="3648075"/>
            <a:ext cx="64770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3A4050"/>
                </a:solidFill>
                <a:latin typeface="Microsoft YaHei"/>
                <a:ea typeface="Microsoft YaHei"/>
              </a:rPr>
              <a:t>把「谁来判断、判断到什么程度、何时必须停手」定义清楚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143500" y="5334000"/>
            <a:ext cx="1743075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314950" y="5410200"/>
            <a:ext cx="1400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Approach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作业路径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000875" y="5334000"/>
            <a:ext cx="12573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172325" y="54102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自身</a:t>
            </a:r>
            <a:r>
              <a:rPr lang="en-US" sz="12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372475" y="5334000"/>
            <a:ext cx="11049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543925" y="5410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与本体关系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9591675" y="5334000"/>
            <a:ext cx="1104900" cy="342900"/>
          </a:xfrm>
          <a:prstGeom prst="roundRect">
            <a:avLst>
              <a:gd name="adj" fmla="val 8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763125" y="54102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43A17"/>
                </a:solidFill>
                <a:latin typeface="Microsoft YaHei"/>
                <a:ea typeface="Microsoft YaHei"/>
              </a:rPr>
              <a:t>治理与评测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143500" y="5943600"/>
            <a:ext cx="38100" cy="171450"/>
          </a:xfrm>
          <a:prstGeom prst="rect">
            <a:avLst/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276850" y="595312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方法论依据：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Palantir AIP Agent Studio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官方文档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多智能体工程实践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03" name="" descr="&lt;Slide style={{ width: 1280, height: 720, background: '#FFFFFF', padding: '24px 64px 0' }}&gt;&#10;    {/* A 区 */}&#10;    &lt;Box style={{ height: 96, flexDirection: 'column', justifyContent: 'flex-start' }}&gt;&#10;    &lt;Text style={{ fontSize: 32, fontWeight: 'bold', color: '#0F1423' }}&gt;&#10;    本册覆盖&lt;span style={{ color: '#FA4F24' }}&gt;五个部分&lt;/span&gt;，把智能体从概念拆到可交付的治理体系&#10;  &lt;/Text&gt;&#10;        &lt;Text style={{ fontSize: 20, color: '#8A8F99', marginTop: 8 }}&gt;&#10; 总论 · 与本体的关系 · 自身 4A · 治理评测演进，每部分均含「方法 · 内容 · 模板」&#10;    &lt;/Text&gt;&#10;    &lt;/Box&gt;&#10;    &lt;Box style={{ height: 1, background: '#E8E8E8' }} /&gt;&#10;&#10;    {/* B 区 */}&#10;    &lt;Box style={{ paddingTop: 26, paddingBottom: 14, height: 479, flexDirection: 'row', gap: 20 }}&gt;&#10;        {/* 左 60% 三条 */}&#10;        &lt;Box style={{ width: 680, flexDirection: 'column', gap: 13 }}&gt;&#10; {[&#10;          { n: '01', t: 'Agent 总论', d: '它是什么、六个组成部件、能力档位与上下文工程', tag: 'P05–10' },&#10;     { n: '02', t: 'Agent 与 Ontology', d: '三条硬边界、SOP 进本体、工具装配清单', tag: 'P11–16' },&#10;      { n: '03', t: 'Agent 自身的 4A', d: '岗位划分、数据边界、编排拓扑、运行时非功能', tag: 'P17–23' },&#10;        ].map((it, i) =&gt; (&#10;   &lt;Box key={i} style={{ flex: 1, flexDirection: 'row', alignItems: 'center', background: '#F7F7F8', borderRadius: 4, padding: '0 20px', gap: 16 }}&gt;&#10;          &lt;Text style={{ fontSize: 28, fontWeight: 'bold', color: '#FA4F24', width: 48 }}&gt;{it.n}&lt;/Text&gt;&#10;     &lt;Box style={{ width: 208 }}&gt;&#10;             &lt;Text style={{ fontSize: 19, fontWeight: 'bold', color: '#0F1423' }}&gt;{it.t}&lt;/Text&gt;&#10;        &lt;/Box&gt;&#10;    &lt;Text style={{ fontSize: 15, color: '#3A4050', lineHeight: 1.4, flex: 1 }}&gt;{it.d}&lt;/Text&gt;&#10;   &lt;Text style={{ fontSize: 13, color: '#C43A17', width: 64, textAlign: 'right' }}&gt;{it.tag}&lt;/Text&gt;&#10;   &lt;/Box&gt;&#10;            ))}&#10;   &lt;/Box&gt;&#10;&#10;        {/* 右 40% 两条 + 收口 */}&#10;        &lt;Box style={{ flex: 1, flexDirection: 'column', gap: 13 }}&gt;&#10;     {[&#10;    { n: '04', t: '治理、评测与演进', d: '五道门、五类失败模式、六层评测、四步演进', tag: 'P24–29' },&#10;      { n: '05', t: '收口与全书串联', d: '五个坑与六册主线收束', tag: 'P30' },&#10;            ].map((it, i) =&gt; (&#10;   &lt;Box key={i} style={{ flex: 1, flexDirection: 'column', justifyContent: 'center', background: '#F7F7F8', borderRadius: 4, padding: '0 20px' }}&gt;&#10;      &lt;Box style={{ flexDirection: 'row', alignItems: 'baseline', gap: 14 }}&gt;&#10;         &lt;Text style={{ fontSize: 28, fontWeight: 'bold', color: '#FA4F24' }}&gt;{it.n}&lt;/Text&gt;&#10;     &lt;Text style={{ fontSize: 19, fontWeight: 'bold', color: '#0F1423' }}&gt;{it.t}&lt;/Text&gt;&#10;     &lt;/Box&gt;&#10;        &lt;Text style={{ fontSize: 15, color: '#3A4050', lineHeight: 1.45, marginTop: 8 }}&gt;{it.d}&lt;/Text&gt;&#10;     &lt;Text style={{ fontSize: 13, color: '#C43A17', marginTop: 6 }}&gt;{it.tag}&lt;/Text&gt;&#10;    &lt;/Box&gt;&#10;    ))}&#10;      &lt;Box style={{ flex: 1.4, background: 'linear-gradient(160deg, #FA4F24 0%, #F87D2F 100%)', borderRadius: 4, padding: '18px 20px', flexDirection: 'column', justifyContent: 'center' }}&gt;&#10;     &lt;Text style={{ fontSize: 17, fontWeight: 'bold', color: '#FFFFFF' }}&gt;全册一条主线&lt;/Text&gt;&#10;   &lt;Text style={{ fontSize: 15, color: 'rgba(255,255,255,0.92)', lineHeight: 1.5, marginTop: 8 }}&gt;&#10;          Agent 不是「会聊天的模型」，而是「有职权的角色」—— 岗位、授权、停手条件，缺一不可&#10;    &lt;/Text&gt;&#10;       &lt;/Box&gt;&#10;      &lt;/Box&gt;&#10;    &lt;/Box&gt;&#10;&#10;    {/* C 区 */}&#10;    &lt;Box style={{ height: 60, flexDirection: 'row', alignItems: 'center', justifyContent: 'space-between' }}&gt;&#10;   &lt;Box style={{ flexDirection: 'row', alignItems: 'center', gap: 10 }}&gt;&#10;      &lt;Box style={{ width: 14, height: 14, background: '#FA4F24' }} /&gt;&#10; &lt;Text style={{ fontSize: 14, color: '#8A8F99' }}&gt;硕磐机密 · Agent智能体咨询方法论&lt;/Text&gt;&#10;    &lt;/Box&gt;&#10;      &lt;Text style={{ fontSize: 14, color: '#8A8F99' }}&gt;0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本册覆盖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五个部分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，把智能体从概念拆到可交付的治理体系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总论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与本体的关系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自身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4A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治理评测演进，每部分均含「方法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08" name=""/>
          <p:cNvSpPr/>
          <p:nvPr/>
        </p:nvSpPr>
        <p:spPr>
          <a:xfrm rot="0" flipH="0" flipV="0">
            <a:off x="609600" y="1400175"/>
            <a:ext cx="64770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1409700" y="195262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总论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3543300" y="181927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它是什么、六个组成部件、能力档位与上下文工程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286500" y="1981200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P05–10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09600" y="2838450"/>
            <a:ext cx="6477000" cy="1304925"/>
          </a:xfrm>
          <a:prstGeom prst="roundRect">
            <a:avLst>
              <a:gd name="adj" fmla="val 292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1409700" y="3381375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Ontology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3543300" y="3248025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三条硬边界、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进本体、工具装配清单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286500" y="341947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P11–16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4267200"/>
            <a:ext cx="6477000" cy="1314450"/>
          </a:xfrm>
          <a:prstGeom prst="roundRect">
            <a:avLst>
              <a:gd name="adj" fmla="val 289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800100" y="4762500"/>
            <a:ext cx="4572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1409700" y="4819650"/>
            <a:ext cx="1981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自身的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543300" y="4686300"/>
            <a:ext cx="25908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岗位划分、数据边界、编排拓扑、运行时非功能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286500" y="4848225"/>
            <a:ext cx="609600" cy="1524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P17–23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7277100" y="1400175"/>
            <a:ext cx="4305300" cy="1181100"/>
          </a:xfrm>
          <a:prstGeom prst="roundRect">
            <a:avLst>
              <a:gd name="adj" fmla="val 32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7467600" y="1562100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7934325" y="1562100"/>
            <a:ext cx="1447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治理、评测与演进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7467600" y="196215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五道门、五类失败模式、六层评测、四步演进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7467600" y="2276475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P24–29</a:t>
            </a:r>
            <a:endParaRPr/>
          </a:p>
        </p:txBody>
      </p:sp>
      <p:sp>
        <p:nvSpPr>
          <p:cNvPr id="628" name=""/>
          <p:cNvSpPr/>
          <p:nvPr/>
        </p:nvSpPr>
        <p:spPr>
          <a:xfrm rot="0" flipH="0" flipV="0">
            <a:off x="7277100" y="2705100"/>
            <a:ext cx="4305300" cy="1181100"/>
          </a:xfrm>
          <a:prstGeom prst="roundRect">
            <a:avLst>
              <a:gd name="adj" fmla="val 322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7467600" y="28670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7934325" y="2867025"/>
            <a:ext cx="1266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收口与全书串联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7467600" y="3267075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五个坑与六册主线收束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7467600" y="358140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P30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7277100" y="4010025"/>
            <a:ext cx="4305300" cy="1571625"/>
          </a:xfrm>
          <a:prstGeom prst="roundRect">
            <a:avLst>
              <a:gd name="adj" fmla="val 242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467600" y="4400550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全册一条主线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467600" y="4676775"/>
            <a:ext cx="3924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不是「会聊天的模型」，而是「有职权的角色」——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岗位、授权、停手条件，缺一不可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30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297" name="" descr="&lt;Slide style={{ width: 1280, height: 720, background: '#FFFFFF', padding: '24px 64px 0' }}&gt;&#10;    {/* A 区 */}&#10;    &lt;Box style={{ height: 96, flexDirection: 'column', justifyContent: 'flex-start' }}&gt;&#10;   &lt;Text style={{ fontSize: 32, fontWeight: 'bold', color: '#0F1423' }}&gt;&#10;  序论：模型会思考之后，瓶颈&lt;span style={{ color: '#FA4F24' }}&gt;从能不能做变成谁来负责&lt;/span&gt;&#10;    &lt;/Text&gt;&#10;        &lt;Text style={{ fontSize: 20, color: '#8A8F99', marginTop: 8 }}&gt;&#10;            前五册把企业长什么样讲完了，这一册解决谁来替人跑这一段流程&#10;        &lt;/Text&gt;&#10;    &lt;/Box&gt;&#10;    &lt;Box style={{ height: 1, background: '#E8E8E8' }} /&gt;&#10;&#10;    {/* B 区 */}&#10;    &lt;Box style={{ paddingTop: 22, paddingBottom: 12, height: 479, flexDirection: 'row', gap: 20 }}&gt;&#10; {/* 左：三次跃迁 */}&#10;        &lt;Box style={{ width: 540, flexDirection: 'column', gap: 8 }}&gt;&#10;      &lt;Text style={{ fontSize: 20, fontWeight: 'bold', color: '#0F1423' }}&gt;过去三年的三次跃迁&lt;/Text&gt;&#10; {[&#10;      { n: '第一次', t: '能回答', d: '模型能写邮件、能写代码。瓶颈是知识与算力', y: '2023–2024' },&#10;      { n: '第二次', t: '能调用', d: '模型能查系统、能填表单。瓶颈是工具与权限', y: '2024–2025' },&#10;        { n: '第三次', t: '能负责', d: '模型能承担一段有始有终的流程。瓶颈是职责与治理', y: '2025–现在' },&#10;  ].map((it, i) =&gt; (&#10;      &lt;Box key={i} style={{ flex: 1, background: i === 2 ? '#FA4F24' : '#0F1423', borderRadius: 4, flexDirection: 'row', alignItems: 'center', padding: '0 18px', gap: 14 }}&gt;&#10;          &lt;Text style={{ fontSize: 15, fontWeight: 'bold', color: i === 2 ? 'rgba(255,255,255,0.75)' : '#FBA15C', width: 56 }}&gt;{it.n}&lt;/Text&gt;&#10;      &lt;Text style={{ fontSize: 20, fontWeight: 'bold', color: '#FFFFFF', width: 78 }}&gt;{it.t}&lt;/Text&gt;&#10;            &lt;Text style={{ fontSize: 13, color: 'rgba(255,255,255,0.9)', flex: 1, lineHeight: 1.4 }}&gt;{it.d}&lt;/Text&gt;&#10;     &lt;Text style={{ fontSize: 12, color: 'rgba(255,255,255,0.6)' }}&gt;{it.y}&lt;/Text&gt;&#10;   &lt;/Box&gt;&#10;       ))}&#10;            &lt;Box style={{ height: 76, background: '#F7F7F8', borderRadius: 4, padding: '12px 18px', flexDirection: 'column', justifyContent: 'center', borderLeft: '4px solid #FA4F24' }}&gt;&#10;        &lt;Text style={{ fontSize: 13, fontWeight: 'bold', color: '#C43A17' }}&gt;★ 关键转折&lt;/Text&gt;&#10;      &lt;Text style={{ fontSize: 13, color: '#3A4050', lineHeight: 1.45, marginTop: 4 }}&gt;&#10;    前两次跃迁解决的是技术可行性，第三次跃迁撞上的是管理问题：谁授权、谁担责、错了怎么退。这三个问题没有技术答案，只有架构答案。&#10;          &lt;/Text&gt;&#10;        &lt;/Box&gt;&#10;      &lt;/Box&gt;&#10;&#10;        {/* 右：四个撞墙处 */}&#10;        &lt;Box style={{ flex: 1, flexDirection: 'column', gap: 8 }}&gt;&#10;      &lt;Text style={{ fontSize: 20, fontWeight: 'bold', color: '#0F1423' }}&gt;企业现场最常听到的四句话&lt;/Text&gt;&#10; {[&#10;  { t: '「它答得挺像的，但不敢让它动」', d: '没有可被调用的受控动作，写回无门' },&#10;          { t: '「上了之后没人知道它干了什么」', d: '没有轨迹与决策日志，出事无法定位' },&#10;     { t: '「测试时挺好，上线就不一样」', d: '没有评测集，只有几次人工试用' },&#10;    { t: '「一个请求花掉几十块钱」', d: '成本黑箱，循环无终止条件' },&#10;   ].map((it, i) =&gt; (&#10;    &lt;Box key={i} style={{ flex: 1, background: '#FFF3EE', borderRadius: 4, padding: '0 16px', flexDirection: 'column', justifyContent: 'center', borderLeft: '4px solid #FBA15C' }}&gt;&#10;     &lt;Text style={{ fontSize: 14, fontWeight: 'bold', color: '#C43A17' }}&gt;{it.t}&lt;/Text&gt;&#10;       &lt;Text style={{ fontSize: 13, color: '#3A2000', lineHeight: 1.4, marginTop: 3 }}&gt;{it.d}&lt;/Text&gt;&#10;        &lt;/Box&gt;&#10;      ))}&#10;            &lt;Box style={{ height: 66, background: '#0F1423', borderRadius: 4, padding: '0 18px', flexDirection: 'column', justifyContent: 'center' }}&gt;&#10;     &lt;Text style={{ fontSize: 13, fontWeight: 'bold', color: '#FBA15C' }}&gt;这四句话都不是模型的问题&lt;/Text&gt;&#10;        &lt;Text style={{ fontSize: 13, color: 'rgba(255,255,255,0.9)', lineHeight: 1.45, marginTop: 4 }}&gt;&#10;        它们分别是架构、治理、评测、成本四个层面的缺口 —— 正是这一册要补的四件事&#10;  &lt;/Text&gt;&#10;            &lt;/Box&gt;&#10;       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Agent智能体咨询方法论&lt;/Text&gt;&#10;      &lt;Text style={{ fontSize: 13, color: '#8A8F99', marginLeft: 'auto' }}&gt;0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序论：模型会思考之后，瓶颈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从能不能做变成谁来负责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前五册把企业长什么样讲完了，这一册解决谁来替人跑这一段流程</a:t>
            </a:r>
            <a:endParaRPr/>
          </a:p>
        </p:txBody>
      </p:sp>
      <p:sp>
        <p:nvSpPr>
          <p:cNvPr id="130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14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过去三年的三次跃迁</a:t>
            </a:r>
            <a:endParaRPr/>
          </a:p>
        </p:txBody>
      </p:sp>
      <p:sp>
        <p:nvSpPr>
          <p:cNvPr id="1303" name=""/>
          <p:cNvSpPr/>
          <p:nvPr/>
        </p:nvSpPr>
        <p:spPr>
          <a:xfrm rot="0" flipH="0" flipV="0">
            <a:off x="609600" y="1666875"/>
            <a:ext cx="5143500" cy="990600"/>
          </a:xfrm>
          <a:prstGeom prst="roundRect">
            <a:avLst>
              <a:gd name="adj" fmla="val 384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04" name="" descr="{&quot;isTemplate&quot;:true,&quot;type&quot;:&quot;text&quot;}"/>
          <p:cNvSpPr txBox="1"/>
          <p:nvPr/>
        </p:nvSpPr>
        <p:spPr>
          <a:xfrm rot="0" flipH="0" flipV="0">
            <a:off x="781050" y="2076450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第一次</a:t>
            </a:r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1447800" y="204787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能回答</a:t>
            </a:r>
            <a:endParaRPr/>
          </a:p>
        </p:txBody>
      </p:sp>
      <p:sp>
        <p:nvSpPr>
          <p:cNvPr id="1306" name="" descr="{&quot;isTemplate&quot;:true,&quot;type&quot;:&quot;text&quot;}"/>
          <p:cNvSpPr txBox="1"/>
          <p:nvPr/>
        </p:nvSpPr>
        <p:spPr>
          <a:xfrm rot="0" flipH="0" flipV="0">
            <a:off x="2324100" y="2057400"/>
            <a:ext cx="2524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模型能写邮件、能写代码。瓶颈是知识与算力</a:t>
            </a:r>
            <a:endParaRPr/>
          </a:p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4981575" y="209550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2023–2024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609600" y="2733675"/>
            <a:ext cx="5143500" cy="1000125"/>
          </a:xfrm>
          <a:prstGeom prst="roundRect">
            <a:avLst>
              <a:gd name="adj" fmla="val 3810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781050" y="3152775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第二次</a:t>
            </a:r>
            <a:endParaRPr/>
          </a:p>
        </p:txBody>
      </p:sp>
      <p:sp>
        <p:nvSpPr>
          <p:cNvPr id="1310" name="" descr="{&quot;isTemplate&quot;:true,&quot;type&quot;:&quot;text&quot;}"/>
          <p:cNvSpPr txBox="1"/>
          <p:nvPr/>
        </p:nvSpPr>
        <p:spPr>
          <a:xfrm rot="0" flipH="0" flipV="0">
            <a:off x="1447800" y="3124200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能调用</a:t>
            </a:r>
            <a:endParaRPr/>
          </a:p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2324100" y="3133725"/>
            <a:ext cx="2524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模型能查系统、能填表单。瓶颈是工具与权限</a:t>
            </a:r>
            <a:endParaRPr/>
          </a:p>
        </p:txBody>
      </p:sp>
      <p:sp>
        <p:nvSpPr>
          <p:cNvPr id="1312" name="" descr="{&quot;isTemplate&quot;:true,&quot;type&quot;:&quot;text&quot;}"/>
          <p:cNvSpPr txBox="1"/>
          <p:nvPr/>
        </p:nvSpPr>
        <p:spPr>
          <a:xfrm rot="0" flipH="0" flipV="0">
            <a:off x="4981575" y="3162300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2024–2025</a:t>
            </a:r>
            <a:endParaRPr/>
          </a:p>
        </p:txBody>
      </p:sp>
      <p:sp>
        <p:nvSpPr>
          <p:cNvPr id="1313" name=""/>
          <p:cNvSpPr/>
          <p:nvPr/>
        </p:nvSpPr>
        <p:spPr>
          <a:xfrm rot="0" flipH="0" flipV="0">
            <a:off x="609600" y="3810000"/>
            <a:ext cx="5143500" cy="990600"/>
          </a:xfrm>
          <a:prstGeom prst="roundRect">
            <a:avLst>
              <a:gd name="adj" fmla="val 384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781050" y="4219575"/>
            <a:ext cx="533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第三次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1447800" y="4191000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能负责</a:t>
            </a:r>
            <a:endParaRPr/>
          </a:p>
        </p:txBody>
      </p:sp>
      <p:sp>
        <p:nvSpPr>
          <p:cNvPr id="1316" name="" descr="{&quot;isTemplate&quot;:true,&quot;type&quot;:&quot;text&quot;}"/>
          <p:cNvSpPr txBox="1"/>
          <p:nvPr/>
        </p:nvSpPr>
        <p:spPr>
          <a:xfrm rot="0" flipH="0" flipV="0">
            <a:off x="2324100" y="4200525"/>
            <a:ext cx="25622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模型能承担一段有始有终的流程。瓶颈是职责与治理</a:t>
            </a:r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5019675" y="4238625"/>
            <a:ext cx="561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2025–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现在</a:t>
            </a:r>
            <a:endParaRPr/>
          </a:p>
        </p:txBody>
      </p:sp>
      <p:sp>
        <p:nvSpPr>
          <p:cNvPr id="1318" name=""/>
          <p:cNvSpPr/>
          <p:nvPr/>
        </p:nvSpPr>
        <p:spPr>
          <a:xfrm rot="0" flipH="0" flipV="0">
            <a:off x="647700" y="4876800"/>
            <a:ext cx="5143500" cy="723900"/>
          </a:xfrm>
          <a:prstGeom prst="roundRect">
            <a:avLst>
              <a:gd name="adj" fmla="val 526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19" name=""/>
          <p:cNvSpPr/>
          <p:nvPr/>
        </p:nvSpPr>
        <p:spPr>
          <a:xfrm rot="0" flipH="0" flipV="0">
            <a:off x="647700" y="4876800"/>
            <a:ext cx="5143500" cy="723900"/>
          </a:xfrm>
          <a:custGeom>
            <a:pathLst>
              <a:path w="540" h="76">
                <a:moveTo>
                  <a:pt x="4" y="76"/>
                </a:moveTo>
                <a:cubicBezTo>
                  <a:pt x="2" y="76"/>
                  <a:pt x="0" y="74"/>
                  <a:pt x="0" y="72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20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4762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关键转折</a:t>
            </a:r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819150" y="5114925"/>
            <a:ext cx="47625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前两次跃迁解决的是技术可行性，第三次跃迁撞上的是管理问题：谁授权、谁担责、错了怎么退。这三个问题没有技术答案，只有架构答案。</a:t>
            </a:r>
            <a:endParaRPr/>
          </a:p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5943600" y="1362075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企业现场最常听到的四句话</a:t>
            </a:r>
            <a:endParaRPr/>
          </a:p>
        </p:txBody>
      </p:sp>
      <p:sp>
        <p:nvSpPr>
          <p:cNvPr id="1323" name=""/>
          <p:cNvSpPr/>
          <p:nvPr/>
        </p:nvSpPr>
        <p:spPr>
          <a:xfrm rot="0" flipH="0" flipV="0">
            <a:off x="5981700" y="1666875"/>
            <a:ext cx="5638800" cy="752475"/>
          </a:xfrm>
          <a:prstGeom prst="roundRect">
            <a:avLst>
              <a:gd name="adj" fmla="val 506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24" name=""/>
          <p:cNvSpPr/>
          <p:nvPr/>
        </p:nvSpPr>
        <p:spPr>
          <a:xfrm rot="0" flipH="0" flipV="0">
            <a:off x="5981700" y="1666875"/>
            <a:ext cx="5638800" cy="752475"/>
          </a:xfrm>
          <a:custGeom>
            <a:pathLst>
              <a:path w="592" h="79">
                <a:moveTo>
                  <a:pt x="4" y="79"/>
                </a:moveTo>
                <a:cubicBezTo>
                  <a:pt x="2" y="79"/>
                  <a:pt x="0" y="77"/>
                  <a:pt x="0" y="7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6134100" y="18478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「它答得挺像的，但不敢让它动」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6134100" y="20383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没有可被调用的受控动作，写回无门</a:t>
            </a:r>
            <a:endParaRPr/>
          </a:p>
        </p:txBody>
      </p:sp>
      <p:sp>
        <p:nvSpPr>
          <p:cNvPr id="1327" name=""/>
          <p:cNvSpPr/>
          <p:nvPr/>
        </p:nvSpPr>
        <p:spPr>
          <a:xfrm rot="0" flipH="0" flipV="0">
            <a:off x="5981700" y="2495550"/>
            <a:ext cx="5638800" cy="752475"/>
          </a:xfrm>
          <a:prstGeom prst="roundRect">
            <a:avLst>
              <a:gd name="adj" fmla="val 506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28" name=""/>
          <p:cNvSpPr/>
          <p:nvPr/>
        </p:nvSpPr>
        <p:spPr>
          <a:xfrm rot="0" flipH="0" flipV="0">
            <a:off x="5981700" y="2495550"/>
            <a:ext cx="5638800" cy="752475"/>
          </a:xfrm>
          <a:custGeom>
            <a:pathLst>
              <a:path w="592" h="79">
                <a:moveTo>
                  <a:pt x="4" y="79"/>
                </a:moveTo>
                <a:cubicBezTo>
                  <a:pt x="2" y="79"/>
                  <a:pt x="0" y="77"/>
                  <a:pt x="0" y="7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29" name="" descr="{&quot;isTemplate&quot;:true,&quot;type&quot;:&quot;text&quot;}"/>
          <p:cNvSpPr txBox="1"/>
          <p:nvPr/>
        </p:nvSpPr>
        <p:spPr>
          <a:xfrm rot="0" flipH="0" flipV="0">
            <a:off x="6134100" y="267652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「上了之后没人知道它干了什么」</a:t>
            </a:r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6134100" y="28670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没有轨迹与决策日志，出事无法定位</a:t>
            </a:r>
            <a:endParaRPr/>
          </a:p>
        </p:txBody>
      </p:sp>
      <p:sp>
        <p:nvSpPr>
          <p:cNvPr id="1331" name=""/>
          <p:cNvSpPr/>
          <p:nvPr/>
        </p:nvSpPr>
        <p:spPr>
          <a:xfrm rot="0" flipH="0" flipV="0">
            <a:off x="5981700" y="3324225"/>
            <a:ext cx="5638800" cy="742950"/>
          </a:xfrm>
          <a:prstGeom prst="roundRect">
            <a:avLst>
              <a:gd name="adj" fmla="val 5128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32" name=""/>
          <p:cNvSpPr/>
          <p:nvPr/>
        </p:nvSpPr>
        <p:spPr>
          <a:xfrm rot="0" flipH="0" flipV="0">
            <a:off x="5981700" y="3324225"/>
            <a:ext cx="5638800" cy="742950"/>
          </a:xfrm>
          <a:custGeom>
            <a:pathLst>
              <a:path w="592" h="78">
                <a:moveTo>
                  <a:pt x="4" y="78"/>
                </a:moveTo>
                <a:cubicBezTo>
                  <a:pt x="2" y="78"/>
                  <a:pt x="0" y="76"/>
                  <a:pt x="0" y="7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6134100" y="3495675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「测试时挺好，上线就不一样」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6134100" y="368617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没有评测集，只有几次人工试用</a:t>
            </a:r>
            <a:endParaRPr/>
          </a:p>
        </p:txBody>
      </p:sp>
      <p:sp>
        <p:nvSpPr>
          <p:cNvPr id="1335" name=""/>
          <p:cNvSpPr/>
          <p:nvPr/>
        </p:nvSpPr>
        <p:spPr>
          <a:xfrm rot="0" flipH="0" flipV="0">
            <a:off x="5981700" y="4143375"/>
            <a:ext cx="5638800" cy="752475"/>
          </a:xfrm>
          <a:prstGeom prst="roundRect">
            <a:avLst>
              <a:gd name="adj" fmla="val 5063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336" name=""/>
          <p:cNvSpPr/>
          <p:nvPr/>
        </p:nvSpPr>
        <p:spPr>
          <a:xfrm rot="0" flipH="0" flipV="0">
            <a:off x="5981700" y="4143375"/>
            <a:ext cx="5638800" cy="752475"/>
          </a:xfrm>
          <a:custGeom>
            <a:pathLst>
              <a:path w="592" h="79">
                <a:moveTo>
                  <a:pt x="4" y="79"/>
                </a:moveTo>
                <a:cubicBezTo>
                  <a:pt x="2" y="79"/>
                  <a:pt x="0" y="77"/>
                  <a:pt x="0" y="7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7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6134100" y="432435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「一个请求花掉几十块钱」</a:t>
            </a:r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6134100" y="4514850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成本黑箱，循环无终止条件</a:t>
            </a:r>
            <a:endParaRPr/>
          </a:p>
        </p:txBody>
      </p:sp>
      <p:sp>
        <p:nvSpPr>
          <p:cNvPr id="1339" name=""/>
          <p:cNvSpPr/>
          <p:nvPr/>
        </p:nvSpPr>
        <p:spPr>
          <a:xfrm rot="0" flipH="0" flipV="0">
            <a:off x="5943600" y="4972050"/>
            <a:ext cx="5638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40" name="" descr="{&quot;isTemplate&quot;:true,&quot;type&quot;:&quot;text&quot;}"/>
          <p:cNvSpPr txBox="1"/>
          <p:nvPr/>
        </p:nvSpPr>
        <p:spPr>
          <a:xfrm rot="0" flipH="0" flipV="0">
            <a:off x="6115050" y="5086350"/>
            <a:ext cx="529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BA15C"/>
                </a:solidFill>
                <a:latin typeface="Microsoft YaHei"/>
                <a:ea typeface="Microsoft YaHei"/>
              </a:rPr>
              <a:t>这四句话都不是模型的问题</a:t>
            </a:r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6115050" y="5276850"/>
            <a:ext cx="52959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它们分别是架构、治理、评测、成本四个层面的缺口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正是这一册要补的四件事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4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03 / 30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399" name="" descr="&lt;Slide style={{ width: 1280, height: 720, background: '#FFFFFF', padding: '24px 64px 0' }}&gt;&#10;    {/* A 区 */}&#10;    &lt;Box style={{ height: 96, flexDirection: 'column', justifyContent: 'flex-start' }}&gt;&#10;  &lt;Text style={{ fontSize: 32, fontWeight: 'bold', color: '#0F1423' }}&gt;&#10; 之方法：&lt;span style={{ color: '#FA4F24' }}&gt;Agent Approach 七阶段&lt;/span&gt;，先做什么后做什么，每步产出什么&#10;    &lt;/Text&gt;&#10;    &lt;Text style={{ fontSize: 20, color: '#8A8F99', marginTop: 8 }}&gt;&#10;   每一阶段都有明确交付物与退出条件，不允许「先搭出来再看看能干什么」&#10;   &lt;/Text&gt;&#10;    &lt;/Box&gt;&#10;  &lt;Box style={{ height: 1, background: '#E8E8E8' }} /&gt;&#10;&#10;    {/* B 区 */}&#10;    &lt;Box style={{ paddingTop: 20, paddingBottom: 12, height: 479, flexDirection: 'column', gap: 8 }}&gt;&#10;        {/* 表头 */}&#10;        &lt;Box style={{ height: 26, flexDirection: 'row', gap: 6 }}&gt;&#10;    {['阶段', '做什么', '产出物', '退出条件'].map((h, i) =&gt; (&#10;      &lt;Box key={i} style={{ flex: i === 1 ? 2.1 : i === 2 ? 2.3 : 1.5, background: '#0F1423', padding: '0 12px', justifyContent: 'center' }}&gt;&#10;        &lt;Text style={{ fontSize: 14, fontWeight: 'bold', color: '#FFFFFF', letterSpacing: 1 }}&gt;{h}&lt;/Text&gt;&#10;          &lt;/Box&gt;&#10;   ))}&#10;    &lt;/Box&gt;&#10;        {/* 七行 */}&#10; {[&#10; { n: 'S1', a: '场景与岗位定义', b: '找出真正可交出去的整段流程', c: '场景清单 + 岗位说明书', d: '说得清这个岗位替代的是谁的哪部分工作' },&#10;   { n: 'S2', a: '本体与动作就绪评估', b: '逐个核对认知与写入是否已具备', c: '就绪度报告 + 缺口清单', d: '关键认知与动作八成以上可用' },&#10;          { n: 'S3', a: '上下文设计', b: '定义塞什么、塞多少、怎么压缩', c: '上下文规格书', d: '上下文来源全部指向本体，无私有事实' },&#10;            { n: 'S4', a: '工具与技能装配', b: '把动作与查询接成可用工具', c: '工具装配表 + 技能目录', d: '每个工具都能追溯到一个 Action' },&#10;        { n: 'S5', a: '权限与终止条件', b: '定义谁授权、何时必须停手', c: '权限矩阵 + 停手条件表', d: '每类风险都有明确停手阈值' },&#10;   { n: 'S6', a: '评测集与试运行', b: '用历史真实案例建评测基线', c: '评测集 + 试运行报告', d: '关键指标达标且失败可解释' },&#10;            { n: 'S7', a: '上线与演进治理', b: '定退役预案与扩量节奏', c: '上线评审表 + 退役预案', d: '任一阶段可回退到人工作业' },&#10;        ].map((it, i) =&gt; (&#10;      &lt;Box key={i} style={{ flex: 1, flexDirection: 'row', gap: 6 }}&gt;&#10;    &lt;Box style={{ flex: 1.5, background: i % 2 === 0 ? '#F7F7F8' : '#FFF3EE', padding: '0 12px', flexDirection: 'row', alignItems: 'center', gap: 8 }}&gt;&#10;      &lt;Text style={{ fontSize: 14, fontWeight: 'bold', color: '#FA4F24', width: 26 }}&gt;{it.n}&lt;/Text&gt;&#10;   &lt;Text style={{ fontSize: 14, color: '#0F1423', fontWeight: 'bold' }}&gt;{it.a}&lt;/Text&gt;&#10;   &lt;/Box&gt;&#10;     &lt;Box style={{ flex: 2.1, background: i % 2 === 0 ? '#F7F7F8' : '#FFF3EE', padding: '0 12px', justifyContent: 'center' }}&gt;&#10;   &lt;Text style={{ fontSize: 13, color: '#3A4050', lineHeight: 1.35 }}&gt;{it.b}&lt;/Text&gt;&#10;      &lt;/Box&gt;&#10;      &lt;Box style={{ flex: 2.3, background: i % 2 === 0 ? '#F7F7F8' : '#FFF3EE', padding: '0 12px', justifyContent: 'center' }}&gt;&#10;     &lt;Text style={{ fontSize: 13, color: '#C43A17', lineHeight: 1.35 }}&gt;{it.c}&lt;/Text&gt;&#10;    &lt;/Box&gt;&#10;        &lt;Box style={{ flex: 1.5, background: i % 2 === 0 ? '#F7F7F8' : '#FFF3EE', padding: '0 12px', justifyContent: 'center' }}&gt;&#10;          &lt;Text style={{ fontSize: 13, color: '#3A4050', lineHeight: 1.35 }}&gt;{it.d}&lt;/Text&gt;&#10;  &lt;/Box&gt;&#10;      &lt;/Box&gt;&#10;  ))}&#10;        {/* 三条硬规则 */}&#10;        &lt;Box style={{ height: 52, background: 'linear-gradient(90deg, #FA4F24 0%, #F87D2F 100%)', borderRadius: 4, flexDirection: 'row', alignItems: 'center', padding: '0 18px', gap: 16 }}&gt;&#10;            &lt;Text style={{ fontSize: 14, fontWeight: 'bold', color: '#FFFFFF', letterSpacing: 1 }}&gt;三条硬规则&lt;/Text&gt;&#10;            {['先单 Agent 后多 Agent', '先只读建议后受限自主', '先评估后扩量'].map((t, i) =&gt; (&#10;                &lt;Box key={i} style={{ flexDirection: 'row', alignItems: 'center', gap: 7 }}&gt;&#10;      &lt;Box style={{ width: 5, height: 5, background: '#FFFFFF', borderRadius: 3 }} /&gt;&#10;                    &lt;Text style={{ fontSize: 13, color: 'rgba(255,255,255,0.95)' }}&gt;{t}&lt;/Text&gt;&#10;           &lt;/Box&gt;&#10;            ))}&#10;            &lt;Text style={{ fontSize: 12, color: 'rgba(255,255,255,0.85)', flex: 1, textAlign: 'right' }}&gt;&#10;     多 Agent 不是更先进，是更贵、更难测、更难停 —— 没有单 Agent 跑不通就别上&#10;        &lt;/Text&gt;&#10;   &lt;/Box&gt;&#10;    &lt;/Box&gt;&#10;&#10;    {/* C 区 */}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Agent智能体咨询方法论&lt;/Text&gt;&#10;   &lt;Text style={{ fontSize: 13, color: '#8A8F99', marginLeft: 'auto' }}&gt;0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Approach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七阶段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，先做什么后做什么，每步产出什么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每一阶段都有明确交付物与退出条件，不允许「先搭出来再看看能干什么」</a:t>
            </a:r>
            <a:endParaRPr/>
          </a:p>
        </p:txBody>
      </p:sp>
      <p:sp>
        <p:nvSpPr>
          <p:cNvPr id="140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04" name=""/>
          <p:cNvSpPr/>
          <p:nvPr/>
        </p:nvSpPr>
        <p:spPr>
          <a:xfrm rot="0" flipH="0" flipV="0">
            <a:off x="609600" y="1343025"/>
            <a:ext cx="2190750" cy="2476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723900" y="139065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1406" name=""/>
          <p:cNvSpPr/>
          <p:nvPr/>
        </p:nvSpPr>
        <p:spPr>
          <a:xfrm rot="0" flipH="0" flipV="0">
            <a:off x="2857500" y="1343025"/>
            <a:ext cx="3067050" cy="2476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2971800" y="1390650"/>
            <a:ext cx="2838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做什么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5981700" y="1343025"/>
            <a:ext cx="3352800" cy="2476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6096000" y="1390650"/>
            <a:ext cx="3124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产出物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9391650" y="1343025"/>
            <a:ext cx="2190750" cy="24765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9505950" y="1390650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退出条件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609600" y="1666875"/>
            <a:ext cx="21907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723900" y="18669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1414" name="" descr="{&quot;isTemplate&quot;:true,&quot;type&quot;:&quot;text&quot;}"/>
          <p:cNvSpPr txBox="1"/>
          <p:nvPr/>
        </p:nvSpPr>
        <p:spPr>
          <a:xfrm rot="0" flipH="0" flipV="0">
            <a:off x="1047750" y="18669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场景与岗位定义</a:t>
            </a:r>
            <a:endParaRPr/>
          </a:p>
        </p:txBody>
      </p:sp>
      <p:sp>
        <p:nvSpPr>
          <p:cNvPr id="1415" name=""/>
          <p:cNvSpPr/>
          <p:nvPr/>
        </p:nvSpPr>
        <p:spPr>
          <a:xfrm rot="0" flipH="0" flipV="0">
            <a:off x="2857500" y="1666875"/>
            <a:ext cx="30670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6" name="" descr="{&quot;isTemplate&quot;:true,&quot;type&quot;:&quot;text&quot;}"/>
          <p:cNvSpPr txBox="1"/>
          <p:nvPr/>
        </p:nvSpPr>
        <p:spPr>
          <a:xfrm rot="0" flipH="0" flipV="0">
            <a:off x="2971800" y="18478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找出真正可交出去的整段流程</a:t>
            </a:r>
            <a:endParaRPr/>
          </a:p>
        </p:txBody>
      </p:sp>
      <p:sp>
        <p:nvSpPr>
          <p:cNvPr id="1417" name=""/>
          <p:cNvSpPr/>
          <p:nvPr/>
        </p:nvSpPr>
        <p:spPr>
          <a:xfrm rot="0" flipH="0" flipV="0">
            <a:off x="5981700" y="1666875"/>
            <a:ext cx="335280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18" name="" descr="{&quot;isTemplate&quot;:true,&quot;type&quot;:&quot;text&quot;}"/>
          <p:cNvSpPr txBox="1"/>
          <p:nvPr/>
        </p:nvSpPr>
        <p:spPr>
          <a:xfrm rot="0" flipH="0" flipV="0">
            <a:off x="6096000" y="18478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场景清单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岗位说明书</a:t>
            </a:r>
            <a:endParaRPr/>
          </a:p>
        </p:txBody>
      </p:sp>
      <p:sp>
        <p:nvSpPr>
          <p:cNvPr id="1419" name=""/>
          <p:cNvSpPr/>
          <p:nvPr/>
        </p:nvSpPr>
        <p:spPr>
          <a:xfrm rot="0" flipH="0" flipV="0">
            <a:off x="9391650" y="1666875"/>
            <a:ext cx="21907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9505950" y="1743075"/>
            <a:ext cx="1962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说得清这个岗位替代的是谁的哪部分工作</a:t>
            </a:r>
            <a:endParaRPr/>
          </a:p>
        </p:txBody>
      </p:sp>
      <p:sp>
        <p:nvSpPr>
          <p:cNvPr id="1421" name=""/>
          <p:cNvSpPr/>
          <p:nvPr/>
        </p:nvSpPr>
        <p:spPr>
          <a:xfrm rot="0" flipH="0" flipV="0">
            <a:off x="609600" y="2305050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723900" y="24003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1047750" y="240030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本体与动作就绪评估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2857500" y="2305050"/>
            <a:ext cx="30670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5" name="" descr="{&quot;isTemplate&quot;:true,&quot;type&quot;:&quot;text&quot;}"/>
          <p:cNvSpPr txBox="1"/>
          <p:nvPr/>
        </p:nvSpPr>
        <p:spPr>
          <a:xfrm rot="0" flipH="0" flipV="0">
            <a:off x="2971800" y="23812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逐个核对认知与写入是否已具备</a:t>
            </a:r>
            <a:endParaRPr/>
          </a:p>
        </p:txBody>
      </p:sp>
      <p:sp>
        <p:nvSpPr>
          <p:cNvPr id="1426" name=""/>
          <p:cNvSpPr/>
          <p:nvPr/>
        </p:nvSpPr>
        <p:spPr>
          <a:xfrm rot="0" flipH="0" flipV="0">
            <a:off x="5981700" y="2305050"/>
            <a:ext cx="335280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7" name="" descr="{&quot;isTemplate&quot;:true,&quot;type&quot;:&quot;text&quot;}"/>
          <p:cNvSpPr txBox="1"/>
          <p:nvPr/>
        </p:nvSpPr>
        <p:spPr>
          <a:xfrm rot="0" flipH="0" flipV="0">
            <a:off x="6096000" y="23812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就绪度报告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缺口清单</a:t>
            </a:r>
            <a:endParaRPr/>
          </a:p>
        </p:txBody>
      </p:sp>
      <p:sp>
        <p:nvSpPr>
          <p:cNvPr id="1428" name=""/>
          <p:cNvSpPr/>
          <p:nvPr/>
        </p:nvSpPr>
        <p:spPr>
          <a:xfrm rot="0" flipH="0" flipV="0">
            <a:off x="9391650" y="2305050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9505950" y="2381250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关键认知与动作八成以上可用</a:t>
            </a:r>
            <a:endParaRPr/>
          </a:p>
        </p:txBody>
      </p:sp>
      <p:sp>
        <p:nvSpPr>
          <p:cNvPr id="1430" name=""/>
          <p:cNvSpPr/>
          <p:nvPr/>
        </p:nvSpPr>
        <p:spPr>
          <a:xfrm rot="0" flipH="0" flipV="0">
            <a:off x="609600" y="2733675"/>
            <a:ext cx="21907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723900" y="29337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1432" name="" descr="{&quot;isTemplate&quot;:true,&quot;type&quot;:&quot;text&quot;}"/>
          <p:cNvSpPr txBox="1"/>
          <p:nvPr/>
        </p:nvSpPr>
        <p:spPr>
          <a:xfrm rot="0" flipH="0" flipV="0">
            <a:off x="1047750" y="2933700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上下文设计</a:t>
            </a:r>
            <a:endParaRPr/>
          </a:p>
        </p:txBody>
      </p:sp>
      <p:sp>
        <p:nvSpPr>
          <p:cNvPr id="1433" name=""/>
          <p:cNvSpPr/>
          <p:nvPr/>
        </p:nvSpPr>
        <p:spPr>
          <a:xfrm rot="0" flipH="0" flipV="0">
            <a:off x="2857500" y="2733675"/>
            <a:ext cx="30670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4" name="" descr="{&quot;isTemplate&quot;:true,&quot;type&quot;:&quot;text&quot;}"/>
          <p:cNvSpPr txBox="1"/>
          <p:nvPr/>
        </p:nvSpPr>
        <p:spPr>
          <a:xfrm rot="0" flipH="0" flipV="0">
            <a:off x="2971800" y="29146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定义塞什么、塞多少、怎么压缩</a:t>
            </a:r>
            <a:endParaRPr/>
          </a:p>
        </p:txBody>
      </p:sp>
      <p:sp>
        <p:nvSpPr>
          <p:cNvPr id="1435" name=""/>
          <p:cNvSpPr/>
          <p:nvPr/>
        </p:nvSpPr>
        <p:spPr>
          <a:xfrm rot="0" flipH="0" flipV="0">
            <a:off x="5981700" y="2733675"/>
            <a:ext cx="335280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6096000" y="29146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上下文规格书</a:t>
            </a:r>
            <a:endParaRPr/>
          </a:p>
        </p:txBody>
      </p:sp>
      <p:sp>
        <p:nvSpPr>
          <p:cNvPr id="1437" name=""/>
          <p:cNvSpPr/>
          <p:nvPr/>
        </p:nvSpPr>
        <p:spPr>
          <a:xfrm rot="0" flipH="0" flipV="0">
            <a:off x="9391650" y="2733675"/>
            <a:ext cx="2190750" cy="5619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9505950" y="2809875"/>
            <a:ext cx="19621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上下文来源全部指向本体，无私有事实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609600" y="3371850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723900" y="34671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1047750" y="346710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工具与技能装配</a:t>
            </a:r>
            <a:endParaRPr/>
          </a:p>
        </p:txBody>
      </p:sp>
      <p:sp>
        <p:nvSpPr>
          <p:cNvPr id="1442" name=""/>
          <p:cNvSpPr/>
          <p:nvPr/>
        </p:nvSpPr>
        <p:spPr>
          <a:xfrm rot="0" flipH="0" flipV="0">
            <a:off x="2857500" y="3371850"/>
            <a:ext cx="30670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2971800" y="34480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把动作与查询接成可用工具</a:t>
            </a:r>
            <a:endParaRPr/>
          </a:p>
        </p:txBody>
      </p:sp>
      <p:sp>
        <p:nvSpPr>
          <p:cNvPr id="1444" name=""/>
          <p:cNvSpPr/>
          <p:nvPr/>
        </p:nvSpPr>
        <p:spPr>
          <a:xfrm rot="0" flipH="0" flipV="0">
            <a:off x="5981700" y="3371850"/>
            <a:ext cx="335280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5" name="" descr="{&quot;isTemplate&quot;:true,&quot;type&quot;:&quot;text&quot;}"/>
          <p:cNvSpPr txBox="1"/>
          <p:nvPr/>
        </p:nvSpPr>
        <p:spPr>
          <a:xfrm rot="0" flipH="0" flipV="0">
            <a:off x="6096000" y="34480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工具装配表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技能目录</a:t>
            </a:r>
            <a:endParaRPr/>
          </a:p>
        </p:txBody>
      </p:sp>
      <p:sp>
        <p:nvSpPr>
          <p:cNvPr id="1446" name=""/>
          <p:cNvSpPr/>
          <p:nvPr/>
        </p:nvSpPr>
        <p:spPr>
          <a:xfrm rot="0" flipH="0" flipV="0">
            <a:off x="9391650" y="3371850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9505950" y="3448050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每个工具都能追溯到一个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Action</a:t>
            </a:r>
            <a:endParaRPr/>
          </a:p>
        </p:txBody>
      </p:sp>
      <p:sp>
        <p:nvSpPr>
          <p:cNvPr id="1448" name=""/>
          <p:cNvSpPr/>
          <p:nvPr/>
        </p:nvSpPr>
        <p:spPr>
          <a:xfrm rot="0" flipH="0" flipV="0">
            <a:off x="609600" y="3800475"/>
            <a:ext cx="21907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723900" y="39052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S5</a:t>
            </a:r>
            <a:endParaRPr/>
          </a:p>
        </p:txBody>
      </p:sp>
      <p:sp>
        <p:nvSpPr>
          <p:cNvPr id="1450" name="" descr="{&quot;isTemplate&quot;:true,&quot;type&quot;:&quot;text&quot;}"/>
          <p:cNvSpPr txBox="1"/>
          <p:nvPr/>
        </p:nvSpPr>
        <p:spPr>
          <a:xfrm rot="0" flipH="0" flipV="0">
            <a:off x="1047750" y="39052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权限与终止条件</a:t>
            </a:r>
            <a:endParaRPr/>
          </a:p>
        </p:txBody>
      </p:sp>
      <p:sp>
        <p:nvSpPr>
          <p:cNvPr id="1451" name=""/>
          <p:cNvSpPr/>
          <p:nvPr/>
        </p:nvSpPr>
        <p:spPr>
          <a:xfrm rot="0" flipH="0" flipV="0">
            <a:off x="2857500" y="3800475"/>
            <a:ext cx="30670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2971800" y="387667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定义谁授权、何时必须停手</a:t>
            </a:r>
            <a:endParaRPr/>
          </a:p>
        </p:txBody>
      </p:sp>
      <p:sp>
        <p:nvSpPr>
          <p:cNvPr id="1453" name=""/>
          <p:cNvSpPr/>
          <p:nvPr/>
        </p:nvSpPr>
        <p:spPr>
          <a:xfrm rot="0" flipH="0" flipV="0">
            <a:off x="5981700" y="3800475"/>
            <a:ext cx="335280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6096000" y="387667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权限矩阵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停手条件表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9391650" y="3800475"/>
            <a:ext cx="21907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9505950" y="387667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每类风险都有明确停手阈值</a:t>
            </a:r>
            <a:endParaRPr/>
          </a:p>
        </p:txBody>
      </p:sp>
      <p:sp>
        <p:nvSpPr>
          <p:cNvPr id="1457" name=""/>
          <p:cNvSpPr/>
          <p:nvPr/>
        </p:nvSpPr>
        <p:spPr>
          <a:xfrm rot="0" flipH="0" flipV="0">
            <a:off x="609600" y="4238625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723900" y="433387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S6</a:t>
            </a:r>
            <a:endParaRPr/>
          </a:p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1047750" y="433387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评测集与试运行</a:t>
            </a:r>
            <a:endParaRPr/>
          </a:p>
        </p:txBody>
      </p:sp>
      <p:sp>
        <p:nvSpPr>
          <p:cNvPr id="1460" name=""/>
          <p:cNvSpPr/>
          <p:nvPr/>
        </p:nvSpPr>
        <p:spPr>
          <a:xfrm rot="0" flipH="0" flipV="0">
            <a:off x="2857500" y="4238625"/>
            <a:ext cx="30670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2971800" y="4314825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用历史真实案例建评测基线</a:t>
            </a:r>
            <a:endParaRPr/>
          </a:p>
        </p:txBody>
      </p:sp>
      <p:sp>
        <p:nvSpPr>
          <p:cNvPr id="1462" name=""/>
          <p:cNvSpPr/>
          <p:nvPr/>
        </p:nvSpPr>
        <p:spPr>
          <a:xfrm rot="0" flipH="0" flipV="0">
            <a:off x="5981700" y="4238625"/>
            <a:ext cx="335280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6096000" y="4314825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评测集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试运行报告</a:t>
            </a:r>
            <a:endParaRPr/>
          </a:p>
        </p:txBody>
      </p:sp>
      <p:sp>
        <p:nvSpPr>
          <p:cNvPr id="1464" name=""/>
          <p:cNvSpPr/>
          <p:nvPr/>
        </p:nvSpPr>
        <p:spPr>
          <a:xfrm rot="0" flipH="0" flipV="0">
            <a:off x="9391650" y="4238625"/>
            <a:ext cx="2190750" cy="3524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9505950" y="4314825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关键指标达标且失败可解释</a:t>
            </a:r>
            <a:endParaRPr/>
          </a:p>
        </p:txBody>
      </p:sp>
      <p:sp>
        <p:nvSpPr>
          <p:cNvPr id="1466" name=""/>
          <p:cNvSpPr/>
          <p:nvPr/>
        </p:nvSpPr>
        <p:spPr>
          <a:xfrm rot="0" flipH="0" flipV="0">
            <a:off x="609600" y="4667250"/>
            <a:ext cx="21907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723900" y="477202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S7</a:t>
            </a:r>
            <a:endParaRPr/>
          </a:p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1047750" y="47720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上线与演进治理</a:t>
            </a:r>
            <a:endParaRPr/>
          </a:p>
        </p:txBody>
      </p:sp>
      <p:sp>
        <p:nvSpPr>
          <p:cNvPr id="1469" name=""/>
          <p:cNvSpPr/>
          <p:nvPr/>
        </p:nvSpPr>
        <p:spPr>
          <a:xfrm rot="0" flipH="0" flipV="0">
            <a:off x="2857500" y="4667250"/>
            <a:ext cx="30670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2971800" y="4743450"/>
            <a:ext cx="2838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定退役预案与扩量节奏</a:t>
            </a:r>
            <a:endParaRPr/>
          </a:p>
        </p:txBody>
      </p:sp>
      <p:sp>
        <p:nvSpPr>
          <p:cNvPr id="1471" name=""/>
          <p:cNvSpPr/>
          <p:nvPr/>
        </p:nvSpPr>
        <p:spPr>
          <a:xfrm rot="0" flipH="0" flipV="0">
            <a:off x="5981700" y="4667250"/>
            <a:ext cx="335280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2" name="" descr="{&quot;isTemplate&quot;:true,&quot;type&quot;:&quot;text&quot;}"/>
          <p:cNvSpPr txBox="1"/>
          <p:nvPr/>
        </p:nvSpPr>
        <p:spPr>
          <a:xfrm rot="0" flipH="0" flipV="0">
            <a:off x="6096000" y="474345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上线评审表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退役预案</a:t>
            </a:r>
            <a:endParaRPr/>
          </a:p>
        </p:txBody>
      </p:sp>
      <p:sp>
        <p:nvSpPr>
          <p:cNvPr id="1473" name=""/>
          <p:cNvSpPr/>
          <p:nvPr/>
        </p:nvSpPr>
        <p:spPr>
          <a:xfrm rot="0" flipH="0" flipV="0">
            <a:off x="9391650" y="4667250"/>
            <a:ext cx="2190750" cy="3619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74" name="" descr="{&quot;isTemplate&quot;:true,&quot;type&quot;:&quot;text&quot;}"/>
          <p:cNvSpPr txBox="1"/>
          <p:nvPr/>
        </p:nvSpPr>
        <p:spPr>
          <a:xfrm rot="0" flipH="0" flipV="0">
            <a:off x="9505950" y="4743450"/>
            <a:ext cx="19621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任一阶段可回退到人工作业</a:t>
            </a:r>
            <a:endParaRPr/>
          </a:p>
        </p:txBody>
      </p:sp>
      <p:sp>
        <p:nvSpPr>
          <p:cNvPr id="1475" name=""/>
          <p:cNvSpPr/>
          <p:nvPr/>
        </p:nvSpPr>
        <p:spPr>
          <a:xfrm rot="0" flipH="0" flipV="0">
            <a:off x="609600" y="5105400"/>
            <a:ext cx="10972800" cy="495300"/>
          </a:xfrm>
          <a:prstGeom prst="roundRect">
            <a:avLst>
              <a:gd name="adj" fmla="val 7692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781050" y="527685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三条硬规则</a:t>
            </a:r>
            <a:endParaRPr/>
          </a:p>
        </p:txBody>
      </p:sp>
      <p:sp>
        <p:nvSpPr>
          <p:cNvPr id="1477" name=""/>
          <p:cNvSpPr/>
          <p:nvPr/>
        </p:nvSpPr>
        <p:spPr>
          <a:xfrm rot="0" flipH="0" flipV="0">
            <a:off x="1647825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1762125" y="5276850"/>
            <a:ext cx="132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先单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后多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479" name=""/>
          <p:cNvSpPr/>
          <p:nvPr/>
        </p:nvSpPr>
        <p:spPr>
          <a:xfrm rot="0" flipH="0" flipV="0">
            <a:off x="3238500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0" name="" descr="{&quot;isTemplate&quot;:true,&quot;type&quot;:&quot;text&quot;}"/>
          <p:cNvSpPr txBox="1"/>
          <p:nvPr/>
        </p:nvSpPr>
        <p:spPr>
          <a:xfrm rot="0" flipH="0" flipV="0">
            <a:off x="3352800" y="52768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先只读建议后受限自主</a:t>
            </a:r>
            <a:endParaRPr/>
          </a:p>
        </p:txBody>
      </p:sp>
      <p:sp>
        <p:nvSpPr>
          <p:cNvPr id="1481" name=""/>
          <p:cNvSpPr/>
          <p:nvPr/>
        </p:nvSpPr>
        <p:spPr>
          <a:xfrm rot="0" flipH="0" flipV="0">
            <a:off x="4743450" y="53340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4857750" y="52768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先评估后扩量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5753100" y="5286375"/>
            <a:ext cx="5657850" cy="142875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多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不是更先进，是更贵、更难测、更难停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没有单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跑不通就别上</a:t>
            </a:r>
            <a:endParaRPr/>
          </a:p>
        </p:txBody>
      </p:sp>
      <p:sp>
        <p:nvSpPr>
          <p:cNvPr id="148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8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04 / 30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488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right: 70, top: 110 }}&gt;&#10;        &lt;Text style={{ fontSize: 300, fontWeight: 'bold', color: 'rgba(255,255,255,0.08)', lineHeight: 1.0 }}&gt;01&lt;/Text&gt;&#10;    &lt;/Box&gt;&#10;&#10;    &lt;Box style={{ position: 'absolute', left: 88, top: 232, width: 660, flexDirection: 'column' }}&gt;&#10;        &lt;Text style={{ fontSize: 15, color: 'rgba(255,255,255,0.5)', letterSpacing: 3 }}&gt;PART 01&lt;/Text&gt;&#10;        &lt;Box style={{ width: 72, height: 5, background: '#FA4F24', marginTop: 22 }} /&gt;&#10;      &lt;Text style={{ fontSize: 58, fontWeight: 'bold', color: '#FFFFFF', marginTop: 28, lineHeight: 1.15 }}&gt;Agent 总论&lt;/Text&gt;&#10;  &lt;Text style={{ fontSize: 17, color: 'rgba(255,255,255,0.62)', letterSpacing: 2, marginTop: 20 }}&gt;AGENT OVERVIEW&lt;/Text&gt;&#10;   &lt;Text style={{ fontSize: 19, color: 'rgba(255,255,255,0.85)', marginTop: 26, lineHeight: 1.6 }}&gt;它是什么、有哪些部件、能给到什么权限&lt;/Text&gt;&#10;    &lt;/Box&gt;&#10;&#10;    &lt;Box style={{ position: 'absolute', right: 88, bottom: 64, flexDirection: 'row', alignItems: 'center', gap: 12 }}&gt;&#10;        &lt;Box style={{ width: 14, height: 14, background: '#FA4F24' }} /&gt;&#10;        &lt;Text style={{ fontSize: 14, color: 'rgba(255,255,255,0.5)' }}&gt;硕磐机密 · Agent智能体咨询方法论&lt;/Text&gt;&#10;    &lt;Text style={{ fontSize: 14, color: 'rgba(255,255,255,0.5)', marginLeft: 12 }}&gt;05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91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01</a:t>
            </a:r>
            <a:endParaRPr/>
          </a:p>
        </p:txBody>
      </p:sp>
      <p:sp>
        <p:nvSpPr>
          <p:cNvPr id="1494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771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总论</a:t>
            </a:r>
            <a:endParaRPr/>
          </a:p>
        </p:txBody>
      </p:sp>
      <p:sp>
        <p:nvSpPr>
          <p:cNvPr id="1496" name="" descr="{&quot;isTemplate&quot;:true,&quot;type&quot;:&quot;text&quot;}"/>
          <p:cNvSpPr txBox="1"/>
          <p:nvPr/>
        </p:nvSpPr>
        <p:spPr>
          <a:xfrm rot="0" flipH="0" flipV="0">
            <a:off x="838200" y="3867150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AGENT OVERVIEW</a:t>
            </a:r>
            <a:endParaRPr/>
          </a:p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838200" y="4314825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它是什么、有哪些部件、能给到什么权限</a:t>
            </a:r>
            <a:endParaRPr/>
          </a:p>
        </p:txBody>
      </p:sp>
      <p:sp>
        <p:nvSpPr>
          <p:cNvPr id="1498" name=""/>
          <p:cNvSpPr/>
          <p:nvPr/>
        </p:nvSpPr>
        <p:spPr>
          <a:xfrm rot="0" flipH="0" flipV="0">
            <a:off x="83153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8562975" y="60864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500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05 / 30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01" name="" descr="&lt;Slide style={{ width: 1280, height: 720, background: '#FFFFFF', padding: '24px 64px 0' }}&gt;&#10;    &lt;Box style={{ height: 96, flexDirection: 'column', justifyContent: 'flex-start' }}&gt;&#10;   &lt;Text style={{ fontSize: 32, fontWeight: 'bold', color: '#0F1423' }}&gt;&#10;   之方法：&lt;span style={{ color: '#FA4F24' }}&gt;Agent 是有职权的角色，不是会聊天的模型&lt;/span&gt;&#10;  &lt;/Text&gt;&#10;        &lt;Text style={{ fontSize: 20, color: '#8A8F99', marginTop: 8 }}&gt;&#10;     定义清楚这四条，它才是一个可以被架构、被治理、被追责的东西&#10;        &lt;/Text&gt;&#10;    &lt;/Box&gt;&#10;  &lt;Box style={{ height: 1, background: '#E8E8E8' }} /&gt;&#10;&#10;    &lt;Box style={{ paddingTop: 22, paddingBottom: 12, height: 479, flexDirection: 'row', gap: 20 }}&gt;&#10;     {/* 左：四要素 */}&#10;        &lt;Box style={{ width: 560, flexDirection: 'column', gap: 8 }}&gt;&#10;            &lt;Text style={{ fontSize: 20, fontWeight: 'bold', color: '#0F1423' }}&gt;四要素定义&lt;/Text&gt;&#10;      {[&#10;    { n: 'E1', t: '岗位', d: '它替代的是组织里哪一个岗位的哪一部分职责', why: '说不出岗位，就无法评估它做得对不对' },&#10;         { n: 'E2', t: '职权', d: '它被授权到能读什么、能改什么、能决定什么', why: '职权不清，就无法做安全评审' },&#10;     { n: 'E3', t: '停手', d: '遇到什么情况它必须停下来交给人', why: '没有停手条件，就是一个失控的自动化' },&#10;            { n: 'E4', t: '留痕', d: '它每次判断依据什么、做了什么、结果如何', why: '不留痕，出事无法定位、无法优化' },&#10;        ].map((it, i) =&gt; (&#10;      &lt;Box key={i} style={{ flex: 1, background: '#F7F7F8', borderRadius: 4, padding: '0 16px', flexDirection: 'row', alignItems: 'center', gap: 13 }}&gt;&#10;     &lt;Text style={{ fontSize: 15, fontWeight: 'bold', color: '#FA4F24', width: 30 }}&gt;{it.n}&lt;/Text&gt;&#10;     &lt;Box style={{ width: 60 }}&gt;&#10;    &lt;Text style={{ fontSize: 17, fontWeight: 'bold', color: '#0F1423' }}&gt;{it.t}&lt;/Text&gt;&#10;   &lt;/Box&gt;&#10;  &lt;Box style={{ flex: 1 }}&gt;&#10;      &lt;Text style={{ fontSize: 13, color: '#3A4050', lineHeight: 1.35 }}&gt;{it.d}&lt;/Text&gt;&#10;     &lt;/Box&gt;&#10;    &lt;Text style={{ fontSize: 12, color: '#8A8F99', width: 168, lineHeight: 1.3 }}&gt;{it.why}&lt;/Text&gt;&#10;  &lt;/Box&gt;&#10;       ))}&#10;     &lt;Box style={{ height: 74, background: '#0F1423', borderRadius: 4, padding: '12px 16px', flexDirection: 'column', justifyContent: 'center' }}&gt;&#10;            &lt;Text style={{ fontSize: 14, fontWeight: 'bold', color: '#FBA15C' }}&gt;四要素缺一，Agent 就退回成一个 Demo&lt;/Text&gt;&#10;            &lt;Text style={{ fontSize: 13, color: 'rgba(255,255,255,0.9)', lineHeight: 1.5, marginTop: 5 }}&gt;&#10;    只给模型接了工具、没有职权边界，那是自动化脚本；没有停手条件，那是定时炸弹；没有留痕，那是黑盒。三个都不解决，上生产是不能批的。&#10;       &lt;/Text&gt;&#10; &lt;/Box&gt;&#10;      &lt;/Box&gt;&#10;&#10;        {/* 右：与近亲的区别 */}&#10;   &lt;Box style={{ flex: 1, flexDirection: 'column', gap: 8 }}&gt;&#10;        &lt;Text style={{ fontSize: 20, fontWeight: 'bold', color: '#0F1423' }}&gt;和三个近亲的区别&lt;/Text&gt;&#10;  {[&#10;      { a: '大模型', b: '无岗位无职权，无状态，按输入输出', d: 'Agent 有岗位有职权，有连续会话与记忆' },&#10;        { a: 'RPA 机器人', b: '按人定的固定步骤走，路径确定', d: 'Agent 路径部分由模型判断，路径有不确定性' },&#10;     { a: '聊天机器人', b: '只在对话框里说话，说完就忘', d: 'Agent 会动手改真实系统，并留下决策链' },&#10; ].map((it, i) =&gt; (&#10;      &lt;Box key={i} style={{ flex: 1, background: '#FFF3EE', borderRadius: 4, padding: '0 16px', flexDirection: 'column', justifyContent: 'center', borderLeft: '4px solid #FBA15C' }}&gt;&#10;      &lt;Box style={{ flexDirection: 'row', alignItems: 'baseline', gap: 10 }}&gt;&#10;   &lt;Text style={{ fontSize: 14, fontWeight: 'bold', color: '#C43A17', width: 96 }}&gt;{it.a}&lt;/Text&gt;&#10;     &lt;Text style={{ fontSize: 13, color: '#3A2000', flex: 1, lineHeight: 1.4 }}&gt;{it.b}&lt;/Text&gt;&#10;   &lt;/Box&gt;&#10;        &lt;Text style={{ fontSize: 13, color: '#8A5A20', lineHeight: 1.4, marginTop: 4 }}&gt;Agent：{it.d}&lt;/Text&gt;&#10;   &lt;/Box&gt;&#10;      ))}&#10;     &lt;Box style={{ flex: 1, background: '#F7F7F8', borderRadius: 4, padding: '0 16px', flexDirection: 'row', alignItems: 'center', gap: 12, borderLeft: '4px solid #FA4F24' }}&gt;&#10;     &lt;Text style={{ fontSize: 13, fontWeight: 'bold', color: '#C43A17', width: 118 }}&gt;★ 选型判断&lt;/Text&gt;&#10;   &lt;Text style={{ fontSize: 13, color: '#3A4050', flex: 1, lineHeight: 1.4 }}&gt;&#10; 路径完全确定、输入结构化 —— 用 RPA；只需读与答 —— 用 RAG 加查询；要判断与承担 —— 才轮到 Agent&#10;     &lt;/Text&gt;&#10;   &lt;/Box&gt;&#10;    &lt;/Box&gt;&#10;    &lt;/Box&gt;&#10;&#10;    &lt;Box style={{ height: 58, flexDirection: 'row', alignItems: 'center', borderTop: '1px solid #E8E8E8' }}&gt;&#10;        &lt;Box style={{ width: 10, height: 10, background: '#FA4F24' }} /&gt;&#10; &lt;Text style={{ fontSize: 13, color: '#8A8F99', marginLeft: 12 }}&gt;硕磐机密 · Agent智能体咨询方法论&lt;/Text&gt;&#10;   &lt;Text style={{ fontSize: 13, color: '#8A8F99', marginLeft: 'auto' }}&gt;06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是有职权的角色，不是会聊天的模型</a:t>
            </a:r>
            <a:endParaRPr/>
          </a:p>
        </p:txBody>
      </p:sp>
      <p:sp>
        <p:nvSpPr>
          <p:cNvPr id="150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定义清楚这四条，它才是一个可以被架构、被治理、被追责的东西</a:t>
            </a:r>
            <a:endParaRPr/>
          </a:p>
        </p:txBody>
      </p:sp>
      <p:sp>
        <p:nvSpPr>
          <p:cNvPr id="150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06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33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四要素定义</a:t>
            </a:r>
            <a:endParaRPr/>
          </a:p>
        </p:txBody>
      </p:sp>
      <p:sp>
        <p:nvSpPr>
          <p:cNvPr id="1507" name=""/>
          <p:cNvSpPr/>
          <p:nvPr/>
        </p:nvSpPr>
        <p:spPr>
          <a:xfrm rot="0" flipH="0" flipV="0">
            <a:off x="609600" y="1666875"/>
            <a:ext cx="5334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08" name="" descr="{&quot;isTemplate&quot;:true,&quot;type&quot;:&quot;text&quot;}"/>
          <p:cNvSpPr txBox="1"/>
          <p:nvPr/>
        </p:nvSpPr>
        <p:spPr>
          <a:xfrm rot="0" flipH="0" flipV="0">
            <a:off x="762000" y="19526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E1</a:t>
            </a:r>
            <a:endParaRPr/>
          </a:p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1171575" y="1943100"/>
            <a:ext cx="57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岗位</a:t>
            </a:r>
            <a:endParaRPr/>
          </a:p>
        </p:txBody>
      </p:sp>
      <p:sp>
        <p:nvSpPr>
          <p:cNvPr id="1510" name="" descr="{&quot;isTemplate&quot;:true,&quot;type&quot;:&quot;text&quot;}"/>
          <p:cNvSpPr txBox="1"/>
          <p:nvPr/>
        </p:nvSpPr>
        <p:spPr>
          <a:xfrm rot="0" flipH="0" flipV="0">
            <a:off x="1866900" y="1838325"/>
            <a:ext cx="22002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它替代的是组织里哪一个岗位的哪一部分职责</a:t>
            </a:r>
            <a:endParaRPr/>
          </a:p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4191000" y="1857375"/>
            <a:ext cx="16002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说不出岗位，就无法评估它做得对不对</a:t>
            </a:r>
            <a:endParaRPr/>
          </a:p>
        </p:txBody>
      </p:sp>
      <p:sp>
        <p:nvSpPr>
          <p:cNvPr id="1512" name=""/>
          <p:cNvSpPr/>
          <p:nvPr/>
        </p:nvSpPr>
        <p:spPr>
          <a:xfrm rot="0" flipH="0" flipV="0">
            <a:off x="609600" y="2486025"/>
            <a:ext cx="5334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3" name="" descr="{&quot;isTemplate&quot;:true,&quot;type&quot;:&quot;text&quot;}"/>
          <p:cNvSpPr txBox="1"/>
          <p:nvPr/>
        </p:nvSpPr>
        <p:spPr>
          <a:xfrm rot="0" flipH="0" flipV="0">
            <a:off x="762000" y="27717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E2</a:t>
            </a:r>
            <a:endParaRPr/>
          </a:p>
        </p:txBody>
      </p:sp>
      <p:sp>
        <p:nvSpPr>
          <p:cNvPr id="1514" name="" descr="{&quot;isTemplate&quot;:true,&quot;type&quot;:&quot;text&quot;}"/>
          <p:cNvSpPr txBox="1"/>
          <p:nvPr/>
        </p:nvSpPr>
        <p:spPr>
          <a:xfrm rot="0" flipH="0" flipV="0">
            <a:off x="1171575" y="2762250"/>
            <a:ext cx="57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职权</a:t>
            </a:r>
            <a:endParaRPr/>
          </a:p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1866900" y="2657475"/>
            <a:ext cx="22002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它被授权到能读什么、能改什么、能决定什么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4191000" y="2771775"/>
            <a:ext cx="1600200" cy="1809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职权不清，就无法做安全评审</a:t>
            </a:r>
            <a:endParaRPr/>
          </a:p>
        </p:txBody>
      </p:sp>
      <p:sp>
        <p:nvSpPr>
          <p:cNvPr id="1517" name=""/>
          <p:cNvSpPr/>
          <p:nvPr/>
        </p:nvSpPr>
        <p:spPr>
          <a:xfrm rot="0" flipH="0" flipV="0">
            <a:off x="609600" y="3305175"/>
            <a:ext cx="5334000" cy="695325"/>
          </a:xfrm>
          <a:prstGeom prst="roundRect">
            <a:avLst>
              <a:gd name="adj" fmla="val 54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18" name="" descr="{&quot;isTemplate&quot;:true,&quot;type&quot;:&quot;text&quot;}"/>
          <p:cNvSpPr txBox="1"/>
          <p:nvPr/>
        </p:nvSpPr>
        <p:spPr>
          <a:xfrm rot="0" flipH="0" flipV="0">
            <a:off x="762000" y="35718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E3</a:t>
            </a:r>
            <a:endParaRPr/>
          </a:p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1171575" y="3552825"/>
            <a:ext cx="57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停手</a:t>
            </a:r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1866900" y="3552825"/>
            <a:ext cx="220027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遇到什么情况它必须停下来交给人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4191000" y="3476625"/>
            <a:ext cx="16002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没有停手条件，就是一个失控的自动化</a:t>
            </a:r>
            <a:endParaRPr/>
          </a:p>
        </p:txBody>
      </p:sp>
      <p:sp>
        <p:nvSpPr>
          <p:cNvPr id="1522" name=""/>
          <p:cNvSpPr/>
          <p:nvPr/>
        </p:nvSpPr>
        <p:spPr>
          <a:xfrm rot="0" flipH="0" flipV="0">
            <a:off x="609600" y="4076700"/>
            <a:ext cx="5334000" cy="742950"/>
          </a:xfrm>
          <a:prstGeom prst="roundRect">
            <a:avLst>
              <a:gd name="adj" fmla="val 512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762000" y="43624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E4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1171575" y="4352925"/>
            <a:ext cx="57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留痕</a:t>
            </a:r>
            <a:endParaRPr/>
          </a:p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1866900" y="4248150"/>
            <a:ext cx="22002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它每次判断依据什么、做了什么、结果如何</a:t>
            </a:r>
            <a:endParaRPr/>
          </a:p>
        </p:txBody>
      </p:sp>
      <p:sp>
        <p:nvSpPr>
          <p:cNvPr id="1526" name="" descr="{&quot;isTemplate&quot;:true,&quot;type&quot;:&quot;text&quot;}"/>
          <p:cNvSpPr txBox="1"/>
          <p:nvPr/>
        </p:nvSpPr>
        <p:spPr>
          <a:xfrm rot="0" flipH="0" flipV="0">
            <a:off x="4191000" y="4267200"/>
            <a:ext cx="1600200" cy="361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不留痕，出事无法定位、无法优化</a:t>
            </a:r>
            <a:endParaRPr/>
          </a:p>
        </p:txBody>
      </p:sp>
      <p:sp>
        <p:nvSpPr>
          <p:cNvPr id="1527" name=""/>
          <p:cNvSpPr/>
          <p:nvPr/>
        </p:nvSpPr>
        <p:spPr>
          <a:xfrm rot="0" flipH="0" flipV="0">
            <a:off x="609600" y="4895850"/>
            <a:ext cx="5334000" cy="704850"/>
          </a:xfrm>
          <a:prstGeom prst="roundRect">
            <a:avLst>
              <a:gd name="adj" fmla="val 54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762000" y="4924425"/>
            <a:ext cx="502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四要素缺一，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就退回成一个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Demo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762000" y="5133975"/>
            <a:ext cx="50292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只给模型接了工具、没有职权边界，那是自动化脚本；没有停手条件，那是定时炸弹；没有留痕，那是黑盒。三个都不解决，上生产是不能批的。</a:t>
            </a:r>
            <a:endParaRPr/>
          </a:p>
        </p:txBody>
      </p:sp>
      <p:sp>
        <p:nvSpPr>
          <p:cNvPr id="1530" name="" descr="{&quot;isTemplate&quot;:true,&quot;type&quot;:&quot;text&quot;}"/>
          <p:cNvSpPr txBox="1"/>
          <p:nvPr/>
        </p:nvSpPr>
        <p:spPr>
          <a:xfrm rot="0" flipH="0" flipV="0">
            <a:off x="6134100" y="1362075"/>
            <a:ext cx="5448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和三个近亲的区别</a:t>
            </a:r>
            <a:endParaRPr/>
          </a:p>
        </p:txBody>
      </p:sp>
      <p:sp>
        <p:nvSpPr>
          <p:cNvPr id="1531" name=""/>
          <p:cNvSpPr/>
          <p:nvPr/>
        </p:nvSpPr>
        <p:spPr>
          <a:xfrm rot="0" flipH="0" flipV="0">
            <a:off x="6172200" y="1666875"/>
            <a:ext cx="5448300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32" name=""/>
          <p:cNvSpPr/>
          <p:nvPr/>
        </p:nvSpPr>
        <p:spPr>
          <a:xfrm rot="0" flipH="0" flipV="0">
            <a:off x="6172200" y="1666875"/>
            <a:ext cx="5448300" cy="933450"/>
          </a:xfrm>
          <a:custGeom>
            <a:pathLst>
              <a:path w="572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6324600" y="19050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大模型</a:t>
            </a:r>
            <a:endParaRPr/>
          </a:p>
        </p:txBody>
      </p:sp>
      <p:sp>
        <p:nvSpPr>
          <p:cNvPr id="1534" name="" descr="{&quot;isTemplate&quot;:true,&quot;type&quot;:&quot;text&quot;}"/>
          <p:cNvSpPr txBox="1"/>
          <p:nvPr/>
        </p:nvSpPr>
        <p:spPr>
          <a:xfrm rot="0" flipH="0" flipV="0">
            <a:off x="7334250" y="1905000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无岗位无职权，无状态，按输入输出</a:t>
            </a:r>
            <a:endParaRPr/>
          </a:p>
        </p:txBody>
      </p:sp>
      <p:sp>
        <p:nvSpPr>
          <p:cNvPr id="1535" name="" descr="{&quot;isTemplate&quot;:true,&quot;type&quot;:&quot;text&quot;}"/>
          <p:cNvSpPr txBox="1"/>
          <p:nvPr/>
        </p:nvSpPr>
        <p:spPr>
          <a:xfrm rot="0" flipH="0" flipV="0">
            <a:off x="6324600" y="2152650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有岗位有职权，有连续会话与记忆</a:t>
            </a:r>
            <a:endParaRPr/>
          </a:p>
        </p:txBody>
      </p:sp>
      <p:sp>
        <p:nvSpPr>
          <p:cNvPr id="1536" name=""/>
          <p:cNvSpPr/>
          <p:nvPr/>
        </p:nvSpPr>
        <p:spPr>
          <a:xfrm rot="0" flipH="0" flipV="0">
            <a:off x="6172200" y="2676525"/>
            <a:ext cx="5448300" cy="942975"/>
          </a:xfrm>
          <a:prstGeom prst="roundRect">
            <a:avLst>
              <a:gd name="adj" fmla="val 404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37" name=""/>
          <p:cNvSpPr/>
          <p:nvPr/>
        </p:nvSpPr>
        <p:spPr>
          <a:xfrm rot="0" flipH="0" flipV="0">
            <a:off x="6172200" y="2676525"/>
            <a:ext cx="5448300" cy="942975"/>
          </a:xfrm>
          <a:custGeom>
            <a:pathLst>
              <a:path w="572" h="99">
                <a:moveTo>
                  <a:pt x="4" y="99"/>
                </a:moveTo>
                <a:cubicBezTo>
                  <a:pt x="2" y="99"/>
                  <a:pt x="0" y="97"/>
                  <a:pt x="0" y="9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6324600" y="29241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RPA </a:t>
            </a: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机器人</a:t>
            </a:r>
            <a:endParaRPr/>
          </a:p>
        </p:txBody>
      </p:sp>
      <p:sp>
        <p:nvSpPr>
          <p:cNvPr id="1539" name="" descr="{&quot;isTemplate&quot;:true,&quot;type&quot;:&quot;text&quot;}"/>
          <p:cNvSpPr txBox="1"/>
          <p:nvPr/>
        </p:nvSpPr>
        <p:spPr>
          <a:xfrm rot="0" flipH="0" flipV="0">
            <a:off x="7334250" y="292417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按人定的固定步骤走，路径确定</a:t>
            </a:r>
            <a:endParaRPr/>
          </a:p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6324600" y="3171825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路径部分由模型判断，路径有不确定性</a:t>
            </a:r>
            <a:endParaRPr/>
          </a:p>
        </p:txBody>
      </p:sp>
      <p:sp>
        <p:nvSpPr>
          <p:cNvPr id="1541" name=""/>
          <p:cNvSpPr/>
          <p:nvPr/>
        </p:nvSpPr>
        <p:spPr>
          <a:xfrm rot="0" flipH="0" flipV="0">
            <a:off x="6172200" y="3695700"/>
            <a:ext cx="5448300" cy="933450"/>
          </a:xfrm>
          <a:prstGeom prst="roundRect">
            <a:avLst>
              <a:gd name="adj" fmla="val 408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542" name=""/>
          <p:cNvSpPr/>
          <p:nvPr/>
        </p:nvSpPr>
        <p:spPr>
          <a:xfrm rot="0" flipH="0" flipV="0">
            <a:off x="6172200" y="3695700"/>
            <a:ext cx="5448300" cy="933450"/>
          </a:xfrm>
          <a:custGeom>
            <a:pathLst>
              <a:path w="572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6324600" y="39338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聊天机器人</a:t>
            </a:r>
            <a:endParaRPr/>
          </a:p>
        </p:txBody>
      </p:sp>
      <p:sp>
        <p:nvSpPr>
          <p:cNvPr id="1544" name="" descr="{&quot;isTemplate&quot;:true,&quot;type&quot;:&quot;text&quot;}"/>
          <p:cNvSpPr txBox="1"/>
          <p:nvPr/>
        </p:nvSpPr>
        <p:spPr>
          <a:xfrm rot="0" flipH="0" flipV="0">
            <a:off x="7334250" y="3933825"/>
            <a:ext cx="4095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只在对话框里说话，说完就忘</a:t>
            </a:r>
            <a:endParaRPr/>
          </a:p>
        </p:txBody>
      </p:sp>
      <p:sp>
        <p:nvSpPr>
          <p:cNvPr id="1545" name="" descr="{&quot;isTemplate&quot;:true,&quot;type&quot;:&quot;text&quot;}"/>
          <p:cNvSpPr txBox="1"/>
          <p:nvPr/>
        </p:nvSpPr>
        <p:spPr>
          <a:xfrm rot="0" flipH="0" flipV="0">
            <a:off x="6324600" y="4181475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>Agent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：</a:t>
            </a:r>
            <a:r>
              <a:rPr lang="en-US" sz="975">
                <a:solidFill>
                  <a:srgbClr val="8A5A2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8A5A20"/>
                </a:solidFill>
                <a:latin typeface="Microsoft YaHei"/>
                <a:ea typeface="Microsoft YaHei"/>
              </a:rPr>
              <a:t>会动手改真实系统，并留下决策链</a:t>
            </a:r>
            <a:endParaRPr/>
          </a:p>
        </p:txBody>
      </p:sp>
      <p:sp>
        <p:nvSpPr>
          <p:cNvPr id="1546" name=""/>
          <p:cNvSpPr/>
          <p:nvPr/>
        </p:nvSpPr>
        <p:spPr>
          <a:xfrm rot="0" flipH="0" flipV="0">
            <a:off x="6172200" y="4705350"/>
            <a:ext cx="5448300" cy="895350"/>
          </a:xfrm>
          <a:prstGeom prst="roundRect">
            <a:avLst>
              <a:gd name="adj" fmla="val 425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47" name=""/>
          <p:cNvSpPr/>
          <p:nvPr/>
        </p:nvSpPr>
        <p:spPr>
          <a:xfrm rot="0" flipH="0" flipV="0">
            <a:off x="6172200" y="4705350"/>
            <a:ext cx="5448300" cy="895350"/>
          </a:xfrm>
          <a:custGeom>
            <a:pathLst>
              <a:path w="572" h="94">
                <a:moveTo>
                  <a:pt x="4" y="94"/>
                </a:move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48" name="" descr="{&quot;isTemplate&quot;:true,&quot;type&quot;:&quot;text&quot;}"/>
          <p:cNvSpPr txBox="1"/>
          <p:nvPr/>
        </p:nvSpPr>
        <p:spPr>
          <a:xfrm rot="0" flipH="0" flipV="0">
            <a:off x="6324600" y="50768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选型判断</a:t>
            </a:r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7562850" y="4943475"/>
            <a:ext cx="38671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路径完全确定、输入结构化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RPA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；只需读与答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用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RAG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加查询；要判断与承担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才轮到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55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5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06 / 30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55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之内容：&lt;span style={{ color: '#FA4F24' }}&gt;六个组成部件&lt;/span&gt;，少一个就退化成一个聊天框&#10;        &lt;/Text&gt;&#10;    &lt;Text style={{ fontSize: 20, color: '#8A8F99', marginTop: 8 }}&gt;&#10;     这六件在架构上分别对应六处设计，做方案时逐件问自己有没有&#10;   &lt;/Text&gt;&#10;    &lt;/Box&gt;&#10;    &lt;Box style={{ height: 1, background: '#E8E8E8' }} /&gt;&#10;&#10;    &lt;Box style={{ paddingTop: 22, paddingBottom: 12, height: 479, flexDirection: 'column', gap: 9 }}&gt;&#10;      {/* 六件两行三列 */}&#10;      &lt;Box style={{ flex: 1, flexDirection: 'row', gap: 10 }}&gt;&#10;        {[&#10;      { n: 'C1', t: '指令', d: '系统提示词：任务说明、步骤指引、输出格式', q: '写没写清「怎么算是做对了」', c: '#0F1423' },&#10;    { n: 'C2', t: '应用变量', d: '运行时注入的动态参数，控制它的行为', q: '参数来源是否都可追溯', c: '#0F1423' },&#10;    { n: 'C3', t: '检索上下文', d: '每轮对话动态取回的相关信息', q: '取的是事实还是文本碎片', c: '#2A2F3D' },&#10;        ].map((it, i) =&gt; (&#10;  &lt;Box key={i} style={{ flex: 1, background: it.c, borderRadius: 4, padding: '14px 16px', flexDirection: 'column', justifyContent: 'center' }}&gt;&#10;       &lt;Box style={{ flexDirection: 'row', alignItems: 'center', gap: 10 }}&gt;&#10;     &lt;Text style={{ fontSize: 20, fontWeight: 'bold', color: '#FBA15C' }}&gt;{it.n}&lt;/Text&gt;&#10;     &lt;Text style={{ fontSize: 17, fontWeight: 'bold', color: '#FFFFFF' }}&gt;{it.t}&lt;/Text&gt;&#10;     &lt;/Box&gt;&#10;      &lt;Text style={{ fontSize: 13, color: 'rgba(255,255,255,0.88)', lineHeight: 1.4, marginTop: 8 }}&gt;{it.d}&lt;/Text&gt;&#10;       &lt;Text style={{ fontSize: 12, color: 'rgba(255,255,255,0.62)', lineHeight: 1.35, marginTop: 8 }}&gt;{it.q}&lt;/Text&gt;&#10;    &lt;/Box&gt;&#10;    ))}&#10;      &lt;/Box&gt;&#10;      &lt;Box style={{ flex: 1, flexDirection: 'row', gap: 10 }}&gt;&#10;  {[&#10;          { n: 'C4', t: '工具', d: '外部能力与接口，做它权限范围内的实际动作', q: '每个工具是否对应一个 Action', c: '#2A2F3D' },&#10;      { n: 'C5', t: '技能', d: '按需加载的专业能力包，用完即退不占上下文', q: '技能是否按需披露而非全量塞入', c: '#5A6072' },&#10;          { n: 'C6', t: '记忆', d: '会话内的连续状态，以及跨会话的长期记录', q: '长期记忆写在哪、谁能看', c: '#5A6072' },&#10;        ].map((it, i) =&gt; (&#10;          &lt;Box key={i} style={{ flex: 1, background: it.c, borderRadius: 4, padding: '14px 16px', flexDirection: 'column', justifyContent: 'center' }}&gt;&#10;       &lt;Box style={{ flexDirection: 'row', alignItems: 'center', gap: 10 }}&gt;&#10;      &lt;Text style={{ fontSize: 20, fontWeight: 'bold', color: '#FBA15C' }}&gt;{it.n}&lt;/Text&gt;&#10;         &lt;Text style={{ fontSize: 17, fontWeight: 'bold', color: '#FFFFFF' }}&gt;{it.t}&lt;/Text&gt;&#10;       &lt;/Box&gt;&#10;      &lt;Text style={{ fontSize: 13, color: 'rgba(255,255,255,0.88)', lineHeight: 1.4, marginTop: 8 }}&gt;{it.d}&lt;/Text&gt;&#10;            &lt;Text style={{ fontSize: 12, color: 'rgba(255,255,255,0.62)', lineHeight: 1.35, marginTop: 8 }}&gt;{it.q}&lt;/Text&gt;&#10;          &lt;/Box&gt;&#10;      ))}&#10;      &lt;/Box&gt;&#10;&#10;      {/* 关键提示条 */}&#10;      &lt;Box style={{ height: 84, background: '#FA4F24', borderRadius: 4, padding: '12px 18px', flexDirection: 'row', alignItems: 'center', gap: 18 }}&gt;&#10;        &lt;Text style={{ fontSize: 15, fontWeight: 'bold', color: '#FFFFFF', width: 100 }}&gt;最容易被忽略的 C5&lt;/Text&gt;&#10;    &lt;Box style={{ flex: 1 }}&gt;&#10;          &lt;Text style={{ fontSize: 13, color: 'rgba(255,255,255,0.96)', lineHeight: 1.5 }}&gt;&#10;     技能（Skill）的价值是「按需披露」：启动时它只知道技能的名字和描述，等任务真的相关了才把完整内容读进来。全部能力一次性塞进上下文，是 Agent 上下文膨胀最常见的原因。&#10;    &lt;/Text&gt;&#10;        &lt;/Box&gt;&#10;        &lt;Text style={{ fontSize: 12, color: 'rgba(255,255,255,0.9)', width: 176, textAlign: 'right', lineHeight: 1.4 }}&gt;&#10;    一个 Agent 挂 30 个技能没事，挂 300 个就会开始变笨&#10;        &lt;/Text&gt;&#10;   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     &lt;Text style={{ fontSize: 13, color: '#8A8F99', marginLeft: 'auto' }}&gt;07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六个组成部件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，少一个就退化成一个聊天框</a:t>
            </a:r>
            <a:endParaRPr/>
          </a:p>
        </p:txBody>
      </p:sp>
      <p:sp>
        <p:nvSpPr>
          <p:cNvPr id="155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这六件在架构上分别对应六处设计，做方案时逐件问自己有没有</a:t>
            </a:r>
            <a:endParaRPr/>
          </a:p>
        </p:txBody>
      </p:sp>
      <p:sp>
        <p:nvSpPr>
          <p:cNvPr id="155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59" name=""/>
          <p:cNvSpPr/>
          <p:nvPr/>
        </p:nvSpPr>
        <p:spPr>
          <a:xfrm rot="0" flipH="0" flipV="0">
            <a:off x="609600" y="1362075"/>
            <a:ext cx="3590925" cy="1638300"/>
          </a:xfrm>
          <a:prstGeom prst="roundRect">
            <a:avLst>
              <a:gd name="adj" fmla="val 232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762000" y="179070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C1</a:t>
            </a:r>
            <a:endParaRPr/>
          </a:p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1104900" y="18097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指令</a:t>
            </a:r>
            <a:endParaRPr/>
          </a:p>
        </p:txBody>
      </p:sp>
      <p:sp>
        <p:nvSpPr>
          <p:cNvPr id="1562" name="" descr="{&quot;isTemplate&quot;:true,&quot;type&quot;:&quot;text&quot;}"/>
          <p:cNvSpPr txBox="1"/>
          <p:nvPr/>
        </p:nvSpPr>
        <p:spPr>
          <a:xfrm rot="0" flipH="0" flipV="0">
            <a:off x="762000" y="209550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系统提示词：任务说明、步骤指引、输出格式</a:t>
            </a:r>
            <a:endParaRPr/>
          </a:p>
        </p:txBody>
      </p:sp>
      <p:sp>
        <p:nvSpPr>
          <p:cNvPr id="1563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写没写清「怎么算是做对了」</a:t>
            </a:r>
            <a:endParaRPr/>
          </a:p>
        </p:txBody>
      </p:sp>
      <p:sp>
        <p:nvSpPr>
          <p:cNvPr id="1564" name=""/>
          <p:cNvSpPr/>
          <p:nvPr/>
        </p:nvSpPr>
        <p:spPr>
          <a:xfrm rot="0" flipH="0" flipV="0">
            <a:off x="4295775" y="1362075"/>
            <a:ext cx="3600450" cy="1638300"/>
          </a:xfrm>
          <a:prstGeom prst="roundRect">
            <a:avLst>
              <a:gd name="adj" fmla="val 232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565" name="" descr="{&quot;isTemplate&quot;:true,&quot;type&quot;:&quot;text&quot;}"/>
          <p:cNvSpPr txBox="1"/>
          <p:nvPr/>
        </p:nvSpPr>
        <p:spPr>
          <a:xfrm rot="0" flipH="0" flipV="0">
            <a:off x="4448175" y="179070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C2</a:t>
            </a:r>
            <a:endParaRPr/>
          </a:p>
        </p:txBody>
      </p:sp>
      <p:sp>
        <p:nvSpPr>
          <p:cNvPr id="1566" name="" descr="{&quot;isTemplate&quot;:true,&quot;type&quot;:&quot;text&quot;}"/>
          <p:cNvSpPr txBox="1"/>
          <p:nvPr/>
        </p:nvSpPr>
        <p:spPr>
          <a:xfrm rot="0" flipH="0" flipV="0">
            <a:off x="4791075" y="18097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应用变量</a:t>
            </a:r>
            <a:endParaRPr/>
          </a:p>
        </p:txBody>
      </p:sp>
      <p:sp>
        <p:nvSpPr>
          <p:cNvPr id="1567" name="" descr="{&quot;isTemplate&quot;:true,&quot;type&quot;:&quot;text&quot;}"/>
          <p:cNvSpPr txBox="1"/>
          <p:nvPr/>
        </p:nvSpPr>
        <p:spPr>
          <a:xfrm rot="0" flipH="0" flipV="0">
            <a:off x="4448175" y="2095500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运行时注入的动态参数，控制它的行为</a:t>
            </a:r>
            <a:endParaRPr/>
          </a:p>
        </p:txBody>
      </p:sp>
      <p:sp>
        <p:nvSpPr>
          <p:cNvPr id="1568" name="" descr="{&quot;isTemplate&quot;:true,&quot;type&quot;:&quot;text&quot;}"/>
          <p:cNvSpPr txBox="1"/>
          <p:nvPr/>
        </p:nvSpPr>
        <p:spPr>
          <a:xfrm rot="0" flipH="0" flipV="0">
            <a:off x="4448175" y="2381250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参数来源是否都可追溯</a:t>
            </a:r>
            <a:endParaRPr/>
          </a:p>
        </p:txBody>
      </p:sp>
      <p:sp>
        <p:nvSpPr>
          <p:cNvPr id="1569" name=""/>
          <p:cNvSpPr/>
          <p:nvPr/>
        </p:nvSpPr>
        <p:spPr>
          <a:xfrm rot="0" flipH="0" flipV="0">
            <a:off x="7991475" y="1362075"/>
            <a:ext cx="3590925" cy="1638300"/>
          </a:xfrm>
          <a:prstGeom prst="roundRect">
            <a:avLst>
              <a:gd name="adj" fmla="val 2326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8143875" y="1790700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C3</a:t>
            </a:r>
            <a:endParaRPr/>
          </a:p>
        </p:txBody>
      </p:sp>
      <p:sp>
        <p:nvSpPr>
          <p:cNvPr id="1571" name="" descr="{&quot;isTemplate&quot;:true,&quot;type&quot;:&quot;text&quot;}"/>
          <p:cNvSpPr txBox="1"/>
          <p:nvPr/>
        </p:nvSpPr>
        <p:spPr>
          <a:xfrm rot="0" flipH="0" flipV="0">
            <a:off x="8486775" y="18097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检索上下文</a:t>
            </a:r>
            <a:endParaRPr/>
          </a:p>
        </p:txBody>
      </p:sp>
      <p:sp>
        <p:nvSpPr>
          <p:cNvPr id="1572" name="" descr="{&quot;isTemplate&quot;:true,&quot;type&quot;:&quot;text&quot;}"/>
          <p:cNvSpPr txBox="1"/>
          <p:nvPr/>
        </p:nvSpPr>
        <p:spPr>
          <a:xfrm rot="0" flipH="0" flipV="0">
            <a:off x="8143875" y="2095500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每轮对话动态取回的相关信息</a:t>
            </a:r>
            <a:endParaRPr/>
          </a:p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8143875" y="2381250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取的是事实还是文本碎片</a:t>
            </a:r>
            <a:endParaRPr/>
          </a:p>
        </p:txBody>
      </p:sp>
      <p:sp>
        <p:nvSpPr>
          <p:cNvPr id="1574" name=""/>
          <p:cNvSpPr/>
          <p:nvPr/>
        </p:nvSpPr>
        <p:spPr>
          <a:xfrm rot="0" flipH="0" flipV="0">
            <a:off x="609600" y="3086100"/>
            <a:ext cx="3590925" cy="1628775"/>
          </a:xfrm>
          <a:prstGeom prst="roundRect">
            <a:avLst>
              <a:gd name="adj" fmla="val 2339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762000" y="351472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C4</a:t>
            </a:r>
            <a:endParaRPr/>
          </a:p>
        </p:txBody>
      </p:sp>
      <p:sp>
        <p:nvSpPr>
          <p:cNvPr id="1576" name="" descr="{&quot;isTemplate&quot;:true,&quot;type&quot;:&quot;text&quot;}"/>
          <p:cNvSpPr txBox="1"/>
          <p:nvPr/>
        </p:nvSpPr>
        <p:spPr>
          <a:xfrm rot="0" flipH="0" flipV="0">
            <a:off x="1104900" y="35337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1577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外部能力与接口，做它权限范围内的实际动作</a:t>
            </a:r>
            <a:endParaRPr/>
          </a:p>
        </p:txBody>
      </p:sp>
      <p:sp>
        <p:nvSpPr>
          <p:cNvPr id="1578" name="" descr="{&quot;isTemplate&quot;:true,&quot;type&quot;:&quot;text&quot;}"/>
          <p:cNvSpPr txBox="1"/>
          <p:nvPr/>
        </p:nvSpPr>
        <p:spPr>
          <a:xfrm rot="0" flipH="0" flipV="0">
            <a:off x="762000" y="4105275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每个工具是否对应一个</a:t>
            </a:r>
            <a:r>
              <a:rPr lang="en-US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Action</a:t>
            </a:r>
            <a:endParaRPr/>
          </a:p>
        </p:txBody>
      </p:sp>
      <p:sp>
        <p:nvSpPr>
          <p:cNvPr id="1579" name=""/>
          <p:cNvSpPr/>
          <p:nvPr/>
        </p:nvSpPr>
        <p:spPr>
          <a:xfrm rot="0" flipH="0" flipV="0">
            <a:off x="4295775" y="3086100"/>
            <a:ext cx="3600450" cy="1628775"/>
          </a:xfrm>
          <a:prstGeom prst="roundRect">
            <a:avLst>
              <a:gd name="adj" fmla="val 2339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4448175" y="351472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C5</a:t>
            </a:r>
            <a:endParaRPr/>
          </a:p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4791075" y="35337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技能</a:t>
            </a:r>
            <a:endParaRPr/>
          </a:p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4448175" y="3819525"/>
            <a:ext cx="32956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按需加载的专业能力包，用完即退不占上下文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4448175" y="41052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技能是否按需披露而非全量塞入</a:t>
            </a:r>
            <a:endParaRPr/>
          </a:p>
        </p:txBody>
      </p:sp>
      <p:sp>
        <p:nvSpPr>
          <p:cNvPr id="1584" name=""/>
          <p:cNvSpPr/>
          <p:nvPr/>
        </p:nvSpPr>
        <p:spPr>
          <a:xfrm rot="0" flipH="0" flipV="0">
            <a:off x="7991475" y="3086100"/>
            <a:ext cx="3590925" cy="1628775"/>
          </a:xfrm>
          <a:prstGeom prst="roundRect">
            <a:avLst>
              <a:gd name="adj" fmla="val 2339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1585" name="" descr="{&quot;isTemplate&quot;:true,&quot;type&quot;:&quot;text&quot;}"/>
          <p:cNvSpPr txBox="1"/>
          <p:nvPr/>
        </p:nvSpPr>
        <p:spPr>
          <a:xfrm rot="0" flipH="0" flipV="0">
            <a:off x="8143875" y="3514725"/>
            <a:ext cx="247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A15C"/>
                </a:solidFill>
                <a:latin typeface="Microsoft YaHei"/>
                <a:ea typeface="Microsoft YaHei"/>
              </a:rPr>
              <a:t>C6</a:t>
            </a:r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8486775" y="353377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记忆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8143875" y="3819525"/>
            <a:ext cx="3286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会话内的连续状态，以及跨会话的长期记录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8143875" y="4105275"/>
            <a:ext cx="328612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长期记忆写在哪、谁能看</a:t>
            </a:r>
            <a:endParaRPr/>
          </a:p>
        </p:txBody>
      </p:sp>
      <p:sp>
        <p:nvSpPr>
          <p:cNvPr id="1589" name=""/>
          <p:cNvSpPr/>
          <p:nvPr/>
        </p:nvSpPr>
        <p:spPr>
          <a:xfrm rot="0" flipH="0" flipV="0">
            <a:off x="609600" y="4800600"/>
            <a:ext cx="10972800" cy="800100"/>
          </a:xfrm>
          <a:prstGeom prst="roundRect">
            <a:avLst>
              <a:gd name="adj" fmla="val 4762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0" name="" descr="{&quot;isTemplate&quot;:true,&quot;type&quot;:&quot;text&quot;}"/>
          <p:cNvSpPr txBox="1"/>
          <p:nvPr/>
        </p:nvSpPr>
        <p:spPr>
          <a:xfrm rot="0" flipH="0" flipV="0">
            <a:off x="781050" y="5029200"/>
            <a:ext cx="9525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最容易被忽略的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C5</a:t>
            </a:r>
            <a:endParaRPr/>
          </a:p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1905000" y="4981575"/>
            <a:ext cx="76581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技能（</a:t>
            </a:r>
            <a:r>
              <a:rPr lang="en-US" sz="975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Skill</a:t>
            </a:r>
            <a:r>
              <a:rPr lang="zh-CN" sz="975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）的价值是「按需披露」：启动时它只知道技能的名字和描述，等任务真的相关了才把完整内容读进来。全部能力一次性塞进上下文，是</a:t>
            </a:r>
            <a:r>
              <a:rPr lang="en-US" sz="975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6000"/>
                  </a:srgbClr>
                </a:solidFill>
                <a:latin typeface="Microsoft YaHei"/>
                <a:ea typeface="Microsoft YaHei"/>
              </a:rPr>
              <a:t>上下文膨胀最常见的原因。</a:t>
            </a:r>
            <a:endParaRPr/>
          </a:p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9734550" y="5010150"/>
            <a:ext cx="1676400" cy="390525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一个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挂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个技能没事，挂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300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个就会开始变笨</a:t>
            </a:r>
            <a:endParaRPr/>
          </a:p>
        </p:txBody>
      </p:sp>
      <p:sp>
        <p:nvSpPr>
          <p:cNvPr id="159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59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59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07 / 30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59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内容：&lt;span style={{ color: '#FA4F24' }}&gt;三档能力&lt;/span&gt;，权限不是一次给到位，是逐档放开的&#10;        &lt;/Text&gt;&#10;    &lt;Text style={{ fontSize: 20, color: '#8A8F99', marginTop: 8 }}&gt;&#10;      大多数项目一上来就想做第三档。正确顺序是从第一档跑出数据，再谈升档&#10;    &lt;/Text&gt;&#10;    &lt;/Box&gt;&#10;    &lt;Box style={{ height: 1, background: '#E8E8E8' }} /&gt;&#10;&#10;    &lt;Box style={{ paddingTop: 22, paddingBottom: 12, height: 479, flexDirection: 'column', gap: 9 }}&gt;&#10;      {/* 三档阶梯 */}&#10;      &lt;Box style={{ flex: 1, flexDirection: 'row', gap: 10 }}&gt;&#10;   {[&#10;        { lv: 'L1', t: '只给建议', d: '读完给结论，动手的是人', who: '人 100% 执行', obs: '看它的判断准不准', dur: '建议至少跑三个月', c: '#0F1423' },&#10;          { lv: 'L2', t: '审批执行', d: '它调动作，人点确认后落地', who: '人确认，Agent 执行', obs: '看动作准确率与被驳回率', dur: '看驳回理由是否集中在某类', c: '#2A2F3D' },&#10;          { lv: 'L3', t: '受限自主', d: '低风险动作自动执行，高风险仍需人', who: '按动作风险自动分流', obs: '看自主执行占比与异常率', dur: '必须有月度回审机制', c: '#FA4F24' },&#10;        ].map((it, i) =&gt; (&#10;          &lt;Box key={i} style={{ flex: 1, background: it.c, borderRadius: 4, padding: '16px 18px', flexDirection: 'column', justifyContent: 'center', gap: 6 }}&gt;&#10;      &lt;Box style={{ flexDirection: 'row', alignItems: 'baseline', gap: 12 }}&gt;&#10;   &lt;Text style={{ fontSize: 26, fontWeight: 'bold', color: i === 2 ? '#FFFFFF' : 'rgba(255,255,255,0.5)' }}&gt;{it.lv}&lt;/Text&gt;&#10;  &lt;Text style={{ fontSize: 21, fontWeight: 'bold', color: '#FFFFFF' }}&gt;{it.t}&lt;/Text&gt;&#10;      &lt;/Box&gt;&#10;     &lt;Text style={{ fontSize: 13, color: 'rgba(255,255,255,0.9)', lineHeight: 1.4 }}&gt;{it.d}&lt;/Text&gt;&#10;    &lt;Box style={{ height: 1, background: 'rgba(255,255,255,0.18)', marginTop: 4 }} /&gt;&#10;        {[&#10;          { k: '谁动手', v: it.who }, { k: '看什么', v: it.obs }, { k: '放行条件', v: it.dur },&#10;        ].map((x, j) =&gt; (&#10;          &lt;Box key={j} style={{ flexDirection: 'row', alignItems: 'center', gap: 10 }}&gt;&#10;    &lt;Text style={{ fontSize: 12, color: 'rgba(255,255,255,0.55)', width: 52 }}&gt;{x.k}&lt;/Text&gt;&#10;      &lt;Text style={{ fontSize: 12, color: '#FFFFFF', flex: 1, lineHeight: 1.35 }}&gt;{x.v}&lt;/Text&gt;&#10;     &lt;/Box&gt;&#10;          ))}&#10;      &lt;/Box&gt;&#10;        ))}&#10;      &lt;/Box&gt;&#10;&#10; &lt;Box style={{ flex: 1.1, flexDirection: 'row', gap: 10 }}&gt;&#10;        {/* 划界标准 */}&#10;     &lt;Box style={{ flex: 1.2, background: '#F7F7F8', borderRadius: 4, padding: '14px 16px', flexDirection: 'column', justifyContent: 'center' }}&gt;&#10;       &lt;Text style={{ fontSize: 19, fontWeight: 'bold', color: '#0F1423', marginBottom: 8 }}&gt;哪些动作可以放进 L3 自动执行&lt;/Text&gt;&#10;          {[&#10;   { t: '可逆', d: '错了能在十分钟内改回来' },&#10;      { t: '低损', d: '错了的代价小于人工复核的代价' },&#10;        { t: '有界', d: '影响范围可预先圈定，不扩散' },&#10;     { t: '可察', d: '事后能被监控发现，不需要预判' },&#10;          ].map((it, i) =&gt; (&#10;       &lt;Box key={i} style={{ flexDirection: 'row', alignItems: 'center', gap: 10 }}&gt;&#10;      &lt;Box style={{ width: 5, height: 5, background: '#FA4F24', borderRadius: 3 }} /&gt;&#10;       &lt;Text style={{ fontSize: 14, fontWeight: 'bold', color: '#0F1423', width: 44 }}&gt;{it.t}&lt;/Text&gt;&#10;     &lt;Text style={{ fontSize: 13, color: '#3A4050', flex: 1, lineHeight: 1.35 }}&gt;{it.d}&lt;/Text&gt;&#10;       &lt;/Box&gt;&#10;   ))}&#10;       &lt;/Box&gt;&#10;        {/* 反例 */}&#10;    &lt;Box style={{ flex: 1, background: '#FFF3EE', borderRadius: 4, padding: '14px 16px', flexDirection: 'column', justifyContent: 'center' }}&gt;&#10;          &lt;Text style={{ fontSize: 19, fontWeight: 'bold', color: '#C43A17', marginBottom: 8 }}&gt;这四类永远不进 L3&lt;/Text&gt;&#10;   {[&#10;       { t: '不可逆动作', d: '删除、对外发送、付款' },&#10;        { t: '跨组织动作', d: '涉及客户承诺与法律责任' },&#10;            { t: '低频但高损动作', d: '一年遇一次，撞上就是事故' },&#10;    { t: '无法解释的动作', d: '说不出依据为什么这么做' },&#10;          ].map((it, i) =&gt; (&#10;   &lt;Box key={i} style={{ flexDirection: 'row', alignItems: 'center', gap: 10 }}&gt;&#10;    &lt;Box style={{ width: 5, height: 5, background: '#FBA15C', borderRadius: 3 }} /&gt;&#10;      &lt;Text style={{ fontSize: 14, fontWeight: 'bold', color: '#3A2000', width: 118 }}&gt;{it.t}&lt;/Text&gt;&#10;            &lt;Text style={{ fontSize: 12, color: '#8A5A20', flex: 1, lineHeight: 1.35 }}&gt;{it.d}&lt;/Text&gt;&#10;            &lt;/Box&gt;&#10;     ))}&#10;        &lt;/Box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 &lt;Text style={{ fontSize: 13, color: '#8A8F99', marginLeft: 'auto' }}&gt;08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三档能力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，权限不是一次给到位，是逐档放开的</a:t>
            </a:r>
            <a:endParaRPr/>
          </a:p>
        </p:txBody>
      </p:sp>
      <p:sp>
        <p:nvSpPr>
          <p:cNvPr id="160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大多数项目一上来就想做第三档。正确顺序是从第一档跑出数据，再谈升档</a:t>
            </a:r>
            <a:endParaRPr/>
          </a:p>
        </p:txBody>
      </p:sp>
      <p:sp>
        <p:nvSpPr>
          <p:cNvPr id="160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02" name=""/>
          <p:cNvSpPr/>
          <p:nvPr/>
        </p:nvSpPr>
        <p:spPr>
          <a:xfrm rot="0" flipH="0" flipV="0">
            <a:off x="609600" y="1362075"/>
            <a:ext cx="3590925" cy="2209800"/>
          </a:xfrm>
          <a:prstGeom prst="roundRect">
            <a:avLst>
              <a:gd name="adj" fmla="val 172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781050" y="17621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604" name="" descr="{&quot;isTemplate&quot;:true,&quot;type&quot;:&quot;text&quot;}"/>
          <p:cNvSpPr txBox="1"/>
          <p:nvPr/>
        </p:nvSpPr>
        <p:spPr>
          <a:xfrm rot="0" flipH="0" flipV="0">
            <a:off x="1190625" y="1762125"/>
            <a:ext cx="80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只给建议</a:t>
            </a:r>
            <a:endParaRPr/>
          </a:p>
        </p:txBody>
      </p:sp>
      <p:sp>
        <p:nvSpPr>
          <p:cNvPr id="1605" name="" descr="{&quot;isTemplate&quot;:true,&quot;type&quot;:&quot;text&quot;}"/>
          <p:cNvSpPr txBox="1"/>
          <p:nvPr/>
        </p:nvSpPr>
        <p:spPr>
          <a:xfrm rot="0" flipH="0" flipV="0">
            <a:off x="781050" y="2124075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读完给结论，动手的是人</a:t>
            </a:r>
            <a:endParaRPr/>
          </a:p>
        </p:txBody>
      </p:sp>
      <p:sp>
        <p:nvSpPr>
          <p:cNvPr id="1606" name=""/>
          <p:cNvSpPr/>
          <p:nvPr/>
        </p:nvSpPr>
        <p:spPr>
          <a:xfrm rot="0" flipH="0" flipV="0">
            <a:off x="781050" y="2428875"/>
            <a:ext cx="324802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607" name="" descr="{&quot;isTemplate&quot;:true,&quot;type&quot;:&quot;text&quot;}"/>
          <p:cNvSpPr txBox="1"/>
          <p:nvPr/>
        </p:nvSpPr>
        <p:spPr>
          <a:xfrm rot="0" flipH="0" flipV="0">
            <a:off x="781050" y="25241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谁动手</a:t>
            </a:r>
            <a:endParaRPr/>
          </a:p>
        </p:txBody>
      </p:sp>
      <p:sp>
        <p:nvSpPr>
          <p:cNvPr id="1608" name="" descr="{&quot;isTemplate&quot;:true,&quot;type&quot;:&quot;text&quot;}"/>
          <p:cNvSpPr txBox="1"/>
          <p:nvPr/>
        </p:nvSpPr>
        <p:spPr>
          <a:xfrm rot="0" flipH="0" flipV="0">
            <a:off x="1371600" y="249555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人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100%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1609" name="" descr="{&quot;isTemplate&quot;:true,&quot;type&quot;:&quot;text&quot;}"/>
          <p:cNvSpPr txBox="1"/>
          <p:nvPr/>
        </p:nvSpPr>
        <p:spPr>
          <a:xfrm rot="0" flipH="0" flipV="0">
            <a:off x="781050" y="277177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看什么</a:t>
            </a:r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1371600" y="274320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看它的判断准不准</a:t>
            </a:r>
            <a:endParaRPr/>
          </a:p>
        </p:txBody>
      </p:sp>
      <p:sp>
        <p:nvSpPr>
          <p:cNvPr id="1611" name="" descr="{&quot;isTemplate&quot;:true,&quot;type&quot;:&quot;text&quot;}"/>
          <p:cNvSpPr txBox="1"/>
          <p:nvPr/>
        </p:nvSpPr>
        <p:spPr>
          <a:xfrm rot="0" flipH="0" flipV="0">
            <a:off x="781050" y="30194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放行条件</a:t>
            </a:r>
            <a:endParaRPr/>
          </a:p>
        </p:txBody>
      </p:sp>
      <p:sp>
        <p:nvSpPr>
          <p:cNvPr id="1612" name="" descr="{&quot;isTemplate&quot;:true,&quot;type&quot;:&quot;text&quot;}"/>
          <p:cNvSpPr txBox="1"/>
          <p:nvPr/>
        </p:nvSpPr>
        <p:spPr>
          <a:xfrm rot="0" flipH="0" flipV="0">
            <a:off x="1371600" y="299085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建议至少跑三个月</a:t>
            </a:r>
            <a:endParaRPr/>
          </a:p>
        </p:txBody>
      </p:sp>
      <p:sp>
        <p:nvSpPr>
          <p:cNvPr id="1613" name=""/>
          <p:cNvSpPr/>
          <p:nvPr/>
        </p:nvSpPr>
        <p:spPr>
          <a:xfrm rot="0" flipH="0" flipV="0">
            <a:off x="4295775" y="1362075"/>
            <a:ext cx="3600450" cy="2209800"/>
          </a:xfrm>
          <a:prstGeom prst="roundRect">
            <a:avLst>
              <a:gd name="adj" fmla="val 1724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1614" name="" descr="{&quot;isTemplate&quot;:true,&quot;type&quot;:&quot;text&quot;}"/>
          <p:cNvSpPr txBox="1"/>
          <p:nvPr/>
        </p:nvSpPr>
        <p:spPr>
          <a:xfrm rot="0" flipH="0" flipV="0">
            <a:off x="4467225" y="17621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615" name="" descr="{&quot;isTemplate&quot;:true,&quot;type&quot;:&quot;text&quot;}"/>
          <p:cNvSpPr txBox="1"/>
          <p:nvPr/>
        </p:nvSpPr>
        <p:spPr>
          <a:xfrm rot="0" flipH="0" flipV="0">
            <a:off x="4876800" y="1762125"/>
            <a:ext cx="80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审批执行</a:t>
            </a:r>
            <a:endParaRPr/>
          </a:p>
        </p:txBody>
      </p:sp>
      <p:sp>
        <p:nvSpPr>
          <p:cNvPr id="1616" name="" descr="{&quot;isTemplate&quot;:true,&quot;type&quot;:&quot;text&quot;}"/>
          <p:cNvSpPr txBox="1"/>
          <p:nvPr/>
        </p:nvSpPr>
        <p:spPr>
          <a:xfrm rot="0" flipH="0" flipV="0">
            <a:off x="4467225" y="2124075"/>
            <a:ext cx="32575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它调动作，人点确认后落地</a:t>
            </a:r>
            <a:endParaRPr/>
          </a:p>
        </p:txBody>
      </p:sp>
      <p:sp>
        <p:nvSpPr>
          <p:cNvPr id="1617" name=""/>
          <p:cNvSpPr/>
          <p:nvPr/>
        </p:nvSpPr>
        <p:spPr>
          <a:xfrm rot="0" flipH="0" flipV="0">
            <a:off x="4467225" y="2428875"/>
            <a:ext cx="3257550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618" name="" descr="{&quot;isTemplate&quot;:true,&quot;type&quot;:&quot;text&quot;}"/>
          <p:cNvSpPr txBox="1"/>
          <p:nvPr/>
        </p:nvSpPr>
        <p:spPr>
          <a:xfrm rot="0" flipH="0" flipV="0">
            <a:off x="4467225" y="25241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谁动手</a:t>
            </a:r>
            <a:endParaRPr/>
          </a:p>
        </p:txBody>
      </p:sp>
      <p:sp>
        <p:nvSpPr>
          <p:cNvPr id="1619" name="" descr="{&quot;isTemplate&quot;:true,&quot;type&quot;:&quot;text&quot;}"/>
          <p:cNvSpPr txBox="1"/>
          <p:nvPr/>
        </p:nvSpPr>
        <p:spPr>
          <a:xfrm rot="0" flipH="0" flipV="0">
            <a:off x="5057775" y="24955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人确认，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1620" name="" descr="{&quot;isTemplate&quot;:true,&quot;type&quot;:&quot;text&quot;}"/>
          <p:cNvSpPr txBox="1"/>
          <p:nvPr/>
        </p:nvSpPr>
        <p:spPr>
          <a:xfrm rot="0" flipH="0" flipV="0">
            <a:off x="4467225" y="277177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看什么</a:t>
            </a:r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5057775" y="274320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看动作准确率与被驳回率</a:t>
            </a:r>
            <a:endParaRPr/>
          </a:p>
        </p:txBody>
      </p:sp>
      <p:sp>
        <p:nvSpPr>
          <p:cNvPr id="1622" name="" descr="{&quot;isTemplate&quot;:true,&quot;type&quot;:&quot;text&quot;}"/>
          <p:cNvSpPr txBox="1"/>
          <p:nvPr/>
        </p:nvSpPr>
        <p:spPr>
          <a:xfrm rot="0" flipH="0" flipV="0">
            <a:off x="4467225" y="30194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放行条件</a:t>
            </a:r>
            <a:endParaRPr/>
          </a:p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5057775" y="2990850"/>
            <a:ext cx="26670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看驳回理由是否集中在某类</a:t>
            </a:r>
            <a:endParaRPr/>
          </a:p>
        </p:txBody>
      </p:sp>
      <p:sp>
        <p:nvSpPr>
          <p:cNvPr id="1624" name=""/>
          <p:cNvSpPr/>
          <p:nvPr/>
        </p:nvSpPr>
        <p:spPr>
          <a:xfrm rot="0" flipH="0" flipV="0">
            <a:off x="7991475" y="1362075"/>
            <a:ext cx="3590925" cy="2209800"/>
          </a:xfrm>
          <a:prstGeom prst="roundRect">
            <a:avLst>
              <a:gd name="adj" fmla="val 1724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25" name="" descr="{&quot;isTemplate&quot;:true,&quot;type&quot;:&quot;text&quot;}"/>
          <p:cNvSpPr txBox="1"/>
          <p:nvPr/>
        </p:nvSpPr>
        <p:spPr>
          <a:xfrm rot="0" flipH="0" flipV="0">
            <a:off x="8162925" y="17621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8572500" y="1762125"/>
            <a:ext cx="80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受限自主</a:t>
            </a:r>
            <a:endParaRPr/>
          </a:p>
        </p:txBody>
      </p:sp>
      <p:sp>
        <p:nvSpPr>
          <p:cNvPr id="1627" name="" descr="{&quot;isTemplate&quot;:true,&quot;type&quot;:&quot;text&quot;}"/>
          <p:cNvSpPr txBox="1"/>
          <p:nvPr/>
        </p:nvSpPr>
        <p:spPr>
          <a:xfrm rot="0" flipH="0" flipV="0">
            <a:off x="8162925" y="2124075"/>
            <a:ext cx="32480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低风险动作自动执行，高风险仍需人</a:t>
            </a:r>
            <a:endParaRPr/>
          </a:p>
        </p:txBody>
      </p:sp>
      <p:sp>
        <p:nvSpPr>
          <p:cNvPr id="1628" name=""/>
          <p:cNvSpPr/>
          <p:nvPr/>
        </p:nvSpPr>
        <p:spPr>
          <a:xfrm rot="0" flipH="0" flipV="0">
            <a:off x="8162925" y="2428875"/>
            <a:ext cx="324802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629" name="" descr="{&quot;isTemplate&quot;:true,&quot;type&quot;:&quot;text&quot;}"/>
          <p:cNvSpPr txBox="1"/>
          <p:nvPr/>
        </p:nvSpPr>
        <p:spPr>
          <a:xfrm rot="0" flipH="0" flipV="0">
            <a:off x="8162925" y="25241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谁动手</a:t>
            </a:r>
            <a:endParaRPr/>
          </a:p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8753475" y="249555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按动作风险自动分流</a:t>
            </a:r>
            <a:endParaRPr/>
          </a:p>
        </p:txBody>
      </p:sp>
      <p:sp>
        <p:nvSpPr>
          <p:cNvPr id="1631" name="" descr="{&quot;isTemplate&quot;:true,&quot;type&quot;:&quot;text&quot;}"/>
          <p:cNvSpPr txBox="1"/>
          <p:nvPr/>
        </p:nvSpPr>
        <p:spPr>
          <a:xfrm rot="0" flipH="0" flipV="0">
            <a:off x="8162925" y="277177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看什么</a:t>
            </a:r>
            <a:endParaRPr/>
          </a:p>
        </p:txBody>
      </p:sp>
      <p:sp>
        <p:nvSpPr>
          <p:cNvPr id="1632" name="" descr="{&quot;isTemplate&quot;:true,&quot;type&quot;:&quot;text&quot;}"/>
          <p:cNvSpPr txBox="1"/>
          <p:nvPr/>
        </p:nvSpPr>
        <p:spPr>
          <a:xfrm rot="0" flipH="0" flipV="0">
            <a:off x="8753475" y="274320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看自主执行占比与异常率</a:t>
            </a:r>
            <a:endParaRPr/>
          </a:p>
        </p:txBody>
      </p:sp>
      <p:sp>
        <p:nvSpPr>
          <p:cNvPr id="1633" name="" descr="{&quot;isTemplate&quot;:true,&quot;type&quot;:&quot;text&quot;}"/>
          <p:cNvSpPr txBox="1"/>
          <p:nvPr/>
        </p:nvSpPr>
        <p:spPr>
          <a:xfrm rot="0" flipH="0" flipV="0">
            <a:off x="8162925" y="3019425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放行条件</a:t>
            </a:r>
            <a:endParaRPr/>
          </a:p>
        </p:txBody>
      </p:sp>
      <p:sp>
        <p:nvSpPr>
          <p:cNvPr id="1634" name="" descr="{&quot;isTemplate&quot;:true,&quot;type&quot;:&quot;text&quot;}"/>
          <p:cNvSpPr txBox="1"/>
          <p:nvPr/>
        </p:nvSpPr>
        <p:spPr>
          <a:xfrm rot="0" flipH="0" flipV="0">
            <a:off x="8753475" y="2990850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必须有月度回审机制</a:t>
            </a:r>
            <a:endParaRPr/>
          </a:p>
        </p:txBody>
      </p:sp>
      <p:sp>
        <p:nvSpPr>
          <p:cNvPr id="1635" name=""/>
          <p:cNvSpPr/>
          <p:nvPr/>
        </p:nvSpPr>
        <p:spPr>
          <a:xfrm rot="0" flipH="0" flipV="0">
            <a:off x="609600" y="3657600"/>
            <a:ext cx="5934075" cy="1943100"/>
          </a:xfrm>
          <a:prstGeom prst="roundRect">
            <a:avLst>
              <a:gd name="adj" fmla="val 196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762000" y="4067175"/>
            <a:ext cx="5629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哪些动作可以放进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L3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自动执行</a:t>
            </a:r>
            <a:endParaRPr/>
          </a:p>
        </p:txBody>
      </p:sp>
      <p:sp>
        <p:nvSpPr>
          <p:cNvPr id="1637" name=""/>
          <p:cNvSpPr/>
          <p:nvPr/>
        </p:nvSpPr>
        <p:spPr>
          <a:xfrm rot="0" flipH="0" flipV="0">
            <a:off x="762000" y="44481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38" name="" descr="{&quot;isTemplate&quot;:true,&quot;type&quot;:&quot;text&quot;}"/>
          <p:cNvSpPr txBox="1"/>
          <p:nvPr/>
        </p:nvSpPr>
        <p:spPr>
          <a:xfrm rot="0" flipH="0" flipV="0">
            <a:off x="904875" y="43910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可逆</a:t>
            </a:r>
            <a:endParaRPr/>
          </a:p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1419225" y="43624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错了能在十分钟内改回来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762000" y="4657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904875" y="46005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低损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1419225" y="45720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错了的代价小于人工复核的代价</a:t>
            </a:r>
            <a:endParaRPr/>
          </a:p>
        </p:txBody>
      </p:sp>
      <p:sp>
        <p:nvSpPr>
          <p:cNvPr id="1643" name=""/>
          <p:cNvSpPr/>
          <p:nvPr/>
        </p:nvSpPr>
        <p:spPr>
          <a:xfrm rot="0" flipH="0" flipV="0">
            <a:off x="762000" y="48672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4" name="" descr="{&quot;isTemplate&quot;:true,&quot;type&quot;:&quot;text&quot;}"/>
          <p:cNvSpPr txBox="1"/>
          <p:nvPr/>
        </p:nvSpPr>
        <p:spPr>
          <a:xfrm rot="0" flipH="0" flipV="0">
            <a:off x="904875" y="481012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有界</a:t>
            </a:r>
            <a:endParaRPr/>
          </a:p>
        </p:txBody>
      </p:sp>
      <p:sp>
        <p:nvSpPr>
          <p:cNvPr id="1645" name="" descr="{&quot;isTemplate&quot;:true,&quot;type&quot;:&quot;text&quot;}"/>
          <p:cNvSpPr txBox="1"/>
          <p:nvPr/>
        </p:nvSpPr>
        <p:spPr>
          <a:xfrm rot="0" flipH="0" flipV="0">
            <a:off x="1419225" y="478155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影响范围可预先圈定，不扩散</a:t>
            </a:r>
            <a:endParaRPr/>
          </a:p>
        </p:txBody>
      </p:sp>
      <p:sp>
        <p:nvSpPr>
          <p:cNvPr id="1646" name=""/>
          <p:cNvSpPr/>
          <p:nvPr/>
        </p:nvSpPr>
        <p:spPr>
          <a:xfrm rot="0" flipH="0" flipV="0">
            <a:off x="762000" y="50768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7" name="" descr="{&quot;isTemplate&quot;:true,&quot;type&quot;:&quot;text&quot;}"/>
          <p:cNvSpPr txBox="1"/>
          <p:nvPr/>
        </p:nvSpPr>
        <p:spPr>
          <a:xfrm rot="0" flipH="0" flipV="0">
            <a:off x="904875" y="5019675"/>
            <a:ext cx="41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可察</a:t>
            </a:r>
            <a:endParaRPr/>
          </a:p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1419225" y="4991100"/>
            <a:ext cx="49720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事后能被监控发现，不需要预判</a:t>
            </a:r>
            <a:endParaRPr/>
          </a:p>
        </p:txBody>
      </p:sp>
      <p:sp>
        <p:nvSpPr>
          <p:cNvPr id="1649" name=""/>
          <p:cNvSpPr/>
          <p:nvPr/>
        </p:nvSpPr>
        <p:spPr>
          <a:xfrm rot="0" flipH="0" flipV="0">
            <a:off x="6638925" y="3657600"/>
            <a:ext cx="4943475" cy="1943100"/>
          </a:xfrm>
          <a:prstGeom prst="roundRect">
            <a:avLst>
              <a:gd name="adj" fmla="val 196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650" name="" descr="{&quot;isTemplate&quot;:true,&quot;type&quot;:&quot;text&quot;}"/>
          <p:cNvSpPr txBox="1"/>
          <p:nvPr/>
        </p:nvSpPr>
        <p:spPr>
          <a:xfrm rot="0" flipH="0" flipV="0">
            <a:off x="6791325" y="4105275"/>
            <a:ext cx="4638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3A17"/>
                </a:solidFill>
                <a:latin typeface="Microsoft YaHei"/>
                <a:ea typeface="Microsoft YaHei"/>
              </a:rPr>
              <a:t>这四类永远不进</a:t>
            </a:r>
            <a:r>
              <a:rPr lang="en-US" sz="14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L3</a:t>
            </a:r>
            <a:endParaRPr/>
          </a:p>
        </p:txBody>
      </p:sp>
      <p:sp>
        <p:nvSpPr>
          <p:cNvPr id="1651" name=""/>
          <p:cNvSpPr/>
          <p:nvPr/>
        </p:nvSpPr>
        <p:spPr>
          <a:xfrm rot="0" flipH="0" flipV="0">
            <a:off x="6791325" y="4476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52" name="" descr="{&quot;isTemplate&quot;:true,&quot;type&quot;:&quot;text&quot;}"/>
          <p:cNvSpPr txBox="1"/>
          <p:nvPr/>
        </p:nvSpPr>
        <p:spPr>
          <a:xfrm rot="0" flipH="0" flipV="0">
            <a:off x="6934200" y="44196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不可逆动作</a:t>
            </a:r>
            <a:endParaRPr/>
          </a:p>
        </p:txBody>
      </p:sp>
      <p:sp>
        <p:nvSpPr>
          <p:cNvPr id="1653" name="" descr="{&quot;isTemplate&quot;:true,&quot;type&quot;:&quot;text&quot;}"/>
          <p:cNvSpPr txBox="1"/>
          <p:nvPr/>
        </p:nvSpPr>
        <p:spPr>
          <a:xfrm rot="0" flipH="0" flipV="0">
            <a:off x="8153400" y="44005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删除、对外发送、付款</a:t>
            </a:r>
            <a:endParaRPr/>
          </a:p>
        </p:txBody>
      </p:sp>
      <p:sp>
        <p:nvSpPr>
          <p:cNvPr id="1654" name=""/>
          <p:cNvSpPr/>
          <p:nvPr/>
        </p:nvSpPr>
        <p:spPr>
          <a:xfrm rot="0" flipH="0" flipV="0">
            <a:off x="6791325" y="4667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55" name="" descr="{&quot;isTemplate&quot;:true,&quot;type&quot;:&quot;text&quot;}"/>
          <p:cNvSpPr txBox="1"/>
          <p:nvPr/>
        </p:nvSpPr>
        <p:spPr>
          <a:xfrm rot="0" flipH="0" flipV="0">
            <a:off x="6934200" y="46101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跨组织动作</a:t>
            </a:r>
            <a:endParaRPr/>
          </a:p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8153400" y="45910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涉及客户承诺与法律责任</a:t>
            </a:r>
            <a:endParaRPr/>
          </a:p>
        </p:txBody>
      </p:sp>
      <p:sp>
        <p:nvSpPr>
          <p:cNvPr id="1657" name=""/>
          <p:cNvSpPr/>
          <p:nvPr/>
        </p:nvSpPr>
        <p:spPr>
          <a:xfrm rot="0" flipH="0" flipV="0">
            <a:off x="6791325" y="48577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58" name="" descr="{&quot;isTemplate&quot;:true,&quot;type&quot;:&quot;text&quot;}"/>
          <p:cNvSpPr txBox="1"/>
          <p:nvPr/>
        </p:nvSpPr>
        <p:spPr>
          <a:xfrm rot="0" flipH="0" flipV="0">
            <a:off x="6934200" y="48006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低频但高损动作</a:t>
            </a:r>
            <a:endParaRPr/>
          </a:p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8153400" y="47815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一年遇一次，撞上就是事故</a:t>
            </a:r>
            <a:endParaRPr/>
          </a:p>
        </p:txBody>
      </p:sp>
      <p:sp>
        <p:nvSpPr>
          <p:cNvPr id="1660" name=""/>
          <p:cNvSpPr/>
          <p:nvPr/>
        </p:nvSpPr>
        <p:spPr>
          <a:xfrm rot="0" flipH="0" flipV="0">
            <a:off x="6791325" y="50482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1661" name="" descr="{&quot;isTemplate&quot;:true,&quot;type&quot;:&quot;text&quot;}"/>
          <p:cNvSpPr txBox="1"/>
          <p:nvPr/>
        </p:nvSpPr>
        <p:spPr>
          <a:xfrm rot="0" flipH="0" flipV="0">
            <a:off x="6934200" y="499110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A2000"/>
                </a:solidFill>
                <a:latin typeface="Microsoft YaHei"/>
                <a:ea typeface="Microsoft YaHei"/>
              </a:rPr>
              <a:t>无法解释的动作</a:t>
            </a:r>
            <a:endParaRPr/>
          </a:p>
        </p:txBody>
      </p:sp>
      <p:sp>
        <p:nvSpPr>
          <p:cNvPr id="1662" name="" descr="{&quot;isTemplate&quot;:true,&quot;type&quot;:&quot;text&quot;}"/>
          <p:cNvSpPr txBox="1"/>
          <p:nvPr/>
        </p:nvSpPr>
        <p:spPr>
          <a:xfrm rot="0" flipH="0" flipV="0">
            <a:off x="8153400" y="4972050"/>
            <a:ext cx="32766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说不出依据为什么这么做</a:t>
            </a:r>
            <a:endParaRPr/>
          </a:p>
        </p:txBody>
      </p:sp>
      <p:sp>
        <p:nvSpPr>
          <p:cNvPr id="166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6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6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08 / 30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667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之模板：&lt;span style={{ color: '#FA4F24' }}&gt;Agent 岗位说明书&lt;/span&gt;，十格填不满就不许开工&#10;      &lt;/Text&gt;&#10;    &lt;Text style={{ fontSize: 20, color: '#8A8F99', marginTop: 8 }}&gt;&#10;     这张表就是给业务方签字的那份东西，也是后面所有评审的基准&#10;    &lt;/Text&gt;&#10;    &lt;/Box&gt;&#10;  &lt;Box style={{ height: 1, background: '#E8E8E8' }} /&gt;&#10;&#10;    &lt;Box style={{ paddingTop: 20, paddingBottom: 12, height: 479, flexDirection: 'row', gap: 18 }}&gt;&#10; {/* 左：十格 */}&#10;        &lt;Box style={{ width: 640, flexDirection: 'column', gap: 7 }}&gt;&#10;      &lt;Box style={{ background: '#F7F7F8', borderRadius: 4, padding: '13px 16px', flexDirection: 'column', flex: 1 }}&gt;&#10;      &lt;Box style={{ flexDirection: 'row', alignItems: 'center', gap: 10, marginBottom: 8 }}&gt;&#10;    &lt;Box style={{ width: 4, height: 20, background: '#FA4F24' }} /&gt;&#10;      &lt;Text style={{ fontSize: 19, fontWeight: 'bold', color: '#0F1423' }}&gt;交付异常处置助理&lt;/Text&gt;&#10;            &lt;Text style={{ fontSize: 12, color: '#8A8F99' }}&gt;AG-01 · 责任岗位 交付运营专员 · 上线批次 一批&lt;/Text&gt;&#10;        &lt;/Box&gt;&#10;    {[&#10;        { k: '一句话职责', v: '识别交付异常订单，给出处置方案，人确认后落地' },&#10;            { k: '服务对象', v: '交付运营专员（主）、客户经理（只读）' },&#10;      { k: '触发时机', v: '每日 06:00 定时，或工单系统推送异常事件' },&#10;   { k: '输入上下文', v: '异常订单、在途库存、客户承诺记录、历史处置案例' },&#10;          { k: '可读对象', v: '订单、库存、客户、承运商、交付任务' },&#10;        { k: '可调动作', v: '变更交期（需人确认）、发起验收、关闭订单（需人确认）' },&#10;      { k: '停手条件', v: '涉及金额调整、客户投诉升级、首次违约 —— 一律转人' },&#10;    { k: '能力档位', v: 'L1 只给建议，试运行三个月后再评估升 L2' },&#10;   { k: '质量底线', v: '建议准确率 ≥ 90%；漏报率必须为 0，宁可多报' },&#10;            { k: '失败回退', v: '任一步失败即全流程转人工，工作流状态不改' },&#10;          ].map((it, i) =&gt; (&#10;     &lt;Box key={i} style={{ flex: 1, flexDirection: 'row', alignItems: 'center', gap: 12, borderTop: i === 0 ? 'none' : '1px solid #E8E8E8' }}&gt;&#10;        &lt;Text style={{ fontSize: 13, fontWeight: 'bold', color: '#C43A17', width: 98 }}&gt;{it.k}&lt;/Text&gt;&#10;      &lt;Text style={{ fontSize: 13, color: '#3A4050', flex: 1, lineHeight: 1.35 }}&gt;{it.v}&lt;/Text&gt;&#10;         &lt;/Box&gt;&#10;        ))}&#10;   &lt;/Box&gt;&#10;            &lt;Box style={{ height: 78, background: '#0F1423', borderRadius: 4, padding: '12px 16px', flexDirection: 'column', justifyContent: 'center' }}&gt;&#10;     &lt;Text style={{ fontSize: 14, fontWeight: 'bold', color: '#FBA15C' }}&gt;签字之前必须回答的一句话&lt;/Text&gt;&#10;      &lt;Text style={{ fontSize: 13, color: 'rgba(255,255,255,0.9)', lineHeight: 1.5, marginTop: 5 }}&gt;&#10;            「如果它今天完全跑不起来，谁的哪部分工作会受影响、影响多大？」答不出来，说明这个岗位还没设计清楚，先别做。&#10;      &lt;/Text&gt;&#10;     &lt;/Box&gt;&#10;        &lt;/Box&gt;&#10;&#10;        {/* 右：六条不合格判据 */}&#10;      &lt;Box style={{ flex: 1, flexDirection: 'column', gap: 7 }}&gt;&#10;      &lt;Text style={{ fontSize: 20, fontWeight: 'bold', color: '#0F1423' }}&gt;六条不合格判据&lt;/Text&gt;&#10;          {[&#10;  { t: '职责写成了「回答问题」', d: '那不是岗位，是搜索框' },&#10;    { t: '可读对象写「全部数据」', d: '上下文必然爆炸，权限也无从评审' },&#10;        { t: '停手条件写「视情况而定」', d: '等于没有，事故时一定来不及' },&#10;    { t: '质量底线没数字', d: '「尽量准确」无法验收，也无法触发降级' },&#10;            { t: '失败回退写「人工介入」', d: '要写清转给谁、转什么状态、多久到人' },&#10;     { t: '没写服务对象', d: '权限和验收标准都无从确定' },&#10;    ].map((it, i) =&gt; (&#10;      &lt;Box key={i} style={{ flex: 1, background: '#FFF3EE', borderRadius: 4, padding: '0 14px', flexDirection: 'column', justifyContent: 'center', borderLeft: '4px solid #FBA15C' }}&gt;&#10;        &lt;Text style={{ fontSize: 13, fontWeight: 'bold', color: '#C43A17' }}&gt;{it.t}&lt;/Text&gt;&#10;       &lt;Text style={{ fontSize: 12, color: '#3A2000', lineHeight: 1.35, marginTop: 2 }}&gt;{it.d}&lt;/Text&gt;&#10;      &lt;/Box&gt;&#10;    ))}&#10;   &lt;Box style={{ height: 58, background: '#F7F7F8', borderRadius: 4, padding: '10px 14px', flexDirection: 'column', justifyContent: 'center' }}&gt;&#10;     &lt;Text style={{ fontSize: 12, color: '#8A8F99', lineHeight: 1.45 }}&gt;&#10;       第六条最常被漏。没写服务对象，就无法回答「Agent 看到的是谁的权限」，权限泄漏风险直接上升一个等级。&#10;     &lt;/Text&gt;&#10;        &lt;/Box&gt;&#10;        &lt;/Box&gt;&#10;    &lt;/Box&gt;&#10;&#10;    &lt;Box style={{ height: 58, flexDirection: 'row', alignItems: 'center', borderTop: '1px solid #E8E8E8' }}&gt;&#10;  &lt;Box style={{ width: 10, height: 10, background: '#FA4F24' }} /&gt;&#10;        &lt;Text style={{ fontSize: 13, color: '#8A8F99', marginLeft: 12 }}&gt;硕磐机密 · Agent智能体咨询方法论&lt;/Text&gt;&#10;    &lt;Text style={{ fontSize: 13, color: '#8A8F99', marginLeft: 'auto' }}&gt;09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岗位说明书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，十格填不满就不许开工</a:t>
            </a:r>
            <a:endParaRPr/>
          </a:p>
        </p:txBody>
      </p:sp>
      <p:sp>
        <p:nvSpPr>
          <p:cNvPr id="16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这张表就是给业务方签字的那份东西，也是后面所有评审的基准</a:t>
            </a:r>
            <a:endParaRPr/>
          </a:p>
        </p:txBody>
      </p:sp>
      <p:sp>
        <p:nvSpPr>
          <p:cNvPr id="16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72" name=""/>
          <p:cNvSpPr/>
          <p:nvPr/>
        </p:nvSpPr>
        <p:spPr>
          <a:xfrm rot="0" flipH="0" flipV="0">
            <a:off x="609600" y="1343025"/>
            <a:ext cx="6096000" cy="3448050"/>
          </a:xfrm>
          <a:prstGeom prst="roundRect">
            <a:avLst>
              <a:gd name="adj" fmla="val 11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73" name=""/>
          <p:cNvSpPr/>
          <p:nvPr/>
        </p:nvSpPr>
        <p:spPr>
          <a:xfrm rot="0" flipH="0" flipV="0">
            <a:off x="762000" y="1485900"/>
            <a:ext cx="38100" cy="1905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895350" y="14668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交付异常处置助理</a:t>
            </a:r>
            <a:endParaRPr/>
          </a:p>
        </p:txBody>
      </p:sp>
      <p:sp>
        <p:nvSpPr>
          <p:cNvPr id="1675" name="" descr="{&quot;isTemplate&quot;:true,&quot;type&quot;:&quot;text&quot;}"/>
          <p:cNvSpPr txBox="1"/>
          <p:nvPr/>
        </p:nvSpPr>
        <p:spPr>
          <a:xfrm rot="0" flipH="0" flipV="0">
            <a:off x="2438400" y="1504950"/>
            <a:ext cx="2438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AG-01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责任岗位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交付运营专员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上线批次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一批</a:t>
            </a:r>
            <a:endParaRPr/>
          </a:p>
        </p:txBody>
      </p:sp>
      <p:sp>
        <p:nvSpPr>
          <p:cNvPr id="1676" name="" descr="{&quot;isTemplate&quot;:true,&quot;type&quot;:&quot;text&quot;}"/>
          <p:cNvSpPr txBox="1"/>
          <p:nvPr/>
        </p:nvSpPr>
        <p:spPr>
          <a:xfrm rot="0" flipH="0" flipV="0">
            <a:off x="762000" y="182880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一句话职责</a:t>
            </a:r>
            <a:endParaRPr/>
          </a:p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1809750" y="180022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识别交付异常订单，给出处置方案，人确认后落地</a:t>
            </a:r>
            <a:endParaRPr/>
          </a:p>
        </p:txBody>
      </p:sp>
      <p:sp>
        <p:nvSpPr>
          <p:cNvPr id="1678" name=""/>
          <p:cNvSpPr/>
          <p:nvPr/>
        </p:nvSpPr>
        <p:spPr>
          <a:xfrm rot="0" flipH="0" flipV="0">
            <a:off x="762000" y="2047875"/>
            <a:ext cx="5791200" cy="295275"/>
          </a:xfrm>
          <a:custGeom>
            <a:pathLst>
              <a:path w="608" h="31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79" name="" descr="{&quot;isTemplate&quot;:true,&quot;type&quot;:&quot;text&quot;}"/>
          <p:cNvSpPr txBox="1"/>
          <p:nvPr/>
        </p:nvSpPr>
        <p:spPr>
          <a:xfrm rot="0" flipH="0" flipV="0">
            <a:off x="762000" y="212407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服务对象</a:t>
            </a:r>
            <a:endParaRPr/>
          </a:p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1809750" y="209550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交付运营专员（主）、客户经理（只读）</a:t>
            </a:r>
            <a:endParaRPr/>
          </a:p>
        </p:txBody>
      </p:sp>
      <p:sp>
        <p:nvSpPr>
          <p:cNvPr id="1681" name=""/>
          <p:cNvSpPr/>
          <p:nvPr/>
        </p:nvSpPr>
        <p:spPr>
          <a:xfrm rot="0" flipH="0" flipV="0">
            <a:off x="762000" y="2333625"/>
            <a:ext cx="5791200" cy="304800"/>
          </a:xfrm>
          <a:custGeom>
            <a:pathLst>
              <a:path w="608" h="32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2" name="" descr="{&quot;isTemplate&quot;:true,&quot;type&quot;:&quot;text&quot;}"/>
          <p:cNvSpPr txBox="1"/>
          <p:nvPr/>
        </p:nvSpPr>
        <p:spPr>
          <a:xfrm rot="0" flipH="0" flipV="0">
            <a:off x="762000" y="240982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触发时机</a:t>
            </a:r>
            <a:endParaRPr/>
          </a:p>
        </p:txBody>
      </p:sp>
      <p:sp>
        <p:nvSpPr>
          <p:cNvPr id="1683" name="" descr="{&quot;isTemplate&quot;:true,&quot;type&quot;:&quot;text&quot;}"/>
          <p:cNvSpPr txBox="1"/>
          <p:nvPr/>
        </p:nvSpPr>
        <p:spPr>
          <a:xfrm rot="0" flipH="0" flipV="0">
            <a:off x="1809750" y="238125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每日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06:00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定时，或工单系统推送异常事件</a:t>
            </a:r>
            <a:endParaRPr/>
          </a:p>
        </p:txBody>
      </p:sp>
      <p:sp>
        <p:nvSpPr>
          <p:cNvPr id="1684" name=""/>
          <p:cNvSpPr/>
          <p:nvPr/>
        </p:nvSpPr>
        <p:spPr>
          <a:xfrm rot="0" flipH="0" flipV="0">
            <a:off x="762000" y="2628900"/>
            <a:ext cx="5791200" cy="295275"/>
          </a:xfrm>
          <a:custGeom>
            <a:pathLst>
              <a:path w="608" h="31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5" name="" descr="{&quot;isTemplate&quot;:true,&quot;type&quot;:&quot;text&quot;}"/>
          <p:cNvSpPr txBox="1"/>
          <p:nvPr/>
        </p:nvSpPr>
        <p:spPr>
          <a:xfrm rot="0" flipH="0" flipV="0">
            <a:off x="762000" y="270510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输入上下文</a:t>
            </a:r>
            <a:endParaRPr/>
          </a:p>
        </p:txBody>
      </p:sp>
      <p:sp>
        <p:nvSpPr>
          <p:cNvPr id="1686" name="" descr="{&quot;isTemplate&quot;:true,&quot;type&quot;:&quot;text&quot;}"/>
          <p:cNvSpPr txBox="1"/>
          <p:nvPr/>
        </p:nvSpPr>
        <p:spPr>
          <a:xfrm rot="0" flipH="0" flipV="0">
            <a:off x="1809750" y="267652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异常订单、在途库存、客户承诺记录、历史处置案例</a:t>
            </a:r>
            <a:endParaRPr/>
          </a:p>
        </p:txBody>
      </p:sp>
      <p:sp>
        <p:nvSpPr>
          <p:cNvPr id="1687" name=""/>
          <p:cNvSpPr/>
          <p:nvPr/>
        </p:nvSpPr>
        <p:spPr>
          <a:xfrm rot="0" flipH="0" flipV="0">
            <a:off x="762000" y="2914650"/>
            <a:ext cx="5791200" cy="304800"/>
          </a:xfrm>
          <a:custGeom>
            <a:pathLst>
              <a:path w="608" h="32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88" name="" descr="{&quot;isTemplate&quot;:true,&quot;type&quot;:&quot;text&quot;}"/>
          <p:cNvSpPr txBox="1"/>
          <p:nvPr/>
        </p:nvSpPr>
        <p:spPr>
          <a:xfrm rot="0" flipH="0" flipV="0">
            <a:off x="762000" y="299085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可读对象</a:t>
            </a:r>
            <a:endParaRPr/>
          </a:p>
        </p:txBody>
      </p:sp>
      <p:sp>
        <p:nvSpPr>
          <p:cNvPr id="1689" name="" descr="{&quot;isTemplate&quot;:true,&quot;type&quot;:&quot;text&quot;}"/>
          <p:cNvSpPr txBox="1"/>
          <p:nvPr/>
        </p:nvSpPr>
        <p:spPr>
          <a:xfrm rot="0" flipH="0" flipV="0">
            <a:off x="1809750" y="296227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订单、库存、客户、承运商、交付任务</a:t>
            </a:r>
            <a:endParaRPr/>
          </a:p>
        </p:txBody>
      </p:sp>
      <p:sp>
        <p:nvSpPr>
          <p:cNvPr id="1690" name=""/>
          <p:cNvSpPr/>
          <p:nvPr/>
        </p:nvSpPr>
        <p:spPr>
          <a:xfrm rot="0" flipH="0" flipV="0">
            <a:off x="762000" y="3209925"/>
            <a:ext cx="5791200" cy="304800"/>
          </a:xfrm>
          <a:custGeom>
            <a:pathLst>
              <a:path w="608" h="32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762000" y="328612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可调动作</a:t>
            </a:r>
            <a:endParaRPr/>
          </a:p>
        </p:txBody>
      </p:sp>
      <p:sp>
        <p:nvSpPr>
          <p:cNvPr id="1692" name="" descr="{&quot;isTemplate&quot;:true,&quot;type&quot;:&quot;text&quot;}"/>
          <p:cNvSpPr txBox="1"/>
          <p:nvPr/>
        </p:nvSpPr>
        <p:spPr>
          <a:xfrm rot="0" flipH="0" flipV="0">
            <a:off x="1809750" y="325755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变更交期（需人确认）、发起验收、关闭订单（需人确认）</a:t>
            </a:r>
            <a:endParaRPr/>
          </a:p>
        </p:txBody>
      </p:sp>
      <p:sp>
        <p:nvSpPr>
          <p:cNvPr id="1693" name=""/>
          <p:cNvSpPr/>
          <p:nvPr/>
        </p:nvSpPr>
        <p:spPr>
          <a:xfrm rot="0" flipH="0" flipV="0">
            <a:off x="762000" y="3505200"/>
            <a:ext cx="5791200" cy="295275"/>
          </a:xfrm>
          <a:custGeom>
            <a:pathLst>
              <a:path w="608" h="31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94" name="" descr="{&quot;isTemplate&quot;:true,&quot;type&quot;:&quot;text&quot;}"/>
          <p:cNvSpPr txBox="1"/>
          <p:nvPr/>
        </p:nvSpPr>
        <p:spPr>
          <a:xfrm rot="0" flipH="0" flipV="0">
            <a:off x="762000" y="358140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停手条件</a:t>
            </a:r>
            <a:endParaRPr/>
          </a:p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1809750" y="355282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涉及金额调整、客户投诉升级、首次违约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一律转人</a:t>
            </a:r>
            <a:endParaRPr/>
          </a:p>
        </p:txBody>
      </p:sp>
      <p:sp>
        <p:nvSpPr>
          <p:cNvPr id="1696" name=""/>
          <p:cNvSpPr/>
          <p:nvPr/>
        </p:nvSpPr>
        <p:spPr>
          <a:xfrm rot="0" flipH="0" flipV="0">
            <a:off x="762000" y="3790950"/>
            <a:ext cx="5791200" cy="304800"/>
          </a:xfrm>
          <a:custGeom>
            <a:pathLst>
              <a:path w="608" h="32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697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能力档位</a:t>
            </a:r>
            <a:endParaRPr/>
          </a:p>
        </p:txBody>
      </p:sp>
      <p:sp>
        <p:nvSpPr>
          <p:cNvPr id="1698" name="" descr="{&quot;isTemplate&quot;:true,&quot;type&quot;:&quot;text&quot;}"/>
          <p:cNvSpPr txBox="1"/>
          <p:nvPr/>
        </p:nvSpPr>
        <p:spPr>
          <a:xfrm rot="0" flipH="0" flipV="0">
            <a:off x="1809750" y="3838575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只给建议，试运行三个月后再评估升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L2</a:t>
            </a:r>
            <a:endParaRPr/>
          </a:p>
        </p:txBody>
      </p:sp>
      <p:sp>
        <p:nvSpPr>
          <p:cNvPr id="1699" name=""/>
          <p:cNvSpPr/>
          <p:nvPr/>
        </p:nvSpPr>
        <p:spPr>
          <a:xfrm rot="0" flipH="0" flipV="0">
            <a:off x="762000" y="4086225"/>
            <a:ext cx="5791200" cy="295275"/>
          </a:xfrm>
          <a:custGeom>
            <a:pathLst>
              <a:path w="608" h="31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762000" y="416242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质量底线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1809750" y="413385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建议准确率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≥ 90%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；漏报率必须为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，宁可多报</a:t>
            </a:r>
            <a:endParaRPr/>
          </a:p>
        </p:txBody>
      </p:sp>
      <p:sp>
        <p:nvSpPr>
          <p:cNvPr id="1702" name=""/>
          <p:cNvSpPr/>
          <p:nvPr/>
        </p:nvSpPr>
        <p:spPr>
          <a:xfrm rot="0" flipH="0" flipV="0">
            <a:off x="762000" y="4371975"/>
            <a:ext cx="5791200" cy="304800"/>
          </a:xfrm>
          <a:custGeom>
            <a:pathLst>
              <a:path w="608" h="32">
                <a:moveTo>
                  <a:pt x="0" y="0"/>
                </a:moveTo>
                <a:lnTo>
                  <a:pt x="608" y="0"/>
                </a:lnTo>
                <a:lnTo>
                  <a:pt x="60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03" name="" descr="{&quot;isTemplate&quot;:true,&quot;type&quot;:&quot;text&quot;}"/>
          <p:cNvSpPr txBox="1"/>
          <p:nvPr/>
        </p:nvSpPr>
        <p:spPr>
          <a:xfrm rot="0" flipH="0" flipV="0">
            <a:off x="762000" y="4448175"/>
            <a:ext cx="933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失败回退</a:t>
            </a:r>
            <a:endParaRPr/>
          </a:p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1809750" y="4419600"/>
            <a:ext cx="47434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任一步失败即全流程转人工，工作流状态不改</a:t>
            </a:r>
            <a:endParaRPr/>
          </a:p>
        </p:txBody>
      </p:sp>
      <p:sp>
        <p:nvSpPr>
          <p:cNvPr id="1705" name=""/>
          <p:cNvSpPr/>
          <p:nvPr/>
        </p:nvSpPr>
        <p:spPr>
          <a:xfrm rot="0" flipH="0" flipV="0">
            <a:off x="609600" y="4857750"/>
            <a:ext cx="6096000" cy="742950"/>
          </a:xfrm>
          <a:prstGeom prst="roundRect">
            <a:avLst>
              <a:gd name="adj" fmla="val 512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06" name="" descr="{&quot;isTemplate&quot;:true,&quot;type&quot;:&quot;text&quot;}"/>
          <p:cNvSpPr txBox="1"/>
          <p:nvPr/>
        </p:nvSpPr>
        <p:spPr>
          <a:xfrm rot="0" flipH="0" flipV="0">
            <a:off x="762000" y="4905375"/>
            <a:ext cx="579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签字之前必须回答的一句话</a:t>
            </a:r>
            <a:endParaRPr/>
          </a:p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762000" y="5114925"/>
            <a:ext cx="57912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「如果它今天完全跑不起来，谁的哪部分工作会受影响、影响多大？」答不出来，说明这个岗位还没设计清楚，先别做。</a:t>
            </a:r>
            <a:endParaRPr/>
          </a:p>
        </p:txBody>
      </p:sp>
      <p:sp>
        <p:nvSpPr>
          <p:cNvPr id="1708" name="" descr="{&quot;isTemplate&quot;:true,&quot;type&quot;:&quot;text&quot;}"/>
          <p:cNvSpPr txBox="1"/>
          <p:nvPr/>
        </p:nvSpPr>
        <p:spPr>
          <a:xfrm rot="0" flipH="0" flipV="0">
            <a:off x="6877050" y="1343025"/>
            <a:ext cx="4705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六条不合格判据</a:t>
            </a:r>
            <a:endParaRPr/>
          </a:p>
        </p:txBody>
      </p:sp>
      <p:sp>
        <p:nvSpPr>
          <p:cNvPr id="1709" name=""/>
          <p:cNvSpPr/>
          <p:nvPr/>
        </p:nvSpPr>
        <p:spPr>
          <a:xfrm rot="0" flipH="0" flipV="0">
            <a:off x="6915150" y="1638300"/>
            <a:ext cx="4705350" cy="504825"/>
          </a:xfrm>
          <a:prstGeom prst="roundRect">
            <a:avLst>
              <a:gd name="adj" fmla="val 75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10" name=""/>
          <p:cNvSpPr/>
          <p:nvPr/>
        </p:nvSpPr>
        <p:spPr>
          <a:xfrm rot="0" flipH="0" flipV="0">
            <a:off x="6915150" y="1638300"/>
            <a:ext cx="4705350" cy="504825"/>
          </a:xfrm>
          <a:custGeom>
            <a:pathLst>
              <a:path w="494" h="53">
                <a:moveTo>
                  <a:pt x="4" y="53"/>
                </a:moveTo>
                <a:cubicBezTo>
                  <a:pt x="2" y="53"/>
                  <a:pt x="0" y="51"/>
                  <a:pt x="0" y="4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11" name="" descr="{&quot;isTemplate&quot;:true,&quot;type&quot;:&quot;text&quot;}"/>
          <p:cNvSpPr txBox="1"/>
          <p:nvPr/>
        </p:nvSpPr>
        <p:spPr>
          <a:xfrm rot="0" flipH="0" flipV="0">
            <a:off x="7048500" y="1714500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职责写成了「回答问题」</a:t>
            </a:r>
            <a:endParaRPr/>
          </a:p>
        </p:txBody>
      </p:sp>
      <p:sp>
        <p:nvSpPr>
          <p:cNvPr id="1712" name="" descr="{&quot;isTemplate&quot;:true,&quot;type&quot;:&quot;text&quot;}"/>
          <p:cNvSpPr txBox="1"/>
          <p:nvPr/>
        </p:nvSpPr>
        <p:spPr>
          <a:xfrm rot="0" flipH="0" flipV="0">
            <a:off x="7048500" y="188595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那不是岗位，是搜索框</a:t>
            </a:r>
            <a:endParaRPr/>
          </a:p>
        </p:txBody>
      </p:sp>
      <p:sp>
        <p:nvSpPr>
          <p:cNvPr id="1713" name=""/>
          <p:cNvSpPr/>
          <p:nvPr/>
        </p:nvSpPr>
        <p:spPr>
          <a:xfrm rot="0" flipH="0" flipV="0">
            <a:off x="6915150" y="2209800"/>
            <a:ext cx="4705350" cy="495300"/>
          </a:xfrm>
          <a:prstGeom prst="roundRect">
            <a:avLst>
              <a:gd name="adj" fmla="val 769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14" name=""/>
          <p:cNvSpPr/>
          <p:nvPr/>
        </p:nvSpPr>
        <p:spPr>
          <a:xfrm rot="0" flipH="0" flipV="0">
            <a:off x="6915150" y="2209800"/>
            <a:ext cx="4705350" cy="495300"/>
          </a:xfrm>
          <a:custGeom>
            <a:pathLst>
              <a:path w="494" h="52">
                <a:moveTo>
                  <a:pt x="4" y="52"/>
                </a:moveTo>
                <a:cubicBezTo>
                  <a:pt x="2" y="52"/>
                  <a:pt x="0" y="50"/>
                  <a:pt x="0" y="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15" name="" descr="{&quot;isTemplate&quot;:true,&quot;type&quot;:&quot;text&quot;}"/>
          <p:cNvSpPr txBox="1"/>
          <p:nvPr/>
        </p:nvSpPr>
        <p:spPr>
          <a:xfrm rot="0" flipH="0" flipV="0">
            <a:off x="7048500" y="2276475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可读对象写「全部数据」</a:t>
            </a:r>
            <a:endParaRPr/>
          </a:p>
        </p:txBody>
      </p:sp>
      <p:sp>
        <p:nvSpPr>
          <p:cNvPr id="1716" name="" descr="{&quot;isTemplate&quot;:true,&quot;type&quot;:&quot;text&quot;}"/>
          <p:cNvSpPr txBox="1"/>
          <p:nvPr/>
        </p:nvSpPr>
        <p:spPr>
          <a:xfrm rot="0" flipH="0" flipV="0">
            <a:off x="7048500" y="2447925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上下文必然爆炸，权限也无从评审</a:t>
            </a:r>
            <a:endParaRPr/>
          </a:p>
        </p:txBody>
      </p:sp>
      <p:sp>
        <p:nvSpPr>
          <p:cNvPr id="1717" name=""/>
          <p:cNvSpPr/>
          <p:nvPr/>
        </p:nvSpPr>
        <p:spPr>
          <a:xfrm rot="0" flipH="0" flipV="0">
            <a:off x="6915150" y="2771775"/>
            <a:ext cx="4705350" cy="504825"/>
          </a:xfrm>
          <a:prstGeom prst="roundRect">
            <a:avLst>
              <a:gd name="adj" fmla="val 75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18" name=""/>
          <p:cNvSpPr/>
          <p:nvPr/>
        </p:nvSpPr>
        <p:spPr>
          <a:xfrm rot="0" flipH="0" flipV="0">
            <a:off x="6915150" y="2771775"/>
            <a:ext cx="4705350" cy="504825"/>
          </a:xfrm>
          <a:custGeom>
            <a:pathLst>
              <a:path w="494" h="53">
                <a:moveTo>
                  <a:pt x="4" y="53"/>
                </a:moveTo>
                <a:cubicBezTo>
                  <a:pt x="2" y="53"/>
                  <a:pt x="0" y="51"/>
                  <a:pt x="0" y="4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19" name="" descr="{&quot;isTemplate&quot;:true,&quot;type&quot;:&quot;text&quot;}"/>
          <p:cNvSpPr txBox="1"/>
          <p:nvPr/>
        </p:nvSpPr>
        <p:spPr>
          <a:xfrm rot="0" flipH="0" flipV="0">
            <a:off x="7048500" y="2847975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停手条件写「视情况而定」</a:t>
            </a:r>
            <a:endParaRPr/>
          </a:p>
        </p:txBody>
      </p:sp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7048500" y="3019425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等于没有，事故时一定来不及</a:t>
            </a:r>
            <a:endParaRPr/>
          </a:p>
        </p:txBody>
      </p:sp>
      <p:sp>
        <p:nvSpPr>
          <p:cNvPr id="1721" name=""/>
          <p:cNvSpPr/>
          <p:nvPr/>
        </p:nvSpPr>
        <p:spPr>
          <a:xfrm rot="0" flipH="0" flipV="0">
            <a:off x="6915150" y="3343275"/>
            <a:ext cx="4705350" cy="504825"/>
          </a:xfrm>
          <a:prstGeom prst="roundRect">
            <a:avLst>
              <a:gd name="adj" fmla="val 75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22" name=""/>
          <p:cNvSpPr/>
          <p:nvPr/>
        </p:nvSpPr>
        <p:spPr>
          <a:xfrm rot="0" flipH="0" flipV="0">
            <a:off x="6915150" y="3343275"/>
            <a:ext cx="4705350" cy="504825"/>
          </a:xfrm>
          <a:custGeom>
            <a:pathLst>
              <a:path w="494" h="53">
                <a:moveTo>
                  <a:pt x="4" y="53"/>
                </a:moveTo>
                <a:cubicBezTo>
                  <a:pt x="2" y="53"/>
                  <a:pt x="0" y="51"/>
                  <a:pt x="0" y="4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7048500" y="3419475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质量底线没数字</a:t>
            </a:r>
            <a:endParaRPr/>
          </a:p>
        </p:txBody>
      </p:sp>
      <p:sp>
        <p:nvSpPr>
          <p:cNvPr id="1724" name="" descr="{&quot;isTemplate&quot;:true,&quot;type&quot;:&quot;text&quot;}"/>
          <p:cNvSpPr txBox="1"/>
          <p:nvPr/>
        </p:nvSpPr>
        <p:spPr>
          <a:xfrm rot="0" flipH="0" flipV="0">
            <a:off x="7048500" y="3590925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「尽量准确」无法验收，也无法触发降级</a:t>
            </a:r>
            <a:endParaRPr/>
          </a:p>
        </p:txBody>
      </p:sp>
      <p:sp>
        <p:nvSpPr>
          <p:cNvPr id="1725" name=""/>
          <p:cNvSpPr/>
          <p:nvPr/>
        </p:nvSpPr>
        <p:spPr>
          <a:xfrm rot="0" flipH="0" flipV="0">
            <a:off x="6915150" y="3914775"/>
            <a:ext cx="4705350" cy="495300"/>
          </a:xfrm>
          <a:prstGeom prst="roundRect">
            <a:avLst>
              <a:gd name="adj" fmla="val 769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26" name=""/>
          <p:cNvSpPr/>
          <p:nvPr/>
        </p:nvSpPr>
        <p:spPr>
          <a:xfrm rot="0" flipH="0" flipV="0">
            <a:off x="6915150" y="3914775"/>
            <a:ext cx="4705350" cy="495300"/>
          </a:xfrm>
          <a:custGeom>
            <a:pathLst>
              <a:path w="494" h="52">
                <a:moveTo>
                  <a:pt x="4" y="52"/>
                </a:moveTo>
                <a:cubicBezTo>
                  <a:pt x="2" y="52"/>
                  <a:pt x="0" y="50"/>
                  <a:pt x="0" y="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27" name="" descr="{&quot;isTemplate&quot;:true,&quot;type&quot;:&quot;text&quot;}"/>
          <p:cNvSpPr txBox="1"/>
          <p:nvPr/>
        </p:nvSpPr>
        <p:spPr>
          <a:xfrm rot="0" flipH="0" flipV="0">
            <a:off x="7048500" y="3981450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失败回退写「人工介入」</a:t>
            </a:r>
            <a:endParaRPr/>
          </a:p>
        </p:txBody>
      </p:sp>
      <p:sp>
        <p:nvSpPr>
          <p:cNvPr id="1728" name="" descr="{&quot;isTemplate&quot;:true,&quot;type&quot;:&quot;text&quot;}"/>
          <p:cNvSpPr txBox="1"/>
          <p:nvPr/>
        </p:nvSpPr>
        <p:spPr>
          <a:xfrm rot="0" flipH="0" flipV="0">
            <a:off x="7048500" y="41529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要写清转给谁、转什么状态、多久到人</a:t>
            </a:r>
            <a:endParaRPr/>
          </a:p>
        </p:txBody>
      </p:sp>
      <p:sp>
        <p:nvSpPr>
          <p:cNvPr id="1729" name=""/>
          <p:cNvSpPr/>
          <p:nvPr/>
        </p:nvSpPr>
        <p:spPr>
          <a:xfrm rot="0" flipH="0" flipV="0">
            <a:off x="6915150" y="4476750"/>
            <a:ext cx="4705350" cy="504825"/>
          </a:xfrm>
          <a:prstGeom prst="roundRect">
            <a:avLst>
              <a:gd name="adj" fmla="val 754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730" name=""/>
          <p:cNvSpPr/>
          <p:nvPr/>
        </p:nvSpPr>
        <p:spPr>
          <a:xfrm rot="0" flipH="0" flipV="0">
            <a:off x="6915150" y="4476750"/>
            <a:ext cx="4705350" cy="504825"/>
          </a:xfrm>
          <a:custGeom>
            <a:pathLst>
              <a:path w="494" h="53">
                <a:moveTo>
                  <a:pt x="4" y="53"/>
                </a:moveTo>
                <a:cubicBezTo>
                  <a:pt x="2" y="53"/>
                  <a:pt x="0" y="51"/>
                  <a:pt x="0" y="4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731" name="" descr="{&quot;isTemplate&quot;:true,&quot;type&quot;:&quot;text&quot;}"/>
          <p:cNvSpPr txBox="1"/>
          <p:nvPr/>
        </p:nvSpPr>
        <p:spPr>
          <a:xfrm rot="0" flipH="0" flipV="0">
            <a:off x="7048500" y="4552950"/>
            <a:ext cx="440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没写服务对象</a:t>
            </a:r>
            <a:endParaRPr/>
          </a:p>
        </p:txBody>
      </p:sp>
      <p:sp>
        <p:nvSpPr>
          <p:cNvPr id="1732" name="" descr="{&quot;isTemplate&quot;:true,&quot;type&quot;:&quot;text&quot;}"/>
          <p:cNvSpPr txBox="1"/>
          <p:nvPr/>
        </p:nvSpPr>
        <p:spPr>
          <a:xfrm rot="0" flipH="0" flipV="0">
            <a:off x="7048500" y="4724400"/>
            <a:ext cx="440055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权限和验收标准都无从确定</a:t>
            </a:r>
            <a:endParaRPr/>
          </a:p>
        </p:txBody>
      </p:sp>
      <p:sp>
        <p:nvSpPr>
          <p:cNvPr id="1733" name=""/>
          <p:cNvSpPr/>
          <p:nvPr/>
        </p:nvSpPr>
        <p:spPr>
          <a:xfrm rot="0" flipH="0" flipV="0">
            <a:off x="6877050" y="5048250"/>
            <a:ext cx="4705350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7010400" y="5124450"/>
            <a:ext cx="44386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第六条最常被漏。没写服务对象，就无法回答「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看到的是谁的权限」，权限泄漏风险直接上升一个等级。</a:t>
            </a:r>
            <a:endParaRPr/>
          </a:p>
        </p:txBody>
      </p:sp>
      <p:sp>
        <p:nvSpPr>
          <p:cNvPr id="173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73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73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09 / 30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4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   之内容：&lt;span style={{ color: '#FA4F24' }}&gt;上下文工程四问&lt;/span&gt;，比调模型更影响结果&#10;        &lt;/Text&gt;&#10;  &lt;Text style={{ fontSize: 20, color: '#8A8F99', marginTop: 8 }}&gt;&#10;     模型只看得见你给它的东西。这一页决定它看得见什么、看不见什么&#10;        &lt;/Text&gt;&#10; &lt;/Box&gt;&#10;    &lt;Box style={{ height: 1, background: '#E8E8E8' }} /&gt;&#10;&#10;    &lt;Box style={{ paddingTop: 22, paddingBottom: 12, height: 479, flexDirection: 'row', gap: 18 }}&gt;&#10;      {/* 左四问 */}&#10;        &lt;Box style={{ flex: 1, flexDirection: 'column', gap: 8 }}&gt;&#10;   {[&#10;  { n: 'Q1', t: '塞什么', d: '只塞这一轮判断必需的事实，不塞「相关的一切」', c: '#0F1423' },&#10;    { n: 'Q2', t: '塞多少', d: '上下文窗口是有限资源，超出会报错或截断', c: '#2A2F3D' },&#10;            { n: 'Q3', t: '怎么压缩', d: '长历史要压成结构化摘要，压完要验没压掉关键条件', c: '#5A6072' },&#10;     { n: 'Q4', t: '怎么隔离', d: '不可信内容要明确标记，不能与指令混在一起', c: '#FA4F24' },&#10;        ].map((it, i) =&gt; (&#10;      &lt;Box key={i} style={{ flex: 1, background: it.c, borderRadius: 4, padding: '0 16px', flexDirection: 'row', alignItems: 'center', gap: 13 }}&gt;&#10;     &lt;Text style={{ fontSize: 16, fontWeight: 'bold', color: '#FBA15C', width: 30 }}&gt;{it.n}&lt;/Text&gt;&#10;      &lt;Text style={{ fontSize: 18, fontWeight: 'bold', color: '#FFFFFF', width: 84 }}&gt;{it.t}&lt;/Text&gt;&#10;        &lt;Text style={{ fontSize: 13, color: 'rgba(255,255,255,0.9)', flex: 1, lineHeight: 1.4 }}&gt;{it.d}&lt;/Text&gt;&#10;   &lt;/Box&gt;&#10;       ))}&#10;      &lt;Box style={{ height: 86, background: '#0F1423', borderRadius: 4, padding: '12px 16px', flexDirection: 'column', justifyContent: 'center' }}&gt;&#10;        &lt;Text style={{ fontSize: 14, fontWeight: 'bold', color: '#FBA15C' }}&gt;上下文窗口里到底装了什么&lt;/Text&gt;&#10;        &lt;Text style={{ fontSize: 13, color: 'rgba(255,255,255,0.9)', lineHeight: 1.5, marginTop: 5 }}&gt;&#10;          系统提示词与指令说明、对话历史、这一轮检索回来的上下文、应用变量，以及工具本身的描述。全都算。所以「工具多」和「技能多」都会直接吃掉预算。&#10;        &lt;/Text&gt;&#10;      &lt;/Box&gt;&#10;        &lt;/Box&gt;&#10;&#10;      {/* 右：两种错误做法 + 规格书 */}&#10;        &lt;Box style={{ flex: 1, flexDirection: 'column', gap: 8 }}&gt;&#10;      &lt;Text style={{ fontSize: 20, fontWeight: 'bold', color: '#0F1423' }}&gt;两种最常见的错误做法&lt;/Text&gt;&#10;          {[&#10;            { t: '把所有工具描述全量注入', d: '工具一多，模型选错工具的概率明显上升；正确做法是按岗位裁剪，只给这个岗位真正用得上的', fix: '工具按岗位做作用域，不是全量可见' },&#10;   { t: '把检索到的原文直接拼进提示', d: '一是不准，二是原文里的「忽略前面的话」这类内容会被当指令执行', fix: '不可信内容必须包在明确的边界标记里' },&#10;   ].map((it, i) =&gt; (&#10;          &lt;Box key={i} style={{ flex: 1, background: '#FFF3EE', borderRadius: 4, padding: '12px 14px', flexDirection: 'column', justifyContent: 'center', borderLeft: '4px solid #FBA15C' }}&gt;&#10;    &lt;Text style={{ fontSize: 14, fontWeight: 'bold', color: '#C43A17' }}&gt;{it.t}&lt;/Text&gt;&#10;            &lt;Text style={{ fontSize: 13, color: '#3A2000', lineHeight: 1.4, marginTop: 4 }}&gt;{it.d}&lt;/Text&gt;&#10;    &lt;Text style={{ fontSize: 12, color: '#8A5A20', lineHeight: 1.35, marginTop: 6 }}&gt;正确做法：{it.fix}&lt;/Text&gt;&#10;        &lt;/Box&gt;&#10;       ))}&#10;       &lt;Text style={{ fontSize: 20, fontWeight: 'bold', color: '#0F1423', marginTop: 4 }}&gt;上下文规格书要写五项&lt;/Text&gt;&#10;          {[&#10;        { k: '来源', v: '每一项来自哪个对象或数据集' },&#10;            { k: '预算', v: '单轮上限、整场会话上限' },&#10;            { k: '时效', v: '多久重取一次，过期如何标注' },&#10;      { k: '压缩规则', v: '什么条件下触发压缩，压成什么样' },&#10;            { k: '不可信标记', v: '哪些内容来自外部，必须隔离' },&#10;          ].map((it, i) =&gt; (&#10;   &lt;Box key={i} style={{ flex: 1, background: '#F7F7F8', borderRadius: 4, padding: '0 14px', flexDirection: 'row', alignItems: 'center', gap: 12 }}&gt;&#10;      &lt;Text style={{ fontSize: 13, fontWeight: 'bold', color: '#C43A17', width: 82 }}&gt;{it.k}&lt;/Text&gt;&#10;        &lt;Text style={{ fontSize: 13, color: '#3A4050', flex: 1, lineHeight: 1.35 }}&gt;{it.v}&lt;/Text&gt;&#10;   &lt;/Box&gt;&#10;       ))}&#10;    &lt;/Box&gt;&#10;    &lt;/Box&gt;&#10;&#10;    &lt;Box style={{ height: 58, flexDirection: 'row', alignItems: 'center', borderTop: '1px solid #E8E8E8' }}&gt;&#10;  &lt;Box style={{ width: 10, height: 10, background: '#FA4F24' }} /&gt;&#10;   &lt;Text style={{ fontSize: 13, color: '#8A8F99', marginLeft: 12 }}&gt;硕磐机密 · Agent智能体咨询方法论&lt;/Text&gt;&#10;    &lt;Text style={{ fontSize: 13, color: '#8A8F99', marginLeft: 'auto' }}&gt;10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上下文工程四问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，比调模型更影响结果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模型只看得见你给它的东西。这一页决定它看得见什么、看不见什么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609600" y="1362075"/>
            <a:ext cx="5400675" cy="781050"/>
          </a:xfrm>
          <a:prstGeom prst="roundRect">
            <a:avLst>
              <a:gd name="adj" fmla="val 487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62000" y="16573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>Q1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71575" y="164782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塞什么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095500" y="1647825"/>
            <a:ext cx="3762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只塞这一轮判断必需的事实，不塞「相关的一切」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2219325"/>
            <a:ext cx="5400675" cy="781050"/>
          </a:xfrm>
          <a:prstGeom prst="roundRect">
            <a:avLst>
              <a:gd name="adj" fmla="val 4878"/>
            </a:avLst>
          </a:prstGeom>
          <a:solidFill>
            <a:srgbClr val="2A2F3D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62000" y="251460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>Q2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171575" y="25050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塞多少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2095500" y="2505075"/>
            <a:ext cx="3762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上下文窗口是有限资源，超出会报错或截断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609600" y="3076575"/>
            <a:ext cx="5400675" cy="771525"/>
          </a:xfrm>
          <a:prstGeom prst="roundRect">
            <a:avLst>
              <a:gd name="adj" fmla="val 4938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>Q3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71575" y="336232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怎么压缩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2095500" y="3362325"/>
            <a:ext cx="3762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长历史要压成结构化摘要，压完要验没压掉关键条件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609600" y="3924300"/>
            <a:ext cx="5400675" cy="781050"/>
          </a:xfrm>
          <a:prstGeom prst="roundRect">
            <a:avLst>
              <a:gd name="adj" fmla="val 4878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62000" y="4219575"/>
            <a:ext cx="28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BA15C"/>
                </a:solidFill>
                <a:latin typeface="Microsoft YaHei"/>
                <a:ea typeface="Microsoft YaHei"/>
              </a:rPr>
              <a:t>Q4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71575" y="4210050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怎么隔离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095500" y="4210050"/>
            <a:ext cx="37623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不可信内容要明确标记，不能与指令混在一起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4781550"/>
            <a:ext cx="5400675" cy="819150"/>
          </a:xfrm>
          <a:prstGeom prst="roundRect">
            <a:avLst>
              <a:gd name="adj" fmla="val 465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486727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上下文窗口里到底装了什么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62000" y="5076825"/>
            <a:ext cx="50958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系统提示词与指令说明、对话历史、这一轮检索回来的上下文、应用变量，以及工具本身的描述。全都算。所以「工具多」和「技能多」都会直接吃掉预算。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两种最常见的错误做法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6219825" y="1666875"/>
            <a:ext cx="5400675" cy="1114425"/>
          </a:xfrm>
          <a:prstGeom prst="roundRect">
            <a:avLst>
              <a:gd name="adj" fmla="val 3419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6219825" y="1666875"/>
            <a:ext cx="5400675" cy="1114425"/>
          </a:xfrm>
          <a:custGeom>
            <a:pathLst>
              <a:path w="567" h="117">
                <a:moveTo>
                  <a:pt x="4" y="117"/>
                </a:moveTo>
                <a:cubicBezTo>
                  <a:pt x="2" y="117"/>
                  <a:pt x="0" y="115"/>
                  <a:pt x="0" y="11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7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353175" y="179070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把所有工具描述全量注入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353175" y="1990725"/>
            <a:ext cx="5095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工具一多，模型选错工具的概率明显上升；正确做法是按岗位裁剪，只给这个岗位真正用得上的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353175" y="2466975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正确做法：</a:t>
            </a: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工具按岗位做作用域，不是全量可见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219825" y="2857500"/>
            <a:ext cx="5400675" cy="895350"/>
          </a:xfrm>
          <a:prstGeom prst="roundRect">
            <a:avLst>
              <a:gd name="adj" fmla="val 425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6219825" y="2857500"/>
            <a:ext cx="5400675" cy="895350"/>
          </a:xfrm>
          <a:custGeom>
            <a:pathLst>
              <a:path w="567" h="94">
                <a:moveTo>
                  <a:pt x="4" y="94"/>
                </a:moveTo>
                <a:cubicBezTo>
                  <a:pt x="2" y="94"/>
                  <a:pt x="0" y="92"/>
                  <a:pt x="0" y="9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4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353175" y="2981325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把检索到的原文直接拼进提示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353175" y="3181350"/>
            <a:ext cx="50958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一是不准，二是原文里的「忽略前面的话」这类内容会被当指令执行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53175" y="3448050"/>
            <a:ext cx="50958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正确做法：</a:t>
            </a:r>
            <a:r>
              <a:rPr lang="zh-CN" sz="900">
                <a:solidFill>
                  <a:srgbClr val="8A5A20"/>
                </a:solidFill>
                <a:latin typeface="Microsoft YaHei"/>
                <a:ea typeface="Microsoft YaHei"/>
              </a:rPr>
              <a:t>不可信内容必须包在明确的边界标记里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181725" y="3867150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上下文规格书要写五项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181725" y="4171950"/>
            <a:ext cx="5400675" cy="22860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315075" y="4210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10425" y="4181475"/>
            <a:ext cx="42386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每一项来自哪个对象或数据集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181725" y="4476750"/>
            <a:ext cx="5400675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315075" y="45148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预算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210425" y="4486275"/>
            <a:ext cx="42386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单轮上限、整场会话上限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181725" y="4772025"/>
            <a:ext cx="5400675" cy="22860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315075" y="4810125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时效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210425" y="4781550"/>
            <a:ext cx="42386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多久重取一次，过期如何标注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181725" y="5076825"/>
            <a:ext cx="5400675" cy="219075"/>
          </a:xfrm>
          <a:prstGeom prst="roundRect">
            <a:avLst>
              <a:gd name="adj" fmla="val 1739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15075" y="5114925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压缩规则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210425" y="5086350"/>
            <a:ext cx="42386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什么条件下触发压缩，压成什么样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181725" y="5372100"/>
            <a:ext cx="5400675" cy="228600"/>
          </a:xfrm>
          <a:prstGeom prst="roundRect">
            <a:avLst>
              <a:gd name="adj" fmla="val 166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315075" y="541020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不可信标记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210425" y="5381625"/>
            <a:ext cx="42386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哪些内容来自外部，必须隔离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10 / 30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9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right: 70, top: 110 }}&gt;&#10;        &lt;Text style={{ fontSize: 300, fontWeight: 'bold', color: 'rgba(255,255,255,0.08)', lineHeight: 1.0 }}&gt;02&lt;/Text&gt;&#10; &lt;/Box&gt;&#10;&#10;    &lt;Box style={{ position: 'absolute', left: 88, top: 232, width: 660, flexDirection: 'column' }}&gt;&#10;     &lt;Text style={{ fontSize: 15, color: 'rgba(255,255,255,0.5)', letterSpacing: 3 }}&gt;PART 02&lt;/Text&gt;&#10;        &lt;Box style={{ width: 72, height: 5, background: '#FA4F24', marginTop: 22 }} /&gt;&#10; &lt;Text style={{ fontSize: 52, fontWeight: 'bold', color: '#FFFFFF', marginTop: 28, lineHeight: 1.15 }}&gt;Agent 与 Ontology&lt;/Text&gt;&#10;        &lt;Text style={{ fontSize: 17, color: 'rgba(255,255,255,0.62)', letterSpacing: 2, marginTop: 20 }}&gt;AGENT × ONTOLOGY&lt;/Text&gt;&#10;      &lt;Text style={{ fontSize: 19, color: 'rgba(255,255,255,0.85)', marginTop: 26, lineHeight: 1.6 }}&gt;本体是被调用的对象，Agent 是发起调用的角色&lt;/Text&gt;&#10;    &lt;/Box&gt;&#10;&#10;    &lt;Box style={{ position: 'absolute', right: 88, bottom: 64, flexDirection: 'row', alignItems: 'center', gap: 12 }}&gt;&#10;        &lt;Box style={{ width: 14, height: 14, background: '#FA4F24' }} /&gt;&#10;    &lt;Text style={{ fontSize: 14, color: 'rgba(255,255,255,0.5)' }}&gt;硕磐机密 · Agent智能体咨询方法论&lt;/Text&gt;&#10;        &lt;Text style={{ fontSize: 14, color: 'rgba(255,255,255,0.5)', marginLeft: 12 }}&gt;11 / 30&lt;/Text&gt;&#10;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02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Ontology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AGENT × ONTOLOGY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286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本体是被调用的对象，</a:t>
            </a: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是发起调用的角色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83153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562975" y="60864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11 / 30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2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    之方法：&lt;span style={{ color: '#FA4F24' }}&gt;Agent × Ontology 关系总览&lt;/span&gt;，谁供给、谁消费、谁回写&#10;        &lt;/Text&gt;&#10;        &lt;Text style={{ fontSize: 20, color: '#8A8F99', marginTop: 8 }}&gt;&#10;     这一册最重要的一张图，后面所有治理规则都从这里推出来&#10;        &lt;/Text&gt;&#10;    &lt;/Box&gt;&#10;    &lt;Box style={{ height: 1, background: '#E8E8E8' }} /&gt;&#10;&#10;    &lt;Box style={{ paddingTop: 20, paddingBottom: 12, height: 479, flexDirection: 'column', gap: 9 }}&gt;&#10;      {/* 闭环主干 */}&#10;      &lt;Box style={{ height: 128, flexDirection: 'row', alignItems: 'stretch', gap: 8 }}&gt;&#10; {[&#10; { n: '本体', d: '对象·链接·Action·权限', d2: '认知的唯一来源', c: '#0F1423' },&#10;          { a: '→', c: '#C9CCD4' },&#10;     { n: 'Agent', d: '岗位·指令·上下文·工具', d2: '判断与发起方', c: '#FA4F24', hot: true },&#10;       { a: '→', c: '#C9CCD4' },&#10;          { n: 'Action', d: '受控变更·校验·幂等', d2: '改变的唯一入口', c: '#0F1423' },&#10;          { a: '→', c: '#C9CCD4' },&#10;          { n: '源系统', d: 'ERP·CRM·工单', d2: '真实世界', c: '#0F1423' },&#10;        ].map((it, i) =&gt; (&#10;          it.a ? (&#10;     &lt;Box key={i} style={{ flexDirection: 'row', alignItems: 'center' }}&gt;&#10;     &lt;Text style={{ fontSize: 22, fontWeight: 'bold', color: it.c }}&gt;{it.a}&lt;/Text&gt;&#10;     &lt;/Box&gt;&#10;          ) : (&#10;      &lt;Box key={i} style={{ flex: 1, background: it.hot ? it.c : '#F7F7F8', borderRadius: 4, padding: '14px 12px', flexDirection: 'column', justifyContent: 'center', border: it.hot ? 'none' : '1px solid #E8E8E8' }}&gt;&#10;            &lt;Text style={{ fontSize: 20, fontWeight: 'bold', color: it.hot ? '#FFFFFF' : '#0F1423', textAlign: 'center' }}&gt;{it.n}&lt;/Text&gt;&#10;    &lt;Text style={{ fontSize: 12, color: it.hot ? 'rgba(255,255,255,0.92)' : '#3A4050', textAlign: 'center', lineHeight: 1.35, marginTop: 6 }}&gt;{it.d}&lt;/Text&gt;&#10;    &lt;Text style={{ fontSize: 12, color: it.hot ? 'rgba(255,255,255,0.7)' : '#8A8F99', textAlign: 'center', marginTop: 6 }}&gt;{it.d2}&lt;/Text&gt;&#10;   &lt;/Box&gt;&#10;     )&#10;        ))}&#10;      &lt;/Box&gt;&#10;&#10;  {/* 三个方向分别解释 */}&#10;      &lt;Box style={{ flex: 1, flexDirection: 'row', gap: 10 }}&gt;&#10;        {[&#10;      { t: '本体 → Agent：供认知', d: '对象、链接、SOP 都由本体提供。Agent 不持有任何私有业务事实，它知道的一切都必须能指向一个对象或一条链接', ex: '检索上下文、作业规程、授权判定' },&#10;   { t: 'Agent → 本体：发动作', d: 'Agent 只能发起 Action Type，不能自己拼 SQL 改数据、不能直连外部系统接口', ex: '工具 = Action 的封装，不是新的入口' },&#10;      { t: '本体 → Agent：回流判据', d: 'Agent 每次动作的结果与人工修正，都会回到本体，成为下一轮判断的依据', ex: '这才是 Agent 能越用越准的原因' },&#10;    ].map((it, i) =&gt; (&#10; &lt;Box key={i} style={{ flex: 1, background: i === 1 ? '#FA4F24' : '#F7F7F8', borderRadius: 4, padding: '13px 15px', flexDirection: 'column', justifyContent: 'center' }}&gt;&#10;    &lt;Text style={{ fontSize: 15, fontWeight: 'bold', color: i === 1 ? '#FFFFFF' : '#0F1423' }}&gt;{it.t}&lt;/Text&gt;&#10;      &lt;Text style={{ fontSize: 13, color: i === 1 ? 'rgba(255,255,255,0.95)' : '#3A4050', lineHeight: 1.45, marginTop: 7 }}&gt;{it.d}&lt;/Text&gt;&#10;    &lt;Box style={{ height: 1, background: i === 1 ? 'rgba(255,255,255,0.3)' : '#E8E8E8', marginTop: 8 }} /&gt;&#10;   &lt;Text style={{ fontSize: 12, color: i === 1 ? 'rgba(255,255,255,0.85)' : '#8A8F99', lineHeight: 1.35, marginTop: 8 }}&gt;{it.ex}&lt;/Text&gt;&#10;     &lt;/Box&gt;&#10;     ))}&#10;      &lt;/Box&gt;&#10;&#10;      {/* 一句话结论 */}&#10; &lt;Box style={{ height: 52, background: '#0F1423', borderRadius: 4, padding: '0 18px', flexDirection: 'row', alignItems: 'center', gap: 14 }}&gt;&#10;   &lt;Text style={{ fontSize: 14, fontWeight: 'bold', color: '#FBA15C' }}&gt;这一页要记住的&lt;/Text&gt;&#10;        &lt;Text style={{ fontSize: 14, color: 'rgba(255,255,255,0.95)', flex: 1, lineHeight: 1.4 }}&gt;&#10; 本体给 Agent 三样东西：事实、动作、以及边界。没有这三样，Agent 就是一个在猜的模型；有了这三样，它才是一个能被架构的岗位&#10;      &lt;/Text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&lt;Text style={{ fontSize: 13, color: '#8A8F99', marginLeft: 'auto' }}&gt;12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× Ontology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关系总览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，谁供给、谁消费、谁回写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这一册最重要的一张图，后面所有治理规则都从这里推出来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09600" y="1343025"/>
            <a:ext cx="24765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3900" y="1619250"/>
            <a:ext cx="2247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本体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23900" y="1905000"/>
            <a:ext cx="22479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对象·链接·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Action·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权限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23900" y="2152650"/>
            <a:ext cx="22479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认知的唯一来源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162300" y="18288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448050" y="1343025"/>
            <a:ext cx="2466975" cy="1219200"/>
          </a:xfrm>
          <a:prstGeom prst="roundRect">
            <a:avLst>
              <a:gd name="adj" fmla="val 3125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562350" y="1619250"/>
            <a:ext cx="223837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562350" y="1905000"/>
            <a:ext cx="22383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岗位·指令·上下文·工具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562350" y="2152650"/>
            <a:ext cx="2238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判断与发起方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991225" y="18288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276975" y="1343025"/>
            <a:ext cx="2476500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391275" y="1619250"/>
            <a:ext cx="2247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391275" y="1905000"/>
            <a:ext cx="224790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受控变更·校验·幂等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391275" y="2152650"/>
            <a:ext cx="22479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改变的唯一入口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829675" y="18288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C9CC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9115425" y="1343025"/>
            <a:ext cx="2466975" cy="1219200"/>
          </a:xfrm>
          <a:prstGeom prst="roundRect">
            <a:avLst>
              <a:gd name="adj" fmla="val 3125"/>
            </a:avLst>
          </a:prstGeom>
          <a:solidFill>
            <a:srgbClr val="F7F7F8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229725" y="1619250"/>
            <a:ext cx="2238375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源系统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229725" y="1905000"/>
            <a:ext cx="22383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35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ERP·CRM·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工单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229725" y="2152650"/>
            <a:ext cx="2238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真实世界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09600" y="2647950"/>
            <a:ext cx="3590925" cy="2371725"/>
          </a:xfrm>
          <a:prstGeom prst="roundRect">
            <a:avLst>
              <a:gd name="adj" fmla="val 16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52475" y="3324225"/>
            <a:ext cx="3305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Agent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：供认知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52475" y="3562350"/>
            <a:ext cx="33051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对象、链接、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都由本体提供。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不持有任何私有业务事实，它知道的一切都必须能指向一个对象或一条链接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52475" y="4076700"/>
            <a:ext cx="33051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52475" y="41624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检索上下文、作业规程、授权判定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4295775" y="2647950"/>
            <a:ext cx="3600450" cy="2371725"/>
          </a:xfrm>
          <a:prstGeom prst="roundRect">
            <a:avLst>
              <a:gd name="adj" fmla="val 160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38650" y="3324225"/>
            <a:ext cx="331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→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本体：发动作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438650" y="3562350"/>
            <a:ext cx="33147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只能发起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Action Type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，不能自己拼</a:t>
            </a:r>
            <a:r>
              <a:rPr lang="en-US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975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改数据、不能直连外部系统接口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4438650" y="4076700"/>
            <a:ext cx="33147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38650" y="41624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工具</a:t>
            </a:r>
            <a:r>
              <a:rPr lang="en-US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= Action </a:t>
            </a:r>
            <a:r>
              <a:rPr lang="zh-CN" sz="9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的封装，不是新的入口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991475" y="2647950"/>
            <a:ext cx="3590925" cy="2371725"/>
          </a:xfrm>
          <a:prstGeom prst="roundRect">
            <a:avLst>
              <a:gd name="adj" fmla="val 160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134350" y="3324225"/>
            <a:ext cx="3305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Agent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：回流判据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134350" y="3562350"/>
            <a:ext cx="33051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每次动作的结果与人工修正，都会回到本体，成为下一轮判断的依据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134350" y="4076700"/>
            <a:ext cx="3305175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134350" y="4162425"/>
            <a:ext cx="3305175" cy="1905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这才是</a:t>
            </a:r>
            <a:r>
              <a:rPr lang="en-US" sz="9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能越用越准的原因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5105400"/>
            <a:ext cx="10972800" cy="495300"/>
          </a:xfrm>
          <a:prstGeom prst="roundRect">
            <a:avLst>
              <a:gd name="adj" fmla="val 769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1050" y="52768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这一页要记住的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847850" y="5238750"/>
            <a:ext cx="9563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本体给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三样东西：事实、动作、以及边界。没有这三样，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就是一个在猜的模型；有了这三样，它才是一个能被架构的岗位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12 / 30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内容：&lt;span style={{ color: '#FA4F24' }}&gt;三条硬边界&lt;/span&gt;，这是 Agent 架构的宪法三条&#10;        &lt;/Text&gt;&#10;        &lt;Text style={{ fontSize: 20, color: '#8A8F99', marginTop: 8 }}&gt;&#10;     这三条守住了，Agent 就能过安全评审；破了一条，其他治理动作都白做&#10;        &lt;/Text&gt;&#10; &lt;/Box&gt;&#10;    &lt;Box style={{ height: 1, background: '#E8E8E8' }} /&gt;&#10;&#10;    &lt;Box style={{ paddingTop: 22, paddingBottom: 12, height: 479, flexDirection: 'column', gap: 9 }}&gt;&#10;      {/* 三条边界 */}&#10;      {[&#10;   { n: '边界一', t: 'Agent 的一切认知来自本体', r: '它自己不持有业务事实', bad: '把口径写在提示词里、把规则藏在代码注释里', why: '一旦脱离本体，同一个概念在两个 Agent 里就有两个解释', ok: '提示词里只写「怎么判断」，不写「事实是什么」', c: '#0F1423' },&#10;        { n: '边界二', t: 'Agent 的一切改变通过 Action', r: '它自己直连任何外部系统都算越权', bad: '自己拼 SQL 改数据、自己调外部接口写回', why: '绕过 Action 就绕过了校验、权限与审计', ok: '工具是 Action 的封装，不是新的数据入口', c: '#2A2F3D' },&#10;        { n: '边界三', t: 'Agent 以最终用户的身份执行', r: '它不是超级账号', bad: '用服务号统一高权，绕过个人权限', why: '一旦模型串味或被注入，个人数据就全暴露了', ok: '权限继承到最终用户，模型看不到的他也看不到', c: '#FA4F24' },&#10;      ].map((it, i) =&gt; (&#10;        &lt;Box key={i} style={{ flex: 1, background: '#F7F7F8', borderRadius: 4, padding: '12px 16px', flexDirection: 'column', justifyContent: 'center', borderLeft: '4px solid ' + it.c }}&gt;&#10;          &lt;Box style={{ flexDirection: 'row', alignItems: 'center', gap: 12 }}&gt;&#10;    &lt;Text style={{ fontSize: 13, fontWeight: 'bold', color: it.c, width: 54 }}&gt;{it.n}&lt;/Text&gt;&#10;       &lt;Text style={{ fontSize: 19, fontWeight: 'bold', color: '#0F1423', width: 320 }}&gt;{it.t}&lt;/Text&gt;&#10;          &lt;Text style={{ fontSize: 13, color: '#C43A17', flex: 1, lineHeight: 1.35 }}&gt;{it.r}&lt;/Text&gt;&#10;    &lt;/Box&gt;&#10;   &lt;Box style={{ flexDirection: 'row', alignItems: 'center', gap: 12, marginTop: 8 }}&gt;&#10;     &lt;Text style={{ fontSize: 12, color: '#C43A17', width: 54 }}&gt;✕&lt;/Text&gt;&#10;     &lt;Text style={{ fontSize: 13, color: '#8A8F99', width: 320, lineHeight: 1.35 }}&gt;{it.bad}&lt;/Text&gt;&#10;        &lt;Text style={{ fontSize: 13, color: '#3A4050', flex: 1, lineHeight: 1.35 }}&gt;{it.why}&lt;/Text&gt;&#10;   &lt;/Box&gt;&#10;    &lt;Box style={{ flexDirection: 'row', alignItems: 'center', gap: 12, marginTop: 5 }}&gt;&#10;            &lt;Text style={{ fontSize: 12, color: '#FA4F24', width: 54 }}&gt;✓&lt;/Text&gt;&#10;      &lt;Text style={{ fontSize: 13, color: '#5A6072', width: 320, lineHeight: 1.35 }}&gt;{it.ok}&lt;/Text&gt;&#10;     &lt;Text style={{ fontSize: 13, color: '#0F1423', flex: 1, fontWeight: 'bold', lineHeight: 1.35 }}&gt;{it.r}&lt;/Text&gt;&#10;          &lt;/Box&gt;&#10;        &lt;/Box&gt;&#10;      ))}&#10;&#10;      {/* 边界三的特别说明 */}&#10;      &lt;Box style={{ height: 66, background: '#0F1423', borderRadius: 4, padding: '0 18px', flexDirection: 'row', alignItems: 'center', gap: 14 }}&gt;&#10;        &lt;Text style={{ fontSize: 14, fontWeight: 'bold', color: '#FBA15C', width: 148 }}&gt;边界三为什么最要紧&lt;/Text&gt;&#10;        &lt;Text style={{ fontSize: 13, color: 'rgba(255,255,255,0.92)', flex: 1, lineHeight: 1.45 }}&gt;&#10;      边界一错了是口径不一致，边界二错了是审计缺失，只有边界三错了会直接造成数据泄露。而且它平时不出事 —— 出事就是一次注入攻击。所以这条必须由架构强制，不靠开发自觉。&#10;   &lt;/Text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   &lt;Text style={{ fontSize: 13, color: '#8A8F99', marginLeft: 'auto' }}&gt;13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三条硬边界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，这是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架构的宪法三条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这三条守住了，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就能过安全评审；破了一条，其他治理动作都白做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47700" y="1362075"/>
            <a:ext cx="10972800" cy="1114425"/>
          </a:xfrm>
          <a:prstGeom prst="roundRect">
            <a:avLst>
              <a:gd name="adj" fmla="val 34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47700" y="1362075"/>
            <a:ext cx="10972800" cy="1114425"/>
          </a:xfrm>
          <a:custGeom>
            <a:pathLst>
              <a:path w="1152" h="117">
                <a:moveTo>
                  <a:pt x="4" y="117"/>
                </a:moveTo>
                <a:cubicBezTo>
                  <a:pt x="2" y="117"/>
                  <a:pt x="0" y="115"/>
                  <a:pt x="0" y="11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7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15811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边界一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428750" y="15430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的一切认知来自本体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591050" y="1552575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它自己不持有业务事实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00100" y="187642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428750" y="1838325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把口径写在提示词里、把规则藏在代码注释里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4591050" y="1838325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一旦脱离本体，同一个概念在两个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里就有两个解释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0100" y="213360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428750" y="209550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提示词里只写「怎么判断」，不写「事实是什么」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591050" y="2095500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它自己不持有业务事实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47700" y="2562225"/>
            <a:ext cx="10972800" cy="1123950"/>
          </a:xfrm>
          <a:prstGeom prst="roundRect">
            <a:avLst>
              <a:gd name="adj" fmla="val 33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47700" y="2562225"/>
            <a:ext cx="10972800" cy="1123950"/>
          </a:xfrm>
          <a:custGeom>
            <a:pathLst>
              <a:path w="1152" h="118">
                <a:moveTo>
                  <a:pt x="4" y="118"/>
                </a:moveTo>
                <a:cubicBezTo>
                  <a:pt x="2" y="118"/>
                  <a:pt x="0" y="116"/>
                  <a:pt x="0" y="11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8"/>
                </a:lnTo>
                <a:close/>
              </a:path>
            </a:pathLst>
          </a:custGeom>
          <a:solidFill>
            <a:srgbClr val="2A2F3D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27813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A2F3D"/>
                </a:solidFill>
                <a:latin typeface="Microsoft YaHei"/>
                <a:ea typeface="Microsoft YaHei"/>
              </a:rPr>
              <a:t>边界二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428750" y="27432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的一切改变通过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Action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591050" y="2752725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它自己直连任何外部系统都算越权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00100" y="307657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428750" y="3038475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自己拼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SQL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改数据、自己调外部接口写回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4591050" y="3038475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绕过</a:t>
            </a:r>
            <a:r>
              <a:rPr lang="en-US" sz="975">
                <a:solidFill>
                  <a:srgbClr val="3A4050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就绕过了校验、权限与审计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00100" y="333375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428750" y="329565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工具是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的封装，不是新的数据入口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91050" y="3295650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它自己直连任何外部系统都算越权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47700" y="3771900"/>
            <a:ext cx="10972800" cy="1114425"/>
          </a:xfrm>
          <a:prstGeom prst="roundRect">
            <a:avLst>
              <a:gd name="adj" fmla="val 341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47700" y="3771900"/>
            <a:ext cx="10972800" cy="1114425"/>
          </a:xfrm>
          <a:custGeom>
            <a:pathLst>
              <a:path w="1152" h="117">
                <a:moveTo>
                  <a:pt x="4" y="117"/>
                </a:moveTo>
                <a:cubicBezTo>
                  <a:pt x="2" y="117"/>
                  <a:pt x="0" y="115"/>
                  <a:pt x="0" y="113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17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39909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A4F24"/>
                </a:solidFill>
                <a:latin typeface="Microsoft YaHei"/>
                <a:ea typeface="Microsoft YaHei"/>
              </a:rPr>
              <a:t>边界三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428750" y="3952875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以最终用户的身份执行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591050" y="3962400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它不是超级账号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4286250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43A17"/>
                </a:solidFill>
                <a:latin typeface="Microsoft YaHei"/>
                <a:ea typeface="Microsoft YaHei"/>
              </a:rPr>
              <a:t>✕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428750" y="4248150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用服务号统一高权，绕过个人权限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591050" y="4248150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一旦模型串味或被注入，个人数据就全暴露了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4543425"/>
            <a:ext cx="514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428750" y="4505325"/>
            <a:ext cx="30480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权限继承到最终用户，模型看不到的他也看不到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91050" y="4505325"/>
            <a:ext cx="683895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它不是超级账号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4972050"/>
            <a:ext cx="10972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边界三为什么最要紧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2324100" y="5067300"/>
            <a:ext cx="9086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边界一错了是口径不一致，边界二错了是审计缺失，只有边界三错了会直接造成数据泄露。而且它平时不出事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出事就是一次注入攻击。所以这条必须由架构强制，不靠开发自觉。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13 / 30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style={{ width: 1280, height: 720, background: '#FFFFFF', padding: '24px 64px 0' }}&gt;&#10;    &lt;Box style={{ height: 96, flexDirection: 'column', justifyContent: 'flex-start' }}&gt;&#10;     &lt;Text style={{ fontSize: 32, fontWeight: 'bold', color: '#0F1423' }}&gt;&#10; 之内容：&lt;span style={{ color: '#FA4F24' }}&gt;把 SOP 放进本体&lt;/span&gt;，让 Agent 知道按什么规程办事&#10;        &lt;/Text&gt;&#10;  &lt;Text style={{ fontSize: 20, color: '#8A8F99', marginTop: 8 }}&gt;&#10; 作业规程不进本体，Agent 就只能猜；进了本体，它就能被检索、被引用、被版本管理&#10;        &lt;/Text&gt;&#10;    &lt;/Box&gt;&#10;  &lt;Box style={{ height: 1, background: '#E8E8E8' }} /&gt;&#10;&#10;    &lt;Box style={{ paddingTop: 22, paddingBottom: 12, height: 479, flexDirection: 'row', gap: 18 }}&gt;&#10;      {/* 左：SOP 语义化 */}&#10;      &lt;Box style={{ flex: 1, flexDirection: 'column', gap: 8 }}&gt;&#10;            &lt;Text style={{ fontSize: 20, fontWeight: 'bold', color: '#0F1423' }}&gt;SOP 语义化：从文档到对象&lt;/Text&gt;&#10;            {[&#10;              { k: '拆条目', v: '把一份作业规程拆成一条条可独立触发的条目，不再是一整篇文档' },&#10;    { k: '挂对象', v: '每条挂到它管的对象类型上，标明适用场景与前置条件' },&#10;   { k: '标元数据', v: '给每条补上说明、适用场景、版本、生效日期、废止状态' },&#10;         { k: '连动作', v: '每条明确对应的动作类型与参数约束' },&#10;            ].map((it, i) =&gt; (&#10;       &lt;Box key={i} style={{ flex: 1, background: '#F7F7F8', borderRadius: 4, padding: '0 16px', flexDirection: 'row', alignItems: 'center', gap: 13 }}&gt;&#10;            &lt;Text style={{ fontSize: 14, fontWeight: 'bold', color: '#FA4F24', width: 68 }}&gt;{it.k}&lt;/Text&gt;&#10;     &lt;Text style={{ fontSize: 13, color: '#3A4050', flex: 1, lineHeight: 1.4 }}&gt;{it.v}&lt;/Text&gt;&#10;   &lt;/Box&gt;&#10;      ))}&#10;            &lt;Box style={{ height: 84, background: '#0F1423', borderRadius: 4, padding: '12px 16px', flexDirection: 'column', justifyContent: 'center' }}&gt;&#10;       &lt;Text style={{ fontSize: 14, fontWeight: 'bold', color: '#FBA15C' }}&gt;这一步为什么值得做&lt;/Text&gt;&#10;    &lt;Text style={{ fontSize: 13, color: 'rgba(255,255,255,0.9)', lineHeight: 1.5, marginTop: 5 }}&gt;&#10;      它带来的是「快速且准确的发现、解释与校验」：Agent 能检索到规程条目，也能理解这条在什么场景下用。规程改版时，只改一个对象的属性，不用重训、不用改提示词。&#10;       &lt;/Text&gt;&#10;            &lt;/Box&gt;&#10;   &lt;Box style={{ height: 58, background: '#FFF3EE', borderRadius: 4, padding: '0 16px', flexDirection: 'row', alignItems: 'center', gap: 12, borderLeft: '4px solid #FBA15C' }}&gt;&#10;    &lt;Text style={{ fontSize: 13, fontWeight: 'bold', color: '#C43A17', width: 116 }}&gt;★ 反面做法&lt;/Text&gt;&#10;            &lt;Text style={{ fontSize: 13, color: '#3A2000', flex: 1, lineHeight: 1.4 }}&gt;&#10;   把整篇 SOP 塞进提示词。后果是：贵、慢，而且规程一改就得改提示词，版本必然对不上&#10;        &lt;/Text&gt;&#10;            &lt;/Box&gt;&#10;   &lt;/Box&gt;&#10;&#10;      {/* 右：建议动作 Agent + 效果 */}&#10;    &lt;Box style={{ flex: 1, flexDirection: 'column', gap: 8 }}&gt;&#10;     &lt;Text style={{ fontSize: 20, fontWeight: 'bold', color: '#0F1423' }}&gt;进阶：让另一个 Agent 来推荐动作&lt;/Text&gt;&#10;    &lt;Box style={{ height: 176, background: '#FA4F24', borderRadius: 4, padding: '14px 16px', flexDirection: 'column', justifyContent: 'center', gap: 9 }}&gt;&#10;        {[&#10;        { n: '①', t: '检索规程条目', d: '按当前场景语义检索相关的 SOP 条目' },&#10;            { n: '②', t: '匹配可用动作', d: '同时从本体取回当前岗位被授权的动作清单' },&#10;   { n: '③', t: '生成动作序列', d: '输出为下游可确定的接口契约，而不是自由发挥' },&#10;       ].map((it, i) =&gt; (&#10;          &lt;Box key={i} style={{ flexDirection: 'row', alignItems: 'flex-start', gap: 10 }}&gt;&#10;        &lt;Text style={{ fontSize: 17, fontWeight: 'bold', color: 'rgba(255,255,255,0.75)', width: 26 }}&gt;{it.n}&lt;/Text&gt;&#10;      &lt;Text style={{ fontSize: 14, fontWeight: 'bold', color: '#FFFFFF', width: 104 }}&gt;{it.t}&lt;/Text&gt;&#10;   &lt;Text style={{ fontSize: 12, color: 'rgba(255,255,255,0.92)', flex: 1, lineHeight: 1.4 }}&gt;{it.d}&lt;/Text&gt;&#10;            &lt;/Box&gt;&#10;       ))}&#10;      &lt;/Box&gt;&#10;   &lt;Box style={{ flex: 1, background: '#F7F7F8', borderRadius: 4, padding: '12px 16px', flexDirection: 'column', justifyContent: 'center' }}&gt;&#10;          &lt;Text style={{ fontSize: 19, fontWeight: 'bold', color: '#0F1423', marginBottom: 8 }}&gt;为什么要把动作清单也取回来&lt;/Text&gt;&#10;       {[&#10;     { t: '不让模型自由发挥动作名', d: '它编一个不存在的动作，下游必然报错' },&#10;      { t: '按岗位过滤可执行动作', d: '越权动作压根不出现在清单里' },&#10;    { t: '保证输出可被下游解析', d: '接口契约确定，编排层不用做兜底猜测' },&#10;   ].map((it, i) =&gt; (&#10;      &lt;Box key={i} style={{ flexDirection: 'row', alignItems: 'flex-start', gap: 9, marginTop: i === 0 ? 0 : 7 }}&gt;&#10;       &lt;Box style={{ width: 5, height: 5, background: '#FA4F24', borderRadius: 3, marginTop: 6 }} /&gt;&#10;     &lt;Text style={{ fontSize: 13, color: '#3A4050', flex: 1, lineHeight: 1.45 }}&gt;&#10;      &lt;Text style={{ fontWeight: 'bold', color: '#0F1423' }}&gt;{it.t}&lt;/Text&gt;　{it.d}&#10;       &lt;/Text&gt;&#10;         &lt;/Box&gt;&#10;       ))}&#10;      &lt;/Box&gt;&#10;   &lt;Box style={{ height: 52, background: '#FFF3EE', borderRadius: 4, padding: '0 14px', flexDirection: 'row', alignItems: 'center', gap: 12, borderLeft: '4px solid #FBA15C' }}&gt;&#10;   &lt;Text style={{ fontSize: 12, color: '#3A2000', flex: 1, lineHeight: 1.4 }}&gt;&#10;   这个 Agent 的价值不在于更聪明，而在于它把「该做哪几步」这件事从模型判断变成了规程驱动&#10;        &lt;/Text&gt;&#10;        &lt;/Box&gt;&#10;   &lt;/Box&gt;&#10;    &lt;/Box&gt;&#10;&#10;  &lt;Box style={{ height: 58, flexDirection: 'row', alignItems: 'center', borderTop: '1px solid #E8E8E8' }}&gt;&#10;        &lt;Box style={{ width: 10, height: 10, background: '#FA4F24' }} /&gt;&#10;  &lt;Text style={{ fontSize: 13, color: '#8A8F99', marginLeft: 12 }}&gt;硕磐机密 · Agent智能体咨询方法论&lt;/Text&gt;&#10;        &lt;Text style={{ fontSize: 13, color: '#8A8F99', marginLeft: 'auto' }}&gt;14 / 3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把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放进本体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，让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知道按什么规程办事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作业规程不进本体，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就只能猜；进了本体，它就能被检索、被引用、被版本管理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语义化：从文档到对象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1666875"/>
            <a:ext cx="5400675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762000" y="186690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拆条目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533525" y="18383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把一份作业规程拆成一条条可独立触发的条目，不再是一整篇文档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2295525"/>
            <a:ext cx="5400675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762000" y="249555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挂对象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533525" y="246697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每条挂到它管的对象类型上，标明适用场景与前置条件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2924175"/>
            <a:ext cx="5400675" cy="542925"/>
          </a:xfrm>
          <a:prstGeom prst="roundRect">
            <a:avLst>
              <a:gd name="adj" fmla="val 70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2000" y="3114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标元数据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533525" y="3095625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给每条补上说明、适用场景、版本、生效日期、废止状态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3543300"/>
            <a:ext cx="5400675" cy="552450"/>
          </a:xfrm>
          <a:prstGeom prst="roundRect">
            <a:avLst>
              <a:gd name="adj" fmla="val 68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2000" y="374332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连动作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533525" y="3714750"/>
            <a:ext cx="43243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每条明确对应的动作类型与参数约束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09600" y="4171950"/>
            <a:ext cx="5400675" cy="800100"/>
          </a:xfrm>
          <a:prstGeom prst="roundRect">
            <a:avLst>
              <a:gd name="adj" fmla="val 476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62000" y="4248150"/>
            <a:ext cx="509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这一步为什么值得做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62000" y="4457700"/>
            <a:ext cx="50958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它带来的是「快速且准确的发现、解释与校验」：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能检索到规程条目，也能理解这条在什么场景下用。规程改版时，只改一个对象的属性，不用重训、不用改提示词。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47700" y="5048250"/>
            <a:ext cx="5400675" cy="552450"/>
          </a:xfrm>
          <a:prstGeom prst="roundRect">
            <a:avLst>
              <a:gd name="adj" fmla="val 6897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47700" y="5048250"/>
            <a:ext cx="5400675" cy="552450"/>
          </a:xfrm>
          <a:custGeom>
            <a:pathLst>
              <a:path w="567" h="58">
                <a:moveTo>
                  <a:pt x="4" y="58"/>
                </a:moveTo>
                <a:cubicBezTo>
                  <a:pt x="2" y="58"/>
                  <a:pt x="0" y="56"/>
                  <a:pt x="0" y="5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8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00100" y="5248275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★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反面做法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2019300" y="5114925"/>
            <a:ext cx="38385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把整篇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塞进提示词。后果是：贵、慢，而且规程一改就得改提示词，版本必然对不上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181725" y="1362075"/>
            <a:ext cx="5400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进阶：让另一个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来推荐动作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181725" y="1666875"/>
            <a:ext cx="5400675" cy="1676400"/>
          </a:xfrm>
          <a:prstGeom prst="roundRect">
            <a:avLst>
              <a:gd name="adj" fmla="val 2273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334125" y="212407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677025" y="212407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检索规程条目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762875" y="2124075"/>
            <a:ext cx="3667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按当前场景语义检索相关的</a:t>
            </a:r>
            <a:r>
              <a:rPr lang="en-US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条目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334125" y="240982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677025" y="240982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匹配可用动作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762875" y="2409825"/>
            <a:ext cx="3667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同时从本体取回当前岗位被授权的动作清单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334125" y="2695575"/>
            <a:ext cx="24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677025" y="2695575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生成动作序列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762875" y="2695575"/>
            <a:ext cx="366712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输出为下游可确定的接口契约，而不是自由发挥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181725" y="3419475"/>
            <a:ext cx="5400675" cy="1609725"/>
          </a:xfrm>
          <a:prstGeom prst="roundRect">
            <a:avLst>
              <a:gd name="adj" fmla="val 236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334125" y="3686175"/>
            <a:ext cx="509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为什么要把动作清单也取回来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334125" y="40386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467475" y="3981450"/>
            <a:ext cx="49625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不让模型自由发挥动作名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它编一个不存在的动作，下游必然报错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334125" y="43243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467475" y="4267200"/>
            <a:ext cx="49625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按岗位过滤可执行动作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越权动作压根不出现在清单里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334125" y="46101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467475" y="4552950"/>
            <a:ext cx="496252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保证输出可被下游解析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　</a:t>
            </a: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接口契约确定，编排层不用做兜底猜测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6219825" y="5105400"/>
            <a:ext cx="5400675" cy="495300"/>
          </a:xfrm>
          <a:prstGeom prst="roundRect">
            <a:avLst>
              <a:gd name="adj" fmla="val 7692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6219825" y="5105400"/>
            <a:ext cx="5400675" cy="495300"/>
          </a:xfrm>
          <a:custGeom>
            <a:pathLst>
              <a:path w="567" h="52">
                <a:moveTo>
                  <a:pt x="4" y="52"/>
                </a:moveTo>
                <a:cubicBezTo>
                  <a:pt x="2" y="52"/>
                  <a:pt x="0" y="50"/>
                  <a:pt x="0" y="4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5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353175" y="5257800"/>
            <a:ext cx="5095875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这个</a:t>
            </a:r>
            <a:r>
              <a:rPr lang="en-US" sz="900">
                <a:solidFill>
                  <a:srgbClr val="3A200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3A2000"/>
                </a:solidFill>
                <a:latin typeface="Microsoft YaHei"/>
                <a:ea typeface="Microsoft YaHei"/>
              </a:rPr>
              <a:t>的价值不在于更聪明，而在于它把「该做哪几步」这件事从模型判断变成了规程驱动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1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14 / 30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内容：&lt;span style={{ color: '#FA4F24' }}&gt;没有本体的 Agent 会怎样&lt;/span&gt;，五个具体撞墙场景&#10;        &lt;/Text&gt;&#10;        &lt;Text style={{ fontSize: 20, color: '#8A8F99', marginTop: 8 }}&gt;&#10;    这五个场景我基本都能在客户现场对上号，都是「先做 Agent 后补本体」的真实代价&#10;        &lt;/Text&gt;&#10; &lt;/Box&gt;&#10;    &lt;Box style={{ height: 1, background: '#E8E8E8' }} /&gt;&#10;&#10;    &lt;Box style={{ paddingTop: 22, paddingBottom: 12, height: 479, flexDirection: 'column', gap: 8 }}&gt;&#10; {[&#10; { n: '①', t: '口径分叉', s: '同一个「客户」，提示词里写一遍、代码里判一次、另一个 Agent 又理解一遍', r: '结果：三个 Agent 给客户的定义都不一样，投诉无法归因', fix: '口径必须落在对象属性上，不落在提示词里' },&#10;        { n: '②', t: '动作对不上', s: '模型想调「调整交付日期」，系统里实际的动作叫「changeDeliveryDate」', r: '结果：反复重试、要么失败要么调错动作', fix: '动作名与参数契约从本体出，工具层做映射' },&#10;     { n: '③', t: '权限失控', s: '为了省事用统一服务号调接口，没按最终用户鉴权', r: '结果：一次提示词注入就能拖出全量敏感数据', fix: '继承最终用户权限，从架构上禁止服务号提权' },&#10;        { n: '④', t: '写回断链', s: 'Agent 直接调源系统接口，绕过了本体与动作层', r: '结果：状态不同步，出事查不到谁改的', fix: '所有改变必须回流为 Action，并留痕' },&#10;   { n: '⑤', t: '规程漂移', s: 'SOP 改了，提示词没改；或者改了三份不同版本', r: '结果：Agent 按旧规程办事，人已经按新规程执行', fix: '规程进本体，改一处生效一处，可版本追溯' },&#10;      ].map((it, i) =&gt; (&#10;   &lt;Box key={i} style={{ flex: 1, background: '#FFF3EE', borderRadius: 4, padding: '10px 16px', flexDirection: 'row', alignItems: 'center', gap: 14 }}&gt;&#10;    &lt;Text style={{ fontSize: 22, fontWeight: 'bold', color: '#FA4F24', width: 34 }}&gt;{it.n}&lt;/Text&gt;&#10;          &lt;Box style={{ width: 118 }}&gt;&#10;     &lt;Text style={{ fontSize: 17, fontWeight: 'bold', color: '#C43A17' }}&gt;{it.t}&lt;/Text&gt;&#10;         &lt;/Box&gt;&#10;      &lt;Box style={{ flex: 1.2 }}&gt;&#10;    &lt;Text style={{ fontSize: 13, color: '#3A2000', lineHeight: 1.35 }}&gt;{it.s}&lt;/Text&gt;&#10;              &lt;Text style={{ fontSize: 13, color: '#C43A17', lineHeight: 1.35, marginTop: 3 }}&gt;{it.r}&lt;/Text&gt;&#10;        &lt;/Box&gt;&#10;   &lt;Box style={{ flex: 1, flexDirection: 'row', alignItems: 'center', gap: 9, borderLeft: '1px solid #F0C9AE', paddingLeft: 14 }}&gt;&#10;     &lt;Text style={{ fontSize: 12, color: '#FA4F24', fontWeight: 'bold' }}&gt;✓&lt;/Text&gt;&#10;        &lt;Text style={{ fontSize: 13, color: '#3A2000', flex: 1, lineHeight: 1.35 }}&gt;{it.fix}&lt;/Text&gt;&#10;   &lt;/Box&gt;&#10;      &lt;/Box&gt;&#10;    ))}&#10;        &lt;Box style={{ height: 54, background: '#0F1423', borderRadius: 4, padding: '0 18px', flexDirection: 'row', alignItems: 'center', gap: 14 }}&gt;&#10;   &lt;Text style={{ fontSize: 14, fontWeight: 'bold', color: '#FBA15C', width: 130 }}&gt;顺序上的硬结论&lt;/Text&gt;&#10; &lt;Text style={{ fontSize: 14, color: 'rgba(255,255,255,0.95)', flex: 1, lineHeight: 1.4 }}&gt;&#10;      先有可用的本体与动作，再谈自主 Agent。倒过来的项目不是做不成，是做出来的每一处都要返工 —— 而 Agent 的返工成本比传统系统高得多，因为它改的是决策链。&#10;     &lt;/Text&gt;&#10;  &lt;/Box&gt;&#10;    &lt;/Box&gt;&#10;&#10;    &lt;Box style={{ height: 58, flexDirection: 'row', alignItems: 'center', borderTop: '1px solid #E8E8E8' }}&gt;&#10;        &lt;Box style={{ width: 10, height: 10, background: '#FA4F24' }} /&gt;&#10; &lt;Text style={{ fontSize: 13, color: '#8A8F99', marginLeft: 12 }}&gt;硕磐机密 · Agent智能体咨询方法论&lt;/Text&gt;&#10;     &lt;Text style={{ fontSize: 13, color: '#8A8F99', marginLeft: 'auto' }}&gt;15 / 30&lt;/Text&gt;&#10;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没有本体的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会怎样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，五个具体撞墙场景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这五个场景我基本都能在客户现场对上号，都是「先做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后补本体」的真实代价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609600" y="1362075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62000" y="157162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219200" y="1600200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口径分叉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476500" y="147637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同一个「客户」，提示词里写一遍、代码里判一次、另一个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又理解一遍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2476500" y="1714500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结果：三个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给客户的定义都不一样，投诉无法归因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419975" y="1590675"/>
            <a:ext cx="4019550" cy="209550"/>
          </a:xfrm>
          <a:custGeom>
            <a:pathLst>
              <a:path w="422" h="22">
                <a:moveTo>
                  <a:pt x="0" y="0"/>
                </a:moveTo>
                <a:lnTo>
                  <a:pt x="1" y="0"/>
                </a:lnTo>
                <a:lnTo>
                  <a:pt x="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0C9AE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562850" y="16287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762875" y="1590675"/>
            <a:ext cx="3667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口径必须落在对象属性上，不落在提示词里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09600" y="2105025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62000" y="23145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219200" y="2343150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动作对不上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476500" y="221932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模型想调「调整交付日期」，系统里实际的动作叫「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>changeDeliveryDate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」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2476500" y="2457450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结果：反复重试、要么失败要么调错动作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419975" y="2333625"/>
            <a:ext cx="4019550" cy="209550"/>
          </a:xfrm>
          <a:custGeom>
            <a:pathLst>
              <a:path w="422" h="22">
                <a:moveTo>
                  <a:pt x="0" y="0"/>
                </a:moveTo>
                <a:lnTo>
                  <a:pt x="1" y="0"/>
                </a:lnTo>
                <a:lnTo>
                  <a:pt x="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0C9AE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562850" y="237172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762875" y="2333625"/>
            <a:ext cx="3667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动作名与参数契约从本体出，工具层做映射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09600" y="2847975"/>
            <a:ext cx="10972800" cy="676275"/>
          </a:xfrm>
          <a:prstGeom prst="roundRect">
            <a:avLst>
              <a:gd name="adj" fmla="val 563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62000" y="305752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219200" y="3086100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权限失控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2476500" y="296227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为了省事用统一服务号调接口，没按最终用户鉴权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476500" y="3200400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结果：一次提示词注入就能拖出全量敏感数据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419975" y="3086100"/>
            <a:ext cx="4019550" cy="209550"/>
          </a:xfrm>
          <a:custGeom>
            <a:pathLst>
              <a:path w="422" h="22">
                <a:moveTo>
                  <a:pt x="0" y="0"/>
                </a:moveTo>
                <a:lnTo>
                  <a:pt x="1" y="0"/>
                </a:lnTo>
                <a:lnTo>
                  <a:pt x="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0C9AE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562850" y="31242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762875" y="3086100"/>
            <a:ext cx="3667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继承最终用户权限，从架构上禁止服务号提权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3600450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62000" y="381000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A4F24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219200" y="383857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写回断链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476500" y="3714750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直接调源系统接口，绕过了本体与动作层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476500" y="395287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结果：状态不同步，出事查不到谁改的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419975" y="3829050"/>
            <a:ext cx="4019550" cy="209550"/>
          </a:xfrm>
          <a:custGeom>
            <a:pathLst>
              <a:path w="422" h="22">
                <a:moveTo>
                  <a:pt x="0" y="0"/>
                </a:moveTo>
                <a:lnTo>
                  <a:pt x="1" y="0"/>
                </a:lnTo>
                <a:lnTo>
                  <a:pt x="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0C9AE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562850" y="38671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762875" y="3829050"/>
            <a:ext cx="3667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所有改变必须回流为</a:t>
            </a: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，并留痕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09600" y="4343400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62000" y="45529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A4F24"/>
                </a:solidFill>
                <a:latin typeface="Microsoft YaHei"/>
                <a:ea typeface="Microsoft YaHei"/>
              </a:rPr>
              <a:t>⑤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1219200" y="4581525"/>
            <a:ext cx="1123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3A17"/>
                </a:solidFill>
                <a:latin typeface="Microsoft YaHei"/>
                <a:ea typeface="Microsoft YaHei"/>
              </a:rPr>
              <a:t>规程漂移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2476500" y="4457700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975">
                <a:solidFill>
                  <a:srgbClr val="3A2000"/>
                </a:solidFill>
                <a:latin typeface="Microsoft YaHei"/>
                <a:ea typeface="Microsoft YaHei"/>
              </a:rPr>
              <a:t xml:space="preserve">SOP </a:t>
            </a: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改了，提示词没改；或者改了三份不同版本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2476500" y="4695825"/>
            <a:ext cx="4810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结果：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按旧规程办事，人已经按新规程执行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419975" y="4572000"/>
            <a:ext cx="4019550" cy="209550"/>
          </a:xfrm>
          <a:custGeom>
            <a:pathLst>
              <a:path w="422" h="22">
                <a:moveTo>
                  <a:pt x="0" y="0"/>
                </a:moveTo>
                <a:lnTo>
                  <a:pt x="1" y="0"/>
                </a:lnTo>
                <a:lnTo>
                  <a:pt x="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0C9AE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562850" y="461010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 b="1">
                <a:solidFill>
                  <a:srgbClr val="FA4F24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762875" y="4572000"/>
            <a:ext cx="3667125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75">
                <a:solidFill>
                  <a:srgbClr val="3A2000"/>
                </a:solidFill>
                <a:latin typeface="Microsoft YaHei"/>
                <a:ea typeface="Microsoft YaHei"/>
              </a:rPr>
              <a:t>规程进本体，改一处生效一处，可版本追溯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5086350"/>
            <a:ext cx="10972800" cy="514350"/>
          </a:xfrm>
          <a:prstGeom prst="roundRect">
            <a:avLst>
              <a:gd name="adj" fmla="val 740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23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顺序上的硬结论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152650" y="5114925"/>
            <a:ext cx="9258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先有可用的本体与动作，再谈自主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。倒过来的项目不是做不成，是做出来的每一处都要返工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而</a:t>
            </a:r>
            <a:r>
              <a:rPr lang="en-US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FFFFFF">
                    <a:alpha val="95000"/>
                  </a:srgbClr>
                </a:solidFill>
                <a:latin typeface="Microsoft YaHei"/>
                <a:ea typeface="Microsoft YaHei"/>
              </a:rPr>
              <a:t>的返工成本比传统系统高得多，因为它改的是决策链。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15 / 30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模板：&lt;span style={{ color: '#FA4F24' }}&gt;Agent × Action 装配清单&lt;/span&gt;，16 格填不满就不许进入试运行&#10;      &lt;/Text&gt;&#10;     &lt;Text style={{ fontSize: 20, color: '#8A8F99', marginTop: 8 }}&gt;&#10;        左列八格问「本体与动作准备好了吗」，右列八格问「这个 Agent 装配到位了吗」，每格只能填 有 / 半 / 无&#10;      &lt;/Text&gt;&#10;    &lt;/Box&gt;&#10;    &lt;Box style={{ height: 1, background: '#E8E8E8' }} /&gt;&#10;&#10;    &lt;Box style={{ paddingTop: 18, paddingBottom: 8, height: 479, flexDirection: 'row', gap: 14 }}&gt;&#10;        &lt;Box style={{ flex: 1, background: '#F7F7F8', borderRadius: 4, padding: '10px 12px', flexDirection: 'column' }}&gt;&#10;       &lt;Text style={{ fontSize: 15, fontWeight: 'bold', color: '#0F1423', marginBottom: 2 }}&gt;动作侧 · 本体与 Action 就绪度&lt;/Text&gt;&#10;    &lt;Text style={{ fontSize: 11, color: '#8A8F99', marginBottom: 6 }}&gt;对应 Approach 第二阶段&lt;/Text&gt;&#10;         {[&#10;        { k: 'A1', t: '对象有身份', d: '关键对象有稳定主键与业务唯一标识' },&#10;      { k: 'A2', t: '关系有方向', d: '关联带基数与命名，不靠字段名猜' },&#10;   { k: 'A3', t: '属性有口径', d: '关键指标写明定义、粒度、计算式' },&#10;   { k: 'A4', t: '写操作已建模', d: '变更类操作建模为 Action Type，不是散装脚本' },&#10;   { k: 'A5', t: '写操作有校验', d: '前置条件、幂等键、回滚路径齐备' },&#10;     { k: 'A6', t: '权限已绑定', d: '每个 Action 挂到角色与数据可见范围' },&#10;    { k: 'A7', t: '有逆操作', d: '至少能补偿，不是只能硬扛' },&#10;     { k: 'A8', t: '有模拟环境', d: '可在沙箱里跑通，不碰生产数据' },&#10;        ].map((it, i) =&gt; (&#10;      &lt;Box key={it.k} style={{ flex: 1, flexDirection: 'row', alignItems: 'center', borderTop: i === 0 ? 'none' : '1px solid #E8E8E8' }}&gt;&#10;    &lt;Text style={{ fontSize: 12, fontWeight: 'bold', color: '#FA4F24', width: 26 }}&gt;{it.k}&lt;/Text&gt;&#10;     &lt;Box style={{ flex: 1 }}&gt;&#10;     &lt;Text style={{ fontSize: 14, fontWeight: 'bold', color: '#0F1423' }}&gt;{it.t}&lt;/Text&gt;&#10;         &lt;Text style={{ fontSize: 11, color: '#8A8F99', marginTop: 1 }}&gt;{it.d}&lt;/Text&gt;&#10;    &lt;/Box&gt;&#10;      &lt;Box style={{ flexDirection: 'row', gap: 3 }}&gt;&#10;  &lt;Box style={{ width: 20, height: 17, borderRadius: 2, background: '#FFFFFF', border: '1px solid #C9CDD4', alignItems: 'center', justifyContent: 'center' }}&gt;&lt;Text style={{ fontSize: 10, color: '#5A6072' }}&gt;有&lt;/Text&gt;&lt;/Box&gt;&#10;        &lt;Box style={{ width: 20, height: 17, borderRadius: 2, background: '#FFFFFF', border: '1px solid #C9CDD4', alignItems: 'center', justifyContent: 'center' }}&gt;&lt;Text style={{ fontSize: 10, color: '#5A6072' }}&gt;半&lt;/Text&gt;&lt;/Box&gt;&#10;        &lt;Box style={{ width: 20, height: 17, borderRadius: 2, background: '#FFFFFF', border: '1px solid #C9CDD4', alignItems: 'center', justifyContent: 'center' }}&gt;&lt;Text style={{ fontSize: 10, color: '#5A6072' }}&gt;无&lt;/Text&gt;&lt;/Box&gt;&#10;     &lt;/Box&gt;&#10;      &lt;/Box&gt;&#10;      ))}&#10;     &lt;/Box&gt;&#10;&#10;    &lt;Box style={{ flex: 1, background: '#F7F7F8', borderRadius: 4, padding: '10px 12px', flexDirection: 'column' }}&gt;&#10;      &lt;Text style={{ fontSize: 15, fontWeight: 'bold', color: '#0F1423', marginBottom: 2 }}&gt;Agent 侧 · 装配完备度&lt;/Text&gt;&#10;        &lt;Text style={{ fontSize: 11, color: '#8A8F99', marginBottom: 6 }}&gt;对应 Approach 第三至第六阶段&lt;/Text&gt;&#10;        {[&#10;          { k: 'G1', t: '岗位已定义', d: '一句话说清替代谁、哪部分职责' },&#10;          { k: 'G2', t: '上下文有规格', d: '来源、预算、时效、压缩、不可信标记' },&#10;          { k: 'G3', t: '工具已封装', d: '每个工具对应一个 Action，不连裸接口' },&#10;          { k: 'G4', t: '技能可渐进披露', d: '技能按需加载，不一次性塞满窗口' },&#10;        { k: 'G5', t: '记忆有分层', d: '会话态、任务态、长期态分开管' },&#10;  { k: 'G6', t: '权限继承到人', d: '以最终用户身份执行，不用服务号提权' },&#10;        { k: 'G7', t: '停手条件明确', d: '什么情况必须停下来交给人' },&#10;          { k: 'G8', t: '评测集已就绪', d: '有 30 条以上真实样例与判定标准' },&#10;     ].map((it, i) =&gt; (&#10;        &lt;Box key={it.k} style={{ flex: 1, flexDirection: 'row', alignItems: 'center', borderTop: i === 0 ? 'none' : '1px solid #E8E8E8' }}&gt;&#10;  &lt;Text style={{ fontSize: 12, fontWeight: 'bold', color: '#0F1423', width: 26 }}&gt;{it.k}&lt;/Text&gt;&#10;     &lt;Box style={{ flex: 1 }}&gt;&#10;            &lt;Text style={{ fontSize: 14, fontWeight: 'bold', color: '#0F1423' }}&gt;{it.t}&lt;/Text&gt;&#10;            &lt;Text style={{ fontSize: 11, color: '#8A8F99', marginTop: 1 }}&gt;{it.d}&lt;/Text&gt;&#10;     &lt;/Box&gt;&#10;            &lt;Box style={{ flexDirection: 'row', gap: 3 }}&gt;&#10;    &lt;Box style={{ width: 20, height: 17, borderRadius: 2, background: '#FFFFFF', border: '1px solid #C9CDD4', alignItems: 'center', justifyContent: 'center' }}&gt;&lt;Text style={{ fontSize: 10, color: '#5A6072' }}&gt;有&lt;/Text&gt;&lt;/Box&gt;&#10;         &lt;Box style={{ width: 20, height: 17, borderRadius: 2, background: '#FFFFFF', border: '1px solid #C9CDD4', alignItems: 'center', justifyContent: 'center' }}&gt;&lt;Text style={{ fontSize: 10, color: '#5A6072' }}&gt;半&lt;/Text&gt;&lt;/Box&gt;&#10;         &lt;Box style={{ width: 20, height: 17, borderRadius: 2, background: '#FFFFFF', border: '1px solid #C9CDD4', alignItems: 'center', justifyContent: 'center' }}&gt;&lt;Text style={{ fontSize: 10, color: '#5A6072' }}&gt;无&lt;/Text&gt;&lt;/Box&gt;&#10;            &lt;/Box&gt;&#10;          &lt;/Box&gt;&#10;        ))}&#10;      &lt;/Box&gt;&#10;    &lt;/Box&gt;&#10;&#10;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     &lt;Text style={{ fontSize: 13, color: '#8A8F99', marginLeft: 'auto' }}&gt;1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× Action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装配清单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16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格填不满就不许进入试运行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左列八格问「本体与动作准备好了吗」，右列八格问「这个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装配到位了吗」，每格只能填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半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09600" y="1323975"/>
            <a:ext cx="5419725" cy="4314825"/>
          </a:xfrm>
          <a:prstGeom prst="roundRect">
            <a:avLst>
              <a:gd name="adj" fmla="val 8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723900" y="1419225"/>
            <a:ext cx="519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动作侧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本体与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就绪度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23900" y="1609725"/>
            <a:ext cx="5191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对应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23900" y="19621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71550" y="18764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对象有身份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971550" y="20478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关键对象有稳定主键与业务唯一标识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286375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334000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505450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553075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5724525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5772150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723900" y="2257425"/>
            <a:ext cx="5191125" cy="485775"/>
          </a:xfrm>
          <a:custGeom>
            <a:pathLst>
              <a:path w="545" h="51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723900" y="24288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A2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71550" y="235267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关系有方向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71550" y="252412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关联带基数与命名，不靠字段名猜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5286375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34000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5505450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553075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5724525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72150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723900" y="273367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23900" y="29051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A3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971550" y="281940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属性有口径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71550" y="299085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关键指标写明定义、粒度、计算式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5286375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334000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5505450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553075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5724525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772150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23900" y="3200400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723900" y="33718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A4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71550" y="32861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写操作已建模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71550" y="34575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变更类操作建模为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Action Type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，不是散装脚本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5286375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5334000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5505450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553075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5724525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5772150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723900" y="366712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23900" y="38385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A5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71550" y="375285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写操作有校验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71550" y="392430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前置条件、幂等键、回滚路径齐备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5286375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334000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5505450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553075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5724525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772150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23900" y="4133850"/>
            <a:ext cx="5191125" cy="485775"/>
          </a:xfrm>
          <a:custGeom>
            <a:pathLst>
              <a:path w="545" h="51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23900" y="43053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A6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71550" y="422910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权限已绑定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971550" y="440055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每个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挂到角色与数据可见范围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5286375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5334000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5505450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553075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5724525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5772150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723900" y="4610100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723900" y="47815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A7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971550" y="46958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有逆操作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71550" y="48672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至少能补偿，不是只能硬扛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5286375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5334000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5505450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553075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5724525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5772150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723900" y="507682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23900" y="52482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A8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71550" y="516255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有模拟环境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971550" y="533400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可在沙箱里跑通，不碰生产数据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5286375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5334000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5505450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5553075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5724525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5772150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162675" y="1323975"/>
            <a:ext cx="5419725" cy="4314825"/>
          </a:xfrm>
          <a:prstGeom prst="roundRect">
            <a:avLst>
              <a:gd name="adj" fmla="val 88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276975" y="1419225"/>
            <a:ext cx="519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侧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装配完备度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276975" y="1609725"/>
            <a:ext cx="5191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对应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Approach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第三至第六阶段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276975" y="19621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G1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524625" y="18764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岗位已定义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524625" y="20478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一句话说清替代谁、哪部分职责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0839450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887075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11058525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06150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1277600" y="19526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1325225" y="19812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276975" y="2257425"/>
            <a:ext cx="5191125" cy="485775"/>
          </a:xfrm>
          <a:custGeom>
            <a:pathLst>
              <a:path w="545" h="51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276975" y="24288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G2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524625" y="235267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上下文有规格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524625" y="252412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来源、预算、时效、压缩、不可信标记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10839450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0887075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11058525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06150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11277600" y="24193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1325225" y="24479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276975" y="273367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276975" y="29051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G3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524625" y="281940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工具已封装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524625" y="299085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每个工具对应一个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Action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，不连裸接口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10839450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10887075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01" name=""/>
          <p:cNvSpPr/>
          <p:nvPr/>
        </p:nvSpPr>
        <p:spPr>
          <a:xfrm rot="0" flipH="0" flipV="0">
            <a:off x="11058525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11106150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11277600" y="289560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325225" y="292417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276975" y="3200400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276975" y="33718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G4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524625" y="32861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技能可渐进披露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524625" y="34575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技能按需加载，不一次性塞满窗口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10839450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0887075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11058525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1106150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11277600" y="33623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1325225" y="33909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276975" y="366712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276975" y="38385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G5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524625" y="375285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记忆有分层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524625" y="392430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会话态、任务态、长期态分开管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10839450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887075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1058525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1106150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11277600" y="38290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11325225" y="38576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276975" y="4133850"/>
            <a:ext cx="5191125" cy="485775"/>
          </a:xfrm>
          <a:custGeom>
            <a:pathLst>
              <a:path w="545" h="51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276975" y="430530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G6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524625" y="422910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权限继承到人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6524625" y="440055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以最终用户身份执行，不用服务号提权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10839450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887075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11058525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1106150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11277600" y="429577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1325225" y="43243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276975" y="4610100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276975" y="47815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G7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524625" y="4695825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停手条件明确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524625" y="4867275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什么情况必须停下来交给人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10839450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0887075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11058525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1106150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11277600" y="4772025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11325225" y="480060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6276975" y="5076825"/>
            <a:ext cx="5191125" cy="476250"/>
          </a:xfrm>
          <a:custGeom>
            <a:pathLst>
              <a:path w="545" h="50">
                <a:moveTo>
                  <a:pt x="0" y="0"/>
                </a:moveTo>
                <a:lnTo>
                  <a:pt x="545" y="0"/>
                </a:lnTo>
                <a:lnTo>
                  <a:pt x="54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276975" y="52482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>G8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524625" y="5162550"/>
            <a:ext cx="431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评测集已就绪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524625" y="5334000"/>
            <a:ext cx="431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有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条以上真实样例与判定标准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10839450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0887075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有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11058525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106150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半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11277600" y="5238750"/>
            <a:ext cx="190500" cy="161925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CDD4"/>
            </a:solidFill>
            <a:prstDash val="solid"/>
          </a:ln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325225" y="5267325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5A6072"/>
                </a:solidFill>
                <a:latin typeface="Microsoft YaHei"/>
                <a:ea typeface="Microsoft YaHei"/>
              </a:rPr>
              <a:t>无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6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16 / 30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right: 70, top: 110 }}&gt;&#10;      &lt;Text style={{ fontSize: 300, fontWeight: 'bold', color: 'rgba(255,255,255,0.08)', lineHeight: 1.0 }}&gt;03&lt;/Text&gt;&#10;    &lt;/Box&gt;&#10;&#10;    &lt;Box style={{ position: 'absolute', left: 88, top: 232, width: 660, flexDirection: 'column' }}&gt;&#10;    &lt;Text style={{ fontSize: 15, color: 'rgba(255,255,255,0.5)', letterSpacing: 3 }}&gt;PART 03&lt;/Text&gt;&#10;  &lt;Box style={{ width: 72, height: 5, background: '#FA4F24', marginTop: 22 }} /&gt;&#10;        &lt;Text style={{ fontSize: 52, fontWeight: 'bold', color: '#FFFFFF', marginTop: 28, lineHeight: 1.15 }}&gt;Agent 的 4A 架构&lt;/Text&gt;&#10;        &lt;Text style={{ fontSize: 17, color: 'rgba(255,255,255,0.62)', letterSpacing: 2, marginTop: 20 }}&gt;AGENT AS A BUSINESS APPLICATION&lt;/Text&gt;&#10;        &lt;Text style={{ fontSize: 19, color: 'rgba(255,255,255,0.85)', marginTop: 26, lineHeight: 1.6 }}&gt;Agent 是一个业务应用，所以它也有自己的业务架构、数据架构、应用架构、技术架构&lt;/Text&gt;&#10;    &lt;/Box&gt;&#10;&#10;    &lt;Box style={{ position: 'absolute', right: 88, bottom: 64, flexDirection: 'row', alignItems: 'center', gap: 12 }}&gt;&#10;    &lt;Box style={{ width: 14, height: 14, background: '#FA4F24' }} /&gt;&#10;  &lt;Text style={{ fontSize: 14, color: 'rgba(255,255,255,0.5)' }}&gt;硕磐机密 · Agent智能体咨询方法论&lt;/Text&gt;&#10;   &lt;Text style={{ fontSize: 14, color: 'rgba(255,255,255,0.5)', marginLeft: 12 }}&gt;1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28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03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286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sz="39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28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AGENT AS A BUSINESS APPLICATION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286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是一个业务应用，所以它也有自己的业务架构、数据架构、应用架构、技术架构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83153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562975" y="60864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17 / 30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47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  之总览：Agent 落在 4A 的&lt;span style={{ color: '#FA4F24' }}&gt;哪一格、哪一层&lt;/span&gt;&#10;     &lt;/Text&gt;&#10;        &lt;Text style={{ fontSize: 20, color: '#8A8F99', marginTop: 8 }}&gt;&#10;   Agent 不是第五个架构，它是四层架构在「有职权」这一维度上的重新投影&#10;        &lt;/Text&gt;&#10;    &lt;/Box&gt;&#10;  &lt;Box style={{ height: 1, background: '#E8E8E8' }} /&gt;&#10;&#10;    &lt;Box style={{ paddingTop: 16, paddingBottom: 8, height: 479, flexDirection: 'column', gap: 8 }}&gt;&#10;  {/* 表头 */}&#10;        &lt;Box style={{ flexDirection: 'row', gap: 8 }}&gt;&#10;    &lt;Box style={{ width: 92, background: '#0F1423', padding: '6px 0', alignItems: 'center', justifyContent: 'center' }}&gt;&lt;Text style={{ fontSize: 13, fontWeight: 'bold', color: '#FFFFFF' }}&gt;4A 层&lt;/Text&gt;&lt;/Box&gt;&#10;          &lt;Box style={{ flex: 1, background: '#0F1423', padding: '6px 0', alignItems: 'center', justifyContent: 'center' }}&gt;&lt;Text style={{ fontSize: 13, fontWeight: 'bold', color: '#FFFFFF' }}&gt;传统应用里的对应物&lt;/Text&gt;&lt;/Box&gt;&#10;     &lt;Box style={{ flex: 1.35, background: '#0F1423', padding: '6px 0', alignItems: 'center', justifyContent: 'center' }}&gt;&lt;Text style={{ fontSize: 13, fontWeight: 'bold', color: '#FFFFFF' }}&gt;Agent 场景下变成什么&lt;/Text&gt;&lt;/Box&gt;&#10;  &lt;Box style={{ width: 250, background: '#0F1423', padding: '6px 0', alignItems: 'center', justifyContent: 'center' }}&gt;&lt;Text style={{ fontSize: 13, fontWeight: 'bold', color: '#FFFFFF' }}&gt;Agent 独有的那部分&lt;/Text&gt;&lt;/Box&gt;&#10;        &lt;/Box&gt;&#10;&#10;      {[&#10;   { a: 'BA', b: '岗位、流程、职责边界', c: '岗位被拆成「人做的部分 + Agent 做的部分 + 必须人做的部分」', d: '职权边界：读什么、改什么、决定什么', col: '#FA4F24' },&#10;    { a: 'DA', b: '数据模型、表结构、指标口径', c: '数据分层为本体事实 + 上下文 + 记忆，三层各有预算', d: '记忆分层与会话态隔离', col: '#F87D2F' },&#10;        { a: 'AA', b: '应用清单、集成关系、调用链',    c: '应用变成 Agent 拓扑：谁调度谁、谁交接给谁', d: '编排拓扑与身份传递', col: '#E0651A' },&#10;   { a: 'TA', b: '运行环境、中间件、非功能指标', c: '运行时多了模型服务、上下文窗口、工具网关、终止控制', d: '步数 / 成本 / 超时 / 熔断', col: '#C43A17' },&#10;      ].map((it, i) =&gt; (&#10;    &lt;Box key={it.a} style={{ flex: 1, flexDirection: 'row', gap: 8, alignItems: 'stretch' }}&gt;&#10;        &lt;Box style={{ width: 92, background: '#F7F7F8', borderLeft: '4px solid ' + it.col, alignItems: 'center', justifyContent: 'center' }}&gt;&#10; &lt;Text style={{ fontSize: 22, fontWeight: 'bold', color: it.col }}&gt;{it.a}&lt;/Text&gt;&#10;          &lt;/Box&gt;&#10;  &lt;Box style={{ flex: 1, background: '#F7F7F8', padding: '8px 12px', justifyContent: 'center' }}&gt;&#10;        &lt;Text style={{ fontSize: 13, color: '#5A6072', lineHeight: 1.4 }}&gt;{it.b}&lt;/Text&gt;&#10;     &lt;/Box&gt;&#10;     &lt;Box style={{ flex: 1.35, background: '#F7F7F8', padding: '8px 12px', justifyContent: 'center' }}&gt;&#10;     &lt;Text style={{ fontSize: 13, color: '#0F1423', lineHeight: 1.4 }}&gt;{it.c}&lt;/Text&gt;&#10;       &lt;/Box&gt;&#10;   &lt;Box style={{ width: 250, background: '#FFF3EE', padding: '8px 12px', justifyContent: 'center', borderLeft: '1px solid #FBA15C' }}&gt;&#10;   &lt;Text style={{ fontSize: 13, color: '#C43A17', fontWeight: 'bold', lineHeight: 1.4 }}&gt;{it.d}&lt;/Text&gt;&#10;    &lt;/Box&gt;&#10;        &lt;/Box&gt;&#10;      ))}&#10;&#10;  &lt;Box style={{ height: 62, background: '#0F1423', borderRadius: 4, padding: '0 18px', flexDirection: 'row', alignItems: 'center', gap: 14 }}&gt;&#10;     &lt;Text style={{ fontSize: 14, fontWeight: 'bold', color: '#FBA15C', width: 168 }}&gt;一句话总结这一页&lt;/Text&gt;&#10;   &lt;Text style={{ fontSize: 14, color: 'rgba(255,255,255,0.92)', flex: 1, lineHeight: 1.45 }}&gt;&#10;          传统应用里，架构决定「系统能做什么」；Agent 应用里，架构还要额外决定「它被允许做什么」。这多出来的一层，就是职权、编排、终止与留痕。管不好这层，Agent 就从自动化资产变成风险资产。&#10;        &lt;/Text&gt;&#10;      &lt;/Box&gt;&#10;    &lt;/Box&gt;&#10;&#10;    &lt;Box style={{ height: 58, flexDirection: 'row', alignItems: 'center', borderTop: '1px solid #E8E8E8' }}&gt;&#10;        &lt;Box style={{ width: 10, height: 10, background: '#FA4F24' }} /&gt;&#10;   &lt;Text style={{ fontSize: 13, color: '#8A8F99', marginLeft: 12 }}&gt;硕磐机密 · Agent智能体咨询方法论&lt;/Text&gt;&#10;        &lt;Text style={{ fontSize: 13, color: '#8A8F99', marginLeft: 'auto' }}&gt;1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之总览：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落在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哪一格、哪一层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不是第五个架构，它是四层架构在「有职权」这一维度上的重新投影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609600" y="1304925"/>
            <a:ext cx="876300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85825" y="1362075"/>
            <a:ext cx="333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4A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层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1562100" y="1304925"/>
            <a:ext cx="3181350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2600325" y="136207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传统应用里的对应物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4819650" y="1304925"/>
            <a:ext cx="4305300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334125" y="136207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场景下变成什么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9201150" y="1304925"/>
            <a:ext cx="2381250" cy="2667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810750" y="1362075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独有的那部分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647700" y="1647825"/>
            <a:ext cx="8382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6" name=""/>
          <p:cNvSpPr/>
          <p:nvPr/>
        </p:nvSpPr>
        <p:spPr>
          <a:xfrm rot="0" flipH="0" flipV="0">
            <a:off x="609600" y="1647825"/>
            <a:ext cx="876300" cy="771525"/>
          </a:xfrm>
          <a:custGeom>
            <a:pathLst>
              <a:path w="92" h="81">
                <a:moveTo>
                  <a:pt x="0" y="0"/>
                </a:moveTo>
                <a:lnTo>
                  <a:pt x="4" y="0"/>
                </a:lnTo>
                <a:lnTo>
                  <a:pt x="4" y="81"/>
                </a:lnTo>
                <a:lnTo>
                  <a:pt x="0" y="8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14400" y="1905000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A4F24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1562100" y="1647825"/>
            <a:ext cx="318135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676400" y="193357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岗位、流程、职责边界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4819650" y="1647825"/>
            <a:ext cx="43053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4933950" y="193357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岗位被拆成「人做的部分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Agent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做的部分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必须人做的部分」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9210675" y="1647825"/>
            <a:ext cx="2371725" cy="7715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9201150" y="1647825"/>
            <a:ext cx="2381250" cy="771525"/>
          </a:xfrm>
          <a:custGeom>
            <a:pathLst>
              <a:path w="250" h="81">
                <a:moveTo>
                  <a:pt x="0" y="0"/>
                </a:moveTo>
                <a:lnTo>
                  <a:pt x="1" y="0"/>
                </a:lnTo>
                <a:lnTo>
                  <a:pt x="1" y="81"/>
                </a:lnTo>
                <a:lnTo>
                  <a:pt x="0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324975" y="193357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职权边界：读什么、改什么、决定什么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47700" y="2495550"/>
            <a:ext cx="83820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6" name=""/>
          <p:cNvSpPr/>
          <p:nvPr/>
        </p:nvSpPr>
        <p:spPr>
          <a:xfrm rot="0" flipH="0" flipV="0">
            <a:off x="609600" y="2495550"/>
            <a:ext cx="876300" cy="781050"/>
          </a:xfrm>
          <a:custGeom>
            <a:pathLst>
              <a:path w="92" h="82">
                <a:moveTo>
                  <a:pt x="0" y="0"/>
                </a:moveTo>
                <a:lnTo>
                  <a:pt x="4" y="0"/>
                </a:lnTo>
                <a:lnTo>
                  <a:pt x="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04875" y="2762250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7D2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1562100" y="2495550"/>
            <a:ext cx="318135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1676400" y="2781300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数据模型、表结构、指标口径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4819650" y="2495550"/>
            <a:ext cx="4305300" cy="78105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933950" y="278130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数据分层为本体事实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上下文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记忆，三层各有预算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9210675" y="2495550"/>
            <a:ext cx="2371725" cy="78105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03" name=""/>
          <p:cNvSpPr/>
          <p:nvPr/>
        </p:nvSpPr>
        <p:spPr>
          <a:xfrm rot="0" flipH="0" flipV="0">
            <a:off x="9201150" y="2495550"/>
            <a:ext cx="2381250" cy="781050"/>
          </a:xfrm>
          <a:custGeom>
            <a:pathLst>
              <a:path w="250" h="82">
                <a:moveTo>
                  <a:pt x="0" y="0"/>
                </a:moveTo>
                <a:lnTo>
                  <a:pt x="1" y="0"/>
                </a:lnTo>
                <a:lnTo>
                  <a:pt x="1" y="82"/>
                </a:lnTo>
                <a:lnTo>
                  <a:pt x="0" y="82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9324975" y="278130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记忆分层与会话态隔离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47700" y="3352800"/>
            <a:ext cx="8382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09600" y="3352800"/>
            <a:ext cx="876300" cy="771525"/>
          </a:xfrm>
          <a:custGeom>
            <a:pathLst>
              <a:path w="92" h="81">
                <a:moveTo>
                  <a:pt x="0" y="0"/>
                </a:moveTo>
                <a:lnTo>
                  <a:pt x="4" y="0"/>
                </a:lnTo>
                <a:lnTo>
                  <a:pt x="4" y="81"/>
                </a:lnTo>
                <a:lnTo>
                  <a:pt x="0" y="81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904875" y="3609975"/>
            <a:ext cx="323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0651A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1562100" y="3352800"/>
            <a:ext cx="318135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676400" y="3638550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应用清单、集成关系、调用链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4819650" y="3352800"/>
            <a:ext cx="43053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933950" y="3638550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应用变成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拓扑：谁调度谁、谁交接给谁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9210675" y="3352800"/>
            <a:ext cx="2371725" cy="7715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9201150" y="3352800"/>
            <a:ext cx="2381250" cy="771525"/>
          </a:xfrm>
          <a:custGeom>
            <a:pathLst>
              <a:path w="250" h="81">
                <a:moveTo>
                  <a:pt x="0" y="0"/>
                </a:moveTo>
                <a:lnTo>
                  <a:pt x="1" y="0"/>
                </a:lnTo>
                <a:lnTo>
                  <a:pt x="1" y="81"/>
                </a:lnTo>
                <a:lnTo>
                  <a:pt x="0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9324975" y="36385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编排拓扑与身份传递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647700" y="4200525"/>
            <a:ext cx="8382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6" name=""/>
          <p:cNvSpPr/>
          <p:nvPr/>
        </p:nvSpPr>
        <p:spPr>
          <a:xfrm rot="0" flipH="0" flipV="0">
            <a:off x="609600" y="4200525"/>
            <a:ext cx="876300" cy="771525"/>
          </a:xfrm>
          <a:custGeom>
            <a:pathLst>
              <a:path w="92" h="81">
                <a:moveTo>
                  <a:pt x="0" y="0"/>
                </a:moveTo>
                <a:lnTo>
                  <a:pt x="4" y="0"/>
                </a:lnTo>
                <a:lnTo>
                  <a:pt x="4" y="81"/>
                </a:lnTo>
                <a:lnTo>
                  <a:pt x="0" y="81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933450" y="4457700"/>
            <a:ext cx="276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43A17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1562100" y="4200525"/>
            <a:ext cx="318135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676400" y="4486275"/>
            <a:ext cx="29527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运行环境、中间件、非功能指标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4819650" y="4200525"/>
            <a:ext cx="4305300" cy="77152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4933950" y="448627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运行时多了模型服务、上下文窗口、工具网关、终止控制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9210675" y="4200525"/>
            <a:ext cx="2371725" cy="77152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9201150" y="4200525"/>
            <a:ext cx="2381250" cy="771525"/>
          </a:xfrm>
          <a:custGeom>
            <a:pathLst>
              <a:path w="250" h="81">
                <a:moveTo>
                  <a:pt x="0" y="0"/>
                </a:moveTo>
                <a:lnTo>
                  <a:pt x="1" y="0"/>
                </a:lnTo>
                <a:lnTo>
                  <a:pt x="1" y="81"/>
                </a:lnTo>
                <a:lnTo>
                  <a:pt x="0" y="81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9324975" y="4486275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步数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成本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超时</a:t>
            </a:r>
            <a:r>
              <a:rPr lang="en-US" sz="97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b="1">
                <a:solidFill>
                  <a:srgbClr val="C43A17"/>
                </a:solidFill>
                <a:latin typeface="Microsoft YaHei"/>
                <a:ea typeface="Microsoft YaHei"/>
              </a:rPr>
              <a:t>熔断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50482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一句话总结这一页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2514600" y="5114925"/>
            <a:ext cx="8896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传统应用里，架构决定「系统能做什么」；</a:t>
            </a: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应用里，架构还要额外决定「它被允许做什么」。这多出来的一层，就是职权、编排、终止与留痕。管不好这层，</a:t>
            </a:r>
            <a:r>
              <a:rPr lang="en-US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0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就从自动化资产变成风险资产。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52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18 / 30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532" name="" descr="&lt;Slide style={{ width: 1280, height: 720, background: '#FFFFFF', padding: '24px 64px 0' }}&gt;&#10;    &lt;Box style={{ height: 96, flexDirection: 'column', justifyContent: 'flex-start' }}&gt;&#10;    &lt;Text style={{ fontSize: 32, fontWeight: 'bold', color: '#0F1423' }}&gt;&#10;  之 BA：&lt;span style={{ color: '#FA4F24' }}&gt;岗位划分&lt;/span&gt;，Agent 落在组织图的哪一格&#10;     &lt;/Text&gt;&#10;        &lt;Text style={{ fontSize: 20, color: '#8A8F99', marginTop: 8 }}&gt;&#10;   Agent 架构师最常犯的错，是先想「Agent 要做什么」，而不是先想「人原来做什么」&#10;        &lt;/Text&gt;&#10;    &lt;/Box&gt;&#10;    &lt;Box style={{ height: 1, background: '#E8E8E8' }} /&gt;&#10;&#10;    &lt;Box style={{ paddingTop: 16, paddingBottom: 8, height: 479, flexDirection: 'row', gap: 12 }}&gt;&#10;        {/* 左：职责三分法 */}&#10;   &lt;Box style={{ width: 356, background: '#F7F7F8', borderRadius: 4, padding: '12px 14px', flexDirection: 'column' }}&gt;&#10;    &lt;Text style={{ fontSize: 16, fontWeight: 'bold', color: '#0F1423' }}&gt;一岗三分的职责切分&lt;/Text&gt;&#10;     &lt;Text style={{ fontSize: 11, color: '#8A8F99', marginTop: 2, marginBottom: 8 }}&gt;任何岗位引入 Agent 前都必须先做这一次切分&lt;/Text&gt;&#10;   {[&#10;   { t: 'Agent 做', d: '高频、判断规则明确、出错可回滚', pct: '建议占比 60~70%', c: '#FA4F24', bg: '#FFF3EE' },&#10;      { t: 'Agent 建议、人做', d: '规则存在但例外多、需要担责', pct: '建议占比 20~30%', c: '#F87D2F', bg: '#FFF8F2' },&#10;     { t: '人做、Agent 辅助', d: '价值判断、跨组织协同、不可逆', pct: '必须保留', c: '#0F1423', bg: '#FFFFFF' },&#10;   ].map((it, i) =&gt; (&#10;       &lt;Box key={it.t} style={{ flex: 1, background: it.bg, borderRadius: 3, padding: '8px 12px', marginBottom: i === 2 ? 0 : 7, borderLeft: '4px solid ' + it.c }}&gt;&#10;     &lt;Box style={{ flexDirection: 'row', alignItems: 'center' }}&gt;&#10;      &lt;Text style={{ fontSize: 16, fontWeight: 'bold', color: it.c, flex: 1 }}&gt;{it.t}&lt;/Text&gt;&#10;    &lt;Text style={{ fontSize: 11, color: '#8A8F99' }}&gt;{it.pct}&lt;/Text&gt;&#10;   &lt;/Box&gt;&#10;     &lt;Text style={{ fontSize: 12, color: '#5A6072', marginTop: 3, lineHeight: 1.4 }}&gt;{it.d}&lt;/Text&gt;&#10;    &lt;/Box&gt;&#10;       ))}&#10;   &lt;Box style={{ height: 52, background: '#0F1423', borderRadius: 3, padding: '0 12px', justifyContent: 'center', marginTop: 8 }}&gt;&#10;     &lt;Text style={{ fontSize: 12, color: 'rgba(255,255,255,0.9)', lineHeight: 1.45 }}&gt;&#10; 切口选错：把「需要担责的判断」交给 Agent，是企业级 Agent 事故的头号来源。&#10;    &lt;/Text&gt;&#10;      &lt;/Box&gt;&#10;      &lt;/Box&gt;&#10;&#10;     {/* 右：人类保留清单 */}&#10;        &lt;Box style={{ flex: 1, flexDirection: 'column', gap: 8 }}&gt;&#10;   &lt;Box style={{ height: 178, background: '#FFFFFF', border: '1px solid #E8E8E8', borderRadius: 4, padding: '10px 14px', flexDirection: 'column' }}&gt;&#10;            &lt;Text style={{ fontSize: 15, fontWeight: 'bold', color: '#0F1423', marginBottom: 6 }}&gt;五类决定必须留在人手里&lt;/Text&gt;&#10;        {[&#10;              '决定对人的处置：绩效、解聘、薪酬调整',&#10;    '决定资金与承诺：付款、报价、对外签署',&#10;   '决定合规与法律立场：定性、处罚、免责',&#10;     '决定不可逆操作：删除、停产、撤品种',&#10; '决定冲突与例外：跨部门争议、合同例外',&#10;       ].map((t, i) =&gt; (&#10;     &lt;Box key={t} style={{ flexDirection: 'row', alignItems: 'center', gap: 8, flex: 1 }}&gt;&#10;  &lt;Text style={{ fontSize: 12, fontWeight: 'bold', color: '#FA4F24' }}&gt;{String(i + 1).padStart(2, '0')}&lt;/Text&gt;&#10;    &lt;Text style={{ fontSize: 13, color: '#3A4050' }}&gt;{t}&lt;/Text&gt;&#10;      &lt;/Box&gt;&#10;          ))}&#10;    &lt;/Box&gt;&#10;&#10;     &lt;Box style={{ height: 168, background: '#F7F7F8', borderRadius: 4, padding: '10px 14px', flexDirection: 'column' }}&gt;&#10;            &lt;Text style={{ fontSize: 15, fontWeight: 'bold', color: '#0F1423', marginBottom: 6 }}&gt;岗位说明书的六个必填栏&lt;/Text&gt;&#10;    &lt;Box style={{ flexDirection: 'row', flexWrap: 'wrap', gap: 6 }}&gt;&#10;    {[&#10;  { k: '岗位原名', v: '替代谁' },&#10;     { k: '职责范围', v: '哪部分' },&#10;          { k: '职权清单', v: '读 / 改 / 决' },&#10;          { k: '升级路径', v: '何时给人' },&#10;  { k: '验收口径', v: '怎么算做对' },&#10;    { k: '失败处置', v: '错了怎么办' },&#10;       ].map((it, i) =&gt; (&#10; &lt;Box key={it.k} style={{ width: 236, height: 46, background: '#FFFFFF', borderRadius: 3, borderLeft: '3px solid #FA4F24', padding: '6px 10px', marginBottom: 6 }}&gt;&#10;   &lt;Text style={{ fontSize: 12, fontWeight: 'bold', color: '#0F1423' }}&gt;{it.k}&lt;/Text&gt;&#10;     &lt;Text style={{ fontSize: 11, color: '#8A8F99', marginTop: 2 }}&gt;{it.v}必须可验证，不能写「视情况」&lt;/Text&gt;&#10;            &lt;/Box&gt;&#10;      ))}&#10;            &lt;/Box&gt;&#10;            &lt;/Box&gt;&#10;&#10;  &lt;Box style={{ flex: 1, background: '#FFF3EE', borderRadius: 4, borderLeft: '4px solid #FBA15C', padding: '0 14px', flexDirection: 'row', alignItems: 'center', gap: 12 }}&gt;&#10;       &lt;Text style={{ fontSize: 14, fontWeight: 'bold', color: '#C43A17', width: 128 }}&gt;组织侧的配套动作&lt;/Text&gt;&#10;   &lt;Text style={{ fontSize: 13, color: '#5A6072', flex: 1, lineHeight: 1.45 }}&gt;&#10;    设Agent 责任人（对 Agent 的输出负责，不对代码负责）、建代理授权矩阵、把「Agent 建议采纳率」纳入团队指标。只有这三件事到位，Agent 才不会变成没人负责的灰色地带。&#10;   &lt;/Text&gt;&#10;            &lt;/Box&gt;&#10;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&lt;Text style={{ fontSize: 13, color: '#8A8F99', marginLeft: 'auto' }}&gt;19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岗位划分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落在组织图的哪一格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架构师最常犯的错，是先想「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要做什么」，而不是先想「人原来做什么」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609600" y="1304925"/>
            <a:ext cx="3390900" cy="4333875"/>
          </a:xfrm>
          <a:prstGeom prst="roundRect">
            <a:avLst>
              <a:gd name="adj" fmla="val 112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42950" y="1419225"/>
            <a:ext cx="3124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一岗三分的职责切分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742950" y="1628775"/>
            <a:ext cx="3124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任何岗位引入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前都必须先做这一次切分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781050" y="1838325"/>
            <a:ext cx="3124200" cy="990600"/>
          </a:xfrm>
          <a:prstGeom prst="roundRect">
            <a:avLst>
              <a:gd name="adj" fmla="val 2885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41" name=""/>
          <p:cNvSpPr/>
          <p:nvPr/>
        </p:nvSpPr>
        <p:spPr>
          <a:xfrm rot="0" flipH="0" flipV="0">
            <a:off x="781050" y="1838325"/>
            <a:ext cx="3124200" cy="990600"/>
          </a:xfrm>
          <a:custGeom>
            <a:pathLst>
              <a:path w="328" h="104">
                <a:moveTo>
                  <a:pt x="4" y="104"/>
                </a:moveTo>
                <a:cubicBezTo>
                  <a:pt x="3" y="104"/>
                  <a:pt x="2" y="104"/>
                  <a:pt x="1" y="103"/>
                </a:cubicBezTo>
                <a:cubicBezTo>
                  <a:pt x="0" y="102"/>
                  <a:pt x="0" y="102"/>
                  <a:pt x="0" y="10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895350" y="1914525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2876550" y="1943100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建议占比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60~70%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95350" y="2133600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高频、判断规则明确、出错可回滚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81050" y="2895600"/>
            <a:ext cx="3124200" cy="1000125"/>
          </a:xfrm>
          <a:prstGeom prst="roundRect">
            <a:avLst>
              <a:gd name="adj" fmla="val 2857"/>
            </a:avLst>
          </a:prstGeom>
          <a:solidFill>
            <a:srgbClr val="FFF8F2"/>
          </a:solidFill>
          <a:ln/>
        </p:spPr>
        <p:txBody>
          <a:bodyPr/>
          <a:p/>
        </p:txBody>
      </p:sp>
      <p:sp>
        <p:nvSpPr>
          <p:cNvPr id="546" name=""/>
          <p:cNvSpPr/>
          <p:nvPr/>
        </p:nvSpPr>
        <p:spPr>
          <a:xfrm rot="0" flipH="0" flipV="0">
            <a:off x="781050" y="2895600"/>
            <a:ext cx="3124200" cy="1000125"/>
          </a:xfrm>
          <a:custGeom>
            <a:pathLst>
              <a:path w="328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95350" y="29718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F87D2F"/>
                </a:solidFill>
                <a:latin typeface="Microsoft YaHei"/>
                <a:ea typeface="Microsoft YaHei"/>
              </a:rPr>
              <a:t>建议、人做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2876550" y="30003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建议占比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20~30%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95350" y="31908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规则存在但例外多、需要担责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781050" y="3962400"/>
            <a:ext cx="3124200" cy="9906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781050" y="3962400"/>
            <a:ext cx="3124200" cy="990600"/>
          </a:xfrm>
          <a:custGeom>
            <a:pathLst>
              <a:path w="328" h="104">
                <a:moveTo>
                  <a:pt x="4" y="104"/>
                </a:moveTo>
                <a:cubicBezTo>
                  <a:pt x="3" y="104"/>
                  <a:pt x="2" y="104"/>
                  <a:pt x="1" y="103"/>
                </a:cubicBezTo>
                <a:cubicBezTo>
                  <a:pt x="0" y="102"/>
                  <a:pt x="0" y="102"/>
                  <a:pt x="0" y="10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95350" y="40386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人做、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辅助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333750" y="4067175"/>
            <a:ext cx="4191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必须保留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95350" y="4257675"/>
            <a:ext cx="2857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价值判断、跨组织协同、不可逆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742950" y="5029200"/>
            <a:ext cx="3124200" cy="495300"/>
          </a:xfrm>
          <a:prstGeom prst="roundRect">
            <a:avLst>
              <a:gd name="adj" fmla="val 5769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857250" y="5076825"/>
            <a:ext cx="28956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切口选错：把「需要担责的判断」交给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，是企业级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事故的头号来源。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4114800" y="1304925"/>
            <a:ext cx="7467600" cy="169545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4248150" y="140017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五类决定必须留在人手里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4248150" y="16859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467225" y="1685925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决定对人的处置：绩效、解聘、薪酬调整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4248150" y="19431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467225" y="194310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决定资金与承诺：付款、报价、对外签署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4248150" y="22002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4467225" y="219075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决定合规与法律立场：定性、处罚、免责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4248150" y="24479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4467225" y="2447925"/>
            <a:ext cx="2105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决定不可逆操作：删除、停产、撤品种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4248150" y="2705100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4467225" y="2705100"/>
            <a:ext cx="2228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4050"/>
                </a:solidFill>
                <a:latin typeface="Microsoft YaHei"/>
                <a:ea typeface="Microsoft YaHei"/>
              </a:rPr>
              <a:t>决定冲突与例外：跨部门争议、合同例外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4114800" y="3076575"/>
            <a:ext cx="7467600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4248150" y="3171825"/>
            <a:ext cx="7200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岗位说明书的六个必填栏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4276725" y="340042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4276725" y="340042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4371975" y="345757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岗位原名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4371975" y="361950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替代谁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581775" y="340042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6581775" y="340042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677025" y="345757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职责范围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677025" y="361950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哪部分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8886825" y="340042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8886825" y="340042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982075" y="345757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职权清单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982075" y="361950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读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改</a:t>
            </a: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决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276725" y="395287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276725" y="395287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4371975" y="40100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升级路径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371975" y="417195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何时给人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6581775" y="395287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6581775" y="395287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6677025" y="40100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验收口径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677025" y="417195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怎么算做对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8886825" y="3952875"/>
            <a:ext cx="2219325" cy="43815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2" name=""/>
          <p:cNvSpPr/>
          <p:nvPr/>
        </p:nvSpPr>
        <p:spPr>
          <a:xfrm rot="0" flipH="0" flipV="0">
            <a:off x="8886825" y="3952875"/>
            <a:ext cx="2219325" cy="438150"/>
          </a:xfrm>
          <a:custGeom>
            <a:pathLst>
              <a:path w="233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982075" y="4010025"/>
            <a:ext cx="2028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失败处置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982075" y="4171950"/>
            <a:ext cx="2028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错了怎么办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必须可验证，不能写「视情况」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4152900" y="4752975"/>
            <a:ext cx="7467600" cy="885825"/>
          </a:xfrm>
          <a:prstGeom prst="roundRect">
            <a:avLst>
              <a:gd name="adj" fmla="val 430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4152900" y="4752975"/>
            <a:ext cx="7467600" cy="885825"/>
          </a:xfrm>
          <a:custGeom>
            <a:pathLst>
              <a:path w="784" h="93">
                <a:moveTo>
                  <a:pt x="4" y="93"/>
                </a:moveTo>
                <a:cubicBezTo>
                  <a:pt x="2" y="93"/>
                  <a:pt x="0" y="91"/>
                  <a:pt x="0" y="8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3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286250" y="5114925"/>
            <a:ext cx="1219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组织侧的配套动作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619750" y="4981575"/>
            <a:ext cx="58293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设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责任人（对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的输出负责，不对代码负责）、建代理授权矩阵、把「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建议采纳率」纳入团队指标。只有这三件事到位，</a:t>
            </a:r>
            <a:r>
              <a:rPr lang="en-US" sz="97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5A6072"/>
                </a:solidFill>
                <a:latin typeface="Microsoft YaHei"/>
                <a:ea typeface="Microsoft YaHei"/>
              </a:rPr>
              <a:t>才不会变成没人负责的灰色地带。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600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19 / 30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639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 DA：&lt;span style={{ color: '#FA4F24' }}&gt;数据边界与记忆分层&lt;/span&gt;，Agent 的数据架构有三层&#10;    &lt;/Text&gt;&#10;        &lt;Text style={{ fontSize: 20, color: '#8A8F99', marginTop: 8 }}&gt;&#10; 传统 DA 管的是「库里存什么」，Agent 的 DA 还要管「这次对话它能看见什么」&#10;        &lt;/Text&gt;&#10;    &lt;/Box&gt;&#10;    &lt;Box style={{ height: 1, background: '#E8E8E8' }} /&gt;&#10;&#10;    &lt;Box style={{ paddingTop: 16, paddingBottom: 8, height: 479, flexDirection: 'column', gap: 8 }}&gt;&#10;      {/* 三层数据带 */}&#10;      {[&#10;        { n: 'L1', t: '本体事实层', c: '#0F1423', bg: '#F7F7F8', w: '权威、可追溯、口径唯一',&#10;       items: ['业务对象与属性', '对象间关系与基数', '指标定义与计算式', '权限与可见范围'],&#10;   guard: '这一层不归Agent 管，归本体管。Agent 只读，不建自己的影子表。' },&#10;        { n: 'L2', t: '运行上下文层', c: '#FA4F24', bg: '#FFF3EE', w: '按预算装载、可压缩、可失效',&#10;items: ['本次任务相关对象切片', '命中的文档与条款片段', '工具返回的实时结果', '检索来源与引用标记'],&#10;       guard: '预算超了就压缩，宁可少给也不要让上下文溢出后靠模型自己截断。' },&#10;    { n: 'L3', t: 'Agent 记忆层', c: '#F87D2F', bg: '#FFF8F2', w: '会积累、有时效、可人工清除',&#10; items: ['会话态：本轮对话临时变量', '任务态：本次任务的推进进度', '长期态：偏好与历史经验', '反馈态：被纠正过的记录'],&#10;    guard: '长期记忆必须有 TTL 与人工清除入口，否则错误会被 Agent 一遍遍复现。' },&#10;    ].map((it, i) =&gt; (&#10;        &lt;Box key={it.n} style={{ flex: 1, background: it.bg, borderRadius: 4, borderLeft: '5px solid ' + it.c, padding: '9px 14px', flexDirection: 'column' }}&gt;&#10;     &lt;Box style={{ flexDirection: 'row', alignItems: 'center', gap: 10 }}&gt;&#10;   &lt;Text style={{ fontSize: 14, fontWeight: 'bold', color: it.c, width: 30 }}&gt;{it.n}&lt;/Text&gt;&#10;        &lt;Text style={{ fontSize: 16, fontWeight: 'bold', color: '#0F1423' }}&gt;{it.t}&lt;/Text&gt;&#10;    &lt;Text style={{ fontSize: 11, color: '#8A8F99', flex: 1 }}&gt;{it.w}&lt;/Text&gt;&#10;    &lt;/Box&gt;&#10;       &lt;Box style={{ flexDirection: 'row', gap: 8, marginTop: 6, flex: 1 }}&gt;&#10;        {it.items.map((x, k) =&gt; (&#10;  &lt;Box key={k} style={{ flex: 1, background: '#FFFFFF', borderRadius: 3, padding: '5px 8px', justifyContent: 'center' }}&gt;&#10;         &lt;Text style={{ fontSize: 11, color: '#3A4050', lineHeight: 1.35 }}&gt;{x}&lt;/Text&gt;&#10;            &lt;/Box&gt;&#10;          ))}&#10;     &lt;/Box&gt;&#10;      &lt;Box style={{ flexDirection: 'row', alignItems: 'center', gap: 8, marginTop: 5 }}&gt;&#10;     &lt;Text style={{ fontSize: 11, color: '#C43A17' }}&gt;⚠&lt;/Text&gt;&#10;   &lt;Text style={{ fontSize: 11, color: '#5A6072', flex: 1, lineHeight: 1.35 }}&gt;{it.guard}&lt;/Text&gt;&#10;      &lt;/Box&gt;&#10;   &lt;/Box&gt;&#10;      ))}&#10;&#10;      {/* 预算条 */}&#10;      &lt;Box style={{ height: 76, background: '#0F1423', borderRadius: 4, padding: '9px 16px', flexDirection: 'column' }}&gt;&#10;    &lt;Box style={{ flexDirection: 'row', alignItems: 'center', gap: 10 }}&gt;&#10;   &lt;Text style={{ fontSize: 14, fontWeight: 'bold', color: '#FBA15C', width: 168 }}&gt;上下文预算怎么分&lt;/Text&gt;&#10;   &lt;Text style={{ fontSize: 12, color: 'rgba(255,255,255,0.72)', flex: 1, lineHeight: 1.4 }}&gt;建议 35% 给本体事实切片，25% 给检索文档，20% 给工具与历史结果，10% 给技能定义，10% 留给输出推理&lt;/Text&gt;&#10;      &lt;/Box&gt;&#10;        &lt;Box style={{ flexDirection: 'row', gap: 4, marginTop: 7, flex: 1 }}&gt;&#10;     {[&#10;            { w: 35, t: '本体切片 35%', c: '#FA4F24' },&#10;        { w: 25, t: '检索 25%', c: '#F87D2F' },&#10;     { w: 20, t: '工具与历史 20%', c: '#FBA15C' },&#10;    { w: 10, t: '技能 10%', c: '#8A8F99' },&#10;            { w: 10, t: '输出 10%', c: '#5A6072' },&#10;          ].map((s, k) =&gt; (&#10;   &lt;Box key={k} style={{ flex: s.w, background: s.c, borderRadius: 2, alignItems: 'center', justifyContent: 'center' }}&gt;&#10;        &lt;Text style={{ fontSize: 11, color: '#FFFFFF', fontWeight: 'bold' }}&gt;{s.t}&lt;/Text&gt;&#10;    &lt;/Box&gt;&#10;        ))}&#10;  &lt;/Box&gt;&#10;      &lt;/Box&gt;&#10;    &lt;/Box&gt;&#10;&#10;    &lt;Box style={{ height: 58, flexDirection: 'row', alignItems: 'center', borderTop: '1px solid #E8E8E8' }}&gt;&#10; &lt;Box style={{ width: 10, height: 10, background: '#FA4F24' }} /&gt;&#10;        &lt;Text style={{ fontSize: 13, color: '#8A8F99', marginLeft: 12 }}&gt;硕磐机密 · Agent智能体咨询方法论&lt;/Text&gt;&#10;        &lt;Text style={{ fontSize: 13, color: '#8A8F99', marginLeft: 'auto' }}&gt;2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DA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数据边界与记忆分层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的数据架构有三层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传统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管的是「库里存什么」，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还要管「这次对话它能看见什么」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44" name=""/>
          <p:cNvSpPr/>
          <p:nvPr/>
        </p:nvSpPr>
        <p:spPr>
          <a:xfrm rot="0" flipH="0" flipV="0">
            <a:off x="657225" y="1304925"/>
            <a:ext cx="10972800" cy="1123950"/>
          </a:xfrm>
          <a:prstGeom prst="roundRect">
            <a:avLst>
              <a:gd name="adj" fmla="val 339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657225" y="1304925"/>
            <a:ext cx="10972800" cy="1123950"/>
          </a:xfrm>
          <a:custGeom>
            <a:pathLst>
              <a:path w="1152" h="118">
                <a:moveTo>
                  <a:pt x="5" y="118"/>
                </a:moveTo>
                <a:cubicBezTo>
                  <a:pt x="4" y="118"/>
                  <a:pt x="3" y="118"/>
                  <a:pt x="2" y="117"/>
                </a:cubicBezTo>
                <a:cubicBezTo>
                  <a:pt x="1" y="117"/>
                  <a:pt x="0" y="116"/>
                  <a:pt x="0" y="114"/>
                </a:cubicBezTo>
                <a:lnTo>
                  <a:pt x="0" y="114"/>
                </a:lnTo>
                <a:lnTo>
                  <a:pt x="0" y="11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90575" y="14097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71575" y="13906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本体事实层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2028825" y="1419225"/>
            <a:ext cx="9420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权威、可追溯、口径唯一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790575" y="1638300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66775" y="180022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业务对象与属性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3476625" y="1638300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3552825" y="180022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对象间关系与基数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6162675" y="1638300"/>
            <a:ext cx="2600325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238875" y="1800225"/>
            <a:ext cx="2447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指标定义与计算式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8839200" y="1638300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8915400" y="180022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权限与可见范围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790575" y="21907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971550" y="2171700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这一层不归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管，归本体管。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只读，不建自己的影子表。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57225" y="2505075"/>
            <a:ext cx="10972800" cy="1133475"/>
          </a:xfrm>
          <a:prstGeom prst="roundRect">
            <a:avLst>
              <a:gd name="adj" fmla="val 3361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657225" y="2505075"/>
            <a:ext cx="10972800" cy="1133475"/>
          </a:xfrm>
          <a:custGeom>
            <a:pathLst>
              <a:path w="1152" h="119">
                <a:moveTo>
                  <a:pt x="5" y="119"/>
                </a:moveTo>
                <a:cubicBezTo>
                  <a:pt x="4" y="119"/>
                  <a:pt x="3" y="119"/>
                  <a:pt x="2" y="118"/>
                </a:cubicBezTo>
                <a:cubicBezTo>
                  <a:pt x="1" y="118"/>
                  <a:pt x="0" y="117"/>
                  <a:pt x="0" y="115"/>
                </a:cubicBezTo>
                <a:lnTo>
                  <a:pt x="0" y="115"/>
                </a:lnTo>
                <a:lnTo>
                  <a:pt x="0" y="11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790575" y="26098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71575" y="259080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运行上下文层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2181225" y="2619375"/>
            <a:ext cx="9267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按预算装载、可压缩、可失效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790575" y="2838450"/>
            <a:ext cx="26098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66775" y="300037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本次任务相关对象切片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3476625" y="2838450"/>
            <a:ext cx="26098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3552825" y="300037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命中的文档与条款片段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6162675" y="2838450"/>
            <a:ext cx="2600325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6238875" y="3000375"/>
            <a:ext cx="2447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工具返回的实时结果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8839200" y="2838450"/>
            <a:ext cx="2609850" cy="4953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915400" y="3000375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检索来源与引用标记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90575" y="340042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971550" y="3381375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预算超了就压缩，宁可少给也不要让上下文溢出后靠模型自己截断。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57225" y="3714750"/>
            <a:ext cx="10972800" cy="1123950"/>
          </a:xfrm>
          <a:prstGeom prst="roundRect">
            <a:avLst>
              <a:gd name="adj" fmla="val 3390"/>
            </a:avLst>
          </a:prstGeom>
          <a:solidFill>
            <a:srgbClr val="FFF8F2"/>
          </a:solidFill>
          <a:ln/>
        </p:spPr>
        <p:txBody>
          <a:bodyPr/>
          <a:p/>
        </p:txBody>
      </p:sp>
      <p:sp>
        <p:nvSpPr>
          <p:cNvPr id="675" name=""/>
          <p:cNvSpPr/>
          <p:nvPr/>
        </p:nvSpPr>
        <p:spPr>
          <a:xfrm rot="0" flipH="0" flipV="0">
            <a:off x="657225" y="3714750"/>
            <a:ext cx="10972800" cy="1123950"/>
          </a:xfrm>
          <a:custGeom>
            <a:pathLst>
              <a:path w="1152" h="118">
                <a:moveTo>
                  <a:pt x="5" y="118"/>
                </a:moveTo>
                <a:cubicBezTo>
                  <a:pt x="4" y="118"/>
                  <a:pt x="3" y="118"/>
                  <a:pt x="2" y="117"/>
                </a:cubicBezTo>
                <a:cubicBezTo>
                  <a:pt x="1" y="117"/>
                  <a:pt x="0" y="116"/>
                  <a:pt x="0" y="114"/>
                </a:cubicBezTo>
                <a:lnTo>
                  <a:pt x="0" y="114"/>
                </a:lnTo>
                <a:lnTo>
                  <a:pt x="0" y="114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790575" y="3819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171575" y="3800475"/>
            <a:ext cx="971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记忆层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2238375" y="3829050"/>
            <a:ext cx="9210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会积累、有时效、可人工清除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90575" y="4048125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66775" y="4210050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会话态：本轮对话临时变量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3476625" y="4048125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3552825" y="4210050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任务态：本次任务的推进进度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162675" y="4048125"/>
            <a:ext cx="2600325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238875" y="4210050"/>
            <a:ext cx="244792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长期态：偏好与历史经验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8839200" y="4048125"/>
            <a:ext cx="2609850" cy="485775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8915400" y="4210050"/>
            <a:ext cx="245745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反馈态：被纠正过的记录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790575" y="4600575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>
                <a:solidFill>
                  <a:srgbClr val="C43A17"/>
                </a:solidFill>
                <a:latin typeface="Microsoft YaHei"/>
                <a:ea typeface="Microsoft YaHei"/>
              </a:rPr>
              <a:t>⚠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971550" y="4581525"/>
            <a:ext cx="10477500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长期记忆必须有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TTL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与人工清除入口，否则错误会被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一遍遍复现。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9600" y="4914900"/>
            <a:ext cx="10972800" cy="723900"/>
          </a:xfrm>
          <a:prstGeom prst="roundRect">
            <a:avLst>
              <a:gd name="adj" fmla="val 526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762000" y="50196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上下文预算怎么分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2457450" y="5000625"/>
            <a:ext cx="8972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建议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 35%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给本体事实切片，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25%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给检索文档，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20%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给工具与历史结果，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10%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给技能定义，</a:t>
            </a:r>
            <a:r>
              <a:rPr lang="en-US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 xml:space="preserve">10% </a:t>
            </a:r>
            <a:r>
              <a:rPr lang="zh-CN" sz="90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留给输出推理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762000" y="5267325"/>
            <a:ext cx="3676650" cy="285750"/>
          </a:xfrm>
          <a:prstGeom prst="roundRect">
            <a:avLst>
              <a:gd name="adj" fmla="val 666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2257425" y="5343525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本体切片</a:t>
            </a: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35%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476750" y="5267325"/>
            <a:ext cx="2628900" cy="285750"/>
          </a:xfrm>
          <a:prstGeom prst="roundRect">
            <a:avLst>
              <a:gd name="adj" fmla="val 6667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5553075" y="534352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检索</a:t>
            </a: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25%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7143750" y="5267325"/>
            <a:ext cx="2105025" cy="285750"/>
          </a:xfrm>
          <a:prstGeom prst="roundRect">
            <a:avLst>
              <a:gd name="adj" fmla="val 6667"/>
            </a:avLst>
          </a:prstGeom>
          <a:solidFill>
            <a:srgbClr val="FBA15C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800975" y="5343525"/>
            <a:ext cx="79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工具与历史</a:t>
            </a: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20%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9286875" y="5267325"/>
            <a:ext cx="1057275" cy="285750"/>
          </a:xfrm>
          <a:prstGeom prst="roundRect">
            <a:avLst>
              <a:gd name="adj" fmla="val 6667"/>
            </a:avLst>
          </a:prstGeom>
          <a:solidFill>
            <a:srgbClr val="8A8F99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582150" y="534352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技能</a:t>
            </a: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10%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10382250" y="5267325"/>
            <a:ext cx="1047750" cy="285750"/>
          </a:xfrm>
          <a:prstGeom prst="roundRect">
            <a:avLst>
              <a:gd name="adj" fmla="val 6667"/>
            </a:avLst>
          </a:prstGeom>
          <a:solidFill>
            <a:srgbClr val="5A6072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10668000" y="5343525"/>
            <a:ext cx="476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输出</a:t>
            </a: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10%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03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20 / 30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706" name="" descr="&lt;Slide style={{ width: 1280, height: 720, background: '#FFFFFF', padding: '24px 64px 0' }}&gt;&#10;  &lt;Box style={{ height: 96, flexDirection: 'column', justifyContent: 'flex-start' }}&gt;&#10;        &lt;Text style={{ fontSize: 32, fontWeight: 'bold', color: '#0F1423' }}&gt;&#10;   之 AA：&lt;span style={{ color: '#FA4F24' }}&gt;编排与身份&lt;/span&gt;，Agent 应用架构长什么样&#10;     &lt;/Text&gt;&#10;  &lt;Text style={{ fontSize: 20, color: '#8A8F99', marginTop: 8 }}&gt;&#10;   传统调用链是 A 调B；Agent 应用是调度者决定下一个是谁、以及以谁的身份去调&#10;      &lt;/Text&gt;&#10;    &lt;/Box&gt;&#10;    &lt;Box style={{ height: 1, background: '#E8E8E8' }} /&gt;&#10;&#10;    &lt;Box style={{ paddingTop: 16, paddingBottom: 8, height: 479, flexDirection: 'column', gap: 8 }}&gt;&#10;      {/* 编排四角色 */}&#10;      &lt;Box style={{ flex: 1, background: '#F7F7F8', borderRadius: 4, padding: '10px 14px', flexDirection: 'column' }}&gt;&#10;        &lt;Text style={{ fontSize: 15, fontWeight: 'bold', color: '#0F1423', marginBottom: 6 }}&gt;编排面上必须显式定义的四个角色&lt;/Text&gt;&#10;        &lt;Box style={{ flexDirection: 'row', gap: 8, flex: 1 }}&gt;&#10;     {[&#10;   { n: '入口', t: 'Router', d: '接住用户意图，判断该交给谁。不做业务判断，只做分诊。', c: '#FA4F24' },&#10; { n: '调度', t: 'Supervisor', d: '团队内分工、决定顺序、决定是否重来。不直接干业务。', c: '#F87D2F' },&#10;  { n: '执行', t: 'Worker', d: '专业执行者，只做一类任务，可被并行派发。', c: '#E0651A' },&#10; { n: '兜底', t: 'Human Gate', d: '人在关键节点接手，有明确的进入条件与交付物。', c: '#0F1423' },&#10;       ].map((it, i) =&gt; (&#10;        &lt;Box key={it.n} style={{ flex: 1, background: '#FFFFFF', borderRadius: 3, borderTop: '3px solid ' + it.c, padding: '7px 10px' }}&gt;&#10;              &lt;Text style={{ fontSize: 12, color: '#8A8F99' }}&gt;{it.n}&lt;/Text&gt;&#10;        &lt;Text style={{ fontSize: 16, fontWeight: 'bold', color: it.c, marginTop: 1 }}&gt;{it.t}&lt;/Text&gt;&#10;  &lt;Text style={{ fontSize: 11, color: '#5A6072', marginTop: 4, lineHeight: 1.4 }}&gt;{it.d}&lt;/Text&gt;&#10;          &lt;/Box&gt;&#10;     ))}&#10;    &lt;/Box&gt;&#10;      &lt;/Box&gt;&#10;&#10;  {/* 身份传递链 */}&#10;      &lt;Box style={{ height: 116, background: '#0F1423', borderRadius: 4, padding: '10px 16px', flexDirection: 'column' }}&gt;&#10; &lt;Text style={{ fontSize: 14, fontWeight: 'bold', color: '#FBA15C' }}&gt;身份传递链：权限必须跟着人走，不能停在 Agent 这一层&lt;/Text&gt;&#10;   &lt;Box style={{ flexDirection: 'row', alignItems: 'center', gap: 6, marginTop: 8, flex: 1 }}&gt;&#10;     {[&#10;      { t: '最终用户', s: '张三 · 华东区采购经理', c: '#FA4F24' },&#10;  { t: 'Agent 代理', s: '以张三身份运行', c: '#F87D2F' },&#10;  { t: '数据集', s: '只可见张三有权数据', c: '#FBA15C' },&#10;    { t: '检索索引', s: '过滤后切片', c: '#8A8F99' },&#10;  { t: 'Action', s: '权限与张三一致', c: '#5A6072' },&#10;     ].map((x, i) =&gt; (&#10;      &lt;Box key={i} style={{ flexDirection: 'row', alignItems: 'center', flex: 1, gap: 6 }}&gt;&#10;    &lt;Box style={{ flex: 1, height: 46, borderRadius: 3, background: 'rgba(255,255,255,0.08)', borderLeft: '3px solid ' + x.c, padding: '6px 10px', justifyContent: 'center' }}&gt;&#10;        &lt;Text style={{ fontSize: 13, fontWeight: 'bold', color: '#FFFFFF' }}&gt;{x.t}&lt;/Text&gt;&#10;        &lt;Text style={{ fontSize: 10, color: 'rgba(255,255,255,0.62)', marginTop: 2 }}&gt;{x.s}&lt;/Text&gt;&#10;          &lt;/Box&gt;&#10;   {i &lt; 4 ? &lt;Text style={{ fontSize: 14, color: 'rgba(255,255,255,0.4)' }}&gt;→&lt;/Text&gt; : null}&#10;    &lt;/Box&gt;&#10;     ))}&#10;        &lt;/Box&gt;&#10;      &lt;/Box&gt;&#10;&#10;      {/* 三条硬规则 */}&#10;      &lt;Box style={{ flex: 1, flexDirection: 'row', gap: 8 }}&gt;&#10;        {[&#10;      { t: '状态契约先于调用', d: 'Agent 之间传递必须是结构化对象，不能是自然语言。', c: '#FA4F24' },&#10;    { t: '职责不重叠', d: '两个 Agent 不允许同时对同一对象有写权限，否则归属不清。', c: '#F87D2F' },&#10;     { t: '每条轨迹可追', d: '一次任务全程留痕，能回答谁调的、调了什么、结果如何。', c: '#0F1423' },&#10;    ].map((it, i) =&gt; (&#10;      &lt;Box key={it.t} style={{ flex: 1, background: it.c, borderRadius: 4, padding: '10px 14px', justifyContent: 'center' }}&gt;&#10;     &lt;Text style={{ fontSize: 15, fontWeight: 'bold', color: '#FFFFFF' }}&gt;{it.t}&lt;/Text&gt;&#10;   &lt;Text style={{ fontSize: 12, color: 'rgba(255,255,255,0.86)', marginTop: 5, lineHeight: 1.45 }}&gt;{it.d}&lt;/Text&gt;&#10;     &lt;/Box&gt;&#10;      ))}&#10;&lt;/Box&gt;&#10;    &lt;/Box&gt;&#10;&#10;    &lt;Box style={{ height: 58, flexDirection: 'row', alignItems: 'center', borderTop: '1px solid #E8E8E8' }}&gt;&#10;        &lt;Box style={{ width: 10, height: 10, background: '#FA4F24' }} /&gt;&#10;   &lt;Text style={{ fontSize: 13, color: '#8A8F99', marginLeft: 12 }}&gt;硕磐机密 · Agent智能体咨询方法论&lt;/Text&gt;&#10;        &lt;Text style={{ fontSize: 13, color: '#8A8F99', marginLeft: 'auto' }}&gt;21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编排与身份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应用架构长什么样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传统调用链是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调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B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；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应用是调度者决定下一个是谁、以及以谁的身份去调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11" name=""/>
          <p:cNvSpPr/>
          <p:nvPr/>
        </p:nvSpPr>
        <p:spPr>
          <a:xfrm rot="0" flipH="0" flipV="0">
            <a:off x="609600" y="1304925"/>
            <a:ext cx="10972800" cy="1895475"/>
          </a:xfrm>
          <a:prstGeom prst="roundRect">
            <a:avLst>
              <a:gd name="adj" fmla="val 201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742950" y="1400175"/>
            <a:ext cx="1070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编排面上必须显式定义的四个角色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42950" y="1657350"/>
            <a:ext cx="2619375" cy="147637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742950" y="1657350"/>
            <a:ext cx="2619375" cy="1476375"/>
          </a:xfrm>
          <a:custGeom>
            <a:pathLst>
              <a:path w="275" h="155">
                <a:moveTo>
                  <a:pt x="272" y="0"/>
                </a:moveTo>
                <a:cubicBezTo>
                  <a:pt x="274" y="0"/>
                  <a:pt x="275" y="1"/>
                  <a:pt x="27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38200" y="172402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入口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38200" y="187642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Router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38200" y="2105025"/>
            <a:ext cx="24288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接住用户意图，判断该交给谁。不做业务判断，只做分诊。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3438525" y="1657350"/>
            <a:ext cx="2619375" cy="147637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9" name=""/>
          <p:cNvSpPr/>
          <p:nvPr/>
        </p:nvSpPr>
        <p:spPr>
          <a:xfrm rot="0" flipH="0" flipV="0">
            <a:off x="3438525" y="1657350"/>
            <a:ext cx="2619375" cy="1476375"/>
          </a:xfrm>
          <a:custGeom>
            <a:pathLst>
              <a:path w="275" h="155">
                <a:moveTo>
                  <a:pt x="272" y="0"/>
                </a:moveTo>
                <a:cubicBezTo>
                  <a:pt x="274" y="0"/>
                  <a:pt x="275" y="1"/>
                  <a:pt x="27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3533775" y="172402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调度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3533775" y="187642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87D2F"/>
                </a:solidFill>
                <a:latin typeface="Microsoft YaHei"/>
                <a:ea typeface="Microsoft YaHei"/>
              </a:rPr>
              <a:t>Supervisor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533775" y="2105025"/>
            <a:ext cx="2428875" cy="352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团队内分工、决定顺序、决定是否重来。不直接干业务。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134100" y="1657350"/>
            <a:ext cx="2619375" cy="147637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4" name=""/>
          <p:cNvSpPr/>
          <p:nvPr/>
        </p:nvSpPr>
        <p:spPr>
          <a:xfrm rot="0" flipH="0" flipV="0">
            <a:off x="6134100" y="1657350"/>
            <a:ext cx="2619375" cy="1476375"/>
          </a:xfrm>
          <a:custGeom>
            <a:pathLst>
              <a:path w="275" h="155">
                <a:moveTo>
                  <a:pt x="272" y="0"/>
                </a:moveTo>
                <a:cubicBezTo>
                  <a:pt x="274" y="0"/>
                  <a:pt x="275" y="1"/>
                  <a:pt x="27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229350" y="172402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执行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229350" y="187642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0651A"/>
                </a:solidFill>
                <a:latin typeface="Microsoft YaHei"/>
                <a:ea typeface="Microsoft YaHei"/>
              </a:rPr>
              <a:t>Worker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6229350" y="2105025"/>
            <a:ext cx="24288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专业执行者，只做一类任务，可被并行派发。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8829675" y="1657350"/>
            <a:ext cx="2619375" cy="1476375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8829675" y="1657350"/>
            <a:ext cx="2619375" cy="1476375"/>
          </a:xfrm>
          <a:custGeom>
            <a:pathLst>
              <a:path w="275" h="155">
                <a:moveTo>
                  <a:pt x="272" y="0"/>
                </a:moveTo>
                <a:cubicBezTo>
                  <a:pt x="274" y="0"/>
                  <a:pt x="275" y="1"/>
                  <a:pt x="27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272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924925" y="1724025"/>
            <a:ext cx="2428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A8F99"/>
                </a:solidFill>
                <a:latin typeface="Microsoft YaHei"/>
                <a:ea typeface="Microsoft YaHei"/>
              </a:rPr>
              <a:t>兜底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8924925" y="187642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>Human Gate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8924925" y="2105025"/>
            <a:ext cx="242887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人在关键节点接手，有明确的进入条件与交付物。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09600" y="3276600"/>
            <a:ext cx="10972800" cy="1104900"/>
          </a:xfrm>
          <a:prstGeom prst="roundRect">
            <a:avLst>
              <a:gd name="adj" fmla="val 344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身份传递链：权限必须跟着人走，不能停在</a:t>
            </a: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这一层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790575" y="3733800"/>
            <a:ext cx="1895475" cy="43815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36" name=""/>
          <p:cNvSpPr/>
          <p:nvPr/>
        </p:nvSpPr>
        <p:spPr>
          <a:xfrm rot="0" flipH="0" flipV="0">
            <a:off x="790575" y="3733800"/>
            <a:ext cx="1895475" cy="438150"/>
          </a:xfrm>
          <a:custGeom>
            <a:pathLst>
              <a:path w="199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885825" y="38100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最终用户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885825" y="3981450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张三</a:t>
            </a:r>
            <a:r>
              <a:rPr lang="en-US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华东区采购经理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2714625" y="3876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2933700" y="3733800"/>
            <a:ext cx="1895475" cy="43815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41" name=""/>
          <p:cNvSpPr/>
          <p:nvPr/>
        </p:nvSpPr>
        <p:spPr>
          <a:xfrm rot="0" flipH="0" flipV="0">
            <a:off x="2933700" y="3733800"/>
            <a:ext cx="1895475" cy="438150"/>
          </a:xfrm>
          <a:custGeom>
            <a:pathLst>
              <a:path w="199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3028950" y="38100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代理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3028950" y="3981450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以张三身份运行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4857750" y="3876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5076825" y="3733800"/>
            <a:ext cx="1905000" cy="43815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46" name=""/>
          <p:cNvSpPr/>
          <p:nvPr/>
        </p:nvSpPr>
        <p:spPr>
          <a:xfrm rot="0" flipH="0" flipV="0">
            <a:off x="5076825" y="3733800"/>
            <a:ext cx="1905000" cy="438150"/>
          </a:xfrm>
          <a:custGeom>
            <a:pathLst>
              <a:path w="200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5172075" y="3810000"/>
            <a:ext cx="1685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数据集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5172075" y="3981450"/>
            <a:ext cx="1685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只可见张三有权数据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010400" y="3876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7229475" y="3733800"/>
            <a:ext cx="1895475" cy="43815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7229475" y="3733800"/>
            <a:ext cx="1895475" cy="438150"/>
          </a:xfrm>
          <a:custGeom>
            <a:pathLst>
              <a:path w="199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7324725" y="38100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检索索引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324725" y="3981450"/>
            <a:ext cx="16764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过滤后切片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153525" y="38766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FFFFFF">
                    <a:alpha val="40000"/>
                  </a:srgbClr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9372600" y="3733800"/>
            <a:ext cx="2085975" cy="438150"/>
          </a:xfrm>
          <a:prstGeom prst="roundRect">
            <a:avLst>
              <a:gd name="adj" fmla="val 6522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56" name=""/>
          <p:cNvSpPr/>
          <p:nvPr/>
        </p:nvSpPr>
        <p:spPr>
          <a:xfrm rot="0" flipH="0" flipV="0">
            <a:off x="9372600" y="3733800"/>
            <a:ext cx="2085975" cy="438150"/>
          </a:xfrm>
          <a:custGeom>
            <a:pathLst>
              <a:path w="219" h="46">
                <a:moveTo>
                  <a:pt x="3" y="46"/>
                </a:moveTo>
                <a:cubicBezTo>
                  <a:pt x="1" y="46"/>
                  <a:pt x="0" y="45"/>
                  <a:pt x="0" y="4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6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9467850" y="38100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Action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9467850" y="398145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权限与张三一致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609600" y="4457700"/>
            <a:ext cx="3609975" cy="1181100"/>
          </a:xfrm>
          <a:prstGeom prst="roundRect">
            <a:avLst>
              <a:gd name="adj" fmla="val 3226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42950" y="4838700"/>
            <a:ext cx="3343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状态契约先于调用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742950" y="5057775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之间传递必须是结构化对象，不能是自然语言。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4295775" y="4457700"/>
            <a:ext cx="3600450" cy="1181100"/>
          </a:xfrm>
          <a:prstGeom prst="roundRect">
            <a:avLst>
              <a:gd name="adj" fmla="val 3226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4429125" y="4838700"/>
            <a:ext cx="333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职责不重叠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429125" y="5057775"/>
            <a:ext cx="33337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两个</a:t>
            </a:r>
            <a:r>
              <a:rPr lang="en-US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不允许同时对同一对象有写权限，否则归属不清。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7972425" y="4457700"/>
            <a:ext cx="3609975" cy="1181100"/>
          </a:xfrm>
          <a:prstGeom prst="roundRect">
            <a:avLst>
              <a:gd name="adj" fmla="val 3226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8105775" y="4838700"/>
            <a:ext cx="3343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每条轨迹可追</a:t>
            </a:r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8105775" y="5057775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一次任务全程留痕，能回答谁调的、调了什么、结果如何。</a:t>
            </a:r>
            <a:endParaRPr/>
          </a:p>
        </p:txBody>
      </p:sp>
      <p:sp>
        <p:nvSpPr>
          <p:cNvPr id="76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76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21 / 30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77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 TA：&lt;span style={{ color: '#FA4F24' }}&gt;运行时与非功能&lt;/span&gt;，Agent 要额外扛的四件事&#10;        &lt;/Text&gt;&#10;     &lt;Text style={{ fontSize: 20, color: '#8A8F99', marginTop: 8 }}&gt;&#10;传统应用靠加机器扛并发，Agent 应用多一个维度：不推理的时候也在花钱&#10;     &lt;/Text&gt;&#10;    &lt;/Box&gt;&#10;    &lt;Box style={{ height: 1, background: '#E8E8E8' }} /&gt;&#10;&#10;    &lt;Box style={{ paddingTop: 16, paddingBottom: 8, height: 479, flexDirection: 'column', gap: 9 }}&gt;&#10;      {/* 运行时组件链 */}&#10;      &lt;Box style={{ height: 92, background: '#F7F7F8', borderRadius: 4, padding: '10px 14px', flexDirection: 'column' }}&gt;&#10;  &lt;Text style={{ fontSize: 15, fontWeight: 'bold', color: '#0F1423', marginBottom: 7 }}&gt;运行时组件链：比传统应用多出中间三块&lt;/Text&gt;&#10;      &lt;Box style={{ flexDirection: 'row', alignItems: 'stretch', gap: 4, flex: 1 }}&gt;&#10;        {[&#10;     { t: '接入层', d: '会话 / 渠道', c: '#8A8F99' },&#10;          { t: '编排引擎', d: '调度 · 状态机', c: '#0F1423', n: true },&#10;          { t: '模型网关', d: '多模型路由', c: '#FA4F24', n: true },&#10;   { t: '上下文装配器', d: '预算 · 压缩 · 注入', c: '#FA4F24', n: true },&#10;   { t: '工具网关', d: 'Action 注册与调用', c: '#FA4F24', n: true },&#10;      { t: '终止控制', d: '步数 · 成本 · 超时', c: '#0F1423', n: true },&#10;    { t: '轨迹存储', d: '全链路审计', c: '#8A8F99' },&#10;    ].map((x, i) =&gt; (&#10;   &lt;Box key={x.t} style={{ flex: 1, background: '#FFFFFF', borderRadius: 3, borderTop: '3px solid ' + x.c, padding: '5px 6px' }}&gt;&#10;   &lt;Text style={{ fontSize: 12, fontWeight: 'bold', color: x.c, textAlign: 'center' }}&gt;{x.t}&lt;/Text&gt;&#10;    &lt;Text style={{ fontSize: 10, color: '#8A8F99', textAlign: 'center', marginTop: 2 }}&gt;{x.d}&lt;/Text&gt;&#10; &lt;/Box&gt;&#10;       ))}&#10;        &lt;Box style={{ width: 8, background: '#FFF3EE', borderRadius: 2, alignItems: 'center', justifyContent: 'center' }}&gt;&#10;    &lt;Text style={{ fontSize: 10, color: '#C43A17', fontWeight: 'bold' }}&gt;新&lt;/Text&gt;&#10;    &lt;/Box&gt;&#10;      &lt;/Box&gt;&#10;      &lt;/Box&gt;&#10;&#10;      {/* 四项非功能 */}&#10; &lt;Box style={{ flex: 1, flexDirection: 'row', gap: 8 }}&gt;&#10;     {[&#10;      { t: '成本可预测', d: '按任务设预算上限，超限即降级或转人工', k: '指标：单任务平均成本 P95', c: '#FA4F24' },&#10;         { t: '延迟可接受', d: '并行取数、流式输出，长任务给进度', k: '指标：首字延迟与端到端 P95', c: '#F87D2F' },&#10;            { t: '失败可恢复', d: '幂等 Action + 检查点 + 断点续跑', k: '指标：任务可恢复率', c: '#E0651A' },&#10;     { t: '质量可度量', d: '离线评测集 + 在线抽检 + 回归', k: '指标：任务级通过率', c: '#C43A17' },&#10;          ].map((it, i) =&gt; (&#10;   &lt;Box key={it.t} style={{ flex: 1, background: '#F7F7F8', borderRadius: 4, borderLeft: '4px solid ' + it.c, padding: '9px 12px', flexDirection: 'column' }}&gt;&#10;        &lt;Text style={{ fontSize: 15, fontWeight: 'bold', color: it.c }}&gt;{it.t}&lt;/Text&gt;&#10;     &lt;Text style={{ fontSize: 12, color: '#5A6072', marginTop: 5, lineHeight: 1.45, flex: 1 }}&gt;{it.d}&lt;/Text&gt;&#10;          &lt;Box style={{ height: 24, background: '#FFFFFF', borderRadius: 2, justifyContent: 'center', padding: '0 8px' }}&gt;&#10; &lt;Text style={{ fontSize: 11, color: '#3A4050' }}&gt;{it.k}&lt;/Text&gt;&#10;     &lt;/Box&gt;&#10;      &lt;/Box&gt;&#10;      ))}&#10;        &lt;/Box&gt;&#10;&#10;      {/* 终止条件 */}&#10;      &lt;Box style={{ height: 130, background: '#0F1423', borderRadius: 4, padding: '11px 16px', flexDirection: 'column' }}&gt;&#10;   &lt;Text style={{ fontSize: 15, fontWeight: 'bold', color: '#FBA15C' }}&gt;五条终止条件：这是 Agent 独有的非功能，缺一条就能烧掉预算&lt;/Text&gt;&#10;        &lt;Box style={{ flexDirection: 'row', gap: 8, marginTop: 9, flex: 1 }}&gt;&#10;   {[&#10;      { k: '步数', v: '单任务不超过 N 步，超了转人工', c: '#FA4F24' },&#10;   { k: '成本', v: '单任务 token 与金额上限', c: '#F87D2F' },&#10;       { k: '超时', v: '墙钟超时即中止，不允许无限等', c: '#FBA15C' },&#10;    { k: '重复', v: '连续相同调用即熔断', c: '#8A8F99' },&#10;    { k: '置信', v: '关键判断置信不足即停手', c: '#5A6072' },&#10;          ].map((x, i) =&gt; (&#10;       &lt;Box key={x.k} style={{ flex: 1, background: 'rgba(255,255,255,0.07)', borderRadius: 3, borderLeft: '3px solid ' + x.c, padding: '6px 9px', justifyContent: 'center' }}&gt;&#10;   &lt;Text style={{ fontSize: 13, fontWeight: 'bold', color: '#FFFFFF' }}&gt;{x.k}&lt;/Text&gt;&#10;      &lt;Text style={{ fontSize: 10, color: 'rgba(255,255,255,0.62)', marginTop: 3, lineHeight: 1.35 }}&gt;{x.v}&lt;/Text&gt;&#10;     &lt;/Box&gt;&#10;    ))}&#10;        &lt;/Box&gt;&#10;        &lt;Text style={{ fontSize: 11, color: 'rgba(255,255,255,0.55)', marginTop: 8 }}&gt;&#10;    终止条件必须在设计时就写进 Agent 配置，不能等上线后靠监控兜底 —— 失控的任务往往在几秒内就把预算烧完了。&#10;        &lt;/Text&gt;&#10;    &lt;/Box&gt;&#10;    &lt;/Box&gt;&#10;&#10;    &lt;Box style={{ height: 58, flexDirection: 'row', alignItems: 'center', borderTop: '1px solid #E8E8E8' }}&gt;&#10;    &lt;Box style={{ width: 10, height: 10, background: '#FA4F24' }} /&gt;&#10;        &lt;Text style={{ fontSize: 13, color: '#8A8F99', marginLeft: 12 }}&gt;硕磐机密 · Agent智能体咨询方法论&lt;/Text&gt;&#10;        &lt;Text style={{ fontSize: 13, color: '#8A8F99', marginLeft: 'auto' }}&gt;22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TA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运行时与非功能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要额外扛的四件事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传统应用靠加机器扛并发，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应用多一个维度：不推理的时候也在花钱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77" name=""/>
          <p:cNvSpPr/>
          <p:nvPr/>
        </p:nvSpPr>
        <p:spPr>
          <a:xfrm rot="0" flipH="0" flipV="0">
            <a:off x="609600" y="1304925"/>
            <a:ext cx="10972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42950" y="1400175"/>
            <a:ext cx="10706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运行时组件链：比传统应用多出中间三块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742950" y="1666875"/>
            <a:ext cx="14763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0" name=""/>
          <p:cNvSpPr/>
          <p:nvPr/>
        </p:nvSpPr>
        <p:spPr>
          <a:xfrm rot="0" flipH="0" flipV="0">
            <a:off x="742950" y="1666875"/>
            <a:ext cx="1476375" cy="447675"/>
          </a:xfrm>
          <a:custGeom>
            <a:pathLst>
              <a:path w="155" h="47">
                <a:moveTo>
                  <a:pt x="152" y="0"/>
                </a:moveTo>
                <a:cubicBezTo>
                  <a:pt x="154" y="0"/>
                  <a:pt x="155" y="1"/>
                  <a:pt x="15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1362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8A8F99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800100" y="1876425"/>
            <a:ext cx="13620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会话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渠道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2257425" y="1666875"/>
            <a:ext cx="1485900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4" name=""/>
          <p:cNvSpPr/>
          <p:nvPr/>
        </p:nvSpPr>
        <p:spPr>
          <a:xfrm rot="0" flipH="0" flipV="0">
            <a:off x="2257425" y="1666875"/>
            <a:ext cx="1485900" cy="447675"/>
          </a:xfrm>
          <a:custGeom>
            <a:pathLst>
              <a:path w="156" h="47">
                <a:moveTo>
                  <a:pt x="153" y="0"/>
                </a:moveTo>
                <a:cubicBezTo>
                  <a:pt x="155" y="0"/>
                  <a:pt x="156" y="1"/>
                  <a:pt x="15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3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314575" y="1714500"/>
            <a:ext cx="1371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编排引擎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2314575" y="1876425"/>
            <a:ext cx="13716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调度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状态机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3781425" y="1666875"/>
            <a:ext cx="14763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8" name=""/>
          <p:cNvSpPr/>
          <p:nvPr/>
        </p:nvSpPr>
        <p:spPr>
          <a:xfrm rot="0" flipH="0" flipV="0">
            <a:off x="3781425" y="1666875"/>
            <a:ext cx="1476375" cy="447675"/>
          </a:xfrm>
          <a:custGeom>
            <a:pathLst>
              <a:path w="155" h="47">
                <a:moveTo>
                  <a:pt x="152" y="0"/>
                </a:moveTo>
                <a:cubicBezTo>
                  <a:pt x="154" y="0"/>
                  <a:pt x="155" y="1"/>
                  <a:pt x="15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838575" y="1714500"/>
            <a:ext cx="1362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模型网关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3838575" y="1876425"/>
            <a:ext cx="13620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多模型路由</a:t>
            </a:r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5295900" y="1666875"/>
            <a:ext cx="1485900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2" name=""/>
          <p:cNvSpPr/>
          <p:nvPr/>
        </p:nvSpPr>
        <p:spPr>
          <a:xfrm rot="0" flipH="0" flipV="0">
            <a:off x="5295900" y="1666875"/>
            <a:ext cx="1485900" cy="447675"/>
          </a:xfrm>
          <a:custGeom>
            <a:pathLst>
              <a:path w="156" h="47">
                <a:moveTo>
                  <a:pt x="153" y="0"/>
                </a:moveTo>
                <a:cubicBezTo>
                  <a:pt x="155" y="0"/>
                  <a:pt x="156" y="1"/>
                  <a:pt x="15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5353050" y="1714500"/>
            <a:ext cx="1371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上下文装配器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5353050" y="1876425"/>
            <a:ext cx="13716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预算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压缩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注入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6819900" y="1666875"/>
            <a:ext cx="14763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6" name=""/>
          <p:cNvSpPr/>
          <p:nvPr/>
        </p:nvSpPr>
        <p:spPr>
          <a:xfrm rot="0" flipH="0" flipV="0">
            <a:off x="6819900" y="1666875"/>
            <a:ext cx="1476375" cy="447675"/>
          </a:xfrm>
          <a:custGeom>
            <a:pathLst>
              <a:path w="155" h="47">
                <a:moveTo>
                  <a:pt x="152" y="0"/>
                </a:moveTo>
                <a:cubicBezTo>
                  <a:pt x="154" y="0"/>
                  <a:pt x="155" y="1"/>
                  <a:pt x="15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6877050" y="1714500"/>
            <a:ext cx="1362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A4F24"/>
                </a:solidFill>
                <a:latin typeface="Microsoft YaHei"/>
                <a:ea typeface="Microsoft YaHei"/>
              </a:rPr>
              <a:t>工具网关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6877050" y="1876425"/>
            <a:ext cx="13620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Action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注册与调用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8334375" y="1666875"/>
            <a:ext cx="1485900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0" name=""/>
          <p:cNvSpPr/>
          <p:nvPr/>
        </p:nvSpPr>
        <p:spPr>
          <a:xfrm rot="0" flipH="0" flipV="0">
            <a:off x="8334375" y="1666875"/>
            <a:ext cx="1485900" cy="447675"/>
          </a:xfrm>
          <a:custGeom>
            <a:pathLst>
              <a:path w="156" h="47">
                <a:moveTo>
                  <a:pt x="153" y="0"/>
                </a:moveTo>
                <a:cubicBezTo>
                  <a:pt x="155" y="0"/>
                  <a:pt x="156" y="1"/>
                  <a:pt x="156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3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8391525" y="1714500"/>
            <a:ext cx="1371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终止控制</a:t>
            </a:r>
            <a:endParaRPr/>
          </a:p>
        </p:txBody>
      </p:sp>
      <p:sp>
        <p:nvSpPr>
          <p:cNvPr id="802" name="" descr="{&quot;isTemplate&quot;:true,&quot;type&quot;:&quot;text&quot;}"/>
          <p:cNvSpPr txBox="1"/>
          <p:nvPr/>
        </p:nvSpPr>
        <p:spPr>
          <a:xfrm rot="0" flipH="0" flipV="0">
            <a:off x="8391525" y="1876425"/>
            <a:ext cx="1371600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步数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成本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9858375" y="1666875"/>
            <a:ext cx="1476375" cy="447675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4" name=""/>
          <p:cNvSpPr/>
          <p:nvPr/>
        </p:nvSpPr>
        <p:spPr>
          <a:xfrm rot="0" flipH="0" flipV="0">
            <a:off x="9858375" y="1666875"/>
            <a:ext cx="1476375" cy="447675"/>
          </a:xfrm>
          <a:custGeom>
            <a:pathLst>
              <a:path w="155" h="47">
                <a:moveTo>
                  <a:pt x="152" y="0"/>
                </a:moveTo>
                <a:cubicBezTo>
                  <a:pt x="154" y="0"/>
                  <a:pt x="155" y="1"/>
                  <a:pt x="155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9915525" y="1714500"/>
            <a:ext cx="1362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8A8F99"/>
                </a:solidFill>
                <a:latin typeface="Microsoft YaHei"/>
                <a:ea typeface="Microsoft YaHei"/>
              </a:rPr>
              <a:t>轨迹存储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9915525" y="1876425"/>
            <a:ext cx="1362075" cy="1143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全链路审计</a:t>
            </a:r>
            <a:endParaRPr/>
          </a:p>
        </p:txBody>
      </p:sp>
      <p:sp>
        <p:nvSpPr>
          <p:cNvPr id="807" name=""/>
          <p:cNvSpPr/>
          <p:nvPr/>
        </p:nvSpPr>
        <p:spPr>
          <a:xfrm rot="0" flipH="0" flipV="0">
            <a:off x="11372850" y="1638300"/>
            <a:ext cx="76200" cy="447675"/>
          </a:xfrm>
          <a:prstGeom prst="roundRect">
            <a:avLst>
              <a:gd name="adj" fmla="val 25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11363325" y="1809750"/>
            <a:ext cx="95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C43A17"/>
                </a:solidFill>
                <a:latin typeface="Microsoft YaHei"/>
                <a:ea typeface="Microsoft YaHei"/>
              </a:rPr>
              <a:t>新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647700" y="2266950"/>
            <a:ext cx="2686050" cy="2047875"/>
          </a:xfrm>
          <a:prstGeom prst="roundRect">
            <a:avLst>
              <a:gd name="adj" fmla="val 18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0" name=""/>
          <p:cNvSpPr/>
          <p:nvPr/>
        </p:nvSpPr>
        <p:spPr>
          <a:xfrm rot="0" flipH="0" flipV="0">
            <a:off x="647700" y="2266950"/>
            <a:ext cx="2686050" cy="2047875"/>
          </a:xfrm>
          <a:custGeom>
            <a:pathLst>
              <a:path w="282" h="215">
                <a:moveTo>
                  <a:pt x="4" y="215"/>
                </a:moveTo>
                <a:cubicBezTo>
                  <a:pt x="2" y="215"/>
                  <a:pt x="0" y="213"/>
                  <a:pt x="0" y="21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成本可预测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62000" y="2571750"/>
            <a:ext cx="2419350" cy="1428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按任务设预算上限，超限即降级或转人工</a:t>
            </a:r>
            <a:endParaRPr/>
          </a:p>
        </p:txBody>
      </p:sp>
      <p:sp>
        <p:nvSpPr>
          <p:cNvPr id="813" name=""/>
          <p:cNvSpPr/>
          <p:nvPr/>
        </p:nvSpPr>
        <p:spPr>
          <a:xfrm rot="0" flipH="0" flipV="0">
            <a:off x="762000" y="4000500"/>
            <a:ext cx="2419350" cy="228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指标：单任务平均成本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P95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3409950" y="2266950"/>
            <a:ext cx="2686050" cy="2047875"/>
          </a:xfrm>
          <a:prstGeom prst="roundRect">
            <a:avLst>
              <a:gd name="adj" fmla="val 18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6" name=""/>
          <p:cNvSpPr/>
          <p:nvPr/>
        </p:nvSpPr>
        <p:spPr>
          <a:xfrm rot="0" flipH="0" flipV="0">
            <a:off x="3409950" y="2266950"/>
            <a:ext cx="2686050" cy="2047875"/>
          </a:xfrm>
          <a:custGeom>
            <a:pathLst>
              <a:path w="282" h="215">
                <a:moveTo>
                  <a:pt x="4" y="215"/>
                </a:moveTo>
                <a:cubicBezTo>
                  <a:pt x="2" y="215"/>
                  <a:pt x="0" y="213"/>
                  <a:pt x="0" y="21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5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3524250" y="235267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延迟可接受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3524250" y="2571750"/>
            <a:ext cx="2419350" cy="1428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并行取数、流式输出，长任务给进度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3524250" y="4000500"/>
            <a:ext cx="2419350" cy="228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3600450" y="4048125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指标：首字延迟与端到端</a:t>
            </a:r>
            <a:r>
              <a:rPr lang="en-US" sz="825">
                <a:solidFill>
                  <a:srgbClr val="3A4050"/>
                </a:solidFill>
                <a:latin typeface="Microsoft YaHei"/>
                <a:ea typeface="Microsoft YaHei"/>
              </a:rPr>
              <a:t xml:space="preserve"> P95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172200" y="2266950"/>
            <a:ext cx="2686050" cy="2047875"/>
          </a:xfrm>
          <a:prstGeom prst="roundRect">
            <a:avLst>
              <a:gd name="adj" fmla="val 18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2" name=""/>
          <p:cNvSpPr/>
          <p:nvPr/>
        </p:nvSpPr>
        <p:spPr>
          <a:xfrm rot="0" flipH="0" flipV="0">
            <a:off x="6172200" y="2266950"/>
            <a:ext cx="2686050" cy="2047875"/>
          </a:xfrm>
          <a:custGeom>
            <a:pathLst>
              <a:path w="282" h="215">
                <a:moveTo>
                  <a:pt x="4" y="215"/>
                </a:moveTo>
                <a:cubicBezTo>
                  <a:pt x="2" y="215"/>
                  <a:pt x="0" y="213"/>
                  <a:pt x="0" y="21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5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6286500" y="235267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51A"/>
                </a:solidFill>
                <a:latin typeface="Microsoft YaHei"/>
                <a:ea typeface="Microsoft YaHei"/>
              </a:rPr>
              <a:t>失败可恢复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286500" y="2571750"/>
            <a:ext cx="2419350" cy="1428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幂等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检查点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断点续跑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6286500" y="4000500"/>
            <a:ext cx="2419350" cy="228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6362700" y="4048125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指标：任务可恢复率</a:t>
            </a:r>
            <a:endParaRPr/>
          </a:p>
        </p:txBody>
      </p:sp>
      <p:sp>
        <p:nvSpPr>
          <p:cNvPr id="827" name=""/>
          <p:cNvSpPr/>
          <p:nvPr/>
        </p:nvSpPr>
        <p:spPr>
          <a:xfrm rot="0" flipH="0" flipV="0">
            <a:off x="8934450" y="2266950"/>
            <a:ext cx="2686050" cy="2047875"/>
          </a:xfrm>
          <a:prstGeom prst="roundRect">
            <a:avLst>
              <a:gd name="adj" fmla="val 186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28" name=""/>
          <p:cNvSpPr/>
          <p:nvPr/>
        </p:nvSpPr>
        <p:spPr>
          <a:xfrm rot="0" flipH="0" flipV="0">
            <a:off x="8934450" y="2266950"/>
            <a:ext cx="2686050" cy="2047875"/>
          </a:xfrm>
          <a:custGeom>
            <a:pathLst>
              <a:path w="282" h="215">
                <a:moveTo>
                  <a:pt x="4" y="215"/>
                </a:moveTo>
                <a:cubicBezTo>
                  <a:pt x="2" y="215"/>
                  <a:pt x="0" y="213"/>
                  <a:pt x="0" y="21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215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9048750" y="2352675"/>
            <a:ext cx="2419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质量可度量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9048750" y="2571750"/>
            <a:ext cx="2419350" cy="1428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离线评测集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在线抽检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回归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9048750" y="4000500"/>
            <a:ext cx="2419350" cy="228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124950" y="4048125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3A4050"/>
                </a:solidFill>
                <a:latin typeface="Microsoft YaHei"/>
                <a:ea typeface="Microsoft YaHei"/>
              </a:rPr>
              <a:t>指标：任务级通过率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609600" y="4400550"/>
            <a:ext cx="10972800" cy="1238250"/>
          </a:xfrm>
          <a:prstGeom prst="roundRect">
            <a:avLst>
              <a:gd name="adj" fmla="val 3077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762000" y="4505325"/>
            <a:ext cx="10668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五条终止条件：这是</a:t>
            </a:r>
            <a:r>
              <a:rPr lang="en-US" sz="1125" b="1">
                <a:solidFill>
                  <a:srgbClr val="FBA15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FBA15C"/>
                </a:solidFill>
                <a:latin typeface="Microsoft YaHei"/>
                <a:ea typeface="Microsoft YaHei"/>
              </a:rPr>
              <a:t>独有的非功能，缺一条就能烧掉预算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790575" y="4762500"/>
            <a:ext cx="2076450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36" name=""/>
          <p:cNvSpPr/>
          <p:nvPr/>
        </p:nvSpPr>
        <p:spPr>
          <a:xfrm rot="0" flipH="0" flipV="0">
            <a:off x="790575" y="4762500"/>
            <a:ext cx="2076450" cy="561975"/>
          </a:xfrm>
          <a:custGeom>
            <a:pathLst>
              <a:path w="218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876300" y="4876800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步数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76300" y="5057775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单任务不超过</a:t>
            </a:r>
            <a:r>
              <a:rPr lang="en-US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N </a:t>
            </a: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步，超了转人工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2943225" y="4762500"/>
            <a:ext cx="2066925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40" name=""/>
          <p:cNvSpPr/>
          <p:nvPr/>
        </p:nvSpPr>
        <p:spPr>
          <a:xfrm rot="0" flipH="0" flipV="0">
            <a:off x="2943225" y="4762500"/>
            <a:ext cx="2066925" cy="561975"/>
          </a:xfrm>
          <a:custGeom>
            <a:pathLst>
              <a:path w="217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3028950" y="48768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成本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3028950" y="50577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单任务</a:t>
            </a:r>
            <a:r>
              <a:rPr lang="en-US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与金额上限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5086350" y="4762500"/>
            <a:ext cx="2076450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44" name=""/>
          <p:cNvSpPr/>
          <p:nvPr/>
        </p:nvSpPr>
        <p:spPr>
          <a:xfrm rot="0" flipH="0" flipV="0">
            <a:off x="5086350" y="4762500"/>
            <a:ext cx="2076450" cy="561975"/>
          </a:xfrm>
          <a:custGeom>
            <a:pathLst>
              <a:path w="218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5172075" y="4876800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超时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5172075" y="5057775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墙钟超时即中止，不允许无限等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7239000" y="4762500"/>
            <a:ext cx="2066925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48" name=""/>
          <p:cNvSpPr/>
          <p:nvPr/>
        </p:nvSpPr>
        <p:spPr>
          <a:xfrm rot="0" flipH="0" flipV="0">
            <a:off x="7239000" y="4762500"/>
            <a:ext cx="2066925" cy="561975"/>
          </a:xfrm>
          <a:custGeom>
            <a:pathLst>
              <a:path w="217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7324725" y="4876800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重复</a:t>
            </a:r>
            <a:endParaRPr/>
          </a:p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7324725" y="50577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连续相同调用即熔断</a:t>
            </a:r>
            <a:endParaRPr/>
          </a:p>
        </p:txBody>
      </p:sp>
      <p:sp>
        <p:nvSpPr>
          <p:cNvPr id="851" name=""/>
          <p:cNvSpPr/>
          <p:nvPr/>
        </p:nvSpPr>
        <p:spPr>
          <a:xfrm rot="0" flipH="0" flipV="0">
            <a:off x="9382125" y="4762500"/>
            <a:ext cx="2076450" cy="561975"/>
          </a:xfrm>
          <a:prstGeom prst="roundRect">
            <a:avLst>
              <a:gd name="adj" fmla="val 5085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852" name=""/>
          <p:cNvSpPr/>
          <p:nvPr/>
        </p:nvSpPr>
        <p:spPr>
          <a:xfrm rot="0" flipH="0" flipV="0">
            <a:off x="9382125" y="4762500"/>
            <a:ext cx="2076450" cy="561975"/>
          </a:xfrm>
          <a:custGeom>
            <a:pathLst>
              <a:path w="218" h="59">
                <a:moveTo>
                  <a:pt x="3" y="59"/>
                </a:moveTo>
                <a:cubicBezTo>
                  <a:pt x="1" y="59"/>
                  <a:pt x="0" y="58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59"/>
                </a:lnTo>
                <a:close/>
              </a:path>
            </a:pathLst>
          </a:custGeom>
          <a:solidFill>
            <a:srgbClr val="5A6072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9467850" y="4876800"/>
            <a:ext cx="1876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置信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9467850" y="5057775"/>
            <a:ext cx="1876425" cy="161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7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关键判断置信不足即停手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62000" y="5400675"/>
            <a:ext cx="10668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终止条件必须在设计时就写进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配置，不能等上线后靠监控兜底</a:t>
            </a:r>
            <a:r>
              <a:rPr lang="en-US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82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失控的任务往往在几秒内就把预算烧完了。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85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22 / 30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860" name="" descr="&lt;Slide style={{ width: 1280, height: 720, background: '#FFFFFF', padding: '24px 64px 0' }}&gt;&#10;    &lt;Box style={{ height: 96, flexDirection: 'column', justifyContent: 'flex-start' }}&gt;&#10;      &lt;Text style={{ fontSize: 32, fontWeight: 'bold', color: '#0F1423' }}&gt;&#10; 之选型：&lt;span style={{ color: '#FA4F24' }}&gt;多 Agent 拓扑&lt;/span&gt;，五种摆法与各自的触发条件&#10;   &lt;/Text&gt;&#10;        &lt;Text style={{ fontSize: 20, color: '#8A8F99', marginTop: 8 }}&gt;&#10;        拓扑不是设计出来的，是被阈值逼出来的 —— 没被逼出来就别拆&#10;    &lt;/Text&gt;&#10;    &lt;/Box&gt;&#10;    &lt;Box style={{ height: 1, background: '#E8E8E8' }} /&gt;&#10;&#10;    &lt;Box style={{ paddingTop: 16, paddingBottom: 8, height: 479, flexDirection: 'column', gap: 8 }}&gt;&#10;      {/* 表头 */}&#10;      &lt;Box style={{ flexDirection: 'row', gap: 8 }}&gt;&#10;        &lt;Box style={{ width: 116, background: '#0F1423', alignItems: 'center', justifyContent: 'center' }}&gt;&lt;Text style={{ fontSize: 12, fontWeight: 'bold', color: '#FFFFFF' }}&gt;拓扑&lt;/Text&gt;&lt;/Box&gt;&#10; &lt;Box style={{ width: 168, background: '#0F1423', alignItems: 'center', justifyContent: 'center' }}&gt;&lt;Text style={{ fontSize: 12, fontWeight: 'bold', color: '#FFFFFF' }}&gt;结构&lt;/Text&gt;&lt;/Box&gt;&#10;   &lt;Box style={{ flex: 1, background: '#0F1423', alignItems: 'center', justifyContent: 'center' }}&gt;&lt;Text style={{ fontSize: 12, fontWeight: 'bold', color: '#FFFFFF' }}&gt;适用场景&lt;/Text&gt;&lt;/Box&gt;&#10;        &lt;Box style={{ width: 244, background: '#0F1423', alignItems: 'center', justifyContent: 'center' }}&gt;&lt;Text style={{ fontSize: 12, fontWeight: 'bold', color: '#FFFFFF' }}&gt;什么情况下才该上&lt;/Text&gt;&lt;/Box&gt;&#10;        &lt;Box style={{ width: 190, background: '#0F1423', alignItems: 'center', justifyContent: 'center' }}&gt;&lt;Text style={{ fontSize: 12, fontWeight: 'bold', color: '#FFFFFF' }}&gt;主要代价&lt;/Text&gt;&lt;/Box&gt;&#10;   &lt;/Box&gt;&#10;&#10; {[&#10;   { n: '单Agent', s: '1 → N工具', u: '绝大多数场景的起点', w: '默认选项，不需要额外理由', r: '上下文压力大、易被无关工具干扰', c: '#0F1423' },&#10;    { n: 'Supervisor', s: '1 → 多 Worker', u: '任务需分工且需统一收口', w: '上下文容量突破、职责明显可分', r: '调度层本身成为单点与延迟源', c: '#FA4F24' },&#10;        { n: 'Pipeline', s: '顺序交接', u: '阶段固定、前后强依赖', w: '流程可被清晰切成前后步骤', r: '任一环节出错会全链失败', c: '#F87D2F' },&#10;        { n: 'Parallel+Voter', s: '并发多解投票', u: '答案可判定对错', w: '单解质量不稳、验证成本低', r: '成本与延迟成倍增长', c: '#E0651A' },&#10;        { n: 'Loop', s: '生成→批评→修订', u: '文本类交付物', w: '有明确的质量标准与批评者', r: '容易停不下来，必须配终止条件', c: '#C43A17' },&#10;      ].map((it, i) =&gt; (&#10;        &lt;Box key={it.n} style={{ flex: 1, flexDirection: 'row', gap: 8 }}&gt;&#10;          &lt;Box style={{ width: 116, background: '#F7F7F8', borderLeft: '4px solid ' + it.c, alignItems: 'center', justifyContent: 'center' }}&gt;&#10;     &lt;Text style={{ fontSize: 15, fontWeight: 'bold', color: it.c, textAlign: 'center' }}&gt;{it.n}&lt;/Text&gt;&#10;       &lt;/Box&gt;&#10;     &lt;Box style={{ width: 168, background: '#F7F7F8', alignItems: 'center', justifyContent: 'center' }}&gt;&#10;  &lt;Text style={{ fontSize: 12, color: '#3A4050', textAlign: 'center' }}&gt;{it.s}&lt;/Text&gt;&#10;          &lt;/Box&gt;&#10;       &lt;Box style={{ flex: 1, background: '#F7F7F8', padding: '0 12px', justifyContent: 'center' }}&gt;&#10;     &lt;Text style={{ fontSize: 12, color: '#0F1423', lineHeight: 1.4 }}&gt;{it.u}&lt;/Text&gt;&#10;     &lt;/Box&gt;&#10;   &lt;Box style={{ width: 244, background: '#FFF3EE', padding: '0 12px', justifyContent: 'center' }}&gt;&#10;      &lt;Text style={{ fontSize: 12, color: '#C43A17', lineHeight: 1.4 }}&gt;{it.w}&lt;/Text&gt;&#10;  &lt;/Box&gt;&#10;      &lt;Box style={{ width: 190, background: '#F7F7F8', padding: '0 12px', justifyContent: 'center' }}&gt;&#10;            &lt;Text style={{ fontSize: 12, color: '#5A6072', lineHeight: 1.4 }}&gt;{it.r}&lt;/Text&gt;&#10;     &lt;/Box&gt;&#10;     &lt;/Box&gt;&#10;      ))}&#10;&#10;      &lt;Box style={{ height: 74, background: '#0F1423', borderRadius: 4, padding: '0 18px', flexDirection: 'row', alignItems: 'center', gap: 14 }}&gt;&#10;  &lt;Text style={{ fontSize: 14, fontWeight: 'bold', color: '#FBA15C', width: 180 }}&gt;生产环境的常见真实组合&lt;/Text&gt;&#10;        &lt;Text style={{ fontSize: 13, color: 'rgba(255,255,255,0.92)', flex: 1, lineHeight: 1.5 }}&gt;&#10;    入口用 Router 做分诊 → 团队内用 Supervisor 分工 → 实际工作用 Pipeline 或 Parallel 执行 → 只有质量敏感的那一步用 Loop 兜底。生产上很少用单一拓扑，通常是四种叠在一起，但每一层的职责边界必须是清晰的。&#10;        &lt;/Text&gt;&#10;      &lt;/Box&gt;&#10;    &lt;/Box&gt;&#10;&#10;    &lt;Box style={{ height: 58, flexDirection: 'row', alignItems: 'center', borderTop: '1px solid #E8E8E8' }}&gt;&#10;        &lt;Box style={{ width: 10, height: 10, background: '#FA4F24' }} /&gt;&#10; &lt;Text style={{ fontSize: 13, color: '#8A8F99', marginLeft: 12 }}&gt;硕磐机密 · Agent智能体咨询方法论&lt;/Text&gt;&#10;        &lt;Text style={{ fontSize: 13, color: '#8A8F99', marginLeft: 'auto' }}&gt;23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之选型：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拓扑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，五种摆法与各自的触发条件</a:t>
            </a:r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拓扑不是设计出来的，是被阈值逼出来的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没被逼出来就别拆</a:t>
            </a:r>
            <a:endParaRPr/>
          </a:p>
        </p:txBody>
      </p:sp>
      <p:sp>
        <p:nvSpPr>
          <p:cNvPr id="86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65" name=""/>
          <p:cNvSpPr/>
          <p:nvPr/>
        </p:nvSpPr>
        <p:spPr>
          <a:xfrm rot="0" flipH="0" flipV="0">
            <a:off x="609600" y="1304925"/>
            <a:ext cx="11049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047750" y="1304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拓扑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1790700" y="1304925"/>
            <a:ext cx="16002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2476500" y="1304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结构</a:t>
            </a:r>
            <a:endParaRPr/>
          </a:p>
        </p:txBody>
      </p:sp>
      <p:sp>
        <p:nvSpPr>
          <p:cNvPr id="869" name=""/>
          <p:cNvSpPr/>
          <p:nvPr/>
        </p:nvSpPr>
        <p:spPr>
          <a:xfrm rot="0" flipH="0" flipV="0">
            <a:off x="3467100" y="1304925"/>
            <a:ext cx="38290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5153025" y="13049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871" name=""/>
          <p:cNvSpPr/>
          <p:nvPr/>
        </p:nvSpPr>
        <p:spPr>
          <a:xfrm rot="0" flipH="0" flipV="0">
            <a:off x="7372350" y="1304925"/>
            <a:ext cx="232410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8077200" y="13049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什么情况下才该上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9772650" y="1304925"/>
            <a:ext cx="18097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0448925" y="13049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主要代价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47700" y="1524000"/>
            <a:ext cx="106680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6" name=""/>
          <p:cNvSpPr/>
          <p:nvPr/>
        </p:nvSpPr>
        <p:spPr>
          <a:xfrm rot="0" flipH="0" flipV="0">
            <a:off x="609600" y="1524000"/>
            <a:ext cx="1104900" cy="723900"/>
          </a:xfrm>
          <a:custGeom>
            <a:pathLst>
              <a:path w="116" h="76">
                <a:moveTo>
                  <a:pt x="0" y="0"/>
                </a:moveTo>
                <a:lnTo>
                  <a:pt x="4" y="0"/>
                </a:lnTo>
                <a:lnTo>
                  <a:pt x="4" y="76"/>
                </a:lnTo>
                <a:lnTo>
                  <a:pt x="0" y="76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95350" y="1800225"/>
            <a:ext cx="581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单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878" name=""/>
          <p:cNvSpPr/>
          <p:nvPr/>
        </p:nvSpPr>
        <p:spPr>
          <a:xfrm rot="0" flipH="0" flipV="0">
            <a:off x="1790700" y="1524000"/>
            <a:ext cx="160020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2305050" y="1819275"/>
            <a:ext cx="571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>1 → N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3467100" y="1524000"/>
            <a:ext cx="382905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3581400" y="1790700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绝大多数场景的起点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7372350" y="1524000"/>
            <a:ext cx="2324100" cy="7239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7486650" y="179070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默认选项，不需要额外理由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9772650" y="1524000"/>
            <a:ext cx="180975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9886950" y="1695450"/>
            <a:ext cx="15811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上下文压力大、易被无关工具干扰</a:t>
            </a:r>
            <a:endParaRPr/>
          </a:p>
        </p:txBody>
      </p:sp>
      <p:sp>
        <p:nvSpPr>
          <p:cNvPr id="886" name=""/>
          <p:cNvSpPr/>
          <p:nvPr/>
        </p:nvSpPr>
        <p:spPr>
          <a:xfrm rot="0" flipH="0" flipV="0">
            <a:off x="647700" y="2324100"/>
            <a:ext cx="10668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7" name=""/>
          <p:cNvSpPr/>
          <p:nvPr/>
        </p:nvSpPr>
        <p:spPr>
          <a:xfrm rot="0" flipH="0" flipV="0">
            <a:off x="609600" y="2324100"/>
            <a:ext cx="1104900" cy="523875"/>
          </a:xfrm>
          <a:custGeom>
            <a:pathLst>
              <a:path w="116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790575" y="2505075"/>
            <a:ext cx="7810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Supervisor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1790700" y="2324100"/>
            <a:ext cx="16002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2190750" y="2514600"/>
            <a:ext cx="800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1 → </a:t>
            </a: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多</a:t>
            </a:r>
            <a:r>
              <a:rPr lang="en-US" sz="900">
                <a:solidFill>
                  <a:srgbClr val="3A4050"/>
                </a:solidFill>
                <a:latin typeface="Microsoft YaHei"/>
                <a:ea typeface="Microsoft YaHei"/>
              </a:rPr>
              <a:t xml:space="preserve"> Worker</a:t>
            </a:r>
            <a:endParaRPr/>
          </a:p>
        </p:txBody>
      </p:sp>
      <p:sp>
        <p:nvSpPr>
          <p:cNvPr id="891" name=""/>
          <p:cNvSpPr/>
          <p:nvPr/>
        </p:nvSpPr>
        <p:spPr>
          <a:xfrm rot="0" flipH="0" flipV="0">
            <a:off x="3467100" y="2324100"/>
            <a:ext cx="38290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3581400" y="2486025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任务需分工且需统一收口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7372350" y="2324100"/>
            <a:ext cx="2324100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7486650" y="24860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上下文容量突破、职责明显可分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9772650" y="2324100"/>
            <a:ext cx="18097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9886950" y="2486025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调度层本身成为单点与延迟源</a:t>
            </a:r>
            <a:endParaRPr/>
          </a:p>
        </p:txBody>
      </p:sp>
      <p:sp>
        <p:nvSpPr>
          <p:cNvPr id="897" name=""/>
          <p:cNvSpPr/>
          <p:nvPr/>
        </p:nvSpPr>
        <p:spPr>
          <a:xfrm rot="0" flipH="0" flipV="0">
            <a:off x="647700" y="2924175"/>
            <a:ext cx="106680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8" name=""/>
          <p:cNvSpPr/>
          <p:nvPr/>
        </p:nvSpPr>
        <p:spPr>
          <a:xfrm rot="0" flipH="0" flipV="0">
            <a:off x="609600" y="2924175"/>
            <a:ext cx="1104900" cy="533400"/>
          </a:xfrm>
          <a:custGeom>
            <a:pathLst>
              <a:path w="116" h="56">
                <a:moveTo>
                  <a:pt x="0" y="0"/>
                </a:moveTo>
                <a:lnTo>
                  <a:pt x="4" y="0"/>
                </a:lnTo>
                <a:lnTo>
                  <a:pt x="4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99" name="" descr="{&quot;isTemplate&quot;:true,&quot;type&quot;:&quot;text&quot;}"/>
          <p:cNvSpPr txBox="1"/>
          <p:nvPr/>
        </p:nvSpPr>
        <p:spPr>
          <a:xfrm rot="0" flipH="0" flipV="0">
            <a:off x="895350" y="3105150"/>
            <a:ext cx="581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87D2F"/>
                </a:solidFill>
                <a:latin typeface="Microsoft YaHei"/>
                <a:ea typeface="Microsoft YaHei"/>
              </a:rPr>
              <a:t>Pipeline</a:t>
            </a:r>
            <a:endParaRPr/>
          </a:p>
        </p:txBody>
      </p:sp>
      <p:sp>
        <p:nvSpPr>
          <p:cNvPr id="900" name=""/>
          <p:cNvSpPr/>
          <p:nvPr/>
        </p:nvSpPr>
        <p:spPr>
          <a:xfrm rot="0" flipH="0" flipV="0">
            <a:off x="1790700" y="2924175"/>
            <a:ext cx="160020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2362200" y="3124200"/>
            <a:ext cx="457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顺序交接</a:t>
            </a:r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3467100" y="2924175"/>
            <a:ext cx="382905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3581400" y="3095625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阶段固定、前后强依赖</a:t>
            </a:r>
            <a:endParaRPr/>
          </a:p>
        </p:txBody>
      </p:sp>
      <p:sp>
        <p:nvSpPr>
          <p:cNvPr id="904" name=""/>
          <p:cNvSpPr/>
          <p:nvPr/>
        </p:nvSpPr>
        <p:spPr>
          <a:xfrm rot="0" flipH="0" flipV="0">
            <a:off x="7372350" y="2924175"/>
            <a:ext cx="2324100" cy="5334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7486650" y="3095625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流程可被清晰切成前后步骤</a:t>
            </a:r>
            <a:endParaRPr/>
          </a:p>
        </p:txBody>
      </p:sp>
      <p:sp>
        <p:nvSpPr>
          <p:cNvPr id="906" name=""/>
          <p:cNvSpPr/>
          <p:nvPr/>
        </p:nvSpPr>
        <p:spPr>
          <a:xfrm rot="0" flipH="0" flipV="0">
            <a:off x="9772650" y="2924175"/>
            <a:ext cx="1809750" cy="5334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9886950" y="3095625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任一环节出错会全链失败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647700" y="3533775"/>
            <a:ext cx="10668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9" name=""/>
          <p:cNvSpPr/>
          <p:nvPr/>
        </p:nvSpPr>
        <p:spPr>
          <a:xfrm rot="0" flipH="0" flipV="0">
            <a:off x="609600" y="3533775"/>
            <a:ext cx="1104900" cy="523875"/>
          </a:xfrm>
          <a:custGeom>
            <a:pathLst>
              <a:path w="116" h="55">
                <a:moveTo>
                  <a:pt x="0" y="0"/>
                </a:moveTo>
                <a:lnTo>
                  <a:pt x="4" y="0"/>
                </a:lnTo>
                <a:lnTo>
                  <a:pt x="4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66750" y="3714750"/>
            <a:ext cx="10287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E0651A"/>
                </a:solidFill>
                <a:latin typeface="Microsoft YaHei"/>
                <a:ea typeface="Microsoft YaHei"/>
              </a:rPr>
              <a:t>Parallel+Voter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1790700" y="3533775"/>
            <a:ext cx="160020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2247900" y="3724275"/>
            <a:ext cx="6858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并发多解投票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3467100" y="3533775"/>
            <a:ext cx="38290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3581400" y="3695700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答案可判定对错</a:t>
            </a:r>
            <a:endParaRPr/>
          </a:p>
        </p:txBody>
      </p:sp>
      <p:sp>
        <p:nvSpPr>
          <p:cNvPr id="915" name=""/>
          <p:cNvSpPr/>
          <p:nvPr/>
        </p:nvSpPr>
        <p:spPr>
          <a:xfrm rot="0" flipH="0" flipV="0">
            <a:off x="7372350" y="3533775"/>
            <a:ext cx="2324100" cy="5238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7486650" y="369570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单解质量不稳、验证成本低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9772650" y="3533775"/>
            <a:ext cx="1809750" cy="5238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9886950" y="3695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成本与延迟成倍增长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647700" y="4133850"/>
            <a:ext cx="106680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0" name=""/>
          <p:cNvSpPr/>
          <p:nvPr/>
        </p:nvSpPr>
        <p:spPr>
          <a:xfrm rot="0" flipH="0" flipV="0">
            <a:off x="609600" y="4133850"/>
            <a:ext cx="1104900" cy="723900"/>
          </a:xfrm>
          <a:custGeom>
            <a:pathLst>
              <a:path w="116" h="76">
                <a:moveTo>
                  <a:pt x="0" y="0"/>
                </a:moveTo>
                <a:lnTo>
                  <a:pt x="4" y="0"/>
                </a:lnTo>
                <a:lnTo>
                  <a:pt x="4" y="76"/>
                </a:lnTo>
                <a:lnTo>
                  <a:pt x="0" y="76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000125" y="4410075"/>
            <a:ext cx="3619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C43A17"/>
                </a:solidFill>
                <a:latin typeface="Microsoft YaHei"/>
                <a:ea typeface="Microsoft YaHei"/>
              </a:rPr>
              <a:t>Loop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1790700" y="4133850"/>
            <a:ext cx="160020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2133600" y="4429125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生成→批评→修订</a:t>
            </a:r>
            <a:endParaRPr/>
          </a:p>
        </p:txBody>
      </p:sp>
      <p:sp>
        <p:nvSpPr>
          <p:cNvPr id="924" name=""/>
          <p:cNvSpPr/>
          <p:nvPr/>
        </p:nvSpPr>
        <p:spPr>
          <a:xfrm rot="0" flipH="0" flipV="0">
            <a:off x="3467100" y="4133850"/>
            <a:ext cx="382905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3581400" y="4400550"/>
            <a:ext cx="36004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0F1423"/>
                </a:solidFill>
                <a:latin typeface="Microsoft YaHei"/>
                <a:ea typeface="Microsoft YaHei"/>
              </a:rPr>
              <a:t>文本类交付物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7372350" y="4133850"/>
            <a:ext cx="2324100" cy="7239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7486650" y="440055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C43A17"/>
                </a:solidFill>
                <a:latin typeface="Microsoft YaHei"/>
                <a:ea typeface="Microsoft YaHei"/>
              </a:rPr>
              <a:t>有明确的质量标准与批评者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9772650" y="4133850"/>
            <a:ext cx="1809750" cy="7239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9886950" y="4305300"/>
            <a:ext cx="158115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容易停不下来，必须配终止条件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609600" y="4933950"/>
            <a:ext cx="10972800" cy="704850"/>
          </a:xfrm>
          <a:prstGeom prst="roundRect">
            <a:avLst>
              <a:gd name="adj" fmla="val 54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生产环境的常见真实组合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2628900" y="5067300"/>
            <a:ext cx="87820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入口用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Router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做分诊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团队内用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Supervisor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分工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实际工作用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Pipeline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或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Parallel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执行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只有质量敏感的那一步用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Loop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兜底。生产上很少用单一拓扑，通常是四种叠在一起，但每一层的职责边界必须是清晰的。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93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23 / 30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937" name="" descr="&lt;Slide style={{ width: 1280, height: 720, background: '#0F1423' }}&gt;&#10; &lt;Box style={{ position: 'absolute', left: 0, top: 0, width: 1280, height: 720, background: 'linear-gradient(135deg, #0F1423 0%, #2A1810 100%)' }} /&gt;&#10;    &lt;Box style={{ position: 'absolute', right: 0, top: 0, width: 560, height: 720, background: 'linear-gradient(200deg, rgba(250,79,36,0.28) 0%, rgba(250,79,36,0) 70%)' }} /&gt;&#10;&#10;    &lt;Box style={{ position: 'absolute', right: 70, top: 110 }}&gt;&#10;  &lt;Text style={{ fontSize: 300, fontWeight: 'bold', color: 'rgba(255,255,255,0.08)', lineHeight: 1.0 }}&gt;04&lt;/Text&gt;&#10;    &lt;/Box&gt;&#10;&#10;    &lt;Box style={{ position: 'absolute', left: 88, top: 232, width: 700, flexDirection: 'column' }}&gt;&#10;   &lt;Text style={{ fontSize: 15, color: 'rgba(255,255,255,0.5)', letterSpacing: 3 }}&gt;PART 04&lt;/Text&gt;&#10;        &lt;Box style={{ width: 72, height: 5, background: '#FA4F24', marginTop: 22 }} /&gt;&#10;      &lt;Text style={{ fontSize: 52, fontWeight: 'bold', color: '#FFFFFF', marginTop: 28, lineHeight: 1.15 }}&gt;工程与治理&lt;/Text&gt;&#10;        &lt;Text style={{ fontSize: 17, color: 'rgba(255,255,255,0.62)', letterSpacing: 2, marginTop: 20 }}&gt;CONTROL · EVALUATE · EVOLVE&lt;/Text&gt;&#10;   &lt;Text style={{ fontSize: 19, color: 'rgba(255,255,255,0.85)', marginTop: 26, lineHeight: 1.6 }}&gt;Demo 好看不算上线，能被审计、能被度量和能被停掉才算上线&lt;/Text&gt;&#10;    &lt;/Box&gt;&#10;&#10;    &lt;Box style={{ position: 'absolute', right: 88, bottom: 64, flexDirection: 'row', alignItems: 'center', gap: 12 }}&gt;&#10;     &lt;Box style={{ width: 14, height: 14, background: '#FA4F24' }} /&gt;&#10;        &lt;Text style={{ fontSize: 14, color: 'rgba(255,255,255,0.5)' }}&gt;硕磐机密 · Agent智能体咨询方法论&lt;/Text&gt;&#10;        &lt;Text style={{ fontSize: 14, color: 'rgba(255,255,255,0.5)', marginLeft: 12 }}&gt;24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40" name=""/>
          <p:cNvSpPr/>
          <p:nvPr/>
        </p:nvSpPr>
        <p:spPr>
          <a:xfrm rot="0" flipH="0" flipV="0"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FA4F24">
                  <a:alpha val="28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991475" y="10477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38200" y="22098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PART 04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838200" y="25908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838200" y="2905125"/>
            <a:ext cx="6667500" cy="6858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工程与治理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666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CONTROL · EVALUATE · EVOLVE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838200" y="4229100"/>
            <a:ext cx="66675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Demo </a:t>
            </a:r>
            <a:r>
              <a:rPr lang="zh-CN" sz="14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好看不算上线，能被审计、能被度量和能被停掉才算上线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8315325" y="61055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8562975" y="60864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10896600" y="60864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24 / 30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95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之闸门：&lt;span style={{ color: '#FA4F24' }}&gt;Agent 专属的五道门&lt;/span&gt;，传统应用没有的四道在这里&#10;        &lt;/Text&gt;&#10;        &lt;Text style={{ fontSize: 20, color: '#8A8F99', marginTop: 8 }}&gt;&#10;          安全门测试的是漏洞，这五道门测的是「它越权了吗、它停得下来吗、它说得清依据吗」&#10;        &lt;/Text&gt;&#10;    &lt;/Box&gt;&#10;    &lt;Box style={{ height: 1, background: '#E8E8E8' }} /&gt;&#10;&#10;  &lt;Box style={{ paddingTop: 16, paddingBottom: 8, height: 479, flexDirection: 'column', gap: 8 }}&gt;&#10;    {[&#10;      { n: '第一道', t: '权限门', q: '它能看见的数据，是它本来那个人能看见的吗？', how: '用张三的账号跑一遍，再换李四跑同一请求，比对返回结果', c: '#FA4F24' },&#10;      { n: '第二道', t: '职权门', q: '它做的每个动作，是不是这个岗位本来就有权做的？', how: '列出 Action 调用清单，逐条比对岗位授权矩阵', c: '#F87D2F' },&#10;      { n: '第三道', t: '提示注入门', q: '把恶意指令塞进它要读的文档里，它会不会照做？', how: '构造注入样本集，检查它是否越过本体与 Action 直接动手', c: '#E0651A' },&#10;      { n: '第四道', t: '停手门', q: '触发终止条件时，它真的会停吗？', how: '注入超限、超时、低置信度样本，观察是否正确中止并转人工', c: '#C43A17' },&#10;      { n: '第五道', t: '留痕门', q: '事后能不能完整复盘这次决策？', how: '随机抽 20 条轨迹，检查是否含输入、依据、动作、结果、耗时', c: '#0F1423' },&#10;    ].map((it, i) =&gt; (&#10;        &lt;Box key={it.n} style={{ flex: 1, background: '#F7F7F8', borderRadius: 4, borderLeft: '5px solid ' + it.c, padding: '9px 14px', flexDirection: 'row', alignItems: 'center' }}&gt;&#10;        &lt;Text style={{ fontSize: 14, fontWeight: 'bold', color: it.c, width: 56 }}&gt;{it.n}&lt;/Text&gt;&#10; &lt;Text style={{ fontSize: 17, fontWeight: 'bold', color: '#0F1423', width: 92 }}&gt;{it.t}&lt;/Text&gt;&#10;          &lt;Box style={{ flex: 1, height: 34, background: '#FFFFFF', borderRadius: 3, padding: '0 12px', justifyContent: 'center' }}&gt;&#10;        &lt;Text style={{ fontSize: 13, color: '#0F1423' }}&gt;{it.q}&lt;/Text&gt;&#10;   &lt;/Box&gt;&#10;     &lt;Box style={{ width: 356, height: 34, background: '#FFF3EE', borderRadius: 3, padding: '0 12px', justifyContent: 'center', flexDirection: 'row', alignItems: 'center', gap: 8 }}&gt;&#10;     &lt;Text style={{ fontSize: 11, color: '#C43A17', fontWeight: 'bold' }}&gt;怎么测&lt;/Text&gt;&#10; &lt;Text style={{ fontSize: 11, color: '#5A6072', flex: 1, lineHeight: 1.35 }}&gt;{it.how}&lt;/Text&gt;&#10;       &lt;/Box&gt;&#10;    &lt;/Box&gt;&#10;      ))}&#10;&#10;      &lt;Box style={{ height: 68, background: '#0F1423', borderRadius: 4, padding: '0 18px', flexDirection: 'row', alignItems: 'center', gap: 14 }}&gt;&#10;        &lt;Text style={{ fontSize: 14, fontWeight: 'bold', color: '#FBA15C', width: 148 }}&gt;和传统应用的区别&lt;/Text&gt;&#10;        &lt;Text style={{ fontSize: 13, color: 'rgba(255,255,255,0.92)', flex: 1, lineHeight: 1.45 }}&gt;&#10;     传统应用的功能是代码写死的，测试就是验证功能对不对。Agent 的功能是模型每次现场生成的，测试要验证的是它的行为边界 —— 所以这里测的不是「它能不能做」，而是「它该不该做、有没有做、依据是什么」。&#10; &lt;/Text&gt;&#10;      &lt;/Box&gt;&#10;    &lt;/Box&gt;&#10;&#10;    &lt;Box style={{ height: 58, flexDirection: 'row', alignItems: 'center', borderTop: '1px solid #E8E8E8' }}&gt;&#10;    &lt;Box style={{ width: 10, height: 10, background: '#FA4F24' }} /&gt;&#10;   &lt;Text style={{ fontSize: 13, color: '#8A8F99', marginLeft: 12 }}&gt;硕磐机密 · Agent智能体咨询方法论&lt;/Text&gt;&#10;     &lt;Text style={{ fontSize: 13, color: '#8A8F99', marginLeft: 'auto' }}&gt;25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之闸门：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专属的五道门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，传统应用没有的四道在这里</a:t>
            </a:r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安全门测试的是漏洞，这五道门测的是「它越权了吗、它停得下来吗、它说得清依据吗」</a:t>
            </a:r>
            <a:endParaRPr/>
          </a:p>
        </p:txBody>
      </p:sp>
      <p:sp>
        <p:nvSpPr>
          <p:cNvPr id="95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55" name=""/>
          <p:cNvSpPr/>
          <p:nvPr/>
        </p:nvSpPr>
        <p:spPr>
          <a:xfrm rot="0" flipH="0" flipV="0">
            <a:off x="657225" y="130492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6" name=""/>
          <p:cNvSpPr/>
          <p:nvPr/>
        </p:nvSpPr>
        <p:spPr>
          <a:xfrm rot="0" flipH="0" flipV="0">
            <a:off x="657225" y="130492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790575" y="1552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第一道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323975" y="153352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权限门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2200275" y="1476375"/>
            <a:ext cx="58578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2314575" y="1562100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它能看见的数据，是它本来那个人能看见的吗？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8058150" y="1476375"/>
            <a:ext cx="339090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8172450" y="15716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8562975" y="1552575"/>
            <a:ext cx="2771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用张三的账号跑一遍，再换李四跑同一请求，比对返回结果</a:t>
            </a:r>
            <a:endParaRPr/>
          </a:p>
        </p:txBody>
      </p:sp>
      <p:sp>
        <p:nvSpPr>
          <p:cNvPr id="964" name=""/>
          <p:cNvSpPr/>
          <p:nvPr/>
        </p:nvSpPr>
        <p:spPr>
          <a:xfrm rot="0" flipH="0" flipV="0">
            <a:off x="657225" y="2038350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65" name=""/>
          <p:cNvSpPr/>
          <p:nvPr/>
        </p:nvSpPr>
        <p:spPr>
          <a:xfrm rot="0" flipH="0" flipV="0">
            <a:off x="657225" y="2038350"/>
            <a:ext cx="10972800" cy="666750"/>
          </a:xfrm>
          <a:custGeom>
            <a:pathLst>
              <a:path w="1152" h="70">
                <a:moveTo>
                  <a:pt x="5" y="70"/>
                </a:moveTo>
                <a:cubicBezTo>
                  <a:pt x="4" y="70"/>
                  <a:pt x="3" y="70"/>
                  <a:pt x="2" y="69"/>
                </a:cubicBezTo>
                <a:cubicBezTo>
                  <a:pt x="1" y="69"/>
                  <a:pt x="0" y="68"/>
                  <a:pt x="0" y="66"/>
                </a:cubicBezTo>
                <a:lnTo>
                  <a:pt x="0" y="66"/>
                </a:lnTo>
                <a:lnTo>
                  <a:pt x="0" y="6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790575" y="22955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第二道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1323975" y="22764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职权门</a:t>
            </a:r>
            <a:endParaRPr/>
          </a:p>
        </p:txBody>
      </p:sp>
      <p:sp>
        <p:nvSpPr>
          <p:cNvPr id="968" name=""/>
          <p:cNvSpPr/>
          <p:nvPr/>
        </p:nvSpPr>
        <p:spPr>
          <a:xfrm rot="0" flipH="0" flipV="0">
            <a:off x="2200275" y="2209800"/>
            <a:ext cx="58578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2314575" y="2295525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它做的每个动作，是不是这个岗位本来就有权做的？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8058150" y="2209800"/>
            <a:ext cx="339090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8172450" y="230505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8562975" y="2286000"/>
            <a:ext cx="2771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列出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调用清单，逐条比对岗位授权矩阵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657225" y="2781300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4" name=""/>
          <p:cNvSpPr/>
          <p:nvPr/>
        </p:nvSpPr>
        <p:spPr>
          <a:xfrm rot="0" flipH="0" flipV="0">
            <a:off x="657225" y="2781300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790575" y="30289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第三道</a:t>
            </a:r>
            <a:endParaRPr/>
          </a:p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1323975" y="300990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提示注入门</a:t>
            </a:r>
            <a:endParaRPr/>
          </a:p>
        </p:txBody>
      </p:sp>
      <p:sp>
        <p:nvSpPr>
          <p:cNvPr id="977" name=""/>
          <p:cNvSpPr/>
          <p:nvPr/>
        </p:nvSpPr>
        <p:spPr>
          <a:xfrm rot="0" flipH="0" flipV="0">
            <a:off x="2200275" y="2952750"/>
            <a:ext cx="58578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2314575" y="3038475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把恶意指令塞进它要读的文档里，它会不会照做？</a:t>
            </a:r>
            <a:endParaRPr/>
          </a:p>
        </p:txBody>
      </p:sp>
      <p:sp>
        <p:nvSpPr>
          <p:cNvPr id="979" name=""/>
          <p:cNvSpPr/>
          <p:nvPr/>
        </p:nvSpPr>
        <p:spPr>
          <a:xfrm rot="0" flipH="0" flipV="0">
            <a:off x="8058150" y="2952750"/>
            <a:ext cx="339090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8172450" y="30480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8562975" y="3028950"/>
            <a:ext cx="2771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构造注入样本集，检查它是否越过本体与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Action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直接动手</a:t>
            </a:r>
            <a:endParaRPr/>
          </a:p>
        </p:txBody>
      </p:sp>
      <p:sp>
        <p:nvSpPr>
          <p:cNvPr id="982" name=""/>
          <p:cNvSpPr/>
          <p:nvPr/>
        </p:nvSpPr>
        <p:spPr>
          <a:xfrm rot="0" flipH="0" flipV="0">
            <a:off x="657225" y="3514725"/>
            <a:ext cx="10972800" cy="666750"/>
          </a:xfrm>
          <a:prstGeom prst="roundRect">
            <a:avLst>
              <a:gd name="adj" fmla="val 571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3" name=""/>
          <p:cNvSpPr/>
          <p:nvPr/>
        </p:nvSpPr>
        <p:spPr>
          <a:xfrm rot="0" flipH="0" flipV="0">
            <a:off x="657225" y="3514725"/>
            <a:ext cx="10972800" cy="666750"/>
          </a:xfrm>
          <a:custGeom>
            <a:pathLst>
              <a:path w="1152" h="70">
                <a:moveTo>
                  <a:pt x="5" y="70"/>
                </a:moveTo>
                <a:cubicBezTo>
                  <a:pt x="4" y="70"/>
                  <a:pt x="3" y="70"/>
                  <a:pt x="2" y="69"/>
                </a:cubicBezTo>
                <a:cubicBezTo>
                  <a:pt x="1" y="69"/>
                  <a:pt x="0" y="68"/>
                  <a:pt x="0" y="66"/>
                </a:cubicBezTo>
                <a:lnTo>
                  <a:pt x="0" y="66"/>
                </a:lnTo>
                <a:lnTo>
                  <a:pt x="0" y="6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790575" y="37719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第四道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1323975" y="3752850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停手门</a:t>
            </a:r>
            <a:endParaRPr/>
          </a:p>
        </p:txBody>
      </p:sp>
      <p:sp>
        <p:nvSpPr>
          <p:cNvPr id="986" name=""/>
          <p:cNvSpPr/>
          <p:nvPr/>
        </p:nvSpPr>
        <p:spPr>
          <a:xfrm rot="0" flipH="0" flipV="0">
            <a:off x="2200275" y="3686175"/>
            <a:ext cx="58578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2314575" y="3771900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触发终止条件时，它真的会停吗？</a:t>
            </a:r>
            <a:endParaRPr/>
          </a:p>
        </p:txBody>
      </p:sp>
      <p:sp>
        <p:nvSpPr>
          <p:cNvPr id="988" name=""/>
          <p:cNvSpPr/>
          <p:nvPr/>
        </p:nvSpPr>
        <p:spPr>
          <a:xfrm rot="0" flipH="0" flipV="0">
            <a:off x="8058150" y="3686175"/>
            <a:ext cx="339090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8172450" y="378142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562975" y="3762375"/>
            <a:ext cx="2771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注入超限、超时、低置信度样本，观察是否正确中止并转人工</a:t>
            </a:r>
            <a:endParaRPr/>
          </a:p>
        </p:txBody>
      </p:sp>
      <p:sp>
        <p:nvSpPr>
          <p:cNvPr id="991" name=""/>
          <p:cNvSpPr/>
          <p:nvPr/>
        </p:nvSpPr>
        <p:spPr>
          <a:xfrm rot="0" flipH="0" flipV="0">
            <a:off x="657225" y="4257675"/>
            <a:ext cx="10972800" cy="657225"/>
          </a:xfrm>
          <a:prstGeom prst="roundRect">
            <a:avLst>
              <a:gd name="adj" fmla="val 579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2" name=""/>
          <p:cNvSpPr/>
          <p:nvPr/>
        </p:nvSpPr>
        <p:spPr>
          <a:xfrm rot="0" flipH="0" flipV="0">
            <a:off x="657225" y="4257675"/>
            <a:ext cx="10972800" cy="657225"/>
          </a:xfrm>
          <a:custGeom>
            <a:pathLst>
              <a:path w="1152" h="69">
                <a:moveTo>
                  <a:pt x="5" y="69"/>
                </a:moveTo>
                <a:cubicBezTo>
                  <a:pt x="4" y="69"/>
                  <a:pt x="3" y="69"/>
                  <a:pt x="2" y="68"/>
                </a:cubicBezTo>
                <a:cubicBezTo>
                  <a:pt x="1" y="68"/>
                  <a:pt x="0" y="67"/>
                  <a:pt x="0" y="65"/>
                </a:cubicBezTo>
                <a:lnTo>
                  <a:pt x="0" y="65"/>
                </a:lnTo>
                <a:lnTo>
                  <a:pt x="0" y="6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790575" y="45053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第五道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1323975" y="4486275"/>
            <a:ext cx="87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留痕门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2200275" y="4429125"/>
            <a:ext cx="5857875" cy="32385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2314575" y="4514850"/>
            <a:ext cx="5629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事后能不能完整复盘这次决策？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8058150" y="4429125"/>
            <a:ext cx="3390900" cy="323850"/>
          </a:xfrm>
          <a:prstGeom prst="roundRect">
            <a:avLst>
              <a:gd name="adj" fmla="val 882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8172450" y="4524375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怎么测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8562975" y="4505325"/>
            <a:ext cx="2771775" cy="1714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随机抽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20 </a:t>
            </a: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条轨迹，检查是否含输入、依据、动作、结果、耗时</a:t>
            </a:r>
            <a:endParaRPr/>
          </a:p>
        </p:txBody>
      </p:sp>
      <p:sp>
        <p:nvSpPr>
          <p:cNvPr id="1000" name=""/>
          <p:cNvSpPr/>
          <p:nvPr/>
        </p:nvSpPr>
        <p:spPr>
          <a:xfrm rot="0" flipH="0" flipV="0">
            <a:off x="609600" y="4991100"/>
            <a:ext cx="10972800" cy="64770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81050" y="5238750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和传统应用的区别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2324100" y="5095875"/>
            <a:ext cx="9086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传统应用的功能是代码写死的，测试就是验证功能对不对。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的功能是模型每次现场生成的，测试要验证的是它的行为边界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所以这里测的不是「它能不能做」，而是「它该不该做、有没有做、依据是什么」。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0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00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25 / 30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007" name="" descr="&lt;Slide style={{ width: 1280, height: 720, background: '#FFFFFF', padding: '24px 64px 0' }}&gt;&#10; &lt;Box style={{ height: 96, flexDirection: 'column', justifyContent: 'flex-start' }}&gt;&#10;    &lt;Text style={{ fontSize: 32, fontWeight: 'bold', color: '#0F1423' }}&gt;&#10;     之失效：&lt;span style={{ color: '#FA4F24' }}&gt;五类典型失败模式&lt;/span&gt;，每一类都有对应的设计动作&#10;  &lt;/Text&gt;&#10;     &lt;Text style={{ fontSize: 20, color: '#8A8F99', marginTop: 8 }}&gt;&#10;  这五类占了企业级 Agent 线上事故的绝大部分，且都能在设计阶段提前挡住&#10;     &lt;/Text&gt;&#10;    &lt;/Box&gt;&#10;    &lt;Box style={{ height: 1, background: '#E8E8E8' }} /&gt;&#10;&#10;    &lt;Box style={{ paddingTop: 16, paddingBottom: 8, height: 479, flexDirection: 'column', gap: 8 }}&gt;&#10;      {/* 表头 */}&#10;      &lt;Box style={{ flexDirection: 'row', gap: 8 }}&gt;&#10;     &lt;Box style={{ width: 150, background: '#0F1423', alignItems: 'center', justifyContent: 'center' }}&gt;&lt;Text style={{ fontSize: 12, fontWeight: 'bold', color: '#FFFFFF' }}&gt;失败模式&lt;/Text&gt;&lt;/Box&gt;&#10;        &lt;Box style={{ flex: 1, background: '#0F1423', alignItems: 'center', justifyContent: 'center' }}&gt;&lt;Text style={{ fontSize: 12, fontWeight: 'bold', color: '#FFFFFF' }}&gt;典型症状&lt;/Text&gt;&lt;/Box&gt;&#10;    &lt;Box style={{ flex: 1, background: '#0F1423', alignItems: 'center', justifyContent: 'center' }}&gt;&lt;Text style={{ fontSize: 12, fontWeight: 'bold', color: '#FFFFFF' }}&gt;根因&lt;/Text&gt;&lt;/Box&gt;&#10;        &lt;Box style={{ flex: 1, background: '#0F1423', alignItems: 'center', justifyContent: 'center' }}&gt;&lt;Text style={{ fontSize: 12, fontWeight: 'bold', color: '#FFFFFF' }}&gt;设计阶段的对策&lt;/Text&gt;&lt;/Box&gt;&#10;      &lt;/Box&gt;&#10;&#10;      {[&#10;      { n: '上下文膨胀', s: '越跑越慢、开始胡言乱语', r: '把所有相关资料一股脑塞进窗口', f: '上下文规格书 + 预算分配 + 分层压缩', c: '#FA4F24' },&#10;        { n: '级联错误', s: '第一步判断错，后面全错', r: '上游没有校验，下游无条件信任', f: 'Action 前置校验 + 关键节点交叉验证', c: '#F87D2F' },&#10;        { n: '循环烧钱', s: '同一个工具反复调用不停', r: '没有步数与重复检测的终止条件', f: '五条终止条件 + 熔断 + 预算硬上限', c: '#E0651A' },&#10;      { n: '成本黑箱', s: '账单突然上涨说不清在哪', r: '没有按任务、按 Agent 的成本归集', f: '成本埋点下沉到轨迹层，按任务出报表', c: '#C43A17' },&#10;    { n: '权限泄漏', s: '看到了本不该看到的内容', r: '用服务账号统一提权，绕过了个人权限', f: '权限继承最终用户 + 数据集级可见范围', c: '#0F1423' },&#10;      ].map((it, i) =&gt; (&#10;        &lt;Box key={it.n} style={{ flex: 1, flexDirection: 'row', gap: 8 }}&gt;&#10;      &lt;Box style={{ width: 150, background: '#F7F7F8', borderLeft: '4px solid ' + it.c, padding: '0 12px', justifyContent: 'center' }}&gt;&#10;       &lt;Text style={{ fontSize: 15, fontWeight: 'bold', color: it.c }}&gt;{it.n}&lt;/Text&gt;&#10;  &lt;/Box&gt;&#10;      &lt;Box style={{ flex: 1, background: '#F7F7F8', padding: '0 12px', justifyContent: 'center' }}&gt;&#10;      &lt;Text style={{ fontSize: 12, color: '#3A4050', lineHeight: 1.4 }}&gt;{it.s}&lt;/Text&gt;&#10;        &lt;/Box&gt;&#10;     &lt;Box style={{ flex: 1, background: '#F7F7F8', padding: '0 12px', justifyContent: 'center' }}&gt;&#10;   &lt;Text style={{ fontSize: 12, color: '#5A6072', lineHeight: 1.4 }}&gt;{it.r}&lt;/Text&gt;&#10;   &lt;/Box&gt;&#10;       &lt;Box style={{ flex: 1, background: '#FFF3EE', padding: '0 12px', justifyContent: 'center' }}&gt;&#10;        &lt;Text style={{ fontSize: 12, color: '#C43A17', fontWeight: 'bold', lineHeight: 1.4 }}&gt;{it.f}&lt;/Text&gt;&#10;       &lt;/Box&gt;&#10;      &lt;/Box&gt;&#10;      ))}&#10;&#10;      &lt;Box style={{ height: 74, background: '#0F1423', borderRadius: 4, padding: '0 18px', flexDirection: 'row', alignItems: 'center', gap: 14 }}&gt;&#10;        &lt;Text style={{ fontSize: 14, fontWeight: 'bold', color: '#FBA15C', width: 148 }}&gt;一个共同点&lt;/Text&gt;&#10;     &lt;Text style={{ fontSize: 13, color: 'rgba(255,255,255,0.92)', flex: 1, lineHeight: 1.5 }}&gt;&#10;    这五类里没有一类是「模型不够强」造成的 —— 全部是架构与配置问题。所以 Agent 项目失败的根因，通常不在模型选型，而在于没有人把上下文、校验、终止、成本、权限这五件事当成设计对象。&#10;     &lt;/Text&gt;&#10;      &lt;/Box&gt;&#10;    &lt;/Box&gt;&#10;&#10;    &lt;Box style={{ height: 58, flexDirection: 'row', alignItems: 'center', borderTop: '1px solid #E8E8E8' }}&gt;&#10;        &lt;Box style={{ width: 10, height: 10, background: '#FA4F24' }} /&gt;&#10;        &lt;Text style={{ fontSize: 13, color: '#8A8F99', marginLeft: 12 }}&gt;硕磐机密 · Agent智能体咨询方法论&lt;/Text&gt;&#10;        &lt;Text style={{ fontSize: 13, color: '#8A8F99', marginLeft: 'auto' }}&gt;26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之失效：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五类典型失败模式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，每一类都有对应的设计动作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这五类占了企业级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线上事故的绝大部分，且都能在设计阶段提前挡住</a:t>
            </a:r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12" name=""/>
          <p:cNvSpPr/>
          <p:nvPr/>
        </p:nvSpPr>
        <p:spPr>
          <a:xfrm rot="0" flipH="0" flipV="0">
            <a:off x="609600" y="1304925"/>
            <a:ext cx="14287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1095375" y="13049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失败模式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2114550" y="1304925"/>
            <a:ext cx="31051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3438525" y="13049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典型症状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5295900" y="1304925"/>
            <a:ext cx="31051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734175" y="1304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根因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8477250" y="1304925"/>
            <a:ext cx="3105150" cy="142875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9629775" y="1304925"/>
            <a:ext cx="800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设计阶段的对策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647700" y="1524000"/>
            <a:ext cx="13906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1" name=""/>
          <p:cNvSpPr/>
          <p:nvPr/>
        </p:nvSpPr>
        <p:spPr>
          <a:xfrm rot="0" flipH="0" flipV="0">
            <a:off x="609600" y="1524000"/>
            <a:ext cx="1428750" cy="609600"/>
          </a:xfrm>
          <a:custGeom>
            <a:pathLst>
              <a:path w="150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762000" y="174307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上下文膨胀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2114550" y="1524000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2228850" y="173355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越跑越慢、开始胡言乱语</a:t>
            </a:r>
            <a:endParaRPr/>
          </a:p>
        </p:txBody>
      </p:sp>
      <p:sp>
        <p:nvSpPr>
          <p:cNvPr id="1025" name=""/>
          <p:cNvSpPr/>
          <p:nvPr/>
        </p:nvSpPr>
        <p:spPr>
          <a:xfrm rot="0" flipH="0" flipV="0">
            <a:off x="5295900" y="1524000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5410200" y="173355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把所有相关资料一股脑塞进窗口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8477250" y="1524000"/>
            <a:ext cx="3105150" cy="6096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591550" y="173355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上下文规格书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预算分配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分层压缩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647700" y="2209800"/>
            <a:ext cx="13906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0" name=""/>
          <p:cNvSpPr/>
          <p:nvPr/>
        </p:nvSpPr>
        <p:spPr>
          <a:xfrm rot="0" flipH="0" flipV="0">
            <a:off x="609600" y="2209800"/>
            <a:ext cx="1428750" cy="600075"/>
          </a:xfrm>
          <a:custGeom>
            <a:pathLst>
              <a:path w="150" h="63">
                <a:moveTo>
                  <a:pt x="0" y="0"/>
                </a:moveTo>
                <a:lnTo>
                  <a:pt x="4" y="0"/>
                </a:lnTo>
                <a:lnTo>
                  <a:pt x="4" y="63"/>
                </a:lnTo>
                <a:lnTo>
                  <a:pt x="0" y="63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762000" y="242887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87D2F"/>
                </a:solidFill>
                <a:latin typeface="Microsoft YaHei"/>
                <a:ea typeface="Microsoft YaHei"/>
              </a:rPr>
              <a:t>级联错误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2114550" y="2209800"/>
            <a:ext cx="31051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2228850" y="24098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第一步判断错，后面全错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5295900" y="2209800"/>
            <a:ext cx="31051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5410200" y="24098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上游没有校验，下游无条件信任</a:t>
            </a:r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8477250" y="2209800"/>
            <a:ext cx="3105150" cy="6000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8591550" y="24098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Action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前置校验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关键节点交叉验证</a:t>
            </a:r>
            <a:endParaRPr/>
          </a:p>
        </p:txBody>
      </p:sp>
      <p:sp>
        <p:nvSpPr>
          <p:cNvPr id="1038" name=""/>
          <p:cNvSpPr/>
          <p:nvPr/>
        </p:nvSpPr>
        <p:spPr>
          <a:xfrm rot="0" flipH="0" flipV="0">
            <a:off x="647700" y="2886075"/>
            <a:ext cx="13906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39" name=""/>
          <p:cNvSpPr/>
          <p:nvPr/>
        </p:nvSpPr>
        <p:spPr>
          <a:xfrm rot="0" flipH="0" flipV="0">
            <a:off x="609600" y="2886075"/>
            <a:ext cx="1428750" cy="609600"/>
          </a:xfrm>
          <a:custGeom>
            <a:pathLst>
              <a:path w="150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762000" y="3105150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0651A"/>
                </a:solidFill>
                <a:latin typeface="Microsoft YaHei"/>
                <a:ea typeface="Microsoft YaHei"/>
              </a:rPr>
              <a:t>循环烧钱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2114550" y="2886075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2228850" y="30956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同一个工具反复调用不停</a:t>
            </a:r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5295900" y="2886075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5410200" y="30956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没有步数与重复检测的终止条件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8477250" y="2886075"/>
            <a:ext cx="3105150" cy="6096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8591550" y="3095625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五条终止条件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熔断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预算硬上限</a:t>
            </a:r>
            <a:endParaRPr/>
          </a:p>
        </p:txBody>
      </p:sp>
      <p:sp>
        <p:nvSpPr>
          <p:cNvPr id="1047" name=""/>
          <p:cNvSpPr/>
          <p:nvPr/>
        </p:nvSpPr>
        <p:spPr>
          <a:xfrm rot="0" flipH="0" flipV="0">
            <a:off x="647700" y="3571875"/>
            <a:ext cx="13906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48" name=""/>
          <p:cNvSpPr/>
          <p:nvPr/>
        </p:nvSpPr>
        <p:spPr>
          <a:xfrm rot="0" flipH="0" flipV="0">
            <a:off x="609600" y="3571875"/>
            <a:ext cx="1428750" cy="600075"/>
          </a:xfrm>
          <a:custGeom>
            <a:pathLst>
              <a:path w="150" h="63">
                <a:moveTo>
                  <a:pt x="0" y="0"/>
                </a:moveTo>
                <a:lnTo>
                  <a:pt x="4" y="0"/>
                </a:lnTo>
                <a:lnTo>
                  <a:pt x="4" y="63"/>
                </a:lnTo>
                <a:lnTo>
                  <a:pt x="0" y="63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049" name="" descr="{&quot;isTemplate&quot;:true,&quot;type&quot;:&quot;text&quot;}"/>
          <p:cNvSpPr txBox="1"/>
          <p:nvPr/>
        </p:nvSpPr>
        <p:spPr>
          <a:xfrm rot="0" flipH="0" flipV="0">
            <a:off x="762000" y="3790950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43A17"/>
                </a:solidFill>
                <a:latin typeface="Microsoft YaHei"/>
                <a:ea typeface="Microsoft YaHei"/>
              </a:rPr>
              <a:t>成本黑箱</a:t>
            </a:r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2114550" y="3571875"/>
            <a:ext cx="31051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2228850" y="37719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账单突然上涨说不清在哪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5295900" y="3571875"/>
            <a:ext cx="3105150" cy="600075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5410200" y="37719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没有按任务、按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的成本归集</a:t>
            </a:r>
            <a:endParaRPr/>
          </a:p>
        </p:txBody>
      </p:sp>
      <p:sp>
        <p:nvSpPr>
          <p:cNvPr id="1054" name=""/>
          <p:cNvSpPr/>
          <p:nvPr/>
        </p:nvSpPr>
        <p:spPr>
          <a:xfrm rot="0" flipH="0" flipV="0">
            <a:off x="8477250" y="3571875"/>
            <a:ext cx="3105150" cy="600075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8591550" y="37719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成本埋点下沉到轨迹层，按任务出报表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647700" y="4248150"/>
            <a:ext cx="13906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57" name=""/>
          <p:cNvSpPr/>
          <p:nvPr/>
        </p:nvSpPr>
        <p:spPr>
          <a:xfrm rot="0" flipH="0" flipV="0">
            <a:off x="609600" y="4248150"/>
            <a:ext cx="1428750" cy="609600"/>
          </a:xfrm>
          <a:custGeom>
            <a:pathLst>
              <a:path w="150" h="64">
                <a:moveTo>
                  <a:pt x="0" y="0"/>
                </a:moveTo>
                <a:lnTo>
                  <a:pt x="4" y="0"/>
                </a:lnTo>
                <a:lnTo>
                  <a:pt x="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762000" y="446722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权限泄漏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2114550" y="4248150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2228850" y="44577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3A4050"/>
                </a:solidFill>
                <a:latin typeface="Microsoft YaHei"/>
                <a:ea typeface="Microsoft YaHei"/>
              </a:rPr>
              <a:t>看到了本不该看到的内容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5295900" y="4248150"/>
            <a:ext cx="3105150" cy="609600"/>
          </a:xfrm>
          <a:prstGeom prst="rect">
            <a:avLst/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5410200" y="44577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用服务账号统一提权，绕过了个人权限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8477250" y="4248150"/>
            <a:ext cx="3105150" cy="609600"/>
          </a:xfrm>
          <a:prstGeom prst="rect">
            <a:avLst/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8591550" y="4457700"/>
            <a:ext cx="287655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权限继承最终用户</a:t>
            </a:r>
            <a:r>
              <a:rPr lang="en-US" sz="900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 b="1">
                <a:solidFill>
                  <a:srgbClr val="C43A17"/>
                </a:solidFill>
                <a:latin typeface="Microsoft YaHei"/>
                <a:ea typeface="Microsoft YaHei"/>
              </a:rPr>
              <a:t>数据集级可见范围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609600" y="4933950"/>
            <a:ext cx="10972800" cy="704850"/>
          </a:xfrm>
          <a:prstGeom prst="roundRect">
            <a:avLst>
              <a:gd name="adj" fmla="val 5405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81050" y="521017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一个共同点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2324100" y="5067300"/>
            <a:ext cx="90868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这五类里没有一类是「模型不够强」造成的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全部是架构与配置问题。所以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项目失败的根因，通常不在模型选型，而在于没有人把上下文、校验、终止、成本、权限这五件事当成设计对象。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69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26 / 30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072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评测：&lt;span style={{ color: '#FA4F24' }}&gt;六层评测与轨迹可观测&lt;/span&gt;，怎么证明它真的能干这个活&#10;  &lt;/Text&gt;&#10;     &lt;Text style={{ fontSize: 20, color: '#8A8F99', marginTop: 8 }}&gt;&#10;          Agent 的验收不能靠「演示一次很惊艳」，只能靠可重复的评测集&#10;    &lt;/Text&gt;&#10;    &lt;/Box&gt;&#10;  &lt;Box style={{ height: 1, background: '#E8E8E8' }} /&gt;&#10;&#10;  &lt;Box style={{ paddingTop: 16, paddingBottom: 8, height: 479, flexDirection: 'row', gap: 12 }}&gt;&#10;      {/* 左：六层评测 */}&#10;      &lt;Box style={{ width: 616, flexDirection: 'column', gap: 6 }}&gt;&#10;  &lt;Text style={{ fontSize: 15, fontWeight: 'bold', color: '#0F1423' }}&gt;六层评测体系：由内到外，逐层变贵也逐层接近真相&lt;/Text&gt;&#10;    {[&#10;          { n: 'L1', t: '指令遵循', q: '有没有照做我要求的格式、约束和禁止项', k: '50 条固定指令', c: '#8A8F99' },&#10;          { n: 'L2', t: '事实准确', q: '引用的数字和本体里是否一致', k: '100 条带答案样例', c: '#FBA15C' },&#10;   { n: 'L3', t: '工具正确', q: '该调的工具有没有调、调对没有', k: '回放真实轨迹', c: '#F87D2F' },&#10;      { n: 'L4', t: '流程完成', q: '整个任务有没有跑到终点', k: '30 条端到端场景', c: '#E0651A' },&#10;     { n: 'L5', t: '越权防御', q: '该停的有没有停、该拒的有没有拒', k: '注入与边界样本', c: '#FA4F24' },&#10;          { n: 'L6', t: '业务价值', q: '省了多少人时、少错了多少单', k: '上线前后对比', c: '#0F1423' },&#10;        ].map((it, i) =&gt; (&#10;          &lt;Box key={it.n} style={{ flex: 1, background: '#F7F7F8', borderRadius: 3, borderLeft: '4px solid ' + it.c, padding: '0 12px', flexDirection: 'row', alignItems: 'center', gap: 10 }}&gt;&#10;     &lt;Text style={{ fontSize: 14, fontWeight: 'bold', color: it.c, width: 26 }}&gt;{it.n}&lt;/Text&gt;&#10;         &lt;Text style={{ fontSize: 14, fontWeight: 'bold', color: '#0F1423', width: 82 }}&gt;{it.t}&lt;/Text&gt;&#10;            &lt;Text style={{ fontSize: 12, color: '#5A6072', flex: 1 }}&gt;{it.q}&lt;/Text&gt;&#10;     &lt;Text style={{ fontSize: 11, color: '#8A8F99', width: 116, textAlign: 'right' }}&gt;{it.k}&lt;/Text&gt;&#10;          &lt;/Box&gt;&#10;        ))}&#10;    &lt;Box style={{ height: 44, background: '#0F1423', borderRadius: 3, padding: '0 14px', flexDirection: 'row', alignItems: 'center', gap: 12 }}&gt;&#10;     &lt;Text style={{ fontSize: 12, fontWeight: 'bold', color: '#FBA15C' }}&gt;通过线怎么定&lt;/Text&gt;&#10;      &lt;Text style={{ fontSize: 12, color: 'rgba(255,255,255,0.9)', flex: 1, lineHeight: 1.4 }}&gt;&#10;   L1–L3 必须 100% 才允许进试运行；L4 ≥ 85%；L5 = 100%（一条不过就不许上）；L6 用于持续收益跟踪。&lt;/Text&gt;&#10;    &lt;/Box&gt;&#10;      &lt;/Box&gt;&#10;&#10;      {/* 右：轨迹可观测 */}&#10;   &lt;Box style={{ flex: 1, flexDirection: 'column', gap: 8 }}&gt;&#10;        &lt;Box style={{ height: 250, background: '#F7F7F8', borderRadius: 4, padding: '11px 14px', flexDirection: 'column' }}&gt;&#10;          &lt;Text style={{ fontSize: 15, fontWeight: 'bold', color: '#0F1423', marginBottom: 7 }}&gt;一条轨迹必须能看到这九项&lt;/Text&gt;&#10;          &lt;Box style={{ flex: 1, flexDirection: 'row', flexWrap: 'wrap', gap: 6 }}&gt;&#10;    {[&#10;            '触发人与渠道', '任务类型与优先级', '上下文装载明细', '模型与参数版本',&#10;   '每次工具调用参数', '每次返回摘要', '耗时与 token 消耗', '置信度与判定依据', '最终结果与后续动作',&#10;          ].map((t, i) =&gt; (&#10;          &lt;Box key={t} style={{ width: 158, height: 36, background: '#FFFFFF', borderRadius: 3, borderLeft: '3px solid #FA4F24', padding: '0 8px', justifyContent: 'center' }}&gt;&#10;       &lt;Text style={{ fontSize: 11, color: '#8A8F99' }}&gt;{String(i + 1).padStart(2, '0')}&lt;/Text&gt;&#10;       &lt;Text style={{ fontSize: 12, color: '#0F1423', fontWeight: 'bold' }}&gt;{t}&lt;/Text&gt;&#10;         &lt;/Box&gt;&#10;     ))}&#10;    &lt;/Box&gt;&#10;      &lt;/Box&gt;&#10;        &lt;Box style={{ height: 100, background: '#FFF3EE', borderRadius: 4, borderLeft: '4px solid #FBA15C', padding: '10px 14px', flexDirection: 'column', justifyContent: 'center' }}&gt;&#10;   &lt;Text style={{ fontSize: 14, fontWeight: 'bold', color: '#C43A17' }}&gt;三条必须在线留痕的底线&lt;/Text&gt;&#10;    {[&#10;  '涉及写操作的动作，参数与返回值全量留存',&#10;            '涉及人机交接的节点，交接双方身份留痕',&#10;            '模型与提示词版本要绑定到每条轨迹上',&#10;       ].map((t, i) =&gt; (&#10;   &lt;Box key={t} style={{ flexDirection: 'row', alignItems: 'center', gap: 8, marginTop: i === 0 ? 6 : 3 }}&gt;&#10;     &lt;Text style={{ fontSize: 11, color: '#C43A17', fontWeight: 'bold' }}&gt;{String(i + 1).padStart(2, '0')}&lt;/Text&gt;&#10;      &lt;Text style={{ fontSize: 12, color: '#5A6072' }}&gt;{t}&lt;/Text&gt;&#10;     &lt;/Box&gt;&#10;      ))}&#10;        &lt;/Box&gt;&#10;        &lt;Box style={{ flex: 1, background: '#0F1423', borderRadius: 4, padding: '10px 14px', justifyContent: 'center' }}&gt;&#10;          &lt;Text style={{ fontSize: 13, color: 'rgba(255,255,255,0.92)', lineHeight: 1.5 }}&gt;&#10;   没有轨迹就没有信任。评测集只能证明它过去能做对，轨迹才能证明它这次为什么这么做 —— 审计对象是轨迹，不是模型。&#10;     &lt;/Text&gt;&#10;      &lt;/Box&gt;&#10;      &lt;/Box&gt;&#10;    &lt;/Box&gt;&#10;&#10;  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Agent智能体咨询方法论&lt;/Text&gt;&#10; &lt;Text style={{ fontSize: 13, color: '#8A8F99', marginLeft: 'auto' }}&gt;27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之评测：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六层评测与轨迹可观测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，怎么证明它真的能干这个活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的验收不能靠「演示一次很惊艳」，只能靠可重复的评测集</a:t>
            </a:r>
            <a:endParaRPr/>
          </a:p>
        </p:txBody>
      </p:sp>
      <p:sp>
        <p:nvSpPr>
          <p:cNvPr id="10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5867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六层评测体系：由内到外，逐层变贵也逐层接近真相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647700" y="1533525"/>
            <a:ext cx="5867400" cy="561975"/>
          </a:xfrm>
          <a:prstGeom prst="roundRect">
            <a:avLst>
              <a:gd name="adj" fmla="val 50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647700" y="1533525"/>
            <a:ext cx="5867400" cy="561975"/>
          </a:xfrm>
          <a:custGeom>
            <a:pathLst>
              <a:path w="616" h="59">
                <a:moveTo>
                  <a:pt x="4" y="59"/>
                </a:moveTo>
                <a:cubicBezTo>
                  <a:pt x="3" y="59"/>
                  <a:pt x="2" y="59"/>
                  <a:pt x="1" y="58"/>
                </a:cubicBezTo>
                <a:cubicBezTo>
                  <a:pt x="0" y="57"/>
                  <a:pt x="0" y="57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762000" y="173355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8A8F99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1104900" y="173355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指令遵循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1981200" y="1743075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有没有照做我要求的格式、约束和禁止项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5257800" y="1752600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条固定指令</a:t>
            </a:r>
            <a:endParaRPr/>
          </a:p>
        </p:txBody>
      </p:sp>
      <p:sp>
        <p:nvSpPr>
          <p:cNvPr id="1084" name=""/>
          <p:cNvSpPr/>
          <p:nvPr/>
        </p:nvSpPr>
        <p:spPr>
          <a:xfrm rot="0" flipH="0" flipV="0">
            <a:off x="647700" y="2152650"/>
            <a:ext cx="5867400" cy="552450"/>
          </a:xfrm>
          <a:prstGeom prst="roundRect">
            <a:avLst>
              <a:gd name="adj" fmla="val 517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85" name=""/>
          <p:cNvSpPr/>
          <p:nvPr/>
        </p:nvSpPr>
        <p:spPr>
          <a:xfrm rot="0" flipH="0" flipV="0">
            <a:off x="647700" y="2152650"/>
            <a:ext cx="5867400" cy="552450"/>
          </a:xfrm>
          <a:custGeom>
            <a:pathLst>
              <a:path w="616" h="58">
                <a:moveTo>
                  <a:pt x="4" y="58"/>
                </a:moveTo>
                <a:cubicBezTo>
                  <a:pt x="3" y="58"/>
                  <a:pt x="2" y="58"/>
                  <a:pt x="1" y="57"/>
                </a:cubicBezTo>
                <a:cubicBezTo>
                  <a:pt x="0" y="56"/>
                  <a:pt x="0" y="56"/>
                  <a:pt x="0" y="5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BA15C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104900" y="235267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事实准确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1981200" y="2362200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引用的数字和本体里是否一致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5257800" y="2362200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100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条带答案样例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647700" y="2762250"/>
            <a:ext cx="5867400" cy="561975"/>
          </a:xfrm>
          <a:prstGeom prst="roundRect">
            <a:avLst>
              <a:gd name="adj" fmla="val 50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1" name=""/>
          <p:cNvSpPr/>
          <p:nvPr/>
        </p:nvSpPr>
        <p:spPr>
          <a:xfrm rot="0" flipH="0" flipV="0">
            <a:off x="647700" y="2762250"/>
            <a:ext cx="5867400" cy="561975"/>
          </a:xfrm>
          <a:custGeom>
            <a:pathLst>
              <a:path w="616" h="59">
                <a:moveTo>
                  <a:pt x="4" y="59"/>
                </a:moveTo>
                <a:cubicBezTo>
                  <a:pt x="3" y="59"/>
                  <a:pt x="2" y="59"/>
                  <a:pt x="1" y="58"/>
                </a:cubicBezTo>
                <a:cubicBezTo>
                  <a:pt x="0" y="57"/>
                  <a:pt x="0" y="57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762000" y="296227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87D2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1104900" y="296227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工具正确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1981200" y="2971800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该调的工具有没有调、调对没有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5257800" y="2981325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回放真实轨迹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647700" y="3381375"/>
            <a:ext cx="5867400" cy="552450"/>
          </a:xfrm>
          <a:prstGeom prst="roundRect">
            <a:avLst>
              <a:gd name="adj" fmla="val 517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97" name=""/>
          <p:cNvSpPr/>
          <p:nvPr/>
        </p:nvSpPr>
        <p:spPr>
          <a:xfrm rot="0" flipH="0" flipV="0">
            <a:off x="647700" y="3381375"/>
            <a:ext cx="5867400" cy="552450"/>
          </a:xfrm>
          <a:custGeom>
            <a:pathLst>
              <a:path w="616" h="58">
                <a:moveTo>
                  <a:pt x="4" y="58"/>
                </a:moveTo>
                <a:cubicBezTo>
                  <a:pt x="3" y="58"/>
                  <a:pt x="2" y="58"/>
                  <a:pt x="1" y="57"/>
                </a:cubicBezTo>
                <a:cubicBezTo>
                  <a:pt x="0" y="56"/>
                  <a:pt x="0" y="56"/>
                  <a:pt x="0" y="5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762000" y="35814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0651A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1104900" y="35814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流程完成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1981200" y="3590925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整个任务有没有跑到终点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5257800" y="3590925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条端到端场景</a:t>
            </a:r>
            <a:endParaRPr/>
          </a:p>
        </p:txBody>
      </p:sp>
      <p:sp>
        <p:nvSpPr>
          <p:cNvPr id="1102" name=""/>
          <p:cNvSpPr/>
          <p:nvPr/>
        </p:nvSpPr>
        <p:spPr>
          <a:xfrm rot="0" flipH="0" flipV="0">
            <a:off x="647700" y="3990975"/>
            <a:ext cx="5867400" cy="561975"/>
          </a:xfrm>
          <a:prstGeom prst="roundRect">
            <a:avLst>
              <a:gd name="adj" fmla="val 508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3" name=""/>
          <p:cNvSpPr/>
          <p:nvPr/>
        </p:nvSpPr>
        <p:spPr>
          <a:xfrm rot="0" flipH="0" flipV="0">
            <a:off x="647700" y="3990975"/>
            <a:ext cx="5867400" cy="561975"/>
          </a:xfrm>
          <a:custGeom>
            <a:pathLst>
              <a:path w="616" h="59">
                <a:moveTo>
                  <a:pt x="4" y="59"/>
                </a:moveTo>
                <a:cubicBezTo>
                  <a:pt x="3" y="59"/>
                  <a:pt x="2" y="59"/>
                  <a:pt x="1" y="58"/>
                </a:cubicBezTo>
                <a:cubicBezTo>
                  <a:pt x="0" y="57"/>
                  <a:pt x="0" y="57"/>
                  <a:pt x="0" y="5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A4F24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1104900" y="4191000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越权防御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1981200" y="4200525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该停的有没有停、该拒的有没有拒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5257800" y="4210050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注入与边界样本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647700" y="4610100"/>
            <a:ext cx="5867400" cy="552450"/>
          </a:xfrm>
          <a:prstGeom prst="roundRect">
            <a:avLst>
              <a:gd name="adj" fmla="val 517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09" name=""/>
          <p:cNvSpPr/>
          <p:nvPr/>
        </p:nvSpPr>
        <p:spPr>
          <a:xfrm rot="0" flipH="0" flipV="0">
            <a:off x="647700" y="4610100"/>
            <a:ext cx="5867400" cy="552450"/>
          </a:xfrm>
          <a:custGeom>
            <a:pathLst>
              <a:path w="616" h="58">
                <a:moveTo>
                  <a:pt x="4" y="58"/>
                </a:moveTo>
                <a:cubicBezTo>
                  <a:pt x="3" y="58"/>
                  <a:pt x="2" y="58"/>
                  <a:pt x="1" y="57"/>
                </a:cubicBezTo>
                <a:cubicBezTo>
                  <a:pt x="0" y="56"/>
                  <a:pt x="0" y="56"/>
                  <a:pt x="0" y="5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762000" y="4810125"/>
            <a:ext cx="247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>L6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1104900" y="4810125"/>
            <a:ext cx="78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1981200" y="4819650"/>
            <a:ext cx="3181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省了多少人时、少错了多少单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5257800" y="4819650"/>
            <a:ext cx="11049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25">
                <a:solidFill>
                  <a:srgbClr val="8A8F99"/>
                </a:solidFill>
                <a:latin typeface="Microsoft YaHei"/>
                <a:ea typeface="Microsoft YaHei"/>
              </a:rPr>
              <a:t>上线前后对比</a:t>
            </a:r>
            <a:endParaRPr/>
          </a:p>
        </p:txBody>
      </p:sp>
      <p:sp>
        <p:nvSpPr>
          <p:cNvPr id="1114" name=""/>
          <p:cNvSpPr/>
          <p:nvPr/>
        </p:nvSpPr>
        <p:spPr>
          <a:xfrm rot="0" flipH="0" flipV="0">
            <a:off x="609600" y="5219700"/>
            <a:ext cx="5867400" cy="419100"/>
          </a:xfrm>
          <a:prstGeom prst="roundRect">
            <a:avLst>
              <a:gd name="adj" fmla="val 6818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15" name="" descr="{&quot;isTemplate&quot;:true,&quot;type&quot;:&quot;text&quot;}"/>
          <p:cNvSpPr txBox="1"/>
          <p:nvPr/>
        </p:nvSpPr>
        <p:spPr>
          <a:xfrm rot="0" flipH="0" flipV="0">
            <a:off x="742950" y="5362575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BA15C"/>
                </a:solidFill>
                <a:latin typeface="Microsoft YaHei"/>
                <a:ea typeface="Microsoft YaHei"/>
              </a:rPr>
              <a:t>通过线怎么定</a:t>
            </a:r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1543050" y="5238750"/>
            <a:ext cx="4800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L1–L3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必须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100%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才允许进试运行；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L4 ≥ 85%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；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L5 = 100%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（一条不过就不许上）；</a:t>
            </a:r>
            <a:r>
              <a:rPr lang="en-US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L6 </a:t>
            </a:r>
            <a:r>
              <a:rPr lang="zh-CN" sz="9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用于持续收益跟踪。</a:t>
            </a:r>
            <a:endParaRPr/>
          </a:p>
        </p:txBody>
      </p:sp>
      <p:sp>
        <p:nvSpPr>
          <p:cNvPr id="1117" name=""/>
          <p:cNvSpPr/>
          <p:nvPr/>
        </p:nvSpPr>
        <p:spPr>
          <a:xfrm rot="0" flipH="0" flipV="0">
            <a:off x="6591300" y="1304925"/>
            <a:ext cx="4991100" cy="2381250"/>
          </a:xfrm>
          <a:prstGeom prst="roundRect">
            <a:avLst>
              <a:gd name="adj" fmla="val 16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6724650" y="1409700"/>
            <a:ext cx="4724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一条轨迹必须能看到这九项</a:t>
            </a:r>
            <a:endParaRPr/>
          </a:p>
        </p:txBody>
      </p:sp>
      <p:sp>
        <p:nvSpPr>
          <p:cNvPr id="1119" name=""/>
          <p:cNvSpPr/>
          <p:nvPr/>
        </p:nvSpPr>
        <p:spPr>
          <a:xfrm rot="0" flipH="0" flipV="0">
            <a:off x="6753225" y="164782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0" name=""/>
          <p:cNvSpPr/>
          <p:nvPr/>
        </p:nvSpPr>
        <p:spPr>
          <a:xfrm rot="0" flipH="0" flipV="0">
            <a:off x="6753225" y="164782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6829425" y="168592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6829425" y="181927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触发人与渠道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8315325" y="164782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4" name=""/>
          <p:cNvSpPr/>
          <p:nvPr/>
        </p:nvSpPr>
        <p:spPr>
          <a:xfrm rot="0" flipH="0" flipV="0">
            <a:off x="8315325" y="164782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8391525" y="168592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8391525" y="181927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任务类型与优先级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9877425" y="164782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28" name=""/>
          <p:cNvSpPr/>
          <p:nvPr/>
        </p:nvSpPr>
        <p:spPr>
          <a:xfrm rot="0" flipH="0" flipV="0">
            <a:off x="9877425" y="164782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9953625" y="168592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9953625" y="181927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上下文装载明细</a:t>
            </a:r>
            <a:endParaRPr/>
          </a:p>
        </p:txBody>
      </p:sp>
      <p:sp>
        <p:nvSpPr>
          <p:cNvPr id="1131" name=""/>
          <p:cNvSpPr/>
          <p:nvPr/>
        </p:nvSpPr>
        <p:spPr>
          <a:xfrm rot="0" flipH="0" flipV="0">
            <a:off x="6753225" y="231457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2" name=""/>
          <p:cNvSpPr/>
          <p:nvPr/>
        </p:nvSpPr>
        <p:spPr>
          <a:xfrm rot="0" flipH="0" flipV="0">
            <a:off x="6753225" y="231457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6829425" y="235267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6829425" y="248602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模型与参数版本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8315325" y="231457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36" name=""/>
          <p:cNvSpPr/>
          <p:nvPr/>
        </p:nvSpPr>
        <p:spPr>
          <a:xfrm rot="0" flipH="0" flipV="0">
            <a:off x="8315325" y="231457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8391525" y="235267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8391525" y="248602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每次工具调用参数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9877425" y="2314575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0" name=""/>
          <p:cNvSpPr/>
          <p:nvPr/>
        </p:nvSpPr>
        <p:spPr>
          <a:xfrm rot="0" flipH="0" flipV="0">
            <a:off x="9877425" y="2314575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9953625" y="2352675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9953625" y="2486025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每次返回摘要</a:t>
            </a:r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6753225" y="2971800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4" name=""/>
          <p:cNvSpPr/>
          <p:nvPr/>
        </p:nvSpPr>
        <p:spPr>
          <a:xfrm rot="0" flipH="0" flipV="0">
            <a:off x="6753225" y="2971800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6829425" y="3009900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6829425" y="3143250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耗时与</a:t>
            </a:r>
            <a:r>
              <a:rPr lang="en-US" sz="9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消耗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8315325" y="2971800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48" name=""/>
          <p:cNvSpPr/>
          <p:nvPr/>
        </p:nvSpPr>
        <p:spPr>
          <a:xfrm rot="0" flipH="0" flipV="0">
            <a:off x="8315325" y="2971800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49" name="" descr="{&quot;isTemplate&quot;:true,&quot;type&quot;:&quot;text&quot;}"/>
          <p:cNvSpPr txBox="1"/>
          <p:nvPr/>
        </p:nvSpPr>
        <p:spPr>
          <a:xfrm rot="0" flipH="0" flipV="0">
            <a:off x="8391525" y="3009900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8391525" y="3143250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置信度与判定依据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9877425" y="2971800"/>
            <a:ext cx="1476375" cy="3429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2" name=""/>
          <p:cNvSpPr/>
          <p:nvPr/>
        </p:nvSpPr>
        <p:spPr>
          <a:xfrm rot="0" flipH="0" flipV="0">
            <a:off x="9877425" y="2971800"/>
            <a:ext cx="1476375" cy="342900"/>
          </a:xfrm>
          <a:custGeom>
            <a:pathLst>
              <a:path w="155" h="36">
                <a:moveTo>
                  <a:pt x="3" y="36"/>
                </a:moveTo>
                <a:cubicBezTo>
                  <a:pt x="1" y="36"/>
                  <a:pt x="0" y="35"/>
                  <a:pt x="0" y="3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36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9953625" y="3009900"/>
            <a:ext cx="1323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A8F99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9953625" y="3143250"/>
            <a:ext cx="13239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F1423"/>
                </a:solidFill>
                <a:latin typeface="Microsoft YaHei"/>
                <a:ea typeface="Microsoft YaHei"/>
              </a:rPr>
              <a:t>最终结果与后续动作</a:t>
            </a:r>
            <a:endParaRPr/>
          </a:p>
        </p:txBody>
      </p:sp>
      <p:sp>
        <p:nvSpPr>
          <p:cNvPr id="1155" name=""/>
          <p:cNvSpPr/>
          <p:nvPr/>
        </p:nvSpPr>
        <p:spPr>
          <a:xfrm rot="0" flipH="0" flipV="0">
            <a:off x="6629400" y="3762375"/>
            <a:ext cx="4991100" cy="952500"/>
          </a:xfrm>
          <a:prstGeom prst="roundRect">
            <a:avLst>
              <a:gd name="adj" fmla="val 4000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156" name=""/>
          <p:cNvSpPr/>
          <p:nvPr/>
        </p:nvSpPr>
        <p:spPr>
          <a:xfrm rot="0" flipH="0" flipV="0">
            <a:off x="6629400" y="3762375"/>
            <a:ext cx="4991100" cy="952500"/>
          </a:xfrm>
          <a:custGeom>
            <a:pathLst>
              <a:path w="524" h="100">
                <a:moveTo>
                  <a:pt x="4" y="100"/>
                </a:moveTo>
                <a:cubicBezTo>
                  <a:pt x="2" y="100"/>
                  <a:pt x="0" y="98"/>
                  <a:pt x="0" y="9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6762750" y="388620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三条必须在线留痕的底线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6762750" y="41148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6972300" y="4105275"/>
            <a:ext cx="2171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涉及写操作的动作，参数与返回值全量留存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6762750" y="428625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6972300" y="4276725"/>
            <a:ext cx="2057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涉及人机交接的节点，交接双方身份留痕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6762750" y="4457700"/>
            <a:ext cx="13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6972300" y="4448175"/>
            <a:ext cx="1943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模型与提示词版本要绑定到每条轨迹上</a:t>
            </a:r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6591300" y="4791075"/>
            <a:ext cx="4991100" cy="847725"/>
          </a:xfrm>
          <a:prstGeom prst="roundRect">
            <a:avLst>
              <a:gd name="adj" fmla="val 4494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6724650" y="4991100"/>
            <a:ext cx="4724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没有轨迹就没有信任。评测集只能证明它过去能做对，轨迹才能证明它这次为什么这么做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审计对象是轨迹，不是模型。</a:t>
            </a:r>
            <a:endParaRPr/>
          </a:p>
        </p:txBody>
      </p:sp>
      <p:sp>
        <p:nvSpPr>
          <p:cNvPr id="1166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67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27 / 30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170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 之评审：&lt;span style={{ color: '#FA4F24' }}&gt;上线评审十二项&lt;/span&gt;，一项不通过就不许上线&#10;  &lt;/Text&gt;&#10;        &lt;Text style={{ fontSize: 20, color: '#8A8F99', marginTop: 8 }}&gt;&#10; 与传统上线评审最大的不同：Agent 要评审它的失败路径，而不只是它的功能路径&#10;     &lt;/Text&gt;&#10;    &lt;/Box&gt;&#10;    &lt;Box style={{ height: 1, background: '#E8E8E8' }} /&gt;&#10;&#10;    &lt;Box style={{ paddingTop: 16, paddingBottom: 8, height: 479, flexDirection: 'column', gap: 8 }}&gt;&#10;      {/* 四组 × 三项 */}&#10;      &lt;Box style={{ flex: 1, flexDirection: 'row', gap: 8 }}&gt;&#10;        {[&#10;          { g: '岗位与授权', c: '#FA4F24', items: [&#10;        { n: '01', t: '岗位说明书是否已签署', d: '明确替代谁、哪部分职责、验收口径' },&#10;    { n: '02', t: '职权清单是否与授权矩阵一致', d: '每一个动作都能找到对应的岗位授权' },&#10;        { n: '03', t: '是否明确人类保留事项', d: '五类决定不允许交给 Agent' }] },&#10;          { g: '本体与数据', c: '#F87D2F', items: [&#10;      { n: '04', t: '是否无 Agent 私有事实', d: '口径、关系、权限全部来自本体' },&#10;        { n: '05', t: '上下文规格书是否完成', d: '来源、预算、时效、压缩、不可信标记' },&#10;            { n: '06', t: '记忆是否有 TTL 与清除入口', d: '错误不会被长期复现' }] },&#10;   ].map((grp, gi) =&gt; (&#10;          &lt;Box key={grp.g} style={{ flex: 1, background: '#F7F7F8', borderRadius: 4, borderTop: '3px solid ' + grp.c, padding: '9px 12px', flexDirection: 'column' }}&gt;&#10;       &lt;Text style={{ fontSize: 14, fontWeight: 'bold', color: grp.c, marginBottom: 5 }}&gt;{grp.g}&lt;/Text&gt;&#10;     {grp.items.map((it, i) =&gt; (&#10;          &lt;Box key={it.n} style={{ flex: 1, flexDirection: 'row', alignItems: 'center', gap: 8, borderTop: i === 0 ? 'none' : '1px solid #E8E8E8' }}&gt;&#10;     &lt;Text style={{ fontSize: 11, fontWeight: 'bold', color: grp.c, width: 20 }}&gt;{it.n}&lt;/Text&gt;&#10;  &lt;Box style={{ flex: 1 }}&gt;&#10;  &lt;Text style={{ fontSize: 13, fontWeight: 'bold', color: '#0F1423' }}&gt;{it.t}&lt;/Text&gt;&#10;  &lt;Text style={{ fontSize: 10, color: '#8A8F99', marginTop: 1 }}&gt;{it.d}&lt;/Text&gt;&#10;    &lt;/Box&gt;&#10;      &lt;/Box&gt;&#10;         ))}&#10;   &lt;/Box&gt;&#10;        ))}&#10;      &lt;/Box&gt;&#10;&#10;      &lt;Box style={{ flex: 1, flexDirection: 'row', gap: 8 }}&gt;&#10;     {[&#10;    { g: '运行时与终止', c: '#E0651A', items: [&#10;      { n: '07', t: '五条终止条件是否已配置', d: '步数、成本、超时、重复、置信' },&#10;       { n: '08', t: '降级路径是否已演练', d: '超限或失败时能自动转人工' },&#10;            { n: '09', t: '成本归集是否可按任务下钻', d: '能说清钱花在哪一步' }] },&#10;          { g: '质量与留痕', c: '#C43A17', items: [&#10;       { n: '10', t: '六层评测是否跑通并留档', d: 'L5 越权防御必须 100%' },&#10;   { n: '11', t: '五道门是否逐项验证过', d: '含注入样本与停手样本' },&#10;      { n: '12', t: '退役预案是否写好', d: '一键停用后业务如何兜底' }] },&#10;      ].map((grp, gi) =&gt; (&#10;          &lt;Box key={grp.g} style={{ flex: 1, background: '#F7F7F8', borderRadius: 4, borderTop: '3px solid ' + grp.c, padding: '9px 12px', flexDirection: 'column' }}&gt;&#10;            &lt;Text style={{ fontSize: 14, fontWeight: 'bold', color: grp.c, marginBottom: 5 }}&gt;{grp.g}&lt;/Text&gt;&#10;       {grp.items.map((it, i) =&gt; (&#10;     &lt;Box key={it.n} style={{ flex: 1, flexDirection: 'row', alignItems: 'center', gap: 8, borderTop: i === 0 ? 'none' : '1px solid #E8E8E8' }}&gt;&#10;   &lt;Text style={{ fontSize: 11, fontWeight: 'bold', color: grp.c, width: 20 }}&gt;{it.n}&lt;/Text&gt;&#10;      &lt;Box style={{ flex: 1 }}&gt;&#10;            &lt;Text style={{ fontSize: 13, fontWeight: 'bold', color: '#0F1423' }}&gt;{it.t}&lt;/Text&gt;&#10;  &lt;Text style={{ fontSize: 10, color: '#8A8F99', marginTop: 1 }}&gt;{it.d}&lt;/Text&gt;&#10;     &lt;/Box&gt;&#10;          &lt;/Box&gt;&#10;      ))}&#10;      &lt;/Box&gt;&#10;    ))}&#10;      &lt;/Box&gt;&#10;&#10;      &lt;Box style={{ height: 66, background: '#0F1423', borderRadius: 4, padding: '0 18px', flexDirection: 'row', alignItems: 'center', gap: 14 }}&gt;&#10;      &lt;Text style={{ fontSize: 14, fontWeight: 'bold', color: '#FBA15C', width: 148 }}&gt;评审的否决权&lt;/Text&gt;&#10;   &lt;Text style={{ fontSize: 13, color: 'rgba(255,255,255,0.92)', flex: 1, lineHeight: 1.45 }}&gt;&#10; 第 03、06、09、12 项为一票否决项 —— 人类保留事项没写清、记忆无法清除、成本无法下钻、退役没有预案，任何一项缺失都意味着出事时无法止损。Agent 上线评审要拿到业务、架构、安全、法务四方签字，不是技术团队自己签个字就放行。&#10;     &lt;/Text&gt;&#10;      &lt;/Box&gt;&#10;    &lt;/Box&gt;&#10;&#10;    &lt;Box style={{ height: 58, flexDirection: 'row', alignItems: 'center', borderTop: '1px solid #E8E8E8' }}&gt;&#10;        &lt;Box style={{ width: 10, height: 10, background: '#FA4F24' }} /&gt;&#10;     &lt;Text style={{ fontSize: 13, color: '#8A8F99', marginLeft: 12 }}&gt;硕磐机密 · Agent智能体咨询方法论&lt;/Text&gt;&#10;    &lt;Text style={{ fontSize: 13, color: '#8A8F99', marginLeft: 'auto' }}&gt;28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之评审：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上线评审十二项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，一项不通过就不许上线</a:t>
            </a:r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与传统上线评审最大的不同：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要评审它的失败路径，而不只是它的功能路径</a:t>
            </a:r>
            <a:endParaRPr/>
          </a:p>
        </p:txBody>
      </p:sp>
      <p:sp>
        <p:nvSpPr>
          <p:cNvPr id="1174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75" name=""/>
          <p:cNvSpPr/>
          <p:nvPr/>
        </p:nvSpPr>
        <p:spPr>
          <a:xfrm rot="0" flipH="0" flipV="0">
            <a:off x="609600" y="1333500"/>
            <a:ext cx="5448300" cy="1781175"/>
          </a:xfrm>
          <a:prstGeom prst="roundRect">
            <a:avLst>
              <a:gd name="adj" fmla="val 21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76" name=""/>
          <p:cNvSpPr/>
          <p:nvPr/>
        </p:nvSpPr>
        <p:spPr>
          <a:xfrm rot="0" flipH="0" flipV="0">
            <a:off x="609600" y="1333500"/>
            <a:ext cx="5448300" cy="1781175"/>
          </a:xfrm>
          <a:custGeom>
            <a:pathLst>
              <a:path w="572" h="187">
                <a:moveTo>
                  <a:pt x="568" y="0"/>
                </a:moveTo>
                <a:cubicBezTo>
                  <a:pt x="570" y="0"/>
                  <a:pt x="572" y="2"/>
                  <a:pt x="572" y="4"/>
                </a:cubicBezTo>
                <a:cubicBezTo>
                  <a:pt x="572" y="3"/>
                  <a:pt x="571" y="3"/>
                  <a:pt x="5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723900" y="1419225"/>
            <a:ext cx="521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岗位与授权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723900" y="17907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990600" y="17145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岗位说明书是否已签署</a:t>
            </a:r>
            <a:endParaRPr/>
          </a:p>
        </p:txBody>
      </p:sp>
      <p:sp>
        <p:nvSpPr>
          <p:cNvPr id="1180" name="" descr="{&quot;isTemplate&quot;:true,&quot;type&quot;:&quot;text&quot;}"/>
          <p:cNvSpPr txBox="1"/>
          <p:nvPr/>
        </p:nvSpPr>
        <p:spPr>
          <a:xfrm rot="0" flipH="0" flipV="0">
            <a:off x="990600" y="187642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明确替代谁、哪部分职责、验收口径</a:t>
            </a:r>
            <a:endParaRPr/>
          </a:p>
        </p:txBody>
      </p:sp>
      <p:sp>
        <p:nvSpPr>
          <p:cNvPr id="1181" name=""/>
          <p:cNvSpPr/>
          <p:nvPr/>
        </p:nvSpPr>
        <p:spPr>
          <a:xfrm rot="0" flipH="0" flipV="0">
            <a:off x="723900" y="2076450"/>
            <a:ext cx="5219700" cy="476250"/>
          </a:xfrm>
          <a:custGeom>
            <a:pathLst>
              <a:path w="548" h="50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723900" y="22479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990600" y="21812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职权清单是否与授权矩阵一致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990600" y="234315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每一个动作都能找到对应的岗位授权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723900" y="254317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723900" y="27146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990600" y="2638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是否明确人类保留事项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990600" y="280035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五类决定不允许交给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189" name=""/>
          <p:cNvSpPr/>
          <p:nvPr/>
        </p:nvSpPr>
        <p:spPr>
          <a:xfrm rot="0" flipH="0" flipV="0">
            <a:off x="6134100" y="1333500"/>
            <a:ext cx="5448300" cy="1781175"/>
          </a:xfrm>
          <a:prstGeom prst="roundRect">
            <a:avLst>
              <a:gd name="adj" fmla="val 21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190" name=""/>
          <p:cNvSpPr/>
          <p:nvPr/>
        </p:nvSpPr>
        <p:spPr>
          <a:xfrm rot="0" flipH="0" flipV="0">
            <a:off x="6134100" y="1333500"/>
            <a:ext cx="5448300" cy="1781175"/>
          </a:xfrm>
          <a:custGeom>
            <a:pathLst>
              <a:path w="572" h="187">
                <a:moveTo>
                  <a:pt x="568" y="0"/>
                </a:moveTo>
                <a:cubicBezTo>
                  <a:pt x="570" y="0"/>
                  <a:pt x="572" y="2"/>
                  <a:pt x="572" y="4"/>
                </a:cubicBezTo>
                <a:cubicBezTo>
                  <a:pt x="572" y="3"/>
                  <a:pt x="571" y="3"/>
                  <a:pt x="5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6248400" y="1419225"/>
            <a:ext cx="521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87D2F"/>
                </a:solidFill>
                <a:latin typeface="Microsoft YaHei"/>
                <a:ea typeface="Microsoft YaHei"/>
              </a:rPr>
              <a:t>本体与数据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6248400" y="17907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6515100" y="1714500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是否无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私有事实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6515100" y="187642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口径、关系、权限全部来自本体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6248400" y="2076450"/>
            <a:ext cx="5219700" cy="476250"/>
          </a:xfrm>
          <a:custGeom>
            <a:pathLst>
              <a:path w="548" h="50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6248400" y="2247900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6515100" y="21812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上下文规格书是否完成</a:t>
            </a:r>
            <a:endParaRPr/>
          </a:p>
        </p:txBody>
      </p:sp>
      <p:sp>
        <p:nvSpPr>
          <p:cNvPr id="1198" name="" descr="{&quot;isTemplate&quot;:true,&quot;type&quot;:&quot;text&quot;}"/>
          <p:cNvSpPr txBox="1"/>
          <p:nvPr/>
        </p:nvSpPr>
        <p:spPr>
          <a:xfrm rot="0" flipH="0" flipV="0">
            <a:off x="6515100" y="234315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来源、预算、时效、压缩、不可信标记</a:t>
            </a:r>
            <a:endParaRPr/>
          </a:p>
        </p:txBody>
      </p:sp>
      <p:sp>
        <p:nvSpPr>
          <p:cNvPr id="1199" name=""/>
          <p:cNvSpPr/>
          <p:nvPr/>
        </p:nvSpPr>
        <p:spPr>
          <a:xfrm rot="0" flipH="0" flipV="0">
            <a:off x="6248400" y="254317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248400" y="271462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87D2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6515100" y="263842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记忆是否有</a:t>
            </a:r>
            <a:r>
              <a:rPr lang="en-US" sz="9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TTL </a:t>
            </a: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与清除入口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6515100" y="280035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错误不会被长期复现</a:t>
            </a:r>
            <a:endParaRPr/>
          </a:p>
        </p:txBody>
      </p:sp>
      <p:sp>
        <p:nvSpPr>
          <p:cNvPr id="1203" name=""/>
          <p:cNvSpPr/>
          <p:nvPr/>
        </p:nvSpPr>
        <p:spPr>
          <a:xfrm rot="0" flipH="0" flipV="0">
            <a:off x="609600" y="3190875"/>
            <a:ext cx="5448300" cy="1771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04" name=""/>
          <p:cNvSpPr/>
          <p:nvPr/>
        </p:nvSpPr>
        <p:spPr>
          <a:xfrm rot="0" flipH="0" flipV="0">
            <a:off x="609600" y="3190875"/>
            <a:ext cx="5448300" cy="1771650"/>
          </a:xfrm>
          <a:custGeom>
            <a:pathLst>
              <a:path w="572" h="186">
                <a:moveTo>
                  <a:pt x="568" y="0"/>
                </a:moveTo>
                <a:cubicBezTo>
                  <a:pt x="570" y="0"/>
                  <a:pt x="572" y="2"/>
                  <a:pt x="572" y="4"/>
                </a:cubicBezTo>
                <a:cubicBezTo>
                  <a:pt x="572" y="3"/>
                  <a:pt x="571" y="3"/>
                  <a:pt x="5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E0651A"/>
          </a:solidFill>
          <a:ln/>
        </p:spPr>
        <p:txBody>
          <a:bodyPr/>
          <a:p/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723900" y="3276600"/>
            <a:ext cx="521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E0651A"/>
                </a:solidFill>
                <a:latin typeface="Microsoft YaHei"/>
                <a:ea typeface="Microsoft YaHei"/>
              </a:rPr>
              <a:t>运行时与终止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990600" y="35718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五条终止条件是否已配置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990600" y="37338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步数、成本、超时、重复、置信</a:t>
            </a:r>
            <a:endParaRPr/>
          </a:p>
        </p:txBody>
      </p:sp>
      <p:sp>
        <p:nvSpPr>
          <p:cNvPr id="1209" name=""/>
          <p:cNvSpPr/>
          <p:nvPr/>
        </p:nvSpPr>
        <p:spPr>
          <a:xfrm rot="0" flipH="0" flipV="0">
            <a:off x="723900" y="393382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723900" y="41052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>08</a:t>
            </a:r>
            <a:endParaRPr/>
          </a:p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990600" y="40290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降级路径是否已演练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990600" y="41910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超限或失败时能自动转人工</a:t>
            </a:r>
            <a:endParaRPr/>
          </a:p>
        </p:txBody>
      </p:sp>
      <p:sp>
        <p:nvSpPr>
          <p:cNvPr id="1213" name=""/>
          <p:cNvSpPr/>
          <p:nvPr/>
        </p:nvSpPr>
        <p:spPr>
          <a:xfrm rot="0" flipH="0" flipV="0">
            <a:off x="723900" y="439102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723900" y="45624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0651A"/>
                </a:solidFill>
                <a:latin typeface="Microsoft YaHei"/>
                <a:ea typeface="Microsoft YaHei"/>
              </a:rPr>
              <a:t>09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990600" y="44862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成本归集是否可按任务下钻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990600" y="46482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能说清钱花在哪一步</a:t>
            </a:r>
            <a:endParaRPr/>
          </a:p>
        </p:txBody>
      </p:sp>
      <p:sp>
        <p:nvSpPr>
          <p:cNvPr id="1217" name=""/>
          <p:cNvSpPr/>
          <p:nvPr/>
        </p:nvSpPr>
        <p:spPr>
          <a:xfrm rot="0" flipH="0" flipV="0">
            <a:off x="6134100" y="3190875"/>
            <a:ext cx="5448300" cy="1771650"/>
          </a:xfrm>
          <a:prstGeom prst="roundRect">
            <a:avLst>
              <a:gd name="adj" fmla="val 215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18" name=""/>
          <p:cNvSpPr/>
          <p:nvPr/>
        </p:nvSpPr>
        <p:spPr>
          <a:xfrm rot="0" flipH="0" flipV="0">
            <a:off x="6134100" y="3190875"/>
            <a:ext cx="5448300" cy="1771650"/>
          </a:xfrm>
          <a:custGeom>
            <a:pathLst>
              <a:path w="572" h="186">
                <a:moveTo>
                  <a:pt x="568" y="0"/>
                </a:moveTo>
                <a:cubicBezTo>
                  <a:pt x="570" y="0"/>
                  <a:pt x="572" y="2"/>
                  <a:pt x="572" y="4"/>
                </a:cubicBezTo>
                <a:cubicBezTo>
                  <a:pt x="572" y="3"/>
                  <a:pt x="571" y="3"/>
                  <a:pt x="571" y="3"/>
                </a:cubicBezTo>
                <a:lnTo>
                  <a:pt x="1" y="3"/>
                </a:lnTo>
                <a:cubicBezTo>
                  <a:pt x="1" y="3"/>
                  <a:pt x="0" y="3"/>
                  <a:pt x="0" y="4"/>
                </a:cubicBezTo>
                <a:cubicBezTo>
                  <a:pt x="0" y="2"/>
                  <a:pt x="2" y="0"/>
                  <a:pt x="4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C43A17"/>
          </a:soli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6248400" y="3276600"/>
            <a:ext cx="521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质量与留痕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6248400" y="36480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6515100" y="35718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六层评测是否跑通并留档</a:t>
            </a:r>
            <a:endParaRPr/>
          </a:p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6515100" y="37338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L5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越权防御必须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1223" name=""/>
          <p:cNvSpPr/>
          <p:nvPr/>
        </p:nvSpPr>
        <p:spPr>
          <a:xfrm rot="0" flipH="0" flipV="0">
            <a:off x="6248400" y="393382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6248400" y="41052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6515100" y="40290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五道门是否逐项验证过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6515100" y="41910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含注入样本与停手样本</a:t>
            </a:r>
            <a:endParaRPr/>
          </a:p>
        </p:txBody>
      </p:sp>
      <p:sp>
        <p:nvSpPr>
          <p:cNvPr id="1227" name=""/>
          <p:cNvSpPr/>
          <p:nvPr/>
        </p:nvSpPr>
        <p:spPr>
          <a:xfrm rot="0" flipH="0" flipV="0">
            <a:off x="6248400" y="4391025"/>
            <a:ext cx="5219700" cy="466725"/>
          </a:xfrm>
          <a:custGeom>
            <a:pathLst>
              <a:path w="548" h="49">
                <a:moveTo>
                  <a:pt x="0" y="0"/>
                </a:moveTo>
                <a:lnTo>
                  <a:pt x="548" y="0"/>
                </a:lnTo>
                <a:lnTo>
                  <a:pt x="5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6248400" y="4562475"/>
            <a:ext cx="190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6515100" y="4486275"/>
            <a:ext cx="4953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1423"/>
                </a:solidFill>
                <a:latin typeface="Microsoft YaHei"/>
                <a:ea typeface="Microsoft YaHei"/>
              </a:rPr>
              <a:t>退役预案是否写好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6515100" y="4648200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一键停用后业务如何兜底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609600" y="5010150"/>
            <a:ext cx="10972800" cy="628650"/>
          </a:xfrm>
          <a:prstGeom prst="roundRect">
            <a:avLst>
              <a:gd name="adj" fmla="val 6061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781050" y="524827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评审的否决权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2324100" y="5105400"/>
            <a:ext cx="9086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03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06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09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12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项为一票否决项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人类保留事项没写清、记忆无法清除、成本无法下钻、退役没有预案，任何一项缺失都意味着出事时无法止损。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上线评审要拿到业务、架构、安全、法务四方签字，不是技术团队自己签个字就放行。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35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28 / 30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238" name="" descr="&lt;Slide style={{ width: 1280, height: 720, background: '#FFFFFF', padding: '24px 64px 0' }}&gt;&#10;    &lt;Box style={{ height: 96, flexDirection: 'column', justifyContent: 'flex-start' }}&gt;&#10;        &lt;Text style={{ fontSize: 32, fontWeight: 'bold', color: '#0F1423' }}&gt;&#10;    之演进：&lt;span style={{ color: '#FA4F24' }}&gt;从单 Agent 到 Agent 网络&lt;/span&gt;的四步与各自的门槛&#10;        &lt;/Text&gt;&#10;     &lt;Text style={{ fontSize: 20, color: '#8A8F99', marginTop: 8 }}&gt;&#10; 每一步都要用数据证明前一步已经稳定，才允许往上走 —— 不允许一次性铺开&#10;     &lt;/Text&gt;&#10;    &lt;/Box&gt;&#10;    &lt;Box style={{ height: 1, background: '#E8E8E8' }} /&gt;&#10;&#10;    &lt;Box style={{ paddingTop: 16, paddingBottom: 8, height: 479, flexDirection: 'column', gap: 9 }}&gt;&#10;      {/* 四步阶梯 */}&#10;      &lt;Box style={{ flex: 1, flexDirection: 'row', gap: 8, alignItems: 'stretch' }}&gt;&#10;        {[&#10;   { n: 'Step 1', t: '单 Agent · 只读建议', d: '只做分析与建议，全部动作由人执行', g: '门槛：无', m: '评测集跑通 L1–L3', c: '#8A8F99' },&#10;  { n: 'Step 2', t: '单 Agent · 审批执行', d: 'Agent 调动作，人逐条确认后生效', g: '门槛：建议采纳率 ≥ 70%', m: '连续四周稳定', c: '#FBA15C' },&#10;          { n: 'Step 3', t: '单 Agent · 受限自主', d: '低风险动作自动执行，高风险仍转人工', g: '门槛：L4 通过率 ≥ 85%', m: 'L5 必须 100%', c: '#FA4F24' },&#10;    { n: 'Step 4', t: 'Agent 网络 · 多角色协作', d: '按业务域拆成多个专业 Agent 协同', g: '门槛：出现真实分工需求', m: '单 Agent 已无法承载', c: '#0F1423' },&#10;      ].map((it, i) =&gt; (&#10;     &lt;Box key={it.n} style={{ flex: 1, marginTop: i * 14, background: '#F7F7F8', borderRadius: 4, borderTop: '4px solid ' + it.c, padding: '10px 14px', flexDirection: 'column' }}&gt;&#10;       &lt;Text style={{ fontSize: 12, fontWeight: 'bold', color: it.c, letterSpacing: 1 }}&gt;{it.n}&lt;/Text&gt;&#10;   &lt;Text style={{ fontSize: 18, fontWeight: 'bold', color: '#0F1423', marginTop: 4 }}&gt;{it.t}&lt;/Text&gt;&#10;    &lt;Text style={{ fontSize: 12, color: '#5A6072', marginTop: 6, lineHeight: 1.45, flex: 1 }}&gt;{it.d}&lt;/Text&gt;&#10;       &lt;Box style={{ height: 40, background: '#FFFFFF', borderRadius: 3, padding: '5px 9px', marginTop: 6 }}&gt;&#10;      &lt;Text style={{ fontSize: 11, color: '#C43A17', fontWeight: 'bold' }}&gt;{it.g}&lt;/Text&gt;&#10;    &lt;Text style={{ fontSize: 10, color: '#8A8F99', marginTop: 2 }}&gt;{it.m}&lt;/Text&gt;&#10;     &lt;/Box&gt;&#10;          &lt;/Box&gt;&#10;      ))}&#10;      &lt;/Box&gt;&#10;&#10;      &lt;Box style={{ height: 90, background: '#FFF3EE', borderRadius: 4, borderLeft: '5px solid #FBA15C', padding: '10px 16px', flexDirection: 'column' }}&gt;&#10;        &lt;Text style={{ fontSize: 14, fontWeight: 'bold', color: '#C43A17', marginBottom: 6 }}&gt;三条不可跳步的硬规则&lt;/Text&gt;&#10;    &lt;Box style={{ flexDirection: 'row', gap: 10, flex: 1 }}&gt;&#10;     {[&#10;   { n: '先单后多', d: '没有出现容量、分工、并行三类阈值中的任何一类，就不许拆多 Agent' },&#10;      { n: '先读后写', d: '只读建议稳定之前不开放任何写操作权限' },&#10;            { n: '先评估后扩量', d: '评测通过率不达标就不许扩场景、扩人数、扩数据范围' },&#10;     ].map((it, i) =&gt; (&#10;       &lt;Box key={it.n} style={{ flex: 1, background: '#FFFFFF', borderRadius: 3, padding: '7px 10px' }}&gt;&#10;     &lt;Box style={{ flexDirection: 'row', alignItems: 'center', gap: 7 }}&gt;&#10;    &lt;Text style={{ fontSize: 11, fontWeight: 'bold', color: '#FA4F24' }}&gt;{String(i + 1)}&lt;/Text&gt;&#10;      &lt;Text style={{ fontSize: 14, fontWeight: 'bold', color: '#0F1423' }}&gt;{it.n}&lt;/Text&gt;&#10;        &lt;/Box&gt;&#10;        &lt;Text style={{ fontSize: 11, color: '#5A6072', marginTop: 3, lineHeight: 1.4 }}&gt;{it.d}&lt;/Text&gt;&#10;    &lt;/Box&gt;&#10;      ))}&#10;      &lt;/Box&gt;&#10;      &lt;/Box&gt;&#10;&#10;      &lt;Box style={{ height: 62, background: '#0F1423', borderRadius: 4, padding: '0 18px', flexDirection: 'row', alignItems: 'center', gap: 14 }}&gt;&#10;   &lt;Text style={{ fontSize: 14, fontWeight: 'bold', color: '#FBA15C', width: 148 }}&gt;退步也是选项&lt;/Text&gt;&#10;        &lt;Text style={{ fontSize: 13, color: 'rgba(255,255,255,0.92)', flex: 1, lineHeight: 1.45 }}&gt;&#10;     指标连续下滑或出现越权事件时，允许主动降级回上一级，而不是硬扛。企业里最难的不是把 Agent 推到 L3，而是承认它只配得上 L2，然后重新设计岗位边界。&#10;        &lt;/Text&gt;&#10;      &lt;/Box&gt;&#10;    &lt;/Box&gt;&#10;&#10;    &lt;Box style={{ height: 58, flexDirection: 'row', alignItems: 'center', borderTop: '1px solid #E8E8E8' }}&gt;&#10;        &lt;Box style={{ width: 10, height: 10, background: '#FA4F24' }} /&gt;&#10;    &lt;Text style={{ fontSize: 13, color: '#8A8F99', marginLeft: 12 }}&gt;硕磐机密 · Agent智能体咨询方法论&lt;/Text&gt;&#10; &lt;Text style={{ fontSize: 13, color: '#8A8F99', marginLeft: 'auto' }}&gt;29 / 30&lt;/Text&gt;&#10;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之演进：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从单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到</a:t>
            </a:r>
            <a:r>
              <a:rPr lang="en-US" sz="24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网络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的四步与各自的门槛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每一步都要用数据证明前一步已经稳定，才允许往上走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不允许一次性铺开</a:t>
            </a:r>
            <a:endParaRPr/>
          </a:p>
        </p:txBody>
      </p:sp>
      <p:sp>
        <p:nvSpPr>
          <p:cNvPr id="12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43" name=""/>
          <p:cNvSpPr/>
          <p:nvPr/>
        </p:nvSpPr>
        <p:spPr>
          <a:xfrm rot="0" flipH="0" flipV="0">
            <a:off x="609600" y="1343025"/>
            <a:ext cx="2686050" cy="2714625"/>
          </a:xfrm>
          <a:prstGeom prst="roundRect">
            <a:avLst>
              <a:gd name="adj" fmla="val 141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44" name=""/>
          <p:cNvSpPr/>
          <p:nvPr/>
        </p:nvSpPr>
        <p:spPr>
          <a:xfrm rot="0" flipH="0" flipV="0">
            <a:off x="609600" y="1343025"/>
            <a:ext cx="2686050" cy="2714625"/>
          </a:xfrm>
          <a:custGeom>
            <a:pathLst>
              <a:path w="282" h="285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742950" y="143827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8A8F99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742950" y="161925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单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·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只读建议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742950" y="1885950"/>
            <a:ext cx="2419350" cy="16002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只做分析与建议，全部动作由人执行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742950" y="3543300"/>
            <a:ext cx="24193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828675" y="3590925"/>
            <a:ext cx="2247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门槛：无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828675" y="3743325"/>
            <a:ext cx="2247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评测集跑通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L1–L3</a:t>
            </a:r>
            <a:endParaRPr/>
          </a:p>
        </p:txBody>
      </p:sp>
      <p:sp>
        <p:nvSpPr>
          <p:cNvPr id="1251" name=""/>
          <p:cNvSpPr/>
          <p:nvPr/>
        </p:nvSpPr>
        <p:spPr>
          <a:xfrm rot="0" flipH="0" flipV="0">
            <a:off x="3371850" y="1476375"/>
            <a:ext cx="2686050" cy="2581275"/>
          </a:xfrm>
          <a:prstGeom prst="roundRect">
            <a:avLst>
              <a:gd name="adj" fmla="val 147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52" name=""/>
          <p:cNvSpPr/>
          <p:nvPr/>
        </p:nvSpPr>
        <p:spPr>
          <a:xfrm rot="0" flipH="0" flipV="0">
            <a:off x="3371850" y="1476375"/>
            <a:ext cx="2686050" cy="2581275"/>
          </a:xfrm>
          <a:custGeom>
            <a:pathLst>
              <a:path w="282" h="271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3505200" y="15716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BA15C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3505200" y="175260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单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·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审批执行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3505200" y="2019300"/>
            <a:ext cx="2419350" cy="1466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调动作，人逐条确认后生效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3505200" y="3543300"/>
            <a:ext cx="24193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3590925" y="3590925"/>
            <a:ext cx="2247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门槛：建议采纳率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≥ 70%</a:t>
            </a:r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3590925" y="3743325"/>
            <a:ext cx="2247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连续四周稳定</a:t>
            </a:r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6134100" y="1609725"/>
            <a:ext cx="2686050" cy="2447925"/>
          </a:xfrm>
          <a:prstGeom prst="roundRect">
            <a:avLst>
              <a:gd name="adj" fmla="val 155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0" name=""/>
          <p:cNvSpPr/>
          <p:nvPr/>
        </p:nvSpPr>
        <p:spPr>
          <a:xfrm rot="0" flipH="0" flipV="0">
            <a:off x="6134100" y="1609725"/>
            <a:ext cx="2686050" cy="2447925"/>
          </a:xfrm>
          <a:custGeom>
            <a:pathLst>
              <a:path w="282" h="257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6267450" y="170497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A4F2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6267450" y="188595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单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Agent ·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受限自主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6267450" y="2152650"/>
            <a:ext cx="2419350" cy="1333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低风险动作自动执行，高风险仍转人工</a:t>
            </a:r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6267450" y="3543300"/>
            <a:ext cx="24193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6353175" y="3590925"/>
            <a:ext cx="2247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L4 </a:t>
            </a: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通过率</a:t>
            </a:r>
            <a:r>
              <a:rPr lang="en-US" sz="825" b="1">
                <a:solidFill>
                  <a:srgbClr val="C43A17"/>
                </a:solidFill>
                <a:latin typeface="Microsoft YaHei"/>
                <a:ea typeface="Microsoft YaHei"/>
              </a:rPr>
              <a:t xml:space="preserve"> ≥ 85%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6353175" y="3743325"/>
            <a:ext cx="2247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L5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必须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100%</a:t>
            </a:r>
            <a:endParaRPr/>
          </a:p>
        </p:txBody>
      </p:sp>
      <p:sp>
        <p:nvSpPr>
          <p:cNvPr id="1267" name=""/>
          <p:cNvSpPr/>
          <p:nvPr/>
        </p:nvSpPr>
        <p:spPr>
          <a:xfrm rot="0" flipH="0" flipV="0">
            <a:off x="8896350" y="1743075"/>
            <a:ext cx="2686050" cy="2314575"/>
          </a:xfrm>
          <a:prstGeom prst="roundRect">
            <a:avLst>
              <a:gd name="adj" fmla="val 164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68" name=""/>
          <p:cNvSpPr/>
          <p:nvPr/>
        </p:nvSpPr>
        <p:spPr>
          <a:xfrm rot="0" flipH="0" flipV="0">
            <a:off x="8896350" y="1743075"/>
            <a:ext cx="2686050" cy="2314575"/>
          </a:xfrm>
          <a:custGeom>
            <a:pathLst>
              <a:path w="282" h="243">
                <a:moveTo>
                  <a:pt x="278" y="0"/>
                </a:moveTo>
                <a:cubicBezTo>
                  <a:pt x="280" y="0"/>
                  <a:pt x="282" y="2"/>
                  <a:pt x="282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8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9029700" y="1838325"/>
            <a:ext cx="2419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0F1423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1270" name="" descr="{&quot;isTemplate&quot;:true,&quot;type&quot;:&quot;text&quot;}"/>
          <p:cNvSpPr txBox="1"/>
          <p:nvPr/>
        </p:nvSpPr>
        <p:spPr>
          <a:xfrm rot="0" flipH="0" flipV="0">
            <a:off x="9029700" y="2019300"/>
            <a:ext cx="2419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网络</a:t>
            </a:r>
            <a:r>
              <a:rPr lang="en-US" sz="13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b="1">
                <a:solidFill>
                  <a:srgbClr val="0F1423"/>
                </a:solidFill>
                <a:latin typeface="Microsoft YaHei"/>
                <a:ea typeface="Microsoft YaHei"/>
              </a:rPr>
              <a:t>多角色协作</a:t>
            </a:r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9029700" y="2286000"/>
            <a:ext cx="2419350" cy="1200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按业务域拆成多个专业</a:t>
            </a:r>
            <a:r>
              <a:rPr lang="en-US" sz="900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00">
                <a:solidFill>
                  <a:srgbClr val="5A6072"/>
                </a:solidFill>
                <a:latin typeface="Microsoft YaHei"/>
                <a:ea typeface="Microsoft YaHei"/>
              </a:rPr>
              <a:t>协同</a:t>
            </a:r>
            <a:endParaRPr/>
          </a:p>
        </p:txBody>
      </p:sp>
      <p:sp>
        <p:nvSpPr>
          <p:cNvPr id="1272" name=""/>
          <p:cNvSpPr/>
          <p:nvPr/>
        </p:nvSpPr>
        <p:spPr>
          <a:xfrm rot="0" flipH="0" flipV="0">
            <a:off x="9029700" y="3543300"/>
            <a:ext cx="2419350" cy="38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9115425" y="3590925"/>
            <a:ext cx="2247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C43A17"/>
                </a:solidFill>
                <a:latin typeface="Microsoft YaHei"/>
                <a:ea typeface="Microsoft YaHei"/>
              </a:rPr>
              <a:t>门槛：出现真实分工需求</a:t>
            </a:r>
            <a:endParaRPr/>
          </a:p>
        </p:txBody>
      </p:sp>
      <p:sp>
        <p:nvSpPr>
          <p:cNvPr id="1274" name="" descr="{&quot;isTemplate&quot;:true,&quot;type&quot;:&quot;text&quot;}"/>
          <p:cNvSpPr txBox="1"/>
          <p:nvPr/>
        </p:nvSpPr>
        <p:spPr>
          <a:xfrm rot="0" flipH="0" flipV="0">
            <a:off x="9115425" y="3743325"/>
            <a:ext cx="2247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单</a:t>
            </a:r>
            <a:r>
              <a:rPr lang="en-US" sz="750">
                <a:solidFill>
                  <a:srgbClr val="8A8F9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750">
                <a:solidFill>
                  <a:srgbClr val="8A8F99"/>
                </a:solidFill>
                <a:latin typeface="Microsoft YaHei"/>
                <a:ea typeface="Microsoft YaHei"/>
              </a:rPr>
              <a:t>已无法承载</a:t>
            </a:r>
            <a:endParaRPr/>
          </a:p>
        </p:txBody>
      </p:sp>
      <p:sp>
        <p:nvSpPr>
          <p:cNvPr id="1275" name=""/>
          <p:cNvSpPr/>
          <p:nvPr/>
        </p:nvSpPr>
        <p:spPr>
          <a:xfrm rot="0" flipH="0" flipV="0">
            <a:off x="657225" y="4105275"/>
            <a:ext cx="10972800" cy="857250"/>
          </a:xfrm>
          <a:prstGeom prst="roundRect">
            <a:avLst>
              <a:gd name="adj" fmla="val 4444"/>
            </a:avLst>
          </a:prstGeom>
          <a:solidFill>
            <a:srgbClr val="FFF3EE"/>
          </a:solidFill>
          <a:ln/>
        </p:spPr>
        <p:txBody>
          <a:bodyPr/>
          <a:p/>
        </p:txBody>
      </p:sp>
      <p:sp>
        <p:nvSpPr>
          <p:cNvPr id="1276" name=""/>
          <p:cNvSpPr/>
          <p:nvPr/>
        </p:nvSpPr>
        <p:spPr>
          <a:xfrm rot="0" flipH="0" flipV="0">
            <a:off x="657225" y="4105275"/>
            <a:ext cx="10972800" cy="857250"/>
          </a:xfrm>
          <a:custGeom>
            <a:pathLst>
              <a:path w="1152" h="90">
                <a:moveTo>
                  <a:pt x="5" y="90"/>
                </a:moveTo>
                <a:cubicBezTo>
                  <a:pt x="4" y="90"/>
                  <a:pt x="3" y="90"/>
                  <a:pt x="2" y="89"/>
                </a:cubicBezTo>
                <a:cubicBezTo>
                  <a:pt x="1" y="89"/>
                  <a:pt x="0" y="88"/>
                  <a:pt x="0" y="86"/>
                </a:cubicBezTo>
                <a:lnTo>
                  <a:pt x="0" y="86"/>
                </a:lnTo>
                <a:lnTo>
                  <a:pt x="0" y="8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15C"/>
          </a:solidFill>
          <a:ln/>
        </p:spPr>
        <p:txBody>
          <a:bodyPr/>
          <a:p/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809625" y="4200525"/>
            <a:ext cx="10620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C43A17"/>
                </a:solidFill>
                <a:latin typeface="Microsoft YaHei"/>
                <a:ea typeface="Microsoft YaHei"/>
              </a:rPr>
              <a:t>三条不可跳步的硬规则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809625" y="4419600"/>
            <a:ext cx="34766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904875" y="45053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1038225" y="4486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先单后多</a:t>
            </a:r>
            <a:endParaRPr/>
          </a:p>
        </p:txBody>
      </p:sp>
      <p:sp>
        <p:nvSpPr>
          <p:cNvPr id="1281" name="" descr="{&quot;isTemplate&quot;:true,&quot;type&quot;:&quot;text&quot;}"/>
          <p:cNvSpPr txBox="1"/>
          <p:nvPr/>
        </p:nvSpPr>
        <p:spPr>
          <a:xfrm rot="0" flipH="0" flipV="0">
            <a:off x="904875" y="4676775"/>
            <a:ext cx="32861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没有出现容量、分工、并行三类阈值中的任何一类，就不许拆多</a:t>
            </a:r>
            <a:r>
              <a:rPr lang="en-US" sz="825">
                <a:solidFill>
                  <a:srgbClr val="5A6072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1282" name=""/>
          <p:cNvSpPr/>
          <p:nvPr/>
        </p:nvSpPr>
        <p:spPr>
          <a:xfrm rot="0" flipH="0" flipV="0">
            <a:off x="4381500" y="4419600"/>
            <a:ext cx="34766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4476750" y="45053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4610100" y="4486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先读后写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4476750" y="4676775"/>
            <a:ext cx="32861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只读建议稳定之前不开放任何写操作权限</a:t>
            </a:r>
            <a:endParaRPr/>
          </a:p>
        </p:txBody>
      </p:sp>
      <p:sp>
        <p:nvSpPr>
          <p:cNvPr id="1286" name=""/>
          <p:cNvSpPr/>
          <p:nvPr/>
        </p:nvSpPr>
        <p:spPr>
          <a:xfrm rot="0" flipH="0" flipV="0">
            <a:off x="7953375" y="4419600"/>
            <a:ext cx="3476625" cy="504825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87" name="" descr="{&quot;isTemplate&quot;:true,&quot;type&quot;:&quot;text&quot;}"/>
          <p:cNvSpPr txBox="1"/>
          <p:nvPr/>
        </p:nvSpPr>
        <p:spPr>
          <a:xfrm rot="0" flipH="0" flipV="0">
            <a:off x="8048625" y="45053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A4F2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8181975" y="44862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先评估后扩量</a:t>
            </a:r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8048625" y="4676775"/>
            <a:ext cx="3286125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072"/>
                </a:solidFill>
                <a:latin typeface="Microsoft YaHei"/>
                <a:ea typeface="Microsoft YaHei"/>
              </a:rPr>
              <a:t>评测通过率不达标就不许扩场景、扩人数、扩数据范围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609600" y="5048250"/>
            <a:ext cx="10972800" cy="590550"/>
          </a:xfrm>
          <a:prstGeom prst="roundRect">
            <a:avLst>
              <a:gd name="adj" fmla="val 645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781050" y="5267325"/>
            <a:ext cx="1409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BA15C"/>
                </a:solidFill>
                <a:latin typeface="Microsoft YaHei"/>
                <a:ea typeface="Microsoft YaHei"/>
              </a:rPr>
              <a:t>退步也是选项</a:t>
            </a:r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2324100" y="5238750"/>
            <a:ext cx="9086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指标连续下滑或出现越权事件时，允许主动降级回上一级，而不是硬扛。企业里最难的不是把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推到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L3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，而是承认它只配得上</a:t>
            </a:r>
            <a:r>
              <a:rPr lang="en-US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 xml:space="preserve"> L2</a:t>
            </a:r>
            <a:r>
              <a:rPr lang="zh-CN" sz="97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，然后重新设计岗位边界。</a:t>
            </a:r>
            <a:endParaRPr/>
          </a:p>
        </p:txBody>
      </p:sp>
      <p:sp>
        <p:nvSpPr>
          <p:cNvPr id="1293" name=""/>
          <p:cNvSpPr/>
          <p:nvPr/>
        </p:nvSpPr>
        <p:spPr>
          <a:xfrm rot="0" flipH="0" flipV="0">
            <a:off x="609600" y="5715000"/>
            <a:ext cx="10972800" cy="552450"/>
          </a:xfrm>
          <a:custGeom>
            <a:pathLst>
              <a:path w="1152" h="58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94" name=""/>
          <p:cNvSpPr/>
          <p:nvPr/>
        </p:nvSpPr>
        <p:spPr>
          <a:xfrm rot="0" flipH="0" flipV="0">
            <a:off x="609600" y="5953125"/>
            <a:ext cx="95250" cy="952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819150" y="5924550"/>
            <a:ext cx="1952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11163300" y="592455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29 / 30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346" name="" descr="&lt;Slide style={{ width: 1280, height: 720, background: '#0F1423' }}&gt;&#10;    &lt;Box style={{ position: 'absolute', left: 0, top: 0, width: 1280, height: 720, background: 'linear-gradient(135deg, #0F1423 0%, #2A1810 100%)' }} /&gt;&#10;    &lt;Box style={{ position: 'absolute', right: 0, top: 0, width: 620, height: 720, background: 'linear-gradient(200deg, rgba(250,79,36,0.26) 0%, rgba(250,79,36,0) 70%)' }} /&gt;&#10;&#10;    &lt;Box style={{ position: 'absolute', left: 88, top: 56, width: 1104 }}&gt;&#10;      &lt;Text style={{ fontSize: 15, color: 'rgba(255,255,255,0.5)', letterSpacing: 3 }}&gt;结语&lt;/Text&gt;&#10;        &lt;Text style={{ fontSize: 44, fontWeight: 'bold', color: '#FFFFFF', marginTop: 14, lineHeight: 1.25 }}&gt;&#10;   架构的终点，不是把系统建完，而是&lt;span style={{ color: '#FA4F24' }}&gt;把权责划清&lt;/span&gt;&#10;        &lt;/Text&gt;&#10;   &lt;Box style={{ width: 72, height: 5, background: '#FA4F24', marginTop: 22 }} /&gt;&#10;    &lt;/Box&gt;&#10;&#10;  {/* 六册主线 */}&#10;    &lt;Box style={{ position: 'absolute', left: 88, top: 236, width: 1104, flexDirection: 'column', gap: 8 }}&gt;&#10;     &lt;Text style={{ fontSize: 15, fontWeight: 'bold', color: 'rgba(255,255,255,0.72)' }}&gt;六册主线：一条完整的链路&lt;/Text&gt;&#10;      {[&#10;      { b: 'DA', t: '先有治，才有存', s: '数据架构是枢纽', c: '#8A8F99' },&#10;  { b: 'BA', t: '能力与组织解耦', s: '业务架构是基础', c: '#8A8F99' },&#10;        { b: 'AA', t: '数量增长带来技术债', s: '应用架构是载体', c: '#8A8F99' },&#10;        { b: 'TA', t: '不押注单点技术', s: '技术架构是底座', c: '#8A8F99' },&#10;        { b: 'ONT', t: '语义与动力学合一', s: '本体是 4A 的汇流点', c: '#F87D2F' },&#10;        { b: 'AGT', t: '明确谁来判断、权限多大、何时停手', s: 'Agent 是 4A 的新实践点', c: '#FA4F24' },&#10;   ].map((it, i) =&gt; (&#10; &lt;Box key={it.b} style={{ height: 44, background: 'rgba(255,255,255,0.06)', borderRadius: 3, borderLeft: '3px solid ' + it.c, padding: '0 14px', flexDirection: 'row', alignItems: 'center', gap: 14 }}&gt;&#10;    &lt;Text style={{ fontSize: 15, fontWeight: 'bold', color: it.c, width: 44 }}&gt;{it.b}&lt;/Text&gt;&#10;     &lt;Text style={{ fontSize: 16, fontWeight: 'bold', color: '#FFFFFF', width: 350 }}&gt;{it.t}&lt;/Text&gt;&#10;     &lt;Text style={{ fontSize: 13, color: 'rgba(255,255,255,0.55)' }}&gt;{it.s}&lt;/Text&gt;&#10;   &lt;/Box&gt;&#10;      ))}&#10;    &lt;/Box&gt;&#10;&#10;    {/* 三个收束句 */}&#10;    &lt;Box style={{ position: 'absolute', left: 88, bottom: 92, width: 1104, flexDirection: 'row', gap: 10 }}&gt;&#10;      {[&#10;        { t: 'Agent 改变的不是能力，是职权', d: '过去架构只管系统能做什么，现在还要管它被允许做什么。' },&#10;     { t: 'Ontology 决定 Agent 能知道多少', d: '没有本体，Agent 的一切认知都变成不可审计的推测。' },&#10;        { t: '方法论的价值是划出红线', d: '说清谁来判断、权限多大、什么情况必须停手。' },&#10;    ].map((it, i) =&gt; (&#10;  &lt;Box key={it.t} style={{ flex: 1, background: 'rgba(255,255,255,0.07)', borderRadius: 3, borderTop: '3px solid #FA4F24', padding: '10px 14px' }}&gt;&#10;      &lt;Text style={{ fontSize: 15, fontWeight: 'bold', color: '#FFFFFF' }}&gt;{it.t}&lt;/Text&gt;&#10;      &lt;Text style={{ fontSize: 12, color: 'rgba(255,255,255,0.62)', marginTop: 5, lineHeight: 1.45 }}&gt;{it.d}&lt;/Text&gt;&#10;      &lt;/Box&gt;&#10;      ))}&#10;    &lt;/Box&gt;&#10;&#10;  &lt;Box style={{ position: 'absolute', right: 88, bottom: 40, flexDirection: 'row', alignItems: 'center', gap: 12 }}&gt;&#10;        &lt;Box style={{ width: 14, height: 14, background: '#FA4F24' }} /&gt;&#10;   &lt;Text style={{ fontSize: 14, color: 'rgba(255,255,255,0.5)' }}&gt;硕磐机密 · Agent智能体咨询方法论&lt;/Text&gt;&#10;    &lt;Text style={{ fontSize: 14, color: 'rgba(255,255,255,0.5)', marginLeft: 12 }}&gt;30 / 30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1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49" name=""/>
          <p:cNvSpPr/>
          <p:nvPr/>
        </p:nvSpPr>
        <p:spPr>
          <a:xfrm rot="0" flipH="0" flipV="0">
            <a:off x="6286500" y="0"/>
            <a:ext cx="5905500" cy="6858000"/>
          </a:xfrm>
          <a:prstGeom prst="rect">
            <a:avLst/>
          </a:prstGeom>
          <a:gradFill>
            <a:gsLst>
              <a:gs pos="0">
                <a:srgbClr val="FA4F24">
                  <a:alpha val="26000"/>
                </a:srgbClr>
              </a:gs>
              <a:gs pos="70000">
                <a:srgbClr val="FA4F24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838200" y="5334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838200" y="838200"/>
            <a:ext cx="105156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架构的终点，不是把系统建完，而是</a:t>
            </a:r>
            <a:r>
              <a:rPr lang="zh-CN" sz="3300" b="1">
                <a:solidFill>
                  <a:srgbClr val="FA4F24"/>
                </a:solidFill>
                <a:latin typeface="Microsoft YaHei"/>
                <a:ea typeface="Microsoft YaHei"/>
              </a:rPr>
              <a:t>把权责划清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838200" y="1676400"/>
            <a:ext cx="6858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838200" y="2247900"/>
            <a:ext cx="10515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</a:rPr>
              <a:t>六册主线：一条完整的链路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866775" y="24955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55" name=""/>
          <p:cNvSpPr/>
          <p:nvPr/>
        </p:nvSpPr>
        <p:spPr>
          <a:xfrm rot="0" flipH="0" flipV="0">
            <a:off x="866775" y="24955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1000125" y="26193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F99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1552575" y="26098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先有治，才有存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5019675" y="26289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数据架构是枢纽</a:t>
            </a:r>
            <a:endParaRPr/>
          </a:p>
        </p:txBody>
      </p:sp>
      <p:sp>
        <p:nvSpPr>
          <p:cNvPr id="1359" name=""/>
          <p:cNvSpPr/>
          <p:nvPr/>
        </p:nvSpPr>
        <p:spPr>
          <a:xfrm rot="0" flipH="0" flipV="0">
            <a:off x="866775" y="29908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60" name=""/>
          <p:cNvSpPr/>
          <p:nvPr/>
        </p:nvSpPr>
        <p:spPr>
          <a:xfrm rot="0" flipH="0" flipV="0">
            <a:off x="866775" y="29908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1000125" y="3114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F99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1552575" y="31051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能力与组织解耦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5019675" y="31242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业务架构是基础</a:t>
            </a:r>
            <a:endParaRPr/>
          </a:p>
        </p:txBody>
      </p:sp>
      <p:sp>
        <p:nvSpPr>
          <p:cNvPr id="1364" name=""/>
          <p:cNvSpPr/>
          <p:nvPr/>
        </p:nvSpPr>
        <p:spPr>
          <a:xfrm rot="0" flipH="0" flipV="0">
            <a:off x="866775" y="34861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65" name=""/>
          <p:cNvSpPr/>
          <p:nvPr/>
        </p:nvSpPr>
        <p:spPr>
          <a:xfrm rot="0" flipH="0" flipV="0">
            <a:off x="866775" y="34861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000125" y="3609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F99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1552575" y="36004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数量增长带来技术债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5019675" y="36195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应用架构是载体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866775" y="39814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70" name=""/>
          <p:cNvSpPr/>
          <p:nvPr/>
        </p:nvSpPr>
        <p:spPr>
          <a:xfrm rot="0" flipH="0" flipV="0">
            <a:off x="866775" y="39814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8A8F99"/>
          </a:solidFill>
          <a:ln/>
        </p:spPr>
        <p:txBody>
          <a:bodyPr/>
          <a:p/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1000125" y="41052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8A8F99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1552575" y="40957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不押注单点技术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5019675" y="41148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技术架构是底座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866775" y="44767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75" name=""/>
          <p:cNvSpPr/>
          <p:nvPr/>
        </p:nvSpPr>
        <p:spPr>
          <a:xfrm rot="0" flipH="0" flipV="0">
            <a:off x="866775" y="44767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1000125" y="46005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87D2F"/>
                </a:solidFill>
                <a:latin typeface="Microsoft YaHei"/>
                <a:ea typeface="Microsoft YaHei"/>
              </a:rPr>
              <a:t>ONT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1552575" y="45910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语义与动力学合一</a:t>
            </a:r>
            <a:endParaRPr/>
          </a:p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5019675" y="4610100"/>
            <a:ext cx="1104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本体是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的汇流点</a:t>
            </a:r>
            <a:endParaRPr/>
          </a:p>
        </p:txBody>
      </p:sp>
      <p:sp>
        <p:nvSpPr>
          <p:cNvPr id="1379" name=""/>
          <p:cNvSpPr/>
          <p:nvPr/>
        </p:nvSpPr>
        <p:spPr>
          <a:xfrm rot="0" flipH="0" flipV="0">
            <a:off x="866775" y="4972050"/>
            <a:ext cx="10515600" cy="419100"/>
          </a:xfrm>
          <a:prstGeom prst="roundRect">
            <a:avLst>
              <a:gd name="adj" fmla="val 6818"/>
            </a:avLst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380" name=""/>
          <p:cNvSpPr/>
          <p:nvPr/>
        </p:nvSpPr>
        <p:spPr>
          <a:xfrm rot="0" flipH="0" flipV="0">
            <a:off x="866775" y="4972050"/>
            <a:ext cx="10515600" cy="419100"/>
          </a:xfrm>
          <a:custGeom>
            <a:pathLst>
              <a:path w="1104" h="44">
                <a:moveTo>
                  <a:pt x="3" y="44"/>
                </a:moveTo>
                <a:cubicBezTo>
                  <a:pt x="1" y="44"/>
                  <a:pt x="0" y="43"/>
                  <a:pt x="0" y="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44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1000125" y="50958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A4F24"/>
                </a:solidFill>
                <a:latin typeface="Microsoft YaHei"/>
                <a:ea typeface="Microsoft YaHei"/>
              </a:rPr>
              <a:t>AGT</a:t>
            </a:r>
            <a:endParaRPr/>
          </a:p>
        </p:txBody>
      </p:sp>
      <p:sp>
        <p:nvSpPr>
          <p:cNvPr id="1382" name="" descr="{&quot;isTemplate&quot;:true,&quot;type&quot;:&quot;text&quot;}"/>
          <p:cNvSpPr txBox="1"/>
          <p:nvPr/>
        </p:nvSpPr>
        <p:spPr>
          <a:xfrm rot="0" flipH="0" flipV="0">
            <a:off x="1552575" y="5086350"/>
            <a:ext cx="3333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明确谁来判断、权限多大、何时停手</a:t>
            </a:r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5019675" y="5105400"/>
            <a:ext cx="1381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是</a:t>
            </a:r>
            <a:r>
              <a:rPr lang="en-US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4A </a:t>
            </a:r>
            <a:r>
              <a:rPr lang="zh-CN" sz="975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的新实践点</a:t>
            </a:r>
            <a:endParaRPr/>
          </a:p>
        </p:txBody>
      </p:sp>
      <p:sp>
        <p:nvSpPr>
          <p:cNvPr id="1384" name=""/>
          <p:cNvSpPr/>
          <p:nvPr/>
        </p:nvSpPr>
        <p:spPr>
          <a:xfrm rot="0" flipH="0" flipV="0">
            <a:off x="838200" y="5372100"/>
            <a:ext cx="3438525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85" name=""/>
          <p:cNvSpPr/>
          <p:nvPr/>
        </p:nvSpPr>
        <p:spPr>
          <a:xfrm rot="0" flipH="0" flipV="0">
            <a:off x="838200" y="5372100"/>
            <a:ext cx="3438525" cy="638175"/>
          </a:xfrm>
          <a:custGeom>
            <a:pathLst>
              <a:path w="361" h="67">
                <a:moveTo>
                  <a:pt x="358" y="0"/>
                </a:moveTo>
                <a:cubicBezTo>
                  <a:pt x="360" y="0"/>
                  <a:pt x="361" y="1"/>
                  <a:pt x="36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971550" y="5467350"/>
            <a:ext cx="3171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改变的不是能力，是职权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971550" y="5686425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过去架构只管系统能做什么，现在还要管它被允许做什么。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4371975" y="5372100"/>
            <a:ext cx="3448050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89" name=""/>
          <p:cNvSpPr/>
          <p:nvPr/>
        </p:nvSpPr>
        <p:spPr>
          <a:xfrm rot="0" flipH="0" flipV="0">
            <a:off x="4371975" y="5372100"/>
            <a:ext cx="3448050" cy="638175"/>
          </a:xfrm>
          <a:custGeom>
            <a:pathLst>
              <a:path w="362" h="67">
                <a:moveTo>
                  <a:pt x="359" y="0"/>
                </a:moveTo>
                <a:cubicBezTo>
                  <a:pt x="361" y="0"/>
                  <a:pt x="362" y="1"/>
                  <a:pt x="362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4505325" y="5467350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Ontology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决定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能知道多少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4505325" y="5686425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没有本体，</a:t>
            </a:r>
            <a:r>
              <a:rPr lang="en-US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的一切认知都变成不可审计的推测。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7915275" y="5372100"/>
            <a:ext cx="3438525" cy="638175"/>
          </a:xfrm>
          <a:prstGeom prst="roundRect">
            <a:avLst>
              <a:gd name="adj" fmla="val 4478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1393" name=""/>
          <p:cNvSpPr/>
          <p:nvPr/>
        </p:nvSpPr>
        <p:spPr>
          <a:xfrm rot="0" flipH="0" flipV="0">
            <a:off x="7915275" y="5372100"/>
            <a:ext cx="3438525" cy="638175"/>
          </a:xfrm>
          <a:custGeom>
            <a:pathLst>
              <a:path w="361" h="67">
                <a:moveTo>
                  <a:pt x="358" y="0"/>
                </a:moveTo>
                <a:cubicBezTo>
                  <a:pt x="360" y="0"/>
                  <a:pt x="361" y="1"/>
                  <a:pt x="361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8048625" y="5467350"/>
            <a:ext cx="3171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方法论的价值是划出红线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8048625" y="5686425"/>
            <a:ext cx="3171825" cy="200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0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说清谁来判断、权限多大、什么情况必须停手。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8315325" y="633412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8562975" y="6315075"/>
            <a:ext cx="2105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Agent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智能体咨询方法论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108966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30 / 30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2026-10-12T06:30:27Z</dcterms:created>
  <dcterms:modified xsi:type="dcterms:W3CDTF">2026-10-12T06:30:27Z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{"AIGC":{"Label":"1","ContentProducer":"00119111010856365494821B355","ProduceID":"01a12d019bb17a31a2709fa77ce74ce5","ReservedCode1":"","ContentPropagator":"00119111010856365494821B355","PropagateID":"01a12d019bb17a31a2709fa77ce74ce5","ReservedCode2":""}}</vt:lpwstr>
  </property>
</Properties>
</file>