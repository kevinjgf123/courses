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3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tableStyles" Target="tableStyles.xml"/><Relationship Id="rId34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这是系列里的第十一册。前十册我们把 4A 的骨架搭起来了，也补了本体、Agent、知识库、管道、数据治理、主数据六个新的实践点。这一册要补的是第七个：指标体系。为什么现在要做这件事？因为指标是企业里最普及的资产，所有人都看得懂、用得多，但恰恰因为太普及了，长期没人从架构角度认真对待它。这一册会讲三件事：指标在本体里的正式身份是什么，口径怎么被治理，以及指标和前面六个实践点分别是什么关系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册分四部分。第一部分讲指标本体论，也就是指标到底是什么——这部分结论有点反直觉，我会用一整页来说明为什么官方文档里找不到指标模块。第二部分讲口径治理机制，包括三层分解、字典结构、五类常见失效和唯一性裁定。第三部分讲指标和主数据、数据治理、管道处理、知识库、Agent、本体这六方的关系。第四部分回到 4A，看指标作为一个业务应用在四个层面上的样子。最后是成熟度五级和十二项评审，可以直接拿去做现状打分。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先说为什么指标在这个时点变得特别重要。一共有三层变化。第一层是消费者变了，指标的第一消费者正在从人变成 Agent。人看到一个荒谬的数字会停下来怀疑，但 Agent 不会，它会把它当成既定事实直接写进报告。第二层是容错变了。过去口径错了，代价是报表不可信，最多没人看；现在口径错了，Agent 会按错的口径去调资源、排产、催款，指标错误第一次获得了行动能力。第三层是生命周期变了，传统 BI 指标上线就固化，靠人维护文档；AI 时代指标要被机器发现、解析、组合、调用，所以口径必须结构化到能被程序读懂，而不是躺在 Wiki 里。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是推进图。三个阶段横向推进，每个方框下面写的是它必须交出来的东西。第一阶段是现状盘点与诊断：项目准备产出治理章程和范围清单，业务战略解读产出战略到指标的意图映射，指标资产盘点产出清单和分布热力图，口径冲突扫描产出冲突台账，可信度诊断产出分级结论。第二阶段是设计与治理：指标字典与五元组规范、三层分解和依赖关系图、唯一口径裁定表、权限与版本设计。第三阶段是场景化落地：问数场景清单、每个场景的最小可用指标集、静默失效检出规则、指标健康看板、演进路线图。下面两条贯穿条很关键：口径治理贯穿三阶段，变更管理也贯穿三阶段。没有这两条，前面的方框做完了也会各自漂移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第一部分讲指标本体论。这一部分要回答四个问题：为什么官方文档里找不到指标模块；派生属性有哪三种算法、两种定义位置；十个聚合类型各自的能力边界在哪里；以及一个指标的最小单位到底是什么。我先说结论：指标不是一个模块，是一种建模方式。这句话如果你在客户面前只讲一句，就讲这一句。它和第十册主数据那册的结论是同一个——两者都不是新建一个模块，而是在对象模型里把它变成本来就该在那儿的东西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我把 Palantir 的文档翻了一遍，没有任何一个地方叫指标或者 KPI。它的正式身份是派生属性，也就是 Derived Property。定义是这样的：值在查询时从其他属性或链接对象算出来，而不是存下来。它描述的是怎么算，不是是多少。正因为不存储，底层数据一变它自动就对了，不需要重跑管道，也不需要维护任何更新逻辑。它只有三种算法，全都来自沿链接类型走过去：跨链接对象聚合、从单个链接对象取值、算术表达式运算。这里有两条硬规则：主键属性不能是派生属性；派生属性是只读的，不能被动作或函数编辑。所以如果指标是报表里的一列，口径写在 SQL 里、值在报表里，两样东西各自漂移；做成对象上的属性之后，口径和值在同一个模型里，口径改动的影响面靠链接关系就能推出来。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同一个指标有两个定义位置，这个选择经常被做错。第一个是本体定义，在 Ontology Manager 里配，存在本体里，这个对象类型的每一个消费者都能看到，最多支持三跳链接遍历，但不支持表达式，目前是 Beta。第二个是运行时定义，在 Workshop 模块、Insight 工作簿或者 SDK 请求里配，存在对象集里不进本体，只有声明它的那个请求或模块能看到，Workshop 和 Insight 只支持一跳，但支持表达式，已经是 GA。官方的选用规则很清楚：计算属于组织对这个对象类型的建模方式、每个消费者都应该看到同一个值，就用本体定义；计算只属于某一个应用或某一次分析，或者你确实需要算术和日期表达式，就用运行时定义。下面这六条硬限制也很要紧，其中最容易踩的是：一个计算属性不能引用同一次操作里声明的另一个计算属性，必须拆到后续操作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这一页是十个聚合类型的全表，以及一个容易漏掉的细节。十个类型分别是 Count、Average、Sum、Minimum、Maximum、近似去重计数、精确去重计数、Collect list、Collect set，还有 approximatePercentile 但官方标注为不可用。真正要注意的是 Sum 的类型加宽规则：short 和 integer 会变成 long，float 会变成 double，decimal 会变成精度提高、标度降低。加宽本身是为了避免溢出，但它会推翻你精度够了的假设。同一个指标，源系统用浮点、管道用十进制、报表用双精度，三处对不上，根因就在这一行。下面这四个 Collect 家族的陷阱更实战：无值的对象被跳过意味着结果数组永远不含 null，所以列表里有五条不等于五条都有值；收集值默认无序；limit 默认十最大一百；而且 limit 只决定返回给你多少值，不决定平台算了多少值。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什么时候可以直接取属性，什么时候必须聚合，官方给了四条链路规则，判定很清楚：只有每次遍历最多到一个对象的时候可以直接取；只要任一次遍历可能到多个对象，就必须聚合；链里有多对多链接，必须聚合，绝不允许直接取；一对多链接而且外键是数组，也必须聚合。判错的后果不是报错，是给你一个错数。右下角这件事我要特别提醒：聚合接口有个 maxGroupCount 参数，超出的分组不报错，而是被计数进 excludedItems 然后悄悄丢掉。接口成功返回、图表照常画，只是少了一批。分母少一截，环比同比占比全失真，而看板一片正常。对策是把 accuracy 显式设成 REQUIRE_ACCURATE，让它宁可失败；同时把 excludedItems 做成告警项，而不是日志里的一行。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是这一册最实用的一张表。指标的最小单位不是指标名，是五元组：指标名、粒度、时间口径、聚合方式、过滤条件。右边这一列是例。举个真实场景：同一个词销售额，订单口径自然月求和含取消是一千二百四十万，到账口径自然月求和含取消是一千一百八十六万，签约口径财年首季求和是一千三百零二万，订单口径滚动三十天去重客户数是八百九十四家。四行都叫销售额，争议不发生在数据层，发生在会议室，而根因在第一层就没写清。所以五元组是指标进入字典的准入门槛，缺项不予登记。其中第三项必须写明时区和截止时点，这是跨系统对不上最常见的隐藏差异；第五项要写明排除清单，并说明每条排除的理由和批准人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第二部分讲口径治理机制。前面讲的是原理，讲清楚为什么这么设计；这一部分讲怎么实现，一共七页。三层分解解决的是变更影响可控的问题；指标字典的十二项解决的是登记规范问题；五类失效说的是别人已经踩过的坑；唯一性裁定讲的是组织机制；权限那页讲的是指标特有的一个东西——同一个指标两个用户看到两个值，而且都对；版本与回滚讲的是口径变更怎么不污染历史。这七页都能直接对应到工程实现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是三层分解。原子指标是最小不可再分的业务度量，比如订单金额、商品数量，它必须直接挂在对象类型的一个属性上，粒度唯一。派生指标由原子按运算规则组合，比如客单价等于订单金额除以订单数，毛利率等于收入减成本除以收入，每个派生指标只能由原子和更低层派生组成。复合指标是最容易失控的一层，比如达成率、同比环比、加权综合评分，它把多个口径串在一起，一处错全链路错，而且往往找不到单一责任人。分解之后得到三个确定收益：避免重复计算、变更影响可控、查询性能可优化。最后那句最关键——改动原子指标的定义，所有派生自动跟随，影响面能从依赖关系直接读出来。不分解就登记，改一个原子指标要找三十张报表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指标字典要写清十二项。前五项就是刚才说的五元组——指标名与唯一标识、业务定义一句话、计算口径与公式、粒度、时间口径。中间四项是来源与依赖：数据来源与对象类型、过滤排除清单、上游依赖、刷新方式与时效。最后三项是治理属性：业务定义责任人、数据 steward、版本号与变更历史。这里强调一点，第八项上游依赖是变更影响面分析的唯一数据来源，没有它，改一个原子指标就只能靠人回忆影响范围。下面这个三档治理等级很重要，不分档会走向两个极端，要么全部指标都当成核心，治理投入被稀释，要么都不当核心，最后 A 级指标没人负责。我的建议是先把 A 级决策指标，通常三到八十个，统到底。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是五类最常见的口径失效，我按发生频率排的。第一类同名不同义：三个部门都叫销售额，销售部按订单成交额，财务部按到账金额，商务部按签约金额。第二类同义不同名：营收、收入、销售额三个名字一个口径。第三类粒度错配：把日粒度的订单行直接加总当月度量，把订单粒度的均价按数量加权。第四类时间口径错配：自然月、财年、滚动三十天，再加上时区和是否含当日未结算的差异。第五类聚合方式错配：去重计数当普通计数用，用平均值算总额，null 被忽略和被当零处理算出来的分母不一样。底下那句话是这一页的重点——数据错误会报错，口径错误不会，系统认为它算对了，因为它确实按你写的算了。人遇到荒谬数字会怀疑，Agent 不会，所以检出手段必须靠规则，不能靠大家觉得这个数怪。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统一口径不是靠发一份规范文档，是靠三张能维护的表加一个固定的决策场合。第一张口径注册表，全公司指标的唯一权威入口，唯一标识一经发布不可变，名字可以改标识不能改，没有注册的指标不得进驾驶舱和 Agent 工具集。第二张同义与映射表，一个正式名对应多个别名，废止指标保留映射不物理删除。第三张口径变更日志，每次变更登记谁提的、依据什么规则、影响哪些下游、什么时候生效、能否回滚，和第九册的动作日志是同一套机制。右边这三个原则是落地要点：先统一再统一范围，允许别名但禁止多口径并存，口径变更默认向后兼容。最后一句我想强调：表的效力来自有固定的决策场合，不来自表本身，没有裁定会这三张表就退化成三张 Excel。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这一页是指标特有的、其他实践点都没有的问题：同一个指标，两个用户看到两个值，而且这都不是 bug，是设计。官方三条安全规则：派生属性从计算中用到的每一个对象继承安全性，不只是继承起点那一个；访问检查在每个对象上执行，包括多跳遍历里的中间对象；收集成列表或集合时，每个值保留它自己的安全标记。中间这个场景很典型：华东区平均订单额，销售总监能看到全部客户和订单，算出来一万二千四；区域运营看不到涉密客户及其订单，算出来九千八百五。涉密订单是被整条剔除，不是当零，是不存在。两个人问的是同一个指标同一个口径，答案不同，而且都对。所以横向对比必须先对齐权限，对外汇报必须注明权限基线。最下面是我认为最危险的一种分叉：口径写在文档里，值从本体里算，两者各自独立演进。对应第九册那句话——策略必须是数据，不是配置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口径变更是一次高风险动作，不是数据修改。左边五种变更类型的处置方式不一样：口径扩展兼容发布就行；口径收紧会让历史值变，必须双版本并行；口径重构视为新指标，旧指标废止并留映射；数据源切换影响面最大，要全量回归比对；指标废止保留标识和映射，禁止物理删除。中间这五项是变更提案必须附的：谁提的依据什么业务理由、新旧口径逐条差异、影响面清单、双版本比对的样本区间和结论、回滚预案。下面三条是不能破的规则：历史不重算，每个期间用当时生效的口径算；版本可对照，能同时看到两个版本的结果差异；切换可回退，切换是一道开关而不是重跑，分钟级能退。最后这四类检出规则是应对静默失效的，缺一不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第三部分讲指标和六个方向的关系。这里我要先说一句：六个方向不是六套工程，而是同一份口径的六种落法。所以推进顺序永远是先把那一份定义立住，再谈六个方向的落地。这一部分六页，分别是指标乘主数据、乘数据治理、乘管道处理、乘知识库和 Agent、乘本体，最后一页收口成四条硬边界。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指标和主数据的关系，最实的一条是维度要挂规范 ID，不挂自由文本。右上角这个例子：ERP 客户主数据里叫杭州华信科技 Holdings 有限公司，CRM 里叫华信科技，还有一张历史订单里叫杭州华信科技有限公司。三个名字三个客户，指标没错数据没错，维度碎了，所以客户维度的占比永远算不准。和第十册对接的四条规则是：维度挂规范主键名称只是展示属性；维度成员以主数据对象集为准；主数据合并要能触发指标重算，靠的是主数据血缘；外部系统来的自由文本先过实体解析再进指标。指标要用主数据的三个能力，不是当维表用：黄金记录取当前可信值、解析元数据让指标异常能一路回溯到源头单据、实体到下钻映射让异常值能反查到具体实体及其明细单据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指标和数据治理的关系，核心判断是口径是策略不是配置。因为能改一个指标的定义，就等于改了整个公司对这件事的认知，它的风险等级和改数据完全不是一回事。对应第九册治理对象从数据扩展到动作，指标口径变更也从配置修改升级成受管动作。三个具体要求：变更走提案流程，影响面清单是必要附件，禁止脚本直连改口径定义；指标继承标记与密级，分母来自哪批对象就受那批对象的安全标记管辖，跨密级聚合必须取严；用途受限，同一个口径，董事会汇报和对外披露可以取不同的值，两个值都有据可依。左下角这个细节要说清楚：跨密级聚合时涉密订单是整条剔除不是当零，这会同时改变分子和分母，所以指标口径卡必须加一项权限基线，写明这个数是在哪一档权限下算出来的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指标和管道处理的关系，核心是预计算还是运行时算。左边运行时派生属性的好处很实在：不存储不索引，底层数据一变指标自动就对了，不用维护更新逻辑，口径改了立刻生效全局一致，平台还能把过滤下推到对象索引。代价是按派生值过滤或排序通常要为剩余候选对象逐个算出该值。右边预计算的优点是延迟稳定，适合高频超大结果集的固定口径，还能用于时间序列对比，因为口径变了历史值仍在。代价是改了要重跑、必须处理双版本并存，还多了一份可能与本体不一致的副本。中间这三个数字是官方给的硬规模：Workshop 里用派生属性排序，对象集上限两百行；函数列支持端用户排序到一万行；本体定义最多三跳链接，Workshop 和 Insight 的运行时定义只有一跳。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指标和知识库、Agent 的关系，可以合并讲，因为它们是同一个问题的两面：口径要能被检索到，也要能被机器读懂。左边知识库这边，每条口径切片要带上指标标识、五元组、治理等级、权限基线和版本号，切片密级随指标值继承同一套标记，检索层按权限过滤后再排序。另外废止指标的口径卡片要保留并标注废止，否则 Agent 会去用旧口径。右边 Agent 这边，Agent 调的是按口径取数的接口，不是去表里查的接口；返回值必须连同口径标识、版本、权限基线一起返回，不只是数字；记忆里要存口径不要存某个时点的数值，存数值必然过期。下面这张对照表说明 Text-to-SQL 和本体路线的分岔就在指标这一层，而三行右边共同的前提都是同一个：口径已经作为对象属性被建模过了。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指标和本体的关系，结论是指标是本体的原生组成，不是外挂报表。理由是左边这五条：指标的值就是链接关系上的聚合结果，本体本来就有链接；指标的维度就是对象类型与链接类型；指标的权限就是对象的权限；指标的口径就是派生属性的定义。所以指标平台相对本体做的事只有一件，把口径从文档搬进模型。右边这四步是建模的标准动作：定对象类型与粒度，定链接路径，定聚合类型，定定义位置。最后那张对照表我想留一下：主数据和指标这两个问题，答案完全一样——都不是模块或报表，都是建模方式，落地第一问都是先问这个数长在哪个对象上，答不出来就别建模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收口。上面六个方块是六种落法，一套口径分别在六个方向的落法。底下四条是硬边界，违反任何一条指标体系就开始退化。一，口径唯一，同一个词只能有一个解释，允许有别名不允许有两个口径，破这条后面三条都守不住。二，口径可执行而不只是可读，必须是能被引擎执行的结构化定义，写在文档里的口径早晚和算出来的那套分叉。三，口径与值同源同权，必须在同一个模型里并继承同一套权限基线，两处维护就意味着两套真相。四，口径变更按动作管，要提案、要影响面、要双版本比对、要能回滚，改配置不算改口径。最下面那句话是这一部分的核心：推进顺序永远是先把那一份定义立住，再谈六个方向的落地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第四部分回到 4A。前面三部分讲的是指标自己的机制，这一部分把指标放回企业架构的坐标系，看它作为一个业务应用在四个层面上的样子。我要提前说一句可能让人意外的话：指标体系不是一个纯技术对象，它的第一性问题在业务架构层，不在技术架构层。口径是什么、谁说了算、跟哪个决策挂钩，这些都不是技术能决定的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这一页是 4A 映射总览。业务架构解决谁裁定口径，数据架构解决口径怎么被建模，应用架构解决口径怎么被消费，技术架构解决口径怎么被算出来。底下这四个特有之处，是这一册和前面几册最不一样的地方：别的 4A 管功能，指标管的是怎么理解。口径即产品，指标体系的产出物是唯一解释，不是一个功能；失败是静默的，数字照常出来只是和昨天说的不是一回事；权限即口径的一部分，不同权限下的两个值都是对的，必须都写明；AI 让错误获得行动力，口径错的代价从不可信变成了做错事。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上面这一行是业务架构和数据架构。业务架构这边四条：口径定义责任人是业务不是 IT，财务口径由财务裁定；指标必须挂到战略意图上，写清支撑哪个决策、谁看、多久看一次，挂不上的降级；裁定会固定节奏与议程，只议四类；跨部门冲突要有终裁机制，否则口径永远统一不了。数据架构这边四条：十二项元数据必须落库不能只在文档；三层分解与依赖关系要显式存；派生属性定义要与对象模型同源；预计算结果必须挂口径版本。下面这十四项是 DA 侧必建的指标元数据，我特别标出第十四项——权限基线与用途集合，这是其他各册都没有的，它让同一个指标在不同场景下可以有多个有据可依的取值。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上面是应用架构和技术架构。应用架构有三档消费形态，从推荐的起点开始排：场景化指标集，一个问数场景配一组最小可用指标，口径从注册表取，不允许现场写公式；管理驾驶舱，面向固定决策视图，每个卡片标注口径版本与权限基线；问数和 ChatBI，自然语言入口，但必须走按口径取数的接口。推进顺序建议是先做场景化指标集，因为它验证的是口径能不能被消费方正确取用，这件事验证不过，做驾驶舱也没有意义。技术架构三要求：可解释，每个返回值能展开成计算链路；可回放，给定版本能重放历史结果，验证昨天和今天为什么不一样；可回滚，版本切换是开关不依赖重跑。右下角这个附加要求别漏，excludedItems 和近似标志必须落库。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这一页是综合收口，可以直接拿去给客户做现状定位。上面五级成熟度：无序，每个报表自己写公式；登记，有字典但只在文档里；可查，口径进模型、值由派生属性算，这是 L3 的关键门槛；受管，变更有版本可回滚、权限基线写明；自愈，静默失效自动检出并告警。中间五类失效，出现哪一类就往回退一级，其中第五条 Agent 读的是过期口径，是现在最常见的一类。最后十二项评审清单，每项只能答是或否，答不出即不合格。建议不要一次评完所有指标，选 A 级决策指标先评，评出来的结果才有推动力。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最后把十一册串一下。四个架构是骨架，本体、Agent、知识库、管道处理、数据治理、主数据、指标体系是六个新的实践点。看完你会发现这六个做的是同一件事：把原本靠人记住的东西，变成模型里可查询、可继承、可审计、可退回的东西。实体、语义、知识、链路、动作、口径，凡是过去大家都知道但没人说得清的东西，这一轮都要变成可执行的定义。所以第一件事永远是同一句：先定义，再建模，最后才谈智能。指标体系这一册讲到这儿，如果你只带走一句话，就带走这句——先把那一份口径立住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1280, height: 720, background: '#0F1423' }}&gt;&#10;  &lt;Box style={{ position: 'absolute', left: 0, top: 0, width: 1280, height: 720, background: 'linear-gradient(135deg, #0F1423 0%, #2A1810 100%)' }} /&gt;&#10;  &lt;Box style={{ position: 'absolute', right: 0, top: 0, width: 620, height: 720, background: 'linear-gradient(200deg, rgba(250,79,36,0.26) 0%, rgba(250,79,36,0) 70%)' }} /&gt;&#10;&#10;  &lt;Box style={{ position: 'absolute', left: 88, top: 92, width: 1104 }}&gt;&#10;    &lt;Box style={{ flexDirection: 'row', alignItems: 'center', gap: 14 }}&gt;&#10;      &lt;Box style={{ width: 14, height: 14, background: '#FA4F24' }} /&gt;&#10;      &lt;Text style={{ fontSize: 15, color: 'rgba(255,255,255,0.5)', letterSpacing: 3 }}&gt;EA 企业架构咨询方法论 · 第十一册&lt;/Text&gt;&#10;    &lt;/Box&gt;&#10;    &lt;Text style={{ fontSize: 58, fontWeight: 'bold', color: '#FFFFFF', marginTop: 26, lineHeight: 1.15 }}&gt;&#10;      指标体系&lt;span style={{ color: '#FA4F24' }}&gt;咨询方法论&lt;/span&gt;&#10;    &lt;/Text&gt;&#10;    &lt;Text style={{ fontSize: 19, color: 'rgba(255,255,255,0.72)', marginTop: 22, lineHeight: 1.6, width: 860 }}&gt;&#10;      指标不是一个报表，是一组带口径、可继承、可推理的对象属性——口径错了，AI 只是把错误算得更快&#10;    &lt;/Text&gt;&#10;    &lt;Box style={{ width: 72, height: 5, background: '#FA4F24', marginTop: 30 }} /&gt;&#10;&#10;    &lt;Box style={{ flexDirection: 'row', gap: 10, marginTop: 34 }}&gt;&#10;      {['30 页', '四个部分', '含 Approach 三阶段推进图', '含指标 × 治理 × 管道 × 知识库 × Agent × Ontology × 主数据'].map((t, i) =&gt; (&#10;        &lt;Box key={t} style={{ height: 32, borderRadius: 16, border: '1px solid rgba(255,255,255,0.22)', padding: '0 15px', flexDirection: 'row', alignItems: 'center' }}&gt;&#10;          &lt;Text style={{ fontSize: 13, color: 'rgba(255,255,255,0.78)' }}&gt;{t}&lt;/Text&gt;&#10;        &lt;/Box&gt;&#10;      ))}&#10;    &lt;/Box&gt;&#10;  &lt;/Box&gt;&#10;&#10;  &lt;Box style={{ position: 'absolute', left: 88, top: 566, flexDirection: 'row', gap: 26 }}&gt;&#10;    {[&#10;      { b: 'DA', t: '数据架构' },&#10;      { b: 'BA', t: '业务架构' },&#10;      { b: 'AA', t: '应用架构' },&#10;      { b: 'TA', t: '技术架构' },&#10;      { b: 'ONT', t: 'Ontology' },&#10;      { b: 'AGT', t: 'Agent' },&#10;      { b: 'KB', t: '知识库' },&#10;      { b: 'PIPE', t: '管道处理' },&#10;      { b: 'GOV', t: '数据治理' },&#10;      { b: 'MDM', t: '主数据' },&#10;      { b: 'KPI', t: '指标体系', c: '#FA4F24' },&#10;    ].map((x, i) =&gt; (&#10;      &lt;Box key={x.b} style={{ opacity: i === 10 ? 1 : 0.4 }}&gt;&#10;        &lt;Text style={{ fontSize: 15, fontWeight: 'bold', color: x.c || '#FFFFFF' }}&gt;{x.b}&lt;/Text&gt;&#10;        &lt;Text style={{ fontSize: 11.5, color: 'rgba(255,255,255,0.7)', marginTop: 3 }}&gt;{x.t}&lt;/Text&gt;&#10;      &lt;/Box&gt;&#10;    ))}&#10;  &lt;/Box&gt;&#10;&#10;  &lt;Box style={{ position: 'absolute', right: 88, bottom: 46, flexDirection: 'row', alignItems: 'center', gap: 12 }}&gt;&#10;    &lt;Text style={{ fontSize: 14, color: 'rgba(255,255,255,0.5)' }}&gt;硕磐机密 · 指标体系咨询方法论&lt;/Text&gt;&#10;    &lt;Text style={{ fontSize: 14, color: 'rgba(255,255,255,0.5)', marginLeft: 12 }}&gt;01 / 3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6286500" y="0"/>
            <a:ext cx="5905500" cy="6858000"/>
          </a:xfrm>
          <a:prstGeom prst="rect">
            <a:avLst/>
          </a:prstGeom>
          <a:gradFill>
            <a:gsLst>
              <a:gs pos="0">
                <a:srgbClr val="FA4F24">
                  <a:alpha val="26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838200" y="89535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1104900" y="876300"/>
            <a:ext cx="2743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EA </a:t>
            </a:r>
            <a:r>
              <a:rPr lang="zh-CN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企业架构咨询方法论</a:t>
            </a: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第十一册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838200" y="1295400"/>
            <a:ext cx="10515600" cy="7715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350" b="1">
                <a:solidFill>
                  <a:srgbClr val="FFFFFF"/>
                </a:solidFill>
                <a:latin typeface="Microsoft YaHei"/>
                <a:ea typeface="Microsoft YaHei"/>
              </a:rPr>
              <a:t>指标体系</a:t>
            </a:r>
            <a:r>
              <a:rPr lang="zh-CN" sz="4350" b="1">
                <a:solidFill>
                  <a:srgbClr val="FA4F24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838200" y="2276475"/>
            <a:ext cx="81915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指标不是一个报表，是一组带口径、可继承、可推理的对象属性——口径错了，</a:t>
            </a:r>
            <a:r>
              <a:rPr lang="en-US" sz="1425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425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只是把错误算得更快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838200" y="325755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" name=""/>
          <p:cNvSpPr/>
          <p:nvPr/>
        </p:nvSpPr>
        <p:spPr>
          <a:xfrm rot="0" flipH="0" flipV="0">
            <a:off x="838200" y="3629025"/>
            <a:ext cx="600075" cy="304800"/>
          </a:xfrm>
          <a:prstGeom prst="roundRect">
            <a:avLst>
              <a:gd name="adj" fmla="val 50000"/>
            </a:avLst>
          </a:prstGeom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981075" y="3705225"/>
            <a:ext cx="314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 xml:space="preserve">30 </a:t>
            </a:r>
            <a:r>
              <a:rPr lang="zh-CN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页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1533525" y="3629025"/>
            <a:ext cx="781050" cy="304800"/>
          </a:xfrm>
          <a:prstGeom prst="roundRect">
            <a:avLst>
              <a:gd name="adj" fmla="val 50000"/>
            </a:avLst>
          </a:prstGeom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1676400" y="370522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四个部分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2409825" y="3629025"/>
            <a:ext cx="1809750" cy="304800"/>
          </a:xfrm>
          <a:prstGeom prst="roundRect">
            <a:avLst>
              <a:gd name="adj" fmla="val 50000"/>
            </a:avLst>
          </a:prstGeom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2552700" y="3705225"/>
            <a:ext cx="152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含</a:t>
            </a:r>
            <a:r>
              <a:rPr lang="en-US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 xml:space="preserve"> Approach </a:t>
            </a:r>
            <a:r>
              <a:rPr lang="zh-CN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三阶段推进图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4314825" y="3629025"/>
            <a:ext cx="3810000" cy="304800"/>
          </a:xfrm>
          <a:prstGeom prst="roundRect">
            <a:avLst>
              <a:gd name="adj" fmla="val 50000"/>
            </a:avLst>
          </a:prstGeom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4457700" y="3705225"/>
            <a:ext cx="3524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含指标</a:t>
            </a:r>
            <a:r>
              <a:rPr lang="en-US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治理</a:t>
            </a:r>
            <a:r>
              <a:rPr lang="en-US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管道</a:t>
            </a:r>
            <a:r>
              <a:rPr lang="en-US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知识库</a:t>
            </a:r>
            <a:r>
              <a:rPr lang="en-US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 xml:space="preserve"> × Agent × Ontology × </a:t>
            </a:r>
            <a:r>
              <a:rPr lang="zh-CN" sz="975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主数据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7505700" y="5391150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A4F24"/>
                </a:solidFill>
                <a:latin typeface="Microsoft YaHei"/>
                <a:ea typeface="Microsoft YaHei"/>
              </a:rPr>
              <a:t>KPI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7505700" y="5591175"/>
            <a:ext cx="438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指标体系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838200" y="5391150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>
                    <a:alpha val="40000"/>
                  </a:srgbClr>
                </a:solidFill>
                <a:latin typeface="Microsoft YaHei"/>
                <a:ea typeface="Microsoft YaHei"/>
              </a:rPr>
              <a:t>DA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838200" y="5591175"/>
            <a:ext cx="438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28000"/>
                  </a:srgbClr>
                </a:solidFill>
                <a:latin typeface="Microsoft YaHei"/>
                <a:ea typeface="Microsoft YaHei"/>
              </a:rPr>
              <a:t>数据架构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524000" y="5391150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>
                    <a:alpha val="40000"/>
                  </a:srgbClr>
                </a:solidFill>
                <a:latin typeface="Microsoft YaHei"/>
                <a:ea typeface="Microsoft YaHei"/>
              </a:rPr>
              <a:t>BA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524000" y="5591175"/>
            <a:ext cx="438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28000"/>
                  </a:srgbClr>
                </a:solidFill>
                <a:latin typeface="Microsoft YaHei"/>
                <a:ea typeface="Microsoft YaHei"/>
              </a:rPr>
              <a:t>业务架构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2209800" y="5391150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>
                    <a:alpha val="40000"/>
                  </a:srgbClr>
                </a:solidFill>
                <a:latin typeface="Microsoft YaHei"/>
                <a:ea typeface="Microsoft YaHei"/>
              </a:rPr>
              <a:t>AA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2209800" y="5591175"/>
            <a:ext cx="438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28000"/>
                  </a:srgbClr>
                </a:solidFill>
                <a:latin typeface="Microsoft YaHei"/>
                <a:ea typeface="Microsoft YaHei"/>
              </a:rPr>
              <a:t>应用架构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2895600" y="5391150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>
                    <a:alpha val="40000"/>
                  </a:srgbClr>
                </a:solidFill>
                <a:latin typeface="Microsoft YaHei"/>
                <a:ea typeface="Microsoft YaHei"/>
              </a:rPr>
              <a:t>TA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2895600" y="5591175"/>
            <a:ext cx="438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28000"/>
                  </a:srgbClr>
                </a:solidFill>
                <a:latin typeface="Microsoft YaHei"/>
                <a:ea typeface="Microsoft YaHei"/>
              </a:rPr>
              <a:t>技术架构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3581400" y="5391150"/>
            <a:ext cx="495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>
                    <a:alpha val="40000"/>
                  </a:srgbClr>
                </a:solidFill>
                <a:latin typeface="Microsoft YaHei"/>
                <a:ea typeface="Microsoft YaHei"/>
              </a:rPr>
              <a:t>ONT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3581400" y="5591175"/>
            <a:ext cx="495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FFFFFF">
                    <a:alpha val="28000"/>
                  </a:srgbClr>
                </a:solidFill>
                <a:latin typeface="Microsoft YaHei"/>
                <a:ea typeface="Microsoft YaHei"/>
              </a:rPr>
              <a:t>Ontology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4324350" y="5391150"/>
            <a:ext cx="323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>
                    <a:alpha val="40000"/>
                  </a:srgbClr>
                </a:solidFill>
                <a:latin typeface="Microsoft YaHei"/>
                <a:ea typeface="Microsoft YaHei"/>
              </a:rPr>
              <a:t>AGT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4324350" y="5591175"/>
            <a:ext cx="323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FFFFFF">
                    <a:alpha val="28000"/>
                  </a:srgbClr>
                </a:solidFill>
                <a:latin typeface="Microsoft YaHei"/>
                <a:ea typeface="Microsoft YaHei"/>
              </a:rPr>
              <a:t>Agent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4895850" y="5391150"/>
            <a:ext cx="333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>
                    <a:alpha val="40000"/>
                  </a:srgbClr>
                </a:solidFill>
                <a:latin typeface="Microsoft YaHei"/>
                <a:ea typeface="Microsoft YaHei"/>
              </a:rPr>
              <a:t>KB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4895850" y="5591175"/>
            <a:ext cx="333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28000"/>
                  </a:srgbClr>
                </a:solidFill>
                <a:latin typeface="Microsoft YaHei"/>
                <a:ea typeface="Microsoft YaHei"/>
              </a:rPr>
              <a:t>知识库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5476875" y="5391150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>
                    <a:alpha val="40000"/>
                  </a:srgbClr>
                </a:solidFill>
                <a:latin typeface="Microsoft YaHei"/>
                <a:ea typeface="Microsoft YaHei"/>
              </a:rPr>
              <a:t>PIPE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5476875" y="5591175"/>
            <a:ext cx="438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28000"/>
                  </a:srgbClr>
                </a:solidFill>
                <a:latin typeface="Microsoft YaHei"/>
                <a:ea typeface="Microsoft YaHei"/>
              </a:rPr>
              <a:t>管道处理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162675" y="5391150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>
                    <a:alpha val="40000"/>
                  </a:srgbClr>
                </a:solidFill>
                <a:latin typeface="Microsoft YaHei"/>
                <a:ea typeface="Microsoft YaHei"/>
              </a:rPr>
              <a:t>GOV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6162675" y="5591175"/>
            <a:ext cx="438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28000"/>
                  </a:srgbClr>
                </a:solidFill>
                <a:latin typeface="Microsoft YaHei"/>
                <a:ea typeface="Microsoft YaHei"/>
              </a:rPr>
              <a:t>数据治理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6848475" y="5391150"/>
            <a:ext cx="409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>
                    <a:alpha val="40000"/>
                  </a:srgbClr>
                </a:solidFill>
                <a:latin typeface="Microsoft YaHei"/>
                <a:ea typeface="Microsoft YaHei"/>
              </a:rPr>
              <a:t>MDM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6848475" y="5591175"/>
            <a:ext cx="4095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FFFFF">
                    <a:alpha val="28000"/>
                  </a:srgbClr>
                </a:solidFill>
                <a:latin typeface="Microsoft YaHei"/>
                <a:ea typeface="Microsoft YaHei"/>
              </a:rPr>
              <a:t>主数据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8820150" y="625792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指标体系咨询方法论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10896600" y="62579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01 / 30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648" name="" descr="&lt;Slide style={{ width: 1280, height: 720, background: '#FFFFFF', padding: '24px 64px 0' }}&gt;&#10;  &lt;Box style={{ height: 96, flexDirection: 'column', justifyContent: 'flex-start' }}&gt;&#10;    &lt;Text style={{ fontSize: 32, fontWeight: 'bold', color: '#0F1423' }}&gt;目录&lt;/Text&gt;&#10;    &lt;Text style={{ fontSize: 20, color: '#8A8F99', marginTop: 8 }}&gt;四个部分：从指标本体论，到口径治理机制，到六方关系，最后回到 4A&lt;/Text&gt;&#10;  &lt;/Box&gt;&#10;  &lt;Box style={{ height: 1, background: '#E8E8E8' }} /&gt;&#10;&#10;  &lt;Box style={{ paddingTop: 18, paddingBottom: 10, height: 479, flexDirection: 'column', gap: 11 }}&gt;&#10;    {[&#10;      { n: '01', t: '指标本体论', s: '05 – 10', d: '官方没有指标模块。指标是对象类型上的派生属性——三种算法、两种定义位置、十个聚合类型、一张五元组最小单位表。', k: '指标是什么' },&#10;      { n: '02', t: '口径治理机制', s: '11 – 17', d: '原子 / 派生 / 复合三层分解；指标字典十二项；五类典型口径失效；口径唯一性裁定；口径与值继承同一套安全；口径版本与回滚。', k: '口径怎么管' },&#10;      { n: '03', t: '指标 × 六方关系', s: '18 – 24', d: '指标 × 主数据 × 数据治理 × 管道处理 × 知识库 × Agent × Ontology：一条口径在六个方向上各自的落法与四条硬边界。', k: '指标怎么落地' },&#10;      { n: '04', t: '回到 4A', s: '25 – 30', d: '业务架构裁定口径、数据架构建元数据、应用架构做问数与驾驶舱、技术架构做计算与缓存；四个特有之处 + 成熟度五级 + 十二项评审。', k: '指标在哪一层' },&#10;    ].map((x) =&gt; (&#10;      &lt;Box key={x.n} style={{ flex: 1, background: '#F7F7F8', borderRadius: 4, borderLeft: '5px solid #FA4F24', padding: '13px 20px', flexDirection: 'row', alignItems: 'center', gap: 20 }}&gt;&#10;        &lt;Text style={{ fontSize: 34, fontWeight: 'bold', color: '#FA4F24', width: 62 }}&gt;{x.n}&lt;/Text&gt;&#10;        &lt;Box style={{ flex: 1, flexDirection: 'column' }}&gt;&#10;          &lt;Box style={{ flexDirection: 'row', alignItems: 'center', gap: 12 }}&gt;&#10;            &lt;Text style={{ fontSize: 19, fontWeight: 'bold', color: '#0F1423' }}&gt;{x.t}&lt;/Text&gt;&#10;            &lt;Box style={{ height: 22, borderRadius: 11, background: '#FFF3EE', padding: '0 10px', flexDirection: 'row', alignItems: 'center' }}&gt;&#10;              &lt;Text style={{ fontSize: 11, color: '#C43A17' }}&gt;{x.k}&lt;/Text&gt;&#10;            &lt;/Box&gt;&#10;          &lt;/Box&gt;&#10;          &lt;Text style={{ fontSize: 12.5, color: '#5A6070', marginTop: 6, lineHeight: 1.5 }}&gt;{x.d}&lt;/Text&gt;&#10;        &lt;/Box&gt;&#10;        &lt;Text style={{ fontSize: 14, color: '#8A8F99', width: 82, textAlign: 'right' }}&gt;{x.s}&lt;/Text&gt;&#10;      &lt;/Box&gt;&#10;    ))}&#10;&#10;    &lt;Box style={{ height: 74, background: '#0F1423', borderRadius: 4, padding: '11px 18px', flexDirection: 'row', alignItems: 'center', gap: 22 }}&gt;&#10;      &lt;Text style={{ fontSize: 13.5, fontWeight: 'bold', color: '#FBA15C', width: 118 }}&gt;Approach · 第 04 页&lt;/Text&gt;&#10;      {[&#10;        { t: '第一阶段', d: '指标资产盘点 → 口径冲突台账 → 可信度诊断' },&#10;        { t: '第二阶段', d: '指标字典与五元组 → 原子派生分解 → 唯一性裁定' },&#10;        { t: '第三阶段', d: '问数场景 → 场景化指标集 → 健康看板 → 演进路线' },&#10;      ].map((x) =&gt; (&#10;        &lt;Box key={x.t} style={{ flex: 1, borderLeft: '2px solid #FBA15C', paddingLeft: 12 }}&gt;&#10;          &lt;Text style={{ fontSize: 12, fontWeight: 'bold', color: '#FFFFFF' }}&gt;{x.t}&lt;/Text&gt;&#10;          &lt;Text style={{ fontSize: 10.5, color: 'rgba(255,255,255,0.75)', marginTop: 3, lineHeight: 1.4 }}&gt;{x.d}&lt;/Text&gt;&#10;        &lt;/Box&gt;&#10;      ))}&#10;    &lt;/Box&gt;&#10;  &lt;/Box&gt;&#10;&#10;  &lt;Box style={{ height: 58, flexDirection: 'row', alignItems: 'center', borderTop: '1px solid #E8E8E8' }}&gt;&#10;    &lt;Box style={{ width: 10, height: 10, background: '#FA4F24' }} /&gt;&#10;    &lt;Text style={{ fontSize: 13, color: '#8A8F99', marginLeft: 12 }}&gt;硕磐机密 · 指标体系咨询方法论&lt;/Text&gt;&#10;    &lt;Text style={{ fontSize: 13, color: '#8A8F99', marginLeft: 'auto' }}&gt;02 / 3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四个部分：从指标本体论，到口径治理机制，到六方关系，最后回到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4A</a:t>
            </a:r>
            <a:endParaRPr/>
          </a:p>
        </p:txBody>
      </p:sp>
      <p:sp>
        <p:nvSpPr>
          <p:cNvPr id="652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653" name=""/>
          <p:cNvSpPr/>
          <p:nvPr/>
        </p:nvSpPr>
        <p:spPr>
          <a:xfrm rot="0" flipH="0" flipV="0">
            <a:off x="657225" y="1323975"/>
            <a:ext cx="10972800" cy="790575"/>
          </a:xfrm>
          <a:prstGeom prst="roundRect">
            <a:avLst>
              <a:gd name="adj" fmla="val 481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54" name=""/>
          <p:cNvSpPr/>
          <p:nvPr/>
        </p:nvSpPr>
        <p:spPr>
          <a:xfrm rot="0" flipH="0" flipV="0">
            <a:off x="657225" y="1323975"/>
            <a:ext cx="10972800" cy="790575"/>
          </a:xfrm>
          <a:custGeom>
            <a:pathLst>
              <a:path w="1152" h="83">
                <a:moveTo>
                  <a:pt x="5" y="83"/>
                </a:moveTo>
                <a:cubicBezTo>
                  <a:pt x="4" y="83"/>
                  <a:pt x="3" y="83"/>
                  <a:pt x="2" y="82"/>
                </a:cubicBezTo>
                <a:cubicBezTo>
                  <a:pt x="1" y="82"/>
                  <a:pt x="0" y="81"/>
                  <a:pt x="0" y="79"/>
                </a:cubicBezTo>
                <a:lnTo>
                  <a:pt x="0" y="79"/>
                </a:lnTo>
                <a:lnTo>
                  <a:pt x="0" y="79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847725" y="1524000"/>
            <a:ext cx="5905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1628775" y="1476375"/>
            <a:ext cx="904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指标本体论</a:t>
            </a:r>
            <a:endParaRPr/>
          </a:p>
        </p:txBody>
      </p:sp>
      <p:sp>
        <p:nvSpPr>
          <p:cNvPr id="657" name=""/>
          <p:cNvSpPr/>
          <p:nvPr/>
        </p:nvSpPr>
        <p:spPr>
          <a:xfrm rot="0" flipH="0" flipV="0">
            <a:off x="2647950" y="1485900"/>
            <a:ext cx="714375" cy="209550"/>
          </a:xfrm>
          <a:prstGeom prst="roundRect">
            <a:avLst>
              <a:gd name="adj" fmla="val 5000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2743200" y="1524000"/>
            <a:ext cx="5238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指标是什么</a:t>
            </a:r>
            <a:endParaRPr/>
          </a:p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1628775" y="1752600"/>
            <a:ext cx="8791575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5A6070"/>
                </a:solidFill>
                <a:latin typeface="Microsoft YaHei"/>
                <a:ea typeface="Microsoft YaHei"/>
              </a:rPr>
              <a:t>官方没有指标模块。指标是对象类型上的派生属性——三种算法、两种定义位置、十个聚合类型、一张五元组最小单位表。</a:t>
            </a:r>
            <a:endParaRPr/>
          </a:p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10610850" y="1638300"/>
            <a:ext cx="781050" cy="1619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05 – 10</a:t>
            </a:r>
            <a:endParaRPr/>
          </a:p>
        </p:txBody>
      </p:sp>
      <p:sp>
        <p:nvSpPr>
          <p:cNvPr id="661" name=""/>
          <p:cNvSpPr/>
          <p:nvPr/>
        </p:nvSpPr>
        <p:spPr>
          <a:xfrm rot="0" flipH="0" flipV="0">
            <a:off x="657225" y="2219325"/>
            <a:ext cx="10972800" cy="800100"/>
          </a:xfrm>
          <a:prstGeom prst="roundRect">
            <a:avLst>
              <a:gd name="adj" fmla="val 476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62" name=""/>
          <p:cNvSpPr/>
          <p:nvPr/>
        </p:nvSpPr>
        <p:spPr>
          <a:xfrm rot="0" flipH="0" flipV="0">
            <a:off x="657225" y="2219325"/>
            <a:ext cx="10972800" cy="800100"/>
          </a:xfrm>
          <a:custGeom>
            <a:pathLst>
              <a:path w="1152" h="84">
                <a:moveTo>
                  <a:pt x="5" y="84"/>
                </a:moveTo>
                <a:cubicBezTo>
                  <a:pt x="4" y="84"/>
                  <a:pt x="3" y="84"/>
                  <a:pt x="2" y="83"/>
                </a:cubicBezTo>
                <a:cubicBezTo>
                  <a:pt x="1" y="83"/>
                  <a:pt x="0" y="82"/>
                  <a:pt x="0" y="80"/>
                </a:cubicBezTo>
                <a:lnTo>
                  <a:pt x="0" y="80"/>
                </a:lnTo>
                <a:lnTo>
                  <a:pt x="0" y="80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847725" y="2428875"/>
            <a:ext cx="5905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1628775" y="2371725"/>
            <a:ext cx="1085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口径治理机制</a:t>
            </a:r>
            <a:endParaRPr/>
          </a:p>
        </p:txBody>
      </p:sp>
      <p:sp>
        <p:nvSpPr>
          <p:cNvPr id="665" name=""/>
          <p:cNvSpPr/>
          <p:nvPr/>
        </p:nvSpPr>
        <p:spPr>
          <a:xfrm rot="0" flipH="0" flipV="0">
            <a:off x="2828925" y="2381250"/>
            <a:ext cx="714375" cy="209550"/>
          </a:xfrm>
          <a:prstGeom prst="roundRect">
            <a:avLst>
              <a:gd name="adj" fmla="val 5000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2924175" y="2419350"/>
            <a:ext cx="5238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口径怎么管</a:t>
            </a:r>
            <a:endParaRPr/>
          </a:p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1628775" y="2647950"/>
            <a:ext cx="8791575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5A6070"/>
                </a:solidFill>
                <a:latin typeface="Microsoft YaHei"/>
                <a:ea typeface="Microsoft YaHei"/>
              </a:rPr>
              <a:t>原子</a:t>
            </a:r>
            <a:r>
              <a:rPr lang="en-US" sz="938">
                <a:solidFill>
                  <a:srgbClr val="5A607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38">
                <a:solidFill>
                  <a:srgbClr val="5A6070"/>
                </a:solidFill>
                <a:latin typeface="Microsoft YaHei"/>
                <a:ea typeface="Microsoft YaHei"/>
              </a:rPr>
              <a:t>派生</a:t>
            </a:r>
            <a:r>
              <a:rPr lang="en-US" sz="938">
                <a:solidFill>
                  <a:srgbClr val="5A607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38">
                <a:solidFill>
                  <a:srgbClr val="5A6070"/>
                </a:solidFill>
                <a:latin typeface="Microsoft YaHei"/>
                <a:ea typeface="Microsoft YaHei"/>
              </a:rPr>
              <a:t>复合三层分解；指标字典十二项；五类典型口径失效；口径唯一性裁定；口径与值继承同一套安全；口径版本与回滚。</a:t>
            </a:r>
            <a:endParaRPr/>
          </a:p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10610850" y="2543175"/>
            <a:ext cx="781050" cy="1619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11 – 17</a:t>
            </a:r>
            <a:endParaRPr/>
          </a:p>
        </p:txBody>
      </p:sp>
      <p:sp>
        <p:nvSpPr>
          <p:cNvPr id="669" name=""/>
          <p:cNvSpPr/>
          <p:nvPr/>
        </p:nvSpPr>
        <p:spPr>
          <a:xfrm rot="0" flipH="0" flipV="0">
            <a:off x="657225" y="3124200"/>
            <a:ext cx="10972800" cy="790575"/>
          </a:xfrm>
          <a:prstGeom prst="roundRect">
            <a:avLst>
              <a:gd name="adj" fmla="val 481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70" name=""/>
          <p:cNvSpPr/>
          <p:nvPr/>
        </p:nvSpPr>
        <p:spPr>
          <a:xfrm rot="0" flipH="0" flipV="0">
            <a:off x="657225" y="3124200"/>
            <a:ext cx="10972800" cy="790575"/>
          </a:xfrm>
          <a:custGeom>
            <a:pathLst>
              <a:path w="1152" h="83">
                <a:moveTo>
                  <a:pt x="5" y="83"/>
                </a:moveTo>
                <a:cubicBezTo>
                  <a:pt x="4" y="83"/>
                  <a:pt x="3" y="83"/>
                  <a:pt x="2" y="82"/>
                </a:cubicBezTo>
                <a:cubicBezTo>
                  <a:pt x="1" y="82"/>
                  <a:pt x="0" y="81"/>
                  <a:pt x="0" y="79"/>
                </a:cubicBezTo>
                <a:lnTo>
                  <a:pt x="0" y="79"/>
                </a:lnTo>
                <a:lnTo>
                  <a:pt x="0" y="79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847725" y="3324225"/>
            <a:ext cx="5905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1628775" y="3276600"/>
            <a:ext cx="1333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指标</a:t>
            </a:r>
            <a:r>
              <a:rPr lang="en-US" sz="142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六方关系</a:t>
            </a:r>
            <a:endParaRPr/>
          </a:p>
        </p:txBody>
      </p:sp>
      <p:sp>
        <p:nvSpPr>
          <p:cNvPr id="673" name=""/>
          <p:cNvSpPr/>
          <p:nvPr/>
        </p:nvSpPr>
        <p:spPr>
          <a:xfrm rot="0" flipH="0" flipV="0">
            <a:off x="3076575" y="3286125"/>
            <a:ext cx="819150" cy="209550"/>
          </a:xfrm>
          <a:prstGeom prst="roundRect">
            <a:avLst>
              <a:gd name="adj" fmla="val 5000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3171825" y="3324225"/>
            <a:ext cx="628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指标怎么落地</a:t>
            </a:r>
            <a:endParaRPr/>
          </a:p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1628775" y="3552825"/>
            <a:ext cx="8791575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5A6070"/>
                </a:solidFill>
                <a:latin typeface="Microsoft YaHei"/>
                <a:ea typeface="Microsoft YaHei"/>
              </a:rPr>
              <a:t>指标</a:t>
            </a:r>
            <a:r>
              <a:rPr lang="en-US" sz="938">
                <a:solidFill>
                  <a:srgbClr val="5A6070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938">
                <a:solidFill>
                  <a:srgbClr val="5A6070"/>
                </a:solidFill>
                <a:latin typeface="Microsoft YaHei"/>
                <a:ea typeface="Microsoft YaHei"/>
              </a:rPr>
              <a:t>主数据</a:t>
            </a:r>
            <a:r>
              <a:rPr lang="en-US" sz="938">
                <a:solidFill>
                  <a:srgbClr val="5A6070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938">
                <a:solidFill>
                  <a:srgbClr val="5A6070"/>
                </a:solidFill>
                <a:latin typeface="Microsoft YaHei"/>
                <a:ea typeface="Microsoft YaHei"/>
              </a:rPr>
              <a:t>数据治理</a:t>
            </a:r>
            <a:r>
              <a:rPr lang="en-US" sz="938">
                <a:solidFill>
                  <a:srgbClr val="5A6070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938">
                <a:solidFill>
                  <a:srgbClr val="5A6070"/>
                </a:solidFill>
                <a:latin typeface="Microsoft YaHei"/>
                <a:ea typeface="Microsoft YaHei"/>
              </a:rPr>
              <a:t>管道处理</a:t>
            </a:r>
            <a:r>
              <a:rPr lang="en-US" sz="938">
                <a:solidFill>
                  <a:srgbClr val="5A6070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938">
                <a:solidFill>
                  <a:srgbClr val="5A6070"/>
                </a:solidFill>
                <a:latin typeface="Microsoft YaHei"/>
                <a:ea typeface="Microsoft YaHei"/>
              </a:rPr>
              <a:t>知识库</a:t>
            </a:r>
            <a:r>
              <a:rPr lang="en-US" sz="938">
                <a:solidFill>
                  <a:srgbClr val="5A6070"/>
                </a:solidFill>
                <a:latin typeface="Microsoft YaHei"/>
                <a:ea typeface="Microsoft YaHei"/>
              </a:rPr>
              <a:t xml:space="preserve"> × Agent × Ontology</a:t>
            </a:r>
            <a:r>
              <a:rPr lang="zh-CN" sz="938">
                <a:solidFill>
                  <a:srgbClr val="5A6070"/>
                </a:solidFill>
                <a:latin typeface="Microsoft YaHei"/>
                <a:ea typeface="Microsoft YaHei"/>
              </a:rPr>
              <a:t>：一条口径在六个方向上各自的落法与四条硬边界。</a:t>
            </a:r>
            <a:endParaRPr/>
          </a:p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10610850" y="3438525"/>
            <a:ext cx="781050" cy="1619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18 – 24</a:t>
            </a:r>
            <a:endParaRPr/>
          </a:p>
        </p:txBody>
      </p:sp>
      <p:sp>
        <p:nvSpPr>
          <p:cNvPr id="677" name=""/>
          <p:cNvSpPr/>
          <p:nvPr/>
        </p:nvSpPr>
        <p:spPr>
          <a:xfrm rot="0" flipH="0" flipV="0">
            <a:off x="657225" y="4019550"/>
            <a:ext cx="10972800" cy="790575"/>
          </a:xfrm>
          <a:prstGeom prst="roundRect">
            <a:avLst>
              <a:gd name="adj" fmla="val 481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78" name=""/>
          <p:cNvSpPr/>
          <p:nvPr/>
        </p:nvSpPr>
        <p:spPr>
          <a:xfrm rot="0" flipH="0" flipV="0">
            <a:off x="657225" y="4019550"/>
            <a:ext cx="10972800" cy="790575"/>
          </a:xfrm>
          <a:custGeom>
            <a:pathLst>
              <a:path w="1152" h="83">
                <a:moveTo>
                  <a:pt x="5" y="83"/>
                </a:moveTo>
                <a:cubicBezTo>
                  <a:pt x="4" y="83"/>
                  <a:pt x="3" y="83"/>
                  <a:pt x="2" y="82"/>
                </a:cubicBezTo>
                <a:cubicBezTo>
                  <a:pt x="1" y="82"/>
                  <a:pt x="0" y="81"/>
                  <a:pt x="0" y="79"/>
                </a:cubicBezTo>
                <a:lnTo>
                  <a:pt x="0" y="79"/>
                </a:lnTo>
                <a:lnTo>
                  <a:pt x="0" y="79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847725" y="4219575"/>
            <a:ext cx="5905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1628775" y="4171950"/>
            <a:ext cx="666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回到</a:t>
            </a:r>
            <a:r>
              <a:rPr lang="en-US" sz="142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4A</a:t>
            </a:r>
            <a:endParaRPr/>
          </a:p>
        </p:txBody>
      </p:sp>
      <p:sp>
        <p:nvSpPr>
          <p:cNvPr id="681" name=""/>
          <p:cNvSpPr/>
          <p:nvPr/>
        </p:nvSpPr>
        <p:spPr>
          <a:xfrm rot="0" flipH="0" flipV="0">
            <a:off x="2409825" y="4181475"/>
            <a:ext cx="819150" cy="209550"/>
          </a:xfrm>
          <a:prstGeom prst="roundRect">
            <a:avLst>
              <a:gd name="adj" fmla="val 5000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2505075" y="4219575"/>
            <a:ext cx="628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C43A17"/>
                </a:solidFill>
                <a:latin typeface="Microsoft YaHei"/>
                <a:ea typeface="Microsoft YaHei"/>
              </a:rPr>
              <a:t>指标在哪一层</a:t>
            </a:r>
            <a:endParaRPr/>
          </a:p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1628775" y="4448175"/>
            <a:ext cx="8791575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>
                <a:solidFill>
                  <a:srgbClr val="5A6070"/>
                </a:solidFill>
                <a:latin typeface="Microsoft YaHei"/>
                <a:ea typeface="Microsoft YaHei"/>
              </a:rPr>
              <a:t>业务架构裁定口径、数据架构建元数据、应用架构做问数与驾驶舱、技术架构做计算与缓存；四个特有之处</a:t>
            </a:r>
            <a:r>
              <a:rPr lang="en-US" sz="938">
                <a:solidFill>
                  <a:srgbClr val="5A607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38">
                <a:solidFill>
                  <a:srgbClr val="5A6070"/>
                </a:solidFill>
                <a:latin typeface="Microsoft YaHei"/>
                <a:ea typeface="Microsoft YaHei"/>
              </a:rPr>
              <a:t>成熟度五级</a:t>
            </a:r>
            <a:r>
              <a:rPr lang="en-US" sz="938">
                <a:solidFill>
                  <a:srgbClr val="5A607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38">
                <a:solidFill>
                  <a:srgbClr val="5A6070"/>
                </a:solidFill>
                <a:latin typeface="Microsoft YaHei"/>
                <a:ea typeface="Microsoft YaHei"/>
              </a:rPr>
              <a:t>十二项评审。</a:t>
            </a:r>
            <a:endParaRPr/>
          </a:p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10610850" y="4333875"/>
            <a:ext cx="781050" cy="1619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25 – 30</a:t>
            </a:r>
            <a:endParaRPr/>
          </a:p>
        </p:txBody>
      </p:sp>
      <p:sp>
        <p:nvSpPr>
          <p:cNvPr id="685" name=""/>
          <p:cNvSpPr/>
          <p:nvPr/>
        </p:nvSpPr>
        <p:spPr>
          <a:xfrm rot="0" flipH="0" flipV="0">
            <a:off x="609600" y="4914900"/>
            <a:ext cx="10972800" cy="704850"/>
          </a:xfrm>
          <a:prstGeom prst="roundRect">
            <a:avLst>
              <a:gd name="adj" fmla="val 5405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781050" y="5114925"/>
            <a:ext cx="1123950" cy="314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Approach · </a:t>
            </a: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第</a:t>
            </a:r>
            <a:r>
              <a:rPr lang="en-US" sz="1013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 04 </a:t>
            </a: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页</a:t>
            </a:r>
            <a:endParaRPr/>
          </a:p>
        </p:txBody>
      </p:sp>
      <p:sp>
        <p:nvSpPr>
          <p:cNvPr id="687" name=""/>
          <p:cNvSpPr/>
          <p:nvPr/>
        </p:nvSpPr>
        <p:spPr>
          <a:xfrm rot="0" flipH="0" flipV="0">
            <a:off x="2114550" y="5095875"/>
            <a:ext cx="2981325" cy="342900"/>
          </a:xfrm>
          <a:custGeom>
            <a:pathLst>
              <a:path w="313" h="36">
                <a:moveTo>
                  <a:pt x="0" y="0"/>
                </a:moveTo>
                <a:lnTo>
                  <a:pt x="2" y="0"/>
                </a:lnTo>
                <a:lnTo>
                  <a:pt x="2" y="36"/>
                </a:lnTo>
                <a:lnTo>
                  <a:pt x="0" y="36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688" name="" descr="{&quot;isTemplate&quot;:true,&quot;type&quot;:&quot;text&quot;}"/>
          <p:cNvSpPr txBox="1"/>
          <p:nvPr/>
        </p:nvSpPr>
        <p:spPr>
          <a:xfrm rot="0" flipH="0" flipV="0">
            <a:off x="2247900" y="5095875"/>
            <a:ext cx="2828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第一阶段</a:t>
            </a:r>
            <a:endParaRPr/>
          </a:p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2247900" y="5267325"/>
            <a:ext cx="282892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指标资产盘点</a:t>
            </a:r>
            <a:r>
              <a:rPr lang="en-US" sz="788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788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口径冲突台账</a:t>
            </a:r>
            <a:r>
              <a:rPr lang="en-US" sz="788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788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可信度诊断</a:t>
            </a:r>
            <a:endParaRPr/>
          </a:p>
        </p:txBody>
      </p:sp>
      <p:sp>
        <p:nvSpPr>
          <p:cNvPr id="690" name=""/>
          <p:cNvSpPr/>
          <p:nvPr/>
        </p:nvSpPr>
        <p:spPr>
          <a:xfrm rot="0" flipH="0" flipV="0">
            <a:off x="5286375" y="5095875"/>
            <a:ext cx="2971800" cy="342900"/>
          </a:xfrm>
          <a:custGeom>
            <a:pathLst>
              <a:path w="312" h="36">
                <a:moveTo>
                  <a:pt x="0" y="0"/>
                </a:moveTo>
                <a:lnTo>
                  <a:pt x="2" y="0"/>
                </a:lnTo>
                <a:lnTo>
                  <a:pt x="2" y="36"/>
                </a:lnTo>
                <a:lnTo>
                  <a:pt x="0" y="36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5419725" y="5095875"/>
            <a:ext cx="2819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第二阶段</a:t>
            </a:r>
            <a:endParaRPr/>
          </a:p>
        </p:txBody>
      </p:sp>
      <p:sp>
        <p:nvSpPr>
          <p:cNvPr id="692" name="" descr="{&quot;isTemplate&quot;:true,&quot;type&quot;:&quot;text&quot;}"/>
          <p:cNvSpPr txBox="1"/>
          <p:nvPr/>
        </p:nvSpPr>
        <p:spPr>
          <a:xfrm rot="0" flipH="0" flipV="0">
            <a:off x="5419725" y="5267325"/>
            <a:ext cx="281940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指标字典与五元组</a:t>
            </a:r>
            <a:r>
              <a:rPr lang="en-US" sz="788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788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原子派生分解</a:t>
            </a:r>
            <a:r>
              <a:rPr lang="en-US" sz="788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788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唯一性裁定</a:t>
            </a:r>
            <a:endParaRPr/>
          </a:p>
        </p:txBody>
      </p:sp>
      <p:sp>
        <p:nvSpPr>
          <p:cNvPr id="693" name=""/>
          <p:cNvSpPr/>
          <p:nvPr/>
        </p:nvSpPr>
        <p:spPr>
          <a:xfrm rot="0" flipH="0" flipV="0">
            <a:off x="8448675" y="5095875"/>
            <a:ext cx="2981325" cy="342900"/>
          </a:xfrm>
          <a:custGeom>
            <a:pathLst>
              <a:path w="313" h="36">
                <a:moveTo>
                  <a:pt x="0" y="0"/>
                </a:moveTo>
                <a:lnTo>
                  <a:pt x="2" y="0"/>
                </a:lnTo>
                <a:lnTo>
                  <a:pt x="2" y="36"/>
                </a:lnTo>
                <a:lnTo>
                  <a:pt x="0" y="36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8582025" y="5095875"/>
            <a:ext cx="2828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第三阶段</a:t>
            </a:r>
            <a:endParaRPr/>
          </a:p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8582025" y="5267325"/>
            <a:ext cx="282892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问数场景</a:t>
            </a:r>
            <a:r>
              <a:rPr lang="en-US" sz="788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788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场景化指标集</a:t>
            </a:r>
            <a:r>
              <a:rPr lang="en-US" sz="788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788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健康看板</a:t>
            </a:r>
            <a:r>
              <a:rPr lang="en-US" sz="788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788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演进路线</a:t>
            </a:r>
            <a:endParaRPr/>
          </a:p>
        </p:txBody>
      </p:sp>
      <p:sp>
        <p:nvSpPr>
          <p:cNvPr id="696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697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指标体系咨询方法论</a:t>
            </a:r>
            <a:endParaRPr/>
          </a:p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02 / 30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376" name="" descr="&lt;Slide style={{ width: 1280, height: 720, background: '#FFFFFF', padding: '24px 64px 0' }}&gt;&#10;  &lt;Box style={{ height: 96, flexDirection: 'column', justifyContent: 'flex-start' }}&gt;&#10;    &lt;Text style={{ fontSize: 32, fontWeight: 'bold', color: '#0F1423' }}&gt;&#10;      序论：AI 时代，指标被赋予了&lt;span style={{ color: '#FA4F24' }}&gt;三层新含义&lt;/span&gt;&#10;    &lt;/Text&gt;&#10;    &lt;Text style={{ fontSize: 20, color: '#8A8F99', marginTop: 8 }}&gt;指标一直是企业最普及的资产。变的是：谁在消费它、错了会怎样、生命周期有多长&lt;/Text&gt;&#10;  &lt;/Box&gt;&#10;  &lt;Box style={{ height: 1, background: '#E8E8E8' }} /&gt;&#10;&#10;  &lt;Box style={{ paddingTop: 14, paddingBottom: 8, height: 479, flexDirection: 'column', gap: 10 }}&gt;&#10;    &lt;Box style={{ flex: 1, flexDirection: 'row', gap: 10 }}&gt;&#10;      {[&#10;        { n: '01', t: '消费者变了', c: '#FA4F24',&#10;          d: '指标的第一消费者从人变成 Agent。人看到荒谬的数字会停下来怀疑，Agent 不会——它会把它当既定事实，直接写进报告、下发动作。',&#10;          k: '人 → Agent' },&#10;        { n: '02', t: '容错变了', c: '#C43A17',&#10;          d: '过去口径错了，代价是「报表不可信」，最多没人看。现在口径错了，代价是 Agent 按错的口径去调资源、排产、催款——指标错误第一次获得了行动能力。',&#10;          k: '不可信 → 有行动力' },&#10;        { n: '03', t: '生命周期变了', c: '#FA4F24',&#10;          d: '传统 BI 指标上线即固化，靠人维护文档。AI 时代指标要能被机器发现、解析、组合、调用，于是口径必须结构化到能被程序读懂，而不是躺在 Wiki 里。',&#10;          k: '文档 → 可执行定义' },&#10;      ].map((x) =&gt; (&#10;        &lt;Box key={x.n} style={{ flex: 1, background: '#F7F7F8', borderRadius: 4, borderTop: '4px solid ' + x.c, padding: '13px 16px', flexDirection: 'column' }}&gt;&#10;          &lt;Box style={{ flexDirection: 'row', alignItems: 'center', gap: 9 }}&gt;&#10;            &lt;Text style={{ fontSize: 22, fontWeight: 'bold', color: x.c }}&gt;{x.n}&lt;/Text&gt;&#10;            &lt;Text style={{ fontSize: 16, fontWeight: 'bold', color: '#0F1423', flex: 1 }}&gt;{x.t}&lt;/Text&gt;&#10;          &lt;/Box&gt;&#10;          &lt;Text style={{ fontSize: 12, color: '#3A4050', marginTop: 10, lineHeight: 1.55, flex: 1 }}&gt;{x.d}&lt;/Text&gt;&#10;          &lt;Box style={{ marginTop: 9, background: '#FFF3EE', borderRadius: 3, padding: '6px 10px' }}&gt;&#10;            &lt;Text style={{ fontSize: 11.5, fontWeight: 'bold', color: '#C43A17' }}&gt;{x.k}&lt;/Text&gt;&#10;          &lt;/Box&gt;&#10;        &lt;/Box&gt;&#10;      ))}&#10;    &lt;/Box&gt;&#10;&#10;    &lt;Box style={{ flex: 1.25, background: '#0F1423', borderRadius: 4, padding: '14px 20px', flexDirection: 'row', gap: 20 }}&gt;&#10;      &lt;Box style={{ width: 172, flexDirection: 'column', justifyContent: 'center' }}&gt;&#10;        &lt;Text style={{ fontSize: 17, fontWeight: 'bold', color: '#FFFFFF' }}&gt;六条核心主张&lt;/Text&gt;&#10;        &lt;Text style={{ fontSize: 11, color: 'rgba(255,255,255,0.55)', marginTop: 6, lineHeight: 1.45 }}&gt;这一册要反复用到的话&lt;/Text&gt;&#10;      &lt;/Box&gt;&#10;      &lt;Box style={{ width: 1, background: 'rgba(255,255,255,0.15)' }} /&gt;&#10;      &lt;Box style={{ flex: 1, flexDirection: 'row', flexWrap: 'wrap', gap: 7 }}&gt;&#10;        {[&#10;          '指标不是报表，是对象上的派生属性',&#10;          '口径即定义，定义即代码',&#10;          '最小单位是五元组，不是指标名',&#10;          '指标的失败是静默的',&#10;          '指标从给人看变成给 Agent 调',&#10;          '第一性问题是有多少，不是多统一',&#10;        ].map((t, i) =&gt; (&#10;          &lt;Box key={t} style={{ width: '48.6%', background: 'rgba(250,79,36,0.16)', borderRadius: 3, padding: '6px 10px' }}&gt;&#10;            &lt;Text style={{ fontSize: 11.5, color: 'rgba(255,255,255,0.9)' }}&gt;&#10;              &lt;tspan style={{ color: '#FBA15C', fontWeight: 'bold' }}&gt;{i + 1}. &lt;/tspan&gt;{t}&#10;            &lt;/Text&gt;&#10;          &lt;/Box&gt;&#10;        ))}&#10;      &lt;/Box&gt;&#10;    &lt;/Box&gt;&#10;  &lt;/Box&gt;&#10;&#10;  &lt;Box style={{ height: 58, flexDirection: 'row', alignItems: 'center', borderTop: '1px solid #E8E8E8' }}&gt;&#10;    &lt;Box style={{ width: 10, height: 10, background: '#FA4F24' }} /&gt;&#10;    &lt;Text style={{ fontSize: 13, color: '#8A8F99', marginLeft: 12 }}&gt;硕磐机密 · 指标体系咨询方法论&lt;/Text&gt;&#10;    &lt;Text style={{ fontSize: 13, color: '#8A8F99', marginLeft: 'auto' }}&gt;03 / 3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78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序论：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时代，指标被赋予了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三层新含义</a:t>
            </a:r>
            <a:endParaRPr/>
          </a:p>
        </p:txBody>
      </p:sp>
      <p:sp>
        <p:nvSpPr>
          <p:cNvPr id="1379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指标一直是企业最普及的资产。变的是：谁在消费它、错了会怎样、生命周期有多长</a:t>
            </a:r>
            <a:endParaRPr/>
          </a:p>
        </p:txBody>
      </p:sp>
      <p:sp>
        <p:nvSpPr>
          <p:cNvPr id="1380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381" name=""/>
          <p:cNvSpPr/>
          <p:nvPr/>
        </p:nvSpPr>
        <p:spPr>
          <a:xfrm rot="0" flipH="0" flipV="0">
            <a:off x="609600" y="1323975"/>
            <a:ext cx="3590925" cy="2276475"/>
          </a:xfrm>
          <a:prstGeom prst="roundRect">
            <a:avLst>
              <a:gd name="adj" fmla="val 167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82" name=""/>
          <p:cNvSpPr/>
          <p:nvPr/>
        </p:nvSpPr>
        <p:spPr>
          <a:xfrm rot="0" flipH="0" flipV="0">
            <a:off x="609600" y="1323975"/>
            <a:ext cx="3590925" cy="2276475"/>
          </a:xfrm>
          <a:custGeom>
            <a:pathLst>
              <a:path w="377" h="239">
                <a:moveTo>
                  <a:pt x="373" y="0"/>
                </a:moveTo>
                <a:cubicBezTo>
                  <a:pt x="375" y="0"/>
                  <a:pt x="377" y="2"/>
                  <a:pt x="377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373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83" name="" descr="{&quot;isTemplate&quot;:true,&quot;type&quot;:&quot;text&quot;}"/>
          <p:cNvSpPr txBox="1"/>
          <p:nvPr/>
        </p:nvSpPr>
        <p:spPr>
          <a:xfrm rot="0" flipH="0" flipV="0">
            <a:off x="762000" y="1447800"/>
            <a:ext cx="266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384" name="" descr="{&quot;isTemplate&quot;:true,&quot;type&quot;:&quot;text&quot;}"/>
          <p:cNvSpPr txBox="1"/>
          <p:nvPr/>
        </p:nvSpPr>
        <p:spPr>
          <a:xfrm rot="0" flipH="0" flipV="0">
            <a:off x="1114425" y="1485900"/>
            <a:ext cx="2933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消费者变了</a:t>
            </a:r>
            <a:endParaRPr/>
          </a:p>
        </p:txBody>
      </p:sp>
      <p:sp>
        <p:nvSpPr>
          <p:cNvPr id="1385" name="" descr="{&quot;isTemplate&quot;:true,&quot;type&quot;:&quot;text&quot;}"/>
          <p:cNvSpPr txBox="1"/>
          <p:nvPr/>
        </p:nvSpPr>
        <p:spPr>
          <a:xfrm rot="0" flipH="0" flipV="0">
            <a:off x="762000" y="1800225"/>
            <a:ext cx="3286125" cy="1304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指标的第一消费者从人变成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Agent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。人看到荒谬的数字会停下来怀疑，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不会——它会把它当既定事实，直接写进报告、下发动作。</a:t>
            </a:r>
            <a:endParaRPr/>
          </a:p>
        </p:txBody>
      </p:sp>
      <p:sp>
        <p:nvSpPr>
          <p:cNvPr id="1386" name=""/>
          <p:cNvSpPr/>
          <p:nvPr/>
        </p:nvSpPr>
        <p:spPr>
          <a:xfrm rot="0" flipH="0" flipV="0">
            <a:off x="762000" y="3190875"/>
            <a:ext cx="3286125" cy="247650"/>
          </a:xfrm>
          <a:prstGeom prst="roundRect">
            <a:avLst>
              <a:gd name="adj" fmla="val 11538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387" name="" descr="{&quot;isTemplate&quot;:true,&quot;type&quot;:&quot;text&quot;}"/>
          <p:cNvSpPr txBox="1"/>
          <p:nvPr/>
        </p:nvSpPr>
        <p:spPr>
          <a:xfrm rot="0" flipH="0" flipV="0">
            <a:off x="857250" y="3248025"/>
            <a:ext cx="30956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C43A17"/>
                </a:solidFill>
                <a:latin typeface="Microsoft YaHei"/>
                <a:ea typeface="Microsoft YaHei"/>
              </a:rPr>
              <a:t>人</a:t>
            </a:r>
            <a:r>
              <a:rPr lang="en-US" sz="863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→ Agent</a:t>
            </a:r>
            <a:endParaRPr/>
          </a:p>
        </p:txBody>
      </p:sp>
      <p:sp>
        <p:nvSpPr>
          <p:cNvPr id="1388" name=""/>
          <p:cNvSpPr/>
          <p:nvPr/>
        </p:nvSpPr>
        <p:spPr>
          <a:xfrm rot="0" flipH="0" flipV="0">
            <a:off x="4295775" y="1323975"/>
            <a:ext cx="3600450" cy="2276475"/>
          </a:xfrm>
          <a:prstGeom prst="roundRect">
            <a:avLst>
              <a:gd name="adj" fmla="val 167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89" name=""/>
          <p:cNvSpPr/>
          <p:nvPr/>
        </p:nvSpPr>
        <p:spPr>
          <a:xfrm rot="0" flipH="0" flipV="0">
            <a:off x="4295775" y="1323975"/>
            <a:ext cx="3600450" cy="2276475"/>
          </a:xfrm>
          <a:custGeom>
            <a:pathLst>
              <a:path w="378" h="239">
                <a:moveTo>
                  <a:pt x="374" y="0"/>
                </a:moveTo>
                <a:cubicBezTo>
                  <a:pt x="376" y="0"/>
                  <a:pt x="378" y="2"/>
                  <a:pt x="378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374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390" name="" descr="{&quot;isTemplate&quot;:true,&quot;type&quot;:&quot;text&quot;}"/>
          <p:cNvSpPr txBox="1"/>
          <p:nvPr/>
        </p:nvSpPr>
        <p:spPr>
          <a:xfrm rot="0" flipH="0" flipV="0">
            <a:off x="4448175" y="1447800"/>
            <a:ext cx="266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C43A17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391" name="" descr="{&quot;isTemplate&quot;:true,&quot;type&quot;:&quot;text&quot;}"/>
          <p:cNvSpPr txBox="1"/>
          <p:nvPr/>
        </p:nvSpPr>
        <p:spPr>
          <a:xfrm rot="0" flipH="0" flipV="0">
            <a:off x="4800600" y="1485900"/>
            <a:ext cx="2943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容错变了</a:t>
            </a:r>
            <a:endParaRPr/>
          </a:p>
        </p:txBody>
      </p:sp>
      <p:sp>
        <p:nvSpPr>
          <p:cNvPr id="1392" name="" descr="{&quot;isTemplate&quot;:true,&quot;type&quot;:&quot;text&quot;}"/>
          <p:cNvSpPr txBox="1"/>
          <p:nvPr/>
        </p:nvSpPr>
        <p:spPr>
          <a:xfrm rot="0" flipH="0" flipV="0">
            <a:off x="4448175" y="1800225"/>
            <a:ext cx="3295650" cy="1304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过去口径错了，代价是「报表不可信」，最多没人看。现在口径错了，代价是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按错的口径去调资源、排产、催款——指标错误第一次获得了行动能力。</a:t>
            </a:r>
            <a:endParaRPr/>
          </a:p>
        </p:txBody>
      </p:sp>
      <p:sp>
        <p:nvSpPr>
          <p:cNvPr id="1393" name=""/>
          <p:cNvSpPr/>
          <p:nvPr/>
        </p:nvSpPr>
        <p:spPr>
          <a:xfrm rot="0" flipH="0" flipV="0">
            <a:off x="4448175" y="3190875"/>
            <a:ext cx="3295650" cy="247650"/>
          </a:xfrm>
          <a:prstGeom prst="roundRect">
            <a:avLst>
              <a:gd name="adj" fmla="val 11538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394" name="" descr="{&quot;isTemplate&quot;:true,&quot;type&quot;:&quot;text&quot;}"/>
          <p:cNvSpPr txBox="1"/>
          <p:nvPr/>
        </p:nvSpPr>
        <p:spPr>
          <a:xfrm rot="0" flipH="0" flipV="0">
            <a:off x="4543425" y="3248025"/>
            <a:ext cx="3105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C43A17"/>
                </a:solidFill>
                <a:latin typeface="Microsoft YaHei"/>
                <a:ea typeface="Microsoft YaHei"/>
              </a:rPr>
              <a:t>不可信</a:t>
            </a:r>
            <a:r>
              <a:rPr lang="en-US" sz="863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863" b="1">
                <a:solidFill>
                  <a:srgbClr val="C43A17"/>
                </a:solidFill>
                <a:latin typeface="Microsoft YaHei"/>
                <a:ea typeface="Microsoft YaHei"/>
              </a:rPr>
              <a:t>有行动力</a:t>
            </a:r>
            <a:endParaRPr/>
          </a:p>
        </p:txBody>
      </p:sp>
      <p:sp>
        <p:nvSpPr>
          <p:cNvPr id="1395" name=""/>
          <p:cNvSpPr/>
          <p:nvPr/>
        </p:nvSpPr>
        <p:spPr>
          <a:xfrm rot="0" flipH="0" flipV="0">
            <a:off x="7991475" y="1323975"/>
            <a:ext cx="3590925" cy="2276475"/>
          </a:xfrm>
          <a:prstGeom prst="roundRect">
            <a:avLst>
              <a:gd name="adj" fmla="val 167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96" name=""/>
          <p:cNvSpPr/>
          <p:nvPr/>
        </p:nvSpPr>
        <p:spPr>
          <a:xfrm rot="0" flipH="0" flipV="0">
            <a:off x="7991475" y="1323975"/>
            <a:ext cx="3590925" cy="2276475"/>
          </a:xfrm>
          <a:custGeom>
            <a:pathLst>
              <a:path w="377" h="239">
                <a:moveTo>
                  <a:pt x="373" y="0"/>
                </a:moveTo>
                <a:cubicBezTo>
                  <a:pt x="375" y="0"/>
                  <a:pt x="377" y="2"/>
                  <a:pt x="377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373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97" name="" descr="{&quot;isTemplate&quot;:true,&quot;type&quot;:&quot;text&quot;}"/>
          <p:cNvSpPr txBox="1"/>
          <p:nvPr/>
        </p:nvSpPr>
        <p:spPr>
          <a:xfrm rot="0" flipH="0" flipV="0">
            <a:off x="8143875" y="1447800"/>
            <a:ext cx="266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398" name="" descr="{&quot;isTemplate&quot;:true,&quot;type&quot;:&quot;text&quot;}"/>
          <p:cNvSpPr txBox="1"/>
          <p:nvPr/>
        </p:nvSpPr>
        <p:spPr>
          <a:xfrm rot="0" flipH="0" flipV="0">
            <a:off x="8496300" y="1485900"/>
            <a:ext cx="2933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生命周期变了</a:t>
            </a:r>
            <a:endParaRPr/>
          </a:p>
        </p:txBody>
      </p:sp>
      <p:sp>
        <p:nvSpPr>
          <p:cNvPr id="1399" name="" descr="{&quot;isTemplate&quot;:true,&quot;type&quot;:&quot;text&quot;}"/>
          <p:cNvSpPr txBox="1"/>
          <p:nvPr/>
        </p:nvSpPr>
        <p:spPr>
          <a:xfrm rot="0" flipH="0" flipV="0">
            <a:off x="8143875" y="1800225"/>
            <a:ext cx="3286125" cy="1304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传统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BI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指标上线即固化，靠人维护文档。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时代指标要能被机器发现、解析、组合、调用，于是口径必须结构化到能被程序读懂，而不是躺在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Wiki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里。</a:t>
            </a:r>
            <a:endParaRPr/>
          </a:p>
        </p:txBody>
      </p:sp>
      <p:sp>
        <p:nvSpPr>
          <p:cNvPr id="1400" name=""/>
          <p:cNvSpPr/>
          <p:nvPr/>
        </p:nvSpPr>
        <p:spPr>
          <a:xfrm rot="0" flipH="0" flipV="0">
            <a:off x="8143875" y="3190875"/>
            <a:ext cx="3286125" cy="247650"/>
          </a:xfrm>
          <a:prstGeom prst="roundRect">
            <a:avLst>
              <a:gd name="adj" fmla="val 11538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401" name="" descr="{&quot;isTemplate&quot;:true,&quot;type&quot;:&quot;text&quot;}"/>
          <p:cNvSpPr txBox="1"/>
          <p:nvPr/>
        </p:nvSpPr>
        <p:spPr>
          <a:xfrm rot="0" flipH="0" flipV="0">
            <a:off x="8239125" y="3248025"/>
            <a:ext cx="30956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C43A17"/>
                </a:solidFill>
                <a:latin typeface="Microsoft YaHei"/>
                <a:ea typeface="Microsoft YaHei"/>
              </a:rPr>
              <a:t>文档</a:t>
            </a:r>
            <a:r>
              <a:rPr lang="en-US" sz="863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863" b="1">
                <a:solidFill>
                  <a:srgbClr val="C43A17"/>
                </a:solidFill>
                <a:latin typeface="Microsoft YaHei"/>
                <a:ea typeface="Microsoft YaHei"/>
              </a:rPr>
              <a:t>可执行定义</a:t>
            </a:r>
            <a:endParaRPr/>
          </a:p>
        </p:txBody>
      </p:sp>
      <p:sp>
        <p:nvSpPr>
          <p:cNvPr id="1402" name=""/>
          <p:cNvSpPr/>
          <p:nvPr/>
        </p:nvSpPr>
        <p:spPr>
          <a:xfrm rot="0" flipH="0" flipV="0">
            <a:off x="609600" y="3657600"/>
            <a:ext cx="10972800" cy="1981200"/>
          </a:xfrm>
          <a:prstGeom prst="roundRect">
            <a:avLst>
              <a:gd name="adj" fmla="val 1923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403" name="" descr="{&quot;isTemplate&quot;:true,&quot;type&quot;:&quot;text&quot;}"/>
          <p:cNvSpPr txBox="1"/>
          <p:nvPr/>
        </p:nvSpPr>
        <p:spPr>
          <a:xfrm rot="0" flipH="0" flipV="0">
            <a:off x="800100" y="4429125"/>
            <a:ext cx="1638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六条核心主张</a:t>
            </a:r>
            <a:endParaRPr/>
          </a:p>
        </p:txBody>
      </p:sp>
      <p:sp>
        <p:nvSpPr>
          <p:cNvPr id="1404" name="" descr="{&quot;isTemplate&quot;:true,&quot;type&quot;:&quot;text&quot;}"/>
          <p:cNvSpPr txBox="1"/>
          <p:nvPr/>
        </p:nvSpPr>
        <p:spPr>
          <a:xfrm rot="0" flipH="0" flipV="0">
            <a:off x="800100" y="4686300"/>
            <a:ext cx="163830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这一册要反复用到的话</a:t>
            </a:r>
            <a:endParaRPr/>
          </a:p>
        </p:txBody>
      </p:sp>
      <p:sp>
        <p:nvSpPr>
          <p:cNvPr id="1405" name=""/>
          <p:cNvSpPr/>
          <p:nvPr/>
        </p:nvSpPr>
        <p:spPr>
          <a:xfrm rot="0" flipH="0" flipV="0">
            <a:off x="2628900" y="3790950"/>
            <a:ext cx="9525" cy="17145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p/>
        </p:txBody>
      </p:sp>
      <p:sp>
        <p:nvSpPr>
          <p:cNvPr id="1406" name=""/>
          <p:cNvSpPr/>
          <p:nvPr/>
        </p:nvSpPr>
        <p:spPr>
          <a:xfrm rot="0" flipH="0" flipV="0">
            <a:off x="2828925" y="3790950"/>
            <a:ext cx="4162425" cy="523875"/>
          </a:xfrm>
          <a:prstGeom prst="roundRect">
            <a:avLst>
              <a:gd name="adj" fmla="val 5455"/>
            </a:avLst>
          </a:prstGeom>
          <a:solidFill>
            <a:srgbClr val="FA4F24">
              <a:alpha val="16000"/>
            </a:srgbClr>
          </a:solidFill>
          <a:ln/>
        </p:spPr>
        <p:txBody>
          <a:bodyPr/>
          <a:p/>
        </p:txBody>
      </p:sp>
      <p:sp>
        <p:nvSpPr>
          <p:cNvPr id="1407" name="" descr="{&quot;isTemplate&quot;:true,&quot;type&quot;:&quot;text&quot;}"/>
          <p:cNvSpPr txBox="1"/>
          <p:nvPr/>
        </p:nvSpPr>
        <p:spPr>
          <a:xfrm rot="0" flipH="0" flipV="0">
            <a:off x="2924175" y="3848100"/>
            <a:ext cx="39719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1</a:t>
            </a:r>
            <a:r>
              <a:rPr lang="en-US" sz="863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. </a:t>
            </a:r>
            <a:r>
              <a:rPr lang="zh-CN" sz="863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指标不是报表，是对象上的派生属性</a:t>
            </a:r>
            <a:endParaRPr/>
          </a:p>
        </p:txBody>
      </p:sp>
      <p:sp>
        <p:nvSpPr>
          <p:cNvPr id="1408" name=""/>
          <p:cNvSpPr/>
          <p:nvPr/>
        </p:nvSpPr>
        <p:spPr>
          <a:xfrm rot="0" flipH="0" flipV="0">
            <a:off x="7058025" y="3790950"/>
            <a:ext cx="4162425" cy="523875"/>
          </a:xfrm>
          <a:prstGeom prst="roundRect">
            <a:avLst>
              <a:gd name="adj" fmla="val 5455"/>
            </a:avLst>
          </a:prstGeom>
          <a:solidFill>
            <a:srgbClr val="FA4F24">
              <a:alpha val="16000"/>
            </a:srgbClr>
          </a:solidFill>
          <a:ln/>
        </p:spPr>
        <p:txBody>
          <a:bodyPr/>
          <a:p/>
        </p:txBody>
      </p:sp>
      <p:sp>
        <p:nvSpPr>
          <p:cNvPr id="1409" name="" descr="{&quot;isTemplate&quot;:true,&quot;type&quot;:&quot;text&quot;}"/>
          <p:cNvSpPr txBox="1"/>
          <p:nvPr/>
        </p:nvSpPr>
        <p:spPr>
          <a:xfrm rot="0" flipH="0" flipV="0">
            <a:off x="7153275" y="3848100"/>
            <a:ext cx="39719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2</a:t>
            </a:r>
            <a:r>
              <a:rPr lang="en-US" sz="863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. </a:t>
            </a:r>
            <a:r>
              <a:rPr lang="zh-CN" sz="863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口径即定义，定义即代码</a:t>
            </a:r>
            <a:endParaRPr/>
          </a:p>
        </p:txBody>
      </p:sp>
      <p:sp>
        <p:nvSpPr>
          <p:cNvPr id="1410" name=""/>
          <p:cNvSpPr/>
          <p:nvPr/>
        </p:nvSpPr>
        <p:spPr>
          <a:xfrm rot="0" flipH="0" flipV="0">
            <a:off x="2828925" y="4381500"/>
            <a:ext cx="4162425" cy="533400"/>
          </a:xfrm>
          <a:prstGeom prst="roundRect">
            <a:avLst>
              <a:gd name="adj" fmla="val 5357"/>
            </a:avLst>
          </a:prstGeom>
          <a:solidFill>
            <a:srgbClr val="FA4F24">
              <a:alpha val="16000"/>
            </a:srgbClr>
          </a:solidFill>
          <a:ln/>
        </p:spPr>
        <p:txBody>
          <a:bodyPr/>
          <a:p/>
        </p:txBody>
      </p:sp>
      <p:sp>
        <p:nvSpPr>
          <p:cNvPr id="1411" name="" descr="{&quot;isTemplate&quot;:true,&quot;type&quot;:&quot;text&quot;}"/>
          <p:cNvSpPr txBox="1"/>
          <p:nvPr/>
        </p:nvSpPr>
        <p:spPr>
          <a:xfrm rot="0" flipH="0" flipV="0">
            <a:off x="2924175" y="4438650"/>
            <a:ext cx="39719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3</a:t>
            </a:r>
            <a:r>
              <a:rPr lang="en-US" sz="863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. </a:t>
            </a:r>
            <a:r>
              <a:rPr lang="zh-CN" sz="863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最小单位是五元组，不是指标名</a:t>
            </a:r>
            <a:endParaRPr/>
          </a:p>
        </p:txBody>
      </p:sp>
      <p:sp>
        <p:nvSpPr>
          <p:cNvPr id="1412" name=""/>
          <p:cNvSpPr/>
          <p:nvPr/>
        </p:nvSpPr>
        <p:spPr>
          <a:xfrm rot="0" flipH="0" flipV="0">
            <a:off x="7058025" y="4381500"/>
            <a:ext cx="4162425" cy="533400"/>
          </a:xfrm>
          <a:prstGeom prst="roundRect">
            <a:avLst>
              <a:gd name="adj" fmla="val 5357"/>
            </a:avLst>
          </a:prstGeom>
          <a:solidFill>
            <a:srgbClr val="FA4F24">
              <a:alpha val="16000"/>
            </a:srgbClr>
          </a:solidFill>
          <a:ln/>
        </p:spPr>
        <p:txBody>
          <a:bodyPr/>
          <a:p/>
        </p:txBody>
      </p:sp>
      <p:sp>
        <p:nvSpPr>
          <p:cNvPr id="1413" name="" descr="{&quot;isTemplate&quot;:true,&quot;type&quot;:&quot;text&quot;}"/>
          <p:cNvSpPr txBox="1"/>
          <p:nvPr/>
        </p:nvSpPr>
        <p:spPr>
          <a:xfrm rot="0" flipH="0" flipV="0">
            <a:off x="7153275" y="4438650"/>
            <a:ext cx="39719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4</a:t>
            </a:r>
            <a:r>
              <a:rPr lang="en-US" sz="863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. </a:t>
            </a:r>
            <a:r>
              <a:rPr lang="zh-CN" sz="863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指标的失败是静默的</a:t>
            </a:r>
            <a:endParaRPr/>
          </a:p>
        </p:txBody>
      </p:sp>
      <p:sp>
        <p:nvSpPr>
          <p:cNvPr id="1414" name=""/>
          <p:cNvSpPr/>
          <p:nvPr/>
        </p:nvSpPr>
        <p:spPr>
          <a:xfrm rot="0" flipH="0" flipV="0">
            <a:off x="2828925" y="4981575"/>
            <a:ext cx="4162425" cy="523875"/>
          </a:xfrm>
          <a:prstGeom prst="roundRect">
            <a:avLst>
              <a:gd name="adj" fmla="val 5455"/>
            </a:avLst>
          </a:prstGeom>
          <a:solidFill>
            <a:srgbClr val="FA4F24">
              <a:alpha val="16000"/>
            </a:srgbClr>
          </a:solidFill>
          <a:ln/>
        </p:spPr>
        <p:txBody>
          <a:bodyPr/>
          <a:p/>
        </p:txBody>
      </p:sp>
      <p:sp>
        <p:nvSpPr>
          <p:cNvPr id="1415" name="" descr="{&quot;isTemplate&quot;:true,&quot;type&quot;:&quot;text&quot;}"/>
          <p:cNvSpPr txBox="1"/>
          <p:nvPr/>
        </p:nvSpPr>
        <p:spPr>
          <a:xfrm rot="0" flipH="0" flipV="0">
            <a:off x="2924175" y="5038725"/>
            <a:ext cx="39719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5</a:t>
            </a:r>
            <a:r>
              <a:rPr lang="en-US" sz="863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. </a:t>
            </a:r>
            <a:r>
              <a:rPr lang="zh-CN" sz="863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指标从给人看变成给</a:t>
            </a:r>
            <a:r>
              <a:rPr lang="en-US" sz="863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863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调</a:t>
            </a:r>
            <a:endParaRPr/>
          </a:p>
        </p:txBody>
      </p:sp>
      <p:sp>
        <p:nvSpPr>
          <p:cNvPr id="1416" name=""/>
          <p:cNvSpPr/>
          <p:nvPr/>
        </p:nvSpPr>
        <p:spPr>
          <a:xfrm rot="0" flipH="0" flipV="0">
            <a:off x="7058025" y="4981575"/>
            <a:ext cx="4162425" cy="523875"/>
          </a:xfrm>
          <a:prstGeom prst="roundRect">
            <a:avLst>
              <a:gd name="adj" fmla="val 5455"/>
            </a:avLst>
          </a:prstGeom>
          <a:solidFill>
            <a:srgbClr val="FA4F24">
              <a:alpha val="16000"/>
            </a:srgbClr>
          </a:solidFill>
          <a:ln/>
        </p:spPr>
        <p:txBody>
          <a:bodyPr/>
          <a:p/>
        </p:txBody>
      </p:sp>
      <p:sp>
        <p:nvSpPr>
          <p:cNvPr id="1417" name="" descr="{&quot;isTemplate&quot;:true,&quot;type&quot;:&quot;text&quot;}"/>
          <p:cNvSpPr txBox="1"/>
          <p:nvPr/>
        </p:nvSpPr>
        <p:spPr>
          <a:xfrm rot="0" flipH="0" flipV="0">
            <a:off x="7153275" y="5038725"/>
            <a:ext cx="39719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6</a:t>
            </a:r>
            <a:r>
              <a:rPr lang="en-US" sz="863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. </a:t>
            </a:r>
            <a:r>
              <a:rPr lang="zh-CN" sz="863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第一性问题是有多少，不是多统一</a:t>
            </a:r>
            <a:endParaRPr/>
          </a:p>
        </p:txBody>
      </p:sp>
      <p:sp>
        <p:nvSpPr>
          <p:cNvPr id="1418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419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20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指标体系咨询方法论</a:t>
            </a:r>
            <a:endParaRPr/>
          </a:p>
        </p:txBody>
      </p:sp>
      <p:sp>
        <p:nvSpPr>
          <p:cNvPr id="1421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03 / 30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474" name="" descr="&lt;Slide style={{ width: 1280, height: 720, background: '#FFFFFF', padding: '24px 64px 0' }}&gt;&#10;  &lt;Box style={{ height: 96, flexDirection: 'column', justifyContent: 'flex-start' }}&gt;&#10;    &lt;Text style={{ fontSize: 32, fontWeight: 'bold', color: '#0F1423' }}&gt;&#10;      Approach：三阶段推进图与&lt;span style={{ color: '#FA4F24' }}&gt;每一步的产出物&lt;/span&gt;&#10;    &lt;/Text&gt;&#10;    &lt;Text style={{ fontSize: 20, color: '#8A8F99', marginTop: 8 }}&gt;先做什么、后做什么、按什么顺序——每个方框下面写的就是它必须交出来的东西，没有产出物的框就是空转&lt;/Text&gt;&#10;  &lt;/Box&gt;&#10;  &lt;Box style={{ height: 1, background: '#E8E8E8' }} /&gt;&#10;&#10;  &lt;Box style={{ paddingTop: 12, paddingBottom: 8, height: 479, flexDirection: 'column', gap: 9 }}&gt;&#10;    &lt;Box style={{ height: 42, flexDirection: 'row', gap: 3 }}&gt;&#10;      &lt;Box style={{ width: 74, background: '#5A6070', borderRadius: 3, alignItems: 'center', justifyContent: 'center' }}&gt;&#10;        &lt;Text style={{ fontSize: 15, fontWeight: 'bold', color: '#FFFFFF' }}&gt;启动&lt;/Text&gt;&#10;      &lt;/Box&gt;&#10;      {[&#10;        { n: '第一阶段', t: '指标现状盘点与诊断', c: '#FA4F24' },&#10;        { n: '第二阶段', t: '指标体系设计与治理', c: '#E0641E' },&#10;        { n: '第三阶段', t: '场景化落地与持续运营', c: '#C43A17' },&#10;      ].map((x) =&gt; (&#10;        &lt;Box key={x.n} style={{ flex: 1, background: x.c, borderRadius: 3, flexDirection: 'row', alignItems: 'center', justifyContent: 'center', gap: 10 }}&gt;&#10;          &lt;Text style={{ fontSize: 15, fontWeight: 'bold', color: '#FFFFFF' }}&gt;{x.n}&lt;/Text&gt;&#10;          &lt;Box style={{ width: 1, height: 16, background: 'rgba(255,255,255,0.45)' }} /&gt;&#10;          &lt;Text style={{ fontSize: 14, color: 'rgba(255,255,255,0.94)' }}&gt;{x.t}&lt;/Text&gt;&#10;        &lt;/Box&gt;&#10;      ))}&#10;    &lt;/Box&gt;&#10;&#10;    &lt;Box style={{ flex: 1, flexDirection: 'row', gap: 9 }}&gt;&#10;      &lt;Box style={{ width: 58, background: '#0F1423', borderRadius: 3, alignItems: 'center', justifyContent: 'center', padding: '8px 0' }}&gt;&#10;        {['项目', '实施', '任务', '分解'].map((t) =&gt; (&#10;          &lt;Text key={t} style={{ fontSize: 15, fontWeight: 'bold', color: '#FFFFFF', marginTop: 4 }}&gt;{t}&lt;/Text&gt;&#10;        ))}&#10;      &lt;/Box&gt;&#10;&#10;      &lt;Box style={{ flex: 1, flexDirection: 'column', gap: 9 }}&gt;&#10;        &lt;Box style={{ flex: 1, flexDirection: 'row', alignItems: 'stretch', gap: 5 }}&gt;&#10;          {[&#10;            { t: '项目准备', o: '指标治理章程 · 范围清单' },&#10;            { t: '业务战略解读', o: '战略解码 → 指标意图映射' },&#10;            { t: '指标资产盘点', o: '指标资产清单 · 分布热力图' },&#10;            { t: '口径冲突扫描', o: '口径冲突台账（同名/同义优先）' },&#10;            { t: '可信度诊断', o: '指标可信度诊断报告 · 分级结论' },&#10;          ].map((x, i) =&gt; (&#10;            &lt;Box key={x.t} style={{ flex: 1, background: '#FFF3EE', borderRadius: 3, border: '1px solid #FBA15C', padding: '8px 9px', flexDirection: 'column', justifyContent: 'center' }}&gt;&#10;              &lt;Text style={{ fontSize: 12, fontWeight: 'bold', color: '#0F1423' }}&gt;{x.t}&lt;/Text&gt;&#10;              &lt;Text style={{ fontSize: 10, color: '#C43A17', marginTop: 5, lineHeight: 1.35 }}&gt;产出：{x.o}&lt;/Text&gt;&#10;            &lt;/Box&gt;&#10;          ))}&#10;        &lt;/Box&gt;&#10;&#10;        &lt;Box style={{ flex: 1, flexDirection: 'row', alignItems: 'stretch', gap: 5 }}&gt;&#10;          {[&#10;            { t: '指标字典与五元组规范', o: '指标字典模板 · 五元组规范' },&#10;            { t: '原子 / 派生 / 复合分解', o: '三层指标分解图 · 依赖 DAG' },&#10;            { t: '口径唯一性裁定', o: '唯一口径裁定表 · 映射与废止清单' },&#10;            { t: '权限与版本设计', o: '口径权限矩阵 · 版本与回滚方案' },&#10;          ].map((x) =&gt; (&#10;            &lt;Box key={x.t} style={{ flex: 1, background: '#FFF3EE', borderRadius: 3, border: '1px solid #F87D2F', padding: '8px 9px', flexDirection: 'column', justifyContent: 'center' }}&gt;&#10;              &lt;Text style={{ fontSize: 12, fontWeight: 'bold', color: '#0F1423' }}&gt;{x.t}&lt;/Text&gt;&#10;              &lt;Text style={{ fontSize: 10, color: '#C43A17', marginTop: 5, lineHeight: 1.35 }}&gt;产出：{x.o}&lt;/Text&gt;&#10;            &lt;/Box&gt;&#10;          ))}&#10;        &lt;/Box&gt;&#10;&#10;        &lt;Box style={{ flex: 1, flexDirection: 'row', alignItems: 'stretch', gap: 5 }}&gt;&#10;          {[&#10;            { t: '问数场景清单', o: '高频问数场景清单 · 优先级' },&#10;            { t: '场景化指标集', o: '每场景最小可用指标集' },&#10;            { t: '静默失效检出', o: '口径漂移检测规则 · 告警矩阵' },&#10;            { t: '指标健康看板', o: '指标健康度看板 · 责任到人' },&#10;            { t: '演进路线图', o: '分季演进路线图 · 退役计划' },&#10;          ].map((x) =&gt; (&#10;            &lt;Box key={x.t} style={{ flex: 1, background: '#FFF3EE', borderRadius: 3, border: '1px solid #C43A17', padding: '8px 9px', flexDirection: 'column', justifyContent: 'center' }}&gt;&#10;              &lt;Text style={{ fontSize: 12, fontWeight: 'bold', color: '#0F1423' }}&gt;{x.t}&lt;/Text&gt;&#10;              &lt;Text style={{ fontSize: 10, color: '#C43A17', marginTop: 5, lineHeight: 1.35 }}&gt;产出：{x.o}&lt;/Text&gt;&#10;            &lt;/Box&gt;&#10;          ))}&#10;        &lt;/Box&gt;&#10;      &lt;/Box&gt;&#10;    &lt;/Box&gt;&#10;&#10;    &lt;Box style={{ flexDirection: 'row', gap: 9, height: 32 }}&gt;&#10;      &lt;Box style={{ flex: 1, background: '#F7F7F8', borderRadius: 3, borderLeft: '4px solid #FA4F24', padding: '0 14px', flexDirection: 'row', alignItems: 'center' }}&gt;&#10;        &lt;Text style={{ fontSize: 12.5, fontWeight: 'bold', color: '#0F1423', width: 82 }}&gt;口径治理&lt;/Text&gt;&#10;        &lt;Text style={{ fontSize: 11, color: '#5A6070', flex: 1 }}&gt;贯穿三阶段：每个指标从被提出到被废止，口径全程有人负责、有唯一解释、有变更留痕&lt;/Text&gt;&#10;      &lt;/Box&gt;&#10;      &lt;Box style={{ flex: 1, background: '#F7F7F8', borderRadius: 3, borderLeft: '4px solid #F87D2F', padding: '0 14px', flexDirection: 'row', alignItems: 'center' }}&gt;&#10;        &lt;Text style={{ fontSize: 12.5, fontWeight: 'bold', color: '#0F1423', width: 82 }}&gt;变更管理&lt;/Text&gt;&#10;        &lt;Text style={{ fontSize: 11, color: '#5A6070', flex: 1 }}&gt;贯穿三阶段：口径变更按数据治理的提案流程走，附影响面清单与回滚预案，不允许脚本直连&lt;/Text&gt;&#10;      &lt;/Box&gt;&#10;    &lt;/Box&gt;&#10;  &lt;/Box&gt;&#10;&#10;  &lt;Box style={{ height: 58, flexDirection: 'row', alignItems: 'center', borderTop: '1px solid #E8E8E8' }}&gt;&#10;    &lt;Box style={{ width: 10, height: 10, background: '#FA4F24' }} /&gt;&#10;    &lt;Text style={{ fontSize: 13, color: '#8A8F99', marginLeft: 12 }}&gt;硕磐机密 · 指标体系咨询方法论&lt;/Text&gt;&#10;    &lt;Text style={{ fontSize: 13, color: '#8A8F99', marginLeft: 'auto' }}&gt;04 / 3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76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>Approach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：三阶段推进图与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每一步的产出物</a:t>
            </a:r>
            <a:endParaRPr/>
          </a:p>
        </p:txBody>
      </p:sp>
      <p:sp>
        <p:nvSpPr>
          <p:cNvPr id="1477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先做什么、后做什么、按什么顺序——每个方框下面写的就是它必须交出来的东西，没有产出物的框就是空转</a:t>
            </a:r>
            <a:endParaRPr/>
          </a:p>
        </p:txBody>
      </p:sp>
      <p:sp>
        <p:nvSpPr>
          <p:cNvPr id="1478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479" name=""/>
          <p:cNvSpPr/>
          <p:nvPr/>
        </p:nvSpPr>
        <p:spPr>
          <a:xfrm rot="0" flipH="0" flipV="0">
            <a:off x="609600" y="1266825"/>
            <a:ext cx="704850" cy="400050"/>
          </a:xfrm>
          <a:prstGeom prst="roundRect">
            <a:avLst>
              <a:gd name="adj" fmla="val 7143"/>
            </a:avLst>
          </a:prstGeom>
          <a:solidFill>
            <a:srgbClr val="5A6070"/>
          </a:solidFill>
          <a:ln/>
        </p:spPr>
        <p:txBody>
          <a:bodyPr/>
          <a:p/>
        </p:txBody>
      </p:sp>
      <p:sp>
        <p:nvSpPr>
          <p:cNvPr id="1480" name="" descr="{&quot;isTemplate&quot;:true,&quot;type&quot;:&quot;text&quot;}"/>
          <p:cNvSpPr txBox="1"/>
          <p:nvPr/>
        </p:nvSpPr>
        <p:spPr>
          <a:xfrm rot="0" flipH="0" flipV="0">
            <a:off x="819150" y="138112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启动</a:t>
            </a:r>
            <a:endParaRPr/>
          </a:p>
        </p:txBody>
      </p:sp>
      <p:sp>
        <p:nvSpPr>
          <p:cNvPr id="1481" name=""/>
          <p:cNvSpPr/>
          <p:nvPr/>
        </p:nvSpPr>
        <p:spPr>
          <a:xfrm rot="0" flipH="0" flipV="0">
            <a:off x="1343025" y="1266825"/>
            <a:ext cx="3390900" cy="400050"/>
          </a:xfrm>
          <a:prstGeom prst="roundRect">
            <a:avLst>
              <a:gd name="adj" fmla="val 7143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82" name="" descr="{&quot;isTemplate&quot;:true,&quot;type&quot;:&quot;text&quot;}"/>
          <p:cNvSpPr txBox="1"/>
          <p:nvPr/>
        </p:nvSpPr>
        <p:spPr>
          <a:xfrm rot="0" flipH="0" flipV="0">
            <a:off x="2057400" y="13811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第一阶段</a:t>
            </a:r>
            <a:endParaRPr/>
          </a:p>
        </p:txBody>
      </p:sp>
      <p:sp>
        <p:nvSpPr>
          <p:cNvPr id="1483" name=""/>
          <p:cNvSpPr/>
          <p:nvPr/>
        </p:nvSpPr>
        <p:spPr>
          <a:xfrm rot="0" flipH="0" flipV="0">
            <a:off x="2724150" y="1390650"/>
            <a:ext cx="9525" cy="152400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  <p:txBody>
          <a:bodyPr/>
          <a:p/>
        </p:txBody>
      </p:sp>
      <p:sp>
        <p:nvSpPr>
          <p:cNvPr id="1484" name="" descr="{&quot;isTemplate&quot;:true,&quot;type&quot;:&quot;text&quot;}"/>
          <p:cNvSpPr txBox="1"/>
          <p:nvPr/>
        </p:nvSpPr>
        <p:spPr>
          <a:xfrm rot="0" flipH="0" flipV="0">
            <a:off x="2828925" y="1390650"/>
            <a:ext cx="120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指标现状盘点与诊断</a:t>
            </a:r>
            <a:endParaRPr/>
          </a:p>
        </p:txBody>
      </p:sp>
      <p:sp>
        <p:nvSpPr>
          <p:cNvPr id="1485" name=""/>
          <p:cNvSpPr/>
          <p:nvPr/>
        </p:nvSpPr>
        <p:spPr>
          <a:xfrm rot="0" flipH="0" flipV="0">
            <a:off x="4762500" y="1266825"/>
            <a:ext cx="3400425" cy="400050"/>
          </a:xfrm>
          <a:prstGeom prst="roundRect">
            <a:avLst>
              <a:gd name="adj" fmla="val 7143"/>
            </a:avLst>
          </a:prstGeom>
          <a:solidFill>
            <a:srgbClr val="E0641E"/>
          </a:solidFill>
          <a:ln/>
        </p:spPr>
        <p:txBody>
          <a:bodyPr/>
          <a:p/>
        </p:txBody>
      </p:sp>
      <p:sp>
        <p:nvSpPr>
          <p:cNvPr id="1486" name="" descr="{&quot;isTemplate&quot;:true,&quot;type&quot;:&quot;text&quot;}"/>
          <p:cNvSpPr txBox="1"/>
          <p:nvPr/>
        </p:nvSpPr>
        <p:spPr>
          <a:xfrm rot="0" flipH="0" flipV="0">
            <a:off x="5476875" y="13811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第二阶段</a:t>
            </a:r>
            <a:endParaRPr/>
          </a:p>
        </p:txBody>
      </p:sp>
      <p:sp>
        <p:nvSpPr>
          <p:cNvPr id="1487" name=""/>
          <p:cNvSpPr/>
          <p:nvPr/>
        </p:nvSpPr>
        <p:spPr>
          <a:xfrm rot="0" flipH="0" flipV="0">
            <a:off x="6143625" y="1390650"/>
            <a:ext cx="9525" cy="152400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  <p:txBody>
          <a:bodyPr/>
          <a:p/>
        </p:txBody>
      </p:sp>
      <p:sp>
        <p:nvSpPr>
          <p:cNvPr id="1488" name="" descr="{&quot;isTemplate&quot;:true,&quot;type&quot;:&quot;text&quot;}"/>
          <p:cNvSpPr txBox="1"/>
          <p:nvPr/>
        </p:nvSpPr>
        <p:spPr>
          <a:xfrm rot="0" flipH="0" flipV="0">
            <a:off x="6248400" y="1390650"/>
            <a:ext cx="120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指标体系设计与治理</a:t>
            </a:r>
            <a:endParaRPr/>
          </a:p>
        </p:txBody>
      </p:sp>
      <p:sp>
        <p:nvSpPr>
          <p:cNvPr id="1489" name=""/>
          <p:cNvSpPr/>
          <p:nvPr/>
        </p:nvSpPr>
        <p:spPr>
          <a:xfrm rot="0" flipH="0" flipV="0">
            <a:off x="8191500" y="1266825"/>
            <a:ext cx="3390900" cy="400050"/>
          </a:xfrm>
          <a:prstGeom prst="roundRect">
            <a:avLst>
              <a:gd name="adj" fmla="val 7143"/>
            </a:avLst>
          </a:prstGeom>
          <a:solidFill>
            <a:srgbClr val="C43A17"/>
          </a:solidFill>
          <a:ln/>
        </p:spPr>
        <p:txBody>
          <a:bodyPr/>
          <a:p/>
        </p:txBody>
      </p:sp>
      <p:sp>
        <p:nvSpPr>
          <p:cNvPr id="1490" name="" descr="{&quot;isTemplate&quot;:true,&quot;type&quot;:&quot;text&quot;}"/>
          <p:cNvSpPr txBox="1"/>
          <p:nvPr/>
        </p:nvSpPr>
        <p:spPr>
          <a:xfrm rot="0" flipH="0" flipV="0">
            <a:off x="8839200" y="13811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第三阶段</a:t>
            </a:r>
            <a:endParaRPr/>
          </a:p>
        </p:txBody>
      </p:sp>
      <p:sp>
        <p:nvSpPr>
          <p:cNvPr id="1491" name=""/>
          <p:cNvSpPr/>
          <p:nvPr/>
        </p:nvSpPr>
        <p:spPr>
          <a:xfrm rot="0" flipH="0" flipV="0">
            <a:off x="9505950" y="1390650"/>
            <a:ext cx="9525" cy="152400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  <p:txBody>
          <a:bodyPr/>
          <a:p/>
        </p:txBody>
      </p:sp>
      <p:sp>
        <p:nvSpPr>
          <p:cNvPr id="1492" name="" descr="{&quot;isTemplate&quot;:true,&quot;type&quot;:&quot;text&quot;}"/>
          <p:cNvSpPr txBox="1"/>
          <p:nvPr/>
        </p:nvSpPr>
        <p:spPr>
          <a:xfrm rot="0" flipH="0" flipV="0">
            <a:off x="9610725" y="139065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场景化落地与持续运营</a:t>
            </a:r>
            <a:endParaRPr/>
          </a:p>
        </p:txBody>
      </p:sp>
      <p:sp>
        <p:nvSpPr>
          <p:cNvPr id="1493" name=""/>
          <p:cNvSpPr/>
          <p:nvPr/>
        </p:nvSpPr>
        <p:spPr>
          <a:xfrm rot="0" flipH="0" flipV="0">
            <a:off x="609600" y="1752600"/>
            <a:ext cx="552450" cy="3495675"/>
          </a:xfrm>
          <a:prstGeom prst="roundRect">
            <a:avLst>
              <a:gd name="adj" fmla="val 517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494" name="" descr="{&quot;isTemplate&quot;:true,&quot;type&quot;:&quot;text&quot;}"/>
          <p:cNvSpPr txBox="1"/>
          <p:nvPr/>
        </p:nvSpPr>
        <p:spPr>
          <a:xfrm rot="0" flipH="0" flipV="0">
            <a:off x="742950" y="312420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项目</a:t>
            </a:r>
            <a:endParaRPr/>
          </a:p>
        </p:txBody>
      </p:sp>
      <p:sp>
        <p:nvSpPr>
          <p:cNvPr id="1495" name="" descr="{&quot;isTemplate&quot;:true,&quot;type&quot;:&quot;text&quot;}"/>
          <p:cNvSpPr txBox="1"/>
          <p:nvPr/>
        </p:nvSpPr>
        <p:spPr>
          <a:xfrm rot="0" flipH="0" flipV="0">
            <a:off x="742950" y="333375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实施</a:t>
            </a:r>
            <a:endParaRPr/>
          </a:p>
        </p:txBody>
      </p:sp>
      <p:sp>
        <p:nvSpPr>
          <p:cNvPr id="1496" name="" descr="{&quot;isTemplate&quot;:true,&quot;type&quot;:&quot;text&quot;}"/>
          <p:cNvSpPr txBox="1"/>
          <p:nvPr/>
        </p:nvSpPr>
        <p:spPr>
          <a:xfrm rot="0" flipH="0" flipV="0">
            <a:off x="742950" y="354330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任务</a:t>
            </a:r>
            <a:endParaRPr/>
          </a:p>
        </p:txBody>
      </p:sp>
      <p:sp>
        <p:nvSpPr>
          <p:cNvPr id="1497" name="" descr="{&quot;isTemplate&quot;:true,&quot;type&quot;:&quot;text&quot;}"/>
          <p:cNvSpPr txBox="1"/>
          <p:nvPr/>
        </p:nvSpPr>
        <p:spPr>
          <a:xfrm rot="0" flipH="0" flipV="0">
            <a:off x="742950" y="375285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分解</a:t>
            </a:r>
            <a:endParaRPr/>
          </a:p>
        </p:txBody>
      </p:sp>
      <p:sp>
        <p:nvSpPr>
          <p:cNvPr id="1498" name=""/>
          <p:cNvSpPr/>
          <p:nvPr/>
        </p:nvSpPr>
        <p:spPr>
          <a:xfrm rot="0" flipH="0" flipV="0">
            <a:off x="1247775" y="1752600"/>
            <a:ext cx="2028825" cy="1104900"/>
          </a:xfrm>
          <a:prstGeom prst="roundRect">
            <a:avLst>
              <a:gd name="adj" fmla="val 2586"/>
            </a:avLst>
          </a:prstGeom>
          <a:solidFill>
            <a:srgbClr val="FFF3EE"/>
          </a:solidFill>
          <a:ln w="12700">
            <a:solidFill>
              <a:srgbClr val="FBA15C"/>
            </a:solidFill>
            <a:prstDash val="solid"/>
          </a:ln>
        </p:spPr>
        <p:txBody>
          <a:bodyPr/>
          <a:p/>
        </p:txBody>
      </p:sp>
      <p:sp>
        <p:nvSpPr>
          <p:cNvPr id="1499" name="" descr="{&quot;isTemplate&quot;:true,&quot;type&quot;:&quot;text&quot;}"/>
          <p:cNvSpPr txBox="1"/>
          <p:nvPr/>
        </p:nvSpPr>
        <p:spPr>
          <a:xfrm rot="0" flipH="0" flipV="0">
            <a:off x="1333500" y="2133600"/>
            <a:ext cx="1857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项目准备</a:t>
            </a:r>
            <a:endParaRPr/>
          </a:p>
        </p:txBody>
      </p:sp>
      <p:sp>
        <p:nvSpPr>
          <p:cNvPr id="1500" name="" descr="{&quot;isTemplate&quot;:true,&quot;type&quot;:&quot;text&quot;}"/>
          <p:cNvSpPr txBox="1"/>
          <p:nvPr/>
        </p:nvSpPr>
        <p:spPr>
          <a:xfrm rot="0" flipH="0" flipV="0">
            <a:off x="1333500" y="2324100"/>
            <a:ext cx="1857375" cy="161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产出：</a:t>
            </a: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指标治理章程</a:t>
            </a:r>
            <a:r>
              <a:rPr lang="en-US" sz="750">
                <a:solidFill>
                  <a:srgbClr val="C43A1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范围清单</a:t>
            </a:r>
            <a:endParaRPr/>
          </a:p>
        </p:txBody>
      </p:sp>
      <p:sp>
        <p:nvSpPr>
          <p:cNvPr id="1501" name=""/>
          <p:cNvSpPr/>
          <p:nvPr/>
        </p:nvSpPr>
        <p:spPr>
          <a:xfrm rot="0" flipH="0" flipV="0">
            <a:off x="3324225" y="1752600"/>
            <a:ext cx="2028825" cy="1104900"/>
          </a:xfrm>
          <a:prstGeom prst="roundRect">
            <a:avLst>
              <a:gd name="adj" fmla="val 2586"/>
            </a:avLst>
          </a:prstGeom>
          <a:solidFill>
            <a:srgbClr val="FFF3EE"/>
          </a:solidFill>
          <a:ln w="12700">
            <a:solidFill>
              <a:srgbClr val="FBA15C"/>
            </a:solidFill>
            <a:prstDash val="solid"/>
          </a:ln>
        </p:spPr>
        <p:txBody>
          <a:bodyPr/>
          <a:p/>
        </p:txBody>
      </p:sp>
      <p:sp>
        <p:nvSpPr>
          <p:cNvPr id="1502" name="" descr="{&quot;isTemplate&quot;:true,&quot;type&quot;:&quot;text&quot;}"/>
          <p:cNvSpPr txBox="1"/>
          <p:nvPr/>
        </p:nvSpPr>
        <p:spPr>
          <a:xfrm rot="0" flipH="0" flipV="0">
            <a:off x="3409950" y="2133600"/>
            <a:ext cx="1857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业务战略解读</a:t>
            </a:r>
            <a:endParaRPr/>
          </a:p>
        </p:txBody>
      </p:sp>
      <p:sp>
        <p:nvSpPr>
          <p:cNvPr id="1503" name="" descr="{&quot;isTemplate&quot;:true,&quot;type&quot;:&quot;text&quot;}"/>
          <p:cNvSpPr txBox="1"/>
          <p:nvPr/>
        </p:nvSpPr>
        <p:spPr>
          <a:xfrm rot="0" flipH="0" flipV="0">
            <a:off x="3409950" y="2324100"/>
            <a:ext cx="1857375" cy="161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产出：</a:t>
            </a: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战略解码</a:t>
            </a:r>
            <a:r>
              <a:rPr lang="en-US" sz="750">
                <a:solidFill>
                  <a:srgbClr val="C43A17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指标意图映射</a:t>
            </a:r>
            <a:endParaRPr/>
          </a:p>
        </p:txBody>
      </p:sp>
      <p:sp>
        <p:nvSpPr>
          <p:cNvPr id="1504" name=""/>
          <p:cNvSpPr/>
          <p:nvPr/>
        </p:nvSpPr>
        <p:spPr>
          <a:xfrm rot="0" flipH="0" flipV="0">
            <a:off x="5400675" y="1752600"/>
            <a:ext cx="2028825" cy="1104900"/>
          </a:xfrm>
          <a:prstGeom prst="roundRect">
            <a:avLst>
              <a:gd name="adj" fmla="val 2586"/>
            </a:avLst>
          </a:prstGeom>
          <a:solidFill>
            <a:srgbClr val="FFF3EE"/>
          </a:solidFill>
          <a:ln w="12700">
            <a:solidFill>
              <a:srgbClr val="FBA15C"/>
            </a:solidFill>
            <a:prstDash val="solid"/>
          </a:ln>
        </p:spPr>
        <p:txBody>
          <a:bodyPr/>
          <a:p/>
        </p:txBody>
      </p:sp>
      <p:sp>
        <p:nvSpPr>
          <p:cNvPr id="1505" name="" descr="{&quot;isTemplate&quot;:true,&quot;type&quot;:&quot;text&quot;}"/>
          <p:cNvSpPr txBox="1"/>
          <p:nvPr/>
        </p:nvSpPr>
        <p:spPr>
          <a:xfrm rot="0" flipH="0" flipV="0">
            <a:off x="5486400" y="2133600"/>
            <a:ext cx="1857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指标资产盘点</a:t>
            </a:r>
            <a:endParaRPr/>
          </a:p>
        </p:txBody>
      </p:sp>
      <p:sp>
        <p:nvSpPr>
          <p:cNvPr id="1506" name="" descr="{&quot;isTemplate&quot;:true,&quot;type&quot;:&quot;text&quot;}"/>
          <p:cNvSpPr txBox="1"/>
          <p:nvPr/>
        </p:nvSpPr>
        <p:spPr>
          <a:xfrm rot="0" flipH="0" flipV="0">
            <a:off x="5486400" y="2324100"/>
            <a:ext cx="1857375" cy="161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产出：</a:t>
            </a: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指标资产清单</a:t>
            </a:r>
            <a:r>
              <a:rPr lang="en-US" sz="750">
                <a:solidFill>
                  <a:srgbClr val="C43A1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分布热力图</a:t>
            </a:r>
            <a:endParaRPr/>
          </a:p>
        </p:txBody>
      </p:sp>
      <p:sp>
        <p:nvSpPr>
          <p:cNvPr id="1507" name=""/>
          <p:cNvSpPr/>
          <p:nvPr/>
        </p:nvSpPr>
        <p:spPr>
          <a:xfrm rot="0" flipH="0" flipV="0">
            <a:off x="7477125" y="1752600"/>
            <a:ext cx="2028825" cy="1104900"/>
          </a:xfrm>
          <a:prstGeom prst="roundRect">
            <a:avLst>
              <a:gd name="adj" fmla="val 2586"/>
            </a:avLst>
          </a:prstGeom>
          <a:solidFill>
            <a:srgbClr val="FFF3EE"/>
          </a:solidFill>
          <a:ln w="12700">
            <a:solidFill>
              <a:srgbClr val="FBA15C"/>
            </a:solidFill>
            <a:prstDash val="solid"/>
          </a:ln>
        </p:spPr>
        <p:txBody>
          <a:bodyPr/>
          <a:p/>
        </p:txBody>
      </p:sp>
      <p:sp>
        <p:nvSpPr>
          <p:cNvPr id="1508" name="" descr="{&quot;isTemplate&quot;:true,&quot;type&quot;:&quot;text&quot;}"/>
          <p:cNvSpPr txBox="1"/>
          <p:nvPr/>
        </p:nvSpPr>
        <p:spPr>
          <a:xfrm rot="0" flipH="0" flipV="0">
            <a:off x="7562850" y="2133600"/>
            <a:ext cx="1857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口径冲突扫描</a:t>
            </a:r>
            <a:endParaRPr/>
          </a:p>
        </p:txBody>
      </p:sp>
      <p:sp>
        <p:nvSpPr>
          <p:cNvPr id="1509" name="" descr="{&quot;isTemplate&quot;:true,&quot;type&quot;:&quot;text&quot;}"/>
          <p:cNvSpPr txBox="1"/>
          <p:nvPr/>
        </p:nvSpPr>
        <p:spPr>
          <a:xfrm rot="0" flipH="0" flipV="0">
            <a:off x="7562850" y="2324100"/>
            <a:ext cx="1857375" cy="161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产出：</a:t>
            </a: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口径冲突台账（同名</a:t>
            </a:r>
            <a:r>
              <a:rPr lang="en-US" sz="750">
                <a:solidFill>
                  <a:srgbClr val="C43A17"/>
                </a:solidFill>
                <a:latin typeface="Microsoft YaHei"/>
                <a:ea typeface="Microsoft YaHei"/>
              </a:rPr>
              <a:t>/</a:t>
            </a: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同义优先）</a:t>
            </a:r>
            <a:endParaRPr/>
          </a:p>
        </p:txBody>
      </p:sp>
      <p:sp>
        <p:nvSpPr>
          <p:cNvPr id="1510" name=""/>
          <p:cNvSpPr/>
          <p:nvPr/>
        </p:nvSpPr>
        <p:spPr>
          <a:xfrm rot="0" flipH="0" flipV="0">
            <a:off x="9553575" y="1752600"/>
            <a:ext cx="2028825" cy="1104900"/>
          </a:xfrm>
          <a:prstGeom prst="roundRect">
            <a:avLst>
              <a:gd name="adj" fmla="val 2586"/>
            </a:avLst>
          </a:prstGeom>
          <a:solidFill>
            <a:srgbClr val="FFF3EE"/>
          </a:solidFill>
          <a:ln w="12700">
            <a:solidFill>
              <a:srgbClr val="FBA15C"/>
            </a:solidFill>
            <a:prstDash val="solid"/>
          </a:ln>
        </p:spPr>
        <p:txBody>
          <a:bodyPr/>
          <a:p/>
        </p:txBody>
      </p:sp>
      <p:sp>
        <p:nvSpPr>
          <p:cNvPr id="1511" name="" descr="{&quot;isTemplate&quot;:true,&quot;type&quot;:&quot;text&quot;}"/>
          <p:cNvSpPr txBox="1"/>
          <p:nvPr/>
        </p:nvSpPr>
        <p:spPr>
          <a:xfrm rot="0" flipH="0" flipV="0">
            <a:off x="9639300" y="2133600"/>
            <a:ext cx="1857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可信度诊断</a:t>
            </a:r>
            <a:endParaRPr/>
          </a:p>
        </p:txBody>
      </p:sp>
      <p:sp>
        <p:nvSpPr>
          <p:cNvPr id="1512" name="" descr="{&quot;isTemplate&quot;:true,&quot;type&quot;:&quot;text&quot;}"/>
          <p:cNvSpPr txBox="1"/>
          <p:nvPr/>
        </p:nvSpPr>
        <p:spPr>
          <a:xfrm rot="0" flipH="0" flipV="0">
            <a:off x="9639300" y="2324100"/>
            <a:ext cx="1857375" cy="161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产出：</a:t>
            </a: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指标可信度诊断报告</a:t>
            </a:r>
            <a:r>
              <a:rPr lang="en-US" sz="750">
                <a:solidFill>
                  <a:srgbClr val="C43A1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分级结论</a:t>
            </a:r>
            <a:endParaRPr/>
          </a:p>
        </p:txBody>
      </p:sp>
      <p:sp>
        <p:nvSpPr>
          <p:cNvPr id="1513" name=""/>
          <p:cNvSpPr/>
          <p:nvPr/>
        </p:nvSpPr>
        <p:spPr>
          <a:xfrm rot="0" flipH="0" flipV="0">
            <a:off x="1247775" y="2943225"/>
            <a:ext cx="2552700" cy="1114425"/>
          </a:xfrm>
          <a:prstGeom prst="roundRect">
            <a:avLst>
              <a:gd name="adj" fmla="val 2564"/>
            </a:avLst>
          </a:prstGeom>
          <a:solidFill>
            <a:srgbClr val="FFF3EE"/>
          </a:solidFill>
          <a:ln w="12700">
            <a:solidFill>
              <a:srgbClr val="F87D2F"/>
            </a:solidFill>
            <a:prstDash val="solid"/>
          </a:ln>
        </p:spPr>
        <p:txBody>
          <a:bodyPr/>
          <a:p/>
        </p:txBody>
      </p:sp>
      <p:sp>
        <p:nvSpPr>
          <p:cNvPr id="1514" name="" descr="{&quot;isTemplate&quot;:true,&quot;type&quot;:&quot;text&quot;}"/>
          <p:cNvSpPr txBox="1"/>
          <p:nvPr/>
        </p:nvSpPr>
        <p:spPr>
          <a:xfrm rot="0" flipH="0" flipV="0">
            <a:off x="1333500" y="3324225"/>
            <a:ext cx="2381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指标字典与五元组规范</a:t>
            </a:r>
            <a:endParaRPr/>
          </a:p>
        </p:txBody>
      </p:sp>
      <p:sp>
        <p:nvSpPr>
          <p:cNvPr id="1515" name="" descr="{&quot;isTemplate&quot;:true,&quot;type&quot;:&quot;text&quot;}"/>
          <p:cNvSpPr txBox="1"/>
          <p:nvPr/>
        </p:nvSpPr>
        <p:spPr>
          <a:xfrm rot="0" flipH="0" flipV="0">
            <a:off x="1333500" y="3514725"/>
            <a:ext cx="2381250" cy="161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产出：</a:t>
            </a: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指标字典模板</a:t>
            </a:r>
            <a:r>
              <a:rPr lang="en-US" sz="750">
                <a:solidFill>
                  <a:srgbClr val="C43A1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五元组规范</a:t>
            </a:r>
            <a:endParaRPr/>
          </a:p>
        </p:txBody>
      </p:sp>
      <p:sp>
        <p:nvSpPr>
          <p:cNvPr id="1516" name=""/>
          <p:cNvSpPr/>
          <p:nvPr/>
        </p:nvSpPr>
        <p:spPr>
          <a:xfrm rot="0" flipH="0" flipV="0">
            <a:off x="3848100" y="2943225"/>
            <a:ext cx="2543175" cy="1114425"/>
          </a:xfrm>
          <a:prstGeom prst="roundRect">
            <a:avLst>
              <a:gd name="adj" fmla="val 2564"/>
            </a:avLst>
          </a:prstGeom>
          <a:solidFill>
            <a:srgbClr val="FFF3EE"/>
          </a:solidFill>
          <a:ln w="12700">
            <a:solidFill>
              <a:srgbClr val="F87D2F"/>
            </a:solidFill>
            <a:prstDash val="solid"/>
          </a:ln>
        </p:spPr>
        <p:txBody>
          <a:bodyPr/>
          <a:p/>
        </p:txBody>
      </p:sp>
      <p:sp>
        <p:nvSpPr>
          <p:cNvPr id="1517" name="" descr="{&quot;isTemplate&quot;:true,&quot;type&quot;:&quot;text&quot;}"/>
          <p:cNvSpPr txBox="1"/>
          <p:nvPr/>
        </p:nvSpPr>
        <p:spPr>
          <a:xfrm rot="0" flipH="0" flipV="0">
            <a:off x="3933825" y="3324225"/>
            <a:ext cx="2371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原子</a:t>
            </a:r>
            <a:r>
              <a:rPr lang="en-US" sz="9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派生</a:t>
            </a:r>
            <a:r>
              <a:rPr lang="en-US" sz="9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复合分解</a:t>
            </a:r>
            <a:endParaRPr/>
          </a:p>
        </p:txBody>
      </p:sp>
      <p:sp>
        <p:nvSpPr>
          <p:cNvPr id="1518" name="" descr="{&quot;isTemplate&quot;:true,&quot;type&quot;:&quot;text&quot;}"/>
          <p:cNvSpPr txBox="1"/>
          <p:nvPr/>
        </p:nvSpPr>
        <p:spPr>
          <a:xfrm rot="0" flipH="0" flipV="0">
            <a:off x="3933825" y="3514725"/>
            <a:ext cx="2371725" cy="161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产出：</a:t>
            </a: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三层指标分解图</a:t>
            </a:r>
            <a:r>
              <a:rPr lang="en-US" sz="750">
                <a:solidFill>
                  <a:srgbClr val="C43A1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依赖</a:t>
            </a:r>
            <a:r>
              <a:rPr lang="en-US" sz="750">
                <a:solidFill>
                  <a:srgbClr val="C43A17"/>
                </a:solidFill>
                <a:latin typeface="Microsoft YaHei"/>
                <a:ea typeface="Microsoft YaHei"/>
              </a:rPr>
              <a:t xml:space="preserve"> DAG</a:t>
            </a:r>
            <a:endParaRPr/>
          </a:p>
        </p:txBody>
      </p:sp>
      <p:sp>
        <p:nvSpPr>
          <p:cNvPr id="1519" name=""/>
          <p:cNvSpPr/>
          <p:nvPr/>
        </p:nvSpPr>
        <p:spPr>
          <a:xfrm rot="0" flipH="0" flipV="0">
            <a:off x="6438900" y="2943225"/>
            <a:ext cx="2552700" cy="1114425"/>
          </a:xfrm>
          <a:prstGeom prst="roundRect">
            <a:avLst>
              <a:gd name="adj" fmla="val 2564"/>
            </a:avLst>
          </a:prstGeom>
          <a:solidFill>
            <a:srgbClr val="FFF3EE"/>
          </a:solidFill>
          <a:ln w="12700">
            <a:solidFill>
              <a:srgbClr val="F87D2F"/>
            </a:solidFill>
            <a:prstDash val="solid"/>
          </a:ln>
        </p:spPr>
        <p:txBody>
          <a:bodyPr/>
          <a:p/>
        </p:txBody>
      </p:sp>
      <p:sp>
        <p:nvSpPr>
          <p:cNvPr id="1520" name="" descr="{&quot;isTemplate&quot;:true,&quot;type&quot;:&quot;text&quot;}"/>
          <p:cNvSpPr txBox="1"/>
          <p:nvPr/>
        </p:nvSpPr>
        <p:spPr>
          <a:xfrm rot="0" flipH="0" flipV="0">
            <a:off x="6524625" y="3324225"/>
            <a:ext cx="2381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口径唯一性裁定</a:t>
            </a:r>
            <a:endParaRPr/>
          </a:p>
        </p:txBody>
      </p:sp>
      <p:sp>
        <p:nvSpPr>
          <p:cNvPr id="1521" name="" descr="{&quot;isTemplate&quot;:true,&quot;type&quot;:&quot;text&quot;}"/>
          <p:cNvSpPr txBox="1"/>
          <p:nvPr/>
        </p:nvSpPr>
        <p:spPr>
          <a:xfrm rot="0" flipH="0" flipV="0">
            <a:off x="6524625" y="3514725"/>
            <a:ext cx="2381250" cy="161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产出：</a:t>
            </a: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唯一口径裁定表</a:t>
            </a:r>
            <a:r>
              <a:rPr lang="en-US" sz="750">
                <a:solidFill>
                  <a:srgbClr val="C43A1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映射与废止清单</a:t>
            </a:r>
            <a:endParaRPr/>
          </a:p>
        </p:txBody>
      </p:sp>
      <p:sp>
        <p:nvSpPr>
          <p:cNvPr id="1522" name=""/>
          <p:cNvSpPr/>
          <p:nvPr/>
        </p:nvSpPr>
        <p:spPr>
          <a:xfrm rot="0" flipH="0" flipV="0">
            <a:off x="9039225" y="2943225"/>
            <a:ext cx="2543175" cy="1114425"/>
          </a:xfrm>
          <a:prstGeom prst="roundRect">
            <a:avLst>
              <a:gd name="adj" fmla="val 2564"/>
            </a:avLst>
          </a:prstGeom>
          <a:solidFill>
            <a:srgbClr val="FFF3EE"/>
          </a:solidFill>
          <a:ln w="12700">
            <a:solidFill>
              <a:srgbClr val="F87D2F"/>
            </a:solidFill>
            <a:prstDash val="solid"/>
          </a:ln>
        </p:spPr>
        <p:txBody>
          <a:bodyPr/>
          <a:p/>
        </p:txBody>
      </p:sp>
      <p:sp>
        <p:nvSpPr>
          <p:cNvPr id="1523" name="" descr="{&quot;isTemplate&quot;:true,&quot;type&quot;:&quot;text&quot;}"/>
          <p:cNvSpPr txBox="1"/>
          <p:nvPr/>
        </p:nvSpPr>
        <p:spPr>
          <a:xfrm rot="0" flipH="0" flipV="0">
            <a:off x="9124950" y="3324225"/>
            <a:ext cx="2371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权限与版本设计</a:t>
            </a:r>
            <a:endParaRPr/>
          </a:p>
        </p:txBody>
      </p:sp>
      <p:sp>
        <p:nvSpPr>
          <p:cNvPr id="1524" name="" descr="{&quot;isTemplate&quot;:true,&quot;type&quot;:&quot;text&quot;}"/>
          <p:cNvSpPr txBox="1"/>
          <p:nvPr/>
        </p:nvSpPr>
        <p:spPr>
          <a:xfrm rot="0" flipH="0" flipV="0">
            <a:off x="9124950" y="3514725"/>
            <a:ext cx="2371725" cy="161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产出：</a:t>
            </a: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口径权限矩阵</a:t>
            </a:r>
            <a:r>
              <a:rPr lang="en-US" sz="750">
                <a:solidFill>
                  <a:srgbClr val="C43A1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版本与回滚方案</a:t>
            </a:r>
            <a:endParaRPr/>
          </a:p>
        </p:txBody>
      </p:sp>
      <p:sp>
        <p:nvSpPr>
          <p:cNvPr id="1525" name=""/>
          <p:cNvSpPr/>
          <p:nvPr/>
        </p:nvSpPr>
        <p:spPr>
          <a:xfrm rot="0" flipH="0" flipV="0">
            <a:off x="1247775" y="4143375"/>
            <a:ext cx="2028825" cy="1104900"/>
          </a:xfrm>
          <a:prstGeom prst="roundRect">
            <a:avLst>
              <a:gd name="adj" fmla="val 2586"/>
            </a:avLst>
          </a:prstGeom>
          <a:solidFill>
            <a:srgbClr val="FFF3EE"/>
          </a:solidFill>
          <a:ln w="12700">
            <a:solidFill>
              <a:srgbClr val="C43A17"/>
            </a:solidFill>
            <a:prstDash val="solid"/>
          </a:ln>
        </p:spPr>
        <p:txBody>
          <a:bodyPr/>
          <a:p/>
        </p:txBody>
      </p:sp>
      <p:sp>
        <p:nvSpPr>
          <p:cNvPr id="1526" name="" descr="{&quot;isTemplate&quot;:true,&quot;type&quot;:&quot;text&quot;}"/>
          <p:cNvSpPr txBox="1"/>
          <p:nvPr/>
        </p:nvSpPr>
        <p:spPr>
          <a:xfrm rot="0" flipH="0" flipV="0">
            <a:off x="1333500" y="4524375"/>
            <a:ext cx="1857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问数场景清单</a:t>
            </a:r>
            <a:endParaRPr/>
          </a:p>
        </p:txBody>
      </p:sp>
      <p:sp>
        <p:nvSpPr>
          <p:cNvPr id="1527" name="" descr="{&quot;isTemplate&quot;:true,&quot;type&quot;:&quot;text&quot;}"/>
          <p:cNvSpPr txBox="1"/>
          <p:nvPr/>
        </p:nvSpPr>
        <p:spPr>
          <a:xfrm rot="0" flipH="0" flipV="0">
            <a:off x="1333500" y="4714875"/>
            <a:ext cx="1857375" cy="161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产出：</a:t>
            </a: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高频问数场景清单</a:t>
            </a:r>
            <a:r>
              <a:rPr lang="en-US" sz="750">
                <a:solidFill>
                  <a:srgbClr val="C43A1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优先级</a:t>
            </a:r>
            <a:endParaRPr/>
          </a:p>
        </p:txBody>
      </p:sp>
      <p:sp>
        <p:nvSpPr>
          <p:cNvPr id="1528" name=""/>
          <p:cNvSpPr/>
          <p:nvPr/>
        </p:nvSpPr>
        <p:spPr>
          <a:xfrm rot="0" flipH="0" flipV="0">
            <a:off x="3324225" y="4143375"/>
            <a:ext cx="2028825" cy="1104900"/>
          </a:xfrm>
          <a:prstGeom prst="roundRect">
            <a:avLst>
              <a:gd name="adj" fmla="val 2586"/>
            </a:avLst>
          </a:prstGeom>
          <a:solidFill>
            <a:srgbClr val="FFF3EE"/>
          </a:solidFill>
          <a:ln w="12700">
            <a:solidFill>
              <a:srgbClr val="C43A17"/>
            </a:solidFill>
            <a:prstDash val="solid"/>
          </a:ln>
        </p:spPr>
        <p:txBody>
          <a:bodyPr/>
          <a:p/>
        </p:txBody>
      </p:sp>
      <p:sp>
        <p:nvSpPr>
          <p:cNvPr id="1529" name="" descr="{&quot;isTemplate&quot;:true,&quot;type&quot;:&quot;text&quot;}"/>
          <p:cNvSpPr txBox="1"/>
          <p:nvPr/>
        </p:nvSpPr>
        <p:spPr>
          <a:xfrm rot="0" flipH="0" flipV="0">
            <a:off x="3409950" y="4524375"/>
            <a:ext cx="1857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场景化指标集</a:t>
            </a:r>
            <a:endParaRPr/>
          </a:p>
        </p:txBody>
      </p:sp>
      <p:sp>
        <p:nvSpPr>
          <p:cNvPr id="1530" name="" descr="{&quot;isTemplate&quot;:true,&quot;type&quot;:&quot;text&quot;}"/>
          <p:cNvSpPr txBox="1"/>
          <p:nvPr/>
        </p:nvSpPr>
        <p:spPr>
          <a:xfrm rot="0" flipH="0" flipV="0">
            <a:off x="3409950" y="4714875"/>
            <a:ext cx="1857375" cy="161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产出：</a:t>
            </a: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每场景最小可用指标集</a:t>
            </a:r>
            <a:endParaRPr/>
          </a:p>
        </p:txBody>
      </p:sp>
      <p:sp>
        <p:nvSpPr>
          <p:cNvPr id="1531" name=""/>
          <p:cNvSpPr/>
          <p:nvPr/>
        </p:nvSpPr>
        <p:spPr>
          <a:xfrm rot="0" flipH="0" flipV="0">
            <a:off x="5400675" y="4143375"/>
            <a:ext cx="2028825" cy="1104900"/>
          </a:xfrm>
          <a:prstGeom prst="roundRect">
            <a:avLst>
              <a:gd name="adj" fmla="val 2586"/>
            </a:avLst>
          </a:prstGeom>
          <a:solidFill>
            <a:srgbClr val="FFF3EE"/>
          </a:solidFill>
          <a:ln w="12700">
            <a:solidFill>
              <a:srgbClr val="C43A17"/>
            </a:solidFill>
            <a:prstDash val="solid"/>
          </a:ln>
        </p:spPr>
        <p:txBody>
          <a:bodyPr/>
          <a:p/>
        </p:txBody>
      </p:sp>
      <p:sp>
        <p:nvSpPr>
          <p:cNvPr id="1532" name="" descr="{&quot;isTemplate&quot;:true,&quot;type&quot;:&quot;text&quot;}"/>
          <p:cNvSpPr txBox="1"/>
          <p:nvPr/>
        </p:nvSpPr>
        <p:spPr>
          <a:xfrm rot="0" flipH="0" flipV="0">
            <a:off x="5486400" y="4524375"/>
            <a:ext cx="1857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静默失效检出</a:t>
            </a:r>
            <a:endParaRPr/>
          </a:p>
        </p:txBody>
      </p:sp>
      <p:sp>
        <p:nvSpPr>
          <p:cNvPr id="1533" name="" descr="{&quot;isTemplate&quot;:true,&quot;type&quot;:&quot;text&quot;}"/>
          <p:cNvSpPr txBox="1"/>
          <p:nvPr/>
        </p:nvSpPr>
        <p:spPr>
          <a:xfrm rot="0" flipH="0" flipV="0">
            <a:off x="5486400" y="4714875"/>
            <a:ext cx="1857375" cy="161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产出：</a:t>
            </a: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口径漂移检测规则</a:t>
            </a:r>
            <a:r>
              <a:rPr lang="en-US" sz="750">
                <a:solidFill>
                  <a:srgbClr val="C43A1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告警矩阵</a:t>
            </a:r>
            <a:endParaRPr/>
          </a:p>
        </p:txBody>
      </p:sp>
      <p:sp>
        <p:nvSpPr>
          <p:cNvPr id="1534" name=""/>
          <p:cNvSpPr/>
          <p:nvPr/>
        </p:nvSpPr>
        <p:spPr>
          <a:xfrm rot="0" flipH="0" flipV="0">
            <a:off x="7477125" y="4143375"/>
            <a:ext cx="2028825" cy="1104900"/>
          </a:xfrm>
          <a:prstGeom prst="roundRect">
            <a:avLst>
              <a:gd name="adj" fmla="val 2586"/>
            </a:avLst>
          </a:prstGeom>
          <a:solidFill>
            <a:srgbClr val="FFF3EE"/>
          </a:solidFill>
          <a:ln w="12700">
            <a:solidFill>
              <a:srgbClr val="C43A17"/>
            </a:solidFill>
            <a:prstDash val="solid"/>
          </a:ln>
        </p:spPr>
        <p:txBody>
          <a:bodyPr/>
          <a:p/>
        </p:txBody>
      </p:sp>
      <p:sp>
        <p:nvSpPr>
          <p:cNvPr id="1535" name="" descr="{&quot;isTemplate&quot;:true,&quot;type&quot;:&quot;text&quot;}"/>
          <p:cNvSpPr txBox="1"/>
          <p:nvPr/>
        </p:nvSpPr>
        <p:spPr>
          <a:xfrm rot="0" flipH="0" flipV="0">
            <a:off x="7562850" y="4524375"/>
            <a:ext cx="1857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指标健康看板</a:t>
            </a:r>
            <a:endParaRPr/>
          </a:p>
        </p:txBody>
      </p:sp>
      <p:sp>
        <p:nvSpPr>
          <p:cNvPr id="1536" name="" descr="{&quot;isTemplate&quot;:true,&quot;type&quot;:&quot;text&quot;}"/>
          <p:cNvSpPr txBox="1"/>
          <p:nvPr/>
        </p:nvSpPr>
        <p:spPr>
          <a:xfrm rot="0" flipH="0" flipV="0">
            <a:off x="7562850" y="4714875"/>
            <a:ext cx="1857375" cy="161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产出：</a:t>
            </a: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指标健康度看板</a:t>
            </a:r>
            <a:r>
              <a:rPr lang="en-US" sz="750">
                <a:solidFill>
                  <a:srgbClr val="C43A1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责任到人</a:t>
            </a:r>
            <a:endParaRPr/>
          </a:p>
        </p:txBody>
      </p:sp>
      <p:sp>
        <p:nvSpPr>
          <p:cNvPr id="1537" name=""/>
          <p:cNvSpPr/>
          <p:nvPr/>
        </p:nvSpPr>
        <p:spPr>
          <a:xfrm rot="0" flipH="0" flipV="0">
            <a:off x="9553575" y="4143375"/>
            <a:ext cx="2028825" cy="1104900"/>
          </a:xfrm>
          <a:prstGeom prst="roundRect">
            <a:avLst>
              <a:gd name="adj" fmla="val 2586"/>
            </a:avLst>
          </a:prstGeom>
          <a:solidFill>
            <a:srgbClr val="FFF3EE"/>
          </a:solidFill>
          <a:ln w="12700">
            <a:solidFill>
              <a:srgbClr val="C43A17"/>
            </a:solidFill>
            <a:prstDash val="solid"/>
          </a:ln>
        </p:spPr>
        <p:txBody>
          <a:bodyPr/>
          <a:p/>
        </p:txBody>
      </p:sp>
      <p:sp>
        <p:nvSpPr>
          <p:cNvPr id="1538" name="" descr="{&quot;isTemplate&quot;:true,&quot;type&quot;:&quot;text&quot;}"/>
          <p:cNvSpPr txBox="1"/>
          <p:nvPr/>
        </p:nvSpPr>
        <p:spPr>
          <a:xfrm rot="0" flipH="0" flipV="0">
            <a:off x="9639300" y="4524375"/>
            <a:ext cx="1857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演进路线图</a:t>
            </a:r>
            <a:endParaRPr/>
          </a:p>
        </p:txBody>
      </p:sp>
      <p:sp>
        <p:nvSpPr>
          <p:cNvPr id="1539" name="" descr="{&quot;isTemplate&quot;:true,&quot;type&quot;:&quot;text&quot;}"/>
          <p:cNvSpPr txBox="1"/>
          <p:nvPr/>
        </p:nvSpPr>
        <p:spPr>
          <a:xfrm rot="0" flipH="0" flipV="0">
            <a:off x="9639300" y="4714875"/>
            <a:ext cx="1857375" cy="161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产出：</a:t>
            </a: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分季演进路线图</a:t>
            </a:r>
            <a:r>
              <a:rPr lang="en-US" sz="750">
                <a:solidFill>
                  <a:srgbClr val="C43A1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C43A17"/>
                </a:solidFill>
                <a:latin typeface="Microsoft YaHei"/>
                <a:ea typeface="Microsoft YaHei"/>
              </a:rPr>
              <a:t>退役计划</a:t>
            </a:r>
            <a:endParaRPr/>
          </a:p>
        </p:txBody>
      </p:sp>
      <p:sp>
        <p:nvSpPr>
          <p:cNvPr id="1540" name=""/>
          <p:cNvSpPr/>
          <p:nvPr/>
        </p:nvSpPr>
        <p:spPr>
          <a:xfrm rot="0" flipH="0" flipV="0">
            <a:off x="647700" y="5334000"/>
            <a:ext cx="5448300" cy="304800"/>
          </a:xfrm>
          <a:prstGeom prst="roundRect">
            <a:avLst>
              <a:gd name="adj" fmla="val 937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41" name=""/>
          <p:cNvSpPr/>
          <p:nvPr/>
        </p:nvSpPr>
        <p:spPr>
          <a:xfrm rot="0" flipH="0" flipV="0">
            <a:off x="647700" y="5334000"/>
            <a:ext cx="5448300" cy="304800"/>
          </a:xfrm>
          <a:custGeom>
            <a:pathLst>
              <a:path w="572" h="32">
                <a:moveTo>
                  <a:pt x="4" y="32"/>
                </a:moveTo>
                <a:cubicBezTo>
                  <a:pt x="3" y="32"/>
                  <a:pt x="2" y="32"/>
                  <a:pt x="1" y="31"/>
                </a:cubicBezTo>
                <a:cubicBezTo>
                  <a:pt x="0" y="30"/>
                  <a:pt x="0" y="30"/>
                  <a:pt x="0" y="2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42" name="" descr="{&quot;isTemplate&quot;:true,&quot;type&quot;:&quot;text&quot;}"/>
          <p:cNvSpPr txBox="1"/>
          <p:nvPr/>
        </p:nvSpPr>
        <p:spPr>
          <a:xfrm rot="0" flipH="0" flipV="0">
            <a:off x="781050" y="5419725"/>
            <a:ext cx="781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口径治理</a:t>
            </a:r>
            <a:endParaRPr/>
          </a:p>
        </p:txBody>
      </p:sp>
      <p:sp>
        <p:nvSpPr>
          <p:cNvPr id="1543" name="" descr="{&quot;isTemplate&quot;:true,&quot;type&quot;:&quot;text&quot;}"/>
          <p:cNvSpPr txBox="1"/>
          <p:nvPr/>
        </p:nvSpPr>
        <p:spPr>
          <a:xfrm rot="0" flipH="0" flipV="0">
            <a:off x="1562100" y="5419725"/>
            <a:ext cx="4362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贯穿三阶段：每个指标从被提出到被废止，口径全程有人负责、有唯一解释、有变更留痕</a:t>
            </a:r>
            <a:endParaRPr/>
          </a:p>
        </p:txBody>
      </p:sp>
      <p:sp>
        <p:nvSpPr>
          <p:cNvPr id="1544" name=""/>
          <p:cNvSpPr/>
          <p:nvPr/>
        </p:nvSpPr>
        <p:spPr>
          <a:xfrm rot="0" flipH="0" flipV="0">
            <a:off x="6181725" y="5334000"/>
            <a:ext cx="5438775" cy="304800"/>
          </a:xfrm>
          <a:prstGeom prst="roundRect">
            <a:avLst>
              <a:gd name="adj" fmla="val 937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45" name=""/>
          <p:cNvSpPr/>
          <p:nvPr/>
        </p:nvSpPr>
        <p:spPr>
          <a:xfrm rot="0" flipH="0" flipV="0">
            <a:off x="6181725" y="5334000"/>
            <a:ext cx="5438775" cy="304800"/>
          </a:xfrm>
          <a:custGeom>
            <a:pathLst>
              <a:path w="571" h="32">
                <a:moveTo>
                  <a:pt x="4" y="32"/>
                </a:moveTo>
                <a:cubicBezTo>
                  <a:pt x="3" y="32"/>
                  <a:pt x="2" y="32"/>
                  <a:pt x="1" y="31"/>
                </a:cubicBezTo>
                <a:cubicBezTo>
                  <a:pt x="0" y="30"/>
                  <a:pt x="0" y="30"/>
                  <a:pt x="0" y="2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1546" name="" descr="{&quot;isTemplate&quot;:true,&quot;type&quot;:&quot;text&quot;}"/>
          <p:cNvSpPr txBox="1"/>
          <p:nvPr/>
        </p:nvSpPr>
        <p:spPr>
          <a:xfrm rot="0" flipH="0" flipV="0">
            <a:off x="6315075" y="5419725"/>
            <a:ext cx="781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变更管理</a:t>
            </a:r>
            <a:endParaRPr/>
          </a:p>
        </p:txBody>
      </p:sp>
      <p:sp>
        <p:nvSpPr>
          <p:cNvPr id="1547" name="" descr="{&quot;isTemplate&quot;:true,&quot;type&quot;:&quot;text&quot;}"/>
          <p:cNvSpPr txBox="1"/>
          <p:nvPr/>
        </p:nvSpPr>
        <p:spPr>
          <a:xfrm rot="0" flipH="0" flipV="0">
            <a:off x="7096125" y="5419725"/>
            <a:ext cx="43529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5A6070"/>
                </a:solidFill>
                <a:latin typeface="Microsoft YaHei"/>
                <a:ea typeface="Microsoft YaHei"/>
              </a:rPr>
              <a:t>贯穿三阶段：口径变更按数据治理的提案流程走，附影响面清单与回滚预案，不允许脚本直连</a:t>
            </a:r>
            <a:endParaRPr/>
          </a:p>
        </p:txBody>
      </p:sp>
      <p:sp>
        <p:nvSpPr>
          <p:cNvPr id="1548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549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50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指标体系咨询方法论</a:t>
            </a:r>
            <a:endParaRPr/>
          </a:p>
        </p:txBody>
      </p:sp>
      <p:sp>
        <p:nvSpPr>
          <p:cNvPr id="1551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04 / 30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552" name="" descr="&lt;Slide style={{ width: 1280, height: 720, background: '#0F1423' }}&gt;&#13;&#10;  &lt;Box style={{ position: 'absolute', left: 0, top: 0, width: 1280, height: 720, background: 'linear-gradient(135deg, #0F1423 0%, #2A1810 100%)' }} /&gt;&#13;&#10;  &lt;Box style={{ position: 'absolute', right: 0, top: 0, width: 560, height: 720, background: 'linear-gradient(200deg, rgba(250,79,36,0.28) 0%, rgba(250,79,36,0) 70%)' }} /&gt;&#13;&#10;&#13;&#10;  &lt;Box style={{ position: 'absolute', right: 70, top: 110 }}&gt;&#13;&#10;    &lt;Text style={{ fontSize: 300, fontWeight: 'bold', color: 'rgba(255,255,255,0.08)', lineHeight: 1.0 }}&gt;01&lt;/Text&gt;&#13;&#10;  &lt;/Box&gt;&#13;&#10;&#13;&#10;  &lt;Box style={{ position: 'absolute', left: 88, top: 232, width: 760, flexDirection: 'column' }}&gt;&#13;&#10;    &lt;Text style={{ fontSize: 15, color: 'rgba(255,255,255,0.5)', letterSpacing: 3 }}&gt;PART 01&lt;/Text&gt;&#13;&#10;    &lt;Box style={{ width: 72, height: 5, background: '#FA4F24', marginTop: 22 }} /&gt;&#13;&#10;    &lt;Text style={{ fontSize: 52, fontWeight: 'bold', color: '#FFFFFF', marginTop: 28, lineHeight: 1.15 }}&gt;指标本体论&lt;/Text&gt;&#13;&#10;    &lt;Text style={{ fontSize: 17, color: 'rgba(255,255,255,0.62)', letterSpacing: 2, marginTop: 20 }}&gt;WHAT A METRIC REALLY IS&lt;/Text&gt;&#13;&#10;    &lt;Text style={{ fontSize: 19, color: 'rgba(255,255,255,0.85)', marginTop: 26, lineHeight: 1.6 }}&gt;指标不是一个报表，是对象上的一个派生属性&lt;/Text&gt;&#13;&#10;    &lt;Text style={{ fontSize: 14.5, color: 'rgba(255,255,255,0.55)', marginTop: 16, lineHeight: 1.55, width: 720 }}&gt;这一部分回答：为什么 Palantir 官方文档里找不到指标模块；派生属性的三种算法与两种定义位置；十个聚合类型各自的能力边界；以及一个指标的最小单位到底是什么。&lt;/Text&gt;&#13;&#10;  &lt;/Box&gt;&#13;&#10;&#13;&#10;  &lt;Box style={{ position: 'absolute', right: 88, bottom: 64, flexDirection: 'row', alignItems: 'center', gap: 12 }}&gt;&#13;&#10;    &lt;Box style={{ width: 14, height: 14, background: '#FA4F24' }} /&gt;&#13;&#10;    &lt;Text style={{ fontSize: 14, color: 'rgba(255,255,255,0.5)' }}&gt;硕磐机密 · 指标体系咨询方法论&lt;/Text&gt;&#13;&#10;    &lt;Text style={{ fontSize: 14, color: 'rgba(255,255,255,0.5)', marginLeft: 12 }}&gt;05 / 30&lt;/Text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5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555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FA4F24">
                  <a:alpha val="28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1556" name="" descr="{&quot;isTemplate&quot;:true,&quot;type&quot;:&quot;text&quot;}"/>
          <p:cNvSpPr txBox="1"/>
          <p:nvPr/>
        </p:nvSpPr>
        <p:spPr>
          <a:xfrm rot="0" flipH="0" flipV="0">
            <a:off x="7991475" y="10477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8000"/>
                  </a:srgbClr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557" name="" descr="{&quot;isTemplate&quot;:true,&quot;type&quot;:&quot;text&quot;}"/>
          <p:cNvSpPr txBox="1"/>
          <p:nvPr/>
        </p:nvSpPr>
        <p:spPr>
          <a:xfrm rot="0" flipH="0" flipV="0">
            <a:off x="838200" y="2209800"/>
            <a:ext cx="723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PART 01</a:t>
            </a:r>
            <a:endParaRPr/>
          </a:p>
        </p:txBody>
      </p:sp>
      <p:sp>
        <p:nvSpPr>
          <p:cNvPr id="1558" name=""/>
          <p:cNvSpPr/>
          <p:nvPr/>
        </p:nvSpPr>
        <p:spPr>
          <a:xfrm rot="0" flipH="0" flipV="0">
            <a:off x="838200" y="25908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59" name="" descr="{&quot;isTemplate&quot;:true,&quot;type&quot;:&quot;text&quot;}"/>
          <p:cNvSpPr txBox="1"/>
          <p:nvPr/>
        </p:nvSpPr>
        <p:spPr>
          <a:xfrm rot="0" flipH="0" flipV="0">
            <a:off x="838200" y="2905125"/>
            <a:ext cx="7239000" cy="6858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900" b="1">
                <a:solidFill>
                  <a:srgbClr val="FFFFFF"/>
                </a:solidFill>
                <a:latin typeface="Microsoft YaHei"/>
                <a:ea typeface="Microsoft YaHei"/>
              </a:rPr>
              <a:t>指标本体论</a:t>
            </a:r>
            <a:endParaRPr/>
          </a:p>
        </p:txBody>
      </p:sp>
      <p:sp>
        <p:nvSpPr>
          <p:cNvPr id="1560" name="" descr="{&quot;isTemplate&quot;:true,&quot;type&quot;:&quot;text&quot;}"/>
          <p:cNvSpPr txBox="1"/>
          <p:nvPr/>
        </p:nvSpPr>
        <p:spPr>
          <a:xfrm rot="0" flipH="0" flipV="0">
            <a:off x="838200" y="3781425"/>
            <a:ext cx="7239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WHAT A METRIC REALLY IS</a:t>
            </a:r>
            <a:endParaRPr/>
          </a:p>
        </p:txBody>
      </p:sp>
      <p:sp>
        <p:nvSpPr>
          <p:cNvPr id="1561" name="" descr="{&quot;isTemplate&quot;:true,&quot;type&quot;:&quot;text&quot;}"/>
          <p:cNvSpPr txBox="1"/>
          <p:nvPr/>
        </p:nvSpPr>
        <p:spPr>
          <a:xfrm rot="0" flipH="0" flipV="0">
            <a:off x="838200" y="4229100"/>
            <a:ext cx="72390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指标不是一个报表，是对象上的一个派生属性</a:t>
            </a:r>
            <a:endParaRPr/>
          </a:p>
        </p:txBody>
      </p:sp>
      <p:sp>
        <p:nvSpPr>
          <p:cNvPr id="1562" name="" descr="{&quot;isTemplate&quot;:true,&quot;type&quot;:&quot;text&quot;}"/>
          <p:cNvSpPr txBox="1"/>
          <p:nvPr/>
        </p:nvSpPr>
        <p:spPr>
          <a:xfrm rot="0" flipH="0" flipV="0">
            <a:off x="838200" y="4733925"/>
            <a:ext cx="6858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88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这一部分回答：为什么</a:t>
            </a:r>
            <a:r>
              <a:rPr lang="en-US" sz="1088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 xml:space="preserve"> Palantir </a:t>
            </a:r>
            <a:r>
              <a:rPr lang="zh-CN" sz="1088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官方文档里找不到指标模块；派生属性的三种算法与两种定义位置；十个聚合类型各自的能力边界；以及一个指标的最小单位到底是什么。</a:t>
            </a:r>
            <a:endParaRPr/>
          </a:p>
        </p:txBody>
      </p:sp>
      <p:sp>
        <p:nvSpPr>
          <p:cNvPr id="1563" name=""/>
          <p:cNvSpPr/>
          <p:nvPr/>
        </p:nvSpPr>
        <p:spPr>
          <a:xfrm rot="0" flipH="0" flipV="0">
            <a:off x="8572500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64" name="" descr="{&quot;isTemplate&quot;:true,&quot;type&quot;:&quot;text&quot;}"/>
          <p:cNvSpPr txBox="1"/>
          <p:nvPr/>
        </p:nvSpPr>
        <p:spPr>
          <a:xfrm rot="0" flipH="0" flipV="0">
            <a:off x="8820150" y="60864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指标体系咨询方法论</a:t>
            </a:r>
            <a:endParaRPr/>
          </a:p>
        </p:txBody>
      </p:sp>
      <p:sp>
        <p:nvSpPr>
          <p:cNvPr id="1565" name="" descr="{&quot;isTemplate&quot;:true,&quot;type&quot;:&quot;text&quot;}"/>
          <p:cNvSpPr txBox="1"/>
          <p:nvPr/>
        </p:nvSpPr>
        <p:spPr>
          <a:xfrm rot="0" flipH="0" flipV="0">
            <a:off x="10896600" y="6086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05 / 30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566" name="" descr="&lt;Slide style={{ width: 1280, height: 720, background: '#FFFFFF', padding: '24px 64px 0' }}&gt;&#10;  &lt;Box style={{ height: 96, flexDirection: 'column', justifyContent: 'flex-start' }}&gt;&#10;    &lt;Text style={{ fontSize: 32, fontWeight: 'bold', color: '#0F1423' }}&gt;&#10;      官方文档里找不到「指标模块」——这不是产品缺项，是&lt;span style={{ color: '#FA4F24' }}&gt;设计选择&lt;/span&gt;&#10;    &lt;/Text&gt;&#10;    &lt;Text style={{ fontSize: 20, color: '#8A8F99', marginTop: 8 }}&gt;指标在 Palantir 里的正式身份是：对象类型上的派生属性（Derived Property）&lt;/Text&gt;&#10;  &lt;/Box&gt;&#10;  &lt;Box style={{ height: 1, background: '#E8E8E8' }} /&gt;&#10;&#10;  &lt;Box style={{ paddingTop: 14, paddingBottom: 8, height: 479, flexDirection: 'column', gap: 10 }}&gt;&#10;    &lt;Box style={{ flex: 1, flexDirection: 'row', gap: 10 }}&gt;&#10;      &lt;Box style={{ flex: 1.35, background: '#0F1423', borderRadius: 4, padding: '14px 18px', flexDirection: 'column' }}&gt;&#10;        &lt;Text style={{ fontSize: 14.5, fontWeight: 'bold', color: '#FBA15C' }}&gt;官方定义：派生属性是什么&lt;/Text&gt;&#10;        &lt;Text style={{ fontSize: 12.5, color: 'rgba(255,255,255,0.9)', marginTop: 10, lineHeight: 1.55, flex: 1 }}&gt;&#10;          值在&lt;tspan style={{ fontWeight: 'bold', color: '#FBA15C' }}&gt;查询时&lt;/tspan&gt;从其他属性或链接对象算出来，而不是存下来。它描述的是「怎么算」，不是「是多少」。&#10;        &lt;/Text&gt;&#10;        &lt;Box style={{ background: 'rgba(250,79,36,0.18)', borderRadius: 3, padding: '8px 11px', marginTop: 10 }}&gt;&#10;          &lt;Text style={{ fontSize: 11.5, color: 'rgba(255,255,255,0.9)', lineHeight: 1.5 }}&gt;&#10;            正因为不存储，底层数据一变它自动就对了——&lt;tspan style={{ fontWeight: 'bold' }}&gt;不需要重跑管道，也不需要维护任何更新逻辑&lt;/tspan&gt;。&#10;          &lt;/Text&gt;&#10;        &lt;/Box&gt;&#10;        &lt;Text style={{ fontSize: 11, color: 'rgba(255,255,255,0.55)', marginTop: 9, lineHeight: 1.45 }}&gt;&#10;          另有一条硬规则：&lt;tspan style={{ color: '#FBA15C', fontWeight: 'bold' }}&gt;主键属性不能是派生属性&lt;/tspan&gt;；派生属性是只读的，不能被动作或函数编辑。&#10;        &lt;/Text&gt;&#10;      &lt;/Box&gt;&#10;&#10;      &lt;Box style={{ flex: 2, flexDirection: 'column', gap: 9 }}&gt;&#10;        &lt;Text style={{ fontSize: 14, fontWeight: 'bold', color: '#0F1423' }}&gt;它只有三种算法，全部来自「沿链接类型走过去」&lt;/Text&gt;&#10;        {[&#10;          { n: '①', t: '跨链接对象聚合', d: 'Department 暴露「我下属员工的平均薪资」——沿员工链接聚合薪资', e: 'count / avg / sum / min / max / 去重计数 / collect' },&#10;          { n: '②', t: '从链接对象选取', d: 'Employee 暴露「我的经理是谁」——沿唯一的经理链接取一个属性', e: '前提：这条链每次遍历最多只到一个对象' },&#10;          { n: '③', t: '算术表达式运算', d: 'Employee 暴露「总薪酬」——把薪资本身加奖金', e: '只对运行时定义的派生属性开放' },&#10;        ].map((x) =&gt; (&#10;          &lt;Box key={x.n} style={{ flex: 1, background: '#F7F7F8', borderRadius: 4, borderLeft: '4px solid #FA4F24', padding: '10px 14px', flexDirection: 'column', justifyContent: 'center' }}&gt;&#10;            &lt;Box style={{ flexDirection: 'row', alignItems: 'center', gap: 9 }}&gt;&#10;              &lt;Text style={{ fontSize: 15, fontWeight: 'bold', color: '#FA4F24' }}&gt;{x.n}&lt;/Text&gt;&#10;              &lt;Text style={{ fontSize: 13.5, fontWeight: 'bold', color: '#0F1423' }}&gt;{x.t}&lt;/Text&gt;&#10;            &lt;/Box&gt;&#10;            &lt;Text style={{ fontSize: 11.5, color: '#3A4050', marginTop: 5, lineHeight: 1.45 }}&gt;{x.d}&lt;/Text&gt;&#10;            &lt;Text style={{ fontSize: 10.5, color: '#8A8F99', marginTop: 4, lineHeight: 1.4 }}&gt;{x.e}&lt;/Text&gt;&#10;          &lt;/Box&gt;&#10;        ))}&#10;      &lt;/Box&gt;&#10;    &lt;/Box&gt;&#10;&#10;    &lt;Box style={{ flex: 0.92, background: '#FFF3EE', borderRadius: 4, padding: '12px 18px', flexDirection: 'row', gap: 18 }}&gt;&#10;      &lt;Box style={{ width: 152, flexDirection: 'column', justifyContent: 'center' }}&gt;&#10;        &lt;Text style={{ fontSize: 14, fontWeight: 'bold', color: '#C43A17' }}&gt;这一页的判断&lt;/Text&gt;&#10;        &lt;Text style={{ fontSize: 10.5, color: '#8A8F99', marginTop: 5, lineHeight: 1.4 }}&gt;与第十册主数据同源&lt;/Text&gt;&#10;      &lt;/Box&gt;&#10;      &lt;Box style={{ width: 1, background: '#FBA15C' }} /&gt;&#10;      &lt;Box style={{ flex: 1, flexDirection: 'column', justifyContent: 'center', gap: 5 }}&gt;&#10;        {[&#10;          '如果指标是报表里的一列，那么口径写在 SQL 里、值在报表里，两样东西各自漂移。',&#10;          '指标做成对象上的属性之后，口径和值在同一个模型里——口径改动的影响面，靠链接关系就能推出来。',&#10;          '这就是「指标不是报表，是对象上的派生属性」的全部含义，也是这一册所有方法的地基。',&#10;        ].map((t, i) =&gt; (&#10;          &lt;Text key={i} style={{ fontSize: 11.5, color: '#3A4050', lineHeight: 1.5 }}&gt;&#10;            &lt;tspan style={{ color: '#FA4F24', fontWeight: 'bold' }}&gt;· &lt;/tspan&gt;{t}&#10;          &lt;/Text&gt;&#10;        ))}&#10;      &lt;/Box&gt;&#10;    &lt;/Box&gt;&#10;  &lt;/Box&gt;&#10;&#10;  &lt;Box style={{ height: 58, flexDirection: 'row', alignItems: 'center', borderTop: '1px solid #E8E8E8' }}&gt;&#10;    &lt;Box style={{ width: 10, height: 10, background: '#FA4F24' }} /&gt;&#10;    &lt;Text style={{ fontSize: 13, color: '#8A8F99', marginLeft: 12 }}&gt;硕磐机密 · 指标体系咨询方法论&lt;/Text&gt;&#10;    &lt;Text style={{ fontSize: 13, color: '#8A8F99', marginLeft: 'auto' }}&gt;06 / 3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68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官方文档里找不到「指标模块」——这不是产品缺项，是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设计选择</a:t>
            </a:r>
            <a:endParaRPr/>
          </a:p>
        </p:txBody>
      </p:sp>
      <p:sp>
        <p:nvSpPr>
          <p:cNvPr id="1569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指标在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Palantir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里的正式身份是：对象类型上的派生属性（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>Derived Property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570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571" name=""/>
          <p:cNvSpPr/>
          <p:nvPr/>
        </p:nvSpPr>
        <p:spPr>
          <a:xfrm rot="0" flipH="0" flipV="0">
            <a:off x="609600" y="1285875"/>
            <a:ext cx="4381500" cy="3114675"/>
          </a:xfrm>
          <a:prstGeom prst="roundRect">
            <a:avLst>
              <a:gd name="adj" fmla="val 1223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572" name="" descr="{&quot;isTemplate&quot;:true,&quot;type&quot;:&quot;text&quot;}"/>
          <p:cNvSpPr txBox="1"/>
          <p:nvPr/>
        </p:nvSpPr>
        <p:spPr>
          <a:xfrm rot="0" flipH="0" flipV="0">
            <a:off x="781050" y="1419225"/>
            <a:ext cx="4038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BA15C"/>
                </a:solidFill>
                <a:latin typeface="Microsoft YaHei"/>
                <a:ea typeface="Microsoft YaHei"/>
              </a:rPr>
              <a:t>官方定义：派生属性是什么</a:t>
            </a:r>
            <a:endParaRPr/>
          </a:p>
        </p:txBody>
      </p:sp>
      <p:sp>
        <p:nvSpPr>
          <p:cNvPr id="1573" name="" descr="{&quot;isTemplate&quot;:true,&quot;type&quot;:&quot;text&quot;}"/>
          <p:cNvSpPr txBox="1"/>
          <p:nvPr/>
        </p:nvSpPr>
        <p:spPr>
          <a:xfrm rot="0" flipH="0" flipV="0">
            <a:off x="781050" y="1685925"/>
            <a:ext cx="4038600" cy="1476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38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值在</a:t>
            </a:r>
            <a:r>
              <a:rPr lang="zh-CN" sz="938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查询时</a:t>
            </a:r>
            <a:r>
              <a:rPr lang="zh-CN" sz="938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从其他属性或链接对象算出来，而不是存下来。它描述的是「怎么算」，不是「是多少」。</a:t>
            </a:r>
            <a:endParaRPr/>
          </a:p>
        </p:txBody>
      </p:sp>
      <p:sp>
        <p:nvSpPr>
          <p:cNvPr id="1574" name=""/>
          <p:cNvSpPr/>
          <p:nvPr/>
        </p:nvSpPr>
        <p:spPr>
          <a:xfrm rot="0" flipH="0" flipV="0">
            <a:off x="781050" y="3257550"/>
            <a:ext cx="4038600" cy="552450"/>
          </a:xfrm>
          <a:prstGeom prst="roundRect">
            <a:avLst>
              <a:gd name="adj" fmla="val 5172"/>
            </a:avLst>
          </a:prstGeom>
          <a:solidFill>
            <a:srgbClr val="FA4F24">
              <a:alpha val="18000"/>
            </a:srgbClr>
          </a:solidFill>
          <a:ln/>
        </p:spPr>
        <p:txBody>
          <a:bodyPr/>
          <a:p/>
        </p:txBody>
      </p:sp>
      <p:sp>
        <p:nvSpPr>
          <p:cNvPr id="1575" name="" descr="{&quot;isTemplate&quot;:true,&quot;type&quot;:&quot;text&quot;}"/>
          <p:cNvSpPr txBox="1"/>
          <p:nvPr/>
        </p:nvSpPr>
        <p:spPr>
          <a:xfrm rot="0" flipH="0" flipV="0">
            <a:off x="885825" y="3333750"/>
            <a:ext cx="382905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63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正因为不存储，底层数据一变它自动就对了——</a:t>
            </a:r>
            <a:r>
              <a:rPr lang="zh-CN" sz="863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不需要重跑管道，也不需要维护任何更新逻辑</a:t>
            </a:r>
            <a:r>
              <a:rPr lang="zh-CN" sz="863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576" name="" descr="{&quot;isTemplate&quot;:true,&quot;type&quot;:&quot;text&quot;}"/>
          <p:cNvSpPr txBox="1"/>
          <p:nvPr/>
        </p:nvSpPr>
        <p:spPr>
          <a:xfrm rot="0" flipH="0" flipV="0">
            <a:off x="781050" y="3895725"/>
            <a:ext cx="40386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另有一条硬规则：</a:t>
            </a:r>
            <a:r>
              <a:rPr lang="zh-CN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主键属性不能是派生属性</a:t>
            </a:r>
            <a:r>
              <a:rPr lang="zh-CN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；派生属性是只读的，不能被动作或函数编辑。</a:t>
            </a:r>
            <a:endParaRPr/>
          </a:p>
        </p:txBody>
      </p:sp>
      <p:sp>
        <p:nvSpPr>
          <p:cNvPr id="1577" name="" descr="{&quot;isTemplate&quot;:true,&quot;type&quot;:&quot;text&quot;}"/>
          <p:cNvSpPr txBox="1"/>
          <p:nvPr/>
        </p:nvSpPr>
        <p:spPr>
          <a:xfrm rot="0" flipH="0" flipV="0">
            <a:off x="5086350" y="1285875"/>
            <a:ext cx="6496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它只有三种算法，全部来自「沿链接类型走过去」</a:t>
            </a:r>
            <a:endParaRPr/>
          </a:p>
        </p:txBody>
      </p:sp>
      <p:sp>
        <p:nvSpPr>
          <p:cNvPr id="1578" name=""/>
          <p:cNvSpPr/>
          <p:nvPr/>
        </p:nvSpPr>
        <p:spPr>
          <a:xfrm rot="0" flipH="0" flipV="0">
            <a:off x="5124450" y="1533525"/>
            <a:ext cx="6496050" cy="895350"/>
          </a:xfrm>
          <a:prstGeom prst="roundRect">
            <a:avLst>
              <a:gd name="adj" fmla="val 425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79" name=""/>
          <p:cNvSpPr/>
          <p:nvPr/>
        </p:nvSpPr>
        <p:spPr>
          <a:xfrm rot="0" flipH="0" flipV="0">
            <a:off x="5124450" y="1533525"/>
            <a:ext cx="6496050" cy="895350"/>
          </a:xfrm>
          <a:custGeom>
            <a:pathLst>
              <a:path w="682" h="94">
                <a:moveTo>
                  <a:pt x="4" y="94"/>
                </a:moveTo>
                <a:cubicBezTo>
                  <a:pt x="2" y="94"/>
                  <a:pt x="0" y="92"/>
                  <a:pt x="0" y="9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80" name="" descr="{&quot;isTemplate&quot;:true,&quot;type&quot;:&quot;text&quot;}"/>
          <p:cNvSpPr txBox="1"/>
          <p:nvPr/>
        </p:nvSpPr>
        <p:spPr>
          <a:xfrm rot="0" flipH="0" flipV="0">
            <a:off x="5257800" y="166687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FA4F24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1581" name="" descr="{&quot;isTemplate&quot;:true,&quot;type&quot;:&quot;text&quot;}"/>
          <p:cNvSpPr txBox="1"/>
          <p:nvPr/>
        </p:nvSpPr>
        <p:spPr>
          <a:xfrm rot="0" flipH="0" flipV="0">
            <a:off x="5486400" y="167640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0F1423"/>
                </a:solidFill>
                <a:latin typeface="Microsoft YaHei"/>
                <a:ea typeface="Microsoft YaHei"/>
              </a:rPr>
              <a:t>跨链接对象聚合</a:t>
            </a:r>
            <a:endParaRPr/>
          </a:p>
        </p:txBody>
      </p:sp>
      <p:sp>
        <p:nvSpPr>
          <p:cNvPr id="1582" name="" descr="{&quot;isTemplate&quot;:true,&quot;type&quot;:&quot;text&quot;}"/>
          <p:cNvSpPr txBox="1"/>
          <p:nvPr/>
        </p:nvSpPr>
        <p:spPr>
          <a:xfrm rot="0" flipH="0" flipV="0">
            <a:off x="5257800" y="1885950"/>
            <a:ext cx="619125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Department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暴露「我下属员工的平均薪资」——沿员工链接聚合薪资</a:t>
            </a:r>
            <a:endParaRPr/>
          </a:p>
        </p:txBody>
      </p:sp>
      <p:sp>
        <p:nvSpPr>
          <p:cNvPr id="1583" name="" descr="{&quot;isTemplate&quot;:true,&quot;type&quot;:&quot;text&quot;}"/>
          <p:cNvSpPr txBox="1"/>
          <p:nvPr/>
        </p:nvSpPr>
        <p:spPr>
          <a:xfrm rot="0" flipH="0" flipV="0">
            <a:off x="5257800" y="2124075"/>
            <a:ext cx="619125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788">
                <a:solidFill>
                  <a:srgbClr val="8A8F99"/>
                </a:solidFill>
                <a:latin typeface="Microsoft YaHei"/>
                <a:ea typeface="Microsoft YaHei"/>
              </a:rPr>
              <a:t xml:space="preserve">count / avg / sum / min / max / </a:t>
            </a: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去重计数</a:t>
            </a:r>
            <a:r>
              <a:rPr lang="en-US" sz="788">
                <a:solidFill>
                  <a:srgbClr val="8A8F99"/>
                </a:solidFill>
                <a:latin typeface="Microsoft YaHei"/>
                <a:ea typeface="Microsoft YaHei"/>
              </a:rPr>
              <a:t xml:space="preserve"> / collect</a:t>
            </a:r>
            <a:endParaRPr/>
          </a:p>
        </p:txBody>
      </p:sp>
      <p:sp>
        <p:nvSpPr>
          <p:cNvPr id="1584" name=""/>
          <p:cNvSpPr/>
          <p:nvPr/>
        </p:nvSpPr>
        <p:spPr>
          <a:xfrm rot="0" flipH="0" flipV="0">
            <a:off x="5124450" y="2514600"/>
            <a:ext cx="6496050" cy="904875"/>
          </a:xfrm>
          <a:prstGeom prst="roundRect">
            <a:avLst>
              <a:gd name="adj" fmla="val 421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85" name=""/>
          <p:cNvSpPr/>
          <p:nvPr/>
        </p:nvSpPr>
        <p:spPr>
          <a:xfrm rot="0" flipH="0" flipV="0">
            <a:off x="5124450" y="2514600"/>
            <a:ext cx="6496050" cy="904875"/>
          </a:xfrm>
          <a:custGeom>
            <a:pathLst>
              <a:path w="682" h="95">
                <a:moveTo>
                  <a:pt x="4" y="95"/>
                </a:moveTo>
                <a:cubicBezTo>
                  <a:pt x="2" y="95"/>
                  <a:pt x="0" y="93"/>
                  <a:pt x="0" y="9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86" name="" descr="{&quot;isTemplate&quot;:true,&quot;type&quot;:&quot;text&quot;}"/>
          <p:cNvSpPr txBox="1"/>
          <p:nvPr/>
        </p:nvSpPr>
        <p:spPr>
          <a:xfrm rot="0" flipH="0" flipV="0">
            <a:off x="5257800" y="265747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FA4F24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1587" name="" descr="{&quot;isTemplate&quot;:true,&quot;type&quot;:&quot;text&quot;}"/>
          <p:cNvSpPr txBox="1"/>
          <p:nvPr/>
        </p:nvSpPr>
        <p:spPr>
          <a:xfrm rot="0" flipH="0" flipV="0">
            <a:off x="5486400" y="266700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0F1423"/>
                </a:solidFill>
                <a:latin typeface="Microsoft YaHei"/>
                <a:ea typeface="Microsoft YaHei"/>
              </a:rPr>
              <a:t>从链接对象选取</a:t>
            </a:r>
            <a:endParaRPr/>
          </a:p>
        </p:txBody>
      </p:sp>
      <p:sp>
        <p:nvSpPr>
          <p:cNvPr id="1588" name="" descr="{&quot;isTemplate&quot;:true,&quot;type&quot;:&quot;text&quot;}"/>
          <p:cNvSpPr txBox="1"/>
          <p:nvPr/>
        </p:nvSpPr>
        <p:spPr>
          <a:xfrm rot="0" flipH="0" flipV="0">
            <a:off x="5257800" y="2876550"/>
            <a:ext cx="619125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Employee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暴露「我的经理是谁」——沿唯一的经理链接取一个属性</a:t>
            </a:r>
            <a:endParaRPr/>
          </a:p>
        </p:txBody>
      </p:sp>
      <p:sp>
        <p:nvSpPr>
          <p:cNvPr id="1589" name="" descr="{&quot;isTemplate&quot;:true,&quot;type&quot;:&quot;text&quot;}"/>
          <p:cNvSpPr txBox="1"/>
          <p:nvPr/>
        </p:nvSpPr>
        <p:spPr>
          <a:xfrm rot="0" flipH="0" flipV="0">
            <a:off x="5257800" y="3114675"/>
            <a:ext cx="619125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前提：这条链每次遍历最多只到一个对象</a:t>
            </a:r>
            <a:endParaRPr/>
          </a:p>
        </p:txBody>
      </p:sp>
      <p:sp>
        <p:nvSpPr>
          <p:cNvPr id="1590" name=""/>
          <p:cNvSpPr/>
          <p:nvPr/>
        </p:nvSpPr>
        <p:spPr>
          <a:xfrm rot="0" flipH="0" flipV="0">
            <a:off x="5124450" y="3505200"/>
            <a:ext cx="6496050" cy="895350"/>
          </a:xfrm>
          <a:prstGeom prst="roundRect">
            <a:avLst>
              <a:gd name="adj" fmla="val 425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91" name=""/>
          <p:cNvSpPr/>
          <p:nvPr/>
        </p:nvSpPr>
        <p:spPr>
          <a:xfrm rot="0" flipH="0" flipV="0">
            <a:off x="5124450" y="3505200"/>
            <a:ext cx="6496050" cy="895350"/>
          </a:xfrm>
          <a:custGeom>
            <a:pathLst>
              <a:path w="682" h="94">
                <a:moveTo>
                  <a:pt x="4" y="94"/>
                </a:moveTo>
                <a:cubicBezTo>
                  <a:pt x="2" y="94"/>
                  <a:pt x="0" y="92"/>
                  <a:pt x="0" y="9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92" name="" descr="{&quot;isTemplate&quot;:true,&quot;type&quot;:&quot;text&quot;}"/>
          <p:cNvSpPr txBox="1"/>
          <p:nvPr/>
        </p:nvSpPr>
        <p:spPr>
          <a:xfrm rot="0" flipH="0" flipV="0">
            <a:off x="5257800" y="3638550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FA4F24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1593" name="" descr="{&quot;isTemplate&quot;:true,&quot;type&quot;:&quot;text&quot;}"/>
          <p:cNvSpPr txBox="1"/>
          <p:nvPr/>
        </p:nvSpPr>
        <p:spPr>
          <a:xfrm rot="0" flipH="0" flipV="0">
            <a:off x="5486400" y="3648075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0F1423"/>
                </a:solidFill>
                <a:latin typeface="Microsoft YaHei"/>
                <a:ea typeface="Microsoft YaHei"/>
              </a:rPr>
              <a:t>算术表达式运算</a:t>
            </a:r>
            <a:endParaRPr/>
          </a:p>
        </p:txBody>
      </p:sp>
      <p:sp>
        <p:nvSpPr>
          <p:cNvPr id="1594" name="" descr="{&quot;isTemplate&quot;:true,&quot;type&quot;:&quot;text&quot;}"/>
          <p:cNvSpPr txBox="1"/>
          <p:nvPr/>
        </p:nvSpPr>
        <p:spPr>
          <a:xfrm rot="0" flipH="0" flipV="0">
            <a:off x="5257800" y="3857625"/>
            <a:ext cx="619125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Employee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暴露「总薪酬」——把薪资本身加奖金</a:t>
            </a:r>
            <a:endParaRPr/>
          </a:p>
        </p:txBody>
      </p:sp>
      <p:sp>
        <p:nvSpPr>
          <p:cNvPr id="1595" name="" descr="{&quot;isTemplate&quot;:true,&quot;type&quot;:&quot;text&quot;}"/>
          <p:cNvSpPr txBox="1"/>
          <p:nvPr/>
        </p:nvSpPr>
        <p:spPr>
          <a:xfrm rot="0" flipH="0" flipV="0">
            <a:off x="5257800" y="4095750"/>
            <a:ext cx="619125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只对运行时定义的派生属性开放</a:t>
            </a:r>
            <a:endParaRPr/>
          </a:p>
        </p:txBody>
      </p:sp>
      <p:sp>
        <p:nvSpPr>
          <p:cNvPr id="1596" name=""/>
          <p:cNvSpPr/>
          <p:nvPr/>
        </p:nvSpPr>
        <p:spPr>
          <a:xfrm rot="0" flipH="0" flipV="0">
            <a:off x="609600" y="4495800"/>
            <a:ext cx="10972800" cy="1143000"/>
          </a:xfrm>
          <a:prstGeom prst="roundRect">
            <a:avLst>
              <a:gd name="adj" fmla="val 3333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597" name="" descr="{&quot;isTemplate&quot;:true,&quot;type&quot;:&quot;text&quot;}"/>
          <p:cNvSpPr txBox="1"/>
          <p:nvPr/>
        </p:nvSpPr>
        <p:spPr>
          <a:xfrm rot="0" flipH="0" flipV="0">
            <a:off x="781050" y="48768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这一页的判断</a:t>
            </a:r>
            <a:endParaRPr/>
          </a:p>
        </p:txBody>
      </p:sp>
      <p:sp>
        <p:nvSpPr>
          <p:cNvPr id="1598" name="" descr="{&quot;isTemplate&quot;:true,&quot;type&quot;:&quot;text&quot;}"/>
          <p:cNvSpPr txBox="1"/>
          <p:nvPr/>
        </p:nvSpPr>
        <p:spPr>
          <a:xfrm rot="0" flipH="0" flipV="0">
            <a:off x="781050" y="5086350"/>
            <a:ext cx="144780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与第十册主数据同源</a:t>
            </a:r>
            <a:endParaRPr/>
          </a:p>
        </p:txBody>
      </p:sp>
      <p:sp>
        <p:nvSpPr>
          <p:cNvPr id="1599" name=""/>
          <p:cNvSpPr/>
          <p:nvPr/>
        </p:nvSpPr>
        <p:spPr>
          <a:xfrm rot="0" flipH="0" flipV="0">
            <a:off x="2400300" y="4610100"/>
            <a:ext cx="9525" cy="914400"/>
          </a:xfrm>
          <a:prstGeom prst="rect">
            <a:avLst/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1600" name="" descr="{&quot;isTemplate&quot;:true,&quot;type&quot;:&quot;text&quot;}"/>
          <p:cNvSpPr txBox="1"/>
          <p:nvPr/>
        </p:nvSpPr>
        <p:spPr>
          <a:xfrm rot="0" flipH="0" flipV="0">
            <a:off x="2581275" y="4724400"/>
            <a:ext cx="8829675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如果指标是报表里的一列，那么口径写在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SQL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里、值在报表里，两样东西各自漂移。</a:t>
            </a:r>
            <a:endParaRPr/>
          </a:p>
        </p:txBody>
      </p:sp>
      <p:sp>
        <p:nvSpPr>
          <p:cNvPr id="1601" name="" descr="{&quot;isTemplate&quot;:true,&quot;type&quot;:&quot;text&quot;}"/>
          <p:cNvSpPr txBox="1"/>
          <p:nvPr/>
        </p:nvSpPr>
        <p:spPr>
          <a:xfrm rot="0" flipH="0" flipV="0">
            <a:off x="2581275" y="4972050"/>
            <a:ext cx="8829675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指标做成对象上的属性之后，口径和值在同一个模型里——口径改动的影响面，靠链接关系就能推出来。</a:t>
            </a:r>
            <a:endParaRPr/>
          </a:p>
        </p:txBody>
      </p:sp>
      <p:sp>
        <p:nvSpPr>
          <p:cNvPr id="1602" name="" descr="{&quot;isTemplate&quot;:true,&quot;type&quot;:&quot;text&quot;}"/>
          <p:cNvSpPr txBox="1"/>
          <p:nvPr/>
        </p:nvSpPr>
        <p:spPr>
          <a:xfrm rot="0" flipH="0" flipV="0">
            <a:off x="2581275" y="5219700"/>
            <a:ext cx="8829675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这就是「指标不是报表，是对象上的派生属性」的全部含义，也是这一册所有方法的地基。</a:t>
            </a:r>
            <a:endParaRPr/>
          </a:p>
        </p:txBody>
      </p:sp>
      <p:sp>
        <p:nvSpPr>
          <p:cNvPr id="1603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604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605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指标体系咨询方法论</a:t>
            </a:r>
            <a:endParaRPr/>
          </a:p>
        </p:txBody>
      </p:sp>
      <p:sp>
        <p:nvSpPr>
          <p:cNvPr id="1606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06 / 30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607" name="" descr="&lt;Slide style={{ width: 1280, height: 720, background: '#FFFFFF', padding: '24px 64px 0' }}&gt;&#10;  &lt;Box style={{ height: 96, flexDirection: 'column', justifyContent: 'flex-start' }}&gt;&#10;    &lt;Text style={{ fontSize: 32, fontWeight: 'bold', color: '#0F1423' }}&gt;&#10;      同一个指标，两个定义位置：&lt;span style={{ color: '#FA4F24' }}&gt;本体定义&lt;/span&gt;与&lt;span style={{ color: '#F87D2F' }}&gt;运行时定义&lt;/span&gt;&#10;    &lt;/Text&gt;&#10;    &lt;Text style={{ fontSize: 20, color: '#8A8F99', marginTop: 8 }}&gt;选错位置，指标就只在一个人的屏幕上是对的——这是指标体系最常见的一种失败&lt;/Text&gt;&#10;  &lt;/Box&gt;&#10;  &lt;Box style={{ height: 1, background: '#E8E8E8' }} /&gt;&#10;&#10;  &lt;Box style={{ paddingTop: 14, paddingBottom: 8, height: 479, flexDirection: 'column', gap: 10 }}&gt;&#10;    &lt;Box style={{ flex: 1, flexDirection: 'row', gap: 10 }}&gt;&#10;      &lt;Box style={{ flex: 1, background: '#F7F7F8', borderRadius: 4, borderTop: '4px solid #FA4F24', padding: '12px 15px', flexDirection: 'column' }}&gt;&#10;        &lt;Text style={{ fontSize: 16, fontWeight: 'bold', color: '#FA4F24' }}&gt;本体定义&lt;/Text&gt;&#10;        &lt;Text style={{ fontSize: 10.5, color: '#8A8F99', marginTop: 3 }}&gt;ontology-defined · Beta&lt;/Text&gt;&#10;        &lt;Box style={{ marginTop: 10, gap: 5, flex: 1 }}&gt;&#10;          {[&#10;            { k: '配置位置', v: 'Ontology Manager' },&#10;            { k: '存在哪', v: '本体定义里' },&#10;            { k: '谁能看到', v: '该对象类型的每一个消费者' },&#10;            { k: '最大链接遍历', v: '3 跳' },&#10;            { k: '表达式', v: '不支持' },&#10;          ].map((x) =&gt; (&#10;            &lt;Box key={x.k} style={{ flexDirection: 'row', gap: 8, background: '#FFFFFF', borderRadius: 3, padding: '5px 9px' }}&gt;&#10;              &lt;Text style={{ fontSize: 11, fontWeight: 'bold', color: '#0F1423', width: 66 }}&gt;{x.k}&lt;/Text&gt;&#10;              &lt;Text style={{ fontSize: 11, color: '#3A4050', flex: 1 }}&gt;{x.v}&lt;/Text&gt;&#10;            &lt;/Box&gt;&#10;          ))}&#10;        &lt;/Box&gt;&#10;      &lt;/Box&gt;&#10;&#10;      &lt;Box style={{ flex: 1, background: '#F7F7F8', borderRadius: 4, borderTop: '4px solid #F87D2F', padding: '12px 15px', flexDirection: 'column' }}&gt;&#10;        &lt;Text style={{ fontSize: 16, fontWeight: 'bold', color: '#F87D2F' }}&gt;运行时定义&lt;/Text&gt;&#10;        &lt;Text style={{ fontSize: 10.5, color: '#8A8F99', marginTop: 3 }}&gt;runtime-defined · GA&lt;/Text&gt;&#10;        &lt;Box style={{ marginTop: 10, gap: 5, flex: 1 }}&gt;&#10;          {[&#10;            { k: '配置位置', v: 'Workshop 模块 / Insight 工作簿 / SDK 请求' },&#10;            { k: '存在哪', v: '对象集定义里，不进本体' },&#10;            { k: '谁能看到', v: '声明它的那个请求或模块，以及能访问它所保存对象集的人' },&#10;            { k: '最大链接遍历', v: 'Workshop / Insight 仅 1 跳；SDK 无固定上限' },&#10;            { k: '表达式', v: '支持' },&#10;          ].map((x) =&gt; (&#10;            &lt;Box key={x.k} style={{ flexDirection: 'row', gap: 8, background: '#FFFFFF', borderRadius: 3, padding: '5px 9px' }}&gt;&#10;              &lt;Text style={{ fontSize: 11, fontWeight: 'bold', color: '#0F1423', width: 66 }}&gt;{x.k}&lt;/Text&gt;&#10;              &lt;Text style={{ fontSize: 11, color: '#3A4050', flex: 1 }}&gt;{x.v}&lt;/Text&gt;&#10;            &lt;/Box&gt;&#10;          ))}&#10;        &lt;/Box&gt;&#10;      &lt;/Box&gt;&#10;&#10;      &lt;Box style={{ flex: 1.1, background: '#0F1423', borderRadius: 4, padding: '13px 16px', flexDirection: 'column' }}&gt;&#10;        &lt;Text style={{ fontSize: 14.5, fontWeight: 'bold', color: '#FBA15C' }}&gt;官方选用规则&lt;/Text&gt;&#10;        &lt;Box style={{ marginTop: 10, gap: 7, flex: 1 }}&gt;&#10;          &lt;Box style={{ background: 'rgba(250,79,36,0.18)', borderRadius: 3, padding: '8px 10px', flex: 1, justifyContent: 'center' }}&gt;&#10;            &lt;Text style={{ fontSize: 11, fontWeight: 'bold', color: '#FFFFFF', lineHeight: 1.4 }}&gt;→ 用本体定义&lt;/Text&gt;&#10;            &lt;Text style={{ fontSize: 10.5, color: 'rgba(255,255,255,0.8)', marginTop: 4, lineHeight: 1.45 }}&gt;这个计算是组织对该对象类型的建模方式的一部分，每个消费者都应该看到同一个值。&lt;/Text&gt;&#10;          &lt;/Box&gt;&#10;          &lt;Box style={{ background: 'rgba(248,125,47,0.18)', borderRadius: 3, padding: '8px 10px', flex: 1, justifyContent: 'center' }}&gt;&#10;            &lt;Text style={{ fontSize: 11, fontWeight: 'bold', color: '#FFFFFF', lineHeight: 1.4 }}&gt;→ 用运行时定义&lt;/Text&gt;&#10;            &lt;Text style={{ fontSize: 10.5, color: 'rgba(255,255,255,0.8)', marginTop: 4, lineHeight: 1.45 }}&gt;这个计算只属于某一个应用或某一次分析，或者你确实需要算术与日期表达式。&lt;/Text&gt;&#10;          &lt;/Box&gt;&#10;        &lt;/Box&gt;&#10;      &lt;/Box&gt;&#10;    &lt;/Box&gt;&#10;&#10;    &lt;Box style={{ height: 128, background: '#FFF3EE', borderRadius: 4, padding: '11px 18px', flexDirection: 'column' }}&gt;&#10;      &lt;Text style={{ fontSize: 13, fontWeight: 'bold', color: '#C43A17' }}&gt;六条硬限制：违反任何一条，模型就不成立&lt;/Text&gt;&#10;      &lt;Box style={{ flexDirection: 'row', gap: 9, marginTop: 9, flex: 1 }}&gt;&#10;        {[&#10;          '一个计算属性不能引用同一次 withProperties 操作里声明的另一个计算属性，必须拆到后续操作',&#10;          '链接选择与聚合不能嵌套另一个派生属性的定义；但属性选择器可以引用已在作用域里的属性',&#10;          '表达式只能引用更早声明的派生属性，同一次操作内不行',&#10;          '表达式当前不支持静态字面量',&#10;          '不能用于文本搜索或关键词过滤；用 OSv1 索引的对象类型不能出现在含派生属性的查询里',&#10;          '不能标记为必填、不能有属性类型约束、不能挂规则集绑定或基础格式化器',&#10;        ].map((t, i) =&gt; (&#10;          &lt;Box key={i} style={{ width: '32.6%', background: '#FFFFFF', borderRadius: 3, borderLeft: '3px solid #FBA15C', padding: '6px 9px', justifyContent: 'center' }}&gt;&#10;            &lt;Text style={{ fontSize: 10, color: '#3A4050', lineHeight: 1.4 }}&gt;{t}&lt;/Text&gt;&#10;          &lt;/Box&gt;&#10;        ))}&#10;      &lt;/Box&gt;&#10;    &lt;/Box&gt;&#10;  &lt;/Box&gt;&#10;&#10;  &lt;Box style={{ height: 58, flexDirection: 'row', alignItems: 'center', borderTop: '1px solid #E8E8E8' }}&gt;&#10;    &lt;Box style={{ width: 10, height: 10, background: '#FA4F24' }} /&gt;&#10;    &lt;Text style={{ fontSize: 13, color: '#8A8F99', marginLeft: 12 }}&gt;硕磐机密 · 指标体系咨询方法论&lt;/Text&gt;&#10;    &lt;Text style={{ fontSize: 13, color: '#8A8F99', marginLeft: 'auto' }}&gt;07 / 3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09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同一个指标，两个定义位置：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本体定义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与</a:t>
            </a:r>
            <a:r>
              <a:rPr lang="zh-CN" sz="2400" b="1">
                <a:solidFill>
                  <a:srgbClr val="F87D2F"/>
                </a:solidFill>
                <a:latin typeface="Microsoft YaHei"/>
                <a:ea typeface="Microsoft YaHei"/>
              </a:rPr>
              <a:t>运行时定义</a:t>
            </a:r>
            <a:endParaRPr/>
          </a:p>
        </p:txBody>
      </p:sp>
      <p:sp>
        <p:nvSpPr>
          <p:cNvPr id="1610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选错位置，指标就只在一个人的屏幕上是对的——这是指标体系最常见的一种失败</a:t>
            </a:r>
            <a:endParaRPr/>
          </a:p>
        </p:txBody>
      </p:sp>
      <p:sp>
        <p:nvSpPr>
          <p:cNvPr id="1611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612" name=""/>
          <p:cNvSpPr/>
          <p:nvPr/>
        </p:nvSpPr>
        <p:spPr>
          <a:xfrm rot="0" flipH="0" flipV="0">
            <a:off x="609600" y="1323975"/>
            <a:ext cx="3476625" cy="3038475"/>
          </a:xfrm>
          <a:prstGeom prst="roundRect">
            <a:avLst>
              <a:gd name="adj" fmla="val 125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13" name=""/>
          <p:cNvSpPr/>
          <p:nvPr/>
        </p:nvSpPr>
        <p:spPr>
          <a:xfrm rot="0" flipH="0" flipV="0">
            <a:off x="609600" y="1323975"/>
            <a:ext cx="3476625" cy="3038475"/>
          </a:xfrm>
          <a:custGeom>
            <a:pathLst>
              <a:path w="365" h="319">
                <a:moveTo>
                  <a:pt x="361" y="0"/>
                </a:moveTo>
                <a:cubicBezTo>
                  <a:pt x="363" y="0"/>
                  <a:pt x="365" y="2"/>
                  <a:pt x="365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361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614" name="" descr="{&quot;isTemplate&quot;:true,&quot;type&quot;:&quot;text&quot;}"/>
          <p:cNvSpPr txBox="1"/>
          <p:nvPr/>
        </p:nvSpPr>
        <p:spPr>
          <a:xfrm rot="0" flipH="0" flipV="0">
            <a:off x="752475" y="1438275"/>
            <a:ext cx="3190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A4F24"/>
                </a:solidFill>
                <a:latin typeface="Microsoft YaHei"/>
                <a:ea typeface="Microsoft YaHei"/>
              </a:rPr>
              <a:t>本体定义</a:t>
            </a:r>
            <a:endParaRPr/>
          </a:p>
        </p:txBody>
      </p:sp>
      <p:sp>
        <p:nvSpPr>
          <p:cNvPr id="1615" name="" descr="{&quot;isTemplate&quot;:true,&quot;type&quot;:&quot;text&quot;}"/>
          <p:cNvSpPr txBox="1"/>
          <p:nvPr/>
        </p:nvSpPr>
        <p:spPr>
          <a:xfrm rot="0" flipH="0" flipV="0">
            <a:off x="752475" y="1657350"/>
            <a:ext cx="31908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8A8F99"/>
                </a:solidFill>
                <a:latin typeface="Microsoft YaHei"/>
                <a:ea typeface="Microsoft YaHei"/>
              </a:rPr>
              <a:t>ontology-defined · Beta</a:t>
            </a:r>
            <a:endParaRPr/>
          </a:p>
        </p:txBody>
      </p:sp>
      <p:sp>
        <p:nvSpPr>
          <p:cNvPr id="1616" name=""/>
          <p:cNvSpPr/>
          <p:nvPr/>
        </p:nvSpPr>
        <p:spPr>
          <a:xfrm rot="0" flipH="0" flipV="0">
            <a:off x="752475" y="1876425"/>
            <a:ext cx="3190875" cy="228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17" name="" descr="{&quot;isTemplate&quot;:true,&quot;type&quot;:&quot;text&quot;}"/>
          <p:cNvSpPr txBox="1"/>
          <p:nvPr/>
        </p:nvSpPr>
        <p:spPr>
          <a:xfrm rot="0" flipH="0" flipV="0">
            <a:off x="838200" y="1924050"/>
            <a:ext cx="628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1423"/>
                </a:solidFill>
                <a:latin typeface="Microsoft YaHei"/>
                <a:ea typeface="Microsoft YaHei"/>
              </a:rPr>
              <a:t>配置位置</a:t>
            </a:r>
            <a:endParaRPr/>
          </a:p>
        </p:txBody>
      </p:sp>
      <p:sp>
        <p:nvSpPr>
          <p:cNvPr id="1618" name="" descr="{&quot;isTemplate&quot;:true,&quot;type&quot;:&quot;text&quot;}"/>
          <p:cNvSpPr txBox="1"/>
          <p:nvPr/>
        </p:nvSpPr>
        <p:spPr>
          <a:xfrm rot="0" flipH="0" flipV="0">
            <a:off x="1543050" y="1924050"/>
            <a:ext cx="23145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>Ontology Manager</a:t>
            </a:r>
            <a:endParaRPr/>
          </a:p>
        </p:txBody>
      </p:sp>
      <p:sp>
        <p:nvSpPr>
          <p:cNvPr id="1619" name=""/>
          <p:cNvSpPr/>
          <p:nvPr/>
        </p:nvSpPr>
        <p:spPr>
          <a:xfrm rot="0" flipH="0" flipV="0">
            <a:off x="752475" y="2152650"/>
            <a:ext cx="3190875" cy="228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20" name="" descr="{&quot;isTemplate&quot;:true,&quot;type&quot;:&quot;text&quot;}"/>
          <p:cNvSpPr txBox="1"/>
          <p:nvPr/>
        </p:nvSpPr>
        <p:spPr>
          <a:xfrm rot="0" flipH="0" flipV="0">
            <a:off x="838200" y="2200275"/>
            <a:ext cx="628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1423"/>
                </a:solidFill>
                <a:latin typeface="Microsoft YaHei"/>
                <a:ea typeface="Microsoft YaHei"/>
              </a:rPr>
              <a:t>存在哪</a:t>
            </a:r>
            <a:endParaRPr/>
          </a:p>
        </p:txBody>
      </p:sp>
      <p:sp>
        <p:nvSpPr>
          <p:cNvPr id="1621" name="" descr="{&quot;isTemplate&quot;:true,&quot;type&quot;:&quot;text&quot;}"/>
          <p:cNvSpPr txBox="1"/>
          <p:nvPr/>
        </p:nvSpPr>
        <p:spPr>
          <a:xfrm rot="0" flipH="0" flipV="0">
            <a:off x="1543050" y="2200275"/>
            <a:ext cx="23145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本体定义里</a:t>
            </a:r>
            <a:endParaRPr/>
          </a:p>
        </p:txBody>
      </p:sp>
      <p:sp>
        <p:nvSpPr>
          <p:cNvPr id="1622" name=""/>
          <p:cNvSpPr/>
          <p:nvPr/>
        </p:nvSpPr>
        <p:spPr>
          <a:xfrm rot="0" flipH="0" flipV="0">
            <a:off x="752475" y="2428875"/>
            <a:ext cx="3190875" cy="228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23" name="" descr="{&quot;isTemplate&quot;:true,&quot;type&quot;:&quot;text&quot;}"/>
          <p:cNvSpPr txBox="1"/>
          <p:nvPr/>
        </p:nvSpPr>
        <p:spPr>
          <a:xfrm rot="0" flipH="0" flipV="0">
            <a:off x="838200" y="2476500"/>
            <a:ext cx="628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1423"/>
                </a:solidFill>
                <a:latin typeface="Microsoft YaHei"/>
                <a:ea typeface="Microsoft YaHei"/>
              </a:rPr>
              <a:t>谁能看到</a:t>
            </a:r>
            <a:endParaRPr/>
          </a:p>
        </p:txBody>
      </p:sp>
      <p:sp>
        <p:nvSpPr>
          <p:cNvPr id="1624" name="" descr="{&quot;isTemplate&quot;:true,&quot;type&quot;:&quot;text&quot;}"/>
          <p:cNvSpPr txBox="1"/>
          <p:nvPr/>
        </p:nvSpPr>
        <p:spPr>
          <a:xfrm rot="0" flipH="0" flipV="0">
            <a:off x="1543050" y="2476500"/>
            <a:ext cx="23145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该对象类型的每一个消费者</a:t>
            </a:r>
            <a:endParaRPr/>
          </a:p>
        </p:txBody>
      </p:sp>
      <p:sp>
        <p:nvSpPr>
          <p:cNvPr id="1625" name=""/>
          <p:cNvSpPr/>
          <p:nvPr/>
        </p:nvSpPr>
        <p:spPr>
          <a:xfrm rot="0" flipH="0" flipV="0">
            <a:off x="752475" y="2705100"/>
            <a:ext cx="3190875" cy="228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26" name="" descr="{&quot;isTemplate&quot;:true,&quot;type&quot;:&quot;text&quot;}"/>
          <p:cNvSpPr txBox="1"/>
          <p:nvPr/>
        </p:nvSpPr>
        <p:spPr>
          <a:xfrm rot="0" flipH="0" flipV="0">
            <a:off x="838200" y="2752725"/>
            <a:ext cx="628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1423"/>
                </a:solidFill>
                <a:latin typeface="Microsoft YaHei"/>
                <a:ea typeface="Microsoft YaHei"/>
              </a:rPr>
              <a:t>最大链接遍历</a:t>
            </a:r>
            <a:endParaRPr/>
          </a:p>
        </p:txBody>
      </p:sp>
      <p:sp>
        <p:nvSpPr>
          <p:cNvPr id="1627" name="" descr="{&quot;isTemplate&quot;:true,&quot;type&quot;:&quot;text&quot;}"/>
          <p:cNvSpPr txBox="1"/>
          <p:nvPr/>
        </p:nvSpPr>
        <p:spPr>
          <a:xfrm rot="0" flipH="0" flipV="0">
            <a:off x="1543050" y="2752725"/>
            <a:ext cx="23145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3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跳</a:t>
            </a:r>
            <a:endParaRPr/>
          </a:p>
        </p:txBody>
      </p:sp>
      <p:sp>
        <p:nvSpPr>
          <p:cNvPr id="1628" name=""/>
          <p:cNvSpPr/>
          <p:nvPr/>
        </p:nvSpPr>
        <p:spPr>
          <a:xfrm rot="0" flipH="0" flipV="0">
            <a:off x="752475" y="2981325"/>
            <a:ext cx="3190875" cy="228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29" name="" descr="{&quot;isTemplate&quot;:true,&quot;type&quot;:&quot;text&quot;}"/>
          <p:cNvSpPr txBox="1"/>
          <p:nvPr/>
        </p:nvSpPr>
        <p:spPr>
          <a:xfrm rot="0" flipH="0" flipV="0">
            <a:off x="838200" y="3028950"/>
            <a:ext cx="628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1423"/>
                </a:solidFill>
                <a:latin typeface="Microsoft YaHei"/>
                <a:ea typeface="Microsoft YaHei"/>
              </a:rPr>
              <a:t>表达式</a:t>
            </a:r>
            <a:endParaRPr/>
          </a:p>
        </p:txBody>
      </p:sp>
      <p:sp>
        <p:nvSpPr>
          <p:cNvPr id="1630" name="" descr="{&quot;isTemplate&quot;:true,&quot;type&quot;:&quot;text&quot;}"/>
          <p:cNvSpPr txBox="1"/>
          <p:nvPr/>
        </p:nvSpPr>
        <p:spPr>
          <a:xfrm rot="0" flipH="0" flipV="0">
            <a:off x="1543050" y="3028950"/>
            <a:ext cx="23145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不支持</a:t>
            </a:r>
            <a:endParaRPr/>
          </a:p>
        </p:txBody>
      </p:sp>
      <p:sp>
        <p:nvSpPr>
          <p:cNvPr id="1631" name=""/>
          <p:cNvSpPr/>
          <p:nvPr/>
        </p:nvSpPr>
        <p:spPr>
          <a:xfrm rot="0" flipH="0" flipV="0">
            <a:off x="4181475" y="1323975"/>
            <a:ext cx="3476625" cy="3038475"/>
          </a:xfrm>
          <a:prstGeom prst="roundRect">
            <a:avLst>
              <a:gd name="adj" fmla="val 125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32" name=""/>
          <p:cNvSpPr/>
          <p:nvPr/>
        </p:nvSpPr>
        <p:spPr>
          <a:xfrm rot="0" flipH="0" flipV="0">
            <a:off x="4181475" y="1323975"/>
            <a:ext cx="3476625" cy="3038475"/>
          </a:xfrm>
          <a:custGeom>
            <a:pathLst>
              <a:path w="365" h="319">
                <a:moveTo>
                  <a:pt x="361" y="0"/>
                </a:moveTo>
                <a:cubicBezTo>
                  <a:pt x="363" y="0"/>
                  <a:pt x="365" y="2"/>
                  <a:pt x="365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361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1633" name="" descr="{&quot;isTemplate&quot;:true,&quot;type&quot;:&quot;text&quot;}"/>
          <p:cNvSpPr txBox="1"/>
          <p:nvPr/>
        </p:nvSpPr>
        <p:spPr>
          <a:xfrm rot="0" flipH="0" flipV="0">
            <a:off x="4324350" y="1438275"/>
            <a:ext cx="3190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87D2F"/>
                </a:solidFill>
                <a:latin typeface="Microsoft YaHei"/>
                <a:ea typeface="Microsoft YaHei"/>
              </a:rPr>
              <a:t>运行时定义</a:t>
            </a:r>
            <a:endParaRPr/>
          </a:p>
        </p:txBody>
      </p:sp>
      <p:sp>
        <p:nvSpPr>
          <p:cNvPr id="1634" name="" descr="{&quot;isTemplate&quot;:true,&quot;type&quot;:&quot;text&quot;}"/>
          <p:cNvSpPr txBox="1"/>
          <p:nvPr/>
        </p:nvSpPr>
        <p:spPr>
          <a:xfrm rot="0" flipH="0" flipV="0">
            <a:off x="4324350" y="1657350"/>
            <a:ext cx="31908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8A8F99"/>
                </a:solidFill>
                <a:latin typeface="Microsoft YaHei"/>
                <a:ea typeface="Microsoft YaHei"/>
              </a:rPr>
              <a:t>runtime-defined · GA</a:t>
            </a:r>
            <a:endParaRPr/>
          </a:p>
        </p:txBody>
      </p:sp>
      <p:sp>
        <p:nvSpPr>
          <p:cNvPr id="1635" name=""/>
          <p:cNvSpPr/>
          <p:nvPr/>
        </p:nvSpPr>
        <p:spPr>
          <a:xfrm rot="0" flipH="0" flipV="0">
            <a:off x="4324350" y="1876425"/>
            <a:ext cx="3190875" cy="228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36" name="" descr="{&quot;isTemplate&quot;:true,&quot;type&quot;:&quot;text&quot;}"/>
          <p:cNvSpPr txBox="1"/>
          <p:nvPr/>
        </p:nvSpPr>
        <p:spPr>
          <a:xfrm rot="0" flipH="0" flipV="0">
            <a:off x="4410075" y="1924050"/>
            <a:ext cx="628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1423"/>
                </a:solidFill>
                <a:latin typeface="Microsoft YaHei"/>
                <a:ea typeface="Microsoft YaHei"/>
              </a:rPr>
              <a:t>配置位置</a:t>
            </a:r>
            <a:endParaRPr/>
          </a:p>
        </p:txBody>
      </p:sp>
      <p:sp>
        <p:nvSpPr>
          <p:cNvPr id="1637" name="" descr="{&quot;isTemplate&quot;:true,&quot;type&quot;:&quot;text&quot;}"/>
          <p:cNvSpPr txBox="1"/>
          <p:nvPr/>
        </p:nvSpPr>
        <p:spPr>
          <a:xfrm rot="0" flipH="0" flipV="0">
            <a:off x="5114925" y="1924050"/>
            <a:ext cx="23145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Workshop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模块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/ Insight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工作簿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/ SDK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请求</a:t>
            </a:r>
            <a:endParaRPr/>
          </a:p>
        </p:txBody>
      </p:sp>
      <p:sp>
        <p:nvSpPr>
          <p:cNvPr id="1638" name=""/>
          <p:cNvSpPr/>
          <p:nvPr/>
        </p:nvSpPr>
        <p:spPr>
          <a:xfrm rot="0" flipH="0" flipV="0">
            <a:off x="4324350" y="2152650"/>
            <a:ext cx="3190875" cy="228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39" name="" descr="{&quot;isTemplate&quot;:true,&quot;type&quot;:&quot;text&quot;}"/>
          <p:cNvSpPr txBox="1"/>
          <p:nvPr/>
        </p:nvSpPr>
        <p:spPr>
          <a:xfrm rot="0" flipH="0" flipV="0">
            <a:off x="4410075" y="2200275"/>
            <a:ext cx="628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1423"/>
                </a:solidFill>
                <a:latin typeface="Microsoft YaHei"/>
                <a:ea typeface="Microsoft YaHei"/>
              </a:rPr>
              <a:t>存在哪</a:t>
            </a:r>
            <a:endParaRPr/>
          </a:p>
        </p:txBody>
      </p:sp>
      <p:sp>
        <p:nvSpPr>
          <p:cNvPr id="1640" name="" descr="{&quot;isTemplate&quot;:true,&quot;type&quot;:&quot;text&quot;}"/>
          <p:cNvSpPr txBox="1"/>
          <p:nvPr/>
        </p:nvSpPr>
        <p:spPr>
          <a:xfrm rot="0" flipH="0" flipV="0">
            <a:off x="5114925" y="2200275"/>
            <a:ext cx="23145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对象集定义里，不进本体</a:t>
            </a:r>
            <a:endParaRPr/>
          </a:p>
        </p:txBody>
      </p:sp>
      <p:sp>
        <p:nvSpPr>
          <p:cNvPr id="1641" name=""/>
          <p:cNvSpPr/>
          <p:nvPr/>
        </p:nvSpPr>
        <p:spPr>
          <a:xfrm rot="0" flipH="0" flipV="0">
            <a:off x="4324350" y="2428875"/>
            <a:ext cx="3190875" cy="352425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42" name="" descr="{&quot;isTemplate&quot;:true,&quot;type&quot;:&quot;text&quot;}"/>
          <p:cNvSpPr txBox="1"/>
          <p:nvPr/>
        </p:nvSpPr>
        <p:spPr>
          <a:xfrm rot="0" flipH="0" flipV="0">
            <a:off x="4410075" y="2476500"/>
            <a:ext cx="628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1423"/>
                </a:solidFill>
                <a:latin typeface="Microsoft YaHei"/>
                <a:ea typeface="Microsoft YaHei"/>
              </a:rPr>
              <a:t>谁能看到</a:t>
            </a:r>
            <a:endParaRPr/>
          </a:p>
        </p:txBody>
      </p:sp>
      <p:sp>
        <p:nvSpPr>
          <p:cNvPr id="1643" name="" descr="{&quot;isTemplate&quot;:true,&quot;type&quot;:&quot;text&quot;}"/>
          <p:cNvSpPr txBox="1"/>
          <p:nvPr/>
        </p:nvSpPr>
        <p:spPr>
          <a:xfrm rot="0" flipH="0" flipV="0">
            <a:off x="5114925" y="2476500"/>
            <a:ext cx="2314575" cy="257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声明它的那个请求或模块，以及能访问它所保存对象集的人</a:t>
            </a:r>
            <a:endParaRPr/>
          </a:p>
        </p:txBody>
      </p:sp>
      <p:sp>
        <p:nvSpPr>
          <p:cNvPr id="1644" name=""/>
          <p:cNvSpPr/>
          <p:nvPr/>
        </p:nvSpPr>
        <p:spPr>
          <a:xfrm rot="0" flipH="0" flipV="0">
            <a:off x="4324350" y="2828925"/>
            <a:ext cx="3190875" cy="228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45" name="" descr="{&quot;isTemplate&quot;:true,&quot;type&quot;:&quot;text&quot;}"/>
          <p:cNvSpPr txBox="1"/>
          <p:nvPr/>
        </p:nvSpPr>
        <p:spPr>
          <a:xfrm rot="0" flipH="0" flipV="0">
            <a:off x="4410075" y="2876550"/>
            <a:ext cx="628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1423"/>
                </a:solidFill>
                <a:latin typeface="Microsoft YaHei"/>
                <a:ea typeface="Microsoft YaHei"/>
              </a:rPr>
              <a:t>最大链接遍历</a:t>
            </a:r>
            <a:endParaRPr/>
          </a:p>
        </p:txBody>
      </p:sp>
      <p:sp>
        <p:nvSpPr>
          <p:cNvPr id="1646" name="" descr="{&quot;isTemplate&quot;:true,&quot;type&quot;:&quot;text&quot;}"/>
          <p:cNvSpPr txBox="1"/>
          <p:nvPr/>
        </p:nvSpPr>
        <p:spPr>
          <a:xfrm rot="0" flipH="0" flipV="0">
            <a:off x="5114925" y="2876550"/>
            <a:ext cx="23145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Workshop / Insight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仅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跳；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SDK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无固定上限</a:t>
            </a:r>
            <a:endParaRPr/>
          </a:p>
        </p:txBody>
      </p:sp>
      <p:sp>
        <p:nvSpPr>
          <p:cNvPr id="1647" name=""/>
          <p:cNvSpPr/>
          <p:nvPr/>
        </p:nvSpPr>
        <p:spPr>
          <a:xfrm rot="0" flipH="0" flipV="0">
            <a:off x="4324350" y="3105150"/>
            <a:ext cx="3190875" cy="228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48" name="" descr="{&quot;isTemplate&quot;:true,&quot;type&quot;:&quot;text&quot;}"/>
          <p:cNvSpPr txBox="1"/>
          <p:nvPr/>
        </p:nvSpPr>
        <p:spPr>
          <a:xfrm rot="0" flipH="0" flipV="0">
            <a:off x="4410075" y="3152775"/>
            <a:ext cx="628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1423"/>
                </a:solidFill>
                <a:latin typeface="Microsoft YaHei"/>
                <a:ea typeface="Microsoft YaHei"/>
              </a:rPr>
              <a:t>表达式</a:t>
            </a:r>
            <a:endParaRPr/>
          </a:p>
        </p:txBody>
      </p:sp>
      <p:sp>
        <p:nvSpPr>
          <p:cNvPr id="1649" name="" descr="{&quot;isTemplate&quot;:true,&quot;type&quot;:&quot;text&quot;}"/>
          <p:cNvSpPr txBox="1"/>
          <p:nvPr/>
        </p:nvSpPr>
        <p:spPr>
          <a:xfrm rot="0" flipH="0" flipV="0">
            <a:off x="5114925" y="3152775"/>
            <a:ext cx="23145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支持</a:t>
            </a:r>
            <a:endParaRPr/>
          </a:p>
        </p:txBody>
      </p:sp>
      <p:sp>
        <p:nvSpPr>
          <p:cNvPr id="1650" name=""/>
          <p:cNvSpPr/>
          <p:nvPr/>
        </p:nvSpPr>
        <p:spPr>
          <a:xfrm rot="0" flipH="0" flipV="0">
            <a:off x="7753350" y="1285875"/>
            <a:ext cx="3829050" cy="3038475"/>
          </a:xfrm>
          <a:prstGeom prst="roundRect">
            <a:avLst>
              <a:gd name="adj" fmla="val 1254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651" name="" descr="{&quot;isTemplate&quot;:true,&quot;type&quot;:&quot;text&quot;}"/>
          <p:cNvSpPr txBox="1"/>
          <p:nvPr/>
        </p:nvSpPr>
        <p:spPr>
          <a:xfrm rot="0" flipH="0" flipV="0">
            <a:off x="7905750" y="1409700"/>
            <a:ext cx="3524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BA15C"/>
                </a:solidFill>
                <a:latin typeface="Microsoft YaHei"/>
                <a:ea typeface="Microsoft YaHei"/>
              </a:rPr>
              <a:t>官方选用规则</a:t>
            </a:r>
            <a:endParaRPr/>
          </a:p>
        </p:txBody>
      </p:sp>
      <p:sp>
        <p:nvSpPr>
          <p:cNvPr id="1652" name=""/>
          <p:cNvSpPr/>
          <p:nvPr/>
        </p:nvSpPr>
        <p:spPr>
          <a:xfrm rot="0" flipH="0" flipV="0">
            <a:off x="7905750" y="1676400"/>
            <a:ext cx="3524250" cy="1228725"/>
          </a:xfrm>
          <a:prstGeom prst="roundRect">
            <a:avLst>
              <a:gd name="adj" fmla="val 2326"/>
            </a:avLst>
          </a:prstGeom>
          <a:solidFill>
            <a:srgbClr val="FA4F24">
              <a:alpha val="18000"/>
            </a:srgbClr>
          </a:solidFill>
          <a:ln/>
        </p:spPr>
        <p:txBody>
          <a:bodyPr/>
          <a:p/>
        </p:txBody>
      </p:sp>
      <p:sp>
        <p:nvSpPr>
          <p:cNvPr id="1653" name="" descr="{&quot;isTemplate&quot;:true,&quot;type&quot;:&quot;text&quot;}"/>
          <p:cNvSpPr txBox="1"/>
          <p:nvPr/>
        </p:nvSpPr>
        <p:spPr>
          <a:xfrm rot="0" flipH="0" flipV="0">
            <a:off x="8001000" y="2009775"/>
            <a:ext cx="33337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→ </a:t>
            </a:r>
            <a:r>
              <a:rPr lang="zh-CN" sz="825" b="1">
                <a:solidFill>
                  <a:srgbClr val="FFFFFF"/>
                </a:solidFill>
                <a:latin typeface="Microsoft YaHei"/>
                <a:ea typeface="Microsoft YaHei"/>
              </a:rPr>
              <a:t>用本体定义</a:t>
            </a:r>
            <a:endParaRPr/>
          </a:p>
        </p:txBody>
      </p:sp>
      <p:sp>
        <p:nvSpPr>
          <p:cNvPr id="1654" name="" descr="{&quot;isTemplate&quot;:true,&quot;type&quot;:&quot;text&quot;}"/>
          <p:cNvSpPr txBox="1"/>
          <p:nvPr/>
        </p:nvSpPr>
        <p:spPr>
          <a:xfrm rot="0" flipH="0" flipV="0">
            <a:off x="8001000" y="2228850"/>
            <a:ext cx="3333750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这个计算是组织对该对象类型的建模方式的一部分，每个消费者都应该看到同一个值。</a:t>
            </a:r>
            <a:endParaRPr/>
          </a:p>
        </p:txBody>
      </p:sp>
      <p:sp>
        <p:nvSpPr>
          <p:cNvPr id="1655" name=""/>
          <p:cNvSpPr/>
          <p:nvPr/>
        </p:nvSpPr>
        <p:spPr>
          <a:xfrm rot="0" flipH="0" flipV="0">
            <a:off x="7905750" y="2971800"/>
            <a:ext cx="3524250" cy="1228725"/>
          </a:xfrm>
          <a:prstGeom prst="roundRect">
            <a:avLst>
              <a:gd name="adj" fmla="val 2326"/>
            </a:avLst>
          </a:prstGeom>
          <a:solidFill>
            <a:srgbClr val="F87D2F">
              <a:alpha val="18000"/>
            </a:srgbClr>
          </a:solidFill>
          <a:ln/>
        </p:spPr>
        <p:txBody>
          <a:bodyPr/>
          <a:p/>
        </p:txBody>
      </p:sp>
      <p:sp>
        <p:nvSpPr>
          <p:cNvPr id="1656" name="" descr="{&quot;isTemplate&quot;:true,&quot;type&quot;:&quot;text&quot;}"/>
          <p:cNvSpPr txBox="1"/>
          <p:nvPr/>
        </p:nvSpPr>
        <p:spPr>
          <a:xfrm rot="0" flipH="0" flipV="0">
            <a:off x="8001000" y="3305175"/>
            <a:ext cx="33337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→ </a:t>
            </a:r>
            <a:r>
              <a:rPr lang="zh-CN" sz="825" b="1">
                <a:solidFill>
                  <a:srgbClr val="FFFFFF"/>
                </a:solidFill>
                <a:latin typeface="Microsoft YaHei"/>
                <a:ea typeface="Microsoft YaHei"/>
              </a:rPr>
              <a:t>用运行时定义</a:t>
            </a:r>
            <a:endParaRPr/>
          </a:p>
        </p:txBody>
      </p:sp>
      <p:sp>
        <p:nvSpPr>
          <p:cNvPr id="1657" name="" descr="{&quot;isTemplate&quot;:true,&quot;type&quot;:&quot;text&quot;}"/>
          <p:cNvSpPr txBox="1"/>
          <p:nvPr/>
        </p:nvSpPr>
        <p:spPr>
          <a:xfrm rot="0" flipH="0" flipV="0">
            <a:off x="8001000" y="3524250"/>
            <a:ext cx="3333750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这个计算只属于某一个应用或某一次分析，或者你确实需要算术与日期表达式。</a:t>
            </a:r>
            <a:endParaRPr/>
          </a:p>
        </p:txBody>
      </p:sp>
      <p:sp>
        <p:nvSpPr>
          <p:cNvPr id="1658" name=""/>
          <p:cNvSpPr/>
          <p:nvPr/>
        </p:nvSpPr>
        <p:spPr>
          <a:xfrm rot="0" flipH="0" flipV="0">
            <a:off x="609600" y="4419600"/>
            <a:ext cx="10972800" cy="1219200"/>
          </a:xfrm>
          <a:prstGeom prst="roundRect">
            <a:avLst>
              <a:gd name="adj" fmla="val 3125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659" name="" descr="{&quot;isTemplate&quot;:true,&quot;type&quot;:&quot;text&quot;}"/>
          <p:cNvSpPr txBox="1"/>
          <p:nvPr/>
        </p:nvSpPr>
        <p:spPr>
          <a:xfrm rot="0" flipH="0" flipV="0">
            <a:off x="781050" y="4524375"/>
            <a:ext cx="10629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六条硬限制：违反任何一条，模型就不成立</a:t>
            </a:r>
            <a:endParaRPr/>
          </a:p>
        </p:txBody>
      </p:sp>
      <p:sp>
        <p:nvSpPr>
          <p:cNvPr id="1660" name=""/>
          <p:cNvSpPr/>
          <p:nvPr/>
        </p:nvSpPr>
        <p:spPr>
          <a:xfrm rot="0" flipH="0" flipV="0">
            <a:off x="809625" y="4762500"/>
            <a:ext cx="1704975" cy="771525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61" name=""/>
          <p:cNvSpPr/>
          <p:nvPr/>
        </p:nvSpPr>
        <p:spPr>
          <a:xfrm rot="0" flipH="0" flipV="0">
            <a:off x="809625" y="4762500"/>
            <a:ext cx="1704975" cy="771525"/>
          </a:xfrm>
          <a:custGeom>
            <a:pathLst>
              <a:path w="179" h="81">
                <a:moveTo>
                  <a:pt x="3" y="81"/>
                </a:moveTo>
                <a:cubicBezTo>
                  <a:pt x="1" y="81"/>
                  <a:pt x="0" y="80"/>
                  <a:pt x="0" y="7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8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662" name="" descr="{&quot;isTemplate&quot;:true,&quot;type&quot;:&quot;text&quot;}"/>
          <p:cNvSpPr txBox="1"/>
          <p:nvPr/>
        </p:nvSpPr>
        <p:spPr>
          <a:xfrm rot="0" flipH="0" flipV="0">
            <a:off x="895350" y="4905375"/>
            <a:ext cx="15049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750">
                <a:solidFill>
                  <a:srgbClr val="3A4050"/>
                </a:solidFill>
                <a:latin typeface="Microsoft YaHei"/>
                <a:ea typeface="Microsoft YaHei"/>
              </a:rPr>
              <a:t>一个计算属性不能引用同一次</a:t>
            </a:r>
            <a:r>
              <a:rPr lang="en-US" sz="750">
                <a:solidFill>
                  <a:srgbClr val="3A4050"/>
                </a:solidFill>
                <a:latin typeface="Microsoft YaHei"/>
                <a:ea typeface="Microsoft YaHei"/>
              </a:rPr>
              <a:t xml:space="preserve"> withProperties </a:t>
            </a:r>
            <a:r>
              <a:rPr lang="zh-CN" sz="750">
                <a:solidFill>
                  <a:srgbClr val="3A4050"/>
                </a:solidFill>
                <a:latin typeface="Microsoft YaHei"/>
                <a:ea typeface="Microsoft YaHei"/>
              </a:rPr>
              <a:t>操作里声明的另一个计算属性，必须拆到后续操作</a:t>
            </a:r>
            <a:endParaRPr/>
          </a:p>
        </p:txBody>
      </p:sp>
      <p:sp>
        <p:nvSpPr>
          <p:cNvPr id="1663" name=""/>
          <p:cNvSpPr/>
          <p:nvPr/>
        </p:nvSpPr>
        <p:spPr>
          <a:xfrm rot="0" flipH="0" flipV="0">
            <a:off x="2600325" y="4762500"/>
            <a:ext cx="1695450" cy="771525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64" name=""/>
          <p:cNvSpPr/>
          <p:nvPr/>
        </p:nvSpPr>
        <p:spPr>
          <a:xfrm rot="0" flipH="0" flipV="0">
            <a:off x="2600325" y="4762500"/>
            <a:ext cx="1695450" cy="771525"/>
          </a:xfrm>
          <a:custGeom>
            <a:pathLst>
              <a:path w="178" h="81">
                <a:moveTo>
                  <a:pt x="3" y="81"/>
                </a:moveTo>
                <a:cubicBezTo>
                  <a:pt x="1" y="81"/>
                  <a:pt x="0" y="80"/>
                  <a:pt x="0" y="7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8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665" name="" descr="{&quot;isTemplate&quot;:true,&quot;type&quot;:&quot;text&quot;}"/>
          <p:cNvSpPr txBox="1"/>
          <p:nvPr/>
        </p:nvSpPr>
        <p:spPr>
          <a:xfrm rot="0" flipH="0" flipV="0">
            <a:off x="2686050" y="4905375"/>
            <a:ext cx="149542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750">
                <a:solidFill>
                  <a:srgbClr val="3A4050"/>
                </a:solidFill>
                <a:latin typeface="Microsoft YaHei"/>
                <a:ea typeface="Microsoft YaHei"/>
              </a:rPr>
              <a:t>链接选择与聚合不能嵌套另一个派生属性的定义；但属性选择器可以引用已在作用域里的属性</a:t>
            </a:r>
            <a:endParaRPr/>
          </a:p>
        </p:txBody>
      </p:sp>
      <p:sp>
        <p:nvSpPr>
          <p:cNvPr id="1666" name=""/>
          <p:cNvSpPr/>
          <p:nvPr/>
        </p:nvSpPr>
        <p:spPr>
          <a:xfrm rot="0" flipH="0" flipV="0">
            <a:off x="4381500" y="4762500"/>
            <a:ext cx="1704975" cy="771525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67" name=""/>
          <p:cNvSpPr/>
          <p:nvPr/>
        </p:nvSpPr>
        <p:spPr>
          <a:xfrm rot="0" flipH="0" flipV="0">
            <a:off x="4381500" y="4762500"/>
            <a:ext cx="1704975" cy="771525"/>
          </a:xfrm>
          <a:custGeom>
            <a:pathLst>
              <a:path w="179" h="81">
                <a:moveTo>
                  <a:pt x="3" y="81"/>
                </a:moveTo>
                <a:cubicBezTo>
                  <a:pt x="1" y="81"/>
                  <a:pt x="0" y="80"/>
                  <a:pt x="0" y="7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8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668" name="" descr="{&quot;isTemplate&quot;:true,&quot;type&quot;:&quot;text&quot;}"/>
          <p:cNvSpPr txBox="1"/>
          <p:nvPr/>
        </p:nvSpPr>
        <p:spPr>
          <a:xfrm rot="0" flipH="0" flipV="0">
            <a:off x="4467225" y="4991100"/>
            <a:ext cx="1504950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750">
                <a:solidFill>
                  <a:srgbClr val="3A4050"/>
                </a:solidFill>
                <a:latin typeface="Microsoft YaHei"/>
                <a:ea typeface="Microsoft YaHei"/>
              </a:rPr>
              <a:t>表达式只能引用更早声明的派生属性，同一次操作内不行</a:t>
            </a:r>
            <a:endParaRPr/>
          </a:p>
        </p:txBody>
      </p:sp>
      <p:sp>
        <p:nvSpPr>
          <p:cNvPr id="1669" name=""/>
          <p:cNvSpPr/>
          <p:nvPr/>
        </p:nvSpPr>
        <p:spPr>
          <a:xfrm rot="0" flipH="0" flipV="0">
            <a:off x="6172200" y="4762500"/>
            <a:ext cx="1695450" cy="771525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70" name=""/>
          <p:cNvSpPr/>
          <p:nvPr/>
        </p:nvSpPr>
        <p:spPr>
          <a:xfrm rot="0" flipH="0" flipV="0">
            <a:off x="6172200" y="4762500"/>
            <a:ext cx="1695450" cy="771525"/>
          </a:xfrm>
          <a:custGeom>
            <a:pathLst>
              <a:path w="178" h="81">
                <a:moveTo>
                  <a:pt x="3" y="81"/>
                </a:moveTo>
                <a:cubicBezTo>
                  <a:pt x="1" y="81"/>
                  <a:pt x="0" y="80"/>
                  <a:pt x="0" y="7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8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671" name="" descr="{&quot;isTemplate&quot;:true,&quot;type&quot;:&quot;text&quot;}"/>
          <p:cNvSpPr txBox="1"/>
          <p:nvPr/>
        </p:nvSpPr>
        <p:spPr>
          <a:xfrm rot="0" flipH="0" flipV="0">
            <a:off x="6257925" y="5067300"/>
            <a:ext cx="1495425" cy="1619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50">
                <a:solidFill>
                  <a:srgbClr val="3A4050"/>
                </a:solidFill>
                <a:latin typeface="Microsoft YaHei"/>
                <a:ea typeface="Microsoft YaHei"/>
              </a:rPr>
              <a:t>表达式当前不支持静态字面量</a:t>
            </a:r>
            <a:endParaRPr/>
          </a:p>
        </p:txBody>
      </p:sp>
      <p:sp>
        <p:nvSpPr>
          <p:cNvPr id="1672" name=""/>
          <p:cNvSpPr/>
          <p:nvPr/>
        </p:nvSpPr>
        <p:spPr>
          <a:xfrm rot="0" flipH="0" flipV="0">
            <a:off x="7953375" y="4762500"/>
            <a:ext cx="1704975" cy="771525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73" name=""/>
          <p:cNvSpPr/>
          <p:nvPr/>
        </p:nvSpPr>
        <p:spPr>
          <a:xfrm rot="0" flipH="0" flipV="0">
            <a:off x="7953375" y="4762500"/>
            <a:ext cx="1704975" cy="771525"/>
          </a:xfrm>
          <a:custGeom>
            <a:pathLst>
              <a:path w="179" h="81">
                <a:moveTo>
                  <a:pt x="3" y="81"/>
                </a:moveTo>
                <a:cubicBezTo>
                  <a:pt x="1" y="81"/>
                  <a:pt x="0" y="80"/>
                  <a:pt x="0" y="7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8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674" name="" descr="{&quot;isTemplate&quot;:true,&quot;type&quot;:&quot;text&quot;}"/>
          <p:cNvSpPr txBox="1"/>
          <p:nvPr/>
        </p:nvSpPr>
        <p:spPr>
          <a:xfrm rot="0" flipH="0" flipV="0">
            <a:off x="8039100" y="4905375"/>
            <a:ext cx="15049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750">
                <a:solidFill>
                  <a:srgbClr val="3A4050"/>
                </a:solidFill>
                <a:latin typeface="Microsoft YaHei"/>
                <a:ea typeface="Microsoft YaHei"/>
              </a:rPr>
              <a:t>不能用于文本搜索或关键词过滤；用</a:t>
            </a:r>
            <a:r>
              <a:rPr lang="en-US" sz="750">
                <a:solidFill>
                  <a:srgbClr val="3A4050"/>
                </a:solidFill>
                <a:latin typeface="Microsoft YaHei"/>
                <a:ea typeface="Microsoft YaHei"/>
              </a:rPr>
              <a:t xml:space="preserve"> OSv1 </a:t>
            </a:r>
            <a:r>
              <a:rPr lang="zh-CN" sz="750">
                <a:solidFill>
                  <a:srgbClr val="3A4050"/>
                </a:solidFill>
                <a:latin typeface="Microsoft YaHei"/>
                <a:ea typeface="Microsoft YaHei"/>
              </a:rPr>
              <a:t>索引的对象类型不能出现在含派生属性的查询里</a:t>
            </a:r>
            <a:endParaRPr/>
          </a:p>
        </p:txBody>
      </p:sp>
      <p:sp>
        <p:nvSpPr>
          <p:cNvPr id="1675" name=""/>
          <p:cNvSpPr/>
          <p:nvPr/>
        </p:nvSpPr>
        <p:spPr>
          <a:xfrm rot="0" flipH="0" flipV="0">
            <a:off x="9744075" y="4762500"/>
            <a:ext cx="1695450" cy="771525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76" name=""/>
          <p:cNvSpPr/>
          <p:nvPr/>
        </p:nvSpPr>
        <p:spPr>
          <a:xfrm rot="0" flipH="0" flipV="0">
            <a:off x="9744075" y="4762500"/>
            <a:ext cx="1695450" cy="771525"/>
          </a:xfrm>
          <a:custGeom>
            <a:pathLst>
              <a:path w="178" h="81">
                <a:moveTo>
                  <a:pt x="3" y="81"/>
                </a:moveTo>
                <a:cubicBezTo>
                  <a:pt x="1" y="81"/>
                  <a:pt x="0" y="80"/>
                  <a:pt x="0" y="7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8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677" name="" descr="{&quot;isTemplate&quot;:true,&quot;type&quot;:&quot;text&quot;}"/>
          <p:cNvSpPr txBox="1"/>
          <p:nvPr/>
        </p:nvSpPr>
        <p:spPr>
          <a:xfrm rot="0" flipH="0" flipV="0">
            <a:off x="9829800" y="4905375"/>
            <a:ext cx="149542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750">
                <a:solidFill>
                  <a:srgbClr val="3A4050"/>
                </a:solidFill>
                <a:latin typeface="Microsoft YaHei"/>
                <a:ea typeface="Microsoft YaHei"/>
              </a:rPr>
              <a:t>不能标记为必填、不能有属性类型约束、不能挂规则集绑定或基础格式化器</a:t>
            </a:r>
            <a:endParaRPr/>
          </a:p>
        </p:txBody>
      </p:sp>
      <p:sp>
        <p:nvSpPr>
          <p:cNvPr id="1678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679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680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指标体系咨询方法论</a:t>
            </a:r>
            <a:endParaRPr/>
          </a:p>
        </p:txBody>
      </p:sp>
      <p:sp>
        <p:nvSpPr>
          <p:cNvPr id="1681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07 / 30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682" name="" descr="&lt;Slide style={{ width: 1280, height: 720, background: '#FFFFFF', padding: '24px 64px 0' }}&gt;&#10;  &lt;Box style={{ height: 96, flexDirection: 'column', justifyContent: 'flex-start' }}&gt;&#10;    &lt;Text style={{ fontSize: 32, fontWeight: 'bold', color: '#0F1423' }}&gt;&#10;      十种聚合类型，以及 &lt;span style={{ color: '#FA4F24' }}&gt;Sum 会悄悄改变你的数字类型&lt;/span&gt;&#10;    &lt;/Text&gt;&#10;    &lt;Text style={{ fontSize: 20, color: '#8A8F99', marginTop: 8 }}&gt;指标能力的上限由聚合类型决定；口径事故的一半藏在类型、null 与顺序里&lt;/Text&gt;&#10;  &lt;/Box&gt;&#10;  &lt;Box style={{ height: 1, background: '#E8E8E8' }} /&gt;&#10;&#10;  &lt;Box style={{ paddingTop: 14, paddingBottom: 8, height: 479, flexDirection: 'column', gap: 10 }}&gt;&#10;    &lt;Box style={{ flex: 1.5, background: '#F7F7F8', borderRadius: 4, padding: '12px 16px', flexDirection: 'column' }}&gt;&#10;      &lt;Text style={{ fontSize: 13.5, fontWeight: 'bold', color: '#0F1423' }}&gt;官方聚合类型全表（十种，其中一种不可用）&lt;/Text&gt;&#10;      &lt;Box style={{ flexDirection: 'row', gap: 4, marginTop: 9 }}&gt;&#10;        &lt;Text style={{ fontSize: 10, color: '#8A8F99', width: 152 }}&gt;名称（Ontology Manager）&lt;/Text&gt;&#10;        &lt;Text style={{ fontSize: 10, color: '#8A8F99', width: 118 }}&gt;SDK 方法&lt;/Text&gt;&#10;        &lt;Text style={{ fontSize: 10, color: '#8A8F99', flex: 1 }}&gt;入参类型&lt;/Text&gt;&#10;        &lt;Text style={{ fontSize: 10, color: '#8A8F99', width: 148 }}&gt;结果类型&lt;/Text&gt;&#10;      &lt;/Box&gt;&#10;      {[&#10;        { n: 'Count', m: '$count', i: '不适用', o: 'Long', c: true },&#10;        { n: 'Average', m: 'avg', i: '数值', o: 'Double', c: true },&#10;        { n: 'Sum', m: 'sum', i: '数值', o: '数值（加宽）', c: true },&#10;        { n: 'Minimum', m: 'min', i: '数值/字符串/布尔/日期时间', o: '同源', c: true },&#10;        { n: 'Maximum', m: 'max', i: '数值/字符串/布尔/日期时间', o: '同源', c: true },&#10;        { n: 'Approximate cardinality', m: 'approximateDistinct', i: '数值/字符串/布尔/日期时间', o: 'Long', c: true },&#10;        { n: 'Exact cardinality', m: 'exactDistinct', i: '数值/字符串/布尔/日期时间', o: 'Long', c: true },&#10;        { n: 'Collect list', m: 'collectList', i: '除向量外任意类型', o: '源类型数组', c: true },&#10;        { n: 'Collect set', m: 'collectSet', i: '除向量外任意类型', o: '源类型数组', c: true },&#10;        { n: '（不可用）', m: 'approximatePercentile', i: '数值', o: '同源', c: false },&#10;      ].map((x) =&gt; (&#10;        &lt;Box key={x.m} style={{ flexDirection: 'row', gap: 4, marginTop: 3, background: '#FFFFFF', borderRadius: 2, padding: '3px 7px', opacity: x.c ? 1 : 0.55 }}&gt;&#10;          &lt;Text style={{ fontSize: 10.5, fontWeight: 'bold', color: '#0F1423', width: 152 }}&gt;{x.n}&lt;/Text&gt;&#10;          &lt;Text style={{ fontSize: 10, color: '#C43A17', width: 118 }}&gt;{x.m}&lt;/Text&gt;&#10;          &lt;Text style={{ fontSize: 10, color: '#5A6070', flex: 1 }}&gt;{x.i}&lt;/Text&gt;&#10;          &lt;Text style={{ fontSize: 10, color: '#5A6070', width: 148 }}&gt;{x.o}&lt;/Text&gt;&#10;        &lt;/Box&gt;&#10;      ))}&#10;    &lt;/Box&gt;&#10;&#10;    &lt;Box style={{ flex: 1, flexDirection: 'row', gap: 10 }}&gt;&#10;      &lt;Box style={{ flex: 1.1, background: '#0F1423', borderRadius: 4, padding: '11px 16px', flexDirection: 'column' }}&gt;&#10;        &lt;Text style={{ fontSize: 13, fontWeight: 'bold', color: '#FBA15C' }}&gt;Sum 的类型加宽：口径事故的隐形来源&lt;/Text&gt;&#10;        &lt;Box style={{ flexDirection: 'row', gap: 6, marginTop: 9 }}&gt;&#10;          {[&#10;            { a: 'short / integer', b: 'long' },&#10;            { a: 'long', b: 'long' },&#10;            { a: 'float', b: 'double' },&#10;            { a: 'double', b: 'double' },&#10;            { a: 'decimal', b: 'decimal（提精度、降标度）' },&#10;          ].map((x) =&gt; (&#10;            &lt;Box key={x.a} style={{ flex: 1, background: 'rgba(255,255,255,0.07)', borderRadius: 3, padding: '6px 5px', alignItems: 'center' }}&gt;&#10;              &lt;Text style={{ fontSize: 9.5, color: 'rgba(255,255,255,0.6)' }}&gt;{x.a}&lt;/Text&gt;&#10;              &lt;Text style={{ fontSize: 11, fontWeight: 'bold', color: '#FBA15C', marginTop: 3 }}&gt;{x.b}&lt;/Text&gt;&#10;            &lt;/Box&gt;&#10;          ))}&#10;        &lt;/Box&gt;&#10;        &lt;Text style={{ fontSize: 10.5, color: 'rgba(255,255,255,0.8)', marginTop: 9, lineHeight: 1.45, flex: 1 }}&gt;&#10;          加宽是为了避免溢出，但&lt;tspan style={{ color: '#FBA15C', fontWeight: 'bold' }}&gt;float 求和升级成 double 会把「精度够了」的假设推翻&lt;/tspan&gt;——同一个指标，源系统用浮点、管线用十进制、报表用双精度，三处对不上，根因就在这一行。&#10;        &lt;/Text&gt;&#10;      &lt;/Box&gt;&#10;&#10;      &lt;Box style={{ flex: 1, background: '#FFF3EE', borderRadius: 4, padding: '11px 16px', flexDirection: 'column' }}&gt;&#10;        &lt;Text style={{ fontSize: 13, fontWeight: 'bold', color: '#C43A17' }}&gt;Collect 家族的四个陷阱&lt;/Text&gt;&#10;        &lt;Box style={{ marginTop: 9, gap: 6, flex: 1 }}&gt;&#10;          {[&#10;            '没有值的对象被跳过 → 结果数组永不含 null → 「列表里 5 条」不等于「5 条都有值」',&#10;            '收集值默认无序；只有定义了属性归约器时才会排序，且无论是否真的应用都会按它排',&#10;            'Collect set 先去重再套 limit；limit 默认 10、最大 100',&#10;            'limit 只决定返回给你多少值，不决定平台算了多少值——依赖它做过滤前必须先搞清楚',&#10;          ].map((t, i) =&gt; (&#10;            &lt;Box key={i} style={{ flexDirection: 'row', gap: 7, flex: 1, alignItems: 'flex-start' }}&gt;&#10;              &lt;Text style={{ fontSize: 11, fontWeight: 'bold', color: '#FA4F24' }}&gt;{i + 1}&lt;/Text&gt;&#10;              &lt;Text style={{ fontSize: 10.5, color: '#3A4050', lineHeight: 1.45, flex: 1 }}&gt;{t}&lt;/Text&gt;&#10;            &lt;/Box&gt;&#10;          ))}&#10;        &lt;/Box&gt;&#10;      &lt;/Box&gt;&#10;    &lt;/Box&gt;&#10;  &lt;/Box&gt;&#10;&#10;  &lt;Box style={{ height: 58, flexDirection: 'row', alignItems: 'center', borderTop: '1px solid #E8E8E8' }}&gt;&#10;    &lt;Box style={{ width: 10, height: 10, background: '#FA4F24' }} /&gt;&#10;    &lt;Text style={{ fontSize: 13, color: '#8A8F99', marginLeft: 12 }}&gt;硕磐机密 · 指标体系咨询方法论&lt;/Text&gt;&#10;    &lt;Text style={{ fontSize: 13, color: '#8A8F99', marginLeft: 'auto' }}&gt;08 / 3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84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十种聚合类型，以及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Sum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会悄悄改变你的数字类型</a:t>
            </a:r>
            <a:endParaRPr/>
          </a:p>
        </p:txBody>
      </p:sp>
      <p:sp>
        <p:nvSpPr>
          <p:cNvPr id="1685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指标能力的上限由聚合类型决定；口径事故的一半藏在类型、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null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与顺序里</a:t>
            </a:r>
            <a:endParaRPr/>
          </a:p>
        </p:txBody>
      </p:sp>
      <p:sp>
        <p:nvSpPr>
          <p:cNvPr id="1686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687" name=""/>
          <p:cNvSpPr/>
          <p:nvPr/>
        </p:nvSpPr>
        <p:spPr>
          <a:xfrm rot="0" flipH="0" flipV="0">
            <a:off x="609600" y="1285875"/>
            <a:ext cx="10972800" cy="2790825"/>
          </a:xfrm>
          <a:prstGeom prst="roundRect">
            <a:avLst>
              <a:gd name="adj" fmla="val 136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88" name="" descr="{&quot;isTemplate&quot;:true,&quot;type&quot;:&quot;text&quot;}"/>
          <p:cNvSpPr txBox="1"/>
          <p:nvPr/>
        </p:nvSpPr>
        <p:spPr>
          <a:xfrm rot="0" flipH="0" flipV="0">
            <a:off x="762000" y="1400175"/>
            <a:ext cx="1066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0F1423"/>
                </a:solidFill>
                <a:latin typeface="Microsoft YaHei"/>
                <a:ea typeface="Microsoft YaHei"/>
              </a:rPr>
              <a:t>官方聚合类型全表（十种，其中一种不可用）</a:t>
            </a:r>
            <a:endParaRPr/>
          </a:p>
        </p:txBody>
      </p:sp>
      <p:sp>
        <p:nvSpPr>
          <p:cNvPr id="1689" name="" descr="{&quot;isTemplate&quot;:true,&quot;type&quot;:&quot;text&quot;}"/>
          <p:cNvSpPr txBox="1"/>
          <p:nvPr/>
        </p:nvSpPr>
        <p:spPr>
          <a:xfrm rot="0" flipH="0" flipV="0">
            <a:off x="762000" y="1647825"/>
            <a:ext cx="14478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名称（</a:t>
            </a:r>
            <a:r>
              <a:rPr lang="en-US" sz="750">
                <a:solidFill>
                  <a:srgbClr val="8A8F99"/>
                </a:solidFill>
                <a:latin typeface="Microsoft YaHei"/>
                <a:ea typeface="Microsoft YaHei"/>
              </a:rPr>
              <a:t>Ontology Manager</a:t>
            </a: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690" name="" descr="{&quot;isTemplate&quot;:true,&quot;type&quot;:&quot;text&quot;}"/>
          <p:cNvSpPr txBox="1"/>
          <p:nvPr/>
        </p:nvSpPr>
        <p:spPr>
          <a:xfrm rot="0" flipH="0" flipV="0">
            <a:off x="2247900" y="1647825"/>
            <a:ext cx="11239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8A8F99"/>
                </a:solidFill>
                <a:latin typeface="Microsoft YaHei"/>
                <a:ea typeface="Microsoft YaHei"/>
              </a:rPr>
              <a:t xml:space="preserve">SDK </a:t>
            </a: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方法</a:t>
            </a:r>
            <a:endParaRPr/>
          </a:p>
        </p:txBody>
      </p:sp>
      <p:sp>
        <p:nvSpPr>
          <p:cNvPr id="1691" name="" descr="{&quot;isTemplate&quot;:true,&quot;type&quot;:&quot;text&quot;}"/>
          <p:cNvSpPr txBox="1"/>
          <p:nvPr/>
        </p:nvSpPr>
        <p:spPr>
          <a:xfrm rot="0" flipH="0" flipV="0">
            <a:off x="3409950" y="1647825"/>
            <a:ext cx="6572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入参类型</a:t>
            </a:r>
            <a:endParaRPr/>
          </a:p>
        </p:txBody>
      </p:sp>
      <p:sp>
        <p:nvSpPr>
          <p:cNvPr id="1692" name="" descr="{&quot;isTemplate&quot;:true,&quot;type&quot;:&quot;text&quot;}"/>
          <p:cNvSpPr txBox="1"/>
          <p:nvPr/>
        </p:nvSpPr>
        <p:spPr>
          <a:xfrm rot="0" flipH="0" flipV="0">
            <a:off x="10020300" y="1647825"/>
            <a:ext cx="14097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结果类型</a:t>
            </a:r>
            <a:endParaRPr/>
          </a:p>
        </p:txBody>
      </p:sp>
      <p:sp>
        <p:nvSpPr>
          <p:cNvPr id="1693" name=""/>
          <p:cNvSpPr/>
          <p:nvPr/>
        </p:nvSpPr>
        <p:spPr>
          <a:xfrm rot="0" flipH="0" flipV="0">
            <a:off x="762000" y="1790700"/>
            <a:ext cx="10668000" cy="1809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94" name="" descr="{&quot;isTemplate&quot;:true,&quot;type&quot;:&quot;text&quot;}"/>
          <p:cNvSpPr txBox="1"/>
          <p:nvPr/>
        </p:nvSpPr>
        <p:spPr>
          <a:xfrm rot="0" flipH="0" flipV="0">
            <a:off x="828675" y="1819275"/>
            <a:ext cx="14478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0F1423"/>
                </a:solidFill>
                <a:latin typeface="Microsoft YaHei"/>
                <a:ea typeface="Microsoft YaHei"/>
              </a:rPr>
              <a:t>Count</a:t>
            </a:r>
            <a:endParaRPr/>
          </a:p>
        </p:txBody>
      </p:sp>
      <p:sp>
        <p:nvSpPr>
          <p:cNvPr id="1695" name="" descr="{&quot;isTemplate&quot;:true,&quot;type&quot;:&quot;text&quot;}"/>
          <p:cNvSpPr txBox="1"/>
          <p:nvPr/>
        </p:nvSpPr>
        <p:spPr>
          <a:xfrm rot="0" flipH="0" flipV="0">
            <a:off x="2314575" y="1819275"/>
            <a:ext cx="11239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C43A17"/>
                </a:solidFill>
                <a:latin typeface="Microsoft YaHei"/>
                <a:ea typeface="Microsoft YaHei"/>
              </a:rPr>
              <a:t>$count</a:t>
            </a:r>
            <a:endParaRPr/>
          </a:p>
        </p:txBody>
      </p:sp>
      <p:sp>
        <p:nvSpPr>
          <p:cNvPr id="1696" name="" descr="{&quot;isTemplate&quot;:true,&quot;type&quot;:&quot;text&quot;}"/>
          <p:cNvSpPr txBox="1"/>
          <p:nvPr/>
        </p:nvSpPr>
        <p:spPr>
          <a:xfrm rot="0" flipH="0" flipV="0">
            <a:off x="3476625" y="1819275"/>
            <a:ext cx="64389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不适用</a:t>
            </a:r>
            <a:endParaRPr/>
          </a:p>
        </p:txBody>
      </p:sp>
      <p:sp>
        <p:nvSpPr>
          <p:cNvPr id="1697" name="" descr="{&quot;isTemplate&quot;:true,&quot;type&quot;:&quot;text&quot;}"/>
          <p:cNvSpPr txBox="1"/>
          <p:nvPr/>
        </p:nvSpPr>
        <p:spPr>
          <a:xfrm rot="0" flipH="0" flipV="0">
            <a:off x="9953625" y="1819275"/>
            <a:ext cx="14097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5A6070"/>
                </a:solidFill>
                <a:latin typeface="Microsoft YaHei"/>
                <a:ea typeface="Microsoft YaHei"/>
              </a:rPr>
              <a:t>Long</a:t>
            </a:r>
            <a:endParaRPr/>
          </a:p>
        </p:txBody>
      </p:sp>
      <p:sp>
        <p:nvSpPr>
          <p:cNvPr id="1698" name=""/>
          <p:cNvSpPr/>
          <p:nvPr/>
        </p:nvSpPr>
        <p:spPr>
          <a:xfrm rot="0" flipH="0" flipV="0">
            <a:off x="762000" y="2000250"/>
            <a:ext cx="10668000" cy="1809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99" name="" descr="{&quot;isTemplate&quot;:true,&quot;type&quot;:&quot;text&quot;}"/>
          <p:cNvSpPr txBox="1"/>
          <p:nvPr/>
        </p:nvSpPr>
        <p:spPr>
          <a:xfrm rot="0" flipH="0" flipV="0">
            <a:off x="828675" y="2028825"/>
            <a:ext cx="14478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0F1423"/>
                </a:solidFill>
                <a:latin typeface="Microsoft YaHei"/>
                <a:ea typeface="Microsoft YaHei"/>
              </a:rPr>
              <a:t>Average</a:t>
            </a:r>
            <a:endParaRPr/>
          </a:p>
        </p:txBody>
      </p:sp>
      <p:sp>
        <p:nvSpPr>
          <p:cNvPr id="1700" name="" descr="{&quot;isTemplate&quot;:true,&quot;type&quot;:&quot;text&quot;}"/>
          <p:cNvSpPr txBox="1"/>
          <p:nvPr/>
        </p:nvSpPr>
        <p:spPr>
          <a:xfrm rot="0" flipH="0" flipV="0">
            <a:off x="2314575" y="2028825"/>
            <a:ext cx="11239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C43A17"/>
                </a:solidFill>
                <a:latin typeface="Microsoft YaHei"/>
                <a:ea typeface="Microsoft YaHei"/>
              </a:rPr>
              <a:t>avg</a:t>
            </a:r>
            <a:endParaRPr/>
          </a:p>
        </p:txBody>
      </p:sp>
      <p:sp>
        <p:nvSpPr>
          <p:cNvPr id="1701" name="" descr="{&quot;isTemplate&quot;:true,&quot;type&quot;:&quot;text&quot;}"/>
          <p:cNvSpPr txBox="1"/>
          <p:nvPr/>
        </p:nvSpPr>
        <p:spPr>
          <a:xfrm rot="0" flipH="0" flipV="0">
            <a:off x="3476625" y="2028825"/>
            <a:ext cx="64389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数值</a:t>
            </a:r>
            <a:endParaRPr/>
          </a:p>
        </p:txBody>
      </p:sp>
      <p:sp>
        <p:nvSpPr>
          <p:cNvPr id="1702" name="" descr="{&quot;isTemplate&quot;:true,&quot;type&quot;:&quot;text&quot;}"/>
          <p:cNvSpPr txBox="1"/>
          <p:nvPr/>
        </p:nvSpPr>
        <p:spPr>
          <a:xfrm rot="0" flipH="0" flipV="0">
            <a:off x="9953625" y="2028825"/>
            <a:ext cx="14097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5A6070"/>
                </a:solidFill>
                <a:latin typeface="Microsoft YaHei"/>
                <a:ea typeface="Microsoft YaHei"/>
              </a:rPr>
              <a:t>Double</a:t>
            </a:r>
            <a:endParaRPr/>
          </a:p>
        </p:txBody>
      </p:sp>
      <p:sp>
        <p:nvSpPr>
          <p:cNvPr id="1703" name=""/>
          <p:cNvSpPr/>
          <p:nvPr/>
        </p:nvSpPr>
        <p:spPr>
          <a:xfrm rot="0" flipH="0" flipV="0">
            <a:off x="762000" y="2209800"/>
            <a:ext cx="10668000" cy="1809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04" name="" descr="{&quot;isTemplate&quot;:true,&quot;type&quot;:&quot;text&quot;}"/>
          <p:cNvSpPr txBox="1"/>
          <p:nvPr/>
        </p:nvSpPr>
        <p:spPr>
          <a:xfrm rot="0" flipH="0" flipV="0">
            <a:off x="828675" y="2238375"/>
            <a:ext cx="14478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0F1423"/>
                </a:solidFill>
                <a:latin typeface="Microsoft YaHei"/>
                <a:ea typeface="Microsoft YaHei"/>
              </a:rPr>
              <a:t>Sum</a:t>
            </a:r>
            <a:endParaRPr/>
          </a:p>
        </p:txBody>
      </p:sp>
      <p:sp>
        <p:nvSpPr>
          <p:cNvPr id="1705" name="" descr="{&quot;isTemplate&quot;:true,&quot;type&quot;:&quot;text&quot;}"/>
          <p:cNvSpPr txBox="1"/>
          <p:nvPr/>
        </p:nvSpPr>
        <p:spPr>
          <a:xfrm rot="0" flipH="0" flipV="0">
            <a:off x="2314575" y="2238375"/>
            <a:ext cx="11239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C43A17"/>
                </a:solidFill>
                <a:latin typeface="Microsoft YaHei"/>
                <a:ea typeface="Microsoft YaHei"/>
              </a:rPr>
              <a:t>sum</a:t>
            </a:r>
            <a:endParaRPr/>
          </a:p>
        </p:txBody>
      </p:sp>
      <p:sp>
        <p:nvSpPr>
          <p:cNvPr id="1706" name="" descr="{&quot;isTemplate&quot;:true,&quot;type&quot;:&quot;text&quot;}"/>
          <p:cNvSpPr txBox="1"/>
          <p:nvPr/>
        </p:nvSpPr>
        <p:spPr>
          <a:xfrm rot="0" flipH="0" flipV="0">
            <a:off x="3476625" y="2238375"/>
            <a:ext cx="64389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数值</a:t>
            </a:r>
            <a:endParaRPr/>
          </a:p>
        </p:txBody>
      </p:sp>
      <p:sp>
        <p:nvSpPr>
          <p:cNvPr id="1707" name="" descr="{&quot;isTemplate&quot;:true,&quot;type&quot;:&quot;text&quot;}"/>
          <p:cNvSpPr txBox="1"/>
          <p:nvPr/>
        </p:nvSpPr>
        <p:spPr>
          <a:xfrm rot="0" flipH="0" flipV="0">
            <a:off x="9953625" y="2238375"/>
            <a:ext cx="14097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数值（加宽）</a:t>
            </a:r>
            <a:endParaRPr/>
          </a:p>
        </p:txBody>
      </p:sp>
      <p:sp>
        <p:nvSpPr>
          <p:cNvPr id="1708" name=""/>
          <p:cNvSpPr/>
          <p:nvPr/>
        </p:nvSpPr>
        <p:spPr>
          <a:xfrm rot="0" flipH="0" flipV="0">
            <a:off x="762000" y="2419350"/>
            <a:ext cx="10668000" cy="1809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09" name="" descr="{&quot;isTemplate&quot;:true,&quot;type&quot;:&quot;text&quot;}"/>
          <p:cNvSpPr txBox="1"/>
          <p:nvPr/>
        </p:nvSpPr>
        <p:spPr>
          <a:xfrm rot="0" flipH="0" flipV="0">
            <a:off x="828675" y="2447925"/>
            <a:ext cx="14478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0F1423"/>
                </a:solidFill>
                <a:latin typeface="Microsoft YaHei"/>
                <a:ea typeface="Microsoft YaHei"/>
              </a:rPr>
              <a:t>Minimum</a:t>
            </a:r>
            <a:endParaRPr/>
          </a:p>
        </p:txBody>
      </p:sp>
      <p:sp>
        <p:nvSpPr>
          <p:cNvPr id="1710" name="" descr="{&quot;isTemplate&quot;:true,&quot;type&quot;:&quot;text&quot;}"/>
          <p:cNvSpPr txBox="1"/>
          <p:nvPr/>
        </p:nvSpPr>
        <p:spPr>
          <a:xfrm rot="0" flipH="0" flipV="0">
            <a:off x="2314575" y="2447925"/>
            <a:ext cx="11239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C43A17"/>
                </a:solidFill>
                <a:latin typeface="Microsoft YaHei"/>
                <a:ea typeface="Microsoft YaHei"/>
              </a:rPr>
              <a:t>min</a:t>
            </a:r>
            <a:endParaRPr/>
          </a:p>
        </p:txBody>
      </p:sp>
      <p:sp>
        <p:nvSpPr>
          <p:cNvPr id="1711" name="" descr="{&quot;isTemplate&quot;:true,&quot;type&quot;:&quot;text&quot;}"/>
          <p:cNvSpPr txBox="1"/>
          <p:nvPr/>
        </p:nvSpPr>
        <p:spPr>
          <a:xfrm rot="0" flipH="0" flipV="0">
            <a:off x="3476625" y="2447925"/>
            <a:ext cx="64389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数值</a:t>
            </a:r>
            <a:r>
              <a:rPr lang="en-US" sz="750">
                <a:solidFill>
                  <a:srgbClr val="5A6070"/>
                </a:solidFill>
                <a:latin typeface="Microsoft YaHei"/>
                <a:ea typeface="Microsoft YaHei"/>
              </a:rPr>
              <a:t>/</a:t>
            </a: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字符串</a:t>
            </a:r>
            <a:r>
              <a:rPr lang="en-US" sz="750">
                <a:solidFill>
                  <a:srgbClr val="5A6070"/>
                </a:solidFill>
                <a:latin typeface="Microsoft YaHei"/>
                <a:ea typeface="Microsoft YaHei"/>
              </a:rPr>
              <a:t>/</a:t>
            </a: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布尔</a:t>
            </a:r>
            <a:r>
              <a:rPr lang="en-US" sz="750">
                <a:solidFill>
                  <a:srgbClr val="5A6070"/>
                </a:solidFill>
                <a:latin typeface="Microsoft YaHei"/>
                <a:ea typeface="Microsoft YaHei"/>
              </a:rPr>
              <a:t>/</a:t>
            </a: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日期时间</a:t>
            </a:r>
            <a:endParaRPr/>
          </a:p>
        </p:txBody>
      </p:sp>
      <p:sp>
        <p:nvSpPr>
          <p:cNvPr id="1712" name="" descr="{&quot;isTemplate&quot;:true,&quot;type&quot;:&quot;text&quot;}"/>
          <p:cNvSpPr txBox="1"/>
          <p:nvPr/>
        </p:nvSpPr>
        <p:spPr>
          <a:xfrm rot="0" flipH="0" flipV="0">
            <a:off x="9953625" y="2447925"/>
            <a:ext cx="14097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同源</a:t>
            </a:r>
            <a:endParaRPr/>
          </a:p>
        </p:txBody>
      </p:sp>
      <p:sp>
        <p:nvSpPr>
          <p:cNvPr id="1713" name=""/>
          <p:cNvSpPr/>
          <p:nvPr/>
        </p:nvSpPr>
        <p:spPr>
          <a:xfrm rot="0" flipH="0" flipV="0">
            <a:off x="762000" y="2628900"/>
            <a:ext cx="10668000" cy="1809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14" name="" descr="{&quot;isTemplate&quot;:true,&quot;type&quot;:&quot;text&quot;}"/>
          <p:cNvSpPr txBox="1"/>
          <p:nvPr/>
        </p:nvSpPr>
        <p:spPr>
          <a:xfrm rot="0" flipH="0" flipV="0">
            <a:off x="828675" y="2657475"/>
            <a:ext cx="14478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0F1423"/>
                </a:solidFill>
                <a:latin typeface="Microsoft YaHei"/>
                <a:ea typeface="Microsoft YaHei"/>
              </a:rPr>
              <a:t>Maximum</a:t>
            </a:r>
            <a:endParaRPr/>
          </a:p>
        </p:txBody>
      </p:sp>
      <p:sp>
        <p:nvSpPr>
          <p:cNvPr id="1715" name="" descr="{&quot;isTemplate&quot;:true,&quot;type&quot;:&quot;text&quot;}"/>
          <p:cNvSpPr txBox="1"/>
          <p:nvPr/>
        </p:nvSpPr>
        <p:spPr>
          <a:xfrm rot="0" flipH="0" flipV="0">
            <a:off x="2314575" y="2657475"/>
            <a:ext cx="11239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C43A17"/>
                </a:solidFill>
                <a:latin typeface="Microsoft YaHei"/>
                <a:ea typeface="Microsoft YaHei"/>
              </a:rPr>
              <a:t>max</a:t>
            </a:r>
            <a:endParaRPr/>
          </a:p>
        </p:txBody>
      </p:sp>
      <p:sp>
        <p:nvSpPr>
          <p:cNvPr id="1716" name="" descr="{&quot;isTemplate&quot;:true,&quot;type&quot;:&quot;text&quot;}"/>
          <p:cNvSpPr txBox="1"/>
          <p:nvPr/>
        </p:nvSpPr>
        <p:spPr>
          <a:xfrm rot="0" flipH="0" flipV="0">
            <a:off x="3476625" y="2657475"/>
            <a:ext cx="64389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数值</a:t>
            </a:r>
            <a:r>
              <a:rPr lang="en-US" sz="750">
                <a:solidFill>
                  <a:srgbClr val="5A6070"/>
                </a:solidFill>
                <a:latin typeface="Microsoft YaHei"/>
                <a:ea typeface="Microsoft YaHei"/>
              </a:rPr>
              <a:t>/</a:t>
            </a: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字符串</a:t>
            </a:r>
            <a:r>
              <a:rPr lang="en-US" sz="750">
                <a:solidFill>
                  <a:srgbClr val="5A6070"/>
                </a:solidFill>
                <a:latin typeface="Microsoft YaHei"/>
                <a:ea typeface="Microsoft YaHei"/>
              </a:rPr>
              <a:t>/</a:t>
            </a: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布尔</a:t>
            </a:r>
            <a:r>
              <a:rPr lang="en-US" sz="750">
                <a:solidFill>
                  <a:srgbClr val="5A6070"/>
                </a:solidFill>
                <a:latin typeface="Microsoft YaHei"/>
                <a:ea typeface="Microsoft YaHei"/>
              </a:rPr>
              <a:t>/</a:t>
            </a: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日期时间</a:t>
            </a:r>
            <a:endParaRPr/>
          </a:p>
        </p:txBody>
      </p:sp>
      <p:sp>
        <p:nvSpPr>
          <p:cNvPr id="1717" name="" descr="{&quot;isTemplate&quot;:true,&quot;type&quot;:&quot;text&quot;}"/>
          <p:cNvSpPr txBox="1"/>
          <p:nvPr/>
        </p:nvSpPr>
        <p:spPr>
          <a:xfrm rot="0" flipH="0" flipV="0">
            <a:off x="9953625" y="2657475"/>
            <a:ext cx="14097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同源</a:t>
            </a:r>
            <a:endParaRPr/>
          </a:p>
        </p:txBody>
      </p:sp>
      <p:sp>
        <p:nvSpPr>
          <p:cNvPr id="1718" name=""/>
          <p:cNvSpPr/>
          <p:nvPr/>
        </p:nvSpPr>
        <p:spPr>
          <a:xfrm rot="0" flipH="0" flipV="0">
            <a:off x="762000" y="2838450"/>
            <a:ext cx="10668000" cy="1809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19" name="" descr="{&quot;isTemplate&quot;:true,&quot;type&quot;:&quot;text&quot;}"/>
          <p:cNvSpPr txBox="1"/>
          <p:nvPr/>
        </p:nvSpPr>
        <p:spPr>
          <a:xfrm rot="0" flipH="0" flipV="0">
            <a:off x="828675" y="2867025"/>
            <a:ext cx="14478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0F1423"/>
                </a:solidFill>
                <a:latin typeface="Microsoft YaHei"/>
                <a:ea typeface="Microsoft YaHei"/>
              </a:rPr>
              <a:t>Approximate cardinality</a:t>
            </a:r>
            <a:endParaRPr/>
          </a:p>
        </p:txBody>
      </p:sp>
      <p:sp>
        <p:nvSpPr>
          <p:cNvPr id="1720" name="" descr="{&quot;isTemplate&quot;:true,&quot;type&quot;:&quot;text&quot;}"/>
          <p:cNvSpPr txBox="1"/>
          <p:nvPr/>
        </p:nvSpPr>
        <p:spPr>
          <a:xfrm rot="0" flipH="0" flipV="0">
            <a:off x="2314575" y="2867025"/>
            <a:ext cx="11239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C43A17"/>
                </a:solidFill>
                <a:latin typeface="Microsoft YaHei"/>
                <a:ea typeface="Microsoft YaHei"/>
              </a:rPr>
              <a:t>approximateDistinct</a:t>
            </a:r>
            <a:endParaRPr/>
          </a:p>
        </p:txBody>
      </p:sp>
      <p:sp>
        <p:nvSpPr>
          <p:cNvPr id="1721" name="" descr="{&quot;isTemplate&quot;:true,&quot;type&quot;:&quot;text&quot;}"/>
          <p:cNvSpPr txBox="1"/>
          <p:nvPr/>
        </p:nvSpPr>
        <p:spPr>
          <a:xfrm rot="0" flipH="0" flipV="0">
            <a:off x="3476625" y="2867025"/>
            <a:ext cx="64389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数值</a:t>
            </a:r>
            <a:r>
              <a:rPr lang="en-US" sz="750">
                <a:solidFill>
                  <a:srgbClr val="5A6070"/>
                </a:solidFill>
                <a:latin typeface="Microsoft YaHei"/>
                <a:ea typeface="Microsoft YaHei"/>
              </a:rPr>
              <a:t>/</a:t>
            </a: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字符串</a:t>
            </a:r>
            <a:r>
              <a:rPr lang="en-US" sz="750">
                <a:solidFill>
                  <a:srgbClr val="5A6070"/>
                </a:solidFill>
                <a:latin typeface="Microsoft YaHei"/>
                <a:ea typeface="Microsoft YaHei"/>
              </a:rPr>
              <a:t>/</a:t>
            </a: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布尔</a:t>
            </a:r>
            <a:r>
              <a:rPr lang="en-US" sz="750">
                <a:solidFill>
                  <a:srgbClr val="5A6070"/>
                </a:solidFill>
                <a:latin typeface="Microsoft YaHei"/>
                <a:ea typeface="Microsoft YaHei"/>
              </a:rPr>
              <a:t>/</a:t>
            </a: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日期时间</a:t>
            </a:r>
            <a:endParaRPr/>
          </a:p>
        </p:txBody>
      </p:sp>
      <p:sp>
        <p:nvSpPr>
          <p:cNvPr id="1722" name="" descr="{&quot;isTemplate&quot;:true,&quot;type&quot;:&quot;text&quot;}"/>
          <p:cNvSpPr txBox="1"/>
          <p:nvPr/>
        </p:nvSpPr>
        <p:spPr>
          <a:xfrm rot="0" flipH="0" flipV="0">
            <a:off x="9953625" y="2867025"/>
            <a:ext cx="14097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5A6070"/>
                </a:solidFill>
                <a:latin typeface="Microsoft YaHei"/>
                <a:ea typeface="Microsoft YaHei"/>
              </a:rPr>
              <a:t>Long</a:t>
            </a:r>
            <a:endParaRPr/>
          </a:p>
        </p:txBody>
      </p:sp>
      <p:sp>
        <p:nvSpPr>
          <p:cNvPr id="1723" name=""/>
          <p:cNvSpPr/>
          <p:nvPr/>
        </p:nvSpPr>
        <p:spPr>
          <a:xfrm rot="0" flipH="0" flipV="0">
            <a:off x="762000" y="3048000"/>
            <a:ext cx="10668000" cy="1809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24" name="" descr="{&quot;isTemplate&quot;:true,&quot;type&quot;:&quot;text&quot;}"/>
          <p:cNvSpPr txBox="1"/>
          <p:nvPr/>
        </p:nvSpPr>
        <p:spPr>
          <a:xfrm rot="0" flipH="0" flipV="0">
            <a:off x="828675" y="3076575"/>
            <a:ext cx="14478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0F1423"/>
                </a:solidFill>
                <a:latin typeface="Microsoft YaHei"/>
                <a:ea typeface="Microsoft YaHei"/>
              </a:rPr>
              <a:t>Exact cardinality</a:t>
            </a:r>
            <a:endParaRPr/>
          </a:p>
        </p:txBody>
      </p:sp>
      <p:sp>
        <p:nvSpPr>
          <p:cNvPr id="1725" name="" descr="{&quot;isTemplate&quot;:true,&quot;type&quot;:&quot;text&quot;}"/>
          <p:cNvSpPr txBox="1"/>
          <p:nvPr/>
        </p:nvSpPr>
        <p:spPr>
          <a:xfrm rot="0" flipH="0" flipV="0">
            <a:off x="2314575" y="3076575"/>
            <a:ext cx="11239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C43A17"/>
                </a:solidFill>
                <a:latin typeface="Microsoft YaHei"/>
                <a:ea typeface="Microsoft YaHei"/>
              </a:rPr>
              <a:t>exactDistinct</a:t>
            </a:r>
            <a:endParaRPr/>
          </a:p>
        </p:txBody>
      </p:sp>
      <p:sp>
        <p:nvSpPr>
          <p:cNvPr id="1726" name="" descr="{&quot;isTemplate&quot;:true,&quot;type&quot;:&quot;text&quot;}"/>
          <p:cNvSpPr txBox="1"/>
          <p:nvPr/>
        </p:nvSpPr>
        <p:spPr>
          <a:xfrm rot="0" flipH="0" flipV="0">
            <a:off x="3476625" y="3076575"/>
            <a:ext cx="64389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数值</a:t>
            </a:r>
            <a:r>
              <a:rPr lang="en-US" sz="750">
                <a:solidFill>
                  <a:srgbClr val="5A6070"/>
                </a:solidFill>
                <a:latin typeface="Microsoft YaHei"/>
                <a:ea typeface="Microsoft YaHei"/>
              </a:rPr>
              <a:t>/</a:t>
            </a: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字符串</a:t>
            </a:r>
            <a:r>
              <a:rPr lang="en-US" sz="750">
                <a:solidFill>
                  <a:srgbClr val="5A6070"/>
                </a:solidFill>
                <a:latin typeface="Microsoft YaHei"/>
                <a:ea typeface="Microsoft YaHei"/>
              </a:rPr>
              <a:t>/</a:t>
            </a: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布尔</a:t>
            </a:r>
            <a:r>
              <a:rPr lang="en-US" sz="750">
                <a:solidFill>
                  <a:srgbClr val="5A6070"/>
                </a:solidFill>
                <a:latin typeface="Microsoft YaHei"/>
                <a:ea typeface="Microsoft YaHei"/>
              </a:rPr>
              <a:t>/</a:t>
            </a: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日期时间</a:t>
            </a:r>
            <a:endParaRPr/>
          </a:p>
        </p:txBody>
      </p:sp>
      <p:sp>
        <p:nvSpPr>
          <p:cNvPr id="1727" name="" descr="{&quot;isTemplate&quot;:true,&quot;type&quot;:&quot;text&quot;}"/>
          <p:cNvSpPr txBox="1"/>
          <p:nvPr/>
        </p:nvSpPr>
        <p:spPr>
          <a:xfrm rot="0" flipH="0" flipV="0">
            <a:off x="9953625" y="3076575"/>
            <a:ext cx="14097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5A6070"/>
                </a:solidFill>
                <a:latin typeface="Microsoft YaHei"/>
                <a:ea typeface="Microsoft YaHei"/>
              </a:rPr>
              <a:t>Long</a:t>
            </a:r>
            <a:endParaRPr/>
          </a:p>
        </p:txBody>
      </p:sp>
      <p:sp>
        <p:nvSpPr>
          <p:cNvPr id="1728" name=""/>
          <p:cNvSpPr/>
          <p:nvPr/>
        </p:nvSpPr>
        <p:spPr>
          <a:xfrm rot="0" flipH="0" flipV="0">
            <a:off x="762000" y="3257550"/>
            <a:ext cx="10668000" cy="1809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29" name="" descr="{&quot;isTemplate&quot;:true,&quot;type&quot;:&quot;text&quot;}"/>
          <p:cNvSpPr txBox="1"/>
          <p:nvPr/>
        </p:nvSpPr>
        <p:spPr>
          <a:xfrm rot="0" flipH="0" flipV="0">
            <a:off x="828675" y="3286125"/>
            <a:ext cx="14478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0F1423"/>
                </a:solidFill>
                <a:latin typeface="Microsoft YaHei"/>
                <a:ea typeface="Microsoft YaHei"/>
              </a:rPr>
              <a:t>Collect list</a:t>
            </a:r>
            <a:endParaRPr/>
          </a:p>
        </p:txBody>
      </p:sp>
      <p:sp>
        <p:nvSpPr>
          <p:cNvPr id="1730" name="" descr="{&quot;isTemplate&quot;:true,&quot;type&quot;:&quot;text&quot;}"/>
          <p:cNvSpPr txBox="1"/>
          <p:nvPr/>
        </p:nvSpPr>
        <p:spPr>
          <a:xfrm rot="0" flipH="0" flipV="0">
            <a:off x="2314575" y="3286125"/>
            <a:ext cx="11239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C43A17"/>
                </a:solidFill>
                <a:latin typeface="Microsoft YaHei"/>
                <a:ea typeface="Microsoft YaHei"/>
              </a:rPr>
              <a:t>collectList</a:t>
            </a:r>
            <a:endParaRPr/>
          </a:p>
        </p:txBody>
      </p:sp>
      <p:sp>
        <p:nvSpPr>
          <p:cNvPr id="1731" name="" descr="{&quot;isTemplate&quot;:true,&quot;type&quot;:&quot;text&quot;}"/>
          <p:cNvSpPr txBox="1"/>
          <p:nvPr/>
        </p:nvSpPr>
        <p:spPr>
          <a:xfrm rot="0" flipH="0" flipV="0">
            <a:off x="3476625" y="3286125"/>
            <a:ext cx="64389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除向量外任意类型</a:t>
            </a:r>
            <a:endParaRPr/>
          </a:p>
        </p:txBody>
      </p:sp>
      <p:sp>
        <p:nvSpPr>
          <p:cNvPr id="1732" name="" descr="{&quot;isTemplate&quot;:true,&quot;type&quot;:&quot;text&quot;}"/>
          <p:cNvSpPr txBox="1"/>
          <p:nvPr/>
        </p:nvSpPr>
        <p:spPr>
          <a:xfrm rot="0" flipH="0" flipV="0">
            <a:off x="9953625" y="3286125"/>
            <a:ext cx="14097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源类型数组</a:t>
            </a:r>
            <a:endParaRPr/>
          </a:p>
        </p:txBody>
      </p:sp>
      <p:sp>
        <p:nvSpPr>
          <p:cNvPr id="1733" name=""/>
          <p:cNvSpPr/>
          <p:nvPr/>
        </p:nvSpPr>
        <p:spPr>
          <a:xfrm rot="0" flipH="0" flipV="0">
            <a:off x="762000" y="3467100"/>
            <a:ext cx="10668000" cy="1809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34" name="" descr="{&quot;isTemplate&quot;:true,&quot;type&quot;:&quot;text&quot;}"/>
          <p:cNvSpPr txBox="1"/>
          <p:nvPr/>
        </p:nvSpPr>
        <p:spPr>
          <a:xfrm rot="0" flipH="0" flipV="0">
            <a:off x="828675" y="3495675"/>
            <a:ext cx="14478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0F1423"/>
                </a:solidFill>
                <a:latin typeface="Microsoft YaHei"/>
                <a:ea typeface="Microsoft YaHei"/>
              </a:rPr>
              <a:t>Collect set</a:t>
            </a:r>
            <a:endParaRPr/>
          </a:p>
        </p:txBody>
      </p:sp>
      <p:sp>
        <p:nvSpPr>
          <p:cNvPr id="1735" name="" descr="{&quot;isTemplate&quot;:true,&quot;type&quot;:&quot;text&quot;}"/>
          <p:cNvSpPr txBox="1"/>
          <p:nvPr/>
        </p:nvSpPr>
        <p:spPr>
          <a:xfrm rot="0" flipH="0" flipV="0">
            <a:off x="2314575" y="3495675"/>
            <a:ext cx="11239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C43A17"/>
                </a:solidFill>
                <a:latin typeface="Microsoft YaHei"/>
                <a:ea typeface="Microsoft YaHei"/>
              </a:rPr>
              <a:t>collectSet</a:t>
            </a:r>
            <a:endParaRPr/>
          </a:p>
        </p:txBody>
      </p:sp>
      <p:sp>
        <p:nvSpPr>
          <p:cNvPr id="1736" name="" descr="{&quot;isTemplate&quot;:true,&quot;type&quot;:&quot;text&quot;}"/>
          <p:cNvSpPr txBox="1"/>
          <p:nvPr/>
        </p:nvSpPr>
        <p:spPr>
          <a:xfrm rot="0" flipH="0" flipV="0">
            <a:off x="3476625" y="3495675"/>
            <a:ext cx="64389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除向量外任意类型</a:t>
            </a:r>
            <a:endParaRPr/>
          </a:p>
        </p:txBody>
      </p:sp>
      <p:sp>
        <p:nvSpPr>
          <p:cNvPr id="1737" name="" descr="{&quot;isTemplate&quot;:true,&quot;type&quot;:&quot;text&quot;}"/>
          <p:cNvSpPr txBox="1"/>
          <p:nvPr/>
        </p:nvSpPr>
        <p:spPr>
          <a:xfrm rot="0" flipH="0" flipV="0">
            <a:off x="9953625" y="3495675"/>
            <a:ext cx="14097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源类型数组</a:t>
            </a:r>
            <a:endParaRPr/>
          </a:p>
        </p:txBody>
      </p:sp>
      <p:sp>
        <p:nvSpPr>
          <p:cNvPr id="1738" name=""/>
          <p:cNvSpPr/>
          <p:nvPr/>
        </p:nvSpPr>
        <p:spPr>
          <a:xfrm rot="0" flipH="0" flipV="0">
            <a:off x="609600" y="4171950"/>
            <a:ext cx="5695950" cy="1466850"/>
          </a:xfrm>
          <a:prstGeom prst="roundRect">
            <a:avLst>
              <a:gd name="adj" fmla="val 259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739" name="" descr="{&quot;isTemplate&quot;:true,&quot;type&quot;:&quot;text&quot;}"/>
          <p:cNvSpPr txBox="1"/>
          <p:nvPr/>
        </p:nvSpPr>
        <p:spPr>
          <a:xfrm rot="0" flipH="0" flipV="0">
            <a:off x="762000" y="4276725"/>
            <a:ext cx="5391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Sum </a:t>
            </a:r>
            <a:r>
              <a:rPr lang="zh-CN" sz="975" b="1">
                <a:solidFill>
                  <a:srgbClr val="FBA15C"/>
                </a:solidFill>
                <a:latin typeface="Microsoft YaHei"/>
                <a:ea typeface="Microsoft YaHei"/>
              </a:rPr>
              <a:t>的类型加宽：口径事故的隐形来源</a:t>
            </a:r>
            <a:endParaRPr/>
          </a:p>
        </p:txBody>
      </p:sp>
      <p:sp>
        <p:nvSpPr>
          <p:cNvPr id="1740" name=""/>
          <p:cNvSpPr/>
          <p:nvPr/>
        </p:nvSpPr>
        <p:spPr>
          <a:xfrm rot="0" flipH="0" flipV="0">
            <a:off x="762000" y="4514850"/>
            <a:ext cx="1028700" cy="514350"/>
          </a:xfrm>
          <a:prstGeom prst="roundRect">
            <a:avLst>
              <a:gd name="adj" fmla="val 5556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741" name="" descr="{&quot;isTemplate&quot;:true,&quot;type&quot;:&quot;text&quot;}"/>
          <p:cNvSpPr txBox="1"/>
          <p:nvPr/>
        </p:nvSpPr>
        <p:spPr>
          <a:xfrm rot="0" flipH="0" flipV="0">
            <a:off x="962025" y="4572000"/>
            <a:ext cx="6286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short / integer</a:t>
            </a:r>
            <a:endParaRPr/>
          </a:p>
        </p:txBody>
      </p:sp>
      <p:sp>
        <p:nvSpPr>
          <p:cNvPr id="1742" name="" descr="{&quot;isTemplate&quot;:true,&quot;type&quot;:&quot;text&quot;}"/>
          <p:cNvSpPr txBox="1"/>
          <p:nvPr/>
        </p:nvSpPr>
        <p:spPr>
          <a:xfrm rot="0" flipH="0" flipV="0">
            <a:off x="1162050" y="4714875"/>
            <a:ext cx="238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BA15C"/>
                </a:solidFill>
                <a:latin typeface="Microsoft YaHei"/>
                <a:ea typeface="Microsoft YaHei"/>
              </a:rPr>
              <a:t>long</a:t>
            </a:r>
            <a:endParaRPr/>
          </a:p>
        </p:txBody>
      </p:sp>
      <p:sp>
        <p:nvSpPr>
          <p:cNvPr id="1743" name=""/>
          <p:cNvSpPr/>
          <p:nvPr/>
        </p:nvSpPr>
        <p:spPr>
          <a:xfrm rot="0" flipH="0" flipV="0">
            <a:off x="1847850" y="4514850"/>
            <a:ext cx="1038225" cy="514350"/>
          </a:xfrm>
          <a:prstGeom prst="roundRect">
            <a:avLst>
              <a:gd name="adj" fmla="val 5556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744" name="" descr="{&quot;isTemplate&quot;:true,&quot;type&quot;:&quot;text&quot;}"/>
          <p:cNvSpPr txBox="1"/>
          <p:nvPr/>
        </p:nvSpPr>
        <p:spPr>
          <a:xfrm rot="0" flipH="0" flipV="0">
            <a:off x="2266950" y="4572000"/>
            <a:ext cx="2000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long</a:t>
            </a:r>
            <a:endParaRPr/>
          </a:p>
        </p:txBody>
      </p:sp>
      <p:sp>
        <p:nvSpPr>
          <p:cNvPr id="1745" name="" descr="{&quot;isTemplate&quot;:true,&quot;type&quot;:&quot;text&quot;}"/>
          <p:cNvSpPr txBox="1"/>
          <p:nvPr/>
        </p:nvSpPr>
        <p:spPr>
          <a:xfrm rot="0" flipH="0" flipV="0">
            <a:off x="2247900" y="4714875"/>
            <a:ext cx="238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BA15C"/>
                </a:solidFill>
                <a:latin typeface="Microsoft YaHei"/>
                <a:ea typeface="Microsoft YaHei"/>
              </a:rPr>
              <a:t>long</a:t>
            </a:r>
            <a:endParaRPr/>
          </a:p>
        </p:txBody>
      </p:sp>
      <p:sp>
        <p:nvSpPr>
          <p:cNvPr id="1746" name=""/>
          <p:cNvSpPr/>
          <p:nvPr/>
        </p:nvSpPr>
        <p:spPr>
          <a:xfrm rot="0" flipH="0" flipV="0">
            <a:off x="2943225" y="4514850"/>
            <a:ext cx="1028700" cy="514350"/>
          </a:xfrm>
          <a:prstGeom prst="roundRect">
            <a:avLst>
              <a:gd name="adj" fmla="val 5556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747" name="" descr="{&quot;isTemplate&quot;:true,&quot;type&quot;:&quot;text&quot;}"/>
          <p:cNvSpPr txBox="1"/>
          <p:nvPr/>
        </p:nvSpPr>
        <p:spPr>
          <a:xfrm rot="0" flipH="0" flipV="0">
            <a:off x="3362325" y="4572000"/>
            <a:ext cx="2000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float</a:t>
            </a:r>
            <a:endParaRPr/>
          </a:p>
        </p:txBody>
      </p:sp>
      <p:sp>
        <p:nvSpPr>
          <p:cNvPr id="1748" name="" descr="{&quot;isTemplate&quot;:true,&quot;type&quot;:&quot;text&quot;}"/>
          <p:cNvSpPr txBox="1"/>
          <p:nvPr/>
        </p:nvSpPr>
        <p:spPr>
          <a:xfrm rot="0" flipH="0" flipV="0">
            <a:off x="3276600" y="4714875"/>
            <a:ext cx="3714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BA15C"/>
                </a:solidFill>
                <a:latin typeface="Microsoft YaHei"/>
                <a:ea typeface="Microsoft YaHei"/>
              </a:rPr>
              <a:t>double</a:t>
            </a:r>
            <a:endParaRPr/>
          </a:p>
        </p:txBody>
      </p:sp>
      <p:sp>
        <p:nvSpPr>
          <p:cNvPr id="1749" name=""/>
          <p:cNvSpPr/>
          <p:nvPr/>
        </p:nvSpPr>
        <p:spPr>
          <a:xfrm rot="0" flipH="0" flipV="0">
            <a:off x="4029075" y="4514850"/>
            <a:ext cx="1038225" cy="514350"/>
          </a:xfrm>
          <a:prstGeom prst="roundRect">
            <a:avLst>
              <a:gd name="adj" fmla="val 5556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750" name="" descr="{&quot;isTemplate&quot;:true,&quot;type&quot;:&quot;text&quot;}"/>
          <p:cNvSpPr txBox="1"/>
          <p:nvPr/>
        </p:nvSpPr>
        <p:spPr>
          <a:xfrm rot="0" flipH="0" flipV="0">
            <a:off x="4400550" y="4572000"/>
            <a:ext cx="3048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double</a:t>
            </a:r>
            <a:endParaRPr/>
          </a:p>
        </p:txBody>
      </p:sp>
      <p:sp>
        <p:nvSpPr>
          <p:cNvPr id="1751" name="" descr="{&quot;isTemplate&quot;:true,&quot;type&quot;:&quot;text&quot;}"/>
          <p:cNvSpPr txBox="1"/>
          <p:nvPr/>
        </p:nvSpPr>
        <p:spPr>
          <a:xfrm rot="0" flipH="0" flipV="0">
            <a:off x="4362450" y="4714875"/>
            <a:ext cx="3714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BA15C"/>
                </a:solidFill>
                <a:latin typeface="Microsoft YaHei"/>
                <a:ea typeface="Microsoft YaHei"/>
              </a:rPr>
              <a:t>double</a:t>
            </a:r>
            <a:endParaRPr/>
          </a:p>
        </p:txBody>
      </p:sp>
      <p:sp>
        <p:nvSpPr>
          <p:cNvPr id="1752" name=""/>
          <p:cNvSpPr/>
          <p:nvPr/>
        </p:nvSpPr>
        <p:spPr>
          <a:xfrm rot="0" flipH="0" flipV="0">
            <a:off x="5124450" y="4514850"/>
            <a:ext cx="1028700" cy="514350"/>
          </a:xfrm>
          <a:prstGeom prst="roundRect">
            <a:avLst>
              <a:gd name="adj" fmla="val 5556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753" name="" descr="{&quot;isTemplate&quot;:true,&quot;type&quot;:&quot;text&quot;}"/>
          <p:cNvSpPr txBox="1"/>
          <p:nvPr/>
        </p:nvSpPr>
        <p:spPr>
          <a:xfrm rot="0" flipH="0" flipV="0">
            <a:off x="5467350" y="4572000"/>
            <a:ext cx="342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decimal</a:t>
            </a:r>
            <a:endParaRPr/>
          </a:p>
        </p:txBody>
      </p:sp>
      <p:sp>
        <p:nvSpPr>
          <p:cNvPr id="1754" name="" descr="{&quot;isTemplate&quot;:true,&quot;type&quot;:&quot;text&quot;}"/>
          <p:cNvSpPr txBox="1"/>
          <p:nvPr/>
        </p:nvSpPr>
        <p:spPr>
          <a:xfrm rot="0" flipH="0" flipV="0">
            <a:off x="5172075" y="4714875"/>
            <a:ext cx="933450" cy="257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BA15C"/>
                </a:solidFill>
                <a:latin typeface="Microsoft YaHei"/>
                <a:ea typeface="Microsoft YaHei"/>
              </a:rPr>
              <a:t>decimal</a:t>
            </a:r>
            <a:r>
              <a:rPr lang="zh-CN" sz="825" b="1">
                <a:solidFill>
                  <a:srgbClr val="FBA15C"/>
                </a:solidFill>
                <a:latin typeface="Microsoft YaHei"/>
                <a:ea typeface="Microsoft YaHei"/>
              </a:rPr>
              <a:t>（提精度、降标度）</a:t>
            </a:r>
            <a:endParaRPr/>
          </a:p>
        </p:txBody>
      </p:sp>
      <p:sp>
        <p:nvSpPr>
          <p:cNvPr id="1755" name="" descr="{&quot;isTemplate&quot;:true,&quot;type&quot;:&quot;text&quot;}"/>
          <p:cNvSpPr txBox="1"/>
          <p:nvPr/>
        </p:nvSpPr>
        <p:spPr>
          <a:xfrm rot="0" flipH="0" flipV="0">
            <a:off x="762000" y="5114925"/>
            <a:ext cx="539115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加宽是为了避免溢出，但</a:t>
            </a:r>
            <a:r>
              <a:rPr lang="en-US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 xml:space="preserve">float </a:t>
            </a:r>
            <a:r>
              <a:rPr lang="zh-CN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求和升级成</a:t>
            </a:r>
            <a:r>
              <a:rPr lang="en-US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 xml:space="preserve"> double </a:t>
            </a:r>
            <a:r>
              <a:rPr lang="zh-CN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会把「精度够了」的假设推翻</a:t>
            </a:r>
            <a:r>
              <a:rPr lang="zh-CN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——同一个指标，源系统用浮点、管线用十进制、报表用双精度，三处对不上，根因就在这一行。</a:t>
            </a:r>
            <a:endParaRPr/>
          </a:p>
        </p:txBody>
      </p:sp>
      <p:sp>
        <p:nvSpPr>
          <p:cNvPr id="1756" name=""/>
          <p:cNvSpPr/>
          <p:nvPr/>
        </p:nvSpPr>
        <p:spPr>
          <a:xfrm rot="0" flipH="0" flipV="0">
            <a:off x="6400800" y="4171950"/>
            <a:ext cx="5181600" cy="1466850"/>
          </a:xfrm>
          <a:prstGeom prst="roundRect">
            <a:avLst>
              <a:gd name="adj" fmla="val 2597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757" name="" descr="{&quot;isTemplate&quot;:true,&quot;type&quot;:&quot;text&quot;}"/>
          <p:cNvSpPr txBox="1"/>
          <p:nvPr/>
        </p:nvSpPr>
        <p:spPr>
          <a:xfrm rot="0" flipH="0" flipV="0">
            <a:off x="6553200" y="4276725"/>
            <a:ext cx="4876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Collect </a:t>
            </a: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家族的四个陷阱</a:t>
            </a:r>
            <a:endParaRPr/>
          </a:p>
        </p:txBody>
      </p:sp>
      <p:sp>
        <p:nvSpPr>
          <p:cNvPr id="1758" name="" descr="{&quot;isTemplate&quot;:true,&quot;type&quot;:&quot;text&quot;}"/>
          <p:cNvSpPr txBox="1"/>
          <p:nvPr/>
        </p:nvSpPr>
        <p:spPr>
          <a:xfrm rot="0" flipH="0" flipV="0">
            <a:off x="6553200" y="451485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759" name="" descr="{&quot;isTemplate&quot;:true,&quot;type&quot;:&quot;text&quot;}"/>
          <p:cNvSpPr txBox="1"/>
          <p:nvPr/>
        </p:nvSpPr>
        <p:spPr>
          <a:xfrm rot="0" flipH="0" flipV="0">
            <a:off x="6686550" y="4514850"/>
            <a:ext cx="474345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没有值的对象被跳过</a:t>
            </a:r>
            <a:r>
              <a:rPr lang="en-US" sz="788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结果数组永不含</a:t>
            </a:r>
            <a:r>
              <a:rPr lang="en-US" sz="788">
                <a:solidFill>
                  <a:srgbClr val="3A4050"/>
                </a:solidFill>
                <a:latin typeface="Microsoft YaHei"/>
                <a:ea typeface="Microsoft YaHei"/>
              </a:rPr>
              <a:t xml:space="preserve"> null → 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「列表里</a:t>
            </a:r>
            <a:r>
              <a:rPr lang="en-US" sz="788">
                <a:solidFill>
                  <a:srgbClr val="3A4050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条」不等于「</a:t>
            </a:r>
            <a:r>
              <a:rPr lang="en-US" sz="788">
                <a:solidFill>
                  <a:srgbClr val="3A4050"/>
                </a:solidFill>
                <a:latin typeface="Microsoft YaHei"/>
                <a:ea typeface="Microsoft YaHei"/>
              </a:rPr>
              <a:t xml:space="preserve">5 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条都有值」</a:t>
            </a:r>
            <a:endParaRPr/>
          </a:p>
        </p:txBody>
      </p:sp>
      <p:sp>
        <p:nvSpPr>
          <p:cNvPr id="1760" name="" descr="{&quot;isTemplate&quot;:true,&quot;type&quot;:&quot;text&quot;}"/>
          <p:cNvSpPr txBox="1"/>
          <p:nvPr/>
        </p:nvSpPr>
        <p:spPr>
          <a:xfrm rot="0" flipH="0" flipV="0">
            <a:off x="6553200" y="478155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761" name="" descr="{&quot;isTemplate&quot;:true,&quot;type&quot;:&quot;text&quot;}"/>
          <p:cNvSpPr txBox="1"/>
          <p:nvPr/>
        </p:nvSpPr>
        <p:spPr>
          <a:xfrm rot="0" flipH="0" flipV="0">
            <a:off x="6686550" y="4781550"/>
            <a:ext cx="474345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收集值默认无序；只有定义了属性归约器时才会排序，且无论是否真的应用都会按它排</a:t>
            </a:r>
            <a:endParaRPr/>
          </a:p>
        </p:txBody>
      </p:sp>
      <p:sp>
        <p:nvSpPr>
          <p:cNvPr id="1762" name="" descr="{&quot;isTemplate&quot;:true,&quot;type&quot;:&quot;text&quot;}"/>
          <p:cNvSpPr txBox="1"/>
          <p:nvPr/>
        </p:nvSpPr>
        <p:spPr>
          <a:xfrm rot="0" flipH="0" flipV="0">
            <a:off x="6553200" y="505777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763" name="" descr="{&quot;isTemplate&quot;:true,&quot;type&quot;:&quot;text&quot;}"/>
          <p:cNvSpPr txBox="1"/>
          <p:nvPr/>
        </p:nvSpPr>
        <p:spPr>
          <a:xfrm rot="0" flipH="0" flipV="0">
            <a:off x="6686550" y="5057775"/>
            <a:ext cx="474345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788">
                <a:solidFill>
                  <a:srgbClr val="3A4050"/>
                </a:solidFill>
                <a:latin typeface="Microsoft YaHei"/>
                <a:ea typeface="Microsoft YaHei"/>
              </a:rPr>
              <a:t xml:space="preserve">Collect set 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先去重再套</a:t>
            </a:r>
            <a:r>
              <a:rPr lang="en-US" sz="788">
                <a:solidFill>
                  <a:srgbClr val="3A4050"/>
                </a:solidFill>
                <a:latin typeface="Microsoft YaHei"/>
                <a:ea typeface="Microsoft YaHei"/>
              </a:rPr>
              <a:t xml:space="preserve"> limit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；</a:t>
            </a:r>
            <a:r>
              <a:rPr lang="en-US" sz="788">
                <a:solidFill>
                  <a:srgbClr val="3A4050"/>
                </a:solidFill>
                <a:latin typeface="Microsoft YaHei"/>
                <a:ea typeface="Microsoft YaHei"/>
              </a:rPr>
              <a:t xml:space="preserve">limit 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默认</a:t>
            </a:r>
            <a:r>
              <a:rPr lang="en-US" sz="788">
                <a:solidFill>
                  <a:srgbClr val="3A4050"/>
                </a:solidFill>
                <a:latin typeface="Microsoft YaHei"/>
                <a:ea typeface="Microsoft YaHei"/>
              </a:rPr>
              <a:t xml:space="preserve"> 10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、最大</a:t>
            </a:r>
            <a:r>
              <a:rPr lang="en-US" sz="788">
                <a:solidFill>
                  <a:srgbClr val="3A4050"/>
                </a:solidFill>
                <a:latin typeface="Microsoft YaHei"/>
                <a:ea typeface="Microsoft YaHei"/>
              </a:rPr>
              <a:t xml:space="preserve"> 100</a:t>
            </a:r>
            <a:endParaRPr/>
          </a:p>
        </p:txBody>
      </p:sp>
      <p:sp>
        <p:nvSpPr>
          <p:cNvPr id="1764" name="" descr="{&quot;isTemplate&quot;:true,&quot;type&quot;:&quot;text&quot;}"/>
          <p:cNvSpPr txBox="1"/>
          <p:nvPr/>
        </p:nvSpPr>
        <p:spPr>
          <a:xfrm rot="0" flipH="0" flipV="0">
            <a:off x="6553200" y="532447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765" name="" descr="{&quot;isTemplate&quot;:true,&quot;type&quot;:&quot;text&quot;}"/>
          <p:cNvSpPr txBox="1"/>
          <p:nvPr/>
        </p:nvSpPr>
        <p:spPr>
          <a:xfrm rot="0" flipH="0" flipV="0">
            <a:off x="6686550" y="5324475"/>
            <a:ext cx="474345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788">
                <a:solidFill>
                  <a:srgbClr val="3A4050"/>
                </a:solidFill>
                <a:latin typeface="Microsoft YaHei"/>
                <a:ea typeface="Microsoft YaHei"/>
              </a:rPr>
              <a:t xml:space="preserve">limit 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只决定返回给你多少值，不决定平台算了多少值——依赖它做过滤前必须先搞清楚</a:t>
            </a:r>
            <a:endParaRPr/>
          </a:p>
        </p:txBody>
      </p:sp>
      <p:sp>
        <p:nvSpPr>
          <p:cNvPr id="1766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767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768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指标体系咨询方法论</a:t>
            </a:r>
            <a:endParaRPr/>
          </a:p>
        </p:txBody>
      </p:sp>
      <p:sp>
        <p:nvSpPr>
          <p:cNvPr id="1769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08 / 30</a:t>
            </a:r>
            <a:endParaRPr/>
          </a:p>
        </p:txBody>
      </p:sp>
      <p:sp>
        <p:nvSpPr>
          <p:cNvPr id="1770" name=""/>
          <p:cNvSpPr/>
          <p:nvPr/>
        </p:nvSpPr>
        <p:spPr>
          <a:xfrm rot="0" flipH="0" flipV="0">
            <a:off x="762000" y="3676650"/>
            <a:ext cx="10668000" cy="180975"/>
          </a:xfrm>
          <a:prstGeom prst="roundRect">
            <a:avLst>
              <a:gd name="adj" fmla="val 10526"/>
            </a:avLst>
          </a:prstGeom>
          <a:solidFill>
            <a:srgbClr val="FFFFFF">
              <a:alpha val="55000"/>
            </a:srgbClr>
          </a:solidFill>
          <a:ln/>
        </p:spPr>
        <p:txBody>
          <a:bodyPr/>
          <a:p/>
        </p:txBody>
      </p:sp>
      <p:sp>
        <p:nvSpPr>
          <p:cNvPr id="1771" name="" descr="{&quot;isTemplate&quot;:true,&quot;type&quot;:&quot;text&quot;}"/>
          <p:cNvSpPr txBox="1"/>
          <p:nvPr/>
        </p:nvSpPr>
        <p:spPr>
          <a:xfrm rot="0" flipH="0" flipV="0">
            <a:off x="828675" y="3705225"/>
            <a:ext cx="14478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0F1423">
                    <a:alpha val="55000"/>
                  </a:srgbClr>
                </a:solidFill>
                <a:latin typeface="Microsoft YaHei"/>
                <a:ea typeface="Microsoft YaHei"/>
              </a:rPr>
              <a:t>（不可用）</a:t>
            </a:r>
            <a:endParaRPr/>
          </a:p>
        </p:txBody>
      </p:sp>
      <p:sp>
        <p:nvSpPr>
          <p:cNvPr id="1772" name="" descr="{&quot;isTemplate&quot;:true,&quot;type&quot;:&quot;text&quot;}"/>
          <p:cNvSpPr txBox="1"/>
          <p:nvPr/>
        </p:nvSpPr>
        <p:spPr>
          <a:xfrm rot="0" flipH="0" flipV="0">
            <a:off x="2314575" y="3705225"/>
            <a:ext cx="11239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C43A17">
                    <a:alpha val="55000"/>
                  </a:srgbClr>
                </a:solidFill>
                <a:latin typeface="Microsoft YaHei"/>
                <a:ea typeface="Microsoft YaHei"/>
              </a:rPr>
              <a:t>approximatePercentile</a:t>
            </a:r>
            <a:endParaRPr/>
          </a:p>
        </p:txBody>
      </p:sp>
      <p:sp>
        <p:nvSpPr>
          <p:cNvPr id="1773" name="" descr="{&quot;isTemplate&quot;:true,&quot;type&quot;:&quot;text&quot;}"/>
          <p:cNvSpPr txBox="1"/>
          <p:nvPr/>
        </p:nvSpPr>
        <p:spPr>
          <a:xfrm rot="0" flipH="0" flipV="0">
            <a:off x="3476625" y="3705225"/>
            <a:ext cx="64389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0">
                    <a:alpha val="55000"/>
                  </a:srgbClr>
                </a:solidFill>
                <a:latin typeface="Microsoft YaHei"/>
                <a:ea typeface="Microsoft YaHei"/>
              </a:rPr>
              <a:t>数值</a:t>
            </a:r>
            <a:endParaRPr/>
          </a:p>
        </p:txBody>
      </p:sp>
      <p:sp>
        <p:nvSpPr>
          <p:cNvPr id="1774" name="" descr="{&quot;isTemplate&quot;:true,&quot;type&quot;:&quot;text&quot;}"/>
          <p:cNvSpPr txBox="1"/>
          <p:nvPr/>
        </p:nvSpPr>
        <p:spPr>
          <a:xfrm rot="0" flipH="0" flipV="0">
            <a:off x="9953625" y="3705225"/>
            <a:ext cx="14097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0">
                    <a:alpha val="55000"/>
                  </a:srgbClr>
                </a:solidFill>
                <a:latin typeface="Microsoft YaHei"/>
                <a:ea typeface="Microsoft YaHei"/>
              </a:rPr>
              <a:t>同源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775" name="" descr="&lt;Slide style={{ width: 1280, height: 720, background: '#FFFFFF', padding: '24px 64px 0' }}&gt;&#10;  &lt;Box style={{ height: 96, flexDirection: 'column', justifyContent: 'flex-start' }}&gt;&#10;    &lt;Text style={{ fontSize: 32, fontWeight: 'bold', color: '#0F1423' }}&gt;&#10;      什么时候必须聚合、什么时候可以直接取：一张判定表，&lt;span style={{ color: '#FA4F24' }}&gt;判错就是错数&lt;/span&gt;&#10;    &lt;/Text&gt;&#10;    &lt;Text style={{ fontSize: 20, color: '#8A8F99', marginTop: 8 }}&gt;官方给出的四条链路规则，以及聚合接口里那个会静默丢数据的参数&lt;/Text&gt;&#10;  &lt;/Box&gt;&#10;  &lt;Box style={{ height: 1, background: '#E8E8E8' }} /&gt;&#10;&#10;  &lt;Box style={{ paddingTop: 14, paddingBottom: 8, height: 479, flexDirection: 'column', gap: 10 }}&gt;&#10;    &lt;Box style={{ flex: 1.05, background: '#F7F7F8', borderRadius: 4, padding: '12px 18px', flexDirection: 'column' }}&gt;&#10;      &lt;Text style={{ fontSize: 14, fontWeight: 'bold', color: '#0F1423' }}&gt;四条链路规则：唯一能直接取属性的情形，只有第一种&lt;/Text&gt;&#10;      &lt;Box style={{ marginTop: 10, gap: 6, flex: 1 }}&gt;&#10;        {[&#10;          { l: '每次遍历最多只到一个对象', r: '可以直接取属性，也可以聚合', ok: true, e: '如「我的经理姓名」' },&#10;          { l: '任一次遍历可能到多个对象', r: '必须聚合', ok: false, e: '如「我下属的平均薪资」' },&#10;          { l: '链里含多对多链接', r: '必须聚合，绝不允许直接取', ok: false, e: '多对多链路没有任何单值语义' },&#10;          { l: '一对多链接且外键是数组', r: '必须聚合', ok: false, e: '数组外键天然对应多行' },&#10;        ].map((x) =&gt; (&#10;          &lt;Box key={x.l} style={{ flex: 1, flexDirection: 'row', alignItems: 'center', gap: 14, background: '#FFFFFF', borderRadius: 3, borderLeft: '4px solid ' + (x.ok ? '#FA4F24' : '#C43A17'), padding: '0 13px' }}&gt;&#10;            &lt;Text style={{ fontSize: 12.5, fontWeight: 'bold', color: '#0F1423', width: 224 }}&gt;{x.l}&lt;/Text&gt;&#10;            &lt;Box style={{ width: 1, height: 22, background: '#E8E8E8' }} /&gt;&#10;            &lt;Text style={{ fontSize: 12, color: x.ok ? '#3A4050' : '#C43A17', fontWeight: x.ok ? 'normal' : 'bold', width: 216 }}&gt;{x.r}&lt;/Text&gt;&#10;            &lt;Text style={{ fontSize: 10.5, color: '#8A8F99', flex: 1 }}&gt;{x.e}&lt;/Text&gt;&#10;          &lt;/Box&gt;&#10;        ))}&#10;      &lt;/Box&gt;&#10;    &lt;/Box&gt;&#10;&#10;    &lt;Box style={{ flex: 1, flexDirection: 'row', gap: 10 }}&gt;&#10;      &lt;Box style={{ flex: 1.15, background: '#0F1423', borderRadius: 4, padding: '12px 18px', flexDirection: 'column' }}&gt;&#10;        &lt;Text style={{ fontSize: 13.5, fontWeight: 'bold', color: '#FBA15C' }}&gt;excludedItems：接口成功、图表照常、只是少了一批&lt;/Text&gt;&#10;        &lt;Text style={{ fontSize: 11.5, color: 'rgba(255,255,255,0.85)', marginTop: 9, lineHeight: 1.5, flex: 1 }}&gt;&#10;          聚合接口用 &lt;tspan style={{ color: '#FBA15C' }}&gt;maxGroupCount&lt;/tspan&gt; 限制分组数。超出部分不报错，而是被计数进&#10;          &lt;tspan style={{ color: '#FBA15C' }}&gt; excludedItems&lt;/tspan&gt; 然后&lt;tspan style={{ fontWeight: 'bold' }}&gt;悄悄丢掉&lt;/tspan&gt;。分母少了一截，环比、同比、占比全部失真，而看板一片正常。&#10;        &lt;/Text&gt;&#10;        &lt;Box style={{ background: 'rgba(250,79,36,0.18)', borderRadius: 3, padding: '8px 11px', marginTop: 9 }}&gt;&#10;          &lt;Text style={{ fontSize: 11, color: 'rgba(255,255,255,0.9)', lineHeight: 1.5 }}&gt;&#10;            对策：把 &lt;tspan style={{ fontWeight: 'bold', color: '#FBA15C' }}&gt;accuracy&lt;/tspan&gt; 显式设为 REQUIRE_ACCURATE，让它宁可失败；并且把 excludedItems 做成告警项而不是日志里的一行。&#10;          &lt;/Text&gt;&#10;        &lt;/Box&gt;&#10;      &lt;/Box&gt;&#10;&#10;      &lt;Box style={{ flex: 1, background: '#FFF3EE', borderRadius: 4, padding: '12px 18px', flexDirection: 'column' }}&gt;&#10;        &lt;Text style={{ fontSize: 13.5, fontWeight: 'bold', color: '#C43A17' }}&gt;聚合接口的其他四个默认值陷阱&lt;/Text&gt;&#10;        &lt;Box style={{ marginTop: 9, gap: 6, flex: 1 }}&gt;&#10;          {[&#10;            { t: '默认允许近似', d: 'accuracy 默认 ALLOW_APPROXIMATE；要求精确要显式声明，否则失败时报 AggregationAccuracyNotSupported' },&#10;            { t: 'null 一律被忽略', d: '不是当 0，是不当它存在——「有值的平均」和「全部平均」是两个数' },&#10;            { t: '多个分组按数组顺序算', d: 'groupBy 的先后顺序会影响计算，改顺序要重新验证结果' },&#10;            { t: '分组类型只有四种', d: 'exact 精确值 / fixedWidth 固定宽度 / ranges 区间 / duration 时间间隔' },&#10;          ].map((x) =&gt; (&#10;            &lt;Box key={x.t} style={{ flex: 1, background: '#FFFFFF', borderRadius: 3, padding: '6px 10px', justifyContent: 'center' }}&gt;&#10;              &lt;Text style={{ fontSize: 11.5, fontWeight: 'bold', color: '#0F1423' }}&gt;{x.t}&lt;/Text&gt;&#10;              &lt;Text style={{ fontSize: 10, color: '#5A6070', marginTop: 3, lineHeight: 1.4 }}&gt;{x.d}&lt;/Text&gt;&#10;            &lt;/Box&gt;&#10;          ))}&#10;        &lt;/Box&gt;&#10;      &lt;/Box&gt;&#10;    &lt;/Box&gt;&#10;  &lt;/Box&gt;&#10;&#10;  &lt;Box style={{ height: 58, flexDirection: 'row', alignItems: 'center', borderTop: '1px solid #E8E8E8' }}&gt;&#10;    &lt;Box style={{ width: 10, height: 10, background: '#FA4F24' }} /&gt;&#10;    &lt;Text style={{ fontSize: 13, color: '#8A8F99', marginLeft: 12 }}&gt;硕磐机密 · 指标体系咨询方法论&lt;/Text&gt;&#10;    &lt;Text style={{ fontSize: 13, color: '#8A8F99', marginLeft: 'auto' }}&gt;09 / 3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77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什么时候必须聚合、什么时候可以直接取：一张判定表，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判错就是错数</a:t>
            </a:r>
            <a:endParaRPr/>
          </a:p>
        </p:txBody>
      </p:sp>
      <p:sp>
        <p:nvSpPr>
          <p:cNvPr id="1778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官方给出的四条链路规则，以及聚合接口里那个会静默丢数据的参数</a:t>
            </a:r>
            <a:endParaRPr/>
          </a:p>
        </p:txBody>
      </p:sp>
      <p:sp>
        <p:nvSpPr>
          <p:cNvPr id="1779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780" name=""/>
          <p:cNvSpPr/>
          <p:nvPr/>
        </p:nvSpPr>
        <p:spPr>
          <a:xfrm rot="0" flipH="0" flipV="0">
            <a:off x="609600" y="1285875"/>
            <a:ext cx="10972800" cy="1600200"/>
          </a:xfrm>
          <a:prstGeom prst="roundRect">
            <a:avLst>
              <a:gd name="adj" fmla="val 238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781" name="" descr="{&quot;isTemplate&quot;:true,&quot;type&quot;:&quot;text&quot;}"/>
          <p:cNvSpPr txBox="1"/>
          <p:nvPr/>
        </p:nvSpPr>
        <p:spPr>
          <a:xfrm rot="0" flipH="0" flipV="0">
            <a:off x="781050" y="1400175"/>
            <a:ext cx="10629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四条链路规则：唯一能直接取属性的情形，只有第一种</a:t>
            </a:r>
            <a:endParaRPr/>
          </a:p>
        </p:txBody>
      </p:sp>
      <p:sp>
        <p:nvSpPr>
          <p:cNvPr id="1782" name=""/>
          <p:cNvSpPr/>
          <p:nvPr/>
        </p:nvSpPr>
        <p:spPr>
          <a:xfrm rot="0" flipH="0" flipV="0">
            <a:off x="819150" y="1657350"/>
            <a:ext cx="10629900" cy="23812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83" name=""/>
          <p:cNvSpPr/>
          <p:nvPr/>
        </p:nvSpPr>
        <p:spPr>
          <a:xfrm rot="0" flipH="0" flipV="0">
            <a:off x="819150" y="1657350"/>
            <a:ext cx="10629900" cy="238125"/>
          </a:xfrm>
          <a:custGeom>
            <a:pathLst>
              <a:path w="1116" h="25">
                <a:moveTo>
                  <a:pt x="4" y="25"/>
                </a:moveTo>
                <a:cubicBezTo>
                  <a:pt x="3" y="25"/>
                  <a:pt x="2" y="25"/>
                  <a:pt x="1" y="24"/>
                </a:cubicBezTo>
                <a:cubicBezTo>
                  <a:pt x="0" y="23"/>
                  <a:pt x="0" y="23"/>
                  <a:pt x="0" y="2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784" name="" descr="{&quot;isTemplate&quot;:true,&quot;type&quot;:&quot;text&quot;}"/>
          <p:cNvSpPr txBox="1"/>
          <p:nvPr/>
        </p:nvSpPr>
        <p:spPr>
          <a:xfrm rot="0" flipH="0" flipV="0">
            <a:off x="942975" y="1704975"/>
            <a:ext cx="2133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每次遍历最多只到一个对象</a:t>
            </a:r>
            <a:endParaRPr/>
          </a:p>
        </p:txBody>
      </p:sp>
      <p:sp>
        <p:nvSpPr>
          <p:cNvPr id="1785" name=""/>
          <p:cNvSpPr/>
          <p:nvPr/>
        </p:nvSpPr>
        <p:spPr>
          <a:xfrm rot="0" flipH="0" flipV="0">
            <a:off x="3209925" y="1676400"/>
            <a:ext cx="9525" cy="2095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786" name="" descr="{&quot;isTemplate&quot;:true,&quot;type&quot;:&quot;text&quot;}"/>
          <p:cNvSpPr txBox="1"/>
          <p:nvPr/>
        </p:nvSpPr>
        <p:spPr>
          <a:xfrm rot="0" flipH="0" flipV="0">
            <a:off x="3352800" y="1704975"/>
            <a:ext cx="2057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可以直接取属性，也可以聚合</a:t>
            </a:r>
            <a:endParaRPr/>
          </a:p>
        </p:txBody>
      </p:sp>
      <p:sp>
        <p:nvSpPr>
          <p:cNvPr id="1787" name="" descr="{&quot;isTemplate&quot;:true,&quot;type&quot;:&quot;text&quot;}"/>
          <p:cNvSpPr txBox="1"/>
          <p:nvPr/>
        </p:nvSpPr>
        <p:spPr>
          <a:xfrm rot="0" flipH="0" flipV="0">
            <a:off x="5543550" y="1714500"/>
            <a:ext cx="57435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如「我的经理姓名」</a:t>
            </a:r>
            <a:endParaRPr/>
          </a:p>
        </p:txBody>
      </p:sp>
      <p:sp>
        <p:nvSpPr>
          <p:cNvPr id="1788" name=""/>
          <p:cNvSpPr/>
          <p:nvPr/>
        </p:nvSpPr>
        <p:spPr>
          <a:xfrm rot="0" flipH="0" flipV="0">
            <a:off x="819150" y="1952625"/>
            <a:ext cx="10629900" cy="23812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89" name=""/>
          <p:cNvSpPr/>
          <p:nvPr/>
        </p:nvSpPr>
        <p:spPr>
          <a:xfrm rot="0" flipH="0" flipV="0">
            <a:off x="819150" y="1952625"/>
            <a:ext cx="10629900" cy="238125"/>
          </a:xfrm>
          <a:custGeom>
            <a:pathLst>
              <a:path w="1116" h="25">
                <a:moveTo>
                  <a:pt x="4" y="25"/>
                </a:moveTo>
                <a:cubicBezTo>
                  <a:pt x="3" y="25"/>
                  <a:pt x="2" y="25"/>
                  <a:pt x="1" y="24"/>
                </a:cubicBezTo>
                <a:cubicBezTo>
                  <a:pt x="0" y="23"/>
                  <a:pt x="0" y="23"/>
                  <a:pt x="0" y="2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790" name="" descr="{&quot;isTemplate&quot;:true,&quot;type&quot;:&quot;text&quot;}"/>
          <p:cNvSpPr txBox="1"/>
          <p:nvPr/>
        </p:nvSpPr>
        <p:spPr>
          <a:xfrm rot="0" flipH="0" flipV="0">
            <a:off x="942975" y="2000250"/>
            <a:ext cx="2133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任一次遍历可能到多个对象</a:t>
            </a:r>
            <a:endParaRPr/>
          </a:p>
        </p:txBody>
      </p:sp>
      <p:sp>
        <p:nvSpPr>
          <p:cNvPr id="1791" name=""/>
          <p:cNvSpPr/>
          <p:nvPr/>
        </p:nvSpPr>
        <p:spPr>
          <a:xfrm rot="0" flipH="0" flipV="0">
            <a:off x="3209925" y="1971675"/>
            <a:ext cx="9525" cy="2095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792" name="" descr="{&quot;isTemplate&quot;:true,&quot;type&quot;:&quot;text&quot;}"/>
          <p:cNvSpPr txBox="1"/>
          <p:nvPr/>
        </p:nvSpPr>
        <p:spPr>
          <a:xfrm rot="0" flipH="0" flipV="0">
            <a:off x="3352800" y="2000250"/>
            <a:ext cx="2057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必须聚合</a:t>
            </a:r>
            <a:endParaRPr/>
          </a:p>
        </p:txBody>
      </p:sp>
      <p:sp>
        <p:nvSpPr>
          <p:cNvPr id="1793" name="" descr="{&quot;isTemplate&quot;:true,&quot;type&quot;:&quot;text&quot;}"/>
          <p:cNvSpPr txBox="1"/>
          <p:nvPr/>
        </p:nvSpPr>
        <p:spPr>
          <a:xfrm rot="0" flipH="0" flipV="0">
            <a:off x="5543550" y="2009775"/>
            <a:ext cx="57435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如「我下属的平均薪资」</a:t>
            </a:r>
            <a:endParaRPr/>
          </a:p>
        </p:txBody>
      </p:sp>
      <p:sp>
        <p:nvSpPr>
          <p:cNvPr id="1794" name=""/>
          <p:cNvSpPr/>
          <p:nvPr/>
        </p:nvSpPr>
        <p:spPr>
          <a:xfrm rot="0" flipH="0" flipV="0">
            <a:off x="819150" y="2247900"/>
            <a:ext cx="10629900" cy="228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95" name=""/>
          <p:cNvSpPr/>
          <p:nvPr/>
        </p:nvSpPr>
        <p:spPr>
          <a:xfrm rot="0" flipH="0" flipV="0">
            <a:off x="819150" y="2247900"/>
            <a:ext cx="10629900" cy="228600"/>
          </a:xfrm>
          <a:custGeom>
            <a:pathLst>
              <a:path w="1116" h="24">
                <a:moveTo>
                  <a:pt x="4" y="24"/>
                </a:moveTo>
                <a:cubicBezTo>
                  <a:pt x="3" y="24"/>
                  <a:pt x="2" y="24"/>
                  <a:pt x="1" y="23"/>
                </a:cubicBezTo>
                <a:cubicBezTo>
                  <a:pt x="0" y="22"/>
                  <a:pt x="0" y="22"/>
                  <a:pt x="0" y="2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796" name="" descr="{&quot;isTemplate&quot;:true,&quot;type&quot;:&quot;text&quot;}"/>
          <p:cNvSpPr txBox="1"/>
          <p:nvPr/>
        </p:nvSpPr>
        <p:spPr>
          <a:xfrm rot="0" flipH="0" flipV="0">
            <a:off x="942975" y="2295525"/>
            <a:ext cx="2133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链里含多对多链接</a:t>
            </a:r>
            <a:endParaRPr/>
          </a:p>
        </p:txBody>
      </p:sp>
      <p:sp>
        <p:nvSpPr>
          <p:cNvPr id="1797" name=""/>
          <p:cNvSpPr/>
          <p:nvPr/>
        </p:nvSpPr>
        <p:spPr>
          <a:xfrm rot="0" flipH="0" flipV="0">
            <a:off x="3209925" y="2257425"/>
            <a:ext cx="9525" cy="2095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798" name="" descr="{&quot;isTemplate&quot;:true,&quot;type&quot;:&quot;text&quot;}"/>
          <p:cNvSpPr txBox="1"/>
          <p:nvPr/>
        </p:nvSpPr>
        <p:spPr>
          <a:xfrm rot="0" flipH="0" flipV="0">
            <a:off x="3352800" y="2295525"/>
            <a:ext cx="2057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必须聚合，绝不允许直接取</a:t>
            </a:r>
            <a:endParaRPr/>
          </a:p>
        </p:txBody>
      </p:sp>
      <p:sp>
        <p:nvSpPr>
          <p:cNvPr id="1799" name="" descr="{&quot;isTemplate&quot;:true,&quot;type&quot;:&quot;text&quot;}"/>
          <p:cNvSpPr txBox="1"/>
          <p:nvPr/>
        </p:nvSpPr>
        <p:spPr>
          <a:xfrm rot="0" flipH="0" flipV="0">
            <a:off x="5543550" y="2305050"/>
            <a:ext cx="57435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多对多链路没有任何单值语义</a:t>
            </a:r>
            <a:endParaRPr/>
          </a:p>
        </p:txBody>
      </p:sp>
      <p:sp>
        <p:nvSpPr>
          <p:cNvPr id="1800" name=""/>
          <p:cNvSpPr/>
          <p:nvPr/>
        </p:nvSpPr>
        <p:spPr>
          <a:xfrm rot="0" flipH="0" flipV="0">
            <a:off x="819150" y="2533650"/>
            <a:ext cx="10629900" cy="23812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01" name=""/>
          <p:cNvSpPr/>
          <p:nvPr/>
        </p:nvSpPr>
        <p:spPr>
          <a:xfrm rot="0" flipH="0" flipV="0">
            <a:off x="819150" y="2533650"/>
            <a:ext cx="10629900" cy="238125"/>
          </a:xfrm>
          <a:custGeom>
            <a:pathLst>
              <a:path w="1116" h="25">
                <a:moveTo>
                  <a:pt x="4" y="25"/>
                </a:moveTo>
                <a:cubicBezTo>
                  <a:pt x="3" y="25"/>
                  <a:pt x="2" y="25"/>
                  <a:pt x="1" y="24"/>
                </a:cubicBezTo>
                <a:cubicBezTo>
                  <a:pt x="0" y="23"/>
                  <a:pt x="0" y="23"/>
                  <a:pt x="0" y="2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802" name="" descr="{&quot;isTemplate&quot;:true,&quot;type&quot;:&quot;text&quot;}"/>
          <p:cNvSpPr txBox="1"/>
          <p:nvPr/>
        </p:nvSpPr>
        <p:spPr>
          <a:xfrm rot="0" flipH="0" flipV="0">
            <a:off x="942975" y="2581275"/>
            <a:ext cx="2133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F1423"/>
                </a:solidFill>
                <a:latin typeface="Microsoft YaHei"/>
                <a:ea typeface="Microsoft YaHei"/>
              </a:rPr>
              <a:t>一对多链接且外键是数组</a:t>
            </a:r>
            <a:endParaRPr/>
          </a:p>
        </p:txBody>
      </p:sp>
      <p:sp>
        <p:nvSpPr>
          <p:cNvPr id="1803" name=""/>
          <p:cNvSpPr/>
          <p:nvPr/>
        </p:nvSpPr>
        <p:spPr>
          <a:xfrm rot="0" flipH="0" flipV="0">
            <a:off x="3209925" y="2552700"/>
            <a:ext cx="9525" cy="2095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804" name="" descr="{&quot;isTemplate&quot;:true,&quot;type&quot;:&quot;text&quot;}"/>
          <p:cNvSpPr txBox="1"/>
          <p:nvPr/>
        </p:nvSpPr>
        <p:spPr>
          <a:xfrm rot="0" flipH="0" flipV="0">
            <a:off x="3352800" y="2581275"/>
            <a:ext cx="2057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必须聚合</a:t>
            </a:r>
            <a:endParaRPr/>
          </a:p>
        </p:txBody>
      </p:sp>
      <p:sp>
        <p:nvSpPr>
          <p:cNvPr id="1805" name="" descr="{&quot;isTemplate&quot;:true,&quot;type&quot;:&quot;text&quot;}"/>
          <p:cNvSpPr txBox="1"/>
          <p:nvPr/>
        </p:nvSpPr>
        <p:spPr>
          <a:xfrm rot="0" flipH="0" flipV="0">
            <a:off x="5543550" y="2590800"/>
            <a:ext cx="57435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数组外键天然对应多行</a:t>
            </a:r>
            <a:endParaRPr/>
          </a:p>
        </p:txBody>
      </p:sp>
      <p:sp>
        <p:nvSpPr>
          <p:cNvPr id="1806" name=""/>
          <p:cNvSpPr/>
          <p:nvPr/>
        </p:nvSpPr>
        <p:spPr>
          <a:xfrm rot="0" flipH="0" flipV="0">
            <a:off x="609600" y="2981325"/>
            <a:ext cx="5819775" cy="2657475"/>
          </a:xfrm>
          <a:prstGeom prst="roundRect">
            <a:avLst>
              <a:gd name="adj" fmla="val 1434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807" name="" descr="{&quot;isTemplate&quot;:true,&quot;type&quot;:&quot;text&quot;}"/>
          <p:cNvSpPr txBox="1"/>
          <p:nvPr/>
        </p:nvSpPr>
        <p:spPr>
          <a:xfrm rot="0" flipH="0" flipV="0">
            <a:off x="781050" y="3095625"/>
            <a:ext cx="5476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FBA15C"/>
                </a:solidFill>
                <a:latin typeface="Microsoft YaHei"/>
                <a:ea typeface="Microsoft YaHei"/>
              </a:rPr>
              <a:t>excludedItems</a:t>
            </a: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：接口成功、图表照常、只是少了一批</a:t>
            </a:r>
            <a:endParaRPr/>
          </a:p>
        </p:txBody>
      </p:sp>
      <p:sp>
        <p:nvSpPr>
          <p:cNvPr id="1808" name="" descr="{&quot;isTemplate&quot;:true,&quot;type&quot;:&quot;text&quot;}"/>
          <p:cNvSpPr txBox="1"/>
          <p:nvPr/>
        </p:nvSpPr>
        <p:spPr>
          <a:xfrm rot="0" flipH="0" flipV="0">
            <a:off x="781050" y="3343275"/>
            <a:ext cx="5476875" cy="1562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聚合接口用</a:t>
            </a:r>
            <a:r>
              <a:rPr lang="en-US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maxGroupCount</a:t>
            </a:r>
            <a:r>
              <a:rPr lang="en-US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限制分组数。超出部分不报错，而是被计数进</a:t>
            </a:r>
            <a:r>
              <a:rPr lang="en-US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excludedItems</a:t>
            </a:r>
            <a:r>
              <a:rPr lang="en-US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然后</a:t>
            </a: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悄悄丢掉</a:t>
            </a: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。分母少了一截，环比、同比、占比全部失真，而看板一片正常。</a:t>
            </a:r>
            <a:endParaRPr/>
          </a:p>
        </p:txBody>
      </p:sp>
      <p:sp>
        <p:nvSpPr>
          <p:cNvPr id="1809" name=""/>
          <p:cNvSpPr/>
          <p:nvPr/>
        </p:nvSpPr>
        <p:spPr>
          <a:xfrm rot="0" flipH="0" flipV="0">
            <a:off x="781050" y="4991100"/>
            <a:ext cx="5476875" cy="533400"/>
          </a:xfrm>
          <a:prstGeom prst="roundRect">
            <a:avLst>
              <a:gd name="adj" fmla="val 5357"/>
            </a:avLst>
          </a:prstGeom>
          <a:solidFill>
            <a:srgbClr val="FA4F24">
              <a:alpha val="18000"/>
            </a:srgbClr>
          </a:solidFill>
          <a:ln/>
        </p:spPr>
        <p:txBody>
          <a:bodyPr/>
          <a:p/>
        </p:txBody>
      </p:sp>
      <p:sp>
        <p:nvSpPr>
          <p:cNvPr id="1810" name="" descr="{&quot;isTemplate&quot;:true,&quot;type&quot;:&quot;text&quot;}"/>
          <p:cNvSpPr txBox="1"/>
          <p:nvPr/>
        </p:nvSpPr>
        <p:spPr>
          <a:xfrm rot="0" flipH="0" flipV="0">
            <a:off x="885825" y="5067300"/>
            <a:ext cx="5267325" cy="381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对策：把</a:t>
            </a:r>
            <a:r>
              <a:rPr lang="en-US" sz="8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8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accuracy</a:t>
            </a:r>
            <a:r>
              <a:rPr lang="en-US" sz="8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8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显式设为</a:t>
            </a:r>
            <a:r>
              <a:rPr lang="en-US" sz="8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REQUIRE_ACCURATE</a:t>
            </a:r>
            <a:r>
              <a:rPr lang="zh-CN" sz="8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，让它宁可失败；并且把</a:t>
            </a:r>
            <a:r>
              <a:rPr lang="en-US" sz="8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excludedItems </a:t>
            </a:r>
            <a:r>
              <a:rPr lang="zh-CN" sz="8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做成告警项而不是日志里的一行。</a:t>
            </a:r>
            <a:endParaRPr/>
          </a:p>
        </p:txBody>
      </p:sp>
      <p:sp>
        <p:nvSpPr>
          <p:cNvPr id="1811" name=""/>
          <p:cNvSpPr/>
          <p:nvPr/>
        </p:nvSpPr>
        <p:spPr>
          <a:xfrm rot="0" flipH="0" flipV="0">
            <a:off x="6524625" y="2981325"/>
            <a:ext cx="5057775" cy="2657475"/>
          </a:xfrm>
          <a:prstGeom prst="roundRect">
            <a:avLst>
              <a:gd name="adj" fmla="val 1434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812" name="" descr="{&quot;isTemplate&quot;:true,&quot;type&quot;:&quot;text&quot;}"/>
          <p:cNvSpPr txBox="1"/>
          <p:nvPr/>
        </p:nvSpPr>
        <p:spPr>
          <a:xfrm rot="0" flipH="0" flipV="0">
            <a:off x="6696075" y="3095625"/>
            <a:ext cx="471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C43A17"/>
                </a:solidFill>
                <a:latin typeface="Microsoft YaHei"/>
                <a:ea typeface="Microsoft YaHei"/>
              </a:rPr>
              <a:t>聚合接口的其他四个默认值陷阱</a:t>
            </a:r>
            <a:endParaRPr/>
          </a:p>
        </p:txBody>
      </p:sp>
      <p:sp>
        <p:nvSpPr>
          <p:cNvPr id="1813" name=""/>
          <p:cNvSpPr/>
          <p:nvPr/>
        </p:nvSpPr>
        <p:spPr>
          <a:xfrm rot="0" flipH="0" flipV="0">
            <a:off x="6696075" y="3343275"/>
            <a:ext cx="4714875" cy="62865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14" name="" descr="{&quot;isTemplate&quot;:true,&quot;type&quot;:&quot;text&quot;}"/>
          <p:cNvSpPr txBox="1"/>
          <p:nvPr/>
        </p:nvSpPr>
        <p:spPr>
          <a:xfrm rot="0" flipH="0" flipV="0">
            <a:off x="6791325" y="3419475"/>
            <a:ext cx="4524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默认允许近似</a:t>
            </a:r>
            <a:endParaRPr/>
          </a:p>
        </p:txBody>
      </p:sp>
      <p:sp>
        <p:nvSpPr>
          <p:cNvPr id="1815" name="" descr="{&quot;isTemplate&quot;:true,&quot;type&quot;:&quot;text&quot;}"/>
          <p:cNvSpPr txBox="1"/>
          <p:nvPr/>
        </p:nvSpPr>
        <p:spPr>
          <a:xfrm rot="0" flipH="0" flipV="0">
            <a:off x="6791325" y="3581400"/>
            <a:ext cx="4524375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750">
                <a:solidFill>
                  <a:srgbClr val="5A6070"/>
                </a:solidFill>
                <a:latin typeface="Microsoft YaHei"/>
                <a:ea typeface="Microsoft YaHei"/>
              </a:rPr>
              <a:t xml:space="preserve">accuracy </a:t>
            </a: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默认</a:t>
            </a:r>
            <a:r>
              <a:rPr lang="en-US" sz="750">
                <a:solidFill>
                  <a:srgbClr val="5A6070"/>
                </a:solidFill>
                <a:latin typeface="Microsoft YaHei"/>
                <a:ea typeface="Microsoft YaHei"/>
              </a:rPr>
              <a:t xml:space="preserve"> ALLOW_APPROXIMATE</a:t>
            </a: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；要求精确要显式声明，否则失败时报</a:t>
            </a:r>
            <a:r>
              <a:rPr lang="en-US" sz="750">
                <a:solidFill>
                  <a:srgbClr val="5A6070"/>
                </a:solidFill>
                <a:latin typeface="Microsoft YaHei"/>
                <a:ea typeface="Microsoft YaHei"/>
              </a:rPr>
              <a:t xml:space="preserve"> AggregationAccuracyNotSupported</a:t>
            </a:r>
            <a:endParaRPr/>
          </a:p>
        </p:txBody>
      </p:sp>
      <p:sp>
        <p:nvSpPr>
          <p:cNvPr id="1816" name=""/>
          <p:cNvSpPr/>
          <p:nvPr/>
        </p:nvSpPr>
        <p:spPr>
          <a:xfrm rot="0" flipH="0" flipV="0">
            <a:off x="6696075" y="4029075"/>
            <a:ext cx="4714875" cy="457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17" name="" descr="{&quot;isTemplate&quot;:true,&quot;type&quot;:&quot;text&quot;}"/>
          <p:cNvSpPr txBox="1"/>
          <p:nvPr/>
        </p:nvSpPr>
        <p:spPr>
          <a:xfrm rot="0" flipH="0" flipV="0">
            <a:off x="6791325" y="4095750"/>
            <a:ext cx="4524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null </a:t>
            </a: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一律被忽略</a:t>
            </a:r>
            <a:endParaRPr/>
          </a:p>
        </p:txBody>
      </p:sp>
      <p:sp>
        <p:nvSpPr>
          <p:cNvPr id="1818" name="" descr="{&quot;isTemplate&quot;:true,&quot;type&quot;:&quot;text&quot;}"/>
          <p:cNvSpPr txBox="1"/>
          <p:nvPr/>
        </p:nvSpPr>
        <p:spPr>
          <a:xfrm rot="0" flipH="0" flipV="0">
            <a:off x="6791325" y="4257675"/>
            <a:ext cx="4524375" cy="1619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不是当</a:t>
            </a:r>
            <a:r>
              <a:rPr lang="en-US" sz="750">
                <a:solidFill>
                  <a:srgbClr val="5A6070"/>
                </a:solidFill>
                <a:latin typeface="Microsoft YaHei"/>
                <a:ea typeface="Microsoft YaHei"/>
              </a:rPr>
              <a:t xml:space="preserve"> 0</a:t>
            </a: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，是不当它存在——「有值的平均」和「全部平均」是两个数</a:t>
            </a:r>
            <a:endParaRPr/>
          </a:p>
        </p:txBody>
      </p:sp>
      <p:sp>
        <p:nvSpPr>
          <p:cNvPr id="1819" name=""/>
          <p:cNvSpPr/>
          <p:nvPr/>
        </p:nvSpPr>
        <p:spPr>
          <a:xfrm rot="0" flipH="0" flipV="0">
            <a:off x="6696075" y="4543425"/>
            <a:ext cx="4714875" cy="466725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20" name="" descr="{&quot;isTemplate&quot;:true,&quot;type&quot;:&quot;text&quot;}"/>
          <p:cNvSpPr txBox="1"/>
          <p:nvPr/>
        </p:nvSpPr>
        <p:spPr>
          <a:xfrm rot="0" flipH="0" flipV="0">
            <a:off x="6791325" y="4619625"/>
            <a:ext cx="4524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多个分组按数组顺序算</a:t>
            </a:r>
            <a:endParaRPr/>
          </a:p>
        </p:txBody>
      </p:sp>
      <p:sp>
        <p:nvSpPr>
          <p:cNvPr id="1821" name="" descr="{&quot;isTemplate&quot;:true,&quot;type&quot;:&quot;text&quot;}"/>
          <p:cNvSpPr txBox="1"/>
          <p:nvPr/>
        </p:nvSpPr>
        <p:spPr>
          <a:xfrm rot="0" flipH="0" flipV="0">
            <a:off x="6791325" y="4781550"/>
            <a:ext cx="4524375" cy="1619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750">
                <a:solidFill>
                  <a:srgbClr val="5A6070"/>
                </a:solidFill>
                <a:latin typeface="Microsoft YaHei"/>
                <a:ea typeface="Microsoft YaHei"/>
              </a:rPr>
              <a:t xml:space="preserve">groupBy </a:t>
            </a: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的先后顺序会影响计算，改顺序要重新验证结果</a:t>
            </a:r>
            <a:endParaRPr/>
          </a:p>
        </p:txBody>
      </p:sp>
      <p:sp>
        <p:nvSpPr>
          <p:cNvPr id="1822" name=""/>
          <p:cNvSpPr/>
          <p:nvPr/>
        </p:nvSpPr>
        <p:spPr>
          <a:xfrm rot="0" flipH="0" flipV="0">
            <a:off x="6696075" y="5067300"/>
            <a:ext cx="4714875" cy="457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23" name="" descr="{&quot;isTemplate&quot;:true,&quot;type&quot;:&quot;text&quot;}"/>
          <p:cNvSpPr txBox="1"/>
          <p:nvPr/>
        </p:nvSpPr>
        <p:spPr>
          <a:xfrm rot="0" flipH="0" flipV="0">
            <a:off x="6791325" y="5133975"/>
            <a:ext cx="4524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分组类型只有四种</a:t>
            </a:r>
            <a:endParaRPr/>
          </a:p>
        </p:txBody>
      </p:sp>
      <p:sp>
        <p:nvSpPr>
          <p:cNvPr id="1824" name="" descr="{&quot;isTemplate&quot;:true,&quot;type&quot;:&quot;text&quot;}"/>
          <p:cNvSpPr txBox="1"/>
          <p:nvPr/>
        </p:nvSpPr>
        <p:spPr>
          <a:xfrm rot="0" flipH="0" flipV="0">
            <a:off x="6791325" y="5295900"/>
            <a:ext cx="4524375" cy="1619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750">
                <a:solidFill>
                  <a:srgbClr val="5A6070"/>
                </a:solidFill>
                <a:latin typeface="Microsoft YaHei"/>
                <a:ea typeface="Microsoft YaHei"/>
              </a:rPr>
              <a:t xml:space="preserve">exact </a:t>
            </a: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精确值</a:t>
            </a:r>
            <a:r>
              <a:rPr lang="en-US" sz="750">
                <a:solidFill>
                  <a:srgbClr val="5A6070"/>
                </a:solidFill>
                <a:latin typeface="Microsoft YaHei"/>
                <a:ea typeface="Microsoft YaHei"/>
              </a:rPr>
              <a:t xml:space="preserve"> / fixedWidth </a:t>
            </a: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固定宽度</a:t>
            </a:r>
            <a:r>
              <a:rPr lang="en-US" sz="750">
                <a:solidFill>
                  <a:srgbClr val="5A6070"/>
                </a:solidFill>
                <a:latin typeface="Microsoft YaHei"/>
                <a:ea typeface="Microsoft YaHei"/>
              </a:rPr>
              <a:t xml:space="preserve"> / ranges </a:t>
            </a: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区间</a:t>
            </a:r>
            <a:r>
              <a:rPr lang="en-US" sz="750">
                <a:solidFill>
                  <a:srgbClr val="5A6070"/>
                </a:solidFill>
                <a:latin typeface="Microsoft YaHei"/>
                <a:ea typeface="Microsoft YaHei"/>
              </a:rPr>
              <a:t xml:space="preserve"> / duration </a:t>
            </a:r>
            <a:r>
              <a:rPr lang="zh-CN" sz="750">
                <a:solidFill>
                  <a:srgbClr val="5A6070"/>
                </a:solidFill>
                <a:latin typeface="Microsoft YaHei"/>
                <a:ea typeface="Microsoft YaHei"/>
              </a:rPr>
              <a:t>时间间隔</a:t>
            </a:r>
            <a:endParaRPr/>
          </a:p>
        </p:txBody>
      </p:sp>
      <p:sp>
        <p:nvSpPr>
          <p:cNvPr id="1825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826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827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指标体系咨询方法论</a:t>
            </a:r>
            <a:endParaRPr/>
          </a:p>
        </p:txBody>
      </p:sp>
      <p:sp>
        <p:nvSpPr>
          <p:cNvPr id="1828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09 / 30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42" name="" descr="&lt;Slide style={{ width: 1280, height: 720, background: '#FFFFFF', padding: '24px 64px 0' }}&gt;&#10;  &lt;Box style={{ height: 96, flexDirection: 'column', justifyContent: 'flex-start' }}&gt;&#10;    &lt;Text style={{ fontSize: 32, fontWeight: 'bold', color: '#0F1423' }}&gt;&#10;      指标的最小单位不是指标名，是&lt;span style={{ color: '#FA4F24' }}&gt;五元组&lt;/span&gt;&#10;    &lt;/Text&gt;&#10;    &lt;Text style={{ fontSize: 20, color: '#8A8F99', marginTop: 8 }}&gt;只写「销售额 = 1,240 万」这种口径，等于什么都没写——五项缺一项，这个数就不可复现&lt;/Text&gt;&#10;  &lt;/Box&gt;&#10;  &lt;Box style={{ height: 1, background: '#E8E8E8' }} /&gt;&#10;&#10;  &lt;Box style={{ paddingTop: 14, paddingBottom: 8, height: 479, flexDirection: 'column', gap: 10 }}&gt;&#10;    &lt;Box style={{ flex: 1, flexDirection: 'row', gap: 10 }}&gt;&#10;      {[&#10;        { n: '①', t: '指标名', q: '叫什么', d: '必须唯一。同名不同义是最常见的事故，所以名字的唯一性本身需要被治理。', e: '销售额' },&#10;        { n: '②', t: '粒度', q: '在什么颗粒上算', d: '订单粒度、客户粒度、订单行粒度。粒度错配是第二大事故来源——把日明细直接加总当月度量。', e: '订单行' },&#10;        { n: '③', t: '时间口径', q: '算哪段时间', d: '自然月 / 财年 / 滚动 30 天；用哪个时区；截止时点是否含当日未结算。', e: '自然月，Asia/Shanghai，含当日' },&#10;        { n: '④', t: '聚合方式', q: '怎么聚', d: '求和、去重计数、平均、最小最大。用平均值算总额、把去重计数当计数，都在这一项上错。', e: 'SUM' },&#10;        { n: '⑤', t: '过滤条件', q: '排除了什么', d: '取消的订单算不算、测试客户排不排、内部交易去不去。没写这一项，五元组就不完整。', e: '排除已取消与测试单' },&#10;      ].map((x) =&gt; (&#10;        &lt;Box key={x.n} style={{ flex: 1, background: '#F7F7F8', borderRadius: 4, borderTop: '4px solid #FA4F24', padding: '12px 13px', flexDirection: 'column' }}&gt;&#10;          &lt;Text style={{ fontSize: 19, fontWeight: 'bold', color: '#FA4F24' }}&gt;{x.n}&lt;/Text&gt;&#10;          &lt;Text style={{ fontSize: 15, fontWeight: 'bold', color: '#0F1423', marginTop: 4 }}&gt;{x.t}&lt;/Text&gt;&#10;          &lt;Text style={{ fontSize: 11, color: '#8A8F99', marginTop: 4 }}&gt;{x.q}&lt;/Text&gt;&#10;          &lt;Text style={{ fontSize: 11, color: '#3A4050', marginTop: 9, lineHeight: 1.5, flex: 1 }}&gt;{x.d}&lt;/Text&gt;&#10;          &lt;Box style={{ background: '#FFFFFF', borderRadius: 3, borderLeft: '3px solid #C43A17', padding: '5px 8px', marginTop: 8 }}&gt;&#10;            &lt;Text style={{ fontSize: 10.5, color: '#C43A17', lineHeight: 1.35 }}&gt;例：{x.e}&lt;/Text&gt;&#10;          &lt;/Box&gt;&#10;        &lt;/Box&gt;&#10;      ))}&#10;    &lt;/Box&gt;&#10;&#10;    &lt;Box style={{ flex: 1, flexDirection: 'row', gap: 10 }}&gt;&#10;      &lt;Box style={{ flex: 1.35, background: '#0F1423', borderRadius: 4, padding: '12px 18px', flexDirection: 'column' }}&gt;&#10;        &lt;Text style={{ fontSize: 13.5, fontWeight: 'bold', color: '#FBA15C' }}&gt;同一个词，缺一项就变成另一个指标&lt;/Text&gt;&#10;        &lt;Box style={{ marginTop: 10, gap: 6, flex: 1 }}&gt;&#10;          {[&#10;            { a: '订单口径 · 自然月 · SUM · 含取消', b: '1,240 万' },&#10;            { a: '到账口径 · 自然月 · SUM · 含取消', b: '1,186 万' },&#10;            { a: '签约口径 · 财年首季 · SUM · 含取消', b: '3,402 万' },&#10;            { a: '订单口径 · 滚动 30 天 · 去重客户数', b: '894 家' },&#10;          ].map((x, i) =&gt; (&#10;            &lt;Box key={i} style={{ flex: 1, flexDirection: 'row', alignItems: 'center', gap: 10, background: 'rgba(255,255,255,0.07)', borderRadius: 3, borderLeft: '3px solid #FBA15C', padding: '0 11px' }}&gt;&#10;              &lt;Text style={{ fontSize: 11, color: 'rgba(255,255,255,0.82)', flex: 1 }}&gt;{x.a}&lt;/Text&gt;&#10;              &lt;Text style={{ fontSize: 13, fontWeight: 'bold', color: '#FBA15C' }}&gt;{x.b}&lt;/Text&gt;&#10;            &lt;/Box&gt;&#10;          ))}&#10;        &lt;/Box&gt;&#10;        &lt;Text style={{ fontSize: 10.5, color: 'rgba(255,255,255,0.55)', marginTop: 9, lineHeight: 1.45 }}&gt;&#10;          四行都叫「销售额」。争议不发生在数据层，发生在会议室——而根因在第一层就没写清。&#10;        &lt;/Text&gt;&#10;      &lt;/Box&gt;&#10;&#10;      &lt;Box style={{ flex: 1, background: '#FFF3EE', borderRadius: 4, padding: '12px 18px', flexDirection: 'column' }}&gt;&#10;        &lt;Text style={{ fontSize: 13.5, fontWeight: 'bold', color: '#C43A17' }}&gt;交付要求&lt;/Text&gt;&#10;        &lt;Box style={{ marginTop: 10, gap: 7, flex: 1 }}&gt;&#10;          {[&#10;            '五元组是指标进入指标字典的准入门槛，缺项不予登记',&#10;            '指标名与五元组一起构成唯一键：同名不同义要拆名，同义不同名要合并',&#10;            '第③项必须写明时区与截止时点——这是跨系统对不上最常见的隐藏差异',&#10;            '第⑤项要写明排除清单，并说明每条排除的理由与批准人',&#10;          ].map((t, i) =&gt; (&#10;            &lt;Box key={i} style={{ flex: 1, flexDirection: 'row', gap: 8, alignItems: 'center' }}&gt;&#10;              &lt;Box style={{ width: 18, height: 18, borderRadius: 9, background: '#FA4F24', alignItems: 'center', justifyContent: 'center' }}&gt;&#10;                &lt;Text style={{ fontSize: 10, fontWeight: 'bold', color: '#FFFFFF' }}&gt;{i + 1}&lt;/Text&gt;&#10;              &lt;/Box&gt;&#10;              &lt;Text style={{ fontSize: 11, color: '#3A4050', lineHeight: 1.45, flex: 1 }}&gt;{t}&lt;/Text&gt;&#10;            &lt;/Box&gt;&#10;          ))}&#10;        &lt;/Box&gt;&#10;      &lt;/Box&gt;&#10;    &lt;/Box&gt;&#10;  &lt;/Box&gt;&#10;&#10;  &lt;Box style={{ height: 58, flexDirection: 'row', alignItems: 'center', borderTop: '1px solid #E8E8E8' }}&gt;&#10;    &lt;Box style={{ width: 10, height: 10, background: '#FA4F24' }} /&gt;&#10;    &lt;Text style={{ fontSize: 13, color: '#8A8F99', marginLeft: 12 }}&gt;硕磐机密 · 指标体系咨询方法论&lt;/Text&gt;&#10;    &lt;Text style={{ fontSize: 13, color: '#8A8F99', marginLeft: 'auto' }}&gt;10 / 3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指标的最小单位不是指标名，是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五元组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只写「销售额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= 1,240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万」这种口径，等于什么都没写——五项缺一项，这个数就不可复现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47" name=""/>
          <p:cNvSpPr/>
          <p:nvPr/>
        </p:nvSpPr>
        <p:spPr>
          <a:xfrm rot="0" flipH="0" flipV="0">
            <a:off x="609600" y="1323975"/>
            <a:ext cx="2114550" cy="2295525"/>
          </a:xfrm>
          <a:prstGeom prst="roundRect">
            <a:avLst>
              <a:gd name="adj" fmla="val 180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8" name=""/>
          <p:cNvSpPr/>
          <p:nvPr/>
        </p:nvSpPr>
        <p:spPr>
          <a:xfrm rot="0" flipH="0" flipV="0">
            <a:off x="609600" y="1323975"/>
            <a:ext cx="2114550" cy="2295525"/>
          </a:xfrm>
          <a:custGeom>
            <a:pathLst>
              <a:path w="222" h="241">
                <a:moveTo>
                  <a:pt x="218" y="0"/>
                </a:moveTo>
                <a:cubicBezTo>
                  <a:pt x="220" y="0"/>
                  <a:pt x="222" y="2"/>
                  <a:pt x="222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18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733425" y="1438275"/>
            <a:ext cx="1866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425" b="1">
                <a:solidFill>
                  <a:srgbClr val="FA4F24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733425" y="1695450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指标名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733425" y="1905000"/>
            <a:ext cx="1866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叫什么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33425" y="2124075"/>
            <a:ext cx="1866900" cy="1000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必须唯一。同名不同义是最常见的事故，所以名字的唯一性本身需要被治理。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762000" y="3200400"/>
            <a:ext cx="1866900" cy="2667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" name=""/>
          <p:cNvSpPr/>
          <p:nvPr/>
        </p:nvSpPr>
        <p:spPr>
          <a:xfrm rot="0" flipH="0" flipV="0">
            <a:off x="762000" y="3200400"/>
            <a:ext cx="1866900" cy="266700"/>
          </a:xfrm>
          <a:custGeom>
            <a:pathLst>
              <a:path w="196" h="28">
                <a:moveTo>
                  <a:pt x="3" y="28"/>
                </a:moveTo>
                <a:cubicBezTo>
                  <a:pt x="1" y="28"/>
                  <a:pt x="0" y="27"/>
                  <a:pt x="0" y="25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28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838200" y="3248025"/>
            <a:ext cx="168592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88">
                <a:solidFill>
                  <a:srgbClr val="C43A17"/>
                </a:solidFill>
                <a:latin typeface="Microsoft YaHei"/>
                <a:ea typeface="Microsoft YaHei"/>
              </a:rPr>
              <a:t>例：</a:t>
            </a:r>
            <a:r>
              <a:rPr lang="zh-CN" sz="788">
                <a:solidFill>
                  <a:srgbClr val="C43A17"/>
                </a:solidFill>
                <a:latin typeface="Microsoft YaHei"/>
                <a:ea typeface="Microsoft YaHei"/>
              </a:rPr>
              <a:t>销售额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2819400" y="1323975"/>
            <a:ext cx="2124075" cy="2295525"/>
          </a:xfrm>
          <a:prstGeom prst="roundRect">
            <a:avLst>
              <a:gd name="adj" fmla="val 179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2819400" y="1323975"/>
            <a:ext cx="2124075" cy="2295525"/>
          </a:xfrm>
          <a:custGeom>
            <a:pathLst>
              <a:path w="223" h="241">
                <a:moveTo>
                  <a:pt x="219" y="0"/>
                </a:moveTo>
                <a:cubicBezTo>
                  <a:pt x="221" y="0"/>
                  <a:pt x="223" y="2"/>
                  <a:pt x="223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19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2943225" y="1438275"/>
            <a:ext cx="18764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425" b="1">
                <a:solidFill>
                  <a:srgbClr val="FA4F24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2943225" y="1695450"/>
            <a:ext cx="1876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粒度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2943225" y="1905000"/>
            <a:ext cx="18764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在什么颗粒上算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2943225" y="2124075"/>
            <a:ext cx="1876425" cy="1000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订单粒度、客户粒度、订单行粒度。粒度错配是第二大事故来源——把日明细直接加总当月度量。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2971800" y="3200400"/>
            <a:ext cx="1876425" cy="2667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" name=""/>
          <p:cNvSpPr/>
          <p:nvPr/>
        </p:nvSpPr>
        <p:spPr>
          <a:xfrm rot="0" flipH="0" flipV="0">
            <a:off x="2971800" y="3200400"/>
            <a:ext cx="1876425" cy="266700"/>
          </a:xfrm>
          <a:custGeom>
            <a:pathLst>
              <a:path w="197" h="28">
                <a:moveTo>
                  <a:pt x="3" y="28"/>
                </a:moveTo>
                <a:cubicBezTo>
                  <a:pt x="1" y="28"/>
                  <a:pt x="0" y="27"/>
                  <a:pt x="0" y="25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28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3048000" y="3248025"/>
            <a:ext cx="16954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88">
                <a:solidFill>
                  <a:srgbClr val="C43A17"/>
                </a:solidFill>
                <a:latin typeface="Microsoft YaHei"/>
                <a:ea typeface="Microsoft YaHei"/>
              </a:rPr>
              <a:t>例：</a:t>
            </a:r>
            <a:r>
              <a:rPr lang="zh-CN" sz="788">
                <a:solidFill>
                  <a:srgbClr val="C43A17"/>
                </a:solidFill>
                <a:latin typeface="Microsoft YaHei"/>
                <a:ea typeface="Microsoft YaHei"/>
              </a:rPr>
              <a:t>订单行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5038725" y="1323975"/>
            <a:ext cx="2114550" cy="2295525"/>
          </a:xfrm>
          <a:prstGeom prst="roundRect">
            <a:avLst>
              <a:gd name="adj" fmla="val 180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6" name=""/>
          <p:cNvSpPr/>
          <p:nvPr/>
        </p:nvSpPr>
        <p:spPr>
          <a:xfrm rot="0" flipH="0" flipV="0">
            <a:off x="5038725" y="1323975"/>
            <a:ext cx="2114550" cy="2295525"/>
          </a:xfrm>
          <a:custGeom>
            <a:pathLst>
              <a:path w="222" h="241">
                <a:moveTo>
                  <a:pt x="218" y="0"/>
                </a:moveTo>
                <a:cubicBezTo>
                  <a:pt x="220" y="0"/>
                  <a:pt x="222" y="2"/>
                  <a:pt x="222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18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5162550" y="1438275"/>
            <a:ext cx="1866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425" b="1">
                <a:solidFill>
                  <a:srgbClr val="FA4F24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5162550" y="1695450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时间口径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5162550" y="1905000"/>
            <a:ext cx="1866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算哪段时间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5162550" y="2124075"/>
            <a:ext cx="1866900" cy="1000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自然月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财年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滚动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30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天；用哪个时区；截止时点是否含当日未结算。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5191125" y="3200400"/>
            <a:ext cx="1866900" cy="2667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2" name=""/>
          <p:cNvSpPr/>
          <p:nvPr/>
        </p:nvSpPr>
        <p:spPr>
          <a:xfrm rot="0" flipH="0" flipV="0">
            <a:off x="5191125" y="3200400"/>
            <a:ext cx="1866900" cy="266700"/>
          </a:xfrm>
          <a:custGeom>
            <a:pathLst>
              <a:path w="196" h="28">
                <a:moveTo>
                  <a:pt x="3" y="28"/>
                </a:moveTo>
                <a:cubicBezTo>
                  <a:pt x="1" y="28"/>
                  <a:pt x="0" y="27"/>
                  <a:pt x="0" y="25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28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5267325" y="3248025"/>
            <a:ext cx="168592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88">
                <a:solidFill>
                  <a:srgbClr val="C43A17"/>
                </a:solidFill>
                <a:latin typeface="Microsoft YaHei"/>
                <a:ea typeface="Microsoft YaHei"/>
              </a:rPr>
              <a:t>例：</a:t>
            </a:r>
            <a:r>
              <a:rPr lang="zh-CN" sz="788">
                <a:solidFill>
                  <a:srgbClr val="C43A17"/>
                </a:solidFill>
                <a:latin typeface="Microsoft YaHei"/>
                <a:ea typeface="Microsoft YaHei"/>
              </a:rPr>
              <a:t>自然月，</a:t>
            </a:r>
            <a:r>
              <a:rPr lang="en-US" sz="788">
                <a:solidFill>
                  <a:srgbClr val="C43A17"/>
                </a:solidFill>
                <a:latin typeface="Microsoft YaHei"/>
                <a:ea typeface="Microsoft YaHei"/>
              </a:rPr>
              <a:t>Asia/Shanghai</a:t>
            </a:r>
            <a:r>
              <a:rPr lang="zh-CN" sz="788">
                <a:solidFill>
                  <a:srgbClr val="C43A17"/>
                </a:solidFill>
                <a:latin typeface="Microsoft YaHei"/>
                <a:ea typeface="Microsoft YaHei"/>
              </a:rPr>
              <a:t>，含当日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7248525" y="1323975"/>
            <a:ext cx="2124075" cy="2295525"/>
          </a:xfrm>
          <a:prstGeom prst="roundRect">
            <a:avLst>
              <a:gd name="adj" fmla="val 179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5" name=""/>
          <p:cNvSpPr/>
          <p:nvPr/>
        </p:nvSpPr>
        <p:spPr>
          <a:xfrm rot="0" flipH="0" flipV="0">
            <a:off x="7248525" y="1323975"/>
            <a:ext cx="2124075" cy="2295525"/>
          </a:xfrm>
          <a:custGeom>
            <a:pathLst>
              <a:path w="223" h="241">
                <a:moveTo>
                  <a:pt x="219" y="0"/>
                </a:moveTo>
                <a:cubicBezTo>
                  <a:pt x="221" y="0"/>
                  <a:pt x="223" y="2"/>
                  <a:pt x="223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19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7372350" y="1438275"/>
            <a:ext cx="18764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425" b="1">
                <a:solidFill>
                  <a:srgbClr val="FA4F24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7372350" y="1695450"/>
            <a:ext cx="1876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聚合方式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7372350" y="1905000"/>
            <a:ext cx="18764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怎么聚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7372350" y="2124075"/>
            <a:ext cx="1876425" cy="1000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求和、去重计数、平均、最小最大。用平均值算总额、把去重计数当计数，都在这一项上错。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7400925" y="3200400"/>
            <a:ext cx="1876425" cy="2667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1" name=""/>
          <p:cNvSpPr/>
          <p:nvPr/>
        </p:nvSpPr>
        <p:spPr>
          <a:xfrm rot="0" flipH="0" flipV="0">
            <a:off x="7400925" y="3200400"/>
            <a:ext cx="1876425" cy="266700"/>
          </a:xfrm>
          <a:custGeom>
            <a:pathLst>
              <a:path w="197" h="28">
                <a:moveTo>
                  <a:pt x="3" y="28"/>
                </a:moveTo>
                <a:cubicBezTo>
                  <a:pt x="1" y="28"/>
                  <a:pt x="0" y="27"/>
                  <a:pt x="0" y="25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28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7477125" y="3248025"/>
            <a:ext cx="16954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88">
                <a:solidFill>
                  <a:srgbClr val="C43A17"/>
                </a:solidFill>
                <a:latin typeface="Microsoft YaHei"/>
                <a:ea typeface="Microsoft YaHei"/>
              </a:rPr>
              <a:t>例：</a:t>
            </a:r>
            <a:r>
              <a:rPr lang="en-US" sz="788">
                <a:solidFill>
                  <a:srgbClr val="C43A17"/>
                </a:solidFill>
                <a:latin typeface="Microsoft YaHei"/>
                <a:ea typeface="Microsoft YaHei"/>
              </a:rPr>
              <a:t>SUM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9467850" y="1323975"/>
            <a:ext cx="2114550" cy="2295525"/>
          </a:xfrm>
          <a:prstGeom prst="roundRect">
            <a:avLst>
              <a:gd name="adj" fmla="val 180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4" name=""/>
          <p:cNvSpPr/>
          <p:nvPr/>
        </p:nvSpPr>
        <p:spPr>
          <a:xfrm rot="0" flipH="0" flipV="0">
            <a:off x="9467850" y="1323975"/>
            <a:ext cx="2114550" cy="2295525"/>
          </a:xfrm>
          <a:custGeom>
            <a:pathLst>
              <a:path w="222" h="241">
                <a:moveTo>
                  <a:pt x="218" y="0"/>
                </a:moveTo>
                <a:cubicBezTo>
                  <a:pt x="220" y="0"/>
                  <a:pt x="222" y="2"/>
                  <a:pt x="222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18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9591675" y="1438275"/>
            <a:ext cx="1866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425" b="1">
                <a:solidFill>
                  <a:srgbClr val="FA4F24"/>
                </a:solidFill>
                <a:latin typeface="Microsoft YaHei"/>
                <a:ea typeface="Microsoft YaHei"/>
              </a:rPr>
              <a:t>⑤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9591675" y="1695450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过滤条件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9591675" y="1905000"/>
            <a:ext cx="1866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排除了什么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9591675" y="2124075"/>
            <a:ext cx="1866900" cy="1000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取消的订单算不算、测试客户排不排、内部交易去不去。没写这一项，五元组就不完整。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9620250" y="3200400"/>
            <a:ext cx="1866900" cy="2667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0" name=""/>
          <p:cNvSpPr/>
          <p:nvPr/>
        </p:nvSpPr>
        <p:spPr>
          <a:xfrm rot="0" flipH="0" flipV="0">
            <a:off x="9620250" y="3200400"/>
            <a:ext cx="1866900" cy="266700"/>
          </a:xfrm>
          <a:custGeom>
            <a:pathLst>
              <a:path w="196" h="28">
                <a:moveTo>
                  <a:pt x="3" y="28"/>
                </a:moveTo>
                <a:cubicBezTo>
                  <a:pt x="1" y="28"/>
                  <a:pt x="0" y="27"/>
                  <a:pt x="0" y="25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28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9696450" y="3248025"/>
            <a:ext cx="168592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88">
                <a:solidFill>
                  <a:srgbClr val="C43A17"/>
                </a:solidFill>
                <a:latin typeface="Microsoft YaHei"/>
                <a:ea typeface="Microsoft YaHei"/>
              </a:rPr>
              <a:t>例：</a:t>
            </a:r>
            <a:r>
              <a:rPr lang="zh-CN" sz="788">
                <a:solidFill>
                  <a:srgbClr val="C43A17"/>
                </a:solidFill>
                <a:latin typeface="Microsoft YaHei"/>
                <a:ea typeface="Microsoft YaHei"/>
              </a:rPr>
              <a:t>排除已取消与测试单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609600" y="3676650"/>
            <a:ext cx="6248400" cy="1962150"/>
          </a:xfrm>
          <a:prstGeom prst="roundRect">
            <a:avLst>
              <a:gd name="adj" fmla="val 194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781050" y="3790950"/>
            <a:ext cx="590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同一个词，缺一项就变成另一个指标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809625" y="4048125"/>
            <a:ext cx="5905500" cy="257175"/>
          </a:xfrm>
          <a:prstGeom prst="roundRect">
            <a:avLst>
              <a:gd name="adj" fmla="val 11111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95" name=""/>
          <p:cNvSpPr/>
          <p:nvPr/>
        </p:nvSpPr>
        <p:spPr>
          <a:xfrm rot="0" flipH="0" flipV="0">
            <a:off x="809625" y="4048125"/>
            <a:ext cx="5905500" cy="257175"/>
          </a:xfrm>
          <a:custGeom>
            <a:pathLst>
              <a:path w="620" h="27">
                <a:moveTo>
                  <a:pt x="3" y="27"/>
                </a:moveTo>
                <a:cubicBezTo>
                  <a:pt x="1" y="27"/>
                  <a:pt x="0" y="26"/>
                  <a:pt x="0" y="24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27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914400" y="4114800"/>
            <a:ext cx="5067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订单口径</a:t>
            </a:r>
            <a:r>
              <a:rPr lang="en-US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自然月</a:t>
            </a:r>
            <a:r>
              <a:rPr lang="en-US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· SUM · </a:t>
            </a:r>
            <a:r>
              <a:rPr lang="zh-CN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含取消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076950" y="4105275"/>
            <a:ext cx="504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1,240 </a:t>
            </a:r>
            <a:r>
              <a:rPr lang="zh-CN" sz="975" b="1">
                <a:solidFill>
                  <a:srgbClr val="FBA15C"/>
                </a:solidFill>
                <a:latin typeface="Microsoft YaHei"/>
                <a:ea typeface="Microsoft YaHei"/>
              </a:rPr>
              <a:t>万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809625" y="4362450"/>
            <a:ext cx="5905500" cy="266700"/>
          </a:xfrm>
          <a:prstGeom prst="roundRect">
            <a:avLst>
              <a:gd name="adj" fmla="val 10714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99" name=""/>
          <p:cNvSpPr/>
          <p:nvPr/>
        </p:nvSpPr>
        <p:spPr>
          <a:xfrm rot="0" flipH="0" flipV="0">
            <a:off x="809625" y="4362450"/>
            <a:ext cx="5905500" cy="266700"/>
          </a:xfrm>
          <a:custGeom>
            <a:pathLst>
              <a:path w="620" h="28">
                <a:moveTo>
                  <a:pt x="3" y="28"/>
                </a:moveTo>
                <a:cubicBezTo>
                  <a:pt x="1" y="28"/>
                  <a:pt x="0" y="27"/>
                  <a:pt x="0" y="25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28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914400" y="4429125"/>
            <a:ext cx="5067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到账口径</a:t>
            </a:r>
            <a:r>
              <a:rPr lang="en-US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自然月</a:t>
            </a:r>
            <a:r>
              <a:rPr lang="en-US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· SUM · </a:t>
            </a:r>
            <a:r>
              <a:rPr lang="zh-CN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含取消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6076950" y="4419600"/>
            <a:ext cx="504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1,186 </a:t>
            </a:r>
            <a:r>
              <a:rPr lang="zh-CN" sz="975" b="1">
                <a:solidFill>
                  <a:srgbClr val="FBA15C"/>
                </a:solidFill>
                <a:latin typeface="Microsoft YaHei"/>
                <a:ea typeface="Microsoft YaHei"/>
              </a:rPr>
              <a:t>万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809625" y="4686300"/>
            <a:ext cx="5905500" cy="257175"/>
          </a:xfrm>
          <a:prstGeom prst="roundRect">
            <a:avLst>
              <a:gd name="adj" fmla="val 11111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03" name=""/>
          <p:cNvSpPr/>
          <p:nvPr/>
        </p:nvSpPr>
        <p:spPr>
          <a:xfrm rot="0" flipH="0" flipV="0">
            <a:off x="809625" y="4686300"/>
            <a:ext cx="5905500" cy="257175"/>
          </a:xfrm>
          <a:custGeom>
            <a:pathLst>
              <a:path w="620" h="27">
                <a:moveTo>
                  <a:pt x="3" y="27"/>
                </a:moveTo>
                <a:cubicBezTo>
                  <a:pt x="1" y="27"/>
                  <a:pt x="0" y="26"/>
                  <a:pt x="0" y="24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27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914400" y="4752975"/>
            <a:ext cx="5067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签约口径</a:t>
            </a:r>
            <a:r>
              <a:rPr lang="en-US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财年首季</a:t>
            </a:r>
            <a:r>
              <a:rPr lang="en-US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· SUM · </a:t>
            </a:r>
            <a:r>
              <a:rPr lang="zh-CN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含取消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6076950" y="4743450"/>
            <a:ext cx="504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3,402 </a:t>
            </a:r>
            <a:r>
              <a:rPr lang="zh-CN" sz="975" b="1">
                <a:solidFill>
                  <a:srgbClr val="FBA15C"/>
                </a:solidFill>
                <a:latin typeface="Microsoft YaHei"/>
                <a:ea typeface="Microsoft YaHei"/>
              </a:rPr>
              <a:t>万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809625" y="5000625"/>
            <a:ext cx="5905500" cy="257175"/>
          </a:xfrm>
          <a:prstGeom prst="roundRect">
            <a:avLst>
              <a:gd name="adj" fmla="val 11111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07" name=""/>
          <p:cNvSpPr/>
          <p:nvPr/>
        </p:nvSpPr>
        <p:spPr>
          <a:xfrm rot="0" flipH="0" flipV="0">
            <a:off x="809625" y="5000625"/>
            <a:ext cx="5905500" cy="257175"/>
          </a:xfrm>
          <a:custGeom>
            <a:pathLst>
              <a:path w="620" h="27">
                <a:moveTo>
                  <a:pt x="3" y="27"/>
                </a:moveTo>
                <a:cubicBezTo>
                  <a:pt x="1" y="27"/>
                  <a:pt x="0" y="26"/>
                  <a:pt x="0" y="24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27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914400" y="5067300"/>
            <a:ext cx="5181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订单口径</a:t>
            </a:r>
            <a:r>
              <a:rPr lang="en-US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滚动</a:t>
            </a:r>
            <a:r>
              <a:rPr lang="en-US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30 </a:t>
            </a:r>
            <a:r>
              <a:rPr lang="zh-CN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天</a:t>
            </a:r>
            <a:r>
              <a:rPr lang="en-US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2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去重客户数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6191250" y="5057775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894 </a:t>
            </a:r>
            <a:r>
              <a:rPr lang="zh-CN" sz="975" b="1">
                <a:solidFill>
                  <a:srgbClr val="FBA15C"/>
                </a:solidFill>
                <a:latin typeface="Microsoft YaHei"/>
                <a:ea typeface="Microsoft YaHei"/>
              </a:rPr>
              <a:t>家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781050" y="5343525"/>
            <a:ext cx="590550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四行都叫「销售额」。争议不发生在数据层，发生在会议室——而根因在第一层就没写清。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6953250" y="3676650"/>
            <a:ext cx="4629150" cy="1962150"/>
          </a:xfrm>
          <a:prstGeom prst="roundRect">
            <a:avLst>
              <a:gd name="adj" fmla="val 1942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7124700" y="3790950"/>
            <a:ext cx="428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C43A17"/>
                </a:solidFill>
                <a:latin typeface="Microsoft YaHei"/>
                <a:ea typeface="Microsoft YaHei"/>
              </a:rPr>
              <a:t>交付要求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7124700" y="412432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7181850" y="4152900"/>
            <a:ext cx="666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7372350" y="4114800"/>
            <a:ext cx="403860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五元组是指标进入指标字典的准入门槛，缺项不予登记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7124700" y="451485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7181850" y="4543425"/>
            <a:ext cx="666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7372350" y="4505325"/>
            <a:ext cx="403860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指标名与五元组一起构成唯一键：同名不同义要拆名，同义不同名要合并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7124700" y="489585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7181850" y="4924425"/>
            <a:ext cx="666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7372350" y="4886325"/>
            <a:ext cx="403860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第③项必须写明时区与截止时点——这是跨系统对不上最常见的隐藏差异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7124700" y="528637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7181850" y="5314950"/>
            <a:ext cx="666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7372350" y="5276850"/>
            <a:ext cx="403860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第⑤项要写明排除清单，并说明每条排除的理由与批准人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26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指标体系咨询方法论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10 / 30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29" name="" descr="&lt;Slide style={{ width: 1280, height: 720, background: '#0F1423' }}&gt;&#13;&#10;  &lt;Box style={{ position: 'absolute', left: 0, top: 0, width: 1280, height: 720, background: 'linear-gradient(135deg, #0F1423 0%, #2A1810 100%)' }} /&gt;&#13;&#10;  &lt;Box style={{ position: 'absolute', right: 0, top: 0, width: 560, height: 720, background: 'linear-gradient(200deg, rgba(250,79,36,0.28) 0%, rgba(250,79,36,0) 70%)' }} /&gt;&#13;&#10;&#13;&#10;  &lt;Box style={{ position: 'absolute', right: 70, top: 110 }}&gt;&#13;&#10;    &lt;Text style={{ fontSize: 300, fontWeight: 'bold', color: 'rgba(255,255,255,0.08)', lineHeight: 1.0 }}&gt;02&lt;/Text&gt;&#13;&#10;  &lt;/Box&gt;&#13;&#10;&#13;&#10;  &lt;Box style={{ position: 'absolute', left: 88, top: 232, width: 760, flexDirection: 'column' }}&gt;&#13;&#10;    &lt;Text style={{ fontSize: 15, color: 'rgba(255,255,255,0.5)', letterSpacing: 3 }}&gt;PART 02&lt;/Text&gt;&#13;&#10;    &lt;Box style={{ width: 72, height: 5, background: '#FA4F24', marginTop: 22 }} /&gt;&#13;&#10;    &lt;Text style={{ fontSize: 52, fontWeight: 'bold', color: '#FFFFFF', marginTop: 28, lineHeight: 1.15 }}&gt;口径治理机制&lt;/Text&gt;&#13;&#10;    &lt;Text style={{ fontSize: 17, color: 'rgba(255,255,255,0.62)', letterSpacing: 2, marginTop: 20 }}&gt;HOW SEMANTICS ARE GOVERNED&lt;/Text&gt;&#13;&#10;    &lt;Text style={{ fontSize: 19, color: 'rgba(255,255,255,0.85)', marginTop: 26, lineHeight: 1.6 }}&gt;口径即定义，定义即代码，代码要能被审计&lt;/Text&gt;&#13;&#10;    &lt;Text style={{ fontSize: 14.5, color: 'rgba(255,255,255,0.55)', marginTop: 16, lineHeight: 1.55, width: 720 }}&gt;这一部分讲口径怎么管：原子、派生、复合三层分解；指标字典必须写清的十二项；五类最常见的口径失效；唯一性裁定怎么开；以及口径与值为什么必须继承同一套安全。&lt;/Text&gt;&#13;&#10;  &lt;/Box&gt;&#13;&#10;&#13;&#10;  &lt;Box style={{ position: 'absolute', right: 88, bottom: 64, flexDirection: 'row', alignItems: 'center', gap: 12 }}&gt;&#13;&#10;    &lt;Box style={{ width: 14, height: 14, background: '#FA4F24' }} /&gt;&#13;&#10;    &lt;Text style={{ fontSize: 14, color: 'rgba(255,255,255,0.5)' }}&gt;硕磐机密 · 指标体系咨询方法论&lt;/Text&gt;&#13;&#10;    &lt;Text style={{ fontSize: 14, color: 'rgba(255,255,255,0.5)', marginLeft: 12 }}&gt;11 / 30&lt;/Text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32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FA4F24">
                  <a:alpha val="28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7991475" y="10477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8000"/>
                  </a:srgbClr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838200" y="2209800"/>
            <a:ext cx="723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PART 02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838200" y="25908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838200" y="2905125"/>
            <a:ext cx="7239000" cy="6858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900" b="1">
                <a:solidFill>
                  <a:srgbClr val="FFFFFF"/>
                </a:solidFill>
                <a:latin typeface="Microsoft YaHei"/>
                <a:ea typeface="Microsoft YaHei"/>
              </a:rPr>
              <a:t>口径治理机制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838200" y="3781425"/>
            <a:ext cx="7239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HOW SEMANTICS ARE GOVERNED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838200" y="4229100"/>
            <a:ext cx="72390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口径即定义，定义即代码，代码要能被审计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838200" y="4733925"/>
            <a:ext cx="6858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88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这一部分讲口径怎么管：原子、派生、复合三层分解；指标字典必须写清的十二项；五类最常见的口径失效；唯一性裁定怎么开；以及口径与值为什么必须继承同一套安全。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8572500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8820150" y="60864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指标体系咨询方法论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10896600" y="6086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11 / 30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43" name="" descr="&lt;Slide style={{ width: 1280, height: 720, background: '#FFFFFF', padding: '24px 64px 0' }}&gt;&#10;  &lt;Box style={{ height: 96, flexDirection: 'column', justifyContent: 'flex-start' }}&gt;&#10;    &lt;Text style={{ fontSize: 32, fontWeight: 'bold', color: '#0F1423' }}&gt;&#10;      语义层：把指标拆成&lt;span style={{ color: '#FA4F24' }}&gt;原子 → 派生 → 复合&lt;/span&gt;三层&#10;    &lt;/Text&gt;&#10;    &lt;Text style={{ fontSize: 20, color: '#8A8F99', marginTop: 8 }}&gt;不分解就登记，改一个原子指标要找三十张报表；分解对了，影响面自己会浮出来&lt;/Text&gt;&#10;  &lt;/Box&gt;&#10;  &lt;Box style={{ height: 1, background: '#E8E8E8' }} /&gt;&#10;&#10;  &lt;Box style={{ paddingTop: 14, paddingBottom: 8, height: 479, flexDirection: 'column', gap: 10 }}&gt;&#10;    &lt;Box style={{ flex: 1, flexDirection: 'row', gap: 10 }}&gt;&#10;      {[&#10;        { n: '第一层', t: '原子指标', c: '#FA4F24', d: '最小不可再分的业务度量：订单金额、商品数量、到账金额、开票数量。',&#10;          r: ['不可再拆，拆了就不是原来那个业务事实', '必须直接挂在对象类型的一个属性上', '粒度唯一，多粒度就拆成多个原子指标'], k: '例：订单行金额 = 单价 × 数量' },&#10;        { n: '第二层', t: '派生指标', c: '#F87D2F', d: '由原子指标按运算规则组合：客单价 = 订单金额 / 订单数；毛利率 =（收入 − 成本）/ 收入。',&#10;          r: ['每个派生指标只能由原子与更低层派生组成', '依赖关系必须显式登记，不能靠命名猜', '改原子自动同步所有派生——这是拆分的全部价值'], k: '例：毛利率 =（收入 − 成本）/ 收入' },&#10;        { n: '第三层', t: '复合指标', c: '#C43A17', d: '把多个派生指标再组合，常带判断与阈值：达成率、同比环比、加权综合评分、结构占比。',&#10;          r: ['最容易失控：一处错、全链路错', '往往找不到单一责任人', '必须有唯一出处，禁止在报表里现写'], k: '例：销售达成率 = 实际 / 目标，按财年累计' },&#10;      ].map((x) =&gt; (&#10;        &lt;Box key={x.n} style={{ flex: 1, background: '#F7F7F8', borderRadius: 4, borderTop: '4px solid ' + x.c, padding: '13px 16px', flexDirection: 'column' }}&gt;&#10;          &lt;Box style={{ flexDirection: 'row', alignItems: 'center', gap: 9 }}&gt;&#10;            &lt;Text style={{ fontSize: 11, fontWeight: 'bold', color: x.c }}&gt;{x.n}&lt;/Text&gt;&#10;            &lt;Text style={{ fontSize: 18, fontWeight: 'bold', color: '#0F1423', flex: 1 }}&gt;{x.t}&lt;/Text&gt;&#10;          &lt;/Box&gt;&#10;          &lt;Text style={{ fontSize: 12, color: '#3A4050', marginTop: 9, lineHeight: 1.5 }}&gt;{x.d}&lt;/Text&gt;&#10;          &lt;Box style={{ marginTop: 9, gap: 5, flex: 1 }}&gt;&#10;            {x.r.map((t, i) =&gt; (&#10;              &lt;Box key={i} style={{ flexDirection: 'row', gap: 6, flex: 1, alignItems: 'flex-start' }}&gt;&#10;                &lt;Text style={{ fontSize: 10.5, color: x.c, fontWeight: 'bold' }}&gt;·&lt;/Text&gt;&#10;                &lt;Text style={{ fontSize: 10.5, color: '#5A6070', lineHeight: 1.45, flex: 1 }}&gt;{t}&lt;/Text&gt;&#10;              &lt;/Box&gt;&#10;            ))}&#10;          &lt;/Box&gt;&#10;          &lt;Box style={{ background: '#FFF3EE', borderRadius: 3, padding: '6px 10px', marginTop: 9 }}&gt;&#10;            &lt;Text style={{ fontSize: 10.5, fontWeight: 'bold', color: '#C43A17' }}&gt;{x.k}&lt;/Text&gt;&#10;          &lt;/Box&gt;&#10;        &lt;/Box&gt;&#10;      ))}&#10;    &lt;/Box&gt;&#10;&#10;    &lt;Box style={{ flex: 0.88, flexDirection: 'row', gap: 10 }}&gt;&#10;      &lt;Box style={{ flex: 1.25, background: '#0F1423', borderRadius: 4, padding: '12px 18px', flexDirection: 'column' }}&gt;&#10;        &lt;Text style={{ fontSize: 13.5, fontWeight: 'bold', color: '#FBA15C' }}&gt;分解带来的三个确定收益&lt;/Text&gt;&#10;        &lt;Box style={{ flexDirection: 'row', gap: 9, marginTop: 10, flex: 1 }}&gt;&#10;          {[&#10;            { t: '避免重复计算', d: '所有指标共享同一批原子来源，不用每张报表各算一遍' },&#10;            { t: '变更影响可控', d: '改原子指标的定义，所有派生自动跟随，影响面能从依赖关系直接读出' },&#10;            { t: '查询性能可优化', d: '系统可以挑最优计算路径，而不是把中间结果全物化' },&#10;          ].map((x) =&gt; (&#10;            &lt;Box key={x.t} style={{ flex: 1, background: 'rgba(250,79,36,0.16)', borderRadius: 3, padding: '9px 12px', justifyContent: 'center' }}&gt;&#10;              &lt;Text style={{ fontSize: 12, fontWeight: 'bold', color: '#FFFFFF' }}&gt;{x.t}&lt;/Text&gt;&#10;              &lt;Text style={{ fontSize: 10.5, color: 'rgba(255,255,255,0.78)', marginTop: 4, lineHeight: 1.45 }}&gt;{x.d}&lt;/Text&gt;&#10;            &lt;/Box&gt;&#10;          ))}&#10;        &lt;/Box&gt;&#10;      &lt;/Box&gt;&#10;&#10;      &lt;Box style={{ flex: 1, background: '#FFF3EE', borderRadius: 4, padding: '12px 18px', flexDirection: 'column' }}&gt;&#10;        &lt;Text style={{ fontSize: 13.5, fontWeight: 'bold', color: '#C43A17' }}&gt;规模参考与工程形态&lt;/Text&gt;&#10;        &lt;Text style={{ fontSize: 11.5, color: '#3A4050', marginTop: 9, lineHeight: 1.5, flex: 1 }}&gt;&#10;          一个中等规模企业的语义层通常包含 &lt;tspan style={{ fontWeight: 'bold', color: '#C43A17' }}&gt;300 到 500 个&lt;/tspan&gt;核心指标定义。这个量级既不该用 Excel 管，也不该用一堆脚本管。&#10;        &lt;/Text&gt;&#10;        &lt;Text style={{ fontSize: 11.5, color: '#3A4050', marginTop: 8, lineHeight: 1.5, flex: 1 }}&gt;&#10;          定义要&lt;tspan style={{ fontWeight: 'bold', color: '#C43A17' }}&gt;以结构化配置形式管理&lt;/tspan&gt;（如 YAML），而不是写在 Wiki 里——因为 Agent 要读它、管道要执行它、人要审它。&#10;        &lt;/Text&gt;&#10;        &lt;Box style={{ background: '#FFFFFF', borderRadius: 3, borderLeft: '3px solid #C43A17', padding: '7px 11px', marginTop: 8 }}&gt;&#10;          &lt;Text style={{ fontSize: 10.5, color: '#3A4050', lineHeight: 1.45 }}&gt;&#10;            判断标准：语义层不是数据字典，是&lt;tspan style={{ fontWeight: 'bold' }}&gt;指标计算图谱&lt;/tspan&gt;——它要知道毛利率等于什么，也知道它依赖哪几个字段。&#10;          &lt;/Text&gt;&#10;        &lt;/Box&gt;&#10;      &lt;/Box&gt;&#10;    &lt;/Box&gt;&#10;  &lt;/Box&gt;&#10;&#10;  &lt;Box style={{ height: 58, flexDirection: 'row', alignItems: 'center', borderTop: '1px solid #E8E8E8' }}&gt;&#10;    &lt;Box style={{ width: 10, height: 10, background: '#FA4F24' }} /&gt;&#10;    &lt;Text style={{ fontSize: 13, color: '#8A8F99', marginLeft: 12 }}&gt;硕磐机密 · 指标体系咨询方法论&lt;/Text&gt;&#10;    &lt;Text style={{ fontSize: 13, color: '#8A8F99', marginLeft: 'auto' }}&gt;12 / 3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语义层：把指标拆成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原子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派生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复合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三层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不分解就登记，改一个原子指标要找三十张报表；分解对了，影响面自己会浮出来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48" name=""/>
          <p:cNvSpPr/>
          <p:nvPr/>
        </p:nvSpPr>
        <p:spPr>
          <a:xfrm rot="0" flipH="0" flipV="0">
            <a:off x="609600" y="1323975"/>
            <a:ext cx="3590925" cy="2200275"/>
          </a:xfrm>
          <a:prstGeom prst="roundRect">
            <a:avLst>
              <a:gd name="adj" fmla="val 173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9" name=""/>
          <p:cNvSpPr/>
          <p:nvPr/>
        </p:nvSpPr>
        <p:spPr>
          <a:xfrm rot="0" flipH="0" flipV="0">
            <a:off x="609600" y="1323975"/>
            <a:ext cx="3590925" cy="2200275"/>
          </a:xfrm>
          <a:custGeom>
            <a:pathLst>
              <a:path w="377" h="231">
                <a:moveTo>
                  <a:pt x="373" y="0"/>
                </a:moveTo>
                <a:cubicBezTo>
                  <a:pt x="375" y="0"/>
                  <a:pt x="377" y="2"/>
                  <a:pt x="377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373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762000" y="1485900"/>
            <a:ext cx="314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A4F24"/>
                </a:solidFill>
                <a:latin typeface="Microsoft YaHei"/>
                <a:ea typeface="Microsoft YaHei"/>
              </a:rPr>
              <a:t>第一层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1162050" y="1447800"/>
            <a:ext cx="2886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原子指标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762000" y="1743075"/>
            <a:ext cx="3286125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最小不可再分的业务度量：订单金额、商品数量、到账金额、开票数量。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762000" y="2247900"/>
            <a:ext cx="476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FA4F24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866775" y="2247900"/>
            <a:ext cx="318135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不可再拆，拆了就不是原来那个业务事实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762000" y="2524125"/>
            <a:ext cx="476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FA4F24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866775" y="2524125"/>
            <a:ext cx="318135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必须直接挂在对象类型的一个属性上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762000" y="2809875"/>
            <a:ext cx="476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FA4F24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866775" y="2809875"/>
            <a:ext cx="318135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粒度唯一，多粒度就拆成多个原子指标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762000" y="3124200"/>
            <a:ext cx="3286125" cy="238125"/>
          </a:xfrm>
          <a:prstGeom prst="roundRect">
            <a:avLst>
              <a:gd name="adj" fmla="val 1200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857250" y="3181350"/>
            <a:ext cx="30956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C43A17"/>
                </a:solidFill>
                <a:latin typeface="Microsoft YaHei"/>
                <a:ea typeface="Microsoft YaHei"/>
              </a:rPr>
              <a:t>例：订单行金额</a:t>
            </a:r>
            <a:r>
              <a:rPr lang="en-US" sz="788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788" b="1">
                <a:solidFill>
                  <a:srgbClr val="C43A17"/>
                </a:solidFill>
                <a:latin typeface="Microsoft YaHei"/>
                <a:ea typeface="Microsoft YaHei"/>
              </a:rPr>
              <a:t>单价</a:t>
            </a:r>
            <a:r>
              <a:rPr lang="en-US" sz="788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788" b="1">
                <a:solidFill>
                  <a:srgbClr val="C43A17"/>
                </a:solidFill>
                <a:latin typeface="Microsoft YaHei"/>
                <a:ea typeface="Microsoft YaHei"/>
              </a:rPr>
              <a:t>数量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4295775" y="1323975"/>
            <a:ext cx="3600450" cy="2200275"/>
          </a:xfrm>
          <a:prstGeom prst="roundRect">
            <a:avLst>
              <a:gd name="adj" fmla="val 173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2" name=""/>
          <p:cNvSpPr/>
          <p:nvPr/>
        </p:nvSpPr>
        <p:spPr>
          <a:xfrm rot="0" flipH="0" flipV="0">
            <a:off x="4295775" y="1323975"/>
            <a:ext cx="3600450" cy="2200275"/>
          </a:xfrm>
          <a:custGeom>
            <a:pathLst>
              <a:path w="378" h="231">
                <a:moveTo>
                  <a:pt x="374" y="0"/>
                </a:moveTo>
                <a:cubicBezTo>
                  <a:pt x="376" y="0"/>
                  <a:pt x="378" y="2"/>
                  <a:pt x="378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374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4448175" y="1485900"/>
            <a:ext cx="314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87D2F"/>
                </a:solidFill>
                <a:latin typeface="Microsoft YaHei"/>
                <a:ea typeface="Microsoft YaHei"/>
              </a:rPr>
              <a:t>第二层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4848225" y="1447800"/>
            <a:ext cx="2895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派生指标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4448175" y="1743075"/>
            <a:ext cx="329565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由原子指标按运算规则组合：客单价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订单金额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订单数；毛利率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=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（收入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−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成本）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/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收入。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4448175" y="2247900"/>
            <a:ext cx="476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F87D2F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4552950" y="2247900"/>
            <a:ext cx="3190875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每个派生指标只能由原子与更低层派生组成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4448175" y="2524125"/>
            <a:ext cx="476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F87D2F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4552950" y="2524125"/>
            <a:ext cx="3190875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依赖关系必须显式登记，不能靠命名猜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4448175" y="2809875"/>
            <a:ext cx="476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F87D2F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4552950" y="2809875"/>
            <a:ext cx="3190875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改原子自动同步所有派生——这是拆分的全部价值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4448175" y="3124200"/>
            <a:ext cx="3295650" cy="238125"/>
          </a:xfrm>
          <a:prstGeom prst="roundRect">
            <a:avLst>
              <a:gd name="adj" fmla="val 1200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4543425" y="3181350"/>
            <a:ext cx="31051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C43A17"/>
                </a:solidFill>
                <a:latin typeface="Microsoft YaHei"/>
                <a:ea typeface="Microsoft YaHei"/>
              </a:rPr>
              <a:t>例：毛利率</a:t>
            </a:r>
            <a:r>
              <a:rPr lang="en-US" sz="788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=</a:t>
            </a:r>
            <a:r>
              <a:rPr lang="zh-CN" sz="788" b="1">
                <a:solidFill>
                  <a:srgbClr val="C43A17"/>
                </a:solidFill>
                <a:latin typeface="Microsoft YaHei"/>
                <a:ea typeface="Microsoft YaHei"/>
              </a:rPr>
              <a:t>（收入</a:t>
            </a:r>
            <a:r>
              <a:rPr lang="en-US" sz="788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− </a:t>
            </a:r>
            <a:r>
              <a:rPr lang="zh-CN" sz="788" b="1">
                <a:solidFill>
                  <a:srgbClr val="C43A17"/>
                </a:solidFill>
                <a:latin typeface="Microsoft YaHei"/>
                <a:ea typeface="Microsoft YaHei"/>
              </a:rPr>
              <a:t>成本）</a:t>
            </a:r>
            <a:r>
              <a:rPr lang="en-US" sz="788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/ </a:t>
            </a:r>
            <a:r>
              <a:rPr lang="zh-CN" sz="788" b="1">
                <a:solidFill>
                  <a:srgbClr val="C43A17"/>
                </a:solidFill>
                <a:latin typeface="Microsoft YaHei"/>
                <a:ea typeface="Microsoft YaHei"/>
              </a:rPr>
              <a:t>收入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7991475" y="1323975"/>
            <a:ext cx="3590925" cy="2200275"/>
          </a:xfrm>
          <a:prstGeom prst="roundRect">
            <a:avLst>
              <a:gd name="adj" fmla="val 173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75" name=""/>
          <p:cNvSpPr/>
          <p:nvPr/>
        </p:nvSpPr>
        <p:spPr>
          <a:xfrm rot="0" flipH="0" flipV="0">
            <a:off x="7991475" y="1323975"/>
            <a:ext cx="3590925" cy="2200275"/>
          </a:xfrm>
          <a:custGeom>
            <a:pathLst>
              <a:path w="377" h="231">
                <a:moveTo>
                  <a:pt x="373" y="0"/>
                </a:moveTo>
                <a:cubicBezTo>
                  <a:pt x="375" y="0"/>
                  <a:pt x="377" y="2"/>
                  <a:pt x="377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373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8143875" y="1485900"/>
            <a:ext cx="314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C43A17"/>
                </a:solidFill>
                <a:latin typeface="Microsoft YaHei"/>
                <a:ea typeface="Microsoft YaHei"/>
              </a:rPr>
              <a:t>第三层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8543925" y="1447800"/>
            <a:ext cx="2886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复合指标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8143875" y="1743075"/>
            <a:ext cx="3286125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把多个派生指标再组合，常带判断与阈值：达成率、同比环比、加权综合评分、结构占比。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8143875" y="2247900"/>
            <a:ext cx="476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C43A17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8248650" y="2247900"/>
            <a:ext cx="318135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最容易失控：一处错、全链路错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8143875" y="2524125"/>
            <a:ext cx="476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C43A17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8248650" y="2524125"/>
            <a:ext cx="318135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往往找不到单一责任人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8143875" y="2809875"/>
            <a:ext cx="476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C43A17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8248650" y="2809875"/>
            <a:ext cx="318135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必须有唯一出处，禁止在报表里现写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8143875" y="3124200"/>
            <a:ext cx="3286125" cy="238125"/>
          </a:xfrm>
          <a:prstGeom prst="roundRect">
            <a:avLst>
              <a:gd name="adj" fmla="val 1200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8239125" y="3181350"/>
            <a:ext cx="30956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C43A17"/>
                </a:solidFill>
                <a:latin typeface="Microsoft YaHei"/>
                <a:ea typeface="Microsoft YaHei"/>
              </a:rPr>
              <a:t>例：销售达成率</a:t>
            </a:r>
            <a:r>
              <a:rPr lang="en-US" sz="788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788" b="1">
                <a:solidFill>
                  <a:srgbClr val="C43A17"/>
                </a:solidFill>
                <a:latin typeface="Microsoft YaHei"/>
                <a:ea typeface="Microsoft YaHei"/>
              </a:rPr>
              <a:t>实际</a:t>
            </a:r>
            <a:r>
              <a:rPr lang="en-US" sz="788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788" b="1">
                <a:solidFill>
                  <a:srgbClr val="C43A17"/>
                </a:solidFill>
                <a:latin typeface="Microsoft YaHei"/>
                <a:ea typeface="Microsoft YaHei"/>
              </a:rPr>
              <a:t>目标，按财年累计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609600" y="3581400"/>
            <a:ext cx="6038850" cy="2057400"/>
          </a:xfrm>
          <a:prstGeom prst="roundRect">
            <a:avLst>
              <a:gd name="adj" fmla="val 185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781050" y="3695700"/>
            <a:ext cx="569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分解带来的三个确定收益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781050" y="3952875"/>
            <a:ext cx="1838325" cy="1571625"/>
          </a:xfrm>
          <a:prstGeom prst="roundRect">
            <a:avLst>
              <a:gd name="adj" fmla="val 1818"/>
            </a:avLst>
          </a:prstGeom>
          <a:solidFill>
            <a:srgbClr val="FA4F24">
              <a:alpha val="16000"/>
            </a:srgbClr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895350" y="4476750"/>
            <a:ext cx="1609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避免重复计算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895350" y="4657725"/>
            <a:ext cx="1609725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所有指标共享同一批原子来源，不用每张报表各算一遍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2705100" y="3952875"/>
            <a:ext cx="1847850" cy="1571625"/>
          </a:xfrm>
          <a:prstGeom prst="roundRect">
            <a:avLst>
              <a:gd name="adj" fmla="val 1818"/>
            </a:avLst>
          </a:prstGeom>
          <a:solidFill>
            <a:srgbClr val="FA4F24">
              <a:alpha val="16000"/>
            </a:srgbClr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2819400" y="4476750"/>
            <a:ext cx="1619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变更影响可控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2819400" y="4657725"/>
            <a:ext cx="1619250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改原子指标的定义，所有派生自动跟随，影响面能从依赖关系直接读出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4638675" y="3952875"/>
            <a:ext cx="1838325" cy="1571625"/>
          </a:xfrm>
          <a:prstGeom prst="roundRect">
            <a:avLst>
              <a:gd name="adj" fmla="val 1818"/>
            </a:avLst>
          </a:prstGeom>
          <a:solidFill>
            <a:srgbClr val="FA4F24">
              <a:alpha val="16000"/>
            </a:srgbClr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4752975" y="4476750"/>
            <a:ext cx="1609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查询性能可优化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4752975" y="4657725"/>
            <a:ext cx="1609725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系统可以挑最优计算路径，而不是把中间结果全物化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6743700" y="3581400"/>
            <a:ext cx="4838700" cy="2057400"/>
          </a:xfrm>
          <a:prstGeom prst="roundRect">
            <a:avLst>
              <a:gd name="adj" fmla="val 1852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6915150" y="3695700"/>
            <a:ext cx="4495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C43A17"/>
                </a:solidFill>
                <a:latin typeface="Microsoft YaHei"/>
                <a:ea typeface="Microsoft YaHei"/>
              </a:rPr>
              <a:t>规模参考与工程形态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6915150" y="3943350"/>
            <a:ext cx="44958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一个中等规模企业的语义层通常包含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300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到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500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个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核心指标定义。这个量级既不该用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Excel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管，也不该用一堆脚本管。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6915150" y="4495800"/>
            <a:ext cx="44958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定义要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以结构化配置形式管理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（如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YAML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），而不是写在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Wiki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里——因为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要读它、管道要执行它、人要审它。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6943725" y="5038725"/>
            <a:ext cx="4495800" cy="485775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3" name=""/>
          <p:cNvSpPr/>
          <p:nvPr/>
        </p:nvSpPr>
        <p:spPr>
          <a:xfrm rot="0" flipH="0" flipV="0">
            <a:off x="6943725" y="5038725"/>
            <a:ext cx="4495800" cy="485775"/>
          </a:xfrm>
          <a:custGeom>
            <a:pathLst>
              <a:path w="472" h="51">
                <a:moveTo>
                  <a:pt x="3" y="51"/>
                </a:moveTo>
                <a:cubicBezTo>
                  <a:pt x="1" y="51"/>
                  <a:pt x="0" y="50"/>
                  <a:pt x="0" y="4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1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7048500" y="5105400"/>
            <a:ext cx="4257675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判断标准：语义层不是数据字典，是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指标计算图谱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——它要知道毛利率等于什么，也知道它依赖哪几个字段。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206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指标体系咨询方法论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12 / 30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209" name="" descr="&lt;Slide style={{ width: 1280, height: 720, background: '#FFFFFF', padding: '24px 64px 0' }}&gt;&#10;  &lt;Box style={{ height: 96, flexDirection: 'column', justifyContent: 'flex-start' }}&gt;&#10;    &lt;Text style={{ fontSize: 32, fontWeight: 'bold', color: '#0F1423' }}&gt;&#10;      指标字典：&lt;span style={{ color: '#FA4F24' }}&gt;十二项&lt;/span&gt;缺一项，这个指标就不该上线&#10;    &lt;/Text&gt;&#10;    &lt;Text style={{ fontSize: 20, color: '#8A8F99', marginTop: 8 }}&gt;前五项是五元组，后七项是治理属性——缺后七项，指标能用但管不住&lt;/Text&gt;&#10;  &lt;/Box&gt;&#10;  &lt;Box style={{ height: 1, background: '#E8E8E8' }} /&gt;&#10;&#10;  &lt;Box style={{ paddingTop: 14, paddingBottom: 8, height: 479, flexDirection: 'column', gap: 10 }}&gt;&#10;    &lt;Box style={{ flex: 1, flexDirection: 'row', gap: 10 }}&gt;&#10;      &lt;Box style={{ flex: 1, background: '#F7F7F8', borderRadius: 4, borderTop: '4px solid #FA4F24', padding: '12px 16px', flexDirection: 'column' }}&gt;&#10;        &lt;Text style={{ fontSize: 14, fontWeight: 'bold', color: '#FA4F24' }}&gt;一、定义类（五元组）&lt;/Text&gt;&#10;        &lt;Box style={{ marginTop: 9, gap: 5, flex: 1 }}&gt;&#10;          {[&#10;            { n: '01', t: '指标名与唯一标识', d: '名字在全公司唯一；拆同名、合同义' },&#10;            { n: '02', t: '业务定义（一句话）', d: '用业务语言写，不用字段名拼' },&#10;            { n: '03', t: '计算口径与公式', d: '写成可执行表达式，不写自然语言描述' },&#10;            { n: '04', t: '粒度', d: '订单行 / 订单 / 客户 / 组织，明确唯一' },&#10;            { n: '05', t: '时间口径', d: '自然月或财年、时区、截止时点' },&#10;          ].map((x) =&gt; (&#10;            &lt;Box key={x.n} style={{ flex: 1, flexDirection: 'row', alignItems: 'center', gap: 9, background: '#FFFFFF', borderRadius: 3, padding: '0 10px' }}&gt;&#10;              &lt;Text style={{ fontSize: 11, fontWeight: 'bold', color: '#FA4F24', width: 20 }}&gt;{x.n}&lt;/Text&gt;&#10;              &lt;Text style={{ fontSize: 11.5, fontWeight: 'bold', color: '#0F1423', width: 122 }}&gt;{x.t}&lt;/Text&gt;&#10;              &lt;Text style={{ fontSize: 10.5, color: '#5A6070', flex: 1, lineHeight: 1.35 }}&gt;{x.d}&lt;/Text&gt;&#10;            &lt;/Box&gt;&#10;          ))}&#10;        &lt;/Box&gt;&#10;      &lt;/Box&gt;&#10;&#10;      &lt;Box style={{ flex: 1, background: '#F7F7F8', borderRadius: 4, borderTop: '4px solid #F87D2F', padding: '12px 16px', flexDirection: 'column' }}&gt;&#10;        &lt;Text style={{ fontSize: 14, fontWeight: 'bold', color: '#F87D2F' }}&gt;二、来源与依赖类&lt;/Text&gt;&#10;        &lt;Box style={{ marginTop: 9, gap: 5, flex: 1 }}&gt;&#10;          {[&#10;            { n: '06', t: '数据来源与对象类型', d: '挂在哪个对象类型的哪个属性上' },&#10;            { n: '07', t: '过滤与排除清单', d: '排除什么、为什么、谁批的' },&#10;            { n: '08', t: '上游依赖', d: '依赖哪些原子指标与外部数据' },&#10;            { n: '09', t: '刷新方式与时效', d: '实时 / 小时 / 日；延迟多少可接受' },&#10;          ].map((x) =&gt; (&#10;            &lt;Box key={x.n} style={{ flex: 1, flexDirection: 'row', alignItems: 'center', gap: 9, background: '#FFFFFF', borderRadius: 3, padding: '0 10px' }}&gt;&#10;              &lt;Text style={{ fontSize: 11, fontWeight: 'bold', color: '#F87D2F', width: 20 }}&gt;{x.n}&lt;/Text&gt;&#10;              &lt;Text style={{ fontSize: 11.5, fontWeight: 'bold', color: '#0F1423', width: 122 }}&gt;{x.t}&lt;/Text&gt;&#10;              &lt;Text style={{ fontSize: 10.5, color: '#5A6070', flex: 1, lineHeight: 1.35 }}&gt;{x.d}&lt;/Text&gt;&#10;            &lt;/Box&gt;&#10;          ))}&#10;        &lt;/Box&gt;&#10;        &lt;Box style={{ background: '#FFFFFF', borderRadius: 3, borderLeft: '3px solid #F87D2F', padding: '7px 11px', marginTop: 8 }}&gt;&#10;          &lt;Text style={{ fontSize: 10.5, color: '#3A4050', lineHeight: 1.45 }}&gt;&#10;            第 08 项是变更影响面分析的&lt;tspan style={{ fontWeight: 'bold' }}&gt;唯一数据来源&lt;/tspan&gt;。没有它，改一个原子指标就只能靠人回忆影响范围。&#10;          &lt;/Text&gt;&#10;        &lt;/Box&gt;&#10;      &lt;/Box&gt;&#10;    &lt;/Box&gt;&#10;&#10;    &lt;Box style={{ flex: 1, flexDirection: 'row', gap: 10 }}&gt;&#10;      &lt;Box style={{ flex: 1, background: '#F7F7F8', borderRadius: 4, borderTop: '4px solid #C43A17', padding: '12px 16px', flexDirection: 'column' }}&gt;&#10;        &lt;Text style={{ fontSize: 14, fontWeight: 'bold', color: '#C43A17' }}&gt;三、治理类&lt;/Text&gt;&#10;        &lt;Box style={{ marginTop: 9, gap: 5, flex: 1 }}&gt;&#10;          {[&#10;            { n: '10', t: '业务定义责任人', d: '对口径正确性负责的人，不是开发的人' },&#10;            { n: '11', t: '数据 steward 与维护人', d: '日常巡检、异常处置、答疑' },&#10;            { n: '12', t: '版本号与变更历史', d: '每次口径变更留痕，含影响面与回滚预案' },&#10;          ].map((x) =&gt; (&#10;            &lt;Box key={x.n} style={{ flex: 1, flexDirection: 'row', alignItems: 'center', gap: 9, background: '#FFFFFF', borderRadius: 3, padding: '0 10px' }}&gt;&#10;              &lt;Text style={{ fontSize: 11, fontWeight: 'bold', color: '#C43A17', width: 20 }}&gt;{x.n}&lt;/Text&gt;&#10;              &lt;Text style={{ fontSize: 11.5, fontWeight: 'bold', color: '#0F1423', width: 122 }}&gt;{x.t}&lt;/Text&gt;&#10;              &lt;Text style={{ fontSize: 10.5, color: '#5A6070', flex: 1, lineHeight: 1.35 }}&gt;{x.d}&lt;/Text&gt;&#10;            &lt;/Box&gt;&#10;          ))}&#10;        &lt;/Box&gt;&#10;      &lt;/Box&gt;&#10;&#10;      &lt;Box style={{ flex: 1.25, background: '#0F1423', borderRadius: 4, padding: '12px 18px', flexDirection: 'column' }}&gt;&#10;        &lt;Text style={{ fontSize: 13.5, fontWeight: 'bold', color: '#FBA15C' }}&gt;三档治理等级：不是所有指标都值得同等投入&lt;/Text&gt;&#10;        &lt;Box style={{ flexDirection: 'row', gap: 9, marginTop: 10, flex: 1 }}&gt;&#10;          {[&#10;            { lv: 'A 决策级', d: '进驾驶舱、进 Agent 工具集、进对外汇报', r: '十二项全填，季度复核，口径变更必须走裁定会', c: '#FA4F24' },&#10;            { lv: 'B 运营级', d: '业务日常自查与过程管理使用', r: '前九项必填，责任人明确，半年复核', c: '#F87D2F' },&#10;            { lv: 'C 分析级', d: '一次性分析、探索性使用', r: '登记名称与口径即可，不进字典主表，禁止对外引用', c: '#8A8F99' },&#10;          ].map((x) =&gt; (&#10;            &lt;Box key={x.lv} style={{ flex: 1, background: 'rgba(255,255,255,0.07)', borderRadius: 3, borderTop: '3px solid ' + x.c, padding: '9px 12px', justifyContent: 'center' }}&gt;&#10;              &lt;Text style={{ fontSize: 12.5, fontWeight: 'bold', color: x.c }}&gt;{x.lv}&lt;/Text&gt;&#10;              &lt;Text style={{ fontSize: 10.5, color: 'rgba(255,255,255,0.85)', marginTop: 5, lineHeight: 1.45 }}&gt;{x.d}&lt;/Text&gt;&#10;              &lt;Text style={{ fontSize: 10, color: 'rgba(255,255,255,0.55)', marginTop: 5, lineHeight: 1.4 }}&gt;{x.r}&lt;/Text&gt;&#10;            &lt;/Box&gt;&#10;          ))}&#10;        &lt;/Box&gt;&#10;        &lt;Text style={{ fontSize: 10.5, color: 'rgba(255,255,255,0.6)', marginTop: 9, lineHeight: 1.45 }}&gt;&#10;          不分档就会走向两个极端：要么全部指标都当成核心，治理投入被稀释；要么都不当核心，最后 A 级指标没人负责。&#10;        &lt;/Text&gt;&#10;      &lt;/Box&gt;&#10;    &lt;/Box&gt;&#10;  &lt;/Box&gt;&#10;&#10;  &lt;Box style={{ height: 58, flexDirection: 'row', alignItems: 'center', borderTop: '1px solid #E8E8E8' }}&gt;&#10;    &lt;Box style={{ width: 10, height: 10, background: '#FA4F24' }} /&gt;&#10;    &lt;Text style={{ fontSize: 13, color: '#8A8F99', marginLeft: 12 }}&gt;硕磐机密 · 指标体系咨询方法论&lt;/Text&gt;&#10;    &lt;Text style={{ fontSize: 13, color: '#8A8F99', marginLeft: 'auto' }}&gt;13 / 3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指标字典：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十二项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缺一项，这个指标就不该上线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前五项是五元组，后七项是治理属性——缺后七项，指标能用但管不住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14" name=""/>
          <p:cNvSpPr/>
          <p:nvPr/>
        </p:nvSpPr>
        <p:spPr>
          <a:xfrm rot="0" flipH="0" flipV="0">
            <a:off x="609600" y="1323975"/>
            <a:ext cx="5438775" cy="2066925"/>
          </a:xfrm>
          <a:prstGeom prst="roundRect">
            <a:avLst>
              <a:gd name="adj" fmla="val 184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15" name=""/>
          <p:cNvSpPr/>
          <p:nvPr/>
        </p:nvSpPr>
        <p:spPr>
          <a:xfrm rot="0" flipH="0" flipV="0">
            <a:off x="609600" y="1323975"/>
            <a:ext cx="5438775" cy="2066925"/>
          </a:xfrm>
          <a:custGeom>
            <a:pathLst>
              <a:path w="571" h="217">
                <a:moveTo>
                  <a:pt x="567" y="0"/>
                </a:moveTo>
                <a:cubicBezTo>
                  <a:pt x="569" y="0"/>
                  <a:pt x="571" y="2"/>
                  <a:pt x="571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67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762000" y="1438275"/>
            <a:ext cx="5133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A4F24"/>
                </a:solidFill>
                <a:latin typeface="Microsoft YaHei"/>
                <a:ea typeface="Microsoft YaHei"/>
              </a:rPr>
              <a:t>一、定义类（五元组）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762000" y="1685925"/>
            <a:ext cx="5133975" cy="276225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857250" y="1762125"/>
            <a:ext cx="190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1133475" y="1762125"/>
            <a:ext cx="11620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指标名与唯一标识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2381250" y="1743075"/>
            <a:ext cx="34194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名字在全公司唯一；拆同名、合同义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762000" y="2009775"/>
            <a:ext cx="5133975" cy="2667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857250" y="2076450"/>
            <a:ext cx="190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1133475" y="2076450"/>
            <a:ext cx="11620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业务定义（一句话）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2381250" y="2057400"/>
            <a:ext cx="34194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用业务语言写，不用字段名拼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762000" y="2324100"/>
            <a:ext cx="5133975" cy="276225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857250" y="2400300"/>
            <a:ext cx="190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1133475" y="2400300"/>
            <a:ext cx="11620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计算口径与公式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2381250" y="2381250"/>
            <a:ext cx="34194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写成可执行表达式，不写自然语言描述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762000" y="2647950"/>
            <a:ext cx="5133975" cy="2667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857250" y="2714625"/>
            <a:ext cx="190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1133475" y="2714625"/>
            <a:ext cx="11620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粒度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2381250" y="2695575"/>
            <a:ext cx="34194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订单行</a:t>
            </a:r>
            <a:r>
              <a:rPr lang="en-US" sz="788">
                <a:solidFill>
                  <a:srgbClr val="5A607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订单</a:t>
            </a:r>
            <a:r>
              <a:rPr lang="en-US" sz="788">
                <a:solidFill>
                  <a:srgbClr val="5A607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客户</a:t>
            </a:r>
            <a:r>
              <a:rPr lang="en-US" sz="788">
                <a:solidFill>
                  <a:srgbClr val="5A607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组织，明确唯一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762000" y="2962275"/>
            <a:ext cx="5133975" cy="276225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857250" y="3038475"/>
            <a:ext cx="190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1133475" y="3038475"/>
            <a:ext cx="11620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时间口径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2381250" y="3019425"/>
            <a:ext cx="34194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自然月或财年、时区、截止时点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6143625" y="1323975"/>
            <a:ext cx="5438775" cy="2066925"/>
          </a:xfrm>
          <a:prstGeom prst="roundRect">
            <a:avLst>
              <a:gd name="adj" fmla="val 184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38" name=""/>
          <p:cNvSpPr/>
          <p:nvPr/>
        </p:nvSpPr>
        <p:spPr>
          <a:xfrm rot="0" flipH="0" flipV="0">
            <a:off x="6143625" y="1323975"/>
            <a:ext cx="5438775" cy="2066925"/>
          </a:xfrm>
          <a:custGeom>
            <a:pathLst>
              <a:path w="571" h="217">
                <a:moveTo>
                  <a:pt x="567" y="0"/>
                </a:moveTo>
                <a:cubicBezTo>
                  <a:pt x="569" y="0"/>
                  <a:pt x="571" y="2"/>
                  <a:pt x="571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67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6296025" y="1438275"/>
            <a:ext cx="5133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87D2F"/>
                </a:solidFill>
                <a:latin typeface="Microsoft YaHei"/>
                <a:ea typeface="Microsoft YaHei"/>
              </a:rPr>
              <a:t>二、来源与依赖类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6296025" y="1685925"/>
            <a:ext cx="5133975" cy="257175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6391275" y="1752600"/>
            <a:ext cx="190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87D2F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6667500" y="1752600"/>
            <a:ext cx="11620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数据来源与对象类型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7915275" y="1733550"/>
            <a:ext cx="34194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挂在哪个对象类型的哪个属性上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6296025" y="1990725"/>
            <a:ext cx="5133975" cy="257175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6391275" y="2057400"/>
            <a:ext cx="190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87D2F"/>
                </a:solidFill>
                <a:latin typeface="Microsoft YaHei"/>
                <a:ea typeface="Microsoft YaHei"/>
              </a:rPr>
              <a:t>07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6667500" y="2057400"/>
            <a:ext cx="11620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过滤与排除清单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7915275" y="2038350"/>
            <a:ext cx="34194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排除什么、为什么、谁批的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6296025" y="2295525"/>
            <a:ext cx="5133975" cy="24765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6391275" y="2352675"/>
            <a:ext cx="190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87D2F"/>
                </a:solidFill>
                <a:latin typeface="Microsoft YaHei"/>
                <a:ea typeface="Microsoft YaHei"/>
              </a:rPr>
              <a:t>08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6667500" y="2352675"/>
            <a:ext cx="11620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上游依赖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7915275" y="2333625"/>
            <a:ext cx="34194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依赖哪些原子指标与外部数据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6296025" y="2590800"/>
            <a:ext cx="5133975" cy="257175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6391275" y="2657475"/>
            <a:ext cx="190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87D2F"/>
                </a:solidFill>
                <a:latin typeface="Microsoft YaHei"/>
                <a:ea typeface="Microsoft YaHei"/>
              </a:rPr>
              <a:t>09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6667500" y="2657475"/>
            <a:ext cx="11620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刷新方式与时效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7915275" y="2638425"/>
            <a:ext cx="34194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实时</a:t>
            </a:r>
            <a:r>
              <a:rPr lang="en-US" sz="788">
                <a:solidFill>
                  <a:srgbClr val="5A607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小时</a:t>
            </a:r>
            <a:r>
              <a:rPr lang="en-US" sz="788">
                <a:solidFill>
                  <a:srgbClr val="5A607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日；延迟多少可接受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6324600" y="2924175"/>
            <a:ext cx="5133975" cy="314325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7" name=""/>
          <p:cNvSpPr/>
          <p:nvPr/>
        </p:nvSpPr>
        <p:spPr>
          <a:xfrm rot="0" flipH="0" flipV="0">
            <a:off x="6324600" y="2924175"/>
            <a:ext cx="5133975" cy="314325"/>
          </a:xfrm>
          <a:custGeom>
            <a:pathLst>
              <a:path w="539" h="33">
                <a:moveTo>
                  <a:pt x="3" y="33"/>
                </a:moveTo>
                <a:cubicBezTo>
                  <a:pt x="1" y="33"/>
                  <a:pt x="0" y="32"/>
                  <a:pt x="0" y="30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3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6429375" y="2990850"/>
            <a:ext cx="489585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第</a:t>
            </a:r>
            <a:r>
              <a:rPr lang="en-US" sz="788">
                <a:solidFill>
                  <a:srgbClr val="3A4050"/>
                </a:solidFill>
                <a:latin typeface="Microsoft YaHei"/>
                <a:ea typeface="Microsoft YaHei"/>
              </a:rPr>
              <a:t xml:space="preserve"> 08 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项是变更影响面分析的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唯一数据来源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。没有它，改一个原子指标就只能靠人回忆影响范围。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609600" y="3486150"/>
            <a:ext cx="4838700" cy="2190750"/>
          </a:xfrm>
          <a:prstGeom prst="roundRect">
            <a:avLst>
              <a:gd name="adj" fmla="val 173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60" name=""/>
          <p:cNvSpPr/>
          <p:nvPr/>
        </p:nvSpPr>
        <p:spPr>
          <a:xfrm rot="0" flipH="0" flipV="0">
            <a:off x="609600" y="3486150"/>
            <a:ext cx="4838700" cy="2190750"/>
          </a:xfrm>
          <a:custGeom>
            <a:pathLst>
              <a:path w="508" h="230">
                <a:moveTo>
                  <a:pt x="504" y="0"/>
                </a:moveTo>
                <a:cubicBezTo>
                  <a:pt x="506" y="0"/>
                  <a:pt x="508" y="2"/>
                  <a:pt x="508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04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762000" y="3600450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三、治理类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762000" y="3848100"/>
            <a:ext cx="4533900" cy="523875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857250" y="4048125"/>
            <a:ext cx="190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C43A17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1133475" y="4048125"/>
            <a:ext cx="11620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业务定义责任人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2381250" y="4029075"/>
            <a:ext cx="28194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对口径正确性负责的人，不是开发的人</a:t>
            </a:r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762000" y="4419600"/>
            <a:ext cx="4533900" cy="5334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857250" y="4619625"/>
            <a:ext cx="190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C43A17"/>
                </a:solidFill>
                <a:latin typeface="Microsoft YaHei"/>
                <a:ea typeface="Microsoft YaHei"/>
              </a:rPr>
              <a:t>11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1133475" y="4619625"/>
            <a:ext cx="11620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数据</a:t>
            </a:r>
            <a:r>
              <a:rPr lang="en-US" sz="863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steward </a:t>
            </a: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与维护人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2381250" y="4600575"/>
            <a:ext cx="28194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日常巡检、异常处置、答疑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762000" y="5000625"/>
            <a:ext cx="4533900" cy="523875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857250" y="5200650"/>
            <a:ext cx="190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C43A17"/>
                </a:solidFill>
                <a:latin typeface="Microsoft YaHei"/>
                <a:ea typeface="Microsoft YaHei"/>
              </a:rPr>
              <a:t>12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1133475" y="5200650"/>
            <a:ext cx="11620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版本号与变更历史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2381250" y="5181600"/>
            <a:ext cx="28194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每次口径变更留痕，含影响面与回滚预案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5543550" y="3448050"/>
            <a:ext cx="6038850" cy="2190750"/>
          </a:xfrm>
          <a:prstGeom prst="roundRect">
            <a:avLst>
              <a:gd name="adj" fmla="val 1739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5715000" y="3562350"/>
            <a:ext cx="569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三档治理等级：不是所有指标都值得同等投入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5715000" y="3848100"/>
            <a:ext cx="1838325" cy="1438275"/>
          </a:xfrm>
          <a:prstGeom prst="roundRect">
            <a:avLst>
              <a:gd name="adj" fmla="val 1987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277" name=""/>
          <p:cNvSpPr/>
          <p:nvPr/>
        </p:nvSpPr>
        <p:spPr>
          <a:xfrm rot="0" flipH="0" flipV="0">
            <a:off x="5715000" y="3848100"/>
            <a:ext cx="1838325" cy="1438275"/>
          </a:xfrm>
          <a:custGeom>
            <a:pathLst>
              <a:path w="193" h="151">
                <a:moveTo>
                  <a:pt x="190" y="0"/>
                </a:moveTo>
                <a:cubicBezTo>
                  <a:pt x="192" y="0"/>
                  <a:pt x="193" y="1"/>
                  <a:pt x="193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190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5829300" y="4095750"/>
            <a:ext cx="1609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938" b="1">
                <a:solidFill>
                  <a:srgbClr val="FA4F24"/>
                </a:solidFill>
                <a:latin typeface="Microsoft YaHei"/>
                <a:ea typeface="Microsoft YaHei"/>
              </a:rPr>
              <a:t>决策级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5829300" y="4286250"/>
            <a:ext cx="1609725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进驾驶舱、进</a:t>
            </a:r>
            <a:r>
              <a:rPr lang="en-US" sz="78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78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工具集、进对外汇报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5829300" y="4686300"/>
            <a:ext cx="1609725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7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十二项全填，季度复核，口径变更必须走裁定会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7639050" y="3848100"/>
            <a:ext cx="1847850" cy="1438275"/>
          </a:xfrm>
          <a:prstGeom prst="roundRect">
            <a:avLst>
              <a:gd name="adj" fmla="val 1987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282" name=""/>
          <p:cNvSpPr/>
          <p:nvPr/>
        </p:nvSpPr>
        <p:spPr>
          <a:xfrm rot="0" flipH="0" flipV="0">
            <a:off x="7639050" y="3848100"/>
            <a:ext cx="1847850" cy="1438275"/>
          </a:xfrm>
          <a:custGeom>
            <a:pathLst>
              <a:path w="194" h="151">
                <a:moveTo>
                  <a:pt x="191" y="0"/>
                </a:moveTo>
                <a:cubicBezTo>
                  <a:pt x="193" y="0"/>
                  <a:pt x="194" y="1"/>
                  <a:pt x="194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191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7753350" y="4267200"/>
            <a:ext cx="1619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F87D2F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938" b="1">
                <a:solidFill>
                  <a:srgbClr val="F87D2F"/>
                </a:solidFill>
                <a:latin typeface="Microsoft YaHei"/>
                <a:ea typeface="Microsoft YaHei"/>
              </a:rPr>
              <a:t>运营级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7753350" y="4457700"/>
            <a:ext cx="161925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业务日常自查与过程管理使用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7753350" y="4686300"/>
            <a:ext cx="1619250" cy="1619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前九项必填，责任人明确，半年复核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9572625" y="3848100"/>
            <a:ext cx="1838325" cy="1438275"/>
          </a:xfrm>
          <a:prstGeom prst="roundRect">
            <a:avLst>
              <a:gd name="adj" fmla="val 1987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287" name=""/>
          <p:cNvSpPr/>
          <p:nvPr/>
        </p:nvSpPr>
        <p:spPr>
          <a:xfrm rot="0" flipH="0" flipV="0">
            <a:off x="9572625" y="3848100"/>
            <a:ext cx="1838325" cy="1438275"/>
          </a:xfrm>
          <a:custGeom>
            <a:pathLst>
              <a:path w="193" h="151">
                <a:moveTo>
                  <a:pt x="190" y="0"/>
                </a:moveTo>
                <a:cubicBezTo>
                  <a:pt x="192" y="0"/>
                  <a:pt x="193" y="1"/>
                  <a:pt x="193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190" y="0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9686925" y="4181475"/>
            <a:ext cx="1609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8A8F99"/>
                </a:solidFill>
                <a:latin typeface="Microsoft YaHei"/>
                <a:ea typeface="Microsoft YaHei"/>
              </a:rPr>
              <a:t xml:space="preserve">C </a:t>
            </a:r>
            <a:r>
              <a:rPr lang="zh-CN" sz="938" b="1">
                <a:solidFill>
                  <a:srgbClr val="8A8F99"/>
                </a:solidFill>
                <a:latin typeface="Microsoft YaHei"/>
                <a:ea typeface="Microsoft YaHei"/>
              </a:rPr>
              <a:t>分析级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9686925" y="4371975"/>
            <a:ext cx="1609725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一次性分析、探索性使用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9686925" y="4600575"/>
            <a:ext cx="1609725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7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登记名称与口径即可，不进字典主表，禁止对外引用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5715000" y="5343525"/>
            <a:ext cx="569595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不分档就会走向两个极端：要么全部指标都当成核心，治理投入被稀释；要么都不当核心，最后</a:t>
            </a:r>
            <a:r>
              <a:rPr lang="en-US" sz="788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 xml:space="preserve"> A </a:t>
            </a:r>
            <a:r>
              <a:rPr lang="zh-CN" sz="788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级指标没人负责。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293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指标体系咨询方法论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13 / 30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296" name="" descr="&lt;Slide style={{ width: 1280, height: 720, background: '#FFFFFF', padding: '24px 64px 0' }}&gt;&#10;  &lt;Box style={{ height: 96, flexDirection: 'column', justifyContent: 'flex-start' }}&gt;&#10;    &lt;Text style={{ fontSize: 32, fontWeight: 'bold', color: '#0F1423' }}&gt;&#10;      五类最常见的口径失效：&lt;span style={{ color: '#FA4F24' }}&gt;数字照常出来，只是和昨天说的不是一回事&lt;/span&gt;&#10;    &lt;/Text&gt;&#10;    &lt;Text style={{ fontSize: 20, color: '#8A8F99', marginTop: 8 }}&gt;指标体系的失败是静默的——没有报错，只有一个永远在吵的数字&lt;/Text&gt;&#10;  &lt;/Box&gt;&#10;  &lt;Box style={{ height: 1, background: '#E8E8E8' }} /&gt;&#10;&#10;  &lt;Box style={{ paddingTop: 14, paddingBottom: 8, height: 479, flexDirection: 'column', gap: 10 }}&gt;&#10;    &lt;Box style={{ flex: 1, flexDirection: 'row', gap: 10 }}&gt;&#10;      {[&#10;        { n: '一', t: '同名不同义', s: '三个部门都叫「销售额」', d: '销售部：订单成交额；财务部：到账金额；商务部：签约金额。三张表三个数，汇报时各执一词。',&#10;          f: '对策：指标名全局唯一，同名必须拆名并各给唯一标识' },&#10;        { n: '二', t: '同义不同名', s: '「营收」「收入」「销售额」', d: '一个口径三个名字，三个看板三种趋势线。合并时没人知道该保留哪个名。',&#10;          f: '对策：建立同义词表，一个口径指定一个正式名与若干别名' },&#10;        { n: '三', t: '粒度错配', s: '把明细当汇总', d: '把日粒度的订单行直接加总当月度量；把订单粒度的均价按数量加权；跨粒度相除得到无意义的比率。',&#10;          f: '对策：五元组里的粒度是必填项，不允许留空或写「不限」' },&#10;        { n: '四', t: '时间口径错配', s: '自然月 / 财年 / 滚动 30 天', d: '财务按财年、业务按自然月、运营看滚动 30 天；再加上时区与「是否含当日未结算」的差异。',&#10;          f: '对策：时间口径必须写明时区与截止时点，跨系统对不上先查这一项' },&#10;        { n: '五', t: '聚合方式错配', s: '去重当计数、空值当零', d: '去重计数当普通计数用；用平均值算总额；null 被忽略与被当 0 处理，算出来的分母不一样。',&#10;          f: '对策：聚合方式进字典；null 策略单列一项，不允许隐式处理' },&#10;      ].map((x) =&gt; (&#10;        &lt;Box key={x.n} style={{ flex: 1, background: '#F7F7F8', borderRadius: 4, borderTop: '4px solid #FA4F24', padding: '12px 13px', flexDirection: 'column' }}&gt;&#10;          &lt;Box style={{ flexDirection: 'row', alignItems: 'center', gap: 8 }}&gt;&#10;            &lt;Box style={{ width: 22, height: 22, borderRadius: 11, background: '#FA4F24', alignItems: 'center', justifyContent: 'center' }}&gt;&#10;              &lt;Text style={{ fontSize: 12, fontWeight: 'bold', color: '#FFFFFF' }}&gt;{x.n}&lt;/Text&gt;&#10;            &lt;/Box&gt;&#10;            &lt;Text style={{ fontSize: 14.5, fontWeight: 'bold', color: '#0F1423', flex: 1 }}&gt;{x.t}&lt;/Text&gt;&#10;          &lt;/Box&gt;&#10;          &lt;Text style={{ fontSize: 10.5, fontWeight: 'bold', color: '#C43A17', marginTop: 8 }}&gt;{x.s}&lt;/Text&gt;&#10;          &lt;Text style={{ fontSize: 11, color: '#3A4050', marginTop: 7, lineHeight: 1.5, flex: 1 }}&gt;{x.d}&lt;/Text&gt;&#10;          &lt;Box style={{ background: '#0F1423', borderRadius: 3, padding: '6px 9px', marginTop: 8 }}&gt;&#10;            &lt;Text style={{ fontSize: 10, color: 'rgba(255,255,255,0.88)', lineHeight: 1.4 }}&gt;{x.f}&lt;/Text&gt;&#10;          &lt;/Box&gt;&#10;        &lt;/Box&gt;&#10;      ))}&#10;    &lt;/Box&gt;&#10;&#10;    &lt;Box style={{ flex: 0.82, background: '#FFF3EE', borderRadius: 4, padding: '12px 18px', flexDirection: 'row', gap: 18 }}&gt;&#10;      &lt;Box style={{ width: 158, flexDirection: 'column', justifyContent: 'center' }}&gt;&#10;        &lt;Text style={{ fontSize: 14, fontWeight: 'bold', color: '#C43A17' }}&gt;为什么静默最危险&lt;/Text&gt;&#10;        &lt;Text style={{ fontSize: 10.5, color: '#8A8F99', marginTop: 5, lineHeight: 1.4 }}&gt;与第九册数据治理同源&lt;/Text&gt;&#10;      &lt;/Box&gt;&#10;      &lt;Box style={{ width: 1, background: '#FBA15C' }} /&gt;&#10;      &lt;Box style={{ flex: 1, flexDirection: 'column', justifyContent: 'center', gap: 6 }}&gt;&#10;        {[&#10;          '数据错误会报错，口径错误不会——系统认为它算对了，因为它确实按你写的算了。',&#10;          '人遇到荒谬数字会怀疑，Agent 不会。AI 时代这个静默失效第一次获得了行动能力。',&#10;          '所以检出手段不能靠「大家觉得这个数怪」，必须靠规则：同名检测、粒度检测、时间口径差异检测、同环比突变告警。',&#10;        ].map((t, i) =&gt; (&#10;          &lt;Text key={i} style={{ fontSize: 11.5, color: '#3A4050', lineHeight: 1.5 }}&gt;&#10;            &lt;tspan style={{ color: '#FA4F24', fontWeight: 'bold' }}&gt;· &lt;/tspan&gt;{t}&#10;          &lt;/Text&gt;&#10;        ))}&#10;      &lt;/Box&gt;&#10;    &lt;/Box&gt;&#10;  &lt;/Box&gt;&#10;&#10;  &lt;Box style={{ height: 58, flexDirection: 'row', alignItems: 'center', borderTop: '1px solid #E8E8E8' }}&gt;&#10;    &lt;Box style={{ width: 10, height: 10, background: '#FA4F24' }} /&gt;&#10;    &lt;Text style={{ fontSize: 13, color: '#8A8F99', marginLeft: 12 }}&gt;硕磐机密 · 指标体系咨询方法论&lt;/Text&gt;&#10;    &lt;Text style={{ fontSize: 13, color: '#8A8F99', marginLeft: 'auto' }}&gt;14 / 3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五类最常见的口径失效：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数字照常出来，只是和昨天说的不是一回事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指标体系的失败是静默的——没有报错，只有一个永远在吵的数字</a:t>
            </a:r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301" name=""/>
          <p:cNvSpPr/>
          <p:nvPr/>
        </p:nvSpPr>
        <p:spPr>
          <a:xfrm rot="0" flipH="0" flipV="0">
            <a:off x="609600" y="1323975"/>
            <a:ext cx="2114550" cy="2647950"/>
          </a:xfrm>
          <a:prstGeom prst="roundRect">
            <a:avLst>
              <a:gd name="adj" fmla="val 180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02" name=""/>
          <p:cNvSpPr/>
          <p:nvPr/>
        </p:nvSpPr>
        <p:spPr>
          <a:xfrm rot="0" flipH="0" flipV="0">
            <a:off x="609600" y="1323975"/>
            <a:ext cx="2114550" cy="2647950"/>
          </a:xfrm>
          <a:custGeom>
            <a:pathLst>
              <a:path w="222" h="278">
                <a:moveTo>
                  <a:pt x="218" y="0"/>
                </a:moveTo>
                <a:cubicBezTo>
                  <a:pt x="220" y="0"/>
                  <a:pt x="222" y="2"/>
                  <a:pt x="222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18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03" name=""/>
          <p:cNvSpPr/>
          <p:nvPr/>
        </p:nvSpPr>
        <p:spPr>
          <a:xfrm rot="0" flipH="0" flipV="0">
            <a:off x="733425" y="14382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781050" y="1476375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一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1019175" y="1457325"/>
            <a:ext cx="1581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同名不同义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733425" y="1724025"/>
            <a:ext cx="18669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C43A17"/>
                </a:solidFill>
                <a:latin typeface="Microsoft YaHei"/>
                <a:ea typeface="Microsoft YaHei"/>
              </a:rPr>
              <a:t>三个部门都叫「销售额」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733425" y="1914525"/>
            <a:ext cx="1866900" cy="1390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销售部：订单成交额；财务部：到账金额；商务部：签约金额。三张表三个数，汇报时各执一词。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733425" y="3381375"/>
            <a:ext cx="1866900" cy="438150"/>
          </a:xfrm>
          <a:prstGeom prst="roundRect">
            <a:avLst>
              <a:gd name="adj" fmla="val 652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819150" y="3438525"/>
            <a:ext cx="1695450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75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对策：指标名全局唯一，同名必须拆名并各给唯一标识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2819400" y="1323975"/>
            <a:ext cx="2124075" cy="2647950"/>
          </a:xfrm>
          <a:prstGeom prst="roundRect">
            <a:avLst>
              <a:gd name="adj" fmla="val 179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11" name=""/>
          <p:cNvSpPr/>
          <p:nvPr/>
        </p:nvSpPr>
        <p:spPr>
          <a:xfrm rot="0" flipH="0" flipV="0">
            <a:off x="2819400" y="1323975"/>
            <a:ext cx="2124075" cy="2647950"/>
          </a:xfrm>
          <a:custGeom>
            <a:pathLst>
              <a:path w="223" h="278">
                <a:moveTo>
                  <a:pt x="219" y="0"/>
                </a:moveTo>
                <a:cubicBezTo>
                  <a:pt x="221" y="0"/>
                  <a:pt x="223" y="2"/>
                  <a:pt x="223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19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12" name=""/>
          <p:cNvSpPr/>
          <p:nvPr/>
        </p:nvSpPr>
        <p:spPr>
          <a:xfrm rot="0" flipH="0" flipV="0">
            <a:off x="2943225" y="14382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2990850" y="1476375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二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3228975" y="1457325"/>
            <a:ext cx="1590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同义不同名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2943225" y="1724025"/>
            <a:ext cx="18764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C43A17"/>
                </a:solidFill>
                <a:latin typeface="Microsoft YaHei"/>
                <a:ea typeface="Microsoft YaHei"/>
              </a:rPr>
              <a:t>「营收」「收入」「销售额」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2943225" y="1914525"/>
            <a:ext cx="1876425" cy="1390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一个口径三个名字，三个看板三种趋势线。合并时没人知道该保留哪个名。</a:t>
            </a:r>
            <a:endParaRPr/>
          </a:p>
        </p:txBody>
      </p:sp>
      <p:sp>
        <p:nvSpPr>
          <p:cNvPr id="317" name=""/>
          <p:cNvSpPr/>
          <p:nvPr/>
        </p:nvSpPr>
        <p:spPr>
          <a:xfrm rot="0" flipH="0" flipV="0">
            <a:off x="2943225" y="3381375"/>
            <a:ext cx="1876425" cy="438150"/>
          </a:xfrm>
          <a:prstGeom prst="roundRect">
            <a:avLst>
              <a:gd name="adj" fmla="val 652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3028950" y="3438525"/>
            <a:ext cx="1704975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75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对策：建立同义词表，一个口径指定一个正式名与若干别名</a:t>
            </a:r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5038725" y="1323975"/>
            <a:ext cx="2114550" cy="2647950"/>
          </a:xfrm>
          <a:prstGeom prst="roundRect">
            <a:avLst>
              <a:gd name="adj" fmla="val 180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20" name=""/>
          <p:cNvSpPr/>
          <p:nvPr/>
        </p:nvSpPr>
        <p:spPr>
          <a:xfrm rot="0" flipH="0" flipV="0">
            <a:off x="5038725" y="1323975"/>
            <a:ext cx="2114550" cy="2647950"/>
          </a:xfrm>
          <a:custGeom>
            <a:pathLst>
              <a:path w="222" h="278">
                <a:moveTo>
                  <a:pt x="218" y="0"/>
                </a:moveTo>
                <a:cubicBezTo>
                  <a:pt x="220" y="0"/>
                  <a:pt x="222" y="2"/>
                  <a:pt x="222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18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21" name=""/>
          <p:cNvSpPr/>
          <p:nvPr/>
        </p:nvSpPr>
        <p:spPr>
          <a:xfrm rot="0" flipH="0" flipV="0">
            <a:off x="5162550" y="14382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5210175" y="1476375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三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5448300" y="1457325"/>
            <a:ext cx="1581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粒度错配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5162550" y="1724025"/>
            <a:ext cx="18669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C43A17"/>
                </a:solidFill>
                <a:latin typeface="Microsoft YaHei"/>
                <a:ea typeface="Microsoft YaHei"/>
              </a:rPr>
              <a:t>把明细当汇总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5162550" y="1914525"/>
            <a:ext cx="1866900" cy="1390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把日粒度的订单行直接加总当月度量；把订单粒度的均价按数量加权；跨粒度相除得到无意义的比率。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5162550" y="3381375"/>
            <a:ext cx="1866900" cy="438150"/>
          </a:xfrm>
          <a:prstGeom prst="roundRect">
            <a:avLst>
              <a:gd name="adj" fmla="val 652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5248275" y="3438525"/>
            <a:ext cx="1695450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75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对策：五元组里的粒度是必填项，不允许留空或写「不限」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7248525" y="1323975"/>
            <a:ext cx="2124075" cy="2647950"/>
          </a:xfrm>
          <a:prstGeom prst="roundRect">
            <a:avLst>
              <a:gd name="adj" fmla="val 179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29" name=""/>
          <p:cNvSpPr/>
          <p:nvPr/>
        </p:nvSpPr>
        <p:spPr>
          <a:xfrm rot="0" flipH="0" flipV="0">
            <a:off x="7248525" y="1323975"/>
            <a:ext cx="2124075" cy="2647950"/>
          </a:xfrm>
          <a:custGeom>
            <a:pathLst>
              <a:path w="223" h="278">
                <a:moveTo>
                  <a:pt x="219" y="0"/>
                </a:moveTo>
                <a:cubicBezTo>
                  <a:pt x="221" y="0"/>
                  <a:pt x="223" y="2"/>
                  <a:pt x="223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19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30" name=""/>
          <p:cNvSpPr/>
          <p:nvPr/>
        </p:nvSpPr>
        <p:spPr>
          <a:xfrm rot="0" flipH="0" flipV="0">
            <a:off x="7372350" y="14382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7419975" y="1476375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四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7658100" y="1457325"/>
            <a:ext cx="1590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时间口径错配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7372350" y="1724025"/>
            <a:ext cx="18764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C43A17"/>
                </a:solidFill>
                <a:latin typeface="Microsoft YaHei"/>
                <a:ea typeface="Microsoft YaHei"/>
              </a:rPr>
              <a:t>自然月</a:t>
            </a:r>
            <a:r>
              <a:rPr lang="en-US" sz="788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788" b="1">
                <a:solidFill>
                  <a:srgbClr val="C43A17"/>
                </a:solidFill>
                <a:latin typeface="Microsoft YaHei"/>
                <a:ea typeface="Microsoft YaHei"/>
              </a:rPr>
              <a:t>财年</a:t>
            </a:r>
            <a:r>
              <a:rPr lang="en-US" sz="788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788" b="1">
                <a:solidFill>
                  <a:srgbClr val="C43A17"/>
                </a:solidFill>
                <a:latin typeface="Microsoft YaHei"/>
                <a:ea typeface="Microsoft YaHei"/>
              </a:rPr>
              <a:t>滚动</a:t>
            </a:r>
            <a:r>
              <a:rPr lang="en-US" sz="788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30 </a:t>
            </a:r>
            <a:r>
              <a:rPr lang="zh-CN" sz="788" b="1">
                <a:solidFill>
                  <a:srgbClr val="C43A17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7372350" y="1914525"/>
            <a:ext cx="1876425" cy="1390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财务按财年、业务按自然月、运营看滚动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30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天；再加上时区与「是否含当日未结算」的差异。</a:t>
            </a:r>
            <a:endParaRPr/>
          </a:p>
        </p:txBody>
      </p:sp>
      <p:sp>
        <p:nvSpPr>
          <p:cNvPr id="335" name=""/>
          <p:cNvSpPr/>
          <p:nvPr/>
        </p:nvSpPr>
        <p:spPr>
          <a:xfrm rot="0" flipH="0" flipV="0">
            <a:off x="7372350" y="3381375"/>
            <a:ext cx="1876425" cy="438150"/>
          </a:xfrm>
          <a:prstGeom prst="roundRect">
            <a:avLst>
              <a:gd name="adj" fmla="val 652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7458075" y="3438525"/>
            <a:ext cx="1704975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75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对策：时间口径必须写明时区与截止时点，跨系统对不上先查这一项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9467850" y="1323975"/>
            <a:ext cx="2114550" cy="2647950"/>
          </a:xfrm>
          <a:prstGeom prst="roundRect">
            <a:avLst>
              <a:gd name="adj" fmla="val 180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38" name=""/>
          <p:cNvSpPr/>
          <p:nvPr/>
        </p:nvSpPr>
        <p:spPr>
          <a:xfrm rot="0" flipH="0" flipV="0">
            <a:off x="9467850" y="1323975"/>
            <a:ext cx="2114550" cy="2647950"/>
          </a:xfrm>
          <a:custGeom>
            <a:pathLst>
              <a:path w="222" h="278">
                <a:moveTo>
                  <a:pt x="218" y="0"/>
                </a:moveTo>
                <a:cubicBezTo>
                  <a:pt x="220" y="0"/>
                  <a:pt x="222" y="2"/>
                  <a:pt x="222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18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39" name=""/>
          <p:cNvSpPr/>
          <p:nvPr/>
        </p:nvSpPr>
        <p:spPr>
          <a:xfrm rot="0" flipH="0" flipV="0">
            <a:off x="9591675" y="14382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9639300" y="1476375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五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9877425" y="1457325"/>
            <a:ext cx="1581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聚合方式错配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9591675" y="1724025"/>
            <a:ext cx="18669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C43A17"/>
                </a:solidFill>
                <a:latin typeface="Microsoft YaHei"/>
                <a:ea typeface="Microsoft YaHei"/>
              </a:rPr>
              <a:t>去重当计数、空值当零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9591675" y="1914525"/>
            <a:ext cx="1866900" cy="1390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去重计数当普通计数用；用平均值算总额；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null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被忽略与被当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处理，算出来的分母不一样。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9591675" y="3381375"/>
            <a:ext cx="1866900" cy="438150"/>
          </a:xfrm>
          <a:prstGeom prst="roundRect">
            <a:avLst>
              <a:gd name="adj" fmla="val 652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9677400" y="3438525"/>
            <a:ext cx="1695450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75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对策：聚合方式进字典；</a:t>
            </a:r>
            <a:r>
              <a:rPr lang="en-US" sz="75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 xml:space="preserve">null </a:t>
            </a:r>
            <a:r>
              <a:rPr lang="zh-CN" sz="75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策略单列一项，不允许隐式处理</a:t>
            </a:r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609600" y="4029075"/>
            <a:ext cx="10972800" cy="1609725"/>
          </a:xfrm>
          <a:prstGeom prst="roundRect">
            <a:avLst>
              <a:gd name="adj" fmla="val 2367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781050" y="4648200"/>
            <a:ext cx="1504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为什么静默最危险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781050" y="4857750"/>
            <a:ext cx="150495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与第九册数据治理同源</a:t>
            </a:r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2457450" y="4143375"/>
            <a:ext cx="9525" cy="1381125"/>
          </a:xfrm>
          <a:prstGeom prst="rect">
            <a:avLst/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2638425" y="4476750"/>
            <a:ext cx="8772525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数据错误会报错，口径错误不会——系统认为它算对了，因为它确实按你写的算了。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2638425" y="4733925"/>
            <a:ext cx="8772525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人遇到荒谬数字会怀疑，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不会。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时代这个静默失效第一次获得了行动能力。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2638425" y="4991100"/>
            <a:ext cx="8772525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所以检出手段不能靠「大家觉得这个数怪」，必须靠规则：同名检测、粒度检测、时间口径差异检测、同环比突变告警。</a:t>
            </a:r>
            <a:endParaRPr/>
          </a:p>
        </p:txBody>
      </p:sp>
      <p:sp>
        <p:nvSpPr>
          <p:cNvPr id="353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354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指标体系咨询方法论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14 / 30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357" name="" descr="&lt;Slide style={{ width: 1280, height: 720, background: '#FFFFFF', padding: '24px 64px 0' }}&gt;&#10;  &lt;Box style={{ height: 96, flexDirection: 'column', justifyContent: 'flex-start' }}&gt;&#10;    &lt;Text style={{ fontSize: 32, fontWeight: 'bold', color: '#0F1423' }}&gt;&#10;      口径的唯一性治理：&lt;span style={{ color: '#FA4F24' }}&gt;三张表&lt;/span&gt;与&lt;span style={{ color: '#F87D2F' }}&gt;一个裁定会&lt;/span&gt;&#10;    &lt;/Text&gt;&#10;    &lt;Text style={{ fontSize: 20, color: '#8A8F99', marginTop: 8 }}&gt;统一口径不是靠发一份规范文档，是靠三张能维护的表加一个固定的决策场合&lt;/Text&gt;&#10;  &lt;/Box&gt;&#10;  &lt;Box style={{ height: 1, background: '#E8E8E8' }} /&gt;&#10;&#10;  &lt;Box style={{ paddingTop: 14, paddingBottom: 8, height: 479, flexDirection: 'column', gap: 10 }}&gt;&#10;    &lt;Box style={{ flex: 1, flexDirection: 'row', gap: 10 }}&gt;&#10;      {[&#10;        { n: '表一', t: '口径注册表', c: '#FA4F24', d: '全公司指标的唯一权威入口。每个指标一行，含十二项字典内容、五元组、治理等级。',&#10;          r: ['唯一标识一经发布不可变', '名字可以改，标识不能改', '没有注册的指标不得进驾驶舱与 Agent 工具集'], k: '回答：有哪些指标，各自怎么算' },&#10;        { n: '表二', t: '同义与映射表', c: '#F87D2F', d: '维护别名、废弃名、以及「老报表 → 现指标」的映射关系，保证迁移期可追溯。',&#10;          r: ['一个正式名对应多个别名', '废止指标保留映射，不物理删除', '报表引用废弃指标时给迁移提示'], k: '回答：老报表说的对应现在哪个' },&#10;        { n: '表三', t: '口径变更日志', c: '#C43A17', d: '每一次口径变更登记：谁提的、依据什么规则、影响哪些下游、什么时候生效、能否回滚。',&#10;          r: ['与第九册的动作日志同一套机制', '变更前后值要留快照，便于比对', '影响面清单是审批的必要附件'], k: '回答：这个数为什么今天变了' },&#10;      ].map((x) =&gt; (&#10;        &lt;Box key={x.n} style={{ flex: 1, background: '#F7F7F8', borderRadius: 4, borderTop: '4px solid ' + x.c, padding: '13px 16px', flexDirection: 'column' }}&gt;&#10;          &lt;Box style={{ flexDirection: 'row', alignItems: 'center', gap: 9 }}&gt;&#10;            &lt;Text style={{ fontSize: 11, fontWeight: 'bold', color: x.c }}&gt;{x.n}&lt;/Text&gt;&#10;            &lt;Text style={{ fontSize: 17, fontWeight: 'bold', color: '#0F1423', flex: 1 }}&gt;{x.t}&lt;/Text&gt;&#10;          &lt;/Box&gt;&#10;          &lt;Text style={{ fontSize: 11.5, color: '#3A4050', marginTop: 9, lineHeight: 1.5 }}&gt;{x.d}&lt;/Text&gt;&#10;          &lt;Box style={{ marginTop: 9, gap: 5, flex: 1 }}&gt;&#10;            {x.r.map((t, i) =&gt; (&#10;              &lt;Box key={i} style={{ flexDirection: 'row', gap: 6, flex: 1, alignItems: 'flex-start' }}&gt;&#10;                &lt;Text style={{ fontSize: 10.5, color: x.c, fontWeight: 'bold' }}&gt;·&lt;/Text&gt;&#10;                &lt;Text style={{ fontSize: 10.5, color: '#5A6070', lineHeight: 1.45, flex: 1 }}&gt;{t}&lt;/Text&gt;&#10;              &lt;/Box&gt;&#10;            ))}&#10;          &lt;/Box&gt;&#10;          &lt;Box style={{ background: '#FFFFFF', borderRadius: 3, borderLeft: '3px solid ' + x.c, padding: '6px 10px', marginTop: 9 }}&gt;&#10;            &lt;Text style={{ fontSize: 10.5, fontWeight: 'bold', color: '#C43A17' }}&gt;{x.k}&lt;/Text&gt;&#10;          &lt;/Box&gt;&#10;        &lt;/Box&gt;&#10;      ))}&#10;    &lt;/Box&gt;&#10;&#10;    &lt;Box style={{ flex: 0.92, flexDirection: 'row', gap: 10 }}&gt;&#10;      &lt;Box style={{ flex: 1.35, background: '#0F1423', borderRadius: 4, padding: '12px 18px', flexDirection: 'column' }}&gt;&#10;        &lt;Text style={{ fontSize: 13.5, fontWeight: 'bold', color: '#FBA15C' }}&gt;裁定会：固定节奏、固定议程、固定产出&lt;/Text&gt;&#10;        &lt;Box style={{ flexDirection: 'row', gap: 9, marginTop: 10, flex: 1 }}&gt;&#10;          {[&#10;            { t: '谁参加', d: '业务定义责任人必到；数据 steward、Agent 工具集维护人、管道负责人列席' },&#10;            { t: '议程只有四类', d: '新增指标、口径变更、口径废止、跨部门冲突裁决' },&#10;            { t: '产出是一份裁定表', d: '结论、依据、影响面、生效日期、责任人，五项缺一不算裁定完成' },&#10;          ].map((x) =&gt; (&#10;            &lt;Box key={x.t} style={{ flex: 1, background: 'rgba(250,79,36,0.16)', borderRadius: 3, padding: '9px 12px', justifyContent: 'center' }}&gt;&#10;              &lt;Text style={{ fontSize: 12, fontWeight: 'bold', color: '#FFFFFF' }}&gt;{x.t}&lt;/Text&gt;&#10;              &lt;Text style={{ fontSize: 10.5, color: 'rgba(255,255,255,0.78)', marginTop: 5, lineHeight: 1.45 }}&gt;{x.d}&lt;/Text&gt;&#10;            &lt;/Box&gt;&#10;          ))}&#10;        &lt;/Box&gt;&#10;        &lt;Text style={{ fontSize: 10.5, color: 'rgba(255,255,255,0.6)', marginTop: 9, lineHeight: 1.45 }}&gt;&#10;          没有裁定会，前面三张表就会退化成三张 Excel。表的效力来自有固定的决策场合，��来自表本身。&#10;        &lt;/Text&gt;&#10;      &lt;/Box&gt;&#10;&#10;      &lt;Box style={{ flex: 1, background: '#FFF3EE', borderRadius: 4, padding: '12px 18px', flexDirection: 'column' }}&gt;&#10;        &lt;Text style={{ fontSize: 13.5, fontWeight: 'bold', color: '#C43A17' }}&gt;三条落地原则&lt;/Text&gt;&#10;        &lt;Box style={{ marginTop: 10, gap: 7, flex: 1 }}&gt;&#10;          {[&#10;            { n: '一', t: '先统一再统一范围', d: '先把 A 级决策指标（通常 30 到 80 个）统到底，剩下的分级处理。' },&#10;            { n: '二', t: '允许别名，禁止多口径并存', d: '叫什么都行，但同一个词全公司只能有一个解释。过渡期靠别名表。' },&#10;            { n: '三', t: '口径变更默认向后兼容', d: '并行跑一段双版本，比对无差异再切换。直接切换那天，所有人都不信数据。' },&#10;          ].map((x) =&gt; (&#10;            &lt;Box key={x.n} style={{ flex: 1, flexDirection: 'row', gap: 9, background: '#FFFFFF', borderRadius: 3, padding: '7px 11px', alignItems: 'center' }}&gt;&#10;              &lt;Text style={{ fontSize: 13, fontWeight: 'bold', color: '#FA4F24' }}&gt;{x.n}&lt;/Text&gt;&#10;              &lt;Box style={{ flex: 1, flexDirection: 'column' }}&gt;&#10;                &lt;Text style={{ fontSize: 11.5, fontWeight: 'bold', color: '#0F1423' }}&gt;{x.t}&lt;/Text&gt;&#10;                &lt;Text style={{ fontSize: 10.5, color: '#5A6070', marginTop: 2, lineHeight: 1.4 }}&gt;{x.d}&lt;/Text&gt;&#10;              &lt;/Box&gt;&#10;            &lt;/Box&gt;&#10;          ))}&#10;        &lt;/Box&gt;&#10;      &lt;/Box&gt;&#10;    &lt;/Box&gt;&#10;  &lt;/Box&gt;&#10;&#10;  &lt;Box style={{ height: 58, flexDirection: 'row', alignItems: 'center', borderTop: '1px solid #E8E8E8' }}&gt;&#10;    &lt;Box style={{ width: 10, height: 10, background: '#FA4F24' }} /&gt;&#10;    &lt;Text style={{ fontSize: 13, color: '#8A8F99', marginLeft: 12 }}&gt;硕磐机密 · 指标体系咨询方法论&lt;/Text&gt;&#10;    &lt;Text style={{ fontSize: 13, color: '#8A8F99', marginLeft: 'auto' }}&gt;15 / 3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口径的唯一性治理：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三张表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与</a:t>
            </a:r>
            <a:r>
              <a:rPr lang="zh-CN" sz="2400" b="1">
                <a:solidFill>
                  <a:srgbClr val="F87D2F"/>
                </a:solidFill>
                <a:latin typeface="Microsoft YaHei"/>
                <a:ea typeface="Microsoft YaHei"/>
              </a:rPr>
              <a:t>一个裁定会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统一口径不是靠发一份规范文档，是靠三张能维护的表加一个固定的决策场合</a:t>
            </a:r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362" name=""/>
          <p:cNvSpPr/>
          <p:nvPr/>
        </p:nvSpPr>
        <p:spPr>
          <a:xfrm rot="0" flipH="0" flipV="0">
            <a:off x="609600" y="1323975"/>
            <a:ext cx="3590925" cy="2152650"/>
          </a:xfrm>
          <a:prstGeom prst="roundRect">
            <a:avLst>
              <a:gd name="adj" fmla="val 177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63" name=""/>
          <p:cNvSpPr/>
          <p:nvPr/>
        </p:nvSpPr>
        <p:spPr>
          <a:xfrm rot="0" flipH="0" flipV="0">
            <a:off x="609600" y="1323975"/>
            <a:ext cx="3590925" cy="2152650"/>
          </a:xfrm>
          <a:custGeom>
            <a:pathLst>
              <a:path w="377" h="226">
                <a:moveTo>
                  <a:pt x="373" y="0"/>
                </a:moveTo>
                <a:cubicBezTo>
                  <a:pt x="375" y="0"/>
                  <a:pt x="377" y="2"/>
                  <a:pt x="377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373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762000" y="1485900"/>
            <a:ext cx="209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A4F24"/>
                </a:solidFill>
                <a:latin typeface="Microsoft YaHei"/>
                <a:ea typeface="Microsoft YaHei"/>
              </a:rPr>
              <a:t>表一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1057275" y="1447800"/>
            <a:ext cx="2990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口径注册表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762000" y="1733550"/>
            <a:ext cx="3286125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全公司指标的唯一权威入口。每个指标一行，含十二项字典内容、五元组、治理等级。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762000" y="2219325"/>
            <a:ext cx="476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FA4F24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866775" y="2219325"/>
            <a:ext cx="318135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唯一标识一经发布不可变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762000" y="2495550"/>
            <a:ext cx="476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FA4F24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866775" y="2495550"/>
            <a:ext cx="318135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名字可以改，标识不能改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762000" y="2762250"/>
            <a:ext cx="476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FA4F24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866775" y="2762250"/>
            <a:ext cx="318135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没有注册的指标不得进驾驶舱与</a:t>
            </a:r>
            <a:r>
              <a:rPr lang="en-US" sz="788">
                <a:solidFill>
                  <a:srgbClr val="5A6070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工具集</a:t>
            </a:r>
            <a:endParaRPr/>
          </a:p>
        </p:txBody>
      </p:sp>
      <p:sp>
        <p:nvSpPr>
          <p:cNvPr id="373" name=""/>
          <p:cNvSpPr/>
          <p:nvPr/>
        </p:nvSpPr>
        <p:spPr>
          <a:xfrm rot="0" flipH="0" flipV="0">
            <a:off x="790575" y="3076575"/>
            <a:ext cx="3286125" cy="23812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4" name=""/>
          <p:cNvSpPr/>
          <p:nvPr/>
        </p:nvSpPr>
        <p:spPr>
          <a:xfrm rot="0" flipH="0" flipV="0">
            <a:off x="790575" y="3076575"/>
            <a:ext cx="3286125" cy="238125"/>
          </a:xfrm>
          <a:custGeom>
            <a:pathLst>
              <a:path w="345" h="25">
                <a:moveTo>
                  <a:pt x="3" y="25"/>
                </a:moveTo>
                <a:cubicBezTo>
                  <a:pt x="1" y="25"/>
                  <a:pt x="0" y="24"/>
                  <a:pt x="0" y="2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2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885825" y="3133725"/>
            <a:ext cx="3067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C43A17"/>
                </a:solidFill>
                <a:latin typeface="Microsoft YaHei"/>
                <a:ea typeface="Microsoft YaHei"/>
              </a:rPr>
              <a:t>回答：有哪些指标，各自怎么算</a:t>
            </a:r>
            <a:endParaRPr/>
          </a:p>
        </p:txBody>
      </p:sp>
      <p:sp>
        <p:nvSpPr>
          <p:cNvPr id="376" name=""/>
          <p:cNvSpPr/>
          <p:nvPr/>
        </p:nvSpPr>
        <p:spPr>
          <a:xfrm rot="0" flipH="0" flipV="0">
            <a:off x="4295775" y="1323975"/>
            <a:ext cx="3600450" cy="2152650"/>
          </a:xfrm>
          <a:prstGeom prst="roundRect">
            <a:avLst>
              <a:gd name="adj" fmla="val 177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77" name=""/>
          <p:cNvSpPr/>
          <p:nvPr/>
        </p:nvSpPr>
        <p:spPr>
          <a:xfrm rot="0" flipH="0" flipV="0">
            <a:off x="4295775" y="1323975"/>
            <a:ext cx="3600450" cy="2152650"/>
          </a:xfrm>
          <a:custGeom>
            <a:pathLst>
              <a:path w="378" h="226">
                <a:moveTo>
                  <a:pt x="374" y="0"/>
                </a:moveTo>
                <a:cubicBezTo>
                  <a:pt x="376" y="0"/>
                  <a:pt x="378" y="2"/>
                  <a:pt x="378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374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4448175" y="1485900"/>
            <a:ext cx="209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87D2F"/>
                </a:solidFill>
                <a:latin typeface="Microsoft YaHei"/>
                <a:ea typeface="Microsoft YaHei"/>
              </a:rPr>
              <a:t>表二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4743450" y="1447800"/>
            <a:ext cx="3000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同义与映射表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4448175" y="1733550"/>
            <a:ext cx="329565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维护别名、废弃名、以及「老报表</a:t>
            </a:r>
            <a:r>
              <a:rPr lang="en-US" sz="863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现指标」的映射关系，保证迁移期可追溯。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4448175" y="2219325"/>
            <a:ext cx="476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F87D2F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4552950" y="2219325"/>
            <a:ext cx="3190875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一个正式名对应多个别名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4448175" y="2495550"/>
            <a:ext cx="476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F87D2F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4552950" y="2495550"/>
            <a:ext cx="3190875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废止指标保留映射，不物理删除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4448175" y="2762250"/>
            <a:ext cx="476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F87D2F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4552950" y="2762250"/>
            <a:ext cx="3190875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报表引用废弃指标时给迁移提示</a:t>
            </a:r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4476750" y="3076575"/>
            <a:ext cx="3295650" cy="23812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8" name=""/>
          <p:cNvSpPr/>
          <p:nvPr/>
        </p:nvSpPr>
        <p:spPr>
          <a:xfrm rot="0" flipH="0" flipV="0">
            <a:off x="4476750" y="3076575"/>
            <a:ext cx="3295650" cy="238125"/>
          </a:xfrm>
          <a:custGeom>
            <a:pathLst>
              <a:path w="346" h="25">
                <a:moveTo>
                  <a:pt x="3" y="25"/>
                </a:moveTo>
                <a:cubicBezTo>
                  <a:pt x="1" y="25"/>
                  <a:pt x="0" y="24"/>
                  <a:pt x="0" y="2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25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4572000" y="3133725"/>
            <a:ext cx="30765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C43A17"/>
                </a:solidFill>
                <a:latin typeface="Microsoft YaHei"/>
                <a:ea typeface="Microsoft YaHei"/>
              </a:rPr>
              <a:t>回答：老报表说的对应现在哪个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7991475" y="1323975"/>
            <a:ext cx="3590925" cy="2152650"/>
          </a:xfrm>
          <a:prstGeom prst="roundRect">
            <a:avLst>
              <a:gd name="adj" fmla="val 177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91" name=""/>
          <p:cNvSpPr/>
          <p:nvPr/>
        </p:nvSpPr>
        <p:spPr>
          <a:xfrm rot="0" flipH="0" flipV="0">
            <a:off x="7991475" y="1323975"/>
            <a:ext cx="3590925" cy="2152650"/>
          </a:xfrm>
          <a:custGeom>
            <a:pathLst>
              <a:path w="377" h="226">
                <a:moveTo>
                  <a:pt x="373" y="0"/>
                </a:moveTo>
                <a:cubicBezTo>
                  <a:pt x="375" y="0"/>
                  <a:pt x="377" y="2"/>
                  <a:pt x="377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373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8143875" y="1485900"/>
            <a:ext cx="209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C43A17"/>
                </a:solidFill>
                <a:latin typeface="Microsoft YaHei"/>
                <a:ea typeface="Microsoft YaHei"/>
              </a:rPr>
              <a:t>表三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8439150" y="1447800"/>
            <a:ext cx="2990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口径变更日志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8143875" y="1733550"/>
            <a:ext cx="3286125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每一次口径变更登记：谁提的、依据什么规则、影响哪些下游、什么时候生效、能否回滚。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8143875" y="2219325"/>
            <a:ext cx="476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C43A17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8248650" y="2219325"/>
            <a:ext cx="318135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与第九册的动作日志同一套机制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8143875" y="2495550"/>
            <a:ext cx="476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C43A17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8248650" y="2495550"/>
            <a:ext cx="318135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变更前后值要留快照，便于比对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8143875" y="2762250"/>
            <a:ext cx="476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C43A17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8248650" y="2762250"/>
            <a:ext cx="318135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影响面清单是审批的必要附件</a:t>
            </a:r>
            <a:endParaRPr/>
          </a:p>
        </p:txBody>
      </p:sp>
      <p:sp>
        <p:nvSpPr>
          <p:cNvPr id="401" name=""/>
          <p:cNvSpPr/>
          <p:nvPr/>
        </p:nvSpPr>
        <p:spPr>
          <a:xfrm rot="0" flipH="0" flipV="0">
            <a:off x="8172450" y="3076575"/>
            <a:ext cx="3286125" cy="23812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2" name=""/>
          <p:cNvSpPr/>
          <p:nvPr/>
        </p:nvSpPr>
        <p:spPr>
          <a:xfrm rot="0" flipH="0" flipV="0">
            <a:off x="8172450" y="3076575"/>
            <a:ext cx="3286125" cy="238125"/>
          </a:xfrm>
          <a:custGeom>
            <a:pathLst>
              <a:path w="345" h="25">
                <a:moveTo>
                  <a:pt x="3" y="25"/>
                </a:moveTo>
                <a:cubicBezTo>
                  <a:pt x="1" y="25"/>
                  <a:pt x="0" y="24"/>
                  <a:pt x="0" y="2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25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8267700" y="3133725"/>
            <a:ext cx="3067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C43A17"/>
                </a:solidFill>
                <a:latin typeface="Microsoft YaHei"/>
                <a:ea typeface="Microsoft YaHei"/>
              </a:rPr>
              <a:t>回答：这个数为什么今天变了</a:t>
            </a:r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609600" y="3533775"/>
            <a:ext cx="6248400" cy="2105025"/>
          </a:xfrm>
          <a:prstGeom prst="roundRect">
            <a:avLst>
              <a:gd name="adj" fmla="val 181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781050" y="3648075"/>
            <a:ext cx="590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裁定会：固定节奏、固定议程、固定产出</a:t>
            </a:r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781050" y="3905250"/>
            <a:ext cx="1914525" cy="1352550"/>
          </a:xfrm>
          <a:prstGeom prst="roundRect">
            <a:avLst>
              <a:gd name="adj" fmla="val 2113"/>
            </a:avLst>
          </a:prstGeom>
          <a:solidFill>
            <a:srgbClr val="FA4F24">
              <a:alpha val="16000"/>
            </a:srgbClr>
          </a:solidFill>
          <a:ln/>
        </p:spPr>
        <p:txBody>
          <a:bodyPr/>
          <a:p/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895350" y="4229100"/>
            <a:ext cx="1685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谁参加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895350" y="4419600"/>
            <a:ext cx="1685925" cy="523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业务定义责任人必到；数据</a:t>
            </a:r>
            <a:r>
              <a:rPr lang="en-US" sz="788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 xml:space="preserve"> steward</a:t>
            </a:r>
            <a:r>
              <a:rPr lang="zh-CN" sz="788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、</a:t>
            </a:r>
            <a:r>
              <a:rPr lang="en-US" sz="788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788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工具集维护人、管道负责人列席</a:t>
            </a:r>
            <a:endParaRPr/>
          </a:p>
        </p:txBody>
      </p:sp>
      <p:sp>
        <p:nvSpPr>
          <p:cNvPr id="409" name=""/>
          <p:cNvSpPr/>
          <p:nvPr/>
        </p:nvSpPr>
        <p:spPr>
          <a:xfrm rot="0" flipH="0" flipV="0">
            <a:off x="2781300" y="3905250"/>
            <a:ext cx="1905000" cy="1352550"/>
          </a:xfrm>
          <a:prstGeom prst="roundRect">
            <a:avLst>
              <a:gd name="adj" fmla="val 2113"/>
            </a:avLst>
          </a:prstGeom>
          <a:solidFill>
            <a:srgbClr val="FA4F24">
              <a:alpha val="16000"/>
            </a:srgbClr>
          </a:solidFill>
          <a:ln/>
        </p:spPr>
        <p:txBody>
          <a:bodyPr/>
          <a:p/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2895600" y="4314825"/>
            <a:ext cx="1676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议程只有四类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2895600" y="4505325"/>
            <a:ext cx="1676400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新增指标、口径变更、口径废止、跨部门冲突裁决</a:t>
            </a:r>
            <a:endParaRPr/>
          </a:p>
        </p:txBody>
      </p:sp>
      <p:sp>
        <p:nvSpPr>
          <p:cNvPr id="412" name=""/>
          <p:cNvSpPr/>
          <p:nvPr/>
        </p:nvSpPr>
        <p:spPr>
          <a:xfrm rot="0" flipH="0" flipV="0">
            <a:off x="4772025" y="3905250"/>
            <a:ext cx="1914525" cy="1352550"/>
          </a:xfrm>
          <a:prstGeom prst="roundRect">
            <a:avLst>
              <a:gd name="adj" fmla="val 2113"/>
            </a:avLst>
          </a:prstGeom>
          <a:solidFill>
            <a:srgbClr val="FA4F24">
              <a:alpha val="16000"/>
            </a:srgbClr>
          </a:solidFill>
          <a:ln/>
        </p:spPr>
        <p:txBody>
          <a:bodyPr/>
          <a:p/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4886325" y="4314825"/>
            <a:ext cx="1685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产出是一份裁定表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4886325" y="4505325"/>
            <a:ext cx="1685925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结论、依据、影响面、生效日期、责任人，五项缺一不算裁定完成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781050" y="5343525"/>
            <a:ext cx="590550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没有裁定会，前面三张表就会退化成三张</a:t>
            </a:r>
            <a:r>
              <a:rPr lang="en-US" sz="788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 xml:space="preserve"> Excel</a:t>
            </a:r>
            <a:r>
              <a:rPr lang="zh-CN" sz="788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。表的效力来自有固定的决策场合，��来自表本身。</a:t>
            </a:r>
            <a:endParaRPr/>
          </a:p>
        </p:txBody>
      </p:sp>
      <p:sp>
        <p:nvSpPr>
          <p:cNvPr id="416" name=""/>
          <p:cNvSpPr/>
          <p:nvPr/>
        </p:nvSpPr>
        <p:spPr>
          <a:xfrm rot="0" flipH="0" flipV="0">
            <a:off x="6953250" y="3533775"/>
            <a:ext cx="4629150" cy="2105025"/>
          </a:xfrm>
          <a:prstGeom prst="roundRect">
            <a:avLst>
              <a:gd name="adj" fmla="val 181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7124700" y="3648075"/>
            <a:ext cx="428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C43A17"/>
                </a:solidFill>
                <a:latin typeface="Microsoft YaHei"/>
                <a:ea typeface="Microsoft YaHei"/>
              </a:rPr>
              <a:t>三条落地原则</a:t>
            </a:r>
            <a:endParaRPr/>
          </a:p>
        </p:txBody>
      </p:sp>
      <p:sp>
        <p:nvSpPr>
          <p:cNvPr id="418" name=""/>
          <p:cNvSpPr/>
          <p:nvPr/>
        </p:nvSpPr>
        <p:spPr>
          <a:xfrm rot="0" flipH="0" flipV="0">
            <a:off x="7124700" y="3905250"/>
            <a:ext cx="4286250" cy="4953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7229475" y="407670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A4F24"/>
                </a:solidFill>
                <a:latin typeface="Microsoft YaHei"/>
                <a:ea typeface="Microsoft YaHei"/>
              </a:rPr>
              <a:t>一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7439025" y="3990975"/>
            <a:ext cx="3867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先统一再统一范围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7439025" y="4143375"/>
            <a:ext cx="386715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先把</a:t>
            </a:r>
            <a:r>
              <a:rPr lang="en-US" sz="788">
                <a:solidFill>
                  <a:srgbClr val="5A6070"/>
                </a:solidFill>
                <a:latin typeface="Microsoft YaHei"/>
                <a:ea typeface="Microsoft YaHei"/>
              </a:rPr>
              <a:t xml:space="preserve"> A </a:t>
            </a: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级决策指标（通常</a:t>
            </a:r>
            <a:r>
              <a:rPr lang="en-US" sz="788">
                <a:solidFill>
                  <a:srgbClr val="5A6070"/>
                </a:solidFill>
                <a:latin typeface="Microsoft YaHei"/>
                <a:ea typeface="Microsoft YaHei"/>
              </a:rPr>
              <a:t xml:space="preserve"> 30 </a:t>
            </a: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到</a:t>
            </a:r>
            <a:r>
              <a:rPr lang="en-US" sz="788">
                <a:solidFill>
                  <a:srgbClr val="5A6070"/>
                </a:solidFill>
                <a:latin typeface="Microsoft YaHei"/>
                <a:ea typeface="Microsoft YaHei"/>
              </a:rPr>
              <a:t xml:space="preserve"> 80 </a:t>
            </a: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个）统到底，剩下的分级处理。</a:t>
            </a:r>
            <a:endParaRPr/>
          </a:p>
        </p:txBody>
      </p:sp>
      <p:sp>
        <p:nvSpPr>
          <p:cNvPr id="422" name=""/>
          <p:cNvSpPr/>
          <p:nvPr/>
        </p:nvSpPr>
        <p:spPr>
          <a:xfrm rot="0" flipH="0" flipV="0">
            <a:off x="7124700" y="4467225"/>
            <a:ext cx="4286250" cy="4953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7229475" y="4638675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A4F24"/>
                </a:solidFill>
                <a:latin typeface="Microsoft YaHei"/>
                <a:ea typeface="Microsoft YaHei"/>
              </a:rPr>
              <a:t>二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7439025" y="4552950"/>
            <a:ext cx="3867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允许别名，禁止多口径并存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7439025" y="4705350"/>
            <a:ext cx="386715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叫什么都行，但同一个词全公司只能有一个解释。过渡期靠别名表。</a:t>
            </a:r>
            <a:endParaRPr/>
          </a:p>
        </p:txBody>
      </p:sp>
      <p:sp>
        <p:nvSpPr>
          <p:cNvPr id="426" name=""/>
          <p:cNvSpPr/>
          <p:nvPr/>
        </p:nvSpPr>
        <p:spPr>
          <a:xfrm rot="0" flipH="0" flipV="0">
            <a:off x="7124700" y="5029200"/>
            <a:ext cx="4286250" cy="4953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7229475" y="520065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A4F24"/>
                </a:solidFill>
                <a:latin typeface="Microsoft YaHei"/>
                <a:ea typeface="Microsoft YaHei"/>
              </a:rPr>
              <a:t>三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7439025" y="5114925"/>
            <a:ext cx="3867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口径变更默认向后兼容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7439025" y="5267325"/>
            <a:ext cx="386715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并行跑一段双版本，比对无差异再切换。直接切换那天，所有人都不信数据。</a:t>
            </a:r>
            <a:endParaRPr/>
          </a:p>
        </p:txBody>
      </p:sp>
      <p:sp>
        <p:nvSpPr>
          <p:cNvPr id="430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431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指标体系咨询方法论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15 / 30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434" name="" descr="&lt;Slide style={{ width: 1280, height: 720, background: '#FFFFFF', padding: '24px 64px 0' }}&gt;&#10;  &lt;Box style={{ height: 96, flexDirection: 'column', justifyContent: 'flex-start' }}&gt;&#10;    &lt;Text style={{ fontSize: 32, fontWeight: 'bold', color: '#0F1423' }}&gt;&#10;      同一个指标，&lt;span style={{ color: '#FA4F24' }}&gt;两个用户看到两个值&lt;/span&gt;——这不是 bug，是设计&#10;    &lt;/Text&gt;&#10;    &lt;Text style={{ fontSize: 20, color: '#8A8F99', marginTop: 8 }}&gt;派生属性继承计算中每个对象的安全性，包括多跳遍历里的中间对象&lt;/Text&gt;&#10;  &lt;/Box&gt;&#10;  &lt;Box style={{ height: 1, background: '#E8E8E8' }} /&gt;&#10;&#10;  &lt;Box style={{ paddingTop: 14, paddingBottom: 8, height: 479, flexDirection: 'column', gap: 10 }}&gt;&#10;    &lt;Box style={{ flex: 1, flexDirection: 'row', gap: 10 }}&gt;&#10;      &lt;Box style={{ flex: 1.2, background: '#0F1423', borderRadius: 4, padding: '13px 18px', flexDirection: 'column' }}&gt;&#10;        &lt;Text style={{ fontSize: 13.5, fontWeight: 'bold', color: '#FBA15C' }}&gt;官方三条安全规则&lt;/Text&gt;&#10;        &lt;Box style={{ marginTop: 10, gap: 7, flex: 1 }}&gt;&#10;          {[&#10;            { n: '01', t: '继承每一个对象的安全上下文', d: '派生属性从计算中用到的每一个对象继承安全性，不是只继承起点那一个' },&#10;            { n: '02', t: '多跳遍历逐跳校验', d: '访问检查在计算的每个对象上执行，包括中间的链接对象，然后值才被组合' },&#10;            { n: '03', t: '集合保留每个值自己的标记', d: '收集成列表或集合时，每个被收集的值保留它自己的安全标记' },&#10;          ].map((x) =&gt; (&#10;            &lt;Box key={x.n} style={{ flex: 1, background: 'rgba(255,255,255,0.07)', borderRadius: 3, borderLeft: '3px solid #FBA15C', padding: '8px 12px', justifyContent: 'center' }}&gt;&#10;              &lt;Box style={{ flexDirection: 'row', alignItems: 'center', gap: 8 }}&gt;&#10;                &lt;Text style={{ fontSize: 11, fontWeight: 'bold', color: '#FBA15C' }}&gt;{x.n}&lt;/Text&gt;&#10;                &lt;Text style={{ fontSize: 12, fontWeight: 'bold', color: '#FFFFFF' }}&gt;{x.t}&lt;/Text&gt;&#10;              &lt;/Box&gt;&#10;              &lt;Text style={{ fontSize: 10.5, color: 'rgba(255,255,255,0.78)', marginTop: 4, lineHeight: 1.45 }}&gt;{x.d}&lt;/Text&gt;&#10;            &lt;/Box&gt;&#10;          ))}&#10;        &lt;/Box&gt;&#10;      &lt;/Box&gt;&#10;&#10;      &lt;Box style={{ flex: 1.25, background: '#F7F7F8', borderRadius: 4, padding: '13px 18px', flexDirection: 'column' }}&gt;&#10;        &lt;Text style={{ fontSize: 13.5, fontWeight: 'bold', color: '#0F1423' }}&gt;一个具体场景：华东区平均订单额&lt;/Text&gt;&#10;        &lt;Text style={{ fontSize: 10.5, color: '#8A8F99', marginTop: 4 }}&gt;口径：华东区全部订单的订单金额求平均，跨「区域 → 客户 → 订单」两跳&lt;/Text&gt;&#10;        &lt;Box style={{ flexDirection: 'row', gap: 10, marginTop: 10, flex: 1 }}&gt;&#10;          &lt;Box style={{ flex: 1, background: '#FFFFFF', borderRadius: 3, borderTop: '3px solid #FA4F24', padding: '10px 12px', flexDirection: 'column' }}&gt;&#10;            &lt;Text style={{ fontSize: 12, fontWeight: 'bold', color: '#0F1423' }}&gt;销售总监&lt;/Text&gt;&#10;            &lt;Text style={{ fontSize: 10.5, color: '#8A8F99', marginTop: 3 }}&gt;可见全部客户与订单&lt;/Text&gt;&#10;            &lt;Text style={{ fontSize: 26, fontWeight: 'bold', color: '#FA4F24', marginTop: 8 }}&gt;¥ 12,400&lt;/Text&gt;&#10;            &lt;Text style={{ fontSize: 10.5, color: '#5A6070', marginTop: 8, lineHeight: 1.45, flex: 1 }}&gt;&#10;              分子含 500 笔涉密订单，分母含全部 3,200 笔。&#10;            &lt;/Text&gt;&#10;          &lt;/Box&gt;&#10;          &lt;Box style={{ flex: 1, background: '#FFFFFF', borderRadius: 3, borderTop: '3px solid #8A8F99', padding: '10px 12px', flexDirection: 'column' }}&gt;&#10;            &lt;Text style={{ fontSize: 12, fontWeight: 'bold', color: '#0F1423' }}&gt;区域运营&lt;/Text&gt;&#10;            &lt;Text style={{ fontSize: 10.5, color: '#8A8F99', marginTop: 3 }}&gt;看不到涉密客户及其订单&lt;/Text&gt;&#10;            &lt;Text style={{ fontSize: 26, fontWeight: 'bold', color: '#3A4050', marginTop: 8 }}&gt;¥ 9,850&lt;/Text&gt;&#10;            &lt;Text style={{ fontSize: 10.5, color: '#5A6070', marginTop: 8, lineHeight: 1.45, flex: 1 }}&gt;&#10;              涉密订单被整条剔除，不是当 0，是不存在。&#10;            &lt;/Text&gt;&#10;          &lt;/Box&gt;&#10;        &lt;/Box&gt;&#10;        &lt;Text style={{ fontSize: 10.5, color: '#C43A17', marginTop: 9, lineHeight: 1.45 }}&gt;&#10;          两个人问的是同一个指标、同一个口径，答案不同，而且&lt;tspan style={{ fontWeight: 'bold' }}&gt;都对&lt;/tspan&gt;。&#10;        &lt;/Text&gt;&#10;      &lt;/Box&gt;&#10;    &lt;/Box&gt;&#10;&#10;    &lt;Box style={{ flex: 0.9, flexDirection: 'row', gap: 10 }}&gt;&#10;      &lt;Box style={{ flex: 1, background: '#FFF3EE', borderRadius: 4, padding: '12px 18px', flexDirection: 'column' }}&gt;&#10;        &lt;Text style={{ fontSize: 13, fontWeight: 'bold', color: '#C43A17' }}&gt;带来的两个必须接受的事实&lt;/Text&gt;&#10;        &lt;Box style={{ marginTop: 9, gap: 6, flex: 1 }}&gt;&#10;          {[&#10;            '横向对比必须先对齐权限：对两个人的数做差之前，先确认他们看的是不是同一批对象',&#10;            '对外汇报的数必须注明权限基线：说清这个数是在「谁能看到什么」的哪一档下算出来的',&#10;          ].map((t, i) =&gt; (&#10;            &lt;Box key={i} style={{ flex: 1, flexDirection: 'row', gap: 8, background: '#FFFFFF', borderRadius: 3, padding: '7px 11px', alignItems: 'center' }}&gt;&#10;              &lt;Text style={{ fontSize: 12, fontWeight: 'bold', color: '#FA4F24' }}&gt;{i + 1}&lt;/Text&gt;&#10;              &lt;Text style={{ fontSize: 11, color: '#3A4050', lineHeight: 1.45, flex: 1 }}&gt;{t}&lt;/Text&gt;&#10;            &lt;/Box&gt;&#10;          ))}&#10;        &lt;/Box&gt;&#10;      &lt;/Box&gt;&#10;&#10;      &lt;Box style={{ flex: 1.3, background: '#0F1423', borderRadius: 4, padding: '12px 18px', flexDirection: 'column' }}&gt;&#10;        &lt;Text style={{ fontSize: 13, fontWeight: 'bold', color: '#FBA15C' }}&gt;最危险的一种分叉：口径写在文档里，值从本体里算&lt;/Text&gt;&#10;        &lt;Text style={{ fontSize: 11, color: 'rgba(255,255,255,0.85)', marginTop: 9, lineHeight: 1.5, flex: 1 }}&gt;&#10;          如果口径定义是一个 Word 文档，而指标值是本体的派生属性，那么两者&lt;tspan style={{ fontWeight: 'bold', color: '#FBA15C' }}&gt;各自独立演进&lt;/tspan&gt;。改了公式没改文档，Agent 读到的是旧口径、算出的是新值；改了文档没改公式，人按新口径理解、机器按旧公式算。&#10;        &lt;/Text&gt;&#10;        &lt;Box style={{ background: 'rgba(250,79,36,0.18)', borderRadius: 3, padding: '8px 11px', marginTop: 8 }}&gt;&#10;          &lt;Text style={{ fontSize: 11, color: 'rgba(255,255,255,0.9)', lineHeight: 1.5 }}&gt;&#10;            对应第九册那句话：策略必须是数据，不是配置。放到指标上就是——&lt;tspan style={{ fontWeight: 'bold', color: '#FBA15C' }}&gt;口径必须是可执行的定义，不是描述性的文档&lt;/tspan&gt;。&#10;          &lt;/Text&gt;&#10;        &lt;/Box&gt;&#10;      &lt;/Box&gt;&#10;    &lt;/Box&gt;&#10;  &lt;/Box&gt;&#10;&#10;  &lt;Box style={{ height: 58, flexDirection: 'row', alignItems: 'center', borderTop: '1px solid #E8E8E8' }}&gt;&#10;    &lt;Box style={{ width: 10, height: 10, background: '#FA4F24' }} /&gt;&#10;    &lt;Text style={{ fontSize: 13, color: '#8A8F99', marginLeft: 12 }}&gt;硕磐机密 · 指标体系咨询方法论&lt;/Text&gt;&#10;    &lt;Text style={{ fontSize: 13, color: '#8A8F99', marginLeft: 'auto' }}&gt;16 / 3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同一个指标，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两个用户看到两个值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——这不是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bug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，是设计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派生属性继承计算中每个对象的安全性，包括多跳遍历里的中间对象</a:t>
            </a:r>
            <a:endParaRPr/>
          </a:p>
        </p:txBody>
      </p:sp>
      <p:sp>
        <p:nvSpPr>
          <p:cNvPr id="438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439" name=""/>
          <p:cNvSpPr/>
          <p:nvPr/>
        </p:nvSpPr>
        <p:spPr>
          <a:xfrm rot="0" flipH="0" flipV="0">
            <a:off x="609600" y="1285875"/>
            <a:ext cx="5324475" cy="2609850"/>
          </a:xfrm>
          <a:prstGeom prst="roundRect">
            <a:avLst>
              <a:gd name="adj" fmla="val 146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781050" y="1409700"/>
            <a:ext cx="4981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官方三条安全规则</a:t>
            </a:r>
            <a:endParaRPr/>
          </a:p>
        </p:txBody>
      </p:sp>
      <p:sp>
        <p:nvSpPr>
          <p:cNvPr id="441" name=""/>
          <p:cNvSpPr/>
          <p:nvPr/>
        </p:nvSpPr>
        <p:spPr>
          <a:xfrm rot="0" flipH="0" flipV="0">
            <a:off x="809625" y="1666875"/>
            <a:ext cx="4981575" cy="657225"/>
          </a:xfrm>
          <a:prstGeom prst="roundRect">
            <a:avLst>
              <a:gd name="adj" fmla="val 4348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442" name=""/>
          <p:cNvSpPr/>
          <p:nvPr/>
        </p:nvSpPr>
        <p:spPr>
          <a:xfrm rot="0" flipH="0" flipV="0">
            <a:off x="809625" y="1666875"/>
            <a:ext cx="4981575" cy="657225"/>
          </a:xfrm>
          <a:custGeom>
            <a:pathLst>
              <a:path w="523" h="69">
                <a:moveTo>
                  <a:pt x="3" y="69"/>
                </a:moveTo>
                <a:cubicBezTo>
                  <a:pt x="1" y="69"/>
                  <a:pt x="0" y="68"/>
                  <a:pt x="0" y="66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69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923925" y="1828800"/>
            <a:ext cx="13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BA15C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1133475" y="1819275"/>
            <a:ext cx="1485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继承每一个对象的安全上下文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923925" y="2000250"/>
            <a:ext cx="472440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派生属性从计算中用到的每一个对象继承安全性，不是只继承起点那一个</a:t>
            </a:r>
            <a:endParaRPr/>
          </a:p>
        </p:txBody>
      </p:sp>
      <p:sp>
        <p:nvSpPr>
          <p:cNvPr id="446" name=""/>
          <p:cNvSpPr/>
          <p:nvPr/>
        </p:nvSpPr>
        <p:spPr>
          <a:xfrm rot="0" flipH="0" flipV="0">
            <a:off x="809625" y="2390775"/>
            <a:ext cx="4981575" cy="657225"/>
          </a:xfrm>
          <a:prstGeom prst="roundRect">
            <a:avLst>
              <a:gd name="adj" fmla="val 4348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447" name=""/>
          <p:cNvSpPr/>
          <p:nvPr/>
        </p:nvSpPr>
        <p:spPr>
          <a:xfrm rot="0" flipH="0" flipV="0">
            <a:off x="809625" y="2390775"/>
            <a:ext cx="4981575" cy="657225"/>
          </a:xfrm>
          <a:custGeom>
            <a:pathLst>
              <a:path w="523" h="69">
                <a:moveTo>
                  <a:pt x="3" y="69"/>
                </a:moveTo>
                <a:cubicBezTo>
                  <a:pt x="1" y="69"/>
                  <a:pt x="0" y="68"/>
                  <a:pt x="0" y="66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69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923925" y="2552700"/>
            <a:ext cx="13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BA15C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1133475" y="2543175"/>
            <a:ext cx="914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多跳遍历逐跳校验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923925" y="2724150"/>
            <a:ext cx="472440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访问检查在计算的每个对象上执行，包括中间的链接对象，然后值才被组合</a:t>
            </a:r>
            <a:endParaRPr/>
          </a:p>
        </p:txBody>
      </p:sp>
      <p:sp>
        <p:nvSpPr>
          <p:cNvPr id="451" name=""/>
          <p:cNvSpPr/>
          <p:nvPr/>
        </p:nvSpPr>
        <p:spPr>
          <a:xfrm rot="0" flipH="0" flipV="0">
            <a:off x="809625" y="3114675"/>
            <a:ext cx="4981575" cy="657225"/>
          </a:xfrm>
          <a:prstGeom prst="roundRect">
            <a:avLst>
              <a:gd name="adj" fmla="val 4348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452" name=""/>
          <p:cNvSpPr/>
          <p:nvPr/>
        </p:nvSpPr>
        <p:spPr>
          <a:xfrm rot="0" flipH="0" flipV="0">
            <a:off x="809625" y="3114675"/>
            <a:ext cx="4981575" cy="657225"/>
          </a:xfrm>
          <a:custGeom>
            <a:pathLst>
              <a:path w="523" h="69">
                <a:moveTo>
                  <a:pt x="3" y="69"/>
                </a:moveTo>
                <a:cubicBezTo>
                  <a:pt x="1" y="69"/>
                  <a:pt x="0" y="68"/>
                  <a:pt x="0" y="66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69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923925" y="3276600"/>
            <a:ext cx="13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BA15C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1133475" y="3267075"/>
            <a:ext cx="1371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集合保留每个值自己的标记</a:t>
            </a:r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923925" y="3448050"/>
            <a:ext cx="472440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收集成列表或集合时，每个被收集的值保留它自己的安全标记</a:t>
            </a:r>
            <a:endParaRPr/>
          </a:p>
        </p:txBody>
      </p:sp>
      <p:sp>
        <p:nvSpPr>
          <p:cNvPr id="456" name=""/>
          <p:cNvSpPr/>
          <p:nvPr/>
        </p:nvSpPr>
        <p:spPr>
          <a:xfrm rot="0" flipH="0" flipV="0">
            <a:off x="6029325" y="1285875"/>
            <a:ext cx="5553075" cy="2609850"/>
          </a:xfrm>
          <a:prstGeom prst="roundRect">
            <a:avLst>
              <a:gd name="adj" fmla="val 146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6200775" y="1409700"/>
            <a:ext cx="5210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0F1423"/>
                </a:solidFill>
                <a:latin typeface="Microsoft YaHei"/>
                <a:ea typeface="Microsoft YaHei"/>
              </a:rPr>
              <a:t>一个具体场景：华东区平均订单额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6200775" y="1609725"/>
            <a:ext cx="52101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口径：华东区全部订单的订单金额求平均，跨「区域</a:t>
            </a:r>
            <a:r>
              <a:rPr lang="en-US" sz="788">
                <a:solidFill>
                  <a:srgbClr val="8A8F9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客户</a:t>
            </a:r>
            <a:r>
              <a:rPr lang="en-US" sz="788">
                <a:solidFill>
                  <a:srgbClr val="8A8F9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订单」两跳</a:t>
            </a:r>
            <a:endParaRPr/>
          </a:p>
        </p:txBody>
      </p:sp>
      <p:sp>
        <p:nvSpPr>
          <p:cNvPr id="459" name=""/>
          <p:cNvSpPr/>
          <p:nvPr/>
        </p:nvSpPr>
        <p:spPr>
          <a:xfrm rot="0" flipH="0" flipV="0">
            <a:off x="6200775" y="1857375"/>
            <a:ext cx="2562225" cy="1676400"/>
          </a:xfrm>
          <a:prstGeom prst="roundRect">
            <a:avLst>
              <a:gd name="adj" fmla="val 170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0" name=""/>
          <p:cNvSpPr/>
          <p:nvPr/>
        </p:nvSpPr>
        <p:spPr>
          <a:xfrm rot="0" flipH="0" flipV="0">
            <a:off x="6200775" y="1857375"/>
            <a:ext cx="2562225" cy="1676400"/>
          </a:xfrm>
          <a:custGeom>
            <a:pathLst>
              <a:path w="269" h="176">
                <a:moveTo>
                  <a:pt x="266" y="0"/>
                </a:moveTo>
                <a:cubicBezTo>
                  <a:pt x="268" y="0"/>
                  <a:pt x="269" y="1"/>
                  <a:pt x="269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66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6315075" y="1952625"/>
            <a:ext cx="2333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销售总监</a:t>
            </a:r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6315075" y="2124075"/>
            <a:ext cx="23336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可见全部客户与订单</a:t>
            </a:r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6315075" y="2324100"/>
            <a:ext cx="23336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A4F24"/>
                </a:solidFill>
                <a:latin typeface="Microsoft YaHei"/>
                <a:ea typeface="Microsoft YaHei"/>
              </a:rPr>
              <a:t>¥ 12,400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6315075" y="2705100"/>
            <a:ext cx="2333625" cy="704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分子含</a:t>
            </a:r>
            <a:r>
              <a:rPr lang="en-US" sz="788">
                <a:solidFill>
                  <a:srgbClr val="5A6070"/>
                </a:solidFill>
                <a:latin typeface="Microsoft YaHei"/>
                <a:ea typeface="Microsoft YaHei"/>
              </a:rPr>
              <a:t xml:space="preserve"> 500 </a:t>
            </a: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笔涉密订单，分母含全部</a:t>
            </a:r>
            <a:r>
              <a:rPr lang="en-US" sz="788">
                <a:solidFill>
                  <a:srgbClr val="5A6070"/>
                </a:solidFill>
                <a:latin typeface="Microsoft YaHei"/>
                <a:ea typeface="Microsoft YaHei"/>
              </a:rPr>
              <a:t xml:space="preserve"> 3,200 </a:t>
            </a: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笔。</a:t>
            </a:r>
            <a:endParaRPr/>
          </a:p>
        </p:txBody>
      </p:sp>
      <p:sp>
        <p:nvSpPr>
          <p:cNvPr id="465" name=""/>
          <p:cNvSpPr/>
          <p:nvPr/>
        </p:nvSpPr>
        <p:spPr>
          <a:xfrm rot="0" flipH="0" flipV="0">
            <a:off x="8858250" y="1857375"/>
            <a:ext cx="2552700" cy="1676400"/>
          </a:xfrm>
          <a:prstGeom prst="roundRect">
            <a:avLst>
              <a:gd name="adj" fmla="val 170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6" name=""/>
          <p:cNvSpPr/>
          <p:nvPr/>
        </p:nvSpPr>
        <p:spPr>
          <a:xfrm rot="0" flipH="0" flipV="0">
            <a:off x="8858250" y="1857375"/>
            <a:ext cx="2552700" cy="1676400"/>
          </a:xfrm>
          <a:custGeom>
            <a:pathLst>
              <a:path w="268" h="176">
                <a:moveTo>
                  <a:pt x="265" y="0"/>
                </a:moveTo>
                <a:cubicBezTo>
                  <a:pt x="267" y="0"/>
                  <a:pt x="268" y="1"/>
                  <a:pt x="268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65" y="0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8972550" y="1952625"/>
            <a:ext cx="2324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区域运营</a:t>
            </a:r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8972550" y="2124075"/>
            <a:ext cx="23241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看不到涉密客户及其订单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8972550" y="2324100"/>
            <a:ext cx="23241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3A4050"/>
                </a:solidFill>
                <a:latin typeface="Microsoft YaHei"/>
                <a:ea typeface="Microsoft YaHei"/>
              </a:rPr>
              <a:t>¥ 9,850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8972550" y="2705100"/>
            <a:ext cx="2324100" cy="704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涉密订单被整条剔除，不是当</a:t>
            </a:r>
            <a:r>
              <a:rPr lang="en-US" sz="788">
                <a:solidFill>
                  <a:srgbClr val="5A6070"/>
                </a:solidFill>
                <a:latin typeface="Microsoft YaHei"/>
                <a:ea typeface="Microsoft YaHei"/>
              </a:rPr>
              <a:t xml:space="preserve"> 0</a:t>
            </a: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，是不存在。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6200775" y="3590925"/>
            <a:ext cx="5210175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C43A17"/>
                </a:solidFill>
                <a:latin typeface="Microsoft YaHei"/>
                <a:ea typeface="Microsoft YaHei"/>
              </a:rPr>
              <a:t>两个人问的是同一个指标、同一个口径，答案不同，而且</a:t>
            </a:r>
            <a:r>
              <a:rPr lang="zh-CN" sz="788">
                <a:solidFill>
                  <a:srgbClr val="C43A17"/>
                </a:solidFill>
                <a:latin typeface="Microsoft YaHei"/>
                <a:ea typeface="Microsoft YaHei"/>
              </a:rPr>
              <a:t>都对</a:t>
            </a:r>
            <a:r>
              <a:rPr lang="zh-CN" sz="788">
                <a:solidFill>
                  <a:srgbClr val="C43A17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72" name=""/>
          <p:cNvSpPr/>
          <p:nvPr/>
        </p:nvSpPr>
        <p:spPr>
          <a:xfrm rot="0" flipH="0" flipV="0">
            <a:off x="609600" y="3990975"/>
            <a:ext cx="4733925" cy="1647825"/>
          </a:xfrm>
          <a:prstGeom prst="roundRect">
            <a:avLst>
              <a:gd name="adj" fmla="val 2312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781050" y="4105275"/>
            <a:ext cx="4391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带来的两个必须接受的事实</a:t>
            </a:r>
            <a:endParaRPr/>
          </a:p>
        </p:txBody>
      </p:sp>
      <p:sp>
        <p:nvSpPr>
          <p:cNvPr id="474" name=""/>
          <p:cNvSpPr/>
          <p:nvPr/>
        </p:nvSpPr>
        <p:spPr>
          <a:xfrm rot="0" flipH="0" flipV="0">
            <a:off x="781050" y="4343400"/>
            <a:ext cx="4391025" cy="561975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885825" y="4552950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1038225" y="4533900"/>
            <a:ext cx="402907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横向对比必须先对齐权限：对两个人的数做差之前，先确认他们看的是不是同一批对象</a:t>
            </a:r>
            <a:endParaRPr/>
          </a:p>
        </p:txBody>
      </p:sp>
      <p:sp>
        <p:nvSpPr>
          <p:cNvPr id="477" name=""/>
          <p:cNvSpPr/>
          <p:nvPr/>
        </p:nvSpPr>
        <p:spPr>
          <a:xfrm rot="0" flipH="0" flipV="0">
            <a:off x="781050" y="4962525"/>
            <a:ext cx="4391025" cy="561975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885825" y="5172075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1038225" y="5153025"/>
            <a:ext cx="402907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对外汇报的数必须注明权限基线：说清这个数是在「谁能看到什么」的哪一档下算出来的</a:t>
            </a:r>
            <a:endParaRPr/>
          </a:p>
        </p:txBody>
      </p:sp>
      <p:sp>
        <p:nvSpPr>
          <p:cNvPr id="480" name=""/>
          <p:cNvSpPr/>
          <p:nvPr/>
        </p:nvSpPr>
        <p:spPr>
          <a:xfrm rot="0" flipH="0" flipV="0">
            <a:off x="5438775" y="3990975"/>
            <a:ext cx="6143625" cy="1647825"/>
          </a:xfrm>
          <a:prstGeom prst="roundRect">
            <a:avLst>
              <a:gd name="adj" fmla="val 231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5610225" y="4105275"/>
            <a:ext cx="5800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BA15C"/>
                </a:solidFill>
                <a:latin typeface="Microsoft YaHei"/>
                <a:ea typeface="Microsoft YaHei"/>
              </a:rPr>
              <a:t>最危险的一种分叉：口径写在文档里，值从本体里算</a:t>
            </a:r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5610225" y="4343400"/>
            <a:ext cx="5800725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如果口径定义是一个</a:t>
            </a:r>
            <a:r>
              <a:rPr lang="en-US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Word </a:t>
            </a:r>
            <a:r>
              <a:rPr lang="zh-CN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文档，而指标值是本体的派生属性，那么两者</a:t>
            </a:r>
            <a:r>
              <a:rPr lang="zh-CN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各自独立演进</a:t>
            </a:r>
            <a:r>
              <a:rPr lang="zh-CN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。改了公式没改文档，</a:t>
            </a:r>
            <a:r>
              <a:rPr lang="en-US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读到的是旧口径、算出的是新值；改了文档没改公式，人按新口径理解、机器按旧公式算。</a:t>
            </a:r>
            <a:endParaRPr/>
          </a:p>
        </p:txBody>
      </p:sp>
      <p:sp>
        <p:nvSpPr>
          <p:cNvPr id="483" name=""/>
          <p:cNvSpPr/>
          <p:nvPr/>
        </p:nvSpPr>
        <p:spPr>
          <a:xfrm rot="0" flipH="0" flipV="0">
            <a:off x="5610225" y="5181600"/>
            <a:ext cx="5800725" cy="342900"/>
          </a:xfrm>
          <a:prstGeom prst="roundRect">
            <a:avLst>
              <a:gd name="adj" fmla="val 8333"/>
            </a:avLst>
          </a:prstGeom>
          <a:solidFill>
            <a:srgbClr val="FA4F24">
              <a:alpha val="18000"/>
            </a:srgbClr>
          </a:solidFill>
          <a:ln/>
        </p:spPr>
        <p:txBody>
          <a:bodyPr/>
          <a:p/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5715000" y="5257800"/>
            <a:ext cx="5591175" cy="1905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对应第九册那句话：策略必须是数据，不是配置。放到指标上就是——</a:t>
            </a:r>
            <a:r>
              <a:rPr lang="zh-CN" sz="8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口径必须是可执行的定义，不是描述性的文档</a:t>
            </a:r>
            <a:r>
              <a:rPr lang="zh-CN" sz="8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85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486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指标体系咨询方法论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16 / 30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489" name="" descr="&lt;Slide style={{ width: 1280, height: 720, background: '#FFFFFF', padding: '24px 64px 0' }}&gt;&#10;  &lt;Box style={{ height: 96, flexDirection: 'column', justifyContent: 'flex-start' }}&gt;&#10;    &lt;Text style={{ fontSize: 32, fontWeight: 'bold', color: '#0F1423' }}&gt;&#10;      口径变更：它是一次&lt;span style={{ color: '#FA4F24' }}&gt;高风险动作&lt;/span&gt;，不是一次数据修改&#10;    &lt;/Text&gt;&#10;    &lt;Text style={{ fontSize: 20, color: '#8A8F99', marginTop: 8 }}&gt;改公式不动历史、不留快照、不做双版本比对——三者缺一，就会出现「上个月的数被这个月的口径污染」&lt;/Text&gt;&#10;  &lt;/Box&gt;&#10;  &lt;Box style={{ height: 1, background: '#E8E8E8' }} /&gt;&#10;&#10;  &lt;Box style={{ paddingTop: 14, paddingBottom: 8, height: 479, flexDirection: 'column', gap: 10 }}&gt;&#10;    &lt;Box style={{ flex: 1, flexDirection: 'row', gap: 10 }}&gt;&#10;      &lt;Box style={{ flex: 1.1, background: '#F7F7F8', borderRadius: 4, padding: '12px 16px', flexDirection: 'column' }}&gt;&#10;        &lt;Text style={{ fontSize: 14, fontWeight: 'bold', color: '#0F1423' }}&gt;变更的五种类型：处置方式各不相同&lt;/Text&gt;&#10;        &lt;Box style={{ marginTop: 9, gap: 5, flex: 1 }}&gt;&#10;          {[&#10;            { t: '口径扩展', d: '加一个新维度或新过滤项，原有数不变', r: '兼容发布，直接生效' },&#10;            { t: '口径收紧', d: '原本计入的某类单据现在排除', r: '历史值会变，必须双版本并行' },&#10;            { t: '口径重构', d: '公式或粒度整体改写', r: '视为新指标，旧指标废止并留映射' },&#10;            { t: '数据源切换', d: '主数据或管道换源，公式不变', r: '影响面最大，须全量回归比对' },&#10;            { t: '指标废止', d: '不再使用', r: '保留标识与映射，禁止物理删除' },&#10;          ].map((x) =&gt; (&#10;            &lt;Box key={x.t} style={{ flex: 1, flexDirection: 'row', alignItems: 'center', gap: 9, background: '#FFFFFF', borderRadius: 3, borderLeft: '3px solid #FA4F24', padding: '0 10px' }}&gt;&#10;              &lt;Text style={{ fontSize: 11.5, fontWeight: 'bold', color: '#0F1423', width: 78 }}&gt;{x.t}&lt;/Text&gt;&#10;              &lt;Text style={{ fontSize: 10.5, color: '#5A6070', flex: 1, lineHeight: 1.35 }}&gt;{x.d}&lt;/Text&gt;&#10;              &lt;Text style={{ fontSize: 10, fontWeight: 'bold', color: '#C43A17', width: 118 }}&gt;{x.r}&lt;/Text&gt;&#10;            &lt;/Box&gt;&#10;          ))}&#10;        &lt;/Box&gt;&#10;      &lt;/Box&gt;&#10;&#10;      &lt;Box style={{ flex: 1, background: '#0F1423', borderRadius: 4, padding: '12px 18px', flexDirection: 'column' }}&gt;&#10;        &lt;Text style={{ fontSize: 13.5, fontWeight: 'bold', color: '#FBA15C' }}&gt;变更提案必须附的五项&lt;/Text&gt;&#10;        &lt;Box style={{ marginTop: 10, gap: 6, flex: 1 }}&gt;&#10;          {[&#10;            '谁提的，依据什么业务理由',&#10;            '新旧口径的逐条差异说明',&#10;            '影响面清单：哪些看板、哪些报表、哪些 Agent 工具、哪些下游模型',&#10;            '双版本比对的样本区间与结论（差异必须可解释）',&#10;            '回滚预案：切回旧版本的判定条件与操作步骤',&#10;          ].map((t, i) =&gt; (&#10;            &lt;Box key={i} style={{ flex: 1, flexDirection: 'row', gap: 8, alignItems: 'center', background: 'rgba(255,255,255,0.07)', borderRadius: 3, padding: '0 11px' }}&gt;&#10;              &lt;Text style={{ fontSize: 11, fontWeight: 'bold', color: '#FBA15C' }}&gt;{i + 1}&lt;/Text&gt;&#10;              &lt;Text style={{ fontSize: 10.5, color: 'rgba(255,255,255,0.85)', lineHeight: 1.4, flex: 1 }}&gt;{t}&lt;/Text&gt;&#10;            &lt;/Box&gt;&#10;          ))}&#10;        &lt;/Box&gt;&#10;      &lt;/Box&gt;&#10;&#10;      &lt;Box style={{ flex: 1, background: '#FFF3EE', borderRadius: 4, padding: '12px 16px', flexDirection: 'column' }}&gt;&#10;        &lt;Text style={{ fontSize: 13.5, fontWeight: 'bold', color: '#C43A17' }}&gt;历史怎么处理：三条不能破的规则&lt;/Text&gt;&#10;        &lt;Box style={{ marginTop: 10, gap: 7, flex: 1 }}&gt;&#10;          {[&#10;            { n: '一', t: '历史不重算', d: '口径变更不回头修改已发布期间的值。每个期间用当时生效的口径算，各存各的。' },&#10;            { n: '二', t: '版本可对照', d: '要能同时看到 v2.1 与 v2.2 的结果对比，差异逐条能解释，才能判断能不能切。' },&#10;            { n: '三', t: '切换可回退', d: '切换是一道开关，不是重跑。回退要能在分钟级完成，不依赖重新跑历史数据。' },&#10;          ].map((x) =&gt; (&#10;            &lt;Box key={x.n} style={{ flex: 1, background: '#FFFFFF', borderRadius: 3, padding: '8px 11px', justifyContent: 'center' }}&gt;&#10;              &lt;Box style={{ flexDirection: 'row', alignItems: 'center', gap: 8 }}&gt;&#10;                &lt;Text style={{ fontSize: 12, fontWeight: 'bold', color: '#FA4F24' }}&gt;{x.n}&lt;/Text&gt;&#10;                &lt;Text style={{ fontSize: 11.5, fontWeight: 'bold', color: '#0F1423' }}&gt;{x.t}&lt;/Text&gt;&#10;              &lt;/Box&gt;&#10;              &lt;Text style={{ fontSize: 10.5, color: '#5A6070', marginTop: 4, lineHeight: 1.45 }}&gt;{x.d}&lt;/Text&gt;&#10;            &lt;/Box&gt;&#10;          ))}&#10;        &lt;/Box&gt;&#10;      &lt;/Box&gt;&#10;    &lt;/Box&gt;&#10;&#10;    &lt;Box style={{ height: 116, background: '#F7F7F8', borderRadius: 4, padding: '11px 18px', flexDirection: 'column' }}&gt;&#10;      &lt;Text style={{ fontSize: 13, fontWeight: 'bold', color: '#0F1423' }}&gt;静默失效的检出：四类规则，缺一不可&lt;/Text&gt;&#10;      &lt;Box style={{ flexDirection: 'row', gap: 9, marginTop: 9, flex: 1 }}&gt;&#10;        {[&#10;          { t: '同名检测', d: '定期扫描注册表与实际使用中的指标名，检出同名不同义的新增', c: '#FA4F24' },&#10;          { t: '粒度与时间差异检测', d: '同一指标在不同消费方的粒度与时间口径比对，差异即告警', c: '#F87D2F' },&#10;          { t: '突变检测', d: '同环比超阈值告警；连续多期取整数值（说明中间被人工调整过）', c: '#C43A17' },&#10;          { t: '孤儿指标检测', d: '注册了但无人消费、长期无访问；或仍在消费但已废止', c: '#8A8F99' },&#10;        ].map((x) =&gt; (&#10;          &lt;Box key={x.t} style={{ flex: 1, background: '#FFFFFF', borderRadius: 3, borderTop: '3px solid ' + x.c, padding: '8px 12px', justifyContent: 'center' }}&gt;&#10;            &lt;Text style={{ fontSize: 12, fontWeight: 'bold', color: '#0F1423' }}&gt;{x.t}&lt;/Text&gt;&#10;            &lt;Text style={{ fontSize: 10.5, color: '#5A6070', marginTop: 4, lineHeight: 1.45 }}&gt;{x.d}&lt;/Text&gt;&#10;          &lt;/Box&gt;&#10;        ))}&#10;      &lt;/Box&gt;&#10;    &lt;/Box&gt;&#10;  &lt;/Box&gt;&#10;&#10;  &lt;Box style={{ height: 58, flexDirection: 'row', alignItems: 'center', borderTop: '1px solid #E8E8E8' }}&gt;&#10;    &lt;Box style={{ width: 10, height: 10, background: '#FA4F24' }} /&gt;&#10;    &lt;Text style={{ fontSize: 13, color: '#8A8F99', marginLeft: 12 }}&gt;硕磐机密 · 指标体系咨询方法论&lt;/Text&gt;&#10;    &lt;Text style={{ fontSize: 13, color: '#8A8F99', marginLeft: 'auto' }}&gt;17 / 3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口径变更：它是一次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高风险动作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，不是一次数据修改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改公式不动历史、不留快照、不做双版本比对——三者缺一，就会出现「上个月的数被这个月的口径污染」</a:t>
            </a:r>
            <a:endParaRPr/>
          </a:p>
        </p:txBody>
      </p:sp>
      <p:sp>
        <p:nvSpPr>
          <p:cNvPr id="493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494" name=""/>
          <p:cNvSpPr/>
          <p:nvPr/>
        </p:nvSpPr>
        <p:spPr>
          <a:xfrm rot="0" flipH="0" flipV="0">
            <a:off x="609600" y="1285875"/>
            <a:ext cx="3829050" cy="3152775"/>
          </a:xfrm>
          <a:prstGeom prst="roundRect">
            <a:avLst>
              <a:gd name="adj" fmla="val 120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762000" y="1400175"/>
            <a:ext cx="3524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变更的五种类型：处置方式各不相同</a:t>
            </a:r>
            <a:endParaRPr/>
          </a:p>
        </p:txBody>
      </p:sp>
      <p:sp>
        <p:nvSpPr>
          <p:cNvPr id="496" name=""/>
          <p:cNvSpPr/>
          <p:nvPr/>
        </p:nvSpPr>
        <p:spPr>
          <a:xfrm rot="0" flipH="0" flipV="0">
            <a:off x="790575" y="1647825"/>
            <a:ext cx="3524250" cy="542925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7" name=""/>
          <p:cNvSpPr/>
          <p:nvPr/>
        </p:nvSpPr>
        <p:spPr>
          <a:xfrm rot="0" flipH="0" flipV="0">
            <a:off x="790575" y="1647825"/>
            <a:ext cx="3524250" cy="542925"/>
          </a:xfrm>
          <a:custGeom>
            <a:pathLst>
              <a:path w="370" h="57">
                <a:moveTo>
                  <a:pt x="3" y="57"/>
                </a:moveTo>
                <a:cubicBezTo>
                  <a:pt x="1" y="57"/>
                  <a:pt x="0" y="56"/>
                  <a:pt x="0" y="54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7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885825" y="1857375"/>
            <a:ext cx="7429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口径扩展</a:t>
            </a:r>
            <a:endParaRPr/>
          </a:p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1714500" y="1752600"/>
            <a:ext cx="1266825" cy="333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加一个新维度或新过滤项，原有数不变</a:t>
            </a:r>
            <a:endParaRPr/>
          </a:p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3067050" y="1866900"/>
            <a:ext cx="11239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C43A17"/>
                </a:solidFill>
                <a:latin typeface="Microsoft YaHei"/>
                <a:ea typeface="Microsoft YaHei"/>
              </a:rPr>
              <a:t>兼容发布，直接生效</a:t>
            </a:r>
            <a:endParaRPr/>
          </a:p>
        </p:txBody>
      </p:sp>
      <p:sp>
        <p:nvSpPr>
          <p:cNvPr id="501" name=""/>
          <p:cNvSpPr/>
          <p:nvPr/>
        </p:nvSpPr>
        <p:spPr>
          <a:xfrm rot="0" flipH="0" flipV="0">
            <a:off x="790575" y="2238375"/>
            <a:ext cx="3524250" cy="5334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2" name=""/>
          <p:cNvSpPr/>
          <p:nvPr/>
        </p:nvSpPr>
        <p:spPr>
          <a:xfrm rot="0" flipH="0" flipV="0">
            <a:off x="790575" y="2238375"/>
            <a:ext cx="3524250" cy="533400"/>
          </a:xfrm>
          <a:custGeom>
            <a:pathLst>
              <a:path w="370" h="56">
                <a:moveTo>
                  <a:pt x="3" y="56"/>
                </a:moveTo>
                <a:cubicBezTo>
                  <a:pt x="1" y="56"/>
                  <a:pt x="0" y="55"/>
                  <a:pt x="0" y="5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885825" y="2438400"/>
            <a:ext cx="7429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口径收紧</a:t>
            </a:r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1714500" y="2343150"/>
            <a:ext cx="1266825" cy="333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原本计入的某类单据现在排除</a:t>
            </a:r>
            <a:endParaRPr/>
          </a:p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3067050" y="2390775"/>
            <a:ext cx="1123950" cy="228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C43A17"/>
                </a:solidFill>
                <a:latin typeface="Microsoft YaHei"/>
                <a:ea typeface="Microsoft YaHei"/>
              </a:rPr>
              <a:t>历史值会变，必须双版本并行</a:t>
            </a:r>
            <a:endParaRPr/>
          </a:p>
        </p:txBody>
      </p:sp>
      <p:sp>
        <p:nvSpPr>
          <p:cNvPr id="506" name=""/>
          <p:cNvSpPr/>
          <p:nvPr/>
        </p:nvSpPr>
        <p:spPr>
          <a:xfrm rot="0" flipH="0" flipV="0">
            <a:off x="790575" y="2819400"/>
            <a:ext cx="3524250" cy="43815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7" name=""/>
          <p:cNvSpPr/>
          <p:nvPr/>
        </p:nvSpPr>
        <p:spPr>
          <a:xfrm rot="0" flipH="0" flipV="0">
            <a:off x="790575" y="2819400"/>
            <a:ext cx="3524250" cy="438150"/>
          </a:xfrm>
          <a:custGeom>
            <a:pathLst>
              <a:path w="370" h="46">
                <a:moveTo>
                  <a:pt x="3" y="46"/>
                </a:moveTo>
                <a:cubicBezTo>
                  <a:pt x="1" y="46"/>
                  <a:pt x="0" y="45"/>
                  <a:pt x="0" y="4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885825" y="2971800"/>
            <a:ext cx="7429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口径重构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1714500" y="2952750"/>
            <a:ext cx="126682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公式或粒度整体改写</a:t>
            </a:r>
            <a:endParaRPr/>
          </a:p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3067050" y="2924175"/>
            <a:ext cx="1123950" cy="228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C43A17"/>
                </a:solidFill>
                <a:latin typeface="Microsoft YaHei"/>
                <a:ea typeface="Microsoft YaHei"/>
              </a:rPr>
              <a:t>视为新指标，旧指标废止并留映射</a:t>
            </a:r>
            <a:endParaRPr/>
          </a:p>
        </p:txBody>
      </p:sp>
      <p:sp>
        <p:nvSpPr>
          <p:cNvPr id="511" name=""/>
          <p:cNvSpPr/>
          <p:nvPr/>
        </p:nvSpPr>
        <p:spPr>
          <a:xfrm rot="0" flipH="0" flipV="0">
            <a:off x="790575" y="3305175"/>
            <a:ext cx="3524250" cy="5334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2" name=""/>
          <p:cNvSpPr/>
          <p:nvPr/>
        </p:nvSpPr>
        <p:spPr>
          <a:xfrm rot="0" flipH="0" flipV="0">
            <a:off x="790575" y="3305175"/>
            <a:ext cx="3524250" cy="533400"/>
          </a:xfrm>
          <a:custGeom>
            <a:pathLst>
              <a:path w="370" h="56">
                <a:moveTo>
                  <a:pt x="3" y="56"/>
                </a:moveTo>
                <a:cubicBezTo>
                  <a:pt x="1" y="56"/>
                  <a:pt x="0" y="55"/>
                  <a:pt x="0" y="5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885825" y="3505200"/>
            <a:ext cx="7429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数据源切换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1714500" y="3409950"/>
            <a:ext cx="1266825" cy="333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主数据或管道换源，公式不变</a:t>
            </a:r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3067050" y="3457575"/>
            <a:ext cx="1123950" cy="228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C43A17"/>
                </a:solidFill>
                <a:latin typeface="Microsoft YaHei"/>
                <a:ea typeface="Microsoft YaHei"/>
              </a:rPr>
              <a:t>影响面最大，须全量回归比对</a:t>
            </a:r>
            <a:endParaRPr/>
          </a:p>
        </p:txBody>
      </p:sp>
      <p:sp>
        <p:nvSpPr>
          <p:cNvPr id="516" name=""/>
          <p:cNvSpPr/>
          <p:nvPr/>
        </p:nvSpPr>
        <p:spPr>
          <a:xfrm rot="0" flipH="0" flipV="0">
            <a:off x="790575" y="3886200"/>
            <a:ext cx="3524250" cy="43815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7" name=""/>
          <p:cNvSpPr/>
          <p:nvPr/>
        </p:nvSpPr>
        <p:spPr>
          <a:xfrm rot="0" flipH="0" flipV="0">
            <a:off x="790575" y="3886200"/>
            <a:ext cx="3524250" cy="438150"/>
          </a:xfrm>
          <a:custGeom>
            <a:pathLst>
              <a:path w="370" h="46">
                <a:moveTo>
                  <a:pt x="3" y="46"/>
                </a:moveTo>
                <a:cubicBezTo>
                  <a:pt x="1" y="46"/>
                  <a:pt x="0" y="45"/>
                  <a:pt x="0" y="4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885825" y="4038600"/>
            <a:ext cx="7429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指标废止</a:t>
            </a:r>
            <a:endParaRPr/>
          </a:p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1714500" y="4019550"/>
            <a:ext cx="126682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不再使用</a:t>
            </a:r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3067050" y="3990975"/>
            <a:ext cx="1123950" cy="228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C43A17"/>
                </a:solidFill>
                <a:latin typeface="Microsoft YaHei"/>
                <a:ea typeface="Microsoft YaHei"/>
              </a:rPr>
              <a:t>保留标识与映射，禁止物理删除</a:t>
            </a:r>
            <a:endParaRPr/>
          </a:p>
        </p:txBody>
      </p:sp>
      <p:sp>
        <p:nvSpPr>
          <p:cNvPr id="521" name=""/>
          <p:cNvSpPr/>
          <p:nvPr/>
        </p:nvSpPr>
        <p:spPr>
          <a:xfrm rot="0" flipH="0" flipV="0">
            <a:off x="4533900" y="1285875"/>
            <a:ext cx="3476625" cy="3152775"/>
          </a:xfrm>
          <a:prstGeom prst="roundRect">
            <a:avLst>
              <a:gd name="adj" fmla="val 1208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4705350" y="1400175"/>
            <a:ext cx="3133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变更提案必须附的五项</a:t>
            </a:r>
            <a:endParaRPr/>
          </a:p>
        </p:txBody>
      </p:sp>
      <p:sp>
        <p:nvSpPr>
          <p:cNvPr id="523" name=""/>
          <p:cNvSpPr/>
          <p:nvPr/>
        </p:nvSpPr>
        <p:spPr>
          <a:xfrm rot="0" flipH="0" flipV="0">
            <a:off x="4705350" y="1657350"/>
            <a:ext cx="3133725" cy="457200"/>
          </a:xfrm>
          <a:prstGeom prst="roundRect">
            <a:avLst>
              <a:gd name="adj" fmla="val 6250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4810125" y="181927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BA15C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4953000" y="1800225"/>
            <a:ext cx="278130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谁提的，依据什么业务理由</a:t>
            </a:r>
            <a:endParaRPr/>
          </a:p>
        </p:txBody>
      </p:sp>
      <p:sp>
        <p:nvSpPr>
          <p:cNvPr id="526" name=""/>
          <p:cNvSpPr/>
          <p:nvPr/>
        </p:nvSpPr>
        <p:spPr>
          <a:xfrm rot="0" flipH="0" flipV="0">
            <a:off x="4705350" y="2171700"/>
            <a:ext cx="3133725" cy="447675"/>
          </a:xfrm>
          <a:prstGeom prst="roundRect">
            <a:avLst>
              <a:gd name="adj" fmla="val 6383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4810125" y="233362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BA15C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4953000" y="2314575"/>
            <a:ext cx="278130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新旧口径的逐条差异说明</a:t>
            </a:r>
            <a:endParaRPr/>
          </a:p>
        </p:txBody>
      </p:sp>
      <p:sp>
        <p:nvSpPr>
          <p:cNvPr id="529" name=""/>
          <p:cNvSpPr/>
          <p:nvPr/>
        </p:nvSpPr>
        <p:spPr>
          <a:xfrm rot="0" flipH="0" flipV="0">
            <a:off x="4705350" y="2676525"/>
            <a:ext cx="3133725" cy="628650"/>
          </a:xfrm>
          <a:prstGeom prst="roundRect">
            <a:avLst>
              <a:gd name="adj" fmla="val 4545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4810125" y="292417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BA15C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4953000" y="2819400"/>
            <a:ext cx="2781300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78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影响面清单：哪些看板、哪些报表、哪些</a:t>
            </a:r>
            <a:r>
              <a:rPr lang="en-US" sz="78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78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工具、哪些下游模型</a:t>
            </a:r>
            <a:endParaRPr/>
          </a:p>
        </p:txBody>
      </p:sp>
      <p:sp>
        <p:nvSpPr>
          <p:cNvPr id="532" name=""/>
          <p:cNvSpPr/>
          <p:nvPr/>
        </p:nvSpPr>
        <p:spPr>
          <a:xfrm rot="0" flipH="0" flipV="0">
            <a:off x="4705350" y="3362325"/>
            <a:ext cx="3133725" cy="447675"/>
          </a:xfrm>
          <a:prstGeom prst="roundRect">
            <a:avLst>
              <a:gd name="adj" fmla="val 6383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4810125" y="352425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BA15C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4953000" y="3505200"/>
            <a:ext cx="278130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双版本比对的样本区间与结论（差异必须可解释）</a:t>
            </a:r>
            <a:endParaRPr/>
          </a:p>
        </p:txBody>
      </p:sp>
      <p:sp>
        <p:nvSpPr>
          <p:cNvPr id="535" name=""/>
          <p:cNvSpPr/>
          <p:nvPr/>
        </p:nvSpPr>
        <p:spPr>
          <a:xfrm rot="0" flipH="0" flipV="0">
            <a:off x="4705350" y="3867150"/>
            <a:ext cx="3133725" cy="457200"/>
          </a:xfrm>
          <a:prstGeom prst="roundRect">
            <a:avLst>
              <a:gd name="adj" fmla="val 6250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4810125" y="402907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BA15C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4953000" y="4010025"/>
            <a:ext cx="278130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回滚预案：切回旧版本的判定条件与操作步骤</a:t>
            </a:r>
            <a:endParaRPr/>
          </a:p>
        </p:txBody>
      </p:sp>
      <p:sp>
        <p:nvSpPr>
          <p:cNvPr id="538" name=""/>
          <p:cNvSpPr/>
          <p:nvPr/>
        </p:nvSpPr>
        <p:spPr>
          <a:xfrm rot="0" flipH="0" flipV="0">
            <a:off x="8105775" y="1285875"/>
            <a:ext cx="3476625" cy="3152775"/>
          </a:xfrm>
          <a:prstGeom prst="roundRect">
            <a:avLst>
              <a:gd name="adj" fmla="val 1208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8258175" y="1400175"/>
            <a:ext cx="3171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C43A17"/>
                </a:solidFill>
                <a:latin typeface="Microsoft YaHei"/>
                <a:ea typeface="Microsoft YaHei"/>
              </a:rPr>
              <a:t>历史怎么处理：三条不能破的规则</a:t>
            </a:r>
            <a:endParaRPr/>
          </a:p>
        </p:txBody>
      </p:sp>
      <p:sp>
        <p:nvSpPr>
          <p:cNvPr id="540" name=""/>
          <p:cNvSpPr/>
          <p:nvPr/>
        </p:nvSpPr>
        <p:spPr>
          <a:xfrm rot="0" flipH="0" flipV="0">
            <a:off x="8258175" y="1657350"/>
            <a:ext cx="3171825" cy="847725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8362950" y="1819275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一</a:t>
            </a:r>
            <a:endParaRPr/>
          </a:p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8553450" y="1828800"/>
            <a:ext cx="552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历史不重算</a:t>
            </a:r>
            <a:endParaRPr/>
          </a:p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8362950" y="2000250"/>
            <a:ext cx="2962275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口径变更不回头修改已发布期间的值。每个期间用当时生效的口径算，各存各的。</a:t>
            </a:r>
            <a:endParaRPr/>
          </a:p>
        </p:txBody>
      </p:sp>
      <p:sp>
        <p:nvSpPr>
          <p:cNvPr id="544" name=""/>
          <p:cNvSpPr/>
          <p:nvPr/>
        </p:nvSpPr>
        <p:spPr>
          <a:xfrm rot="0" flipH="0" flipV="0">
            <a:off x="8258175" y="2571750"/>
            <a:ext cx="3171825" cy="83820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8362950" y="2724150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二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8553450" y="2733675"/>
            <a:ext cx="552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版本可对照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8362950" y="2905125"/>
            <a:ext cx="2962275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要能同时看到</a:t>
            </a:r>
            <a:r>
              <a:rPr lang="en-US" sz="788">
                <a:solidFill>
                  <a:srgbClr val="5A6070"/>
                </a:solidFill>
                <a:latin typeface="Microsoft YaHei"/>
                <a:ea typeface="Microsoft YaHei"/>
              </a:rPr>
              <a:t xml:space="preserve"> v2.1 </a:t>
            </a: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与</a:t>
            </a:r>
            <a:r>
              <a:rPr lang="en-US" sz="788">
                <a:solidFill>
                  <a:srgbClr val="5A6070"/>
                </a:solidFill>
                <a:latin typeface="Microsoft YaHei"/>
                <a:ea typeface="Microsoft YaHei"/>
              </a:rPr>
              <a:t xml:space="preserve"> v2.2 </a:t>
            </a: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的结果对比，差异逐条能解释，才能判断能不能切。</a:t>
            </a:r>
            <a:endParaRPr/>
          </a:p>
        </p:txBody>
      </p:sp>
      <p:sp>
        <p:nvSpPr>
          <p:cNvPr id="548" name=""/>
          <p:cNvSpPr/>
          <p:nvPr/>
        </p:nvSpPr>
        <p:spPr>
          <a:xfrm rot="0" flipH="0" flipV="0">
            <a:off x="8258175" y="3476625"/>
            <a:ext cx="3171825" cy="847725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8362950" y="3638550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三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8553450" y="3648075"/>
            <a:ext cx="552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切换可回退</a:t>
            </a:r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8362950" y="3819525"/>
            <a:ext cx="2962275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切换是一道开关，不是重跑。回退要能在分钟级完成，不依赖重新跑历史数据。</a:t>
            </a:r>
            <a:endParaRPr/>
          </a:p>
        </p:txBody>
      </p:sp>
      <p:sp>
        <p:nvSpPr>
          <p:cNvPr id="552" name=""/>
          <p:cNvSpPr/>
          <p:nvPr/>
        </p:nvSpPr>
        <p:spPr>
          <a:xfrm rot="0" flipH="0" flipV="0">
            <a:off x="609600" y="4533900"/>
            <a:ext cx="10972800" cy="1104900"/>
          </a:xfrm>
          <a:prstGeom prst="roundRect">
            <a:avLst>
              <a:gd name="adj" fmla="val 344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781050" y="4638675"/>
            <a:ext cx="10629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静默失效的检出：四类规则，缺一不可</a:t>
            </a:r>
            <a:endParaRPr/>
          </a:p>
        </p:txBody>
      </p:sp>
      <p:sp>
        <p:nvSpPr>
          <p:cNvPr id="554" name=""/>
          <p:cNvSpPr/>
          <p:nvPr/>
        </p:nvSpPr>
        <p:spPr>
          <a:xfrm rot="0" flipH="0" flipV="0">
            <a:off x="781050" y="4905375"/>
            <a:ext cx="2590800" cy="71437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5" name=""/>
          <p:cNvSpPr/>
          <p:nvPr/>
        </p:nvSpPr>
        <p:spPr>
          <a:xfrm rot="0" flipH="0" flipV="0">
            <a:off x="781050" y="4905375"/>
            <a:ext cx="2590800" cy="714375"/>
          </a:xfrm>
          <a:custGeom>
            <a:pathLst>
              <a:path w="272" h="75">
                <a:moveTo>
                  <a:pt x="269" y="0"/>
                </a:moveTo>
                <a:cubicBezTo>
                  <a:pt x="271" y="0"/>
                  <a:pt x="272" y="1"/>
                  <a:pt x="272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69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895350" y="4981575"/>
            <a:ext cx="2362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同名检测</a:t>
            </a:r>
            <a:endParaRPr/>
          </a:p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895350" y="5162550"/>
            <a:ext cx="2362200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定期扫描注册表与实际使用中的指标名，检出同名不同义的新增</a:t>
            </a:r>
            <a:endParaRPr/>
          </a:p>
        </p:txBody>
      </p:sp>
      <p:sp>
        <p:nvSpPr>
          <p:cNvPr id="558" name=""/>
          <p:cNvSpPr/>
          <p:nvPr/>
        </p:nvSpPr>
        <p:spPr>
          <a:xfrm rot="0" flipH="0" flipV="0">
            <a:off x="3457575" y="4905375"/>
            <a:ext cx="2600325" cy="71437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9" name=""/>
          <p:cNvSpPr/>
          <p:nvPr/>
        </p:nvSpPr>
        <p:spPr>
          <a:xfrm rot="0" flipH="0" flipV="0">
            <a:off x="3457575" y="4905375"/>
            <a:ext cx="2600325" cy="714375"/>
          </a:xfrm>
          <a:custGeom>
            <a:pathLst>
              <a:path w="273" h="75">
                <a:moveTo>
                  <a:pt x="270" y="0"/>
                </a:moveTo>
                <a:cubicBezTo>
                  <a:pt x="272" y="0"/>
                  <a:pt x="273" y="1"/>
                  <a:pt x="273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70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3571875" y="4981575"/>
            <a:ext cx="2371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粒度与时间差异检测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3571875" y="5162550"/>
            <a:ext cx="2371725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同一指标在不同消费方的粒度与时间口径比对，差异即告警</a:t>
            </a:r>
            <a:endParaRPr/>
          </a:p>
        </p:txBody>
      </p:sp>
      <p:sp>
        <p:nvSpPr>
          <p:cNvPr id="562" name=""/>
          <p:cNvSpPr/>
          <p:nvPr/>
        </p:nvSpPr>
        <p:spPr>
          <a:xfrm rot="0" flipH="0" flipV="0">
            <a:off x="6143625" y="4905375"/>
            <a:ext cx="2590800" cy="71437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3" name=""/>
          <p:cNvSpPr/>
          <p:nvPr/>
        </p:nvSpPr>
        <p:spPr>
          <a:xfrm rot="0" flipH="0" flipV="0">
            <a:off x="6143625" y="4905375"/>
            <a:ext cx="2590800" cy="714375"/>
          </a:xfrm>
          <a:custGeom>
            <a:pathLst>
              <a:path w="272" h="75">
                <a:moveTo>
                  <a:pt x="269" y="0"/>
                </a:moveTo>
                <a:cubicBezTo>
                  <a:pt x="271" y="0"/>
                  <a:pt x="272" y="1"/>
                  <a:pt x="272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69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6257925" y="4981575"/>
            <a:ext cx="2362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突变检测</a:t>
            </a:r>
            <a:endParaRPr/>
          </a:p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6257925" y="5162550"/>
            <a:ext cx="2362200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同环比超阈值告警；连续多期取整数值（说明中间被人工调整过）</a:t>
            </a:r>
            <a:endParaRPr/>
          </a:p>
        </p:txBody>
      </p:sp>
      <p:sp>
        <p:nvSpPr>
          <p:cNvPr id="566" name=""/>
          <p:cNvSpPr/>
          <p:nvPr/>
        </p:nvSpPr>
        <p:spPr>
          <a:xfrm rot="0" flipH="0" flipV="0">
            <a:off x="8820150" y="4905375"/>
            <a:ext cx="2590800" cy="71437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7" name=""/>
          <p:cNvSpPr/>
          <p:nvPr/>
        </p:nvSpPr>
        <p:spPr>
          <a:xfrm rot="0" flipH="0" flipV="0">
            <a:off x="8820150" y="4905375"/>
            <a:ext cx="2590800" cy="714375"/>
          </a:xfrm>
          <a:custGeom>
            <a:pathLst>
              <a:path w="272" h="75">
                <a:moveTo>
                  <a:pt x="269" y="0"/>
                </a:moveTo>
                <a:cubicBezTo>
                  <a:pt x="271" y="0"/>
                  <a:pt x="272" y="1"/>
                  <a:pt x="272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69" y="0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8934450" y="4981575"/>
            <a:ext cx="2362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孤儿指标检测</a:t>
            </a:r>
            <a:endParaRPr/>
          </a:p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8934450" y="5162550"/>
            <a:ext cx="2362200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注册了但无人消费、长期无访问；或仍在消费但已废止</a:t>
            </a:r>
            <a:endParaRPr/>
          </a:p>
        </p:txBody>
      </p:sp>
      <p:sp>
        <p:nvSpPr>
          <p:cNvPr id="570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571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指标体系咨询方法论</a:t>
            </a:r>
            <a:endParaRPr/>
          </a:p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17 / 30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574" name="" descr="&lt;Slide style={{ width: 1280, height: 720, background: '#0F1423' }}&gt;&#13;&#10;  &lt;Box style={{ position: 'absolute', left: 0, top: 0, width: 1280, height: 720, background: 'linear-gradient(135deg, #0F1423 0%, #2A1810 100%)' }} /&gt;&#13;&#10;  &lt;Box style={{ position: 'absolute', right: 0, top: 0, width: 560, height: 720, background: 'linear-gradient(200deg, rgba(250,79,36,0.28) 0%, rgba(250,79,36,0) 70%)' }} /&gt;&#13;&#10;&#13;&#10;  &lt;Box style={{ position: 'absolute', right: 70, top: 110 }}&gt;&#13;&#10;    &lt;Text style={{ fontSize: 300, fontWeight: 'bold', color: 'rgba(255,255,255,0.08)', lineHeight: 1.0 }}&gt;03&lt;/Text&gt;&#13;&#10;  &lt;/Box&gt;&#13;&#10;&#13;&#10;  &lt;Box style={{ position: 'absolute', left: 88, top: 232, width: 760, flexDirection: 'column' }}&gt;&#13;&#10;    &lt;Text style={{ fontSize: 15, color: 'rgba(255,255,255,0.5)', letterSpacing: 3 }}&gt;PART 03&lt;/Text&gt;&#13;&#10;    &lt;Box style={{ width: 72, height: 5, background: '#FA4F24', marginTop: 22 }} /&gt;&#13;&#10;    &lt;Text style={{ fontSize: 52, fontWeight: 'bold', color: '#FFFFFF', marginTop: 28, lineHeight: 1.15 }}&gt;指标 × 六方关系&lt;/Text&gt;&#13;&#10;    &lt;Text style={{ fontSize: 17, color: 'rgba(255,255,255,0.62)', letterSpacing: 2, marginTop: 20 }}&gt;ONE SEMANTICS, SIX LANDINGS&lt;/Text&gt;&#13;&#10;    &lt;Text style={{ fontSize: 19, color: 'rgba(255,255,255,0.85)', marginTop: 26, lineHeight: 1.6 }}&gt;一条口径在六个方向上各自的落法&lt;/Text&gt;&#13;&#10;    &lt;Text style={{ fontSize: 14.5, color: 'rgba(255,255,255,0.55)', marginTop: 16, lineHeight: 1.55, width: 720 }}&gt;这一部分把指标放回体系里：与主数据、与数据治理、与管道处理、与知识库和 Agent、与 Ontology 分别怎么处理，最后收口成四条硬边界。&lt;/Text&gt;&#13;&#10;  &lt;/Box&gt;&#13;&#10;&#13;&#10;  &lt;Box style={{ position: 'absolute', right: 88, bottom: 64, flexDirection: 'row', alignItems: 'center', gap: 12 }}&gt;&#13;&#10;    &lt;Box style={{ width: 14, height: 14, background: '#FA4F24' }} /&gt;&#13;&#10;    &lt;Text style={{ fontSize: 14, color: 'rgba(255,255,255,0.5)' }}&gt;硕磐机密 · 指标体系咨询方法论&lt;/Text&gt;&#13;&#10;    &lt;Text style={{ fontSize: 14, color: 'rgba(255,255,255,0.5)', marginLeft: 12 }}&gt;18 / 30&lt;/Text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5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77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FA4F24">
                  <a:alpha val="28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7991475" y="10477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8000"/>
                  </a:srgbClr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838200" y="2209800"/>
            <a:ext cx="723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PART 03</a:t>
            </a:r>
            <a:endParaRPr/>
          </a:p>
        </p:txBody>
      </p:sp>
      <p:sp>
        <p:nvSpPr>
          <p:cNvPr id="580" name=""/>
          <p:cNvSpPr/>
          <p:nvPr/>
        </p:nvSpPr>
        <p:spPr>
          <a:xfrm rot="0" flipH="0" flipV="0">
            <a:off x="838200" y="25908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838200" y="2905125"/>
            <a:ext cx="7239000" cy="6858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900" b="1">
                <a:solidFill>
                  <a:srgbClr val="FFFFFF"/>
                </a:solidFill>
                <a:latin typeface="Microsoft YaHei"/>
                <a:ea typeface="Microsoft YaHei"/>
              </a:rPr>
              <a:t>指标</a:t>
            </a:r>
            <a:r>
              <a:rPr lang="en-US" sz="39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3900" b="1">
                <a:solidFill>
                  <a:srgbClr val="FFFFFF"/>
                </a:solidFill>
                <a:latin typeface="Microsoft YaHei"/>
                <a:ea typeface="Microsoft YaHei"/>
              </a:rPr>
              <a:t>六方关系</a:t>
            </a:r>
            <a:endParaRPr/>
          </a:p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838200" y="3781425"/>
            <a:ext cx="7239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ONE SEMANTICS, SIX LANDINGS</a:t>
            </a:r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838200" y="4229100"/>
            <a:ext cx="72390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一条口径在六个方向上各自的落法</a:t>
            </a:r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838200" y="4733925"/>
            <a:ext cx="6858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88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这一部分把指标放回体系里：与主数据、与数据治理、与管道处理、与知识库和</a:t>
            </a:r>
            <a:r>
              <a:rPr lang="en-US" sz="1088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 xml:space="preserve"> Agent</a:t>
            </a:r>
            <a:r>
              <a:rPr lang="zh-CN" sz="1088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、与</a:t>
            </a:r>
            <a:r>
              <a:rPr lang="en-US" sz="1088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 xml:space="preserve"> Ontology </a:t>
            </a:r>
            <a:r>
              <a:rPr lang="zh-CN" sz="1088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分别怎么处理，最后收口成四条硬边界。</a:t>
            </a:r>
            <a:endParaRPr/>
          </a:p>
        </p:txBody>
      </p:sp>
      <p:sp>
        <p:nvSpPr>
          <p:cNvPr id="585" name=""/>
          <p:cNvSpPr/>
          <p:nvPr/>
        </p:nvSpPr>
        <p:spPr>
          <a:xfrm rot="0" flipH="0" flipV="0">
            <a:off x="8572500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8820150" y="60864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指标体系咨询方法论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10896600" y="6086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18 / 30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588" name="" descr="&lt;Slide style={{ width: 1280, height: 720, background: '#FFFFFF', padding: '24px 64px 0' }}&gt;&#10;  &lt;Box style={{ height: 96, flexDirection: 'column', justifyContent: 'flex-start' }}&gt;&#10;    &lt;Text style={{ fontSize: 32, fontWeight: 'bold', color: '#0F1423' }}&gt;&#10;      指标 × 主数据：维度要挂&lt;span style={{ color: '#FA4F24' }}&gt;规范 ID&lt;/span&gt;，不是挂自由文本&#10;    &lt;/Text&gt;&#10;    &lt;Text style={{ fontSize: 20, color: '#8A8F99', marginTop: 8 }}&gt;「按客户统计」里的客户，必须是主数据里的那个实体，而不是某个系统里的一段公司名&lt;/Text&gt;&#10;  &lt;/Box&gt;&#10;  &lt;Box style={{ height: 1, background: '#E8E8E8' }} /&gt;&#10;&#10;  &lt;Box style={{ paddingTop: 14, paddingBottom: 8, height: 479, flexDirection: 'column', gap: 10 }}&gt;&#10;    &lt;Box style={{ flex: 1, flexDirection: 'row', gap: 10 }}&gt;&#10;      &lt;Box style={{ flex: 1.1, background: '#F7F7F8', borderRadius: 4, padding: '12px 16px', flexDirection: 'column' }}&gt;&#10;        &lt;Text style={{ fontSize: 14, fontWeight: 'bold', color: '#0F1423' }}&gt;一个真实断裂：按客户名分组的月度销售额&lt;/Text&gt;&#10;        &lt;Box style={{ marginTop: 10, gap: 6, flex: 1 }}&gt;&#10;          {[&#10;            { s: 'ERP 客户主数据', v: '「杭州华信科技（Holdings）有限公���」', c: '#FA4F24' },&#10;            { s: 'CRM 客户主数据', v: '「华信科技」', c: '#C43A17' },&#10;            { s: '一个历史订单', v: '「杭州华信科技有限公司」', c: '#8A8F99' },&#10;          ].map((x) =&gt; (&#10;            &lt;Box key={x.s} style={{ flexDirection: 'row', alignItems: 'center', gap: 9, background: '#FFFFFF', borderRadius: 3, borderLeft: '3px solid ' + x.c, padding: '0 11px' }}&gt;&#10;              &lt;Text style={{ fontSize: 11, fontWeight: 'bold', color: '#0F1423', width: 118 }}&gt;{x.s}&lt;/Text&gt;&#10;              &lt;Text style={{ fontSize: 10.5, color: '#5A6070', flex: 1, lineHeight: 1.35 }}&gt;{x.v}&lt;/Text&gt;&#10;            &lt;/Box&gt;&#10;          ))}&#10;          &lt;Box style={{ background: '#0F1423', borderRadius: 3, padding: '8px 11px', flex: 1, justifyContent: 'center' }}&gt;&#10;            &lt;Text style={{ fontSize: 11, color: 'rgba(255,255,255,0.9)', lineHeight: 1.5 }}&gt;&#10;              三个名字，三个客户。指标没错，数据没错，&lt;tspan style={{ fontWeight: 'bold', color: '#FBA15C' }}&gt;维度碎了&lt;/tspan&gt;——客户维度的占比永远算不准，总量也永远对不上主数据。&#10;            &lt;/Text&gt;&#10;          &lt;/Box&gt;&#10;        &lt;/Box&gt;&#10;      &lt;/Box&gt;&#10;&#10;      &lt;Box style={{ flex: 1, background: '#0F1423', borderRadius: 4, padding: '13px 18px', flexDirection: 'column' }}&gt;&#10;        &lt;Text style={{ fontSize: 13.5, fontWeight: 'bold', color: '#FBA15C' }}&gt;与第十册的四条对齐规则&lt;/Text&gt;&#10;        &lt;Box style={{ marginTop: 10, gap: 7, flex: 1 }}&gt;&#10;          {[&#10;            { n: '01', t: '维度挂规范主键，不挂名称', d: '指标分组用的客户、产品、组织维度，必须引用主数据的规范 ID，名称只是展示属性' },&#10;            { n: '02', t: '维度成员以主数据的对象集为准', d: '「有哪些客户」这个问题只有一个答案来源，就是主数据对象集' },&#10;            { n: '03', t: '主数据合并要能触发指标重算', d: '合并或拆分后，受影响的指标期间必须能定位并重算，靠的是主数据血缘' },&#10;            { n: '04', t: '外部系统来的自由文本先解析', d: '订单表里的公司名不直接当维度，先过实体解析，落到规范 ID 上再进指标' },&#10;          ].map((x) =&gt; (&#10;            &lt;Box key={x.n} style={{ flex: 1, background: 'rgba(255,255,255,0.07)', borderRadius: 3, borderLeft: '3px solid #FBA15C', padding: '7px 12px', justifyContent: 'center' }}&gt;&#10;              &lt;Box style={{ flexDirection: 'row', alignItems: 'center', gap: 8 }}&gt;&#10;                &lt;Text style={{ fontSize: 10.5, fontWeight: 'bold', color: '#FBA15C' }}&gt;{x.n}&lt;/Text&gt;&#10;                &lt;Text style={{ fontSize: 11.5, fontWeight: 'bold', color: '#FFFFFF' }}&gt;{x.t}&lt;/Text&gt;&#10;              &lt;/Box&gt;&#10;              &lt;Text style={{ fontSize: 10.5, color: 'rgba(255,255,255,0.78)', marginTop: 4, lineHeight: 1.45 }}&gt;{x.d}&lt;/Text&gt;&#10;            &lt;/Box&gt;&#10;          ))}&#10;        &lt;/Box&gt;&#10;      &lt;/Box&gt;&#10;    &lt;/Box&gt;&#10;&#10;    &lt;Box style={{ flex: 0.85, background: '#FFF3EE', borderRadius: 4, padding: '12px 18px', flexDirection: 'row', gap: 18 }}&gt;&#10;      &lt;Box style={{ width: 158, flexDirection: 'column', justifyContent: 'center' }}&gt;&#10;        &lt;Text style={{ fontSize: 14, fontWeight: 'bold', color: '#C43A17' }}&gt;指标要用主数据的三个能力&lt;/Text&gt;&#10;        &lt;Text style={{ fontSize: 10.5, color: '#8A8F99', marginTop: 5, lineHeight: 1.4 }}&gt;不是把主数据当维表用&lt;/Text&gt;&#10;      &lt;/Box&gt;&#10;      &lt;Box style={{ width: 1, background: '#FBA15C' }} /&gt;&#10;      &lt;Box style={{ flex: 1, flexDirection: 'row', gap: 10 }}&gt;&#10;        {[&#10;          { t: '黄金记录', d: '取当前可信值：客户名称、信用等级、所属集团，都从黄金记录读，不从源系统直取' },&#10;          { t: '解析元数据', d: '知道这个客户由哪几条源记录合并而来，指标异常时能一路回溯到源头单据' },&#10;          { t: '实体→下钻映射', d: '从指标的一个异常值，能反查到具体实体及其全部明细单据，而不是停在聚合结果' },&#10;        ].map((x) =&gt; (&#10;          &lt;Box key={x.t} style={{ flex: 1, background: '#FFFFFF', borderRadius: 3, padding: '8px 12px', justifyContent: 'center' }}&gt;&#10;            &lt;Text style={{ fontSize: 12, fontWeight: 'bold', color: '#0F1423' }}&gt;{x.t}&lt;/Text&gt;&#10;            &lt;Text style={{ fontSize: 10.5, color: '#5A6070', marginTop: 4, lineHeight: 1.45 }}&gt;{x.d}&lt;/Text&gt;&#10;          &lt;/Box&gt;&#10;        ))}&#10;      &lt;/Box&gt;&#10;    &lt;/Box&gt;&#10;  &lt;/Box&gt;&#10;&#10;  &lt;Box style={{ height: 58, flexDirection: 'row', alignItems: 'center', borderTop: '1px solid #E8E8E8' }}&gt;&#10;    &lt;Box style={{ width: 10, height: 10, background: '#FA4F24' }} /&gt;&#10;    &lt;Text style={{ fontSize: 13, color: '#8A8F99', marginLeft: 12 }}&gt;硕磐机密 · 指标体系咨询方法论&lt;/Text&gt;&#10;    &lt;Text style={{ fontSize: 13, color: '#8A8F99', marginLeft: 'auto' }}&gt;19 / 3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指标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主数据：维度要挂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规范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ID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，不是挂自由文本</a:t>
            </a:r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「按客户统计」里的客户，必须是主数据里的那个实体，而不是某个系统里的一段公司名</a:t>
            </a:r>
            <a:endParaRPr/>
          </a:p>
        </p:txBody>
      </p:sp>
      <p:sp>
        <p:nvSpPr>
          <p:cNvPr id="592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593" name=""/>
          <p:cNvSpPr/>
          <p:nvPr/>
        </p:nvSpPr>
        <p:spPr>
          <a:xfrm rot="0" flipH="0" flipV="0">
            <a:off x="609600" y="1285875"/>
            <a:ext cx="5695950" cy="3019425"/>
          </a:xfrm>
          <a:prstGeom prst="roundRect">
            <a:avLst>
              <a:gd name="adj" fmla="val 126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762000" y="1400175"/>
            <a:ext cx="5391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一个真实断裂：按客户名分组的月度销售额</a:t>
            </a:r>
            <a:endParaRPr/>
          </a:p>
        </p:txBody>
      </p:sp>
      <p:sp>
        <p:nvSpPr>
          <p:cNvPr id="595" name=""/>
          <p:cNvSpPr/>
          <p:nvPr/>
        </p:nvSpPr>
        <p:spPr>
          <a:xfrm rot="0" flipH="0" flipV="0">
            <a:off x="790575" y="1657350"/>
            <a:ext cx="5391150" cy="1714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6" name=""/>
          <p:cNvSpPr/>
          <p:nvPr/>
        </p:nvSpPr>
        <p:spPr>
          <a:xfrm rot="0" flipH="0" flipV="0">
            <a:off x="790575" y="1657350"/>
            <a:ext cx="5391150" cy="171450"/>
          </a:xfrm>
          <a:custGeom>
            <a:pathLst>
              <a:path w="566" h="18">
                <a:moveTo>
                  <a:pt x="3" y="18"/>
                </a:moveTo>
                <a:cubicBezTo>
                  <a:pt x="1" y="18"/>
                  <a:pt x="0" y="17"/>
                  <a:pt x="0" y="15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895350" y="1676400"/>
            <a:ext cx="11239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ERP </a:t>
            </a:r>
            <a:r>
              <a:rPr lang="zh-CN" sz="825" b="1">
                <a:solidFill>
                  <a:srgbClr val="0F1423"/>
                </a:solidFill>
                <a:latin typeface="Microsoft YaHei"/>
                <a:ea typeface="Microsoft YaHei"/>
              </a:rPr>
              <a:t>客户主数据</a:t>
            </a:r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2105025" y="1657350"/>
            <a:ext cx="39433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「杭州华信科技（</a:t>
            </a:r>
            <a:r>
              <a:rPr lang="en-US" sz="788">
                <a:solidFill>
                  <a:srgbClr val="5A6070"/>
                </a:solidFill>
                <a:latin typeface="Microsoft YaHei"/>
                <a:ea typeface="Microsoft YaHei"/>
              </a:rPr>
              <a:t>Holdings</a:t>
            </a: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）有限公���」</a:t>
            </a:r>
            <a:endParaRPr/>
          </a:p>
        </p:txBody>
      </p:sp>
      <p:sp>
        <p:nvSpPr>
          <p:cNvPr id="599" name=""/>
          <p:cNvSpPr/>
          <p:nvPr/>
        </p:nvSpPr>
        <p:spPr>
          <a:xfrm rot="0" flipH="0" flipV="0">
            <a:off x="790575" y="1885950"/>
            <a:ext cx="5391150" cy="1714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0" name=""/>
          <p:cNvSpPr/>
          <p:nvPr/>
        </p:nvSpPr>
        <p:spPr>
          <a:xfrm rot="0" flipH="0" flipV="0">
            <a:off x="790575" y="1885950"/>
            <a:ext cx="5391150" cy="171450"/>
          </a:xfrm>
          <a:custGeom>
            <a:pathLst>
              <a:path w="566" h="18">
                <a:moveTo>
                  <a:pt x="3" y="18"/>
                </a:moveTo>
                <a:cubicBezTo>
                  <a:pt x="1" y="18"/>
                  <a:pt x="0" y="17"/>
                  <a:pt x="0" y="15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8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895350" y="1905000"/>
            <a:ext cx="11239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CRM </a:t>
            </a:r>
            <a:r>
              <a:rPr lang="zh-CN" sz="825" b="1">
                <a:solidFill>
                  <a:srgbClr val="0F1423"/>
                </a:solidFill>
                <a:latin typeface="Microsoft YaHei"/>
                <a:ea typeface="Microsoft YaHei"/>
              </a:rPr>
              <a:t>客户主数据</a:t>
            </a:r>
            <a:endParaRPr/>
          </a:p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2105025" y="1885950"/>
            <a:ext cx="39433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「华信科技」</a:t>
            </a:r>
            <a:endParaRPr/>
          </a:p>
        </p:txBody>
      </p:sp>
      <p:sp>
        <p:nvSpPr>
          <p:cNvPr id="603" name=""/>
          <p:cNvSpPr/>
          <p:nvPr/>
        </p:nvSpPr>
        <p:spPr>
          <a:xfrm rot="0" flipH="0" flipV="0">
            <a:off x="790575" y="2114550"/>
            <a:ext cx="5391150" cy="1714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4" name=""/>
          <p:cNvSpPr/>
          <p:nvPr/>
        </p:nvSpPr>
        <p:spPr>
          <a:xfrm rot="0" flipH="0" flipV="0">
            <a:off x="790575" y="2114550"/>
            <a:ext cx="5391150" cy="171450"/>
          </a:xfrm>
          <a:custGeom>
            <a:pathLst>
              <a:path w="566" h="18">
                <a:moveTo>
                  <a:pt x="3" y="18"/>
                </a:moveTo>
                <a:cubicBezTo>
                  <a:pt x="1" y="18"/>
                  <a:pt x="0" y="17"/>
                  <a:pt x="0" y="15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8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895350" y="2133600"/>
            <a:ext cx="11239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1423"/>
                </a:solidFill>
                <a:latin typeface="Microsoft YaHei"/>
                <a:ea typeface="Microsoft YaHei"/>
              </a:rPr>
              <a:t>一个历史订单</a:t>
            </a:r>
            <a:endParaRPr/>
          </a:p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2105025" y="2114550"/>
            <a:ext cx="39433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「杭州华信科技有限公司」</a:t>
            </a:r>
            <a:endParaRPr/>
          </a:p>
        </p:txBody>
      </p:sp>
      <p:sp>
        <p:nvSpPr>
          <p:cNvPr id="607" name=""/>
          <p:cNvSpPr/>
          <p:nvPr/>
        </p:nvSpPr>
        <p:spPr>
          <a:xfrm rot="0" flipH="0" flipV="0">
            <a:off x="762000" y="2343150"/>
            <a:ext cx="5391150" cy="1847850"/>
          </a:xfrm>
          <a:prstGeom prst="roundRect">
            <a:avLst>
              <a:gd name="adj" fmla="val 1546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866775" y="3076575"/>
            <a:ext cx="5181600" cy="381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三个名字，三个客户。指标没错，数据没错，</a:t>
            </a:r>
            <a:r>
              <a:rPr lang="zh-CN" sz="8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维度碎了</a:t>
            </a:r>
            <a:r>
              <a:rPr lang="zh-CN" sz="8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——客户维度的占比永远算不准，总量也永远对不上主数据。</a:t>
            </a:r>
            <a:endParaRPr/>
          </a:p>
        </p:txBody>
      </p:sp>
      <p:sp>
        <p:nvSpPr>
          <p:cNvPr id="609" name=""/>
          <p:cNvSpPr/>
          <p:nvPr/>
        </p:nvSpPr>
        <p:spPr>
          <a:xfrm rot="0" flipH="0" flipV="0">
            <a:off x="6400800" y="1285875"/>
            <a:ext cx="5181600" cy="3019425"/>
          </a:xfrm>
          <a:prstGeom prst="roundRect">
            <a:avLst>
              <a:gd name="adj" fmla="val 126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6572250" y="1409700"/>
            <a:ext cx="483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与第十册的四条对齐规则</a:t>
            </a:r>
            <a:endParaRPr/>
          </a:p>
        </p:txBody>
      </p:sp>
      <p:sp>
        <p:nvSpPr>
          <p:cNvPr id="611" name=""/>
          <p:cNvSpPr/>
          <p:nvPr/>
        </p:nvSpPr>
        <p:spPr>
          <a:xfrm rot="0" flipH="0" flipV="0">
            <a:off x="6600825" y="1666875"/>
            <a:ext cx="4838700" cy="581025"/>
          </a:xfrm>
          <a:prstGeom prst="roundRect">
            <a:avLst>
              <a:gd name="adj" fmla="val 4918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612" name=""/>
          <p:cNvSpPr/>
          <p:nvPr/>
        </p:nvSpPr>
        <p:spPr>
          <a:xfrm rot="0" flipH="0" flipV="0">
            <a:off x="6600825" y="1666875"/>
            <a:ext cx="4838700" cy="581025"/>
          </a:xfrm>
          <a:custGeom>
            <a:pathLst>
              <a:path w="508" h="61">
                <a:moveTo>
                  <a:pt x="3" y="61"/>
                </a:moveTo>
                <a:cubicBezTo>
                  <a:pt x="1" y="61"/>
                  <a:pt x="0" y="60"/>
                  <a:pt x="0" y="5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6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6715125" y="1790700"/>
            <a:ext cx="1238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FBA15C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6915150" y="1781175"/>
            <a:ext cx="1314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FFFFF"/>
                </a:solidFill>
                <a:latin typeface="Microsoft YaHei"/>
                <a:ea typeface="Microsoft YaHei"/>
              </a:rPr>
              <a:t>维度挂规范主键，不挂名称</a:t>
            </a:r>
            <a:endParaRPr/>
          </a:p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6715125" y="1952625"/>
            <a:ext cx="4581525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指标分组用的客户、产品、组织维度，必须引用主数据的规范</a:t>
            </a:r>
            <a:r>
              <a:rPr lang="en-US" sz="788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 xml:space="preserve"> ID</a:t>
            </a:r>
            <a:r>
              <a:rPr lang="zh-CN" sz="788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，名称只是展示属性</a:t>
            </a:r>
            <a:endParaRPr/>
          </a:p>
        </p:txBody>
      </p:sp>
      <p:sp>
        <p:nvSpPr>
          <p:cNvPr id="616" name=""/>
          <p:cNvSpPr/>
          <p:nvPr/>
        </p:nvSpPr>
        <p:spPr>
          <a:xfrm rot="0" flipH="0" flipV="0">
            <a:off x="6600825" y="2314575"/>
            <a:ext cx="4838700" cy="581025"/>
          </a:xfrm>
          <a:prstGeom prst="roundRect">
            <a:avLst>
              <a:gd name="adj" fmla="val 4918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617" name=""/>
          <p:cNvSpPr/>
          <p:nvPr/>
        </p:nvSpPr>
        <p:spPr>
          <a:xfrm rot="0" flipH="0" flipV="0">
            <a:off x="6600825" y="2314575"/>
            <a:ext cx="4838700" cy="581025"/>
          </a:xfrm>
          <a:custGeom>
            <a:pathLst>
              <a:path w="508" h="61">
                <a:moveTo>
                  <a:pt x="3" y="61"/>
                </a:moveTo>
                <a:cubicBezTo>
                  <a:pt x="1" y="61"/>
                  <a:pt x="0" y="60"/>
                  <a:pt x="0" y="5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6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6715125" y="2438400"/>
            <a:ext cx="1238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FBA15C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6915150" y="2428875"/>
            <a:ext cx="15335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FFFFF"/>
                </a:solidFill>
                <a:latin typeface="Microsoft YaHei"/>
                <a:ea typeface="Microsoft YaHei"/>
              </a:rPr>
              <a:t>维度成员以主数据的对象集为准</a:t>
            </a:r>
            <a:endParaRPr/>
          </a:p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6715125" y="2600325"/>
            <a:ext cx="4581525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「有哪些客户」这个问题只有一个答案来源，就是主数据对象集</a:t>
            </a:r>
            <a:endParaRPr/>
          </a:p>
        </p:txBody>
      </p:sp>
      <p:sp>
        <p:nvSpPr>
          <p:cNvPr id="621" name=""/>
          <p:cNvSpPr/>
          <p:nvPr/>
        </p:nvSpPr>
        <p:spPr>
          <a:xfrm rot="0" flipH="0" flipV="0">
            <a:off x="6600825" y="2962275"/>
            <a:ext cx="4838700" cy="571500"/>
          </a:xfrm>
          <a:prstGeom prst="roundRect">
            <a:avLst>
              <a:gd name="adj" fmla="val 5000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622" name=""/>
          <p:cNvSpPr/>
          <p:nvPr/>
        </p:nvSpPr>
        <p:spPr>
          <a:xfrm rot="0" flipH="0" flipV="0">
            <a:off x="6600825" y="2962275"/>
            <a:ext cx="4838700" cy="571500"/>
          </a:xfrm>
          <a:custGeom>
            <a:pathLst>
              <a:path w="508" h="60">
                <a:moveTo>
                  <a:pt x="3" y="60"/>
                </a:moveTo>
                <a:cubicBezTo>
                  <a:pt x="1" y="60"/>
                  <a:pt x="0" y="59"/>
                  <a:pt x="0" y="5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6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6715125" y="3086100"/>
            <a:ext cx="1238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FBA15C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6915150" y="3076575"/>
            <a:ext cx="1428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FFFFF"/>
                </a:solidFill>
                <a:latin typeface="Microsoft YaHei"/>
                <a:ea typeface="Microsoft YaHei"/>
              </a:rPr>
              <a:t>主数据合并要能触发指标重算</a:t>
            </a:r>
            <a:endParaRPr/>
          </a:p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6715125" y="3248025"/>
            <a:ext cx="4581525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合并或拆分后，受影响的指标期间必须能定位并重算，靠的是主数据血缘</a:t>
            </a:r>
            <a:endParaRPr/>
          </a:p>
        </p:txBody>
      </p:sp>
      <p:sp>
        <p:nvSpPr>
          <p:cNvPr id="626" name=""/>
          <p:cNvSpPr/>
          <p:nvPr/>
        </p:nvSpPr>
        <p:spPr>
          <a:xfrm rot="0" flipH="0" flipV="0">
            <a:off x="6600825" y="3600450"/>
            <a:ext cx="4838700" cy="581025"/>
          </a:xfrm>
          <a:prstGeom prst="roundRect">
            <a:avLst>
              <a:gd name="adj" fmla="val 4918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627" name=""/>
          <p:cNvSpPr/>
          <p:nvPr/>
        </p:nvSpPr>
        <p:spPr>
          <a:xfrm rot="0" flipH="0" flipV="0">
            <a:off x="6600825" y="3600450"/>
            <a:ext cx="4838700" cy="581025"/>
          </a:xfrm>
          <a:custGeom>
            <a:pathLst>
              <a:path w="508" h="61">
                <a:moveTo>
                  <a:pt x="3" y="61"/>
                </a:moveTo>
                <a:cubicBezTo>
                  <a:pt x="1" y="61"/>
                  <a:pt x="0" y="60"/>
                  <a:pt x="0" y="5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6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6715125" y="3724275"/>
            <a:ext cx="1238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FBA15C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6915150" y="3714750"/>
            <a:ext cx="1428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FFFFFF"/>
                </a:solidFill>
                <a:latin typeface="Microsoft YaHei"/>
                <a:ea typeface="Microsoft YaHei"/>
              </a:rPr>
              <a:t>外部系统来的自由文本先解析</a:t>
            </a:r>
            <a:endParaRPr/>
          </a:p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6715125" y="3886200"/>
            <a:ext cx="4581525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订单表里的公司名不直接当维度，先过实体解析，落到规范</a:t>
            </a:r>
            <a:r>
              <a:rPr lang="en-US" sz="788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788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上再进指标</a:t>
            </a:r>
            <a:endParaRPr/>
          </a:p>
        </p:txBody>
      </p:sp>
      <p:sp>
        <p:nvSpPr>
          <p:cNvPr id="631" name=""/>
          <p:cNvSpPr/>
          <p:nvPr/>
        </p:nvSpPr>
        <p:spPr>
          <a:xfrm rot="0" flipH="0" flipV="0">
            <a:off x="609600" y="4400550"/>
            <a:ext cx="10972800" cy="1238250"/>
          </a:xfrm>
          <a:prstGeom prst="roundRect">
            <a:avLst>
              <a:gd name="adj" fmla="val 3077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781050" y="4752975"/>
            <a:ext cx="1504950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指标要用主数据的三个能力</a:t>
            </a:r>
            <a:endParaRPr/>
          </a:p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781050" y="5124450"/>
            <a:ext cx="150495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不是把主数据当维表用</a:t>
            </a:r>
            <a:endParaRPr/>
          </a:p>
        </p:txBody>
      </p:sp>
      <p:sp>
        <p:nvSpPr>
          <p:cNvPr id="634" name=""/>
          <p:cNvSpPr/>
          <p:nvPr/>
        </p:nvSpPr>
        <p:spPr>
          <a:xfrm rot="0" flipH="0" flipV="0">
            <a:off x="2457450" y="4514850"/>
            <a:ext cx="9525" cy="1009650"/>
          </a:xfrm>
          <a:prstGeom prst="rect">
            <a:avLst/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635" name=""/>
          <p:cNvSpPr/>
          <p:nvPr/>
        </p:nvSpPr>
        <p:spPr>
          <a:xfrm rot="0" flipH="0" flipV="0">
            <a:off x="2638425" y="4514850"/>
            <a:ext cx="2857500" cy="100965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2752725" y="4752975"/>
            <a:ext cx="2628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黄金记录</a:t>
            </a:r>
            <a:endParaRPr/>
          </a:p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2752725" y="4933950"/>
            <a:ext cx="2628900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取当前可信值：客户名称、信用等级、所属集团，都从黄金记录读，不从源系统直取</a:t>
            </a:r>
            <a:endParaRPr/>
          </a:p>
        </p:txBody>
      </p:sp>
      <p:sp>
        <p:nvSpPr>
          <p:cNvPr id="638" name=""/>
          <p:cNvSpPr/>
          <p:nvPr/>
        </p:nvSpPr>
        <p:spPr>
          <a:xfrm rot="0" flipH="0" flipV="0">
            <a:off x="5591175" y="4514850"/>
            <a:ext cx="2867025" cy="100965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5705475" y="4752975"/>
            <a:ext cx="2638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解析元数据</a:t>
            </a:r>
            <a:endParaRPr/>
          </a:p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5705475" y="4933950"/>
            <a:ext cx="2638425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知道这个客户由哪几条源记录合并而来，指标异常时能一路回溯到源头单据</a:t>
            </a:r>
            <a:endParaRPr/>
          </a:p>
        </p:txBody>
      </p:sp>
      <p:sp>
        <p:nvSpPr>
          <p:cNvPr id="641" name=""/>
          <p:cNvSpPr/>
          <p:nvPr/>
        </p:nvSpPr>
        <p:spPr>
          <a:xfrm rot="0" flipH="0" flipV="0">
            <a:off x="8553450" y="4514850"/>
            <a:ext cx="2857500" cy="100965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8667750" y="4752975"/>
            <a:ext cx="2628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实体→下钻映射</a:t>
            </a:r>
            <a:endParaRPr/>
          </a:p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8667750" y="4933950"/>
            <a:ext cx="2628900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从指标的一个异常值，能反查到具体实体及其全部明细单据，而不是停在聚合结果</a:t>
            </a:r>
            <a:endParaRPr/>
          </a:p>
        </p:txBody>
      </p:sp>
      <p:sp>
        <p:nvSpPr>
          <p:cNvPr id="644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645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指标体系咨询方法论</a:t>
            </a:r>
            <a:endParaRPr/>
          </a:p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19 / 30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700" name="" descr="&lt;Slide style={{ width: 1280, height: 720, background: '#FFFFFF', padding: '24px 64px 0' }}&gt;&#10;  &lt;Box style={{ height: 96, flexDirection: 'column', justifyContent: 'flex-start' }}&gt;&#10;    &lt;Text style={{ fontSize: 32, fontWeight: 'bold', color: '#0F1423' }}&gt;&#10;      指标 × 数据治理：口径是&lt;span style={{ color: '#FA4F24' }}&gt;策略&lt;/span&gt;，不是配置&#10;    &lt;/Text&gt;&#10;    &lt;Text style={{ fontSize: 20, color: '#8A8F99', marginTop: 8 }}&gt;能改一个指标的定义，就等于改了整个公司对这件事的认知——它的风险等级和改数据完全不是一回事&lt;/Text&gt;&#10;  &lt;/Box&gt;&#10;  &lt;Box style={{ height: 1, background: '#E8E8E8' }} /&gt;&#10;&#10;  &lt;Box style={{ paddingTop: 14, paddingBottom: 8, height: 479, flexDirection: 'column', gap: 10 }}&gt;&#10;    &lt;Box style={{ flex: 1, flexDirection: 'row', gap: 10 }}&gt;&#10;      {[&#10;        { n: '01', t: '口径变更走提案流程', c: '#FA4F24',&#10;          d: '对应第九册的治理对象扩展：指标口径变更从「配置修改」升级为「受管动作」。',&#10;          r: ['谁提的、依据什么规则、影响哪些下游，全部进动作日志', '影响面清单是审批必要附件，不附不予受理', '禁止脚本直连修改口径定义'] },&#10;        { n: '02', t: '指标继承标记与密级', c: '#F87D2F',&#10;          d: '指标的分母来自哪批对象，它就受那批对象的安全标记管辖。',&#10;          r: ['派生属性从每个计算对象继承安全性，含中间对象', '跨密级聚合必须先取严，不能取宽', '对外发布的指标值本身也要打标记'] },&#10;        { n: '03', t: 'approved use：用途受限', c: '#C43A17',&#10;          d: '同一个口径，董事会汇报与对外披露能取不同的值，两个值都有据可依。',&#10;          r: ['口径定义里写明允许的用途集合', '超出用途集合的取数走单独审批', '用途变更与口径变更同等对待'] },&#10;      ].map((x) =&gt; (&#10;        &lt;Box key={x.n} style={{ flex: 1, background: '#F7F7F8', borderRadius: 4, borderTop: '4px solid ' + x.c, padding: '13px 16px', flexDirection: 'column' }}&gt;&#10;          &lt;Box style={{ flexDirection: 'row', alignItems: 'center', gap: 9 }}&gt;&#10;            &lt;Text style={{ fontSize: 17, fontWeight: 'bold', color: x.c }}&gt;{x.n}&lt;/Text&gt;&#10;            &lt;Text style={{ fontSize: 14.5, fontWeight: 'bold', color: '#0F1423', flex: 1 }}&gt;{x.t}&lt;/Text&gt;&#10;          &lt;/Box&gt;&#10;          &lt;Text style={{ fontSize: 11.5, color: '#3A4050', marginTop: 9, lineHeight: 1.5 }}&gt;{x.d}&lt;/Text&gt;&#10;          &lt;Box style={{ marginTop: 9, gap: 6, flex: 1 }}&gt;&#10;            {x.r.map((t, i) =&gt; (&#10;              &lt;Box key={i} style={{ flexDirection: 'row', gap: 7, flex: 1, alignItems: 'flex-start' }}&gt;&#10;                &lt;Text style={{ fontSize: 10.5, color: x.c, fontWeight: 'bold' }}&gt;·&lt;/Text&gt;&#10;                &lt;Text style={{ fontSize: 10.5, color: '#5A6070', lineHeight: 1.45, flex: 1 }}&gt;{t}&lt;/Text&gt;&#10;              &lt;/Box&gt;&#10;            ))}&#10;          &lt;/Box&gt;&#10;        &lt;/Box&gt;&#10;      ))}&#10;    &lt;/Box&gt;&#10;&#10;    &lt;Box style={{ flex: 1, flexDirection: 'row', gap: 10 }}&gt;&#10;      &lt;Box style={{ flex: 1.25, background: '#0F1423', borderRadius: 4, padding: '12px 18px', flexDirection: 'column' }}&gt;&#10;        &lt;Text style={{ fontSize: 13.5, fontWeight: 'bold', color: '#FBA15C' }}&gt;跨密级聚合的规则：取严，且必须说清分母是谁&lt;/Text&gt;&#10;        &lt;Text style={{ fontSize: 11, color: 'rgba(255,255,255,0.85)', marginTop: 9, lineHeight: 1.5, flex: 1 }}&gt;&#10;          一个「集团总收入」指标，如果分母里混了涉密订单而当前用户看不到那些订单，官方机制是&lt;tspan style={{ fontWeight: 'bold', color: '#FBA15C' }}&gt;整条剔除&lt;/tspan&gt;——不是当 0，也不是照算。这会同时改变分子与分母。&#10;        &lt;/Text&gt;&#10;        &lt;Box style={{ background: 'rgba(250,79,36,0.18)', borderRadius: 3, padding: '8px 11px', marginTop: 8 }}&gt;&#10;          &lt;Text style={{ fontSize: 10.5, color: 'rgba(255,255,255,0.9)', lineHeight: 1.5 }}&gt;&#10;            因此指标口径卡必须加一项：&lt;tspan style={{ fontWeight: 'bold', color: '#FBA15C' }}&gt;权限基线&lt;/tspan&gt;——这个数在「默认哪一档权限」下算出来。换一档权限就是一个不同的数，要写明。&#10;          &lt;/Text&gt;&#10;        &lt;/Box&gt;&#10;      &lt;/Box&gt;&#10;&#10;      &lt;Box style={{ flex: 1, background: '#FFF3EE', borderRadius: 4, padding: '12px 18px', flexDirection: 'column' }}&gt;&#10;        &lt;Text style={{ fontSize: 13.5, fontWeight: 'bold', color: '#C43A17' }}&gt;口径与治理的六条对应&lt;/Text&gt;&#10;        &lt;Box style={{ marginTop: 9, gap: 5, flex: 1 }}&gt;&#10;          {[&#10;            '指标定义 → 受管数据资产，不是散落的配置',&#10;            '口径变更 → 受管动作，走提案与审批',&#10;            '指标密级 → 继承源对象标记，聚合取严',&#10;            '口径可见性 → 对象级权限，无权限则 AI 也调不出来',&#10;            '口径历史 → 进元数据血缘，可回溯到哪次变更',&#10;            '异常检出 → 进治理审计，静默失效靠规则不靠自觉',&#10;          ].map((t, i) =&gt; (&#10;            &lt;Box key={i} style={{ flex: 1, flexDirection: 'row', gap: 8, alignItems: 'center', background: '#FFFFFF', borderRadius: 3, padding: '0 10px' }}&gt;&#10;              &lt;Text style={{ fontSize: 10.5, fontWeight: 'bold', color: '#FA4F24', width: 14 }}&gt;{i + 1}&lt;/Text&gt;&#10;              &lt;Text style={{ fontSize: 10.5, color: '#3A4050', lineHeight: 1.4, flex: 1 }}&gt;{t}&lt;/Text&gt;&#10;            &lt;/Box&gt;&#10;          ))}&#10;        &lt;/Box&gt;&#10;      &lt;/Box&gt;&#10;    &lt;/Box&gt;&#10;  &lt;/Box&gt;&#10;&#10;  &lt;Box style={{ height: 58, flexDirection: 'row', alignItems: 'center', borderTop: '1px solid #E8E8E8' }}&gt;&#10;    &lt;Box style={{ width: 10, height: 10, background: '#FA4F24' }} /&gt;&#10;    &lt;Text style={{ fontSize: 13, color: '#8A8F99', marginLeft: 12 }}&gt;硕磐机密 · 指标体系咨询方法论&lt;/Text&gt;&#10;    &lt;Text style={{ fontSize: 13, color: '#8A8F99', marginLeft: 'auto' }}&gt;20 / 3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指标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数据治理：口径是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策略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，不是配置</a:t>
            </a:r>
            <a:endParaRPr/>
          </a:p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能改一个指标的定义，就等于改了整个公司对这件事的认知——它的风险等级和改数据完全不是一回事</a:t>
            </a:r>
            <a:endParaRPr/>
          </a:p>
        </p:txBody>
      </p:sp>
      <p:sp>
        <p:nvSpPr>
          <p:cNvPr id="704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705" name=""/>
          <p:cNvSpPr/>
          <p:nvPr/>
        </p:nvSpPr>
        <p:spPr>
          <a:xfrm rot="0" flipH="0" flipV="0">
            <a:off x="609600" y="1323975"/>
            <a:ext cx="3590925" cy="2114550"/>
          </a:xfrm>
          <a:prstGeom prst="roundRect">
            <a:avLst>
              <a:gd name="adj" fmla="val 180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06" name=""/>
          <p:cNvSpPr/>
          <p:nvPr/>
        </p:nvSpPr>
        <p:spPr>
          <a:xfrm rot="0" flipH="0" flipV="0">
            <a:off x="609600" y="1323975"/>
            <a:ext cx="3590925" cy="2114550"/>
          </a:xfrm>
          <a:custGeom>
            <a:pathLst>
              <a:path w="377" h="222">
                <a:moveTo>
                  <a:pt x="373" y="0"/>
                </a:moveTo>
                <a:cubicBezTo>
                  <a:pt x="375" y="0"/>
                  <a:pt x="377" y="2"/>
                  <a:pt x="377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373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762000" y="1447800"/>
            <a:ext cx="200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1047750" y="1466850"/>
            <a:ext cx="3000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口径变更走提案流程</a:t>
            </a:r>
            <a:endParaRPr/>
          </a:p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762000" y="1733550"/>
            <a:ext cx="3286125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对应第九册的治理对象扩展：指标口径变更从「配置修改」升级为「受管动作」。</a:t>
            </a:r>
            <a:endParaRPr/>
          </a:p>
        </p:txBody>
      </p:sp>
      <p:sp>
        <p:nvSpPr>
          <p:cNvPr id="710" name="" descr="{&quot;isTemplate&quot;:true,&quot;type&quot;:&quot;text&quot;}"/>
          <p:cNvSpPr txBox="1"/>
          <p:nvPr/>
        </p:nvSpPr>
        <p:spPr>
          <a:xfrm rot="0" flipH="0" flipV="0">
            <a:off x="762000" y="2219325"/>
            <a:ext cx="476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FA4F24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876300" y="2219325"/>
            <a:ext cx="3171825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谁提的、依据什么规则、影响哪些下游，全部进动作日志</a:t>
            </a:r>
            <a:endParaRPr/>
          </a:p>
        </p:txBody>
      </p:sp>
      <p:sp>
        <p:nvSpPr>
          <p:cNvPr id="712" name="" descr="{&quot;isTemplate&quot;:true,&quot;type&quot;:&quot;text&quot;}"/>
          <p:cNvSpPr txBox="1"/>
          <p:nvPr/>
        </p:nvSpPr>
        <p:spPr>
          <a:xfrm rot="0" flipH="0" flipV="0">
            <a:off x="762000" y="2590800"/>
            <a:ext cx="476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FA4F24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713" name="" descr="{&quot;isTemplate&quot;:true,&quot;type&quot;:&quot;text&quot;}"/>
          <p:cNvSpPr txBox="1"/>
          <p:nvPr/>
        </p:nvSpPr>
        <p:spPr>
          <a:xfrm rot="0" flipH="0" flipV="0">
            <a:off x="876300" y="2590800"/>
            <a:ext cx="3171825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影响面清单是审批必要附件，不附不予受理</a:t>
            </a:r>
            <a:endParaRPr/>
          </a:p>
        </p:txBody>
      </p:sp>
      <p:sp>
        <p:nvSpPr>
          <p:cNvPr id="714" name="" descr="{&quot;isTemplate&quot;:true,&quot;type&quot;:&quot;text&quot;}"/>
          <p:cNvSpPr txBox="1"/>
          <p:nvPr/>
        </p:nvSpPr>
        <p:spPr>
          <a:xfrm rot="0" flipH="0" flipV="0">
            <a:off x="762000" y="2962275"/>
            <a:ext cx="476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FA4F24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876300" y="2962275"/>
            <a:ext cx="3171825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禁止脚本直连修改口径定义</a:t>
            </a:r>
            <a:endParaRPr/>
          </a:p>
        </p:txBody>
      </p:sp>
      <p:sp>
        <p:nvSpPr>
          <p:cNvPr id="716" name=""/>
          <p:cNvSpPr/>
          <p:nvPr/>
        </p:nvSpPr>
        <p:spPr>
          <a:xfrm rot="0" flipH="0" flipV="0">
            <a:off x="4295775" y="1323975"/>
            <a:ext cx="3600450" cy="2114550"/>
          </a:xfrm>
          <a:prstGeom prst="roundRect">
            <a:avLst>
              <a:gd name="adj" fmla="val 180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17" name=""/>
          <p:cNvSpPr/>
          <p:nvPr/>
        </p:nvSpPr>
        <p:spPr>
          <a:xfrm rot="0" flipH="0" flipV="0">
            <a:off x="4295775" y="1323975"/>
            <a:ext cx="3600450" cy="2114550"/>
          </a:xfrm>
          <a:custGeom>
            <a:pathLst>
              <a:path w="378" h="222">
                <a:moveTo>
                  <a:pt x="374" y="0"/>
                </a:moveTo>
                <a:cubicBezTo>
                  <a:pt x="376" y="0"/>
                  <a:pt x="378" y="2"/>
                  <a:pt x="378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374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718" name="" descr="{&quot;isTemplate&quot;:true,&quot;type&quot;:&quot;text&quot;}"/>
          <p:cNvSpPr txBox="1"/>
          <p:nvPr/>
        </p:nvSpPr>
        <p:spPr>
          <a:xfrm rot="0" flipH="0" flipV="0">
            <a:off x="4448175" y="1447800"/>
            <a:ext cx="200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87D2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719" name="" descr="{&quot;isTemplate&quot;:true,&quot;type&quot;:&quot;text&quot;}"/>
          <p:cNvSpPr txBox="1"/>
          <p:nvPr/>
        </p:nvSpPr>
        <p:spPr>
          <a:xfrm rot="0" flipH="0" flipV="0">
            <a:off x="4733925" y="1466850"/>
            <a:ext cx="3009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指标继承标记与密级</a:t>
            </a:r>
            <a:endParaRPr/>
          </a:p>
        </p:txBody>
      </p:sp>
      <p:sp>
        <p:nvSpPr>
          <p:cNvPr id="720" name="" descr="{&quot;isTemplate&quot;:true,&quot;type&quot;:&quot;text&quot;}"/>
          <p:cNvSpPr txBox="1"/>
          <p:nvPr/>
        </p:nvSpPr>
        <p:spPr>
          <a:xfrm rot="0" flipH="0" flipV="0">
            <a:off x="4448175" y="1733550"/>
            <a:ext cx="329565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指标的分母来自哪批对象，它就受那批对象的安全标记管辖。</a:t>
            </a:r>
            <a:endParaRPr/>
          </a:p>
        </p:txBody>
      </p:sp>
      <p:sp>
        <p:nvSpPr>
          <p:cNvPr id="721" name="" descr="{&quot;isTemplate&quot;:true,&quot;type&quot;:&quot;text&quot;}"/>
          <p:cNvSpPr txBox="1"/>
          <p:nvPr/>
        </p:nvSpPr>
        <p:spPr>
          <a:xfrm rot="0" flipH="0" flipV="0">
            <a:off x="4448175" y="2019300"/>
            <a:ext cx="476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F87D2F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722" name="" descr="{&quot;isTemplate&quot;:true,&quot;type&quot;:&quot;text&quot;}"/>
          <p:cNvSpPr txBox="1"/>
          <p:nvPr/>
        </p:nvSpPr>
        <p:spPr>
          <a:xfrm rot="0" flipH="0" flipV="0">
            <a:off x="4562475" y="2019300"/>
            <a:ext cx="318135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派生属性从每个计算对象继承安全性，含中间对象</a:t>
            </a:r>
            <a:endParaRPr/>
          </a:p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4448175" y="2457450"/>
            <a:ext cx="476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F87D2F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724" name="" descr="{&quot;isTemplate&quot;:true,&quot;type&quot;:&quot;text&quot;}"/>
          <p:cNvSpPr txBox="1"/>
          <p:nvPr/>
        </p:nvSpPr>
        <p:spPr>
          <a:xfrm rot="0" flipH="0" flipV="0">
            <a:off x="4562475" y="2457450"/>
            <a:ext cx="318135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跨密级聚合必须先取严，不能取宽</a:t>
            </a:r>
            <a:endParaRPr/>
          </a:p>
        </p:txBody>
      </p:sp>
      <p:sp>
        <p:nvSpPr>
          <p:cNvPr id="725" name="" descr="{&quot;isTemplate&quot;:true,&quot;type&quot;:&quot;text&quot;}"/>
          <p:cNvSpPr txBox="1"/>
          <p:nvPr/>
        </p:nvSpPr>
        <p:spPr>
          <a:xfrm rot="0" flipH="0" flipV="0">
            <a:off x="4448175" y="2895600"/>
            <a:ext cx="476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F87D2F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4562475" y="2895600"/>
            <a:ext cx="318135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对外发布的指标值本身也要打标记</a:t>
            </a:r>
            <a:endParaRPr/>
          </a:p>
        </p:txBody>
      </p:sp>
      <p:sp>
        <p:nvSpPr>
          <p:cNvPr id="727" name=""/>
          <p:cNvSpPr/>
          <p:nvPr/>
        </p:nvSpPr>
        <p:spPr>
          <a:xfrm rot="0" flipH="0" flipV="0">
            <a:off x="7991475" y="1323975"/>
            <a:ext cx="3590925" cy="2114550"/>
          </a:xfrm>
          <a:prstGeom prst="roundRect">
            <a:avLst>
              <a:gd name="adj" fmla="val 180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28" name=""/>
          <p:cNvSpPr/>
          <p:nvPr/>
        </p:nvSpPr>
        <p:spPr>
          <a:xfrm rot="0" flipH="0" flipV="0">
            <a:off x="7991475" y="1323975"/>
            <a:ext cx="3590925" cy="2114550"/>
          </a:xfrm>
          <a:custGeom>
            <a:pathLst>
              <a:path w="377" h="222">
                <a:moveTo>
                  <a:pt x="373" y="0"/>
                </a:moveTo>
                <a:cubicBezTo>
                  <a:pt x="375" y="0"/>
                  <a:pt x="377" y="2"/>
                  <a:pt x="377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373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729" name="" descr="{&quot;isTemplate&quot;:true,&quot;type&quot;:&quot;text&quot;}"/>
          <p:cNvSpPr txBox="1"/>
          <p:nvPr/>
        </p:nvSpPr>
        <p:spPr>
          <a:xfrm rot="0" flipH="0" flipV="0">
            <a:off x="8143875" y="1447800"/>
            <a:ext cx="200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C43A17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730" name="" descr="{&quot;isTemplate&quot;:true,&quot;type&quot;:&quot;text&quot;}"/>
          <p:cNvSpPr txBox="1"/>
          <p:nvPr/>
        </p:nvSpPr>
        <p:spPr>
          <a:xfrm rot="0" flipH="0" flipV="0">
            <a:off x="8429625" y="1466850"/>
            <a:ext cx="3000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88" b="1">
                <a:solidFill>
                  <a:srgbClr val="0F1423"/>
                </a:solidFill>
                <a:latin typeface="Microsoft YaHei"/>
                <a:ea typeface="Microsoft YaHei"/>
              </a:rPr>
              <a:t>approved use</a:t>
            </a: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：用途受限</a:t>
            </a:r>
            <a:endParaRPr/>
          </a:p>
        </p:txBody>
      </p:sp>
      <p:sp>
        <p:nvSpPr>
          <p:cNvPr id="731" name="" descr="{&quot;isTemplate&quot;:true,&quot;type&quot;:&quot;text&quot;}"/>
          <p:cNvSpPr txBox="1"/>
          <p:nvPr/>
        </p:nvSpPr>
        <p:spPr>
          <a:xfrm rot="0" flipH="0" flipV="0">
            <a:off x="8143875" y="1733550"/>
            <a:ext cx="3286125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同一个口径，董事会汇报与对外披露能取不同的值，两个值都有据可依。</a:t>
            </a:r>
            <a:endParaRPr/>
          </a:p>
        </p:txBody>
      </p:sp>
      <p:sp>
        <p:nvSpPr>
          <p:cNvPr id="732" name="" descr="{&quot;isTemplate&quot;:true,&quot;type&quot;:&quot;text&quot;}"/>
          <p:cNvSpPr txBox="1"/>
          <p:nvPr/>
        </p:nvSpPr>
        <p:spPr>
          <a:xfrm rot="0" flipH="0" flipV="0">
            <a:off x="8143875" y="2219325"/>
            <a:ext cx="476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C43A17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733" name="" descr="{&quot;isTemplate&quot;:true,&quot;type&quot;:&quot;text&quot;}"/>
          <p:cNvSpPr txBox="1"/>
          <p:nvPr/>
        </p:nvSpPr>
        <p:spPr>
          <a:xfrm rot="0" flipH="0" flipV="0">
            <a:off x="8258175" y="2219325"/>
            <a:ext cx="3171825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口径定义里写明允许的用途集合</a:t>
            </a:r>
            <a:endParaRPr/>
          </a:p>
        </p:txBody>
      </p:sp>
      <p:sp>
        <p:nvSpPr>
          <p:cNvPr id="734" name="" descr="{&quot;isTemplate&quot;:true,&quot;type&quot;:&quot;text&quot;}"/>
          <p:cNvSpPr txBox="1"/>
          <p:nvPr/>
        </p:nvSpPr>
        <p:spPr>
          <a:xfrm rot="0" flipH="0" flipV="0">
            <a:off x="8143875" y="2590800"/>
            <a:ext cx="476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C43A17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735" name="" descr="{&quot;isTemplate&quot;:true,&quot;type&quot;:&quot;text&quot;}"/>
          <p:cNvSpPr txBox="1"/>
          <p:nvPr/>
        </p:nvSpPr>
        <p:spPr>
          <a:xfrm rot="0" flipH="0" flipV="0">
            <a:off x="8258175" y="2590800"/>
            <a:ext cx="3171825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超出用途集合的取数走单独审批</a:t>
            </a:r>
            <a:endParaRPr/>
          </a:p>
        </p:txBody>
      </p:sp>
      <p:sp>
        <p:nvSpPr>
          <p:cNvPr id="736" name="" descr="{&quot;isTemplate&quot;:true,&quot;type&quot;:&quot;text&quot;}"/>
          <p:cNvSpPr txBox="1"/>
          <p:nvPr/>
        </p:nvSpPr>
        <p:spPr>
          <a:xfrm rot="0" flipH="0" flipV="0">
            <a:off x="8143875" y="2962275"/>
            <a:ext cx="476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C43A17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737" name="" descr="{&quot;isTemplate&quot;:true,&quot;type&quot;:&quot;text&quot;}"/>
          <p:cNvSpPr txBox="1"/>
          <p:nvPr/>
        </p:nvSpPr>
        <p:spPr>
          <a:xfrm rot="0" flipH="0" flipV="0">
            <a:off x="8258175" y="2962275"/>
            <a:ext cx="3171825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用途变更与口径变更同等对待</a:t>
            </a:r>
            <a:endParaRPr/>
          </a:p>
        </p:txBody>
      </p:sp>
      <p:sp>
        <p:nvSpPr>
          <p:cNvPr id="738" name=""/>
          <p:cNvSpPr/>
          <p:nvPr/>
        </p:nvSpPr>
        <p:spPr>
          <a:xfrm rot="0" flipH="0" flipV="0">
            <a:off x="609600" y="3495675"/>
            <a:ext cx="6038850" cy="2143125"/>
          </a:xfrm>
          <a:prstGeom prst="roundRect">
            <a:avLst>
              <a:gd name="adj" fmla="val 1778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739" name="" descr="{&quot;isTemplate&quot;:true,&quot;type&quot;:&quot;text&quot;}"/>
          <p:cNvSpPr txBox="1"/>
          <p:nvPr/>
        </p:nvSpPr>
        <p:spPr>
          <a:xfrm rot="0" flipH="0" flipV="0">
            <a:off x="781050" y="3609975"/>
            <a:ext cx="569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跨密级聚合的规则：取严，且必须说清分母是谁</a:t>
            </a:r>
            <a:endParaRPr/>
          </a:p>
        </p:txBody>
      </p:sp>
      <p:sp>
        <p:nvSpPr>
          <p:cNvPr id="740" name="" descr="{&quot;isTemplate&quot;:true,&quot;type&quot;:&quot;text&quot;}"/>
          <p:cNvSpPr txBox="1"/>
          <p:nvPr/>
        </p:nvSpPr>
        <p:spPr>
          <a:xfrm rot="0" flipH="0" flipV="0">
            <a:off x="781050" y="3857625"/>
            <a:ext cx="5695950" cy="1076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一个「集团总收入」指标，如果分母里混了涉密订单而当前用户看不到那些订单，官方机制是</a:t>
            </a:r>
            <a:r>
              <a:rPr lang="zh-CN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整条剔除</a:t>
            </a:r>
            <a:r>
              <a:rPr lang="zh-CN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——不是当</a:t>
            </a:r>
            <a:r>
              <a:rPr lang="en-US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0</a:t>
            </a:r>
            <a:r>
              <a:rPr lang="zh-CN" sz="8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，也不是照算。这会同时改变分子与分母。</a:t>
            </a:r>
            <a:endParaRPr/>
          </a:p>
        </p:txBody>
      </p:sp>
      <p:sp>
        <p:nvSpPr>
          <p:cNvPr id="741" name=""/>
          <p:cNvSpPr/>
          <p:nvPr/>
        </p:nvSpPr>
        <p:spPr>
          <a:xfrm rot="0" flipH="0" flipV="0">
            <a:off x="781050" y="5010150"/>
            <a:ext cx="5695950" cy="514350"/>
          </a:xfrm>
          <a:prstGeom prst="roundRect">
            <a:avLst>
              <a:gd name="adj" fmla="val 5556"/>
            </a:avLst>
          </a:prstGeom>
          <a:solidFill>
            <a:srgbClr val="FA4F24">
              <a:alpha val="18000"/>
            </a:srgbClr>
          </a:solidFill>
          <a:ln/>
        </p:spPr>
        <p:txBody>
          <a:bodyPr/>
          <a:p/>
        </p:txBody>
      </p:sp>
      <p:sp>
        <p:nvSpPr>
          <p:cNvPr id="742" name="" descr="{&quot;isTemplate&quot;:true,&quot;type&quot;:&quot;text&quot;}"/>
          <p:cNvSpPr txBox="1"/>
          <p:nvPr/>
        </p:nvSpPr>
        <p:spPr>
          <a:xfrm rot="0" flipH="0" flipV="0">
            <a:off x="885825" y="5086350"/>
            <a:ext cx="5486400" cy="361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788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因此指标口径卡必须加一项：</a:t>
            </a:r>
            <a:r>
              <a:rPr lang="zh-CN" sz="788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权限基线</a:t>
            </a:r>
            <a:r>
              <a:rPr lang="zh-CN" sz="788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——这个数在「默认哪一档权限」下算出来。换一档权限就是一个不同的数，要写明。</a:t>
            </a:r>
            <a:endParaRPr/>
          </a:p>
        </p:txBody>
      </p:sp>
      <p:sp>
        <p:nvSpPr>
          <p:cNvPr id="743" name=""/>
          <p:cNvSpPr/>
          <p:nvPr/>
        </p:nvSpPr>
        <p:spPr>
          <a:xfrm rot="0" flipH="0" flipV="0">
            <a:off x="6743700" y="3495675"/>
            <a:ext cx="4838700" cy="2143125"/>
          </a:xfrm>
          <a:prstGeom prst="roundRect">
            <a:avLst>
              <a:gd name="adj" fmla="val 1778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744" name="" descr="{&quot;isTemplate&quot;:true,&quot;type&quot;:&quot;text&quot;}"/>
          <p:cNvSpPr txBox="1"/>
          <p:nvPr/>
        </p:nvSpPr>
        <p:spPr>
          <a:xfrm rot="0" flipH="0" flipV="0">
            <a:off x="6915150" y="3609975"/>
            <a:ext cx="4495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C43A17"/>
                </a:solidFill>
                <a:latin typeface="Microsoft YaHei"/>
                <a:ea typeface="Microsoft YaHei"/>
              </a:rPr>
              <a:t>口径与治理的六条对应</a:t>
            </a:r>
            <a:endParaRPr/>
          </a:p>
        </p:txBody>
      </p:sp>
      <p:sp>
        <p:nvSpPr>
          <p:cNvPr id="745" name=""/>
          <p:cNvSpPr/>
          <p:nvPr/>
        </p:nvSpPr>
        <p:spPr>
          <a:xfrm rot="0" flipH="0" flipV="0">
            <a:off x="6915150" y="3857625"/>
            <a:ext cx="4495800" cy="23812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46" name="" descr="{&quot;isTemplate&quot;:true,&quot;type&quot;:&quot;text&quot;}"/>
          <p:cNvSpPr txBox="1"/>
          <p:nvPr/>
        </p:nvSpPr>
        <p:spPr>
          <a:xfrm rot="0" flipH="0" flipV="0">
            <a:off x="7010400" y="3914775"/>
            <a:ext cx="1333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FA4F24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747" name="" descr="{&quot;isTemplate&quot;:true,&quot;type&quot;:&quot;text&quot;}"/>
          <p:cNvSpPr txBox="1"/>
          <p:nvPr/>
        </p:nvSpPr>
        <p:spPr>
          <a:xfrm rot="0" flipH="0" flipV="0">
            <a:off x="7219950" y="3895725"/>
            <a:ext cx="409575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指标定义</a:t>
            </a:r>
            <a:r>
              <a:rPr lang="en-US" sz="788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受管数据资产，不是散落的配置</a:t>
            </a:r>
            <a:endParaRPr/>
          </a:p>
        </p:txBody>
      </p:sp>
      <p:sp>
        <p:nvSpPr>
          <p:cNvPr id="748" name=""/>
          <p:cNvSpPr/>
          <p:nvPr/>
        </p:nvSpPr>
        <p:spPr>
          <a:xfrm rot="0" flipH="0" flipV="0">
            <a:off x="6915150" y="4143375"/>
            <a:ext cx="4495800" cy="23812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49" name="" descr="{&quot;isTemplate&quot;:true,&quot;type&quot;:&quot;text&quot;}"/>
          <p:cNvSpPr txBox="1"/>
          <p:nvPr/>
        </p:nvSpPr>
        <p:spPr>
          <a:xfrm rot="0" flipH="0" flipV="0">
            <a:off x="7010400" y="4200525"/>
            <a:ext cx="1333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FA4F24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750" name="" descr="{&quot;isTemplate&quot;:true,&quot;type&quot;:&quot;text&quot;}"/>
          <p:cNvSpPr txBox="1"/>
          <p:nvPr/>
        </p:nvSpPr>
        <p:spPr>
          <a:xfrm rot="0" flipH="0" flipV="0">
            <a:off x="7219950" y="4181475"/>
            <a:ext cx="409575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口径变更</a:t>
            </a:r>
            <a:r>
              <a:rPr lang="en-US" sz="788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受管动作，走提案与审批</a:t>
            </a:r>
            <a:endParaRPr/>
          </a:p>
        </p:txBody>
      </p:sp>
      <p:sp>
        <p:nvSpPr>
          <p:cNvPr id="751" name=""/>
          <p:cNvSpPr/>
          <p:nvPr/>
        </p:nvSpPr>
        <p:spPr>
          <a:xfrm rot="0" flipH="0" flipV="0">
            <a:off x="6915150" y="4429125"/>
            <a:ext cx="4495800" cy="23812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52" name="" descr="{&quot;isTemplate&quot;:true,&quot;type&quot;:&quot;text&quot;}"/>
          <p:cNvSpPr txBox="1"/>
          <p:nvPr/>
        </p:nvSpPr>
        <p:spPr>
          <a:xfrm rot="0" flipH="0" flipV="0">
            <a:off x="7010400" y="4486275"/>
            <a:ext cx="1333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FA4F24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753" name="" descr="{&quot;isTemplate&quot;:true,&quot;type&quot;:&quot;text&quot;}"/>
          <p:cNvSpPr txBox="1"/>
          <p:nvPr/>
        </p:nvSpPr>
        <p:spPr>
          <a:xfrm rot="0" flipH="0" flipV="0">
            <a:off x="7219950" y="4467225"/>
            <a:ext cx="409575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指标密级</a:t>
            </a:r>
            <a:r>
              <a:rPr lang="en-US" sz="788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继承源对象标记，聚合取严</a:t>
            </a:r>
            <a:endParaRPr/>
          </a:p>
        </p:txBody>
      </p:sp>
      <p:sp>
        <p:nvSpPr>
          <p:cNvPr id="754" name=""/>
          <p:cNvSpPr/>
          <p:nvPr/>
        </p:nvSpPr>
        <p:spPr>
          <a:xfrm rot="0" flipH="0" flipV="0">
            <a:off x="6915150" y="4714875"/>
            <a:ext cx="4495800" cy="23812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55" name="" descr="{&quot;isTemplate&quot;:true,&quot;type&quot;:&quot;text&quot;}"/>
          <p:cNvSpPr txBox="1"/>
          <p:nvPr/>
        </p:nvSpPr>
        <p:spPr>
          <a:xfrm rot="0" flipH="0" flipV="0">
            <a:off x="7010400" y="4772025"/>
            <a:ext cx="1333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FA4F24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756" name="" descr="{&quot;isTemplate&quot;:true,&quot;type&quot;:&quot;text&quot;}"/>
          <p:cNvSpPr txBox="1"/>
          <p:nvPr/>
        </p:nvSpPr>
        <p:spPr>
          <a:xfrm rot="0" flipH="0" flipV="0">
            <a:off x="7219950" y="4752975"/>
            <a:ext cx="409575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口径可见性</a:t>
            </a:r>
            <a:r>
              <a:rPr lang="en-US" sz="788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对象级权限，无权限则</a:t>
            </a:r>
            <a:r>
              <a:rPr lang="en-US" sz="788">
                <a:solidFill>
                  <a:srgbClr val="3A405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也调不出来</a:t>
            </a:r>
            <a:endParaRPr/>
          </a:p>
        </p:txBody>
      </p:sp>
      <p:sp>
        <p:nvSpPr>
          <p:cNvPr id="757" name=""/>
          <p:cNvSpPr/>
          <p:nvPr/>
        </p:nvSpPr>
        <p:spPr>
          <a:xfrm rot="0" flipH="0" flipV="0">
            <a:off x="6915150" y="5000625"/>
            <a:ext cx="4495800" cy="23812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58" name="" descr="{&quot;isTemplate&quot;:true,&quot;type&quot;:&quot;text&quot;}"/>
          <p:cNvSpPr txBox="1"/>
          <p:nvPr/>
        </p:nvSpPr>
        <p:spPr>
          <a:xfrm rot="0" flipH="0" flipV="0">
            <a:off x="7010400" y="5057775"/>
            <a:ext cx="1333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FA4F24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759" name="" descr="{&quot;isTemplate&quot;:true,&quot;type&quot;:&quot;text&quot;}"/>
          <p:cNvSpPr txBox="1"/>
          <p:nvPr/>
        </p:nvSpPr>
        <p:spPr>
          <a:xfrm rot="0" flipH="0" flipV="0">
            <a:off x="7219950" y="5038725"/>
            <a:ext cx="409575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口径历史</a:t>
            </a:r>
            <a:r>
              <a:rPr lang="en-US" sz="788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进元数据血缘，可回溯到哪次变更</a:t>
            </a:r>
            <a:endParaRPr/>
          </a:p>
        </p:txBody>
      </p:sp>
      <p:sp>
        <p:nvSpPr>
          <p:cNvPr id="760" name=""/>
          <p:cNvSpPr/>
          <p:nvPr/>
        </p:nvSpPr>
        <p:spPr>
          <a:xfrm rot="0" flipH="0" flipV="0">
            <a:off x="6915150" y="5286375"/>
            <a:ext cx="4495800" cy="23812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61" name="" descr="{&quot;isTemplate&quot;:true,&quot;type&quot;:&quot;text&quot;}"/>
          <p:cNvSpPr txBox="1"/>
          <p:nvPr/>
        </p:nvSpPr>
        <p:spPr>
          <a:xfrm rot="0" flipH="0" flipV="0">
            <a:off x="7010400" y="5343525"/>
            <a:ext cx="1333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FA4F24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762" name="" descr="{&quot;isTemplate&quot;:true,&quot;type&quot;:&quot;text&quot;}"/>
          <p:cNvSpPr txBox="1"/>
          <p:nvPr/>
        </p:nvSpPr>
        <p:spPr>
          <a:xfrm rot="0" flipH="0" flipV="0">
            <a:off x="7219950" y="5324475"/>
            <a:ext cx="409575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异常检出</a:t>
            </a:r>
            <a:r>
              <a:rPr lang="en-US" sz="788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进治理审计，静默失效靠规则不靠自觉</a:t>
            </a:r>
            <a:endParaRPr/>
          </a:p>
        </p:txBody>
      </p:sp>
      <p:sp>
        <p:nvSpPr>
          <p:cNvPr id="763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764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765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指标体系咨询方法论</a:t>
            </a:r>
            <a:endParaRPr/>
          </a:p>
        </p:txBody>
      </p:sp>
      <p:sp>
        <p:nvSpPr>
          <p:cNvPr id="766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20 / 30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767" name="" descr="&lt;Slide style={{ width: 1280, height: 720, background: '#FFFFFF', padding: '24px 64px 0' }}&gt;&#10;  &lt;Box style={{ height: 96, flexDirection: 'column', justifyContent: 'flex-start' }}&gt;&#10;    &lt;Text style={{ fontSize: 32, fontWeight: 'bold', color: '#0F1423' }}&gt;&#10;      指标 × 管道处理：&lt;span style={{ color: '#FA4F24' }}&gt;预计算还是运行时算&lt;/span&gt;，这是五条取舍&#10;    &lt;/Text&gt;&#10;    &lt;Text style={{ fontSize: 20, color: '#8A8F99', marginTop: 8 }}&gt;官方专门有一篇文档指导这个选择——说明它不是二选一，而是按用途分工&lt;/Text&gt;&#10;  &lt;/Box&gt;&#10;  &lt;Box style={{ height: 1, background: '#E8E8E8' }} /&gt;&#10;&#10;  &lt;Box style={{ paddingTop: 14, paddingBottom: 8, height: 479, flexDirection: 'column', gap: 10 }}&gt;&#10;    &lt;Box style={{ flex: 1, flexDirection: 'row', gap: 10 }}&gt;&#10;      &lt;Box style={{ flex: 1, background: '#F7F7F8', borderRadius: 4, borderTop: '4px solid #FA4F24', padding: '12px 16px', flexDirection: 'column' }}&gt;&#10;        &lt;Text style={{ fontSize: 16, fontWeight: 'bold', color: '#FA4F24' }}&gt;运行时派生属性&lt;/Text&gt;&#10;        &lt;Text style={{ fontSize: 10.5, color: '#8A8F99', marginTop: 3 }}&gt;不存储、不索引，查询时算&lt;/Text&gt;&#10;        &lt;Box style={{ marginTop: 9, gap: 5, flex: 1 }}&gt;&#10;          {[&#10;            '底层数据一变，指标自动就对了，不用重跑管道',&#10;            '不用维护任何更新逻辑，也就不存在「忘了刷新」',&#10;            '口径改了立刻生效，全局一致',&#10;            '平台可把过滤下推到对象索引，减少实际计算量',&#10;            '代价：按派生值过滤或排序，通常要为剩余候选对象逐个算出该值',&#10;          ].map((t, i) =&gt; (&#10;            &lt;Box key={i} style={{ flexDirection: 'row', gap: 7, flex: 1, alignItems: 'flex-start' }}&gt;&#10;              &lt;Text style={{ fontSize: 10.5, fontWeight: 'bold', color: i === 4 ? '#C43A17' : '#FA4F24' }}&gt;{i === 4 ? '!' : '+'}&lt;/Text&gt;&#10;              &lt;Text style={{ fontSize: 10.5, color: i === 4 ? '#C43A17' : '#5A6070', lineHeight: 1.45, flex: 1 }}&gt;{t}&lt;/Text&gt;&#10;            &lt;/Box&gt;&#10;          ))}&#10;        &lt;/Box&gt;&#10;      &lt;/Box&gt;&#10;&#10;      &lt;Box style={{ flex: 1, background: '#F7F7F8', borderRadius: 4, borderTop: '4px solid #F87D2F', padding: '12px 16px', flexDirection: 'column' }}&gt;&#10;        &lt;Text style={{ fontSize: 16, fontWeight: 'bold', color: '#F87D2F' }}&gt;管道内预计算&lt;/Text&gt;&#10;        &lt;Text style={{ fontSize: 10.5, color: '#8A8F99', marginTop: 3 }}&gt;落成物化结果，有明确的刷新与版本&lt;/Text&gt;&#10;        &lt;Box style={{ marginTop: 9, gap: 5, flex: 1 }}&gt;&#10;          {[&#10;            '结果已算好，查询延迟稳定，不受候选集大小影响',&#10;            '适合高频、超大结果集的固定口径',&#10;            '可用于时间序列对比：跨期间口径变了，历史值仍在',&#10;            '代价：口径改了要重跑，且必须处理双版本并存',&#10;            '代价：多了一份副本，就多了一处可能与本体不一致的地方',&#10;          ].map((t, i) =&gt; (&#10;            &lt;Box key={i} style={{ flexDirection: 'row', gap: 7, flex: 1, alignItems: 'flex-start' }}&gt;&#10;              &lt;Text style={{ fontSize: 10.5, fontWeight: 'bold', color: i &gt;= 3 ? '#C43A17' : '#F87D2F' }}&gt;{i &gt;= 3 ? '!' : '+'}&lt;/Text&gt;&#10;              &lt;Text style={{ fontSize: 10.5, color: i &gt;= 3 ? '#C43A17' : '#5A6070', lineHeight: 1.45, flex: 1 }}&gt;{t}&lt;/Text&gt;&#10;            &lt;/Box&gt;&#10;          ))}&#10;        &lt;/Box&gt;&#10;      &lt;/Box&gt;&#10;    &lt;/Box&gt;&#10;&#10;    &lt;Box style={{ flex: 0.9, flexDirection: 'row', gap: 10 }}&gt;&#10;      &lt;Box style={{ flex: 1.2, background: '#0F1423', borderRadius: 4, padding: '12px 18px', flexDirection: 'column' }}&gt;&#10;        &lt;Text style={{ fontSize: 13.5, fontWeight: 'bold', color: '#FBA15C' }}&gt;官方给的两个硬规模数字&lt;/Text&gt;&#10;        &lt;Box style={{ flexDirection: 'row', gap: 10, marginTop: 10, flex: 1 }}&gt;&#10;          &lt;Box style={{ flex: 1, background: 'rgba(250,79,36,0.16)', borderRadius: 3, padding: '10px 14px', justifyContent: 'center' }}&gt;&#10;            &lt;Text style={{ fontSize: 24, fontWeight: 'bold', color: '#FBA15C' }}&gt;200 行&lt;/Text&gt;&#10;            &lt;Text style={{ fontSize: 10.5, color: 'rgba(255,255,255,0.82)', marginTop: 5, lineHeight: 1.45 }}&gt;&#10;              Workshop 里用派生属性排序时的对象集上限。超过就要改成函数列或走预计算。&#10;            &lt;/Text&gt;&#10;          &lt;/Box&gt;&#10;          &lt;Box style={{ flex: 1, background: 'rgba(250,79,36,0.16)', borderRadius: 3, padding: '10px 14px', justifyContent: 'center' }}&gt;&#10;            &lt;Text style={{ fontSize: 24, fontWeight: 'bold', color: '#FBA15C' }}&gt;10,000 行&lt;/Text&gt;&#10;            &lt;Text style={{ fontSize: 10.5, color: 'rgba(255,255,255,0.82)', marginTop: 5, lineHeight: 1.45 }}&gt;&#10;              函数列支持端用户排序的上限。再往上端用户不能排序，默认排序只对每页生效。&#10;            &lt;/Text&gt;&#10;          &lt;/Box&gt;&#10;          &lt;Box style={{ flex: 1, background: 'rgba(250,79,36,0.16)', borderRadius: 3, padding: '10px 14px', justifyContent: 'center' }}&gt;&#10;            &lt;Text style={{ fontSize: 24, fontWeight: 'bold', color: '#FBA15C' }}&gt;3 跳 / 1 跳&lt;/Text&gt;&#10;            &lt;Text style={{ fontSize: 10.5, color: 'rgba(255,255,255,0.82)', marginTop: 5, lineHeight: 1.45 }}&gt;&#10;              本体定义最多 3 跳链接；Workshop 与 Insight 的运行时定义只有 1 跳。&#10;            &lt;/Text&gt;&#10;          &lt;/Box&gt;&#10;        &lt;/Box&gt;&#10;      &lt;/Box&gt;&#10;&#10;      &lt;Box style={{ flex: 1, background: '#FFF3EE', borderRadius: 4, padding: '12px 18px', flexDirection: 'column' }}&gt;&#10;        &lt;Text style={{ fontSize: 13.5, fontWeight: 'bold', color: '#C43A17' }}&gt;给管道的三条判定规则&lt;/Text&gt;&#10;        &lt;Box style={{ marginTop: 9, gap: 7, flex: 1 }}&gt;&#10;          {[&#10;            { n: '一', t: '口径会频繁变 → 运行时', d: '少一次重跑，少一份不一致' },&#10;            { n: '二', t: '口径稳定且高频高频查 → 预计算', d: '用确定的延迟换维护成本' },&#10;            { n: '三', t: '两者都要 → 预计算必须挂版本号', d: '写清它是从哪套口径、哪个时点算出来的' },&#10;          ].map((x) =&gt; (&#10;            &lt;Box key={x.n} style={{ flex: 1, flexDirection: 'row', gap: 9, background: '#FFFFFF', borderRadius: 3, padding: '6px 11px', alignItems: 'center' }}&gt;&#10;              &lt;Text style={{ fontSize: 12.5, fontWeight: 'bold', color: '#FA4F24' }}&gt;{x.n}&lt;/Text&gt;&#10;              &lt;Box style={{ flex: 1, flexDirection: 'column' }}&gt;&#10;                &lt;Text style={{ fontSize: 11.5, fontWeight: 'bold', color: '#0F1423' }}&gt;{x.t}&lt;/Text&gt;&#10;                &lt;Text style={{ fontSize: 10.5, color: '#5A6070', marginTop: 2, lineHeight: 1.4 }}&gt;{x.d}&lt;/Text&gt;&#10;              &lt;/Box&gt;&#10;            &lt;/Box&gt;&#10;          ))}&#10;        &lt;/Box&gt;&#10;      &lt;/Box&gt;&#10;    &lt;/Box&gt;&#10;  &lt;/Box&gt;&#10;&#10;  &lt;Box style={{ height: 58, flexDirection: 'row', alignItems: 'center', borderTop: '1px solid #E8E8E8' }}&gt;&#10;    &lt;Box style={{ width: 10, height: 10, background: '#FA4F24' }} /&gt;&#10;    &lt;Text style={{ fontSize: 13, color: '#8A8F99', marginLeft: 12 }}&gt;硕磐机密 · 指标体系咨询方法论&lt;/Text&gt;&#10;    &lt;Text style={{ fontSize: 13, color: '#8A8F99', marginLeft: 'auto' }}&gt;21 / 3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69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指标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管道处理：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预计算还是运行时算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，这是五条取舍</a:t>
            </a:r>
            <a:endParaRPr/>
          </a:p>
        </p:txBody>
      </p:sp>
      <p:sp>
        <p:nvSpPr>
          <p:cNvPr id="770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官方专门有一篇文档指导这个选择——说明它不是二选一，而是按用途分工</a:t>
            </a:r>
            <a:endParaRPr/>
          </a:p>
        </p:txBody>
      </p:sp>
      <p:sp>
        <p:nvSpPr>
          <p:cNvPr id="771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772" name=""/>
          <p:cNvSpPr/>
          <p:nvPr/>
        </p:nvSpPr>
        <p:spPr>
          <a:xfrm rot="0" flipH="0" flipV="0">
            <a:off x="609600" y="1323975"/>
            <a:ext cx="5438775" cy="2076450"/>
          </a:xfrm>
          <a:prstGeom prst="roundRect">
            <a:avLst>
              <a:gd name="adj" fmla="val 183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73" name=""/>
          <p:cNvSpPr/>
          <p:nvPr/>
        </p:nvSpPr>
        <p:spPr>
          <a:xfrm rot="0" flipH="0" flipV="0">
            <a:off x="609600" y="1323975"/>
            <a:ext cx="5438775" cy="2076450"/>
          </a:xfrm>
          <a:custGeom>
            <a:pathLst>
              <a:path w="571" h="218">
                <a:moveTo>
                  <a:pt x="567" y="0"/>
                </a:moveTo>
                <a:cubicBezTo>
                  <a:pt x="569" y="0"/>
                  <a:pt x="571" y="2"/>
                  <a:pt x="571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67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774" name="" descr="{&quot;isTemplate&quot;:true,&quot;type&quot;:&quot;text&quot;}"/>
          <p:cNvSpPr txBox="1"/>
          <p:nvPr/>
        </p:nvSpPr>
        <p:spPr>
          <a:xfrm rot="0" flipH="0" flipV="0">
            <a:off x="762000" y="1438275"/>
            <a:ext cx="51339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A4F24"/>
                </a:solidFill>
                <a:latin typeface="Microsoft YaHei"/>
                <a:ea typeface="Microsoft YaHei"/>
              </a:rPr>
              <a:t>运行时派生属性</a:t>
            </a:r>
            <a:endParaRPr/>
          </a:p>
        </p:txBody>
      </p:sp>
      <p:sp>
        <p:nvSpPr>
          <p:cNvPr id="775" name="" descr="{&quot;isTemplate&quot;:true,&quot;type&quot;:&quot;text&quot;}"/>
          <p:cNvSpPr txBox="1"/>
          <p:nvPr/>
        </p:nvSpPr>
        <p:spPr>
          <a:xfrm rot="0" flipH="0" flipV="0">
            <a:off x="762000" y="1657350"/>
            <a:ext cx="51339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不存储、不索引，查询时算</a:t>
            </a:r>
            <a:endParaRPr/>
          </a:p>
        </p:txBody>
      </p:sp>
      <p:sp>
        <p:nvSpPr>
          <p:cNvPr id="776" name="" descr="{&quot;isTemplate&quot;:true,&quot;type&quot;:&quot;text&quot;}"/>
          <p:cNvSpPr txBox="1"/>
          <p:nvPr/>
        </p:nvSpPr>
        <p:spPr>
          <a:xfrm rot="0" flipH="0" flipV="0">
            <a:off x="762000" y="1866900"/>
            <a:ext cx="762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FA4F24"/>
                </a:solidFill>
                <a:latin typeface="Microsoft YaHei"/>
                <a:ea typeface="Microsoft YaHei"/>
              </a:rPr>
              <a:t>+</a:t>
            </a:r>
            <a:endParaRPr/>
          </a:p>
        </p:txBody>
      </p:sp>
      <p:sp>
        <p:nvSpPr>
          <p:cNvPr id="777" name="" descr="{&quot;isTemplate&quot;:true,&quot;type&quot;:&quot;text&quot;}"/>
          <p:cNvSpPr txBox="1"/>
          <p:nvPr/>
        </p:nvSpPr>
        <p:spPr>
          <a:xfrm rot="0" flipH="0" flipV="0">
            <a:off x="904875" y="1866900"/>
            <a:ext cx="499110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底层数据一变，指标自动就对了，不用重跑管道</a:t>
            </a:r>
            <a:endParaRPr/>
          </a:p>
        </p:txBody>
      </p:sp>
      <p:sp>
        <p:nvSpPr>
          <p:cNvPr id="778" name="" descr="{&quot;isTemplate&quot;:true,&quot;type&quot;:&quot;text&quot;}"/>
          <p:cNvSpPr txBox="1"/>
          <p:nvPr/>
        </p:nvSpPr>
        <p:spPr>
          <a:xfrm rot="0" flipH="0" flipV="0">
            <a:off x="762000" y="2152650"/>
            <a:ext cx="762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FA4F24"/>
                </a:solidFill>
                <a:latin typeface="Microsoft YaHei"/>
                <a:ea typeface="Microsoft YaHei"/>
              </a:rPr>
              <a:t>+</a:t>
            </a:r>
            <a:endParaRPr/>
          </a:p>
        </p:txBody>
      </p:sp>
      <p:sp>
        <p:nvSpPr>
          <p:cNvPr id="779" name="" descr="{&quot;isTemplate&quot;:true,&quot;type&quot;:&quot;text&quot;}"/>
          <p:cNvSpPr txBox="1"/>
          <p:nvPr/>
        </p:nvSpPr>
        <p:spPr>
          <a:xfrm rot="0" flipH="0" flipV="0">
            <a:off x="904875" y="2152650"/>
            <a:ext cx="499110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不用维护任何更新逻辑，也就不存在「忘了刷新」</a:t>
            </a:r>
            <a:endParaRPr/>
          </a:p>
        </p:txBody>
      </p:sp>
      <p:sp>
        <p:nvSpPr>
          <p:cNvPr id="780" name="" descr="{&quot;isTemplate&quot;:true,&quot;type&quot;:&quot;text&quot;}"/>
          <p:cNvSpPr txBox="1"/>
          <p:nvPr/>
        </p:nvSpPr>
        <p:spPr>
          <a:xfrm rot="0" flipH="0" flipV="0">
            <a:off x="762000" y="2438400"/>
            <a:ext cx="762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FA4F24"/>
                </a:solidFill>
                <a:latin typeface="Microsoft YaHei"/>
                <a:ea typeface="Microsoft YaHei"/>
              </a:rPr>
              <a:t>+</a:t>
            </a:r>
            <a:endParaRPr/>
          </a:p>
        </p:txBody>
      </p:sp>
      <p:sp>
        <p:nvSpPr>
          <p:cNvPr id="781" name="" descr="{&quot;isTemplate&quot;:true,&quot;type&quot;:&quot;text&quot;}"/>
          <p:cNvSpPr txBox="1"/>
          <p:nvPr/>
        </p:nvSpPr>
        <p:spPr>
          <a:xfrm rot="0" flipH="0" flipV="0">
            <a:off x="904875" y="2438400"/>
            <a:ext cx="499110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口径改了立刻生效，全局一致</a:t>
            </a:r>
            <a:endParaRPr/>
          </a:p>
        </p:txBody>
      </p:sp>
      <p:sp>
        <p:nvSpPr>
          <p:cNvPr id="782" name="" descr="{&quot;isTemplate&quot;:true,&quot;type&quot;:&quot;text&quot;}"/>
          <p:cNvSpPr txBox="1"/>
          <p:nvPr/>
        </p:nvSpPr>
        <p:spPr>
          <a:xfrm rot="0" flipH="0" flipV="0">
            <a:off x="762000" y="2724150"/>
            <a:ext cx="762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FA4F24"/>
                </a:solidFill>
                <a:latin typeface="Microsoft YaHei"/>
                <a:ea typeface="Microsoft YaHei"/>
              </a:rPr>
              <a:t>+</a:t>
            </a:r>
            <a:endParaRPr/>
          </a:p>
        </p:txBody>
      </p:sp>
      <p:sp>
        <p:nvSpPr>
          <p:cNvPr id="783" name="" descr="{&quot;isTemplate&quot;:true,&quot;type&quot;:&quot;text&quot;}"/>
          <p:cNvSpPr txBox="1"/>
          <p:nvPr/>
        </p:nvSpPr>
        <p:spPr>
          <a:xfrm rot="0" flipH="0" flipV="0">
            <a:off x="904875" y="2724150"/>
            <a:ext cx="499110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平台可把过滤下推到对象索引，减少实际计算量</a:t>
            </a:r>
            <a:endParaRPr/>
          </a:p>
        </p:txBody>
      </p:sp>
      <p:sp>
        <p:nvSpPr>
          <p:cNvPr id="784" name="" descr="{&quot;isTemplate&quot;:true,&quot;type&quot;:&quot;text&quot;}"/>
          <p:cNvSpPr txBox="1"/>
          <p:nvPr/>
        </p:nvSpPr>
        <p:spPr>
          <a:xfrm rot="0" flipH="0" flipV="0">
            <a:off x="762000" y="3009900"/>
            <a:ext cx="381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C43A17"/>
                </a:solidFill>
                <a:latin typeface="Microsoft YaHei"/>
                <a:ea typeface="Microsoft YaHei"/>
              </a:rPr>
              <a:t>!</a:t>
            </a:r>
            <a:endParaRPr/>
          </a:p>
        </p:txBody>
      </p:sp>
      <p:sp>
        <p:nvSpPr>
          <p:cNvPr id="785" name="" descr="{&quot;isTemplate&quot;:true,&quot;type&quot;:&quot;text&quot;}"/>
          <p:cNvSpPr txBox="1"/>
          <p:nvPr/>
        </p:nvSpPr>
        <p:spPr>
          <a:xfrm rot="0" flipH="0" flipV="0">
            <a:off x="866775" y="3009900"/>
            <a:ext cx="502920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C43A17"/>
                </a:solidFill>
                <a:latin typeface="Microsoft YaHei"/>
                <a:ea typeface="Microsoft YaHei"/>
              </a:rPr>
              <a:t>代价：按派生值过滤或排序，通常要为剩余候选对象逐个算出该值</a:t>
            </a:r>
            <a:endParaRPr/>
          </a:p>
        </p:txBody>
      </p:sp>
      <p:sp>
        <p:nvSpPr>
          <p:cNvPr id="786" name=""/>
          <p:cNvSpPr/>
          <p:nvPr/>
        </p:nvSpPr>
        <p:spPr>
          <a:xfrm rot="0" flipH="0" flipV="0">
            <a:off x="6143625" y="1323975"/>
            <a:ext cx="5438775" cy="2076450"/>
          </a:xfrm>
          <a:prstGeom prst="roundRect">
            <a:avLst>
              <a:gd name="adj" fmla="val 183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87" name=""/>
          <p:cNvSpPr/>
          <p:nvPr/>
        </p:nvSpPr>
        <p:spPr>
          <a:xfrm rot="0" flipH="0" flipV="0">
            <a:off x="6143625" y="1323975"/>
            <a:ext cx="5438775" cy="2076450"/>
          </a:xfrm>
          <a:custGeom>
            <a:pathLst>
              <a:path w="571" h="218">
                <a:moveTo>
                  <a:pt x="567" y="0"/>
                </a:moveTo>
                <a:cubicBezTo>
                  <a:pt x="569" y="0"/>
                  <a:pt x="571" y="2"/>
                  <a:pt x="571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67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788" name="" descr="{&quot;isTemplate&quot;:true,&quot;type&quot;:&quot;text&quot;}"/>
          <p:cNvSpPr txBox="1"/>
          <p:nvPr/>
        </p:nvSpPr>
        <p:spPr>
          <a:xfrm rot="0" flipH="0" flipV="0">
            <a:off x="6296025" y="1438275"/>
            <a:ext cx="51339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87D2F"/>
                </a:solidFill>
                <a:latin typeface="Microsoft YaHei"/>
                <a:ea typeface="Microsoft YaHei"/>
              </a:rPr>
              <a:t>管道内预计算</a:t>
            </a:r>
            <a:endParaRPr/>
          </a:p>
        </p:txBody>
      </p:sp>
      <p:sp>
        <p:nvSpPr>
          <p:cNvPr id="789" name="" descr="{&quot;isTemplate&quot;:true,&quot;type&quot;:&quot;text&quot;}"/>
          <p:cNvSpPr txBox="1"/>
          <p:nvPr/>
        </p:nvSpPr>
        <p:spPr>
          <a:xfrm rot="0" flipH="0" flipV="0">
            <a:off x="6296025" y="1657350"/>
            <a:ext cx="51339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落成物化结果，有明确的刷新与版本</a:t>
            </a:r>
            <a:endParaRPr/>
          </a:p>
        </p:txBody>
      </p:sp>
      <p:sp>
        <p:nvSpPr>
          <p:cNvPr id="790" name="" descr="{&quot;isTemplate&quot;:true,&quot;type&quot;:&quot;text&quot;}"/>
          <p:cNvSpPr txBox="1"/>
          <p:nvPr/>
        </p:nvSpPr>
        <p:spPr>
          <a:xfrm rot="0" flipH="0" flipV="0">
            <a:off x="6296025" y="1866900"/>
            <a:ext cx="762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F87D2F"/>
                </a:solidFill>
                <a:latin typeface="Microsoft YaHei"/>
                <a:ea typeface="Microsoft YaHei"/>
              </a:rPr>
              <a:t>+</a:t>
            </a:r>
            <a:endParaRPr/>
          </a:p>
        </p:txBody>
      </p:sp>
      <p:sp>
        <p:nvSpPr>
          <p:cNvPr id="791" name="" descr="{&quot;isTemplate&quot;:true,&quot;type&quot;:&quot;text&quot;}"/>
          <p:cNvSpPr txBox="1"/>
          <p:nvPr/>
        </p:nvSpPr>
        <p:spPr>
          <a:xfrm rot="0" flipH="0" flipV="0">
            <a:off x="6438900" y="1866900"/>
            <a:ext cx="499110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结果已算好，查询延迟稳定，不受候选集大小影响</a:t>
            </a:r>
            <a:endParaRPr/>
          </a:p>
        </p:txBody>
      </p:sp>
      <p:sp>
        <p:nvSpPr>
          <p:cNvPr id="792" name="" descr="{&quot;isTemplate&quot;:true,&quot;type&quot;:&quot;text&quot;}"/>
          <p:cNvSpPr txBox="1"/>
          <p:nvPr/>
        </p:nvSpPr>
        <p:spPr>
          <a:xfrm rot="0" flipH="0" flipV="0">
            <a:off x="6296025" y="2152650"/>
            <a:ext cx="762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F87D2F"/>
                </a:solidFill>
                <a:latin typeface="Microsoft YaHei"/>
                <a:ea typeface="Microsoft YaHei"/>
              </a:rPr>
              <a:t>+</a:t>
            </a:r>
            <a:endParaRPr/>
          </a:p>
        </p:txBody>
      </p:sp>
      <p:sp>
        <p:nvSpPr>
          <p:cNvPr id="793" name="" descr="{&quot;isTemplate&quot;:true,&quot;type&quot;:&quot;text&quot;}"/>
          <p:cNvSpPr txBox="1"/>
          <p:nvPr/>
        </p:nvSpPr>
        <p:spPr>
          <a:xfrm rot="0" flipH="0" flipV="0">
            <a:off x="6438900" y="2152650"/>
            <a:ext cx="499110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适合高频、超大结果集的固定口径</a:t>
            </a:r>
            <a:endParaRPr/>
          </a:p>
        </p:txBody>
      </p:sp>
      <p:sp>
        <p:nvSpPr>
          <p:cNvPr id="794" name="" descr="{&quot;isTemplate&quot;:true,&quot;type&quot;:&quot;text&quot;}"/>
          <p:cNvSpPr txBox="1"/>
          <p:nvPr/>
        </p:nvSpPr>
        <p:spPr>
          <a:xfrm rot="0" flipH="0" flipV="0">
            <a:off x="6296025" y="2438400"/>
            <a:ext cx="762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F87D2F"/>
                </a:solidFill>
                <a:latin typeface="Microsoft YaHei"/>
                <a:ea typeface="Microsoft YaHei"/>
              </a:rPr>
              <a:t>+</a:t>
            </a:r>
            <a:endParaRPr/>
          </a:p>
        </p:txBody>
      </p:sp>
      <p:sp>
        <p:nvSpPr>
          <p:cNvPr id="795" name="" descr="{&quot;isTemplate&quot;:true,&quot;type&quot;:&quot;text&quot;}"/>
          <p:cNvSpPr txBox="1"/>
          <p:nvPr/>
        </p:nvSpPr>
        <p:spPr>
          <a:xfrm rot="0" flipH="0" flipV="0">
            <a:off x="6438900" y="2438400"/>
            <a:ext cx="499110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可用于时间序列对比：跨期间口径变了，历史值仍在</a:t>
            </a:r>
            <a:endParaRPr/>
          </a:p>
        </p:txBody>
      </p:sp>
      <p:sp>
        <p:nvSpPr>
          <p:cNvPr id="796" name="" descr="{&quot;isTemplate&quot;:true,&quot;type&quot;:&quot;text&quot;}"/>
          <p:cNvSpPr txBox="1"/>
          <p:nvPr/>
        </p:nvSpPr>
        <p:spPr>
          <a:xfrm rot="0" flipH="0" flipV="0">
            <a:off x="6296025" y="2724150"/>
            <a:ext cx="381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C43A17"/>
                </a:solidFill>
                <a:latin typeface="Microsoft YaHei"/>
                <a:ea typeface="Microsoft YaHei"/>
              </a:rPr>
              <a:t>!</a:t>
            </a:r>
            <a:endParaRPr/>
          </a:p>
        </p:txBody>
      </p:sp>
      <p:sp>
        <p:nvSpPr>
          <p:cNvPr id="797" name="" descr="{&quot;isTemplate&quot;:true,&quot;type&quot;:&quot;text&quot;}"/>
          <p:cNvSpPr txBox="1"/>
          <p:nvPr/>
        </p:nvSpPr>
        <p:spPr>
          <a:xfrm rot="0" flipH="0" flipV="0">
            <a:off x="6400800" y="2724150"/>
            <a:ext cx="502920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C43A17"/>
                </a:solidFill>
                <a:latin typeface="Microsoft YaHei"/>
                <a:ea typeface="Microsoft YaHei"/>
              </a:rPr>
              <a:t>代价：口径改了要重跑，且必须处理双版本并存</a:t>
            </a:r>
            <a:endParaRPr/>
          </a:p>
        </p:txBody>
      </p:sp>
      <p:sp>
        <p:nvSpPr>
          <p:cNvPr id="798" name="" descr="{&quot;isTemplate&quot;:true,&quot;type&quot;:&quot;text&quot;}"/>
          <p:cNvSpPr txBox="1"/>
          <p:nvPr/>
        </p:nvSpPr>
        <p:spPr>
          <a:xfrm rot="0" flipH="0" flipV="0">
            <a:off x="6296025" y="3009900"/>
            <a:ext cx="381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C43A17"/>
                </a:solidFill>
                <a:latin typeface="Microsoft YaHei"/>
                <a:ea typeface="Microsoft YaHei"/>
              </a:rPr>
              <a:t>!</a:t>
            </a:r>
            <a:endParaRPr/>
          </a:p>
        </p:txBody>
      </p:sp>
      <p:sp>
        <p:nvSpPr>
          <p:cNvPr id="799" name="" descr="{&quot;isTemplate&quot;:true,&quot;type&quot;:&quot;text&quot;}"/>
          <p:cNvSpPr txBox="1"/>
          <p:nvPr/>
        </p:nvSpPr>
        <p:spPr>
          <a:xfrm rot="0" flipH="0" flipV="0">
            <a:off x="6400800" y="3009900"/>
            <a:ext cx="502920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C43A17"/>
                </a:solidFill>
                <a:latin typeface="Microsoft YaHei"/>
                <a:ea typeface="Microsoft YaHei"/>
              </a:rPr>
              <a:t>代价：多了一份副本，就多了一处可能与本体不一致的地方</a:t>
            </a:r>
            <a:endParaRPr/>
          </a:p>
        </p:txBody>
      </p:sp>
      <p:sp>
        <p:nvSpPr>
          <p:cNvPr id="800" name=""/>
          <p:cNvSpPr/>
          <p:nvPr/>
        </p:nvSpPr>
        <p:spPr>
          <a:xfrm rot="0" flipH="0" flipV="0">
            <a:off x="609600" y="3457575"/>
            <a:ext cx="5934075" cy="2181225"/>
          </a:xfrm>
          <a:prstGeom prst="roundRect">
            <a:avLst>
              <a:gd name="adj" fmla="val 174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801" name="" descr="{&quot;isTemplate&quot;:true,&quot;type&quot;:&quot;text&quot;}"/>
          <p:cNvSpPr txBox="1"/>
          <p:nvPr/>
        </p:nvSpPr>
        <p:spPr>
          <a:xfrm rot="0" flipH="0" flipV="0">
            <a:off x="781050" y="3571875"/>
            <a:ext cx="559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官方给的两个硬规模数字</a:t>
            </a:r>
            <a:endParaRPr/>
          </a:p>
        </p:txBody>
      </p:sp>
      <p:sp>
        <p:nvSpPr>
          <p:cNvPr id="802" name=""/>
          <p:cNvSpPr/>
          <p:nvPr/>
        </p:nvSpPr>
        <p:spPr>
          <a:xfrm rot="0" flipH="0" flipV="0">
            <a:off x="781050" y="3829050"/>
            <a:ext cx="1800225" cy="1695450"/>
          </a:xfrm>
          <a:prstGeom prst="roundRect">
            <a:avLst>
              <a:gd name="adj" fmla="val 1685"/>
            </a:avLst>
          </a:prstGeom>
          <a:solidFill>
            <a:srgbClr val="FA4F24">
              <a:alpha val="16000"/>
            </a:srgbClr>
          </a:solidFill>
          <a:ln/>
        </p:spPr>
        <p:txBody>
          <a:bodyPr/>
          <a:p/>
        </p:txBody>
      </p:sp>
      <p:sp>
        <p:nvSpPr>
          <p:cNvPr id="803" name="" descr="{&quot;isTemplate&quot;:true,&quot;type&quot;:&quot;text&quot;}"/>
          <p:cNvSpPr txBox="1"/>
          <p:nvPr/>
        </p:nvSpPr>
        <p:spPr>
          <a:xfrm rot="0" flipH="0" flipV="0">
            <a:off x="914400" y="4257675"/>
            <a:ext cx="1533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200 </a:t>
            </a:r>
            <a:r>
              <a:rPr lang="zh-CN" sz="1800" b="1">
                <a:solidFill>
                  <a:srgbClr val="FBA15C"/>
                </a:solidFill>
                <a:latin typeface="Microsoft YaHei"/>
                <a:ea typeface="Microsoft YaHei"/>
              </a:rPr>
              <a:t>行</a:t>
            </a:r>
            <a:endParaRPr/>
          </a:p>
        </p:txBody>
      </p:sp>
      <p:sp>
        <p:nvSpPr>
          <p:cNvPr id="804" name="" descr="{&quot;isTemplate&quot;:true,&quot;type&quot;:&quot;text&quot;}"/>
          <p:cNvSpPr txBox="1"/>
          <p:nvPr/>
        </p:nvSpPr>
        <p:spPr>
          <a:xfrm rot="0" flipH="0" flipV="0">
            <a:off x="914400" y="4581525"/>
            <a:ext cx="1533525" cy="523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788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Workshop </a:t>
            </a:r>
            <a:r>
              <a:rPr lang="zh-CN" sz="788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里用派生属性排序时的对象集上限。超过就要改成函数列或走预计算。</a:t>
            </a:r>
            <a:endParaRPr/>
          </a:p>
        </p:txBody>
      </p:sp>
      <p:sp>
        <p:nvSpPr>
          <p:cNvPr id="805" name=""/>
          <p:cNvSpPr/>
          <p:nvPr/>
        </p:nvSpPr>
        <p:spPr>
          <a:xfrm rot="0" flipH="0" flipV="0">
            <a:off x="2676525" y="3829050"/>
            <a:ext cx="1800225" cy="1695450"/>
          </a:xfrm>
          <a:prstGeom prst="roundRect">
            <a:avLst>
              <a:gd name="adj" fmla="val 1685"/>
            </a:avLst>
          </a:prstGeom>
          <a:solidFill>
            <a:srgbClr val="FA4F24">
              <a:alpha val="16000"/>
            </a:srgbClr>
          </a:solidFill>
          <a:ln/>
        </p:spPr>
        <p:txBody>
          <a:bodyPr/>
          <a:p/>
        </p:txBody>
      </p:sp>
      <p:sp>
        <p:nvSpPr>
          <p:cNvPr id="806" name="" descr="{&quot;isTemplate&quot;:true,&quot;type&quot;:&quot;text&quot;}"/>
          <p:cNvSpPr txBox="1"/>
          <p:nvPr/>
        </p:nvSpPr>
        <p:spPr>
          <a:xfrm rot="0" flipH="0" flipV="0">
            <a:off x="2809875" y="4257675"/>
            <a:ext cx="1533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10,000 </a:t>
            </a:r>
            <a:r>
              <a:rPr lang="zh-CN" sz="1800" b="1">
                <a:solidFill>
                  <a:srgbClr val="FBA15C"/>
                </a:solidFill>
                <a:latin typeface="Microsoft YaHei"/>
                <a:ea typeface="Microsoft YaHei"/>
              </a:rPr>
              <a:t>行</a:t>
            </a:r>
            <a:endParaRPr/>
          </a:p>
        </p:txBody>
      </p:sp>
      <p:sp>
        <p:nvSpPr>
          <p:cNvPr id="807" name="" descr="{&quot;isTemplate&quot;:true,&quot;type&quot;:&quot;text&quot;}"/>
          <p:cNvSpPr txBox="1"/>
          <p:nvPr/>
        </p:nvSpPr>
        <p:spPr>
          <a:xfrm rot="0" flipH="0" flipV="0">
            <a:off x="2809875" y="4581525"/>
            <a:ext cx="1533525" cy="523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函数列支持端用户排序的上限。再往上端用户不能排序，默认排序只对每页生效。</a:t>
            </a:r>
            <a:endParaRPr/>
          </a:p>
        </p:txBody>
      </p:sp>
      <p:sp>
        <p:nvSpPr>
          <p:cNvPr id="808" name=""/>
          <p:cNvSpPr/>
          <p:nvPr/>
        </p:nvSpPr>
        <p:spPr>
          <a:xfrm rot="0" flipH="0" flipV="0">
            <a:off x="4572000" y="3829050"/>
            <a:ext cx="1800225" cy="1695450"/>
          </a:xfrm>
          <a:prstGeom prst="roundRect">
            <a:avLst>
              <a:gd name="adj" fmla="val 1685"/>
            </a:avLst>
          </a:prstGeom>
          <a:solidFill>
            <a:srgbClr val="FA4F24">
              <a:alpha val="16000"/>
            </a:srgbClr>
          </a:solidFill>
          <a:ln/>
        </p:spPr>
        <p:txBody>
          <a:bodyPr/>
          <a:p/>
        </p:txBody>
      </p:sp>
      <p:sp>
        <p:nvSpPr>
          <p:cNvPr id="809" name="" descr="{&quot;isTemplate&quot;:true,&quot;type&quot;:&quot;text&quot;}"/>
          <p:cNvSpPr txBox="1"/>
          <p:nvPr/>
        </p:nvSpPr>
        <p:spPr>
          <a:xfrm rot="0" flipH="0" flipV="0">
            <a:off x="4705350" y="4257675"/>
            <a:ext cx="1533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3 </a:t>
            </a:r>
            <a:r>
              <a:rPr lang="zh-CN" sz="1800" b="1">
                <a:solidFill>
                  <a:srgbClr val="FBA15C"/>
                </a:solidFill>
                <a:latin typeface="Microsoft YaHei"/>
                <a:ea typeface="Microsoft YaHei"/>
              </a:rPr>
              <a:t>跳</a:t>
            </a:r>
            <a:r>
              <a:rPr lang="en-US" sz="1800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 / 1 </a:t>
            </a:r>
            <a:r>
              <a:rPr lang="zh-CN" sz="1800" b="1">
                <a:solidFill>
                  <a:srgbClr val="FBA15C"/>
                </a:solidFill>
                <a:latin typeface="Microsoft YaHei"/>
                <a:ea typeface="Microsoft YaHei"/>
              </a:rPr>
              <a:t>跳</a:t>
            </a:r>
            <a:endParaRPr/>
          </a:p>
        </p:txBody>
      </p:sp>
      <p:sp>
        <p:nvSpPr>
          <p:cNvPr id="810" name="" descr="{&quot;isTemplate&quot;:true,&quot;type&quot;:&quot;text&quot;}"/>
          <p:cNvSpPr txBox="1"/>
          <p:nvPr/>
        </p:nvSpPr>
        <p:spPr>
          <a:xfrm rot="0" flipH="0" flipV="0">
            <a:off x="4705350" y="4581525"/>
            <a:ext cx="1533525" cy="523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本体定义最多</a:t>
            </a:r>
            <a:r>
              <a:rPr lang="en-US" sz="788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788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跳链接；</a:t>
            </a:r>
            <a:r>
              <a:rPr lang="en-US" sz="788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Workshop </a:t>
            </a:r>
            <a:r>
              <a:rPr lang="zh-CN" sz="788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与</a:t>
            </a:r>
            <a:r>
              <a:rPr lang="en-US" sz="788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Insight </a:t>
            </a:r>
            <a:r>
              <a:rPr lang="zh-CN" sz="788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的运行时定义只有</a:t>
            </a:r>
            <a:r>
              <a:rPr lang="en-US" sz="788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788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跳。</a:t>
            </a:r>
            <a:endParaRPr/>
          </a:p>
        </p:txBody>
      </p:sp>
      <p:sp>
        <p:nvSpPr>
          <p:cNvPr id="811" name=""/>
          <p:cNvSpPr/>
          <p:nvPr/>
        </p:nvSpPr>
        <p:spPr>
          <a:xfrm rot="0" flipH="0" flipV="0">
            <a:off x="6638925" y="3457575"/>
            <a:ext cx="4943475" cy="2181225"/>
          </a:xfrm>
          <a:prstGeom prst="roundRect">
            <a:avLst>
              <a:gd name="adj" fmla="val 1747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812" name="" descr="{&quot;isTemplate&quot;:true,&quot;type&quot;:&quot;text&quot;}"/>
          <p:cNvSpPr txBox="1"/>
          <p:nvPr/>
        </p:nvSpPr>
        <p:spPr>
          <a:xfrm rot="0" flipH="0" flipV="0">
            <a:off x="6810375" y="3571875"/>
            <a:ext cx="4600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C43A17"/>
                </a:solidFill>
                <a:latin typeface="Microsoft YaHei"/>
                <a:ea typeface="Microsoft YaHei"/>
              </a:rPr>
              <a:t>给管道的三条判定规则</a:t>
            </a:r>
            <a:endParaRPr/>
          </a:p>
        </p:txBody>
      </p:sp>
      <p:sp>
        <p:nvSpPr>
          <p:cNvPr id="813" name=""/>
          <p:cNvSpPr/>
          <p:nvPr/>
        </p:nvSpPr>
        <p:spPr>
          <a:xfrm rot="0" flipH="0" flipV="0">
            <a:off x="6810375" y="3819525"/>
            <a:ext cx="4600575" cy="523875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14" name="" descr="{&quot;isTemplate&quot;:true,&quot;type&quot;:&quot;text&quot;}"/>
          <p:cNvSpPr txBox="1"/>
          <p:nvPr/>
        </p:nvSpPr>
        <p:spPr>
          <a:xfrm rot="0" flipH="0" flipV="0">
            <a:off x="6915150" y="4010025"/>
            <a:ext cx="123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A4F24"/>
                </a:solidFill>
                <a:latin typeface="Microsoft YaHei"/>
                <a:ea typeface="Microsoft YaHei"/>
              </a:rPr>
              <a:t>一</a:t>
            </a:r>
            <a:endParaRPr/>
          </a:p>
        </p:txBody>
      </p:sp>
      <p:sp>
        <p:nvSpPr>
          <p:cNvPr id="815" name="" descr="{&quot;isTemplate&quot;:true,&quot;type&quot;:&quot;text&quot;}"/>
          <p:cNvSpPr txBox="1"/>
          <p:nvPr/>
        </p:nvSpPr>
        <p:spPr>
          <a:xfrm rot="0" flipH="0" flipV="0">
            <a:off x="7124700" y="3924300"/>
            <a:ext cx="41814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口径会频繁变</a:t>
            </a:r>
            <a:r>
              <a:rPr lang="en-US" sz="863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运行时</a:t>
            </a:r>
            <a:endParaRPr/>
          </a:p>
        </p:txBody>
      </p:sp>
      <p:sp>
        <p:nvSpPr>
          <p:cNvPr id="816" name="" descr="{&quot;isTemplate&quot;:true,&quot;type&quot;:&quot;text&quot;}"/>
          <p:cNvSpPr txBox="1"/>
          <p:nvPr/>
        </p:nvSpPr>
        <p:spPr>
          <a:xfrm rot="0" flipH="0" flipV="0">
            <a:off x="7124700" y="4076700"/>
            <a:ext cx="418147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少一次重跑，少一份不一致</a:t>
            </a:r>
            <a:endParaRPr/>
          </a:p>
        </p:txBody>
      </p:sp>
      <p:sp>
        <p:nvSpPr>
          <p:cNvPr id="817" name=""/>
          <p:cNvSpPr/>
          <p:nvPr/>
        </p:nvSpPr>
        <p:spPr>
          <a:xfrm rot="0" flipH="0" flipV="0">
            <a:off x="6810375" y="4410075"/>
            <a:ext cx="4600575" cy="523875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18" name="" descr="{&quot;isTemplate&quot;:true,&quot;type&quot;:&quot;text&quot;}"/>
          <p:cNvSpPr txBox="1"/>
          <p:nvPr/>
        </p:nvSpPr>
        <p:spPr>
          <a:xfrm rot="0" flipH="0" flipV="0">
            <a:off x="6915150" y="4600575"/>
            <a:ext cx="123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A4F24"/>
                </a:solidFill>
                <a:latin typeface="Microsoft YaHei"/>
                <a:ea typeface="Microsoft YaHei"/>
              </a:rPr>
              <a:t>二</a:t>
            </a:r>
            <a:endParaRPr/>
          </a:p>
        </p:txBody>
      </p:sp>
      <p:sp>
        <p:nvSpPr>
          <p:cNvPr id="819" name="" descr="{&quot;isTemplate&quot;:true,&quot;type&quot;:&quot;text&quot;}"/>
          <p:cNvSpPr txBox="1"/>
          <p:nvPr/>
        </p:nvSpPr>
        <p:spPr>
          <a:xfrm rot="0" flipH="0" flipV="0">
            <a:off x="7124700" y="4514850"/>
            <a:ext cx="41814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口径稳定且高频高频查</a:t>
            </a:r>
            <a:r>
              <a:rPr lang="en-US" sz="863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预计算</a:t>
            </a:r>
            <a:endParaRPr/>
          </a:p>
        </p:txBody>
      </p:sp>
      <p:sp>
        <p:nvSpPr>
          <p:cNvPr id="820" name="" descr="{&quot;isTemplate&quot;:true,&quot;type&quot;:&quot;text&quot;}"/>
          <p:cNvSpPr txBox="1"/>
          <p:nvPr/>
        </p:nvSpPr>
        <p:spPr>
          <a:xfrm rot="0" flipH="0" flipV="0">
            <a:off x="7124700" y="4667250"/>
            <a:ext cx="418147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用确定的延迟换维护成本</a:t>
            </a:r>
            <a:endParaRPr/>
          </a:p>
        </p:txBody>
      </p:sp>
      <p:sp>
        <p:nvSpPr>
          <p:cNvPr id="821" name=""/>
          <p:cNvSpPr/>
          <p:nvPr/>
        </p:nvSpPr>
        <p:spPr>
          <a:xfrm rot="0" flipH="0" flipV="0">
            <a:off x="6810375" y="5000625"/>
            <a:ext cx="4600575" cy="523875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22" name="" descr="{&quot;isTemplate&quot;:true,&quot;type&quot;:&quot;text&quot;}"/>
          <p:cNvSpPr txBox="1"/>
          <p:nvPr/>
        </p:nvSpPr>
        <p:spPr>
          <a:xfrm rot="0" flipH="0" flipV="0">
            <a:off x="6915150" y="5191125"/>
            <a:ext cx="123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A4F24"/>
                </a:solidFill>
                <a:latin typeface="Microsoft YaHei"/>
                <a:ea typeface="Microsoft YaHei"/>
              </a:rPr>
              <a:t>三</a:t>
            </a:r>
            <a:endParaRPr/>
          </a:p>
        </p:txBody>
      </p:sp>
      <p:sp>
        <p:nvSpPr>
          <p:cNvPr id="823" name="" descr="{&quot;isTemplate&quot;:true,&quot;type&quot;:&quot;text&quot;}"/>
          <p:cNvSpPr txBox="1"/>
          <p:nvPr/>
        </p:nvSpPr>
        <p:spPr>
          <a:xfrm rot="0" flipH="0" flipV="0">
            <a:off x="7124700" y="5105400"/>
            <a:ext cx="41814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两者都要</a:t>
            </a:r>
            <a:r>
              <a:rPr lang="en-US" sz="863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预计算必须挂版本号</a:t>
            </a:r>
            <a:endParaRPr/>
          </a:p>
        </p:txBody>
      </p:sp>
      <p:sp>
        <p:nvSpPr>
          <p:cNvPr id="824" name="" descr="{&quot;isTemplate&quot;:true,&quot;type&quot;:&quot;text&quot;}"/>
          <p:cNvSpPr txBox="1"/>
          <p:nvPr/>
        </p:nvSpPr>
        <p:spPr>
          <a:xfrm rot="0" flipH="0" flipV="0">
            <a:off x="7124700" y="5257800"/>
            <a:ext cx="418147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写清它是从哪套口径、哪个时点算出来的</a:t>
            </a:r>
            <a:endParaRPr/>
          </a:p>
        </p:txBody>
      </p:sp>
      <p:sp>
        <p:nvSpPr>
          <p:cNvPr id="825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826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827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指标体系咨询方法论</a:t>
            </a:r>
            <a:endParaRPr/>
          </a:p>
        </p:txBody>
      </p:sp>
      <p:sp>
        <p:nvSpPr>
          <p:cNvPr id="828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21 / 30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829" name="" descr="&lt;Slide style={{ width: 1280, height: 720, background: '#FFFFFF', padding: '24px 64px 0' }}&gt;&#10;  &lt;Box style={{ height: 96, flexDirection: 'column', justifyContent: 'flex-start' }}&gt;&#10;    &lt;Text style={{ fontSize: 32, fontWeight: 'bold', color: '#0F1423' }}&gt;&#10;      指标 × 知识库 × Agent：口径要能被&lt;span style={{ color: '#FA4F24' }}&gt;检索到&lt;/span&gt;，也要能被&lt;span style={{ color: '#F87D2F' }}&gt;机器读懂&lt;/span&gt;&#10;    &lt;/Text&gt;&#10;    &lt;Text style={{ fontSize: 20, color: '#8A8F99', marginTop: 8 }}&gt;Agent 不会问「你说的是什么意思」——它只会照着读到的定义算，然后把它当事实用下去&lt;/Text&gt;&#10;  &lt;/Box&gt;&#10;  &lt;Box style={{ height: 1, background: '#E8E8E8' }} /&gt;&#10;&#10;  &lt;Box style={{ paddingTop: 14, paddingBottom: 8, height: 479, flexDirection: 'column', gap: 10 }}&gt;&#10;    &lt;Box style={{ flex: 1, flexDirection: 'row', gap: 10 }}&gt;&#10;      &lt;Box style={{ flex: 1, background: '#F7F7F8', borderRadius: 4, borderTop: '4px solid #FA4F24', padding: '12px 16px', flexDirection: 'column' }}&gt;&#10;        &lt;Text style={{ fontSize: 16, fontWeight: 'bold', color: '#FA4F24' }}&gt;× 知识库：口径要可检索&lt;/Text&gt;&#10;        &lt;Box style={{ marginTop: 9, gap: 6, flex: 1 }}&gt;&#10;          {[&#10;            '每条口径切片带上：指标标识、五元组、治理等级、权限基线、版本号',&#10;            '切片密级随指标值继承同一套标记，检索层按权限过滤后再排序',&#10;            '除了向量索引，还要有一份「指标 → 口径卡片」的精确映射，支持按名称直查',&#10;            '废止指标的口径卡片保留并标注废止，否则 Agent 会去用旧口径',&#10;            '问「毛利率怎么算」必须能命中的第一条就是当前生效版本',&#10;          ].map((t, i) =&gt; (&#10;            &lt;Box key={i} style={{ flexDirection: 'row', gap: 7, flex: 1, alignItems: 'flex-start' }}&gt;&#10;              &lt;Text style={{ fontSize: 10.5, fontWeight: 'bold', color: '#FA4F24' }}&gt;·&lt;/Text&gt;&#10;              &lt;Text style={{ fontSize: 10.5, color: '#5A6070', lineHeight: 1.45, flex: 1 }}&gt;{t}&lt;/Text&gt;&#10;            &lt;/Box&gt;&#10;          ))}&#10;        &lt;/Box&gt;&#10;      &lt;/Box&gt;&#10;&#10;      &lt;Box style={{ flex: 1, background: '#0F1423', borderRadius: 4, padding: '12px 18px', flexDirection: 'column' }}&gt;&#10;        &lt;Text style={{ fontSize: 16, fontWeight: 'bold', color: '#FBA15C' }}&gt;× Agent：要接口，不要记录&lt;/Text&gt;&#10;        &lt;Box style={{ marginTop: 9, gap: 6, flex: 1 }}&gt;&#10;          {[&#10;            'Agent 调的是「按口径取数」的接口，不是「去表里查」的接口',&#10;            '返回值必须连同口径标识、版本、权限基线一起返回，不只是数字',&#10;            '同一问题在不同权限下答案不同，这个差异必须显式告知 Agent，否则它会当成矛盾',&#10;            'Agent 的记忆里要存口径，不要存某个时点的数值——存数值必然过期',&#10;            '遥测日志记的是「调了哪个指标的哪个口径」，这本身就是治理对象',&#10;          ].map((t, i) =&gt; (&#10;            &lt;Box key={i} style={{ flexDirection: 'row', gap: 7, flex: 1, alignItems: 'flex-start' }}&gt;&#10;              &lt;Text style={{ fontSize: 10.5, fontWeight: 'bold', color: '#FBA15C' }}&gt;·&lt;/Text&gt;&#10;              &lt;Text style={{ fontSize: 10.5, color: 'rgba(255,255,255,0.82)', lineHeight: 1.45, flex: 1 }}&gt;{t}&lt;/Text&gt;&#10;            &lt;/Box&gt;&#10;          ))}&#10;        &lt;/Box&gt;&#10;      &lt;/Box&gt;&#10;    &lt;/Box&gt;&#10;&#10;    &lt;Box style={{ flex: 0.95, flexDirection: 'row', gap: 10 }}&gt;&#10;      &lt;Box style={{ flex: 1.25, background: '#FFF3EE', borderRadius: 4, padding: '12px 18px', flexDirection: 'column' }}&gt;&#10;        &lt;Text style={{ fontSize: 13.5, fontWeight: 'bold', color: '#C43A17' }}&gt;Text-to-SQL 与本体路线的分岔，就在指标这一层&lt;/Text&gt;&#10;        &lt;Box style={{ marginTop: 10, gap: 5, flex: 1 }}&gt;&#10;          {[&#10;            { k: '准确性瓶颈', a: 'SQL 准确率与数据清洗程度', b: '初期本体建模的工程量', ok: true },&#10;            { k: '回答能力', a: '擅长回答「是什么」', b: '多因素归因与情景推演', ok: true },&#10;            { k: '权限位置', a: '多在 SQL 层，AI 可能绕过前端碰到敏感字段', b: '绑在对象级，无权限则 AI 调不出来', ok: true },&#10;          ].map((x) =&gt; (&#10;            &lt;Box key={x.k} style={{ flex: 1, flexDirection: 'row', alignItems: 'center', gap: 10, background: '#FFFFFF', borderRadius: 3, padding: '0 12px' }}&gt;&#10;              &lt;Text style={{ fontSize: 11, fontWeight: 'bold', color: '#0F1423', width: 84 }}&gt;{x.k}&lt;/Text&gt;&#10;              &lt;Text style={{ fontSize: 10.5, color: '#8A8F99', width: 226 }}&gt;{x.a}&lt;/Text&gt;&#10;              &lt;Text style={{ fontSize: 11, color: '#C43A17' }}&gt;→&lt;/Text&gt;&#10;              &lt;Text style={{ fontSize: 10.5, fontWeight: 'bold', color: '#0F1423', flex: 1, lineHeight: 1.35 }}&gt;{x.b}&lt;/Text&gt;&#10;            &lt;/Box&gt;&#10;          ))}&#10;        &lt;/Box&gt;&#10;        &lt;Text style={{ fontSize: 10.5, color: '#5A6070', marginTop: 8, lineHeight: 1.45 }}&gt;&#10;          三行右边的共同前提是同一个：口径已经作为对象属性被建模过了。没有这一步，右边全部做不到。&#10;        &lt;/Text&gt;&#10;      &lt;/Box&gt;&#10;&#10;      &lt;Box style={{ flex: 1, background: '#F7F7F8', borderRadius: 4, padding: '12px 18px', flexDirection: 'column' }}&gt;&#10;        &lt;Text style={{ fontSize: 13.5, fontWeight: 'bold', color: '#0F1423' }}&gt;给 Agent 的三条硬约束&lt;/Text&gt;&#10;        &lt;Box style={{ marginTop: 9, gap: 7, flex: 1 }}&gt;&#10;          {[&#10;            { n: '一', t: '未注册口径不暴露给 Agent', d: '不进注册表的指标，不能成为 Agent 可调用的工具' },&#10;            { n: '二', t: '口径版本与代码一起发布', d: 'Agent 记录的是口径版本号，不是「当时是这么算的」' },&#10;            { n: '三', t: '口径与数值分离存储', d: '数值随时变，口径定义相对稳定，两者生命周期不同' },&#10;          ].map((x) =&gt; (&#10;            &lt;Box key={x.n} style={{ flex: 1, background: '#FFFFFF', borderRadius: 3, borderLeft: '3px solid #FA4F24', padding: '6px 11px', justifyContent: 'center' }}&gt;&#10;              &lt;Box style={{ flexDirection: 'row', alignItems: 'center', gap: 8 }}&gt;&#10;                &lt;Text style={{ fontSize: 12, fontWeight: 'bold', color: '#FA4F24' }}&gt;{x.n}&lt;/Text&gt;&#10;                &lt;Text style={{ fontSize: 11.5, fontWeight: 'bold', color: '#0F1423' }}&gt;{x.t}&lt;/Text&gt;&#10;              &lt;/Box&gt;&#10;              &lt;Text style={{ fontSize: 10.5, color: '#5A6070', marginTop: 3, lineHeight: 1.4 }}&gt;{x.d}&lt;/Text&gt;&#10;            &lt;/Box&gt;&#10;          ))}&#10;        &lt;/Box&gt;&#10;      &lt;/Box&gt;&#10;    &lt;/Box&gt;&#10;  &lt;/Box&gt;&#10;&#10;  &lt;Box style={{ height: 58, flexDirection: 'row', alignItems: 'center', borderTop: '1px solid #E8E8E8' }}&gt;&#10;    &lt;Box style={{ width: 10, height: 10, background: '#FA4F24' }} /&gt;&#10;    &lt;Text style={{ fontSize: 13, color: '#8A8F99', marginLeft: 12 }}&gt;硕磐机密 · 指标体系咨询方法论&lt;/Text&gt;&#10;    &lt;Text style={{ fontSize: 13, color: '#8A8F99', marginLeft: 'auto' }}&gt;22 / 3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31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指标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知识库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× Agent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：口径要能被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检索到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，也要能被</a:t>
            </a:r>
            <a:r>
              <a:rPr lang="zh-CN" sz="2400" b="1">
                <a:solidFill>
                  <a:srgbClr val="F87D2F"/>
                </a:solidFill>
                <a:latin typeface="Microsoft YaHei"/>
                <a:ea typeface="Microsoft YaHei"/>
              </a:rPr>
              <a:t>机器读懂</a:t>
            </a:r>
            <a:endParaRPr/>
          </a:p>
        </p:txBody>
      </p:sp>
      <p:sp>
        <p:nvSpPr>
          <p:cNvPr id="832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不会问「你说的是什么意思」——它只会照着读到的定义算，然后把它当事实用下去</a:t>
            </a:r>
            <a:endParaRPr/>
          </a:p>
        </p:txBody>
      </p:sp>
      <p:sp>
        <p:nvSpPr>
          <p:cNvPr id="833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834" name=""/>
          <p:cNvSpPr/>
          <p:nvPr/>
        </p:nvSpPr>
        <p:spPr>
          <a:xfrm rot="0" flipH="0" flipV="0">
            <a:off x="609600" y="1323975"/>
            <a:ext cx="5438775" cy="1981200"/>
          </a:xfrm>
          <a:prstGeom prst="roundRect">
            <a:avLst>
              <a:gd name="adj" fmla="val 192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35" name=""/>
          <p:cNvSpPr/>
          <p:nvPr/>
        </p:nvSpPr>
        <p:spPr>
          <a:xfrm rot="0" flipH="0" flipV="0">
            <a:off x="609600" y="1323975"/>
            <a:ext cx="5438775" cy="1981200"/>
          </a:xfrm>
          <a:custGeom>
            <a:pathLst>
              <a:path w="571" h="208">
                <a:moveTo>
                  <a:pt x="567" y="0"/>
                </a:moveTo>
                <a:cubicBezTo>
                  <a:pt x="569" y="0"/>
                  <a:pt x="571" y="2"/>
                  <a:pt x="571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67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836" name="" descr="{&quot;isTemplate&quot;:true,&quot;type&quot;:&quot;text&quot;}"/>
          <p:cNvSpPr txBox="1"/>
          <p:nvPr/>
        </p:nvSpPr>
        <p:spPr>
          <a:xfrm rot="0" flipH="0" flipV="0">
            <a:off x="762000" y="1438275"/>
            <a:ext cx="51339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× </a:t>
            </a:r>
            <a:r>
              <a:rPr lang="zh-CN" sz="1200" b="1">
                <a:solidFill>
                  <a:srgbClr val="FA4F24"/>
                </a:solidFill>
                <a:latin typeface="Microsoft YaHei"/>
                <a:ea typeface="Microsoft YaHei"/>
              </a:rPr>
              <a:t>知识库：口径要可检索</a:t>
            </a:r>
            <a:endParaRPr/>
          </a:p>
        </p:txBody>
      </p:sp>
      <p:sp>
        <p:nvSpPr>
          <p:cNvPr id="837" name="" descr="{&quot;isTemplate&quot;:true,&quot;type&quot;:&quot;text&quot;}"/>
          <p:cNvSpPr txBox="1"/>
          <p:nvPr/>
        </p:nvSpPr>
        <p:spPr>
          <a:xfrm rot="0" flipH="0" flipV="0">
            <a:off x="762000" y="1714500"/>
            <a:ext cx="476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FA4F24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838" name="" descr="{&quot;isTemplate&quot;:true,&quot;type&quot;:&quot;text&quot;}"/>
          <p:cNvSpPr txBox="1"/>
          <p:nvPr/>
        </p:nvSpPr>
        <p:spPr>
          <a:xfrm rot="0" flipH="0" flipV="0">
            <a:off x="876300" y="1714500"/>
            <a:ext cx="5019675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每条口径切片带上：指标标识、五元组、治理等级、权限基线、版本号</a:t>
            </a:r>
            <a:endParaRPr/>
          </a:p>
        </p:txBody>
      </p:sp>
      <p:sp>
        <p:nvSpPr>
          <p:cNvPr id="839" name="" descr="{&quot;isTemplate&quot;:true,&quot;type&quot;:&quot;text&quot;}"/>
          <p:cNvSpPr txBox="1"/>
          <p:nvPr/>
        </p:nvSpPr>
        <p:spPr>
          <a:xfrm rot="0" flipH="0" flipV="0">
            <a:off x="762000" y="2009775"/>
            <a:ext cx="476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FA4F24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840" name="" descr="{&quot;isTemplate&quot;:true,&quot;type&quot;:&quot;text&quot;}"/>
          <p:cNvSpPr txBox="1"/>
          <p:nvPr/>
        </p:nvSpPr>
        <p:spPr>
          <a:xfrm rot="0" flipH="0" flipV="0">
            <a:off x="876300" y="2009775"/>
            <a:ext cx="5019675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切片密级随指标值继承同一套标记，检索层按权限过滤后再排序</a:t>
            </a:r>
            <a:endParaRPr/>
          </a:p>
        </p:txBody>
      </p:sp>
      <p:sp>
        <p:nvSpPr>
          <p:cNvPr id="841" name="" descr="{&quot;isTemplate&quot;:true,&quot;type&quot;:&quot;text&quot;}"/>
          <p:cNvSpPr txBox="1"/>
          <p:nvPr/>
        </p:nvSpPr>
        <p:spPr>
          <a:xfrm rot="0" flipH="0" flipV="0">
            <a:off x="762000" y="2314575"/>
            <a:ext cx="476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FA4F24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842" name="" descr="{&quot;isTemplate&quot;:true,&quot;type&quot;:&quot;text&quot;}"/>
          <p:cNvSpPr txBox="1"/>
          <p:nvPr/>
        </p:nvSpPr>
        <p:spPr>
          <a:xfrm rot="0" flipH="0" flipV="0">
            <a:off x="876300" y="2314575"/>
            <a:ext cx="5019675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除了向量索引，还要有一份「指标</a:t>
            </a:r>
            <a:r>
              <a:rPr lang="en-US" sz="788">
                <a:solidFill>
                  <a:srgbClr val="5A607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口径卡片」的精确映射，支持按名称直查</a:t>
            </a:r>
            <a:endParaRPr/>
          </a:p>
        </p:txBody>
      </p:sp>
      <p:sp>
        <p:nvSpPr>
          <p:cNvPr id="843" name="" descr="{&quot;isTemplate&quot;:true,&quot;type&quot;:&quot;text&quot;}"/>
          <p:cNvSpPr txBox="1"/>
          <p:nvPr/>
        </p:nvSpPr>
        <p:spPr>
          <a:xfrm rot="0" flipH="0" flipV="0">
            <a:off x="762000" y="2609850"/>
            <a:ext cx="476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FA4F24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844" name="" descr="{&quot;isTemplate&quot;:true,&quot;type&quot;:&quot;text&quot;}"/>
          <p:cNvSpPr txBox="1"/>
          <p:nvPr/>
        </p:nvSpPr>
        <p:spPr>
          <a:xfrm rot="0" flipH="0" flipV="0">
            <a:off x="876300" y="2609850"/>
            <a:ext cx="5019675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废止指标的口径卡片保留并标注废止，否则</a:t>
            </a:r>
            <a:r>
              <a:rPr lang="en-US" sz="788">
                <a:solidFill>
                  <a:srgbClr val="5A6070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会去用旧口径</a:t>
            </a:r>
            <a:endParaRPr/>
          </a:p>
        </p:txBody>
      </p:sp>
      <p:sp>
        <p:nvSpPr>
          <p:cNvPr id="845" name="" descr="{&quot;isTemplate&quot;:true,&quot;type&quot;:&quot;text&quot;}"/>
          <p:cNvSpPr txBox="1"/>
          <p:nvPr/>
        </p:nvSpPr>
        <p:spPr>
          <a:xfrm rot="0" flipH="0" flipV="0">
            <a:off x="762000" y="2914650"/>
            <a:ext cx="476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FA4F24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846" name="" descr="{&quot;isTemplate&quot;:true,&quot;type&quot;:&quot;text&quot;}"/>
          <p:cNvSpPr txBox="1"/>
          <p:nvPr/>
        </p:nvSpPr>
        <p:spPr>
          <a:xfrm rot="0" flipH="0" flipV="0">
            <a:off x="876300" y="2914650"/>
            <a:ext cx="5019675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问「毛利率怎么算」必须能命中的第一条就是当前生效版本</a:t>
            </a:r>
            <a:endParaRPr/>
          </a:p>
        </p:txBody>
      </p:sp>
      <p:sp>
        <p:nvSpPr>
          <p:cNvPr id="847" name=""/>
          <p:cNvSpPr/>
          <p:nvPr/>
        </p:nvSpPr>
        <p:spPr>
          <a:xfrm rot="0" flipH="0" flipV="0">
            <a:off x="6143625" y="1285875"/>
            <a:ext cx="5438775" cy="1981200"/>
          </a:xfrm>
          <a:prstGeom prst="roundRect">
            <a:avLst>
              <a:gd name="adj" fmla="val 1923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848" name="" descr="{&quot;isTemplate&quot;:true,&quot;type&quot;:&quot;text&quot;}"/>
          <p:cNvSpPr txBox="1"/>
          <p:nvPr/>
        </p:nvSpPr>
        <p:spPr>
          <a:xfrm rot="0" flipH="0" flipV="0">
            <a:off x="6315075" y="1400175"/>
            <a:ext cx="5095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BA15C"/>
                </a:solidFill>
                <a:latin typeface="Microsoft YaHei"/>
                <a:ea typeface="Microsoft YaHei"/>
              </a:rPr>
              <a:t>× Agent</a:t>
            </a:r>
            <a:r>
              <a:rPr lang="zh-CN" sz="1200" b="1">
                <a:solidFill>
                  <a:srgbClr val="FBA15C"/>
                </a:solidFill>
                <a:latin typeface="Microsoft YaHei"/>
                <a:ea typeface="Microsoft YaHei"/>
              </a:rPr>
              <a:t>：要接口，不要记录</a:t>
            </a:r>
            <a:endParaRPr/>
          </a:p>
        </p:txBody>
      </p:sp>
      <p:sp>
        <p:nvSpPr>
          <p:cNvPr id="849" name="" descr="{&quot;isTemplate&quot;:true,&quot;type&quot;:&quot;text&quot;}"/>
          <p:cNvSpPr txBox="1"/>
          <p:nvPr/>
        </p:nvSpPr>
        <p:spPr>
          <a:xfrm rot="0" flipH="0" flipV="0">
            <a:off x="6315075" y="1676400"/>
            <a:ext cx="476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FBA15C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850" name="" descr="{&quot;isTemplate&quot;:true,&quot;type&quot;:&quot;text&quot;}"/>
          <p:cNvSpPr txBox="1"/>
          <p:nvPr/>
        </p:nvSpPr>
        <p:spPr>
          <a:xfrm rot="0" flipH="0" flipV="0">
            <a:off x="6429375" y="1676400"/>
            <a:ext cx="4981575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788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788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调的是「按口径取数」的接口，不是「去表里查」的接口</a:t>
            </a:r>
            <a:endParaRPr/>
          </a:p>
        </p:txBody>
      </p:sp>
      <p:sp>
        <p:nvSpPr>
          <p:cNvPr id="851" name="" descr="{&quot;isTemplate&quot;:true,&quot;type&quot;:&quot;text&quot;}"/>
          <p:cNvSpPr txBox="1"/>
          <p:nvPr/>
        </p:nvSpPr>
        <p:spPr>
          <a:xfrm rot="0" flipH="0" flipV="0">
            <a:off x="6315075" y="1981200"/>
            <a:ext cx="476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FBA15C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852" name="" descr="{&quot;isTemplate&quot;:true,&quot;type&quot;:&quot;text&quot;}"/>
          <p:cNvSpPr txBox="1"/>
          <p:nvPr/>
        </p:nvSpPr>
        <p:spPr>
          <a:xfrm rot="0" flipH="0" flipV="0">
            <a:off x="6429375" y="1981200"/>
            <a:ext cx="4981575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返回值必须连同口径标识、版本、权限基线一起返回，不只是数字</a:t>
            </a:r>
            <a:endParaRPr/>
          </a:p>
        </p:txBody>
      </p:sp>
      <p:sp>
        <p:nvSpPr>
          <p:cNvPr id="853" name="" descr="{&quot;isTemplate&quot;:true,&quot;type&quot;:&quot;text&quot;}"/>
          <p:cNvSpPr txBox="1"/>
          <p:nvPr/>
        </p:nvSpPr>
        <p:spPr>
          <a:xfrm rot="0" flipH="0" flipV="0">
            <a:off x="6315075" y="2286000"/>
            <a:ext cx="476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FBA15C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854" name="" descr="{&quot;isTemplate&quot;:true,&quot;type&quot;:&quot;text&quot;}"/>
          <p:cNvSpPr txBox="1"/>
          <p:nvPr/>
        </p:nvSpPr>
        <p:spPr>
          <a:xfrm rot="0" flipH="0" flipV="0">
            <a:off x="6429375" y="2286000"/>
            <a:ext cx="4981575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同一问题在不同权限下答案不同，这个差异必须显式告知</a:t>
            </a:r>
            <a:r>
              <a:rPr lang="en-US" sz="788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Agent</a:t>
            </a:r>
            <a:r>
              <a:rPr lang="zh-CN" sz="788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，否则它会当成矛盾</a:t>
            </a:r>
            <a:endParaRPr/>
          </a:p>
        </p:txBody>
      </p:sp>
      <p:sp>
        <p:nvSpPr>
          <p:cNvPr id="855" name="" descr="{&quot;isTemplate&quot;:true,&quot;type&quot;:&quot;text&quot;}"/>
          <p:cNvSpPr txBox="1"/>
          <p:nvPr/>
        </p:nvSpPr>
        <p:spPr>
          <a:xfrm rot="0" flipH="0" flipV="0">
            <a:off x="6315075" y="2600325"/>
            <a:ext cx="476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FBA15C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856" name="" descr="{&quot;isTemplate&quot;:true,&quot;type&quot;:&quot;text&quot;}"/>
          <p:cNvSpPr txBox="1"/>
          <p:nvPr/>
        </p:nvSpPr>
        <p:spPr>
          <a:xfrm rot="0" flipH="0" flipV="0">
            <a:off x="6429375" y="2600325"/>
            <a:ext cx="4981575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788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788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的记忆里要存口径，不要存某个时点的数值——存数值必然过期</a:t>
            </a:r>
            <a:endParaRPr/>
          </a:p>
        </p:txBody>
      </p:sp>
      <p:sp>
        <p:nvSpPr>
          <p:cNvPr id="857" name="" descr="{&quot;isTemplate&quot;:true,&quot;type&quot;:&quot;text&quot;}"/>
          <p:cNvSpPr txBox="1"/>
          <p:nvPr/>
        </p:nvSpPr>
        <p:spPr>
          <a:xfrm rot="0" flipH="0" flipV="0">
            <a:off x="6315075" y="2905125"/>
            <a:ext cx="476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FBA15C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858" name="" descr="{&quot;isTemplate&quot;:true,&quot;type&quot;:&quot;text&quot;}"/>
          <p:cNvSpPr txBox="1"/>
          <p:nvPr/>
        </p:nvSpPr>
        <p:spPr>
          <a:xfrm rot="0" flipH="0" flipV="0">
            <a:off x="6429375" y="2905125"/>
            <a:ext cx="4981575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遥测日志记的是「调了哪个指标的哪个口径」，这本身就是治理对象</a:t>
            </a:r>
            <a:endParaRPr/>
          </a:p>
        </p:txBody>
      </p:sp>
      <p:sp>
        <p:nvSpPr>
          <p:cNvPr id="859" name=""/>
          <p:cNvSpPr/>
          <p:nvPr/>
        </p:nvSpPr>
        <p:spPr>
          <a:xfrm rot="0" flipH="0" flipV="0">
            <a:off x="609600" y="3362325"/>
            <a:ext cx="6038850" cy="2276475"/>
          </a:xfrm>
          <a:prstGeom prst="roundRect">
            <a:avLst>
              <a:gd name="adj" fmla="val 1674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860" name="" descr="{&quot;isTemplate&quot;:true,&quot;type&quot;:&quot;text&quot;}"/>
          <p:cNvSpPr txBox="1"/>
          <p:nvPr/>
        </p:nvSpPr>
        <p:spPr>
          <a:xfrm rot="0" flipH="0" flipV="0">
            <a:off x="781050" y="3476625"/>
            <a:ext cx="569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Text-to-SQL </a:t>
            </a:r>
            <a:r>
              <a:rPr lang="zh-CN" sz="1013" b="1">
                <a:solidFill>
                  <a:srgbClr val="C43A17"/>
                </a:solidFill>
                <a:latin typeface="Microsoft YaHei"/>
                <a:ea typeface="Microsoft YaHei"/>
              </a:rPr>
              <a:t>与本体路线的分岔，就在指标这一层</a:t>
            </a:r>
            <a:endParaRPr/>
          </a:p>
        </p:txBody>
      </p:sp>
      <p:sp>
        <p:nvSpPr>
          <p:cNvPr id="861" name=""/>
          <p:cNvSpPr/>
          <p:nvPr/>
        </p:nvSpPr>
        <p:spPr>
          <a:xfrm rot="0" flipH="0" flipV="0">
            <a:off x="781050" y="3733800"/>
            <a:ext cx="5695950" cy="4762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62" name="" descr="{&quot;isTemplate&quot;:true,&quot;type&quot;:&quot;text&quot;}"/>
          <p:cNvSpPr txBox="1"/>
          <p:nvPr/>
        </p:nvSpPr>
        <p:spPr>
          <a:xfrm rot="0" flipH="0" flipV="0">
            <a:off x="895350" y="3905250"/>
            <a:ext cx="800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1423"/>
                </a:solidFill>
                <a:latin typeface="Microsoft YaHei"/>
                <a:ea typeface="Microsoft YaHei"/>
              </a:rPr>
              <a:t>准确性瓶颈</a:t>
            </a:r>
            <a:endParaRPr/>
          </a:p>
        </p:txBody>
      </p:sp>
      <p:sp>
        <p:nvSpPr>
          <p:cNvPr id="863" name="" descr="{&quot;isTemplate&quot;:true,&quot;type&quot;:&quot;text&quot;}"/>
          <p:cNvSpPr txBox="1"/>
          <p:nvPr/>
        </p:nvSpPr>
        <p:spPr>
          <a:xfrm rot="0" flipH="0" flipV="0">
            <a:off x="1790700" y="3914775"/>
            <a:ext cx="21526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8A8F99"/>
                </a:solidFill>
                <a:latin typeface="Microsoft YaHei"/>
                <a:ea typeface="Microsoft YaHei"/>
              </a:rPr>
              <a:t xml:space="preserve">SQL </a:t>
            </a: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准确率与数据清洗程度</a:t>
            </a:r>
            <a:endParaRPr/>
          </a:p>
        </p:txBody>
      </p:sp>
      <p:sp>
        <p:nvSpPr>
          <p:cNvPr id="864" name="" descr="{&quot;isTemplate&quot;:true,&quot;type&quot;:&quot;text&quot;}"/>
          <p:cNvSpPr txBox="1"/>
          <p:nvPr/>
        </p:nvSpPr>
        <p:spPr>
          <a:xfrm rot="0" flipH="0" flipV="0">
            <a:off x="4038600" y="390525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>
                <a:solidFill>
                  <a:srgbClr val="C43A17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865" name="" descr="{&quot;isTemplate&quot;:true,&quot;type&quot;:&quot;text&quot;}"/>
          <p:cNvSpPr txBox="1"/>
          <p:nvPr/>
        </p:nvSpPr>
        <p:spPr>
          <a:xfrm rot="0" flipH="0" flipV="0">
            <a:off x="4238625" y="3886200"/>
            <a:ext cx="21240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88" b="1">
                <a:solidFill>
                  <a:srgbClr val="0F1423"/>
                </a:solidFill>
                <a:latin typeface="Microsoft YaHei"/>
                <a:ea typeface="Microsoft YaHei"/>
              </a:rPr>
              <a:t>初期本体建模的工程量</a:t>
            </a:r>
            <a:endParaRPr/>
          </a:p>
        </p:txBody>
      </p:sp>
      <p:sp>
        <p:nvSpPr>
          <p:cNvPr id="866" name=""/>
          <p:cNvSpPr/>
          <p:nvPr/>
        </p:nvSpPr>
        <p:spPr>
          <a:xfrm rot="0" flipH="0" flipV="0">
            <a:off x="781050" y="4257675"/>
            <a:ext cx="5695950" cy="485775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67" name="" descr="{&quot;isTemplate&quot;:true,&quot;type&quot;:&quot;text&quot;}"/>
          <p:cNvSpPr txBox="1"/>
          <p:nvPr/>
        </p:nvSpPr>
        <p:spPr>
          <a:xfrm rot="0" flipH="0" flipV="0">
            <a:off x="895350" y="4438650"/>
            <a:ext cx="800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1423"/>
                </a:solidFill>
                <a:latin typeface="Microsoft YaHei"/>
                <a:ea typeface="Microsoft YaHei"/>
              </a:rPr>
              <a:t>回答能力</a:t>
            </a:r>
            <a:endParaRPr/>
          </a:p>
        </p:txBody>
      </p:sp>
      <p:sp>
        <p:nvSpPr>
          <p:cNvPr id="868" name="" descr="{&quot;isTemplate&quot;:true,&quot;type&quot;:&quot;text&quot;}"/>
          <p:cNvSpPr txBox="1"/>
          <p:nvPr/>
        </p:nvSpPr>
        <p:spPr>
          <a:xfrm rot="0" flipH="0" flipV="0">
            <a:off x="1790700" y="4438650"/>
            <a:ext cx="21526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擅长回答「是什么」</a:t>
            </a:r>
            <a:endParaRPr/>
          </a:p>
        </p:txBody>
      </p:sp>
      <p:sp>
        <p:nvSpPr>
          <p:cNvPr id="869" name="" descr="{&quot;isTemplate&quot;:true,&quot;type&quot;:&quot;text&quot;}"/>
          <p:cNvSpPr txBox="1"/>
          <p:nvPr/>
        </p:nvSpPr>
        <p:spPr>
          <a:xfrm rot="0" flipH="0" flipV="0">
            <a:off x="4038600" y="443865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>
                <a:solidFill>
                  <a:srgbClr val="C43A17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870" name="" descr="{&quot;isTemplate&quot;:true,&quot;type&quot;:&quot;text&quot;}"/>
          <p:cNvSpPr txBox="1"/>
          <p:nvPr/>
        </p:nvSpPr>
        <p:spPr>
          <a:xfrm rot="0" flipH="0" flipV="0">
            <a:off x="4238625" y="4419600"/>
            <a:ext cx="21240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88" b="1">
                <a:solidFill>
                  <a:srgbClr val="0F1423"/>
                </a:solidFill>
                <a:latin typeface="Microsoft YaHei"/>
                <a:ea typeface="Microsoft YaHei"/>
              </a:rPr>
              <a:t>多因素归因与情景推演</a:t>
            </a:r>
            <a:endParaRPr/>
          </a:p>
        </p:txBody>
      </p:sp>
      <p:sp>
        <p:nvSpPr>
          <p:cNvPr id="871" name=""/>
          <p:cNvSpPr/>
          <p:nvPr/>
        </p:nvSpPr>
        <p:spPr>
          <a:xfrm rot="0" flipH="0" flipV="0">
            <a:off x="781050" y="4791075"/>
            <a:ext cx="5695950" cy="4762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72" name="" descr="{&quot;isTemplate&quot;:true,&quot;type&quot;:&quot;text&quot;}"/>
          <p:cNvSpPr txBox="1"/>
          <p:nvPr/>
        </p:nvSpPr>
        <p:spPr>
          <a:xfrm rot="0" flipH="0" flipV="0">
            <a:off x="895350" y="4962525"/>
            <a:ext cx="800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1423"/>
                </a:solidFill>
                <a:latin typeface="Microsoft YaHei"/>
                <a:ea typeface="Microsoft YaHei"/>
              </a:rPr>
              <a:t>权限位置</a:t>
            </a:r>
            <a:endParaRPr/>
          </a:p>
        </p:txBody>
      </p:sp>
      <p:sp>
        <p:nvSpPr>
          <p:cNvPr id="873" name="" descr="{&quot;isTemplate&quot;:true,&quot;type&quot;:&quot;text&quot;}"/>
          <p:cNvSpPr txBox="1"/>
          <p:nvPr/>
        </p:nvSpPr>
        <p:spPr>
          <a:xfrm rot="0" flipH="0" flipV="0">
            <a:off x="1790700" y="4972050"/>
            <a:ext cx="21526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多在</a:t>
            </a:r>
            <a:r>
              <a:rPr lang="en-US" sz="788">
                <a:solidFill>
                  <a:srgbClr val="8A8F99"/>
                </a:solidFill>
                <a:latin typeface="Microsoft YaHei"/>
                <a:ea typeface="Microsoft YaHei"/>
              </a:rPr>
              <a:t xml:space="preserve"> SQL </a:t>
            </a: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层，</a:t>
            </a:r>
            <a:r>
              <a:rPr lang="en-US" sz="788">
                <a:solidFill>
                  <a:srgbClr val="8A8F99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可能绕过前端碰到敏感字段</a:t>
            </a:r>
            <a:endParaRPr/>
          </a:p>
        </p:txBody>
      </p:sp>
      <p:sp>
        <p:nvSpPr>
          <p:cNvPr id="874" name="" descr="{&quot;isTemplate&quot;:true,&quot;type&quot;:&quot;text&quot;}"/>
          <p:cNvSpPr txBox="1"/>
          <p:nvPr/>
        </p:nvSpPr>
        <p:spPr>
          <a:xfrm rot="0" flipH="0" flipV="0">
            <a:off x="4038600" y="4962525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>
                <a:solidFill>
                  <a:srgbClr val="C43A17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875" name="" descr="{&quot;isTemplate&quot;:true,&quot;type&quot;:&quot;text&quot;}"/>
          <p:cNvSpPr txBox="1"/>
          <p:nvPr/>
        </p:nvSpPr>
        <p:spPr>
          <a:xfrm rot="0" flipH="0" flipV="0">
            <a:off x="4238625" y="4943475"/>
            <a:ext cx="21240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88" b="1">
                <a:solidFill>
                  <a:srgbClr val="0F1423"/>
                </a:solidFill>
                <a:latin typeface="Microsoft YaHei"/>
                <a:ea typeface="Microsoft YaHei"/>
              </a:rPr>
              <a:t>绑在对象级，无权限则</a:t>
            </a:r>
            <a:r>
              <a:rPr lang="en-US" sz="788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788" b="1">
                <a:solidFill>
                  <a:srgbClr val="0F1423"/>
                </a:solidFill>
                <a:latin typeface="Microsoft YaHei"/>
                <a:ea typeface="Microsoft YaHei"/>
              </a:rPr>
              <a:t>调不出来</a:t>
            </a:r>
            <a:endParaRPr/>
          </a:p>
        </p:txBody>
      </p:sp>
      <p:sp>
        <p:nvSpPr>
          <p:cNvPr id="876" name="" descr="{&quot;isTemplate&quot;:true,&quot;type&quot;:&quot;text&quot;}"/>
          <p:cNvSpPr txBox="1"/>
          <p:nvPr/>
        </p:nvSpPr>
        <p:spPr>
          <a:xfrm rot="0" flipH="0" flipV="0">
            <a:off x="781050" y="5343525"/>
            <a:ext cx="569595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三行右边的共同前提是同一个：口径已经作为对象属性被建模过了。没有这一步，右边全部做不到。</a:t>
            </a:r>
            <a:endParaRPr/>
          </a:p>
        </p:txBody>
      </p:sp>
      <p:sp>
        <p:nvSpPr>
          <p:cNvPr id="877" name=""/>
          <p:cNvSpPr/>
          <p:nvPr/>
        </p:nvSpPr>
        <p:spPr>
          <a:xfrm rot="0" flipH="0" flipV="0">
            <a:off x="6743700" y="3362325"/>
            <a:ext cx="4838700" cy="2276475"/>
          </a:xfrm>
          <a:prstGeom prst="roundRect">
            <a:avLst>
              <a:gd name="adj" fmla="val 167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78" name="" descr="{&quot;isTemplate&quot;:true,&quot;type&quot;:&quot;text&quot;}"/>
          <p:cNvSpPr txBox="1"/>
          <p:nvPr/>
        </p:nvSpPr>
        <p:spPr>
          <a:xfrm rot="0" flipH="0" flipV="0">
            <a:off x="6915150" y="3476625"/>
            <a:ext cx="4495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0F1423"/>
                </a:solidFill>
                <a:latin typeface="Microsoft YaHei"/>
                <a:ea typeface="Microsoft YaHei"/>
              </a:rPr>
              <a:t>给</a:t>
            </a:r>
            <a:r>
              <a:rPr lang="en-US" sz="1013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13" b="1">
                <a:solidFill>
                  <a:srgbClr val="0F1423"/>
                </a:solidFill>
                <a:latin typeface="Microsoft YaHei"/>
                <a:ea typeface="Microsoft YaHei"/>
              </a:rPr>
              <a:t>的三条硬约束</a:t>
            </a:r>
            <a:endParaRPr/>
          </a:p>
        </p:txBody>
      </p:sp>
      <p:sp>
        <p:nvSpPr>
          <p:cNvPr id="879" name=""/>
          <p:cNvSpPr/>
          <p:nvPr/>
        </p:nvSpPr>
        <p:spPr>
          <a:xfrm rot="0" flipH="0" flipV="0">
            <a:off x="6943725" y="3724275"/>
            <a:ext cx="4495800" cy="55245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80" name=""/>
          <p:cNvSpPr/>
          <p:nvPr/>
        </p:nvSpPr>
        <p:spPr>
          <a:xfrm rot="0" flipH="0" flipV="0">
            <a:off x="6943725" y="3724275"/>
            <a:ext cx="4495800" cy="552450"/>
          </a:xfrm>
          <a:custGeom>
            <a:pathLst>
              <a:path w="472" h="58">
                <a:moveTo>
                  <a:pt x="3" y="58"/>
                </a:moveTo>
                <a:cubicBezTo>
                  <a:pt x="1" y="58"/>
                  <a:pt x="0" y="57"/>
                  <a:pt x="0" y="55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881" name="" descr="{&quot;isTemplate&quot;:true,&quot;type&quot;:&quot;text&quot;}"/>
          <p:cNvSpPr txBox="1"/>
          <p:nvPr/>
        </p:nvSpPr>
        <p:spPr>
          <a:xfrm rot="0" flipH="0" flipV="0">
            <a:off x="7048500" y="3829050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一</a:t>
            </a:r>
            <a:endParaRPr/>
          </a:p>
        </p:txBody>
      </p:sp>
      <p:sp>
        <p:nvSpPr>
          <p:cNvPr id="882" name="" descr="{&quot;isTemplate&quot;:true,&quot;type&quot;:&quot;text&quot;}"/>
          <p:cNvSpPr txBox="1"/>
          <p:nvPr/>
        </p:nvSpPr>
        <p:spPr>
          <a:xfrm rot="0" flipH="0" flipV="0">
            <a:off x="7239000" y="3838575"/>
            <a:ext cx="13620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未注册口径不暴露给</a:t>
            </a:r>
            <a:r>
              <a:rPr lang="en-US" sz="863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Agent</a:t>
            </a:r>
            <a:endParaRPr/>
          </a:p>
        </p:txBody>
      </p:sp>
      <p:sp>
        <p:nvSpPr>
          <p:cNvPr id="883" name="" descr="{&quot;isTemplate&quot;:true,&quot;type&quot;:&quot;text&quot;}"/>
          <p:cNvSpPr txBox="1"/>
          <p:nvPr/>
        </p:nvSpPr>
        <p:spPr>
          <a:xfrm rot="0" flipH="0" flipV="0">
            <a:off x="7048500" y="4000500"/>
            <a:ext cx="425767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不进注册表的指标，不能成为</a:t>
            </a:r>
            <a:r>
              <a:rPr lang="en-US" sz="788">
                <a:solidFill>
                  <a:srgbClr val="5A6070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可调用的工具</a:t>
            </a:r>
            <a:endParaRPr/>
          </a:p>
        </p:txBody>
      </p:sp>
      <p:sp>
        <p:nvSpPr>
          <p:cNvPr id="884" name=""/>
          <p:cNvSpPr/>
          <p:nvPr/>
        </p:nvSpPr>
        <p:spPr>
          <a:xfrm rot="0" flipH="0" flipV="0">
            <a:off x="6943725" y="4343400"/>
            <a:ext cx="4495800" cy="561975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85" name=""/>
          <p:cNvSpPr/>
          <p:nvPr/>
        </p:nvSpPr>
        <p:spPr>
          <a:xfrm rot="0" flipH="0" flipV="0">
            <a:off x="6943725" y="4343400"/>
            <a:ext cx="4495800" cy="561975"/>
          </a:xfrm>
          <a:custGeom>
            <a:pathLst>
              <a:path w="472" h="59">
                <a:moveTo>
                  <a:pt x="3" y="59"/>
                </a:moveTo>
                <a:cubicBezTo>
                  <a:pt x="1" y="59"/>
                  <a:pt x="0" y="58"/>
                  <a:pt x="0" y="56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9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886" name="" descr="{&quot;isTemplate&quot;:true,&quot;type&quot;:&quot;text&quot;}"/>
          <p:cNvSpPr txBox="1"/>
          <p:nvPr/>
        </p:nvSpPr>
        <p:spPr>
          <a:xfrm rot="0" flipH="0" flipV="0">
            <a:off x="7048500" y="4457700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二</a:t>
            </a:r>
            <a:endParaRPr/>
          </a:p>
        </p:txBody>
      </p:sp>
      <p:sp>
        <p:nvSpPr>
          <p:cNvPr id="887" name="" descr="{&quot;isTemplate&quot;:true,&quot;type&quot;:&quot;text&quot;}"/>
          <p:cNvSpPr txBox="1"/>
          <p:nvPr/>
        </p:nvSpPr>
        <p:spPr>
          <a:xfrm rot="0" flipH="0" flipV="0">
            <a:off x="7239000" y="4467225"/>
            <a:ext cx="1209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口径版本与代码一起发布</a:t>
            </a:r>
            <a:endParaRPr/>
          </a:p>
        </p:txBody>
      </p:sp>
      <p:sp>
        <p:nvSpPr>
          <p:cNvPr id="888" name="" descr="{&quot;isTemplate&quot;:true,&quot;type&quot;:&quot;text&quot;}"/>
          <p:cNvSpPr txBox="1"/>
          <p:nvPr/>
        </p:nvSpPr>
        <p:spPr>
          <a:xfrm rot="0" flipH="0" flipV="0">
            <a:off x="7048500" y="4629150"/>
            <a:ext cx="425767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788">
                <a:solidFill>
                  <a:srgbClr val="5A6070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记录的是口径版本号，不是「当时是这么算的」</a:t>
            </a:r>
            <a:endParaRPr/>
          </a:p>
        </p:txBody>
      </p:sp>
      <p:sp>
        <p:nvSpPr>
          <p:cNvPr id="889" name=""/>
          <p:cNvSpPr/>
          <p:nvPr/>
        </p:nvSpPr>
        <p:spPr>
          <a:xfrm rot="0" flipH="0" flipV="0">
            <a:off x="6943725" y="4972050"/>
            <a:ext cx="4495800" cy="55245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90" name=""/>
          <p:cNvSpPr/>
          <p:nvPr/>
        </p:nvSpPr>
        <p:spPr>
          <a:xfrm rot="0" flipH="0" flipV="0">
            <a:off x="6943725" y="4972050"/>
            <a:ext cx="4495800" cy="552450"/>
          </a:xfrm>
          <a:custGeom>
            <a:pathLst>
              <a:path w="472" h="58">
                <a:moveTo>
                  <a:pt x="3" y="58"/>
                </a:moveTo>
                <a:cubicBezTo>
                  <a:pt x="1" y="58"/>
                  <a:pt x="0" y="57"/>
                  <a:pt x="0" y="55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891" name="" descr="{&quot;isTemplate&quot;:true,&quot;type&quot;:&quot;text&quot;}"/>
          <p:cNvSpPr txBox="1"/>
          <p:nvPr/>
        </p:nvSpPr>
        <p:spPr>
          <a:xfrm rot="0" flipH="0" flipV="0">
            <a:off x="7048500" y="5076825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三</a:t>
            </a:r>
            <a:endParaRPr/>
          </a:p>
        </p:txBody>
      </p:sp>
      <p:sp>
        <p:nvSpPr>
          <p:cNvPr id="892" name="" descr="{&quot;isTemplate&quot;:true,&quot;type&quot;:&quot;text&quot;}"/>
          <p:cNvSpPr txBox="1"/>
          <p:nvPr/>
        </p:nvSpPr>
        <p:spPr>
          <a:xfrm rot="0" flipH="0" flipV="0">
            <a:off x="7239000" y="5086350"/>
            <a:ext cx="990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口径与数值分离存储</a:t>
            </a:r>
            <a:endParaRPr/>
          </a:p>
        </p:txBody>
      </p:sp>
      <p:sp>
        <p:nvSpPr>
          <p:cNvPr id="893" name="" descr="{&quot;isTemplate&quot;:true,&quot;type&quot;:&quot;text&quot;}"/>
          <p:cNvSpPr txBox="1"/>
          <p:nvPr/>
        </p:nvSpPr>
        <p:spPr>
          <a:xfrm rot="0" flipH="0" flipV="0">
            <a:off x="7048500" y="5248275"/>
            <a:ext cx="425767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数值随时变，口径定义相对稳定，两者生命周期不同</a:t>
            </a:r>
            <a:endParaRPr/>
          </a:p>
        </p:txBody>
      </p:sp>
      <p:sp>
        <p:nvSpPr>
          <p:cNvPr id="894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895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896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指标体系咨询方法论</a:t>
            </a:r>
            <a:endParaRPr/>
          </a:p>
        </p:txBody>
      </p:sp>
      <p:sp>
        <p:nvSpPr>
          <p:cNvPr id="897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22 / 30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898" name="" descr="&lt;Slide style={{ width: 1280, height: 720, background: '#FFFFFF', padding: '24px 64px 0' }}&gt;&#10;  &lt;Box style={{ height: 96, flexDirection: 'column', justifyContent: 'flex-start' }}&gt;&#10;    &lt;Text style={{ fontSize: 32, fontWeight: 'bold', color: '#0F1423' }}&gt;&#10;      指标 × Ontology：指标是本体的&lt;span style={{ color: '#FA4F24' }}&gt;原生组成&lt;/span&gt;，不是外挂报表&#10;    &lt;/Text&gt;&#10;    &lt;Text style={{ fontSize: 20, color: '#8A8F99', marginTop: 8 }}&gt;和主数据一样——它在本体里本来就是那回事，不需要额外建一个「指标模块」来管它&lt;/Text&gt;&#10;  &lt;/Box&gt;&#10;  &lt;Box style={{ height: 1, background: '#E8E8E8' }} /&gt;&#10;&#10;  &lt;Box style={{ paddingTop: 14, paddingBottom: 8, height: 479, flexDirection: 'column', gap: 10 }}&gt;&#10;    &lt;Box style={{ flex: 1, flexDirection: 'row', gap: 10 }}&gt;&#10;      &lt;Box style={{ flex: 1.15, background: '#0F1423', borderRadius: 4, padding: '13px 18px', flexDirection: 'column' }}&gt;&#10;        &lt;Text style={{ fontSize: 13.5, fontWeight: 'bold', color: '#FBA15C' }}&gt;为什么说它是原生组成&lt;/Text&gt;&#10;        &lt;Box style={{ marginTop: 10, gap: 6, flex: 1 }}&gt;&#10;          {[&#10;            '指标的值就是链接关系上的聚合结果——本体本来就有链接，不需要新机制',&#10;            '指标的维度就是对象类型与链接类型——不需要另建维度模型',&#10;            '指标的权限就是对象的权限——不需要另建权限体系',&#10;            '指标的口径就是派生属性的定义——不需要另建计算引擎',&#10;            '因此「指标平台」相对本体做的事只有一件：&lt;tspan style={{ fontWeight: \'bold\' }}&gt;把口径从文档搬进模型&lt;/tspan&gt;',&#10;          ].map((t, i) =&gt; (&#10;            &lt;Box key={i} style={{ flex: 1, flexDirection: 'row', gap: 8, background: 'rgba(255,255,255,0.07)', borderRadius: 3, borderLeft: '3px solid #FBA15C', padding: '6px 11px', alignItems: 'center' }}&gt;&#10;              &lt;Text style={{ fontSize: 10.5, color: 'rgba(255,255,255,0.85)', lineHeight: 1.45, flex: 1 }}&gt;{t}&lt;/Text&gt;&#10;            &lt;/Box&gt;&#10;          ))}&#10;        &lt;/Box&gt;&#10;      &lt;/Box&gt;&#10;&#10;      &lt;Box style={{ flex: 1, background: '#F7F7F8', borderRadius: 4, padding: '12px 16px', flexDirection: 'column' }}&gt;&#10;        &lt;Text style={{ fontSize: 14, fontWeight: 'bold', color: '#0F1423' }}&gt;指标建模的四步与对应产出&lt;/Text&gt;&#10;        &lt;Box style={{ marginTop: 10, gap: 6, flex: 1 }}&gt;&#10;          {[&#10;            { n: '1', t: '定对象类型与粒度', d: '先问「这个数长在哪个对象上」——订单行、客户、设备' },&#10;            { n: '2', t: '定链接路径', d: '从哪个对象沿哪几条链接能到聚合对象，超过一跳必须聚合' },&#10;            { n: '3', t: '定聚合类型', d: '求和、去重计数、平均、收集列表；选定后类型加宽规则跟着定' },&#10;            { n: '4', t: '定定义位置', d: '进本体（全员一致）还是留在模块里（单场景用）——这是最难的一次决定' },&#10;          ].map((x) =&gt; (&#10;            &lt;Box key={x.n} style={{ flex: 1, flexDirection: 'row', gap: 10, background: '#FFFFFF', borderRadius: 3, borderLeft: '3px solid #FA4F24', padding: '0 11px', alignItems: 'center' }}&gt;&#10;              &lt;Box style={{ width: 20, height: 20, borderRadius: 10, background: '#FA4F24', alignItems: 'center', justifyContent: 'center' }}&gt;&#10;                &lt;Text style={{ fontSize: 11, fontWeight: 'bold', color: '#FFFFFF' }}&gt;{x.n}&lt;/Text&gt;&#10;              &lt;/Box&gt;&#10;              &lt;Box style={{ flex: 1, flexDirection: 'column' }}&gt;&#10;                &lt;Text style={{ fontSize: 11.5, fontWeight: 'bold', color: '#0F1423' }}&gt;{x.t}&lt;/Text&gt;&#10;                &lt;Text style={{ fontSize: 10.5, color: '#5A6070', marginTop: 2, lineHeight: 1.4 }}&gt;{x.d}&lt;/Text&gt;&#10;              &lt;/Box&gt;&#10;            &lt;/Box&gt;&#10;          ))}&#10;        &lt;/Box&gt;&#10;      &lt;/Box&gt;&#10;    &lt;/Box&gt;&#10;&#10;    &lt;Box style={{ flex: 0.9, flexDirection: 'row', gap: 10 }}&gt;&#10;      &lt;Box style={{ flex: 1, background: '#FFF3EE', borderRadius: 4, padding: '12px 18px', flexDirection: 'column' }}&gt;&#10;        &lt;Text style={{ fontSize: 13.5, fontWeight: 'bold', color: '#C43A17' }}&gt;与第十册主数据的对照：两件事的答案完全一样&lt;/Text&gt;&#10;        &lt;Box style={{ marginTop: 10, gap: 6, flex: 1 }}&gt;&#10;          {[&#10;            { k: '主数据', q: '是什么', a: '不是一个模块，是一种建模方式' },&#10;            { k: '指标', q: '是什么', a: '不是一个报表，是一个派生属性' },&#10;            { k: '共同点', q: '落地第一问', a: '先问「这个数/这个实体长在哪个对象上」，答不出来就别建模' },&#10;          ].map((x) =&gt; (&#10;            &lt;Box key={x.k} style={{ flex: 1, flexDirection: 'row', alignItems: 'center', gap: 10, background: '#FFFFFF', borderRadius: 3, padding: '0 12px' }}&gt;&#10;              &lt;Text style={{ fontSize: 11, fontWeight: 'bold', color: '#FA4F24', width: 56 }}&gt;{x.k}&lt;/Text&gt;&#10;              &lt;Text style={{ fontSize: 10.5, color: '#8A8F99', width: 58 }}&gt;{x.q}&lt;/Text&gt;&#10;              &lt;Text style={{ fontSize: 11, fontWeight: 'bold', color: '#0F1423', flex: 1 }}&gt;{x.a}&lt;/Text&gt;&#10;            &lt;/Box&gt;&#10;          ))}&#10;        &lt;/Box&gt;&#10;      &lt;/Box&gt;&#10;&#10;      &lt;Box style={{ flex: 1.1, background: '#0F1423', borderRadius: 4, padding: '12px 18px', flexDirection: 'column' }}&gt;&#10;        &lt;Text style={{ fontSize: 13.5, fontWeight: 'bold', color: '#FBA15C' }}&gt;本体建模评审必答的六个问题&lt;/Text&gt;&#10;        &lt;Box style={{ flexDirection: 'row', gap: 9, marginTop: 10, flex: 1 }}&gt;&#10;          {[&#10;            '这个指标挂在哪个对象类型上，粒度是什么？',&#10;            '聚合要沿哪几条链接，每条跳数多少？',&#10;            '聚合类型是什么，结果类型加宽后是什么？',&#10;            '空值是被忽略还是当零，两种结果差多少？',&#10;            '这个计算是全员口径还是单场景口径？',&#10;            '不同权限的人会看到不同的值吗，差异说明写在哪？',&#10;          ].map((t, i) =&gt; (&#10;            &lt;Box key={i} style={{ width: '32.6%', background: 'rgba(255,255,255,0.07)', borderRadius: 3, borderTop: '2px solid #FBA15C', padding: '8px 10px', justifyContent: 'center' }}&gt;&#10;              &lt;Text style={{ fontSize: 10.5, color: 'rgba(255,255,255,0.85)', lineHeight: 1.45 }}&gt;{t}&lt;/Text&gt;&#10;            &lt;/Box&gt;&#10;          ))}&#10;        &lt;/Box&gt;&#10;      &lt;/Box&gt;&#10;    &lt;/Box&gt;&#10;  &lt;/Box&gt;&#10;&#10;  &lt;Box style={{ height: 58, flexDirection: 'row', alignItems: 'center', borderTop: '1px solid #E8E8E8' }}&gt;&#10;    &lt;Box style={{ width: 10, height: 10, background: '#FA4F24' }} /&gt;&#10;    &lt;Text style={{ fontSize: 13, color: '#8A8F99', marginLeft: 12 }}&gt;硕磐机密 · 指标体系咨询方法论&lt;/Text&gt;&#10;    &lt;Text style={{ fontSize: 13, color: '#8A8F99', marginLeft: 'auto' }}&gt;23 / 3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00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指标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× Ontology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：指标是本体的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原生组成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，不是外挂报表</a:t>
            </a:r>
            <a:endParaRPr/>
          </a:p>
        </p:txBody>
      </p:sp>
      <p:sp>
        <p:nvSpPr>
          <p:cNvPr id="901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和主数据一样——它在本体里本来就是那回事，不需要额外建一个「指标模块」来管它</a:t>
            </a:r>
            <a:endParaRPr/>
          </a:p>
        </p:txBody>
      </p:sp>
      <p:sp>
        <p:nvSpPr>
          <p:cNvPr id="902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903" name=""/>
          <p:cNvSpPr/>
          <p:nvPr/>
        </p:nvSpPr>
        <p:spPr>
          <a:xfrm rot="0" flipH="0" flipV="0">
            <a:off x="609600" y="1285875"/>
            <a:ext cx="5819775" cy="2752725"/>
          </a:xfrm>
          <a:prstGeom prst="roundRect">
            <a:avLst>
              <a:gd name="adj" fmla="val 1384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904" name="" descr="{&quot;isTemplate&quot;:true,&quot;type&quot;:&quot;text&quot;}"/>
          <p:cNvSpPr txBox="1"/>
          <p:nvPr/>
        </p:nvSpPr>
        <p:spPr>
          <a:xfrm rot="0" flipH="0" flipV="0">
            <a:off x="781050" y="1409700"/>
            <a:ext cx="5476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为什么说它是原生组成</a:t>
            </a:r>
            <a:endParaRPr/>
          </a:p>
        </p:txBody>
      </p:sp>
      <p:sp>
        <p:nvSpPr>
          <p:cNvPr id="905" name=""/>
          <p:cNvSpPr/>
          <p:nvPr/>
        </p:nvSpPr>
        <p:spPr>
          <a:xfrm rot="0" flipH="0" flipV="0">
            <a:off x="809625" y="1666875"/>
            <a:ext cx="5476875" cy="400050"/>
          </a:xfrm>
          <a:prstGeom prst="roundRect">
            <a:avLst>
              <a:gd name="adj" fmla="val 7143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906" name=""/>
          <p:cNvSpPr/>
          <p:nvPr/>
        </p:nvSpPr>
        <p:spPr>
          <a:xfrm rot="0" flipH="0" flipV="0">
            <a:off x="809625" y="1666875"/>
            <a:ext cx="5476875" cy="400050"/>
          </a:xfrm>
          <a:custGeom>
            <a:pathLst>
              <a:path w="575" h="42">
                <a:moveTo>
                  <a:pt x="3" y="42"/>
                </a:moveTo>
                <a:cubicBezTo>
                  <a:pt x="1" y="42"/>
                  <a:pt x="0" y="41"/>
                  <a:pt x="0" y="3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2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907" name="" descr="{&quot;isTemplate&quot;:true,&quot;type&quot;:&quot;text&quot;}"/>
          <p:cNvSpPr txBox="1"/>
          <p:nvPr/>
        </p:nvSpPr>
        <p:spPr>
          <a:xfrm rot="0" flipH="0" flipV="0">
            <a:off x="914400" y="1781175"/>
            <a:ext cx="523875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指标的值就是链接关系上的聚合结果——本体本来就有链接，不需要新机制</a:t>
            </a:r>
            <a:endParaRPr/>
          </a:p>
        </p:txBody>
      </p:sp>
      <p:sp>
        <p:nvSpPr>
          <p:cNvPr id="908" name=""/>
          <p:cNvSpPr/>
          <p:nvPr/>
        </p:nvSpPr>
        <p:spPr>
          <a:xfrm rot="0" flipH="0" flipV="0">
            <a:off x="809625" y="2124075"/>
            <a:ext cx="5476875" cy="409575"/>
          </a:xfrm>
          <a:prstGeom prst="roundRect">
            <a:avLst>
              <a:gd name="adj" fmla="val 6977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909" name=""/>
          <p:cNvSpPr/>
          <p:nvPr/>
        </p:nvSpPr>
        <p:spPr>
          <a:xfrm rot="0" flipH="0" flipV="0">
            <a:off x="809625" y="2124075"/>
            <a:ext cx="5476875" cy="409575"/>
          </a:xfrm>
          <a:custGeom>
            <a:pathLst>
              <a:path w="575" h="43">
                <a:moveTo>
                  <a:pt x="3" y="43"/>
                </a:moveTo>
                <a:cubicBezTo>
                  <a:pt x="1" y="43"/>
                  <a:pt x="0" y="42"/>
                  <a:pt x="0" y="40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3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910" name="" descr="{&quot;isTemplate&quot;:true,&quot;type&quot;:&quot;text&quot;}"/>
          <p:cNvSpPr txBox="1"/>
          <p:nvPr/>
        </p:nvSpPr>
        <p:spPr>
          <a:xfrm rot="0" flipH="0" flipV="0">
            <a:off x="914400" y="2238375"/>
            <a:ext cx="523875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指标的维度就是对象类型与链接类型——不需要另建维度模型</a:t>
            </a:r>
            <a:endParaRPr/>
          </a:p>
        </p:txBody>
      </p:sp>
      <p:sp>
        <p:nvSpPr>
          <p:cNvPr id="911" name=""/>
          <p:cNvSpPr/>
          <p:nvPr/>
        </p:nvSpPr>
        <p:spPr>
          <a:xfrm rot="0" flipH="0" flipV="0">
            <a:off x="809625" y="2590800"/>
            <a:ext cx="5476875" cy="400050"/>
          </a:xfrm>
          <a:prstGeom prst="roundRect">
            <a:avLst>
              <a:gd name="adj" fmla="val 7143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912" name=""/>
          <p:cNvSpPr/>
          <p:nvPr/>
        </p:nvSpPr>
        <p:spPr>
          <a:xfrm rot="0" flipH="0" flipV="0">
            <a:off x="809625" y="2590800"/>
            <a:ext cx="5476875" cy="400050"/>
          </a:xfrm>
          <a:custGeom>
            <a:pathLst>
              <a:path w="575" h="42">
                <a:moveTo>
                  <a:pt x="3" y="42"/>
                </a:moveTo>
                <a:cubicBezTo>
                  <a:pt x="1" y="42"/>
                  <a:pt x="0" y="41"/>
                  <a:pt x="0" y="3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2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913" name="" descr="{&quot;isTemplate&quot;:true,&quot;type&quot;:&quot;text&quot;}"/>
          <p:cNvSpPr txBox="1"/>
          <p:nvPr/>
        </p:nvSpPr>
        <p:spPr>
          <a:xfrm rot="0" flipH="0" flipV="0">
            <a:off x="914400" y="2705100"/>
            <a:ext cx="523875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指标的权限就是对象的权限——不需要另建权限体系</a:t>
            </a:r>
            <a:endParaRPr/>
          </a:p>
        </p:txBody>
      </p:sp>
      <p:sp>
        <p:nvSpPr>
          <p:cNvPr id="914" name=""/>
          <p:cNvSpPr/>
          <p:nvPr/>
        </p:nvSpPr>
        <p:spPr>
          <a:xfrm rot="0" flipH="0" flipV="0">
            <a:off x="809625" y="3048000"/>
            <a:ext cx="5476875" cy="409575"/>
          </a:xfrm>
          <a:prstGeom prst="roundRect">
            <a:avLst>
              <a:gd name="adj" fmla="val 6977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915" name=""/>
          <p:cNvSpPr/>
          <p:nvPr/>
        </p:nvSpPr>
        <p:spPr>
          <a:xfrm rot="0" flipH="0" flipV="0">
            <a:off x="809625" y="3048000"/>
            <a:ext cx="5476875" cy="409575"/>
          </a:xfrm>
          <a:custGeom>
            <a:pathLst>
              <a:path w="575" h="43">
                <a:moveTo>
                  <a:pt x="3" y="43"/>
                </a:moveTo>
                <a:cubicBezTo>
                  <a:pt x="1" y="43"/>
                  <a:pt x="0" y="42"/>
                  <a:pt x="0" y="40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3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916" name="" descr="{&quot;isTemplate&quot;:true,&quot;type&quot;:&quot;text&quot;}"/>
          <p:cNvSpPr txBox="1"/>
          <p:nvPr/>
        </p:nvSpPr>
        <p:spPr>
          <a:xfrm rot="0" flipH="0" flipV="0">
            <a:off x="914400" y="3162300"/>
            <a:ext cx="523875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指标的口径就是派生属性的定义——不需要另建计算引擎</a:t>
            </a:r>
            <a:endParaRPr/>
          </a:p>
        </p:txBody>
      </p:sp>
      <p:sp>
        <p:nvSpPr>
          <p:cNvPr id="917" name=""/>
          <p:cNvSpPr/>
          <p:nvPr/>
        </p:nvSpPr>
        <p:spPr>
          <a:xfrm rot="0" flipH="0" flipV="0">
            <a:off x="809625" y="3514725"/>
            <a:ext cx="5476875" cy="400050"/>
          </a:xfrm>
          <a:prstGeom prst="roundRect">
            <a:avLst>
              <a:gd name="adj" fmla="val 7143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918" name=""/>
          <p:cNvSpPr/>
          <p:nvPr/>
        </p:nvSpPr>
        <p:spPr>
          <a:xfrm rot="0" flipH="0" flipV="0">
            <a:off x="809625" y="3514725"/>
            <a:ext cx="5476875" cy="400050"/>
          </a:xfrm>
          <a:custGeom>
            <a:pathLst>
              <a:path w="575" h="42">
                <a:moveTo>
                  <a:pt x="3" y="42"/>
                </a:moveTo>
                <a:cubicBezTo>
                  <a:pt x="1" y="42"/>
                  <a:pt x="0" y="41"/>
                  <a:pt x="0" y="3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2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919" name="" descr="{&quot;isTemplate&quot;:true,&quot;type&quot;:&quot;text&quot;}"/>
          <p:cNvSpPr txBox="1"/>
          <p:nvPr/>
        </p:nvSpPr>
        <p:spPr>
          <a:xfrm rot="0" flipH="0" flipV="0">
            <a:off x="914400" y="3629025"/>
            <a:ext cx="523875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因此「指标平台」相对本体做的事只有一件：</a:t>
            </a:r>
            <a:r>
              <a:rPr lang="zh-CN" sz="78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把口径从文档搬进模型</a:t>
            </a:r>
            <a:endParaRPr/>
          </a:p>
        </p:txBody>
      </p:sp>
      <p:sp>
        <p:nvSpPr>
          <p:cNvPr id="920" name=""/>
          <p:cNvSpPr/>
          <p:nvPr/>
        </p:nvSpPr>
        <p:spPr>
          <a:xfrm rot="0" flipH="0" flipV="0">
            <a:off x="6524625" y="1285875"/>
            <a:ext cx="5057775" cy="2752725"/>
          </a:xfrm>
          <a:prstGeom prst="roundRect">
            <a:avLst>
              <a:gd name="adj" fmla="val 138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21" name="" descr="{&quot;isTemplate&quot;:true,&quot;type&quot;:&quot;text&quot;}"/>
          <p:cNvSpPr txBox="1"/>
          <p:nvPr/>
        </p:nvSpPr>
        <p:spPr>
          <a:xfrm rot="0" flipH="0" flipV="0">
            <a:off x="6677025" y="1400175"/>
            <a:ext cx="475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指标建模的四步与对应产出</a:t>
            </a:r>
            <a:endParaRPr/>
          </a:p>
        </p:txBody>
      </p:sp>
      <p:sp>
        <p:nvSpPr>
          <p:cNvPr id="922" name=""/>
          <p:cNvSpPr/>
          <p:nvPr/>
        </p:nvSpPr>
        <p:spPr>
          <a:xfrm rot="0" flipH="0" flipV="0">
            <a:off x="6705600" y="1657350"/>
            <a:ext cx="4752975" cy="523875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23" name=""/>
          <p:cNvSpPr/>
          <p:nvPr/>
        </p:nvSpPr>
        <p:spPr>
          <a:xfrm rot="0" flipH="0" flipV="0">
            <a:off x="6705600" y="1657350"/>
            <a:ext cx="4752975" cy="523875"/>
          </a:xfrm>
          <a:custGeom>
            <a:pathLst>
              <a:path w="499" h="55">
                <a:moveTo>
                  <a:pt x="3" y="55"/>
                </a:moveTo>
                <a:cubicBezTo>
                  <a:pt x="1" y="55"/>
                  <a:pt x="0" y="54"/>
                  <a:pt x="0" y="5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924" name=""/>
          <p:cNvSpPr/>
          <p:nvPr/>
        </p:nvSpPr>
        <p:spPr>
          <a:xfrm rot="0" flipH="0" flipV="0">
            <a:off x="6810375" y="18288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25" name="" descr="{&quot;isTemplate&quot;:true,&quot;type&quot;:&quot;text&quot;}"/>
          <p:cNvSpPr txBox="1"/>
          <p:nvPr/>
        </p:nvSpPr>
        <p:spPr>
          <a:xfrm rot="0" flipH="0" flipV="0">
            <a:off x="6877050" y="185737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926" name="" descr="{&quot;isTemplate&quot;:true,&quot;type&quot;:&quot;text&quot;}"/>
          <p:cNvSpPr txBox="1"/>
          <p:nvPr/>
        </p:nvSpPr>
        <p:spPr>
          <a:xfrm rot="0" flipH="0" flipV="0">
            <a:off x="7096125" y="1762125"/>
            <a:ext cx="422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定对象类型与粒度</a:t>
            </a:r>
            <a:endParaRPr/>
          </a:p>
        </p:txBody>
      </p:sp>
      <p:sp>
        <p:nvSpPr>
          <p:cNvPr id="927" name="" descr="{&quot;isTemplate&quot;:true,&quot;type&quot;:&quot;text&quot;}"/>
          <p:cNvSpPr txBox="1"/>
          <p:nvPr/>
        </p:nvSpPr>
        <p:spPr>
          <a:xfrm rot="0" flipH="0" flipV="0">
            <a:off x="7096125" y="1914525"/>
            <a:ext cx="422910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先问「这个数长在哪个对象上」——订单行、客户、设备</a:t>
            </a:r>
            <a:endParaRPr/>
          </a:p>
        </p:txBody>
      </p:sp>
      <p:sp>
        <p:nvSpPr>
          <p:cNvPr id="928" name=""/>
          <p:cNvSpPr/>
          <p:nvPr/>
        </p:nvSpPr>
        <p:spPr>
          <a:xfrm rot="0" flipH="0" flipV="0">
            <a:off x="6705600" y="2238375"/>
            <a:ext cx="4752975" cy="523875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29" name=""/>
          <p:cNvSpPr/>
          <p:nvPr/>
        </p:nvSpPr>
        <p:spPr>
          <a:xfrm rot="0" flipH="0" flipV="0">
            <a:off x="6705600" y="2238375"/>
            <a:ext cx="4752975" cy="523875"/>
          </a:xfrm>
          <a:custGeom>
            <a:pathLst>
              <a:path w="499" h="55">
                <a:moveTo>
                  <a:pt x="3" y="55"/>
                </a:moveTo>
                <a:cubicBezTo>
                  <a:pt x="1" y="55"/>
                  <a:pt x="0" y="54"/>
                  <a:pt x="0" y="5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930" name=""/>
          <p:cNvSpPr/>
          <p:nvPr/>
        </p:nvSpPr>
        <p:spPr>
          <a:xfrm rot="0" flipH="0" flipV="0">
            <a:off x="6810375" y="24098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31" name="" descr="{&quot;isTemplate&quot;:true,&quot;type&quot;:&quot;text&quot;}"/>
          <p:cNvSpPr txBox="1"/>
          <p:nvPr/>
        </p:nvSpPr>
        <p:spPr>
          <a:xfrm rot="0" flipH="0" flipV="0">
            <a:off x="6877050" y="243840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932" name="" descr="{&quot;isTemplate&quot;:true,&quot;type&quot;:&quot;text&quot;}"/>
          <p:cNvSpPr txBox="1"/>
          <p:nvPr/>
        </p:nvSpPr>
        <p:spPr>
          <a:xfrm rot="0" flipH="0" flipV="0">
            <a:off x="7096125" y="2343150"/>
            <a:ext cx="422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定链接路径</a:t>
            </a:r>
            <a:endParaRPr/>
          </a:p>
        </p:txBody>
      </p:sp>
      <p:sp>
        <p:nvSpPr>
          <p:cNvPr id="933" name="" descr="{&quot;isTemplate&quot;:true,&quot;type&quot;:&quot;text&quot;}"/>
          <p:cNvSpPr txBox="1"/>
          <p:nvPr/>
        </p:nvSpPr>
        <p:spPr>
          <a:xfrm rot="0" flipH="0" flipV="0">
            <a:off x="7096125" y="2495550"/>
            <a:ext cx="422910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从哪个对象沿哪几条链接能到聚合对象，超过一跳必须聚合</a:t>
            </a:r>
            <a:endParaRPr/>
          </a:p>
        </p:txBody>
      </p:sp>
      <p:sp>
        <p:nvSpPr>
          <p:cNvPr id="934" name=""/>
          <p:cNvSpPr/>
          <p:nvPr/>
        </p:nvSpPr>
        <p:spPr>
          <a:xfrm rot="0" flipH="0" flipV="0">
            <a:off x="6705600" y="2819400"/>
            <a:ext cx="4752975" cy="523875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35" name=""/>
          <p:cNvSpPr/>
          <p:nvPr/>
        </p:nvSpPr>
        <p:spPr>
          <a:xfrm rot="0" flipH="0" flipV="0">
            <a:off x="6705600" y="2819400"/>
            <a:ext cx="4752975" cy="523875"/>
          </a:xfrm>
          <a:custGeom>
            <a:pathLst>
              <a:path w="499" h="55">
                <a:moveTo>
                  <a:pt x="3" y="55"/>
                </a:moveTo>
                <a:cubicBezTo>
                  <a:pt x="1" y="55"/>
                  <a:pt x="0" y="54"/>
                  <a:pt x="0" y="5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936" name=""/>
          <p:cNvSpPr/>
          <p:nvPr/>
        </p:nvSpPr>
        <p:spPr>
          <a:xfrm rot="0" flipH="0" flipV="0">
            <a:off x="6810375" y="29908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37" name="" descr="{&quot;isTemplate&quot;:true,&quot;type&quot;:&quot;text&quot;}"/>
          <p:cNvSpPr txBox="1"/>
          <p:nvPr/>
        </p:nvSpPr>
        <p:spPr>
          <a:xfrm rot="0" flipH="0" flipV="0">
            <a:off x="6877050" y="301942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938" name="" descr="{&quot;isTemplate&quot;:true,&quot;type&quot;:&quot;text&quot;}"/>
          <p:cNvSpPr txBox="1"/>
          <p:nvPr/>
        </p:nvSpPr>
        <p:spPr>
          <a:xfrm rot="0" flipH="0" flipV="0">
            <a:off x="7096125" y="2924175"/>
            <a:ext cx="422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定聚合类型</a:t>
            </a:r>
            <a:endParaRPr/>
          </a:p>
        </p:txBody>
      </p:sp>
      <p:sp>
        <p:nvSpPr>
          <p:cNvPr id="939" name="" descr="{&quot;isTemplate&quot;:true,&quot;type&quot;:&quot;text&quot;}"/>
          <p:cNvSpPr txBox="1"/>
          <p:nvPr/>
        </p:nvSpPr>
        <p:spPr>
          <a:xfrm rot="0" flipH="0" flipV="0">
            <a:off x="7096125" y="3076575"/>
            <a:ext cx="422910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求和、去重计数、平均、收集列表；选定后类型加宽规则跟着定</a:t>
            </a:r>
            <a:endParaRPr/>
          </a:p>
        </p:txBody>
      </p:sp>
      <p:sp>
        <p:nvSpPr>
          <p:cNvPr id="940" name=""/>
          <p:cNvSpPr/>
          <p:nvPr/>
        </p:nvSpPr>
        <p:spPr>
          <a:xfrm rot="0" flipH="0" flipV="0">
            <a:off x="6705600" y="3400425"/>
            <a:ext cx="4752975" cy="523875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41" name=""/>
          <p:cNvSpPr/>
          <p:nvPr/>
        </p:nvSpPr>
        <p:spPr>
          <a:xfrm rot="0" flipH="0" flipV="0">
            <a:off x="6705600" y="3400425"/>
            <a:ext cx="4752975" cy="523875"/>
          </a:xfrm>
          <a:custGeom>
            <a:pathLst>
              <a:path w="499" h="55">
                <a:moveTo>
                  <a:pt x="3" y="55"/>
                </a:moveTo>
                <a:cubicBezTo>
                  <a:pt x="1" y="55"/>
                  <a:pt x="0" y="54"/>
                  <a:pt x="0" y="5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942" name=""/>
          <p:cNvSpPr/>
          <p:nvPr/>
        </p:nvSpPr>
        <p:spPr>
          <a:xfrm rot="0" flipH="0" flipV="0">
            <a:off x="6810375" y="35718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43" name="" descr="{&quot;isTemplate&quot;:true,&quot;type&quot;:&quot;text&quot;}"/>
          <p:cNvSpPr txBox="1"/>
          <p:nvPr/>
        </p:nvSpPr>
        <p:spPr>
          <a:xfrm rot="0" flipH="0" flipV="0">
            <a:off x="6877050" y="360045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944" name="" descr="{&quot;isTemplate&quot;:true,&quot;type&quot;:&quot;text&quot;}"/>
          <p:cNvSpPr txBox="1"/>
          <p:nvPr/>
        </p:nvSpPr>
        <p:spPr>
          <a:xfrm rot="0" flipH="0" flipV="0">
            <a:off x="7096125" y="3505200"/>
            <a:ext cx="422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定定义位置</a:t>
            </a:r>
            <a:endParaRPr/>
          </a:p>
        </p:txBody>
      </p:sp>
      <p:sp>
        <p:nvSpPr>
          <p:cNvPr id="945" name="" descr="{&quot;isTemplate&quot;:true,&quot;type&quot;:&quot;text&quot;}"/>
          <p:cNvSpPr txBox="1"/>
          <p:nvPr/>
        </p:nvSpPr>
        <p:spPr>
          <a:xfrm rot="0" flipH="0" flipV="0">
            <a:off x="7096125" y="3657600"/>
            <a:ext cx="422910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进本体（全员一致）还是留在模块里（单场景用）——这是最难的一次决定</a:t>
            </a:r>
            <a:endParaRPr/>
          </a:p>
        </p:txBody>
      </p:sp>
      <p:sp>
        <p:nvSpPr>
          <p:cNvPr id="946" name=""/>
          <p:cNvSpPr/>
          <p:nvPr/>
        </p:nvSpPr>
        <p:spPr>
          <a:xfrm rot="0" flipH="0" flipV="0">
            <a:off x="609600" y="4133850"/>
            <a:ext cx="5181600" cy="1504950"/>
          </a:xfrm>
          <a:prstGeom prst="roundRect">
            <a:avLst>
              <a:gd name="adj" fmla="val 2532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947" name="" descr="{&quot;isTemplate&quot;:true,&quot;type&quot;:&quot;text&quot;}"/>
          <p:cNvSpPr txBox="1"/>
          <p:nvPr/>
        </p:nvSpPr>
        <p:spPr>
          <a:xfrm rot="0" flipH="0" flipV="0">
            <a:off x="781050" y="4248150"/>
            <a:ext cx="483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C43A17"/>
                </a:solidFill>
                <a:latin typeface="Microsoft YaHei"/>
                <a:ea typeface="Microsoft YaHei"/>
              </a:rPr>
              <a:t>与第十册主数据的对照：两件事的答案完全一样</a:t>
            </a:r>
            <a:endParaRPr/>
          </a:p>
        </p:txBody>
      </p:sp>
      <p:sp>
        <p:nvSpPr>
          <p:cNvPr id="948" name=""/>
          <p:cNvSpPr/>
          <p:nvPr/>
        </p:nvSpPr>
        <p:spPr>
          <a:xfrm rot="0" flipH="0" flipV="0">
            <a:off x="781050" y="4505325"/>
            <a:ext cx="4838700" cy="3048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49" name="" descr="{&quot;isTemplate&quot;:true,&quot;type&quot;:&quot;text&quot;}"/>
          <p:cNvSpPr txBox="1"/>
          <p:nvPr/>
        </p:nvSpPr>
        <p:spPr>
          <a:xfrm rot="0" flipH="0" flipV="0">
            <a:off x="895350" y="4591050"/>
            <a:ext cx="533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A4F24"/>
                </a:solidFill>
                <a:latin typeface="Microsoft YaHei"/>
                <a:ea typeface="Microsoft YaHei"/>
              </a:rPr>
              <a:t>主数据</a:t>
            </a:r>
            <a:endParaRPr/>
          </a:p>
        </p:txBody>
      </p:sp>
      <p:sp>
        <p:nvSpPr>
          <p:cNvPr id="950" name="" descr="{&quot;isTemplate&quot;:true,&quot;type&quot;:&quot;text&quot;}"/>
          <p:cNvSpPr txBox="1"/>
          <p:nvPr/>
        </p:nvSpPr>
        <p:spPr>
          <a:xfrm rot="0" flipH="0" flipV="0">
            <a:off x="1524000" y="4600575"/>
            <a:ext cx="5524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是什么</a:t>
            </a:r>
            <a:endParaRPr/>
          </a:p>
        </p:txBody>
      </p:sp>
      <p:sp>
        <p:nvSpPr>
          <p:cNvPr id="951" name="" descr="{&quot;isTemplate&quot;:true,&quot;type&quot;:&quot;text&quot;}"/>
          <p:cNvSpPr txBox="1"/>
          <p:nvPr/>
        </p:nvSpPr>
        <p:spPr>
          <a:xfrm rot="0" flipH="0" flipV="0">
            <a:off x="2171700" y="4591050"/>
            <a:ext cx="3333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1423"/>
                </a:solidFill>
                <a:latin typeface="Microsoft YaHei"/>
                <a:ea typeface="Microsoft YaHei"/>
              </a:rPr>
              <a:t>不是一个模块，是一种建模方式</a:t>
            </a:r>
            <a:endParaRPr/>
          </a:p>
        </p:txBody>
      </p:sp>
      <p:sp>
        <p:nvSpPr>
          <p:cNvPr id="952" name=""/>
          <p:cNvSpPr/>
          <p:nvPr/>
        </p:nvSpPr>
        <p:spPr>
          <a:xfrm rot="0" flipH="0" flipV="0">
            <a:off x="781050" y="4867275"/>
            <a:ext cx="4838700" cy="295275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53" name="" descr="{&quot;isTemplate&quot;:true,&quot;type&quot;:&quot;text&quot;}"/>
          <p:cNvSpPr txBox="1"/>
          <p:nvPr/>
        </p:nvSpPr>
        <p:spPr>
          <a:xfrm rot="0" flipH="0" flipV="0">
            <a:off x="895350" y="4953000"/>
            <a:ext cx="533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A4F24"/>
                </a:solidFill>
                <a:latin typeface="Microsoft YaHei"/>
                <a:ea typeface="Microsoft YaHei"/>
              </a:rPr>
              <a:t>指标</a:t>
            </a:r>
            <a:endParaRPr/>
          </a:p>
        </p:txBody>
      </p:sp>
      <p:sp>
        <p:nvSpPr>
          <p:cNvPr id="954" name="" descr="{&quot;isTemplate&quot;:true,&quot;type&quot;:&quot;text&quot;}"/>
          <p:cNvSpPr txBox="1"/>
          <p:nvPr/>
        </p:nvSpPr>
        <p:spPr>
          <a:xfrm rot="0" flipH="0" flipV="0">
            <a:off x="1524000" y="4953000"/>
            <a:ext cx="5524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是什么</a:t>
            </a:r>
            <a:endParaRPr/>
          </a:p>
        </p:txBody>
      </p:sp>
      <p:sp>
        <p:nvSpPr>
          <p:cNvPr id="955" name="" descr="{&quot;isTemplate&quot;:true,&quot;type&quot;:&quot;text&quot;}"/>
          <p:cNvSpPr txBox="1"/>
          <p:nvPr/>
        </p:nvSpPr>
        <p:spPr>
          <a:xfrm rot="0" flipH="0" flipV="0">
            <a:off x="2171700" y="4953000"/>
            <a:ext cx="3333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1423"/>
                </a:solidFill>
                <a:latin typeface="Microsoft YaHei"/>
                <a:ea typeface="Microsoft YaHei"/>
              </a:rPr>
              <a:t>不是一个报表，是一个派生属性</a:t>
            </a:r>
            <a:endParaRPr/>
          </a:p>
        </p:txBody>
      </p:sp>
      <p:sp>
        <p:nvSpPr>
          <p:cNvPr id="956" name=""/>
          <p:cNvSpPr/>
          <p:nvPr/>
        </p:nvSpPr>
        <p:spPr>
          <a:xfrm rot="0" flipH="0" flipV="0">
            <a:off x="781050" y="5219700"/>
            <a:ext cx="4838700" cy="3048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57" name="" descr="{&quot;isTemplate&quot;:true,&quot;type&quot;:&quot;text&quot;}"/>
          <p:cNvSpPr txBox="1"/>
          <p:nvPr/>
        </p:nvSpPr>
        <p:spPr>
          <a:xfrm rot="0" flipH="0" flipV="0">
            <a:off x="895350" y="5305425"/>
            <a:ext cx="5334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A4F24"/>
                </a:solidFill>
                <a:latin typeface="Microsoft YaHei"/>
                <a:ea typeface="Microsoft YaHei"/>
              </a:rPr>
              <a:t>共同点</a:t>
            </a:r>
            <a:endParaRPr/>
          </a:p>
        </p:txBody>
      </p:sp>
      <p:sp>
        <p:nvSpPr>
          <p:cNvPr id="958" name="" descr="{&quot;isTemplate&quot;:true,&quot;type&quot;:&quot;text&quot;}"/>
          <p:cNvSpPr txBox="1"/>
          <p:nvPr/>
        </p:nvSpPr>
        <p:spPr>
          <a:xfrm rot="0" flipH="0" flipV="0">
            <a:off x="1524000" y="5314950"/>
            <a:ext cx="5524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8A8F99"/>
                </a:solidFill>
                <a:latin typeface="Microsoft YaHei"/>
                <a:ea typeface="Microsoft YaHei"/>
              </a:rPr>
              <a:t>落地第一问</a:t>
            </a:r>
            <a:endParaRPr/>
          </a:p>
        </p:txBody>
      </p:sp>
      <p:sp>
        <p:nvSpPr>
          <p:cNvPr id="959" name="" descr="{&quot;isTemplate&quot;:true,&quot;type&quot;:&quot;text&quot;}"/>
          <p:cNvSpPr txBox="1"/>
          <p:nvPr/>
        </p:nvSpPr>
        <p:spPr>
          <a:xfrm rot="0" flipH="0" flipV="0">
            <a:off x="2171700" y="5305425"/>
            <a:ext cx="3333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0F1423"/>
                </a:solidFill>
                <a:latin typeface="Microsoft YaHei"/>
                <a:ea typeface="Microsoft YaHei"/>
              </a:rPr>
              <a:t>先问「这个数</a:t>
            </a:r>
            <a:r>
              <a:rPr lang="en-US" sz="825" b="1">
                <a:solidFill>
                  <a:srgbClr val="0F1423"/>
                </a:solidFill>
                <a:latin typeface="Microsoft YaHei"/>
                <a:ea typeface="Microsoft YaHei"/>
              </a:rPr>
              <a:t>/</a:t>
            </a:r>
            <a:r>
              <a:rPr lang="zh-CN" sz="825" b="1">
                <a:solidFill>
                  <a:srgbClr val="0F1423"/>
                </a:solidFill>
                <a:latin typeface="Microsoft YaHei"/>
                <a:ea typeface="Microsoft YaHei"/>
              </a:rPr>
              <a:t>这个实体长在哪个对象上」，答不出来就别建模</a:t>
            </a:r>
            <a:endParaRPr/>
          </a:p>
        </p:txBody>
      </p:sp>
      <p:sp>
        <p:nvSpPr>
          <p:cNvPr id="960" name=""/>
          <p:cNvSpPr/>
          <p:nvPr/>
        </p:nvSpPr>
        <p:spPr>
          <a:xfrm rot="0" flipH="0" flipV="0">
            <a:off x="5886450" y="4133850"/>
            <a:ext cx="5695950" cy="1504950"/>
          </a:xfrm>
          <a:prstGeom prst="roundRect">
            <a:avLst>
              <a:gd name="adj" fmla="val 253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961" name="" descr="{&quot;isTemplate&quot;:true,&quot;type&quot;:&quot;text&quot;}"/>
          <p:cNvSpPr txBox="1"/>
          <p:nvPr/>
        </p:nvSpPr>
        <p:spPr>
          <a:xfrm rot="0" flipH="0" flipV="0">
            <a:off x="6057900" y="4248150"/>
            <a:ext cx="5353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本体建模评审必答的六个问题</a:t>
            </a:r>
            <a:endParaRPr/>
          </a:p>
        </p:txBody>
      </p:sp>
      <p:sp>
        <p:nvSpPr>
          <p:cNvPr id="962" name=""/>
          <p:cNvSpPr/>
          <p:nvPr/>
        </p:nvSpPr>
        <p:spPr>
          <a:xfrm rot="0" flipH="0" flipV="0">
            <a:off x="6057900" y="4524375"/>
            <a:ext cx="819150" cy="1019175"/>
          </a:xfrm>
          <a:prstGeom prst="roundRect">
            <a:avLst>
              <a:gd name="adj" fmla="val 3488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963" name=""/>
          <p:cNvSpPr/>
          <p:nvPr/>
        </p:nvSpPr>
        <p:spPr>
          <a:xfrm rot="0" flipH="0" flipV="0">
            <a:off x="6057900" y="4524375"/>
            <a:ext cx="819150" cy="1019175"/>
          </a:xfrm>
          <a:custGeom>
            <a:pathLst>
              <a:path w="86" h="107">
                <a:moveTo>
                  <a:pt x="83" y="0"/>
                </a:moveTo>
                <a:cubicBezTo>
                  <a:pt x="85" y="0"/>
                  <a:pt x="86" y="1"/>
                  <a:pt x="86" y="3"/>
                </a:cubicBezTo>
                <a:cubicBezTo>
                  <a:pt x="86" y="2"/>
                  <a:pt x="85" y="2"/>
                  <a:pt x="85" y="2"/>
                </a:cubicBezTo>
                <a:lnTo>
                  <a:pt x="1" y="2"/>
                </a:lnTo>
                <a:cubicBezTo>
                  <a:pt x="1" y="2"/>
                  <a:pt x="0" y="2"/>
                  <a:pt x="0" y="3"/>
                </a:cubicBezTo>
                <a:cubicBezTo>
                  <a:pt x="0" y="1"/>
                  <a:pt x="1" y="0"/>
                  <a:pt x="3" y="0"/>
                </a:cubicBezTo>
                <a:lnTo>
                  <a:pt x="83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964" name="" descr="{&quot;isTemplate&quot;:true,&quot;type&quot;:&quot;text&quot;}"/>
          <p:cNvSpPr txBox="1"/>
          <p:nvPr/>
        </p:nvSpPr>
        <p:spPr>
          <a:xfrm rot="0" flipH="0" flipV="0">
            <a:off x="6153150" y="4676775"/>
            <a:ext cx="62865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这个指标挂在哪个对象类型上，粒度是什么？</a:t>
            </a:r>
            <a:endParaRPr/>
          </a:p>
        </p:txBody>
      </p:sp>
      <p:sp>
        <p:nvSpPr>
          <p:cNvPr id="965" name=""/>
          <p:cNvSpPr/>
          <p:nvPr/>
        </p:nvSpPr>
        <p:spPr>
          <a:xfrm rot="0" flipH="0" flipV="0">
            <a:off x="6962775" y="4524375"/>
            <a:ext cx="819150" cy="1019175"/>
          </a:xfrm>
          <a:prstGeom prst="roundRect">
            <a:avLst>
              <a:gd name="adj" fmla="val 3488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966" name=""/>
          <p:cNvSpPr/>
          <p:nvPr/>
        </p:nvSpPr>
        <p:spPr>
          <a:xfrm rot="0" flipH="0" flipV="0">
            <a:off x="6962775" y="4524375"/>
            <a:ext cx="819150" cy="1019175"/>
          </a:xfrm>
          <a:custGeom>
            <a:pathLst>
              <a:path w="86" h="107">
                <a:moveTo>
                  <a:pt x="83" y="0"/>
                </a:moveTo>
                <a:cubicBezTo>
                  <a:pt x="85" y="0"/>
                  <a:pt x="86" y="1"/>
                  <a:pt x="86" y="3"/>
                </a:cubicBezTo>
                <a:cubicBezTo>
                  <a:pt x="86" y="2"/>
                  <a:pt x="85" y="2"/>
                  <a:pt x="85" y="2"/>
                </a:cubicBezTo>
                <a:lnTo>
                  <a:pt x="1" y="2"/>
                </a:lnTo>
                <a:cubicBezTo>
                  <a:pt x="1" y="2"/>
                  <a:pt x="0" y="2"/>
                  <a:pt x="0" y="3"/>
                </a:cubicBezTo>
                <a:cubicBezTo>
                  <a:pt x="0" y="1"/>
                  <a:pt x="1" y="0"/>
                  <a:pt x="3" y="0"/>
                </a:cubicBezTo>
                <a:lnTo>
                  <a:pt x="83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967" name="" descr="{&quot;isTemplate&quot;:true,&quot;type&quot;:&quot;text&quot;}"/>
          <p:cNvSpPr txBox="1"/>
          <p:nvPr/>
        </p:nvSpPr>
        <p:spPr>
          <a:xfrm rot="0" flipH="0" flipV="0">
            <a:off x="7058025" y="4762500"/>
            <a:ext cx="628650" cy="523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聚合要沿哪几条链接，每条跳数多少？</a:t>
            </a:r>
            <a:endParaRPr/>
          </a:p>
        </p:txBody>
      </p:sp>
      <p:sp>
        <p:nvSpPr>
          <p:cNvPr id="968" name=""/>
          <p:cNvSpPr/>
          <p:nvPr/>
        </p:nvSpPr>
        <p:spPr>
          <a:xfrm rot="0" flipH="0" flipV="0">
            <a:off x="7867650" y="4524375"/>
            <a:ext cx="828675" cy="1019175"/>
          </a:xfrm>
          <a:prstGeom prst="roundRect">
            <a:avLst>
              <a:gd name="adj" fmla="val 3448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969" name=""/>
          <p:cNvSpPr/>
          <p:nvPr/>
        </p:nvSpPr>
        <p:spPr>
          <a:xfrm rot="0" flipH="0" flipV="0">
            <a:off x="7867650" y="4524375"/>
            <a:ext cx="828675" cy="1019175"/>
          </a:xfrm>
          <a:custGeom>
            <a:pathLst>
              <a:path w="87" h="107">
                <a:moveTo>
                  <a:pt x="84" y="0"/>
                </a:moveTo>
                <a:cubicBezTo>
                  <a:pt x="86" y="0"/>
                  <a:pt x="87" y="1"/>
                  <a:pt x="87" y="3"/>
                </a:cubicBezTo>
                <a:cubicBezTo>
                  <a:pt x="87" y="2"/>
                  <a:pt x="86" y="2"/>
                  <a:pt x="86" y="2"/>
                </a:cubicBezTo>
                <a:lnTo>
                  <a:pt x="1" y="2"/>
                </a:lnTo>
                <a:cubicBezTo>
                  <a:pt x="1" y="2"/>
                  <a:pt x="0" y="2"/>
                  <a:pt x="0" y="3"/>
                </a:cubicBezTo>
                <a:cubicBezTo>
                  <a:pt x="0" y="1"/>
                  <a:pt x="1" y="0"/>
                  <a:pt x="3" y="0"/>
                </a:cubicBezTo>
                <a:lnTo>
                  <a:pt x="84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970" name="" descr="{&quot;isTemplate&quot;:true,&quot;type&quot;:&quot;text&quot;}"/>
          <p:cNvSpPr txBox="1"/>
          <p:nvPr/>
        </p:nvSpPr>
        <p:spPr>
          <a:xfrm rot="0" flipH="0" flipV="0">
            <a:off x="7962900" y="4676775"/>
            <a:ext cx="638175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聚合类型是什么，结果类型加宽后是什么？</a:t>
            </a:r>
            <a:endParaRPr/>
          </a:p>
        </p:txBody>
      </p:sp>
      <p:sp>
        <p:nvSpPr>
          <p:cNvPr id="971" name=""/>
          <p:cNvSpPr/>
          <p:nvPr/>
        </p:nvSpPr>
        <p:spPr>
          <a:xfrm rot="0" flipH="0" flipV="0">
            <a:off x="8782050" y="4524375"/>
            <a:ext cx="819150" cy="1019175"/>
          </a:xfrm>
          <a:prstGeom prst="roundRect">
            <a:avLst>
              <a:gd name="adj" fmla="val 3488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972" name=""/>
          <p:cNvSpPr/>
          <p:nvPr/>
        </p:nvSpPr>
        <p:spPr>
          <a:xfrm rot="0" flipH="0" flipV="0">
            <a:off x="8782050" y="4524375"/>
            <a:ext cx="819150" cy="1019175"/>
          </a:xfrm>
          <a:custGeom>
            <a:pathLst>
              <a:path w="86" h="107">
                <a:moveTo>
                  <a:pt x="83" y="0"/>
                </a:moveTo>
                <a:cubicBezTo>
                  <a:pt x="85" y="0"/>
                  <a:pt x="86" y="1"/>
                  <a:pt x="86" y="3"/>
                </a:cubicBezTo>
                <a:cubicBezTo>
                  <a:pt x="86" y="2"/>
                  <a:pt x="85" y="2"/>
                  <a:pt x="85" y="2"/>
                </a:cubicBezTo>
                <a:lnTo>
                  <a:pt x="1" y="2"/>
                </a:lnTo>
                <a:cubicBezTo>
                  <a:pt x="1" y="2"/>
                  <a:pt x="0" y="2"/>
                  <a:pt x="0" y="3"/>
                </a:cubicBezTo>
                <a:cubicBezTo>
                  <a:pt x="0" y="1"/>
                  <a:pt x="1" y="0"/>
                  <a:pt x="3" y="0"/>
                </a:cubicBezTo>
                <a:lnTo>
                  <a:pt x="83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973" name="" descr="{&quot;isTemplate&quot;:true,&quot;type&quot;:&quot;text&quot;}"/>
          <p:cNvSpPr txBox="1"/>
          <p:nvPr/>
        </p:nvSpPr>
        <p:spPr>
          <a:xfrm rot="0" flipH="0" flipV="0">
            <a:off x="8877300" y="4676775"/>
            <a:ext cx="62865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空值是被忽略还是当零，两种结果差多少？</a:t>
            </a:r>
            <a:endParaRPr/>
          </a:p>
        </p:txBody>
      </p:sp>
      <p:sp>
        <p:nvSpPr>
          <p:cNvPr id="974" name=""/>
          <p:cNvSpPr/>
          <p:nvPr/>
        </p:nvSpPr>
        <p:spPr>
          <a:xfrm rot="0" flipH="0" flipV="0">
            <a:off x="9686925" y="4524375"/>
            <a:ext cx="819150" cy="1019175"/>
          </a:xfrm>
          <a:prstGeom prst="roundRect">
            <a:avLst>
              <a:gd name="adj" fmla="val 3488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975" name=""/>
          <p:cNvSpPr/>
          <p:nvPr/>
        </p:nvSpPr>
        <p:spPr>
          <a:xfrm rot="0" flipH="0" flipV="0">
            <a:off x="9686925" y="4524375"/>
            <a:ext cx="819150" cy="1019175"/>
          </a:xfrm>
          <a:custGeom>
            <a:pathLst>
              <a:path w="86" h="107">
                <a:moveTo>
                  <a:pt x="83" y="0"/>
                </a:moveTo>
                <a:cubicBezTo>
                  <a:pt x="85" y="0"/>
                  <a:pt x="86" y="1"/>
                  <a:pt x="86" y="3"/>
                </a:cubicBezTo>
                <a:cubicBezTo>
                  <a:pt x="86" y="2"/>
                  <a:pt x="85" y="2"/>
                  <a:pt x="85" y="2"/>
                </a:cubicBezTo>
                <a:lnTo>
                  <a:pt x="1" y="2"/>
                </a:lnTo>
                <a:cubicBezTo>
                  <a:pt x="1" y="2"/>
                  <a:pt x="0" y="2"/>
                  <a:pt x="0" y="3"/>
                </a:cubicBezTo>
                <a:cubicBezTo>
                  <a:pt x="0" y="1"/>
                  <a:pt x="1" y="0"/>
                  <a:pt x="3" y="0"/>
                </a:cubicBezTo>
                <a:lnTo>
                  <a:pt x="83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976" name="" descr="{&quot;isTemplate&quot;:true,&quot;type&quot;:&quot;text&quot;}"/>
          <p:cNvSpPr txBox="1"/>
          <p:nvPr/>
        </p:nvSpPr>
        <p:spPr>
          <a:xfrm rot="0" flipH="0" flipV="0">
            <a:off x="9782175" y="4762500"/>
            <a:ext cx="628650" cy="523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这个计算是全员口径还是单场景口径？</a:t>
            </a:r>
            <a:endParaRPr/>
          </a:p>
        </p:txBody>
      </p:sp>
      <p:sp>
        <p:nvSpPr>
          <p:cNvPr id="977" name=""/>
          <p:cNvSpPr/>
          <p:nvPr/>
        </p:nvSpPr>
        <p:spPr>
          <a:xfrm rot="0" flipH="0" flipV="0">
            <a:off x="10591800" y="4524375"/>
            <a:ext cx="819150" cy="1019175"/>
          </a:xfrm>
          <a:prstGeom prst="roundRect">
            <a:avLst>
              <a:gd name="adj" fmla="val 3488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978" name=""/>
          <p:cNvSpPr/>
          <p:nvPr/>
        </p:nvSpPr>
        <p:spPr>
          <a:xfrm rot="0" flipH="0" flipV="0">
            <a:off x="10591800" y="4524375"/>
            <a:ext cx="819150" cy="1019175"/>
          </a:xfrm>
          <a:custGeom>
            <a:pathLst>
              <a:path w="86" h="107">
                <a:moveTo>
                  <a:pt x="83" y="0"/>
                </a:moveTo>
                <a:cubicBezTo>
                  <a:pt x="85" y="0"/>
                  <a:pt x="86" y="1"/>
                  <a:pt x="86" y="3"/>
                </a:cubicBezTo>
                <a:cubicBezTo>
                  <a:pt x="86" y="2"/>
                  <a:pt x="85" y="2"/>
                  <a:pt x="85" y="2"/>
                </a:cubicBezTo>
                <a:lnTo>
                  <a:pt x="1" y="2"/>
                </a:lnTo>
                <a:cubicBezTo>
                  <a:pt x="1" y="2"/>
                  <a:pt x="0" y="2"/>
                  <a:pt x="0" y="3"/>
                </a:cubicBezTo>
                <a:cubicBezTo>
                  <a:pt x="0" y="1"/>
                  <a:pt x="1" y="0"/>
                  <a:pt x="3" y="0"/>
                </a:cubicBezTo>
                <a:lnTo>
                  <a:pt x="83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979" name="" descr="{&quot;isTemplate&quot;:true,&quot;type&quot;:&quot;text&quot;}"/>
          <p:cNvSpPr txBox="1"/>
          <p:nvPr/>
        </p:nvSpPr>
        <p:spPr>
          <a:xfrm rot="0" flipH="0" flipV="0">
            <a:off x="10687050" y="4676775"/>
            <a:ext cx="62865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不同权限的人会看到不同的值吗，差异说明写在哪？</a:t>
            </a:r>
            <a:endParaRPr/>
          </a:p>
        </p:txBody>
      </p:sp>
      <p:sp>
        <p:nvSpPr>
          <p:cNvPr id="980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981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82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指标体系咨询方法论</a:t>
            </a:r>
            <a:endParaRPr/>
          </a:p>
        </p:txBody>
      </p:sp>
      <p:sp>
        <p:nvSpPr>
          <p:cNvPr id="983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23 / 30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984" name="" descr="&lt;Slide style={{ width: 1280, height: 720, background: '#FFFFFF', padding: '24px 64px 0' }}&gt;&#10;  &lt;Box style={{ height: 96, flexDirection: 'column', justifyContent: 'flex-start' }}&gt;&#10;    &lt;Text style={{ fontSize: 32, fontWeight: 'bold', color: '#0F1423' }}&gt;&#10;      一套口径，六个落法，&lt;span style={{ color: '#FA4F24' }}&gt;四条硬边界&lt;/span&gt;&#10;    &lt;/Text&gt;&#10;    &lt;Text style={{ fontSize: 20, color: '#8A8F99', marginTop: 8 }}&gt;六个方向共享同一份定义；四条边界一旦松动，指标就会退回到「谁建谁负责」的老状态&lt;/Text&gt;&#10;  &lt;/Box&gt;&#10;  &lt;Box style={{ height: 1, background: '#E8E8E8' }} /&gt;&#10;&#10;  &lt;Box style={{ paddingTop: 14, paddingBottom: 8, height: 479, flexDirection: 'column', gap: 10 }}&gt;&#10;    &lt;Box style={{ flex: 1, flexDirection: 'row', gap: 9 }}&gt;&#10;      {[&#10;        { d: '主数据', k: '维度挂规范 ID', v: '维度成员以主数据对象集为准，合并触发重算', p: '19' },&#10;        { d: '数据治理', k: '口径是策略', v: '变更走提案，聚合取严，用途受限于 approved use', p: '20' },&#10;        { d: '管道处理', k: '算哪儿有取舍', v: '口径常变走运行时，稳定高频走预计算且挂版本号', p: '21' },&#10;        { d: '知识库', k: '口径可检索', v: '切片带五元组与版本，密级随值继承', p: '22' },&#10;        { d: 'Agent', k: '给接口不给记录', v: '返回值含口径标识与版本，记忆只存口径不存数值', p: '22' },&#10;        { d: 'Ontology', k: '原生组成', v: '指标即派生属性，不另建指标引擎', p: '23' },&#10;      ].map((x) =&gt; (&#10;        &lt;Box key={x.d} style={{ flex: 1, background: '#F7F7F8', borderRadius: 4, borderTop: '4px solid #FA4F24', padding: '12px 12px', flexDirection: 'column' }}&gt;&#10;          &lt;Box style={{ flexDirection: 'row', alignItems: 'center', gap: 7 }}&gt;&#10;            &lt;Text style={{ fontSize: 15, fontWeight: 'bold', color: '#0F1423', flex: 1 }}&gt;{x.d}&lt;/Text&gt;&#10;            &lt;Text style={{ fontSize: 10, color: '#8A8F99' }}&gt;P{x.p}&lt;/Text&gt;&#10;          &lt;/Box&gt;&#10;          &lt;Box style={{ background: '#0F1423', borderRadius: 3, padding: '5px 8px', marginTop: 9 }}&gt;&#10;            &lt;Text style={{ fontSize: 11, fontWeight: 'bold', color: '#FBA15C' }}&gt;{x.k}&lt;/Text&gt;&#10;          &lt;/Box&gt;&#10;          &lt;Text style={{ fontSize: 10.5, color: '#5A6070', marginTop: 10, lineHeight: 1.5, flex: 1 }}&gt;{x.v}&lt;/Text&gt;&#10;        &lt;/Box&gt;&#10;      ))}&#10;    &lt;/Box&gt;&#10;&#10;    &lt;Box style={{ flex: 1.1, background: '#0F1423', borderRadius: 4, padding: '13px 20px', flexDirection: 'column' }}&gt;&#10;      &lt;Text style={{ fontSize: 14, fontWeight: 'bold', color: '#FBA15C' }}&gt;四条硬边界：违反任何一条，指标体系就开始退化&lt;/Text&gt;&#10;      &lt;Box style={{ flexDirection: 'row', gap: 10, marginTop: 11, flex: 1 }}&gt;&#10;        {[&#10;          { n: '一', t: '口径唯一，同词唯一解释', d: '全公司同一个词只能有一个解释。允许有别名，不允许有两个口径。破这条，后面三条都守不住。' },&#10;          { n: '二', t: '口径可执行，不只是可读', d: '口径必须是能被引擎执行的结构化定义。写在文档里的口径，早晚和算出来的那一套分叉。' },&#10;          { n: '三', t: '口径与值同源同权', d: '口径和值必须在同一个模型里，并继承同一套权限基线。两处维护就意味着两套真相。' },&#10;          { n: '四', t: '口径变更按动作管', d: '变更是受管动作：要提案、要影响面、要双版本比对、要能回滚。改配置不算改口径。' },&#10;        ].map((x) =&gt; (&#10;          &lt;Box key={x.n} style={{ flex: 1, background: 'rgba(250,79,36,0.16)', borderRadius: 3, padding: '10px 14px', justifyContent: 'center' }}&gt;&#10;            &lt;Text style={{ fontSize: 13, fontWeight: 'bold', color: '#FFFFFF' }}&gt;&#10;              &lt;tspan style={{ color: '#FBA15C' }}&gt;{x.n} · &lt;/tspan&gt;{x.t}&#10;            &lt;/Text&gt;&#10;            &lt;Text style={{ fontSize: 10.5, color: 'rgba(255,255,255,0.8)', marginTop: 6, lineHeight: 1.5 }}&gt;{x.d}&lt;/Text&gt;&#10;          &lt;/Box&gt;&#10;        ))}&#10;      &lt;/Box&gt;&#10;    &lt;/Box&gt;&#10;&#10;    &lt;Box style={{ flex: 0.6, background: '#FFF3EE', borderRadius: 4, padding: '10px 18px', flexDirection: 'row', alignItems: 'center', gap: 16 }}&gt;&#10;      &lt;Text style={{ fontSize: 13, fontWeight: 'bold', color: '#C43A17', width: 122 }}&gt;一句话收口&lt;/Text&gt;&#10;      &lt;Box style={{ width: 1, height: 30, background: '#FBA15C' }} /&gt;&#10;      &lt;Text style={{ fontSize: 12, color: '#3A4050', lineHeight: 1.5, flex: 1 }}&gt;&#10;        指标的六个方向不是六套工程，而是同一份口径的六种落法。所以推进顺序永远是&lt;tspan style={{ fontWeight: 'bold', color: '#C43A17' }}&gt;先把那一份定义立住&lt;/tspan&gt;，再谈六个方向的落地。&#10;      &lt;/Text&gt;&#10;    &lt;/Box&gt;&#10;  &lt;/Box&gt;&#10;&#10;  &lt;Box style={{ height: 58, flexDirection: 'row', alignItems: 'center', borderTop: '1px solid #E8E8E8' }}&gt;&#10;    &lt;Box style={{ width: 10, height: 10, background: '#FA4F24' }} /&gt;&#10;    &lt;Text style={{ fontSize: 13, color: '#8A8F99', marginLeft: 12 }}&gt;硕磐机密 · 指标体系咨询方法论&lt;/Text&gt;&#10;    &lt;Text style={{ fontSize: 13, color: '#8A8F99', marginLeft: 'auto' }}&gt;24 / 3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86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一套口径，六个落法，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四条硬边界</a:t>
            </a:r>
            <a:endParaRPr/>
          </a:p>
        </p:txBody>
      </p:sp>
      <p:sp>
        <p:nvSpPr>
          <p:cNvPr id="987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六个方向共享同一份定义；四条边界一旦松动，指标就会退回到「谁建谁负责」的老状态</a:t>
            </a:r>
            <a:endParaRPr/>
          </a:p>
        </p:txBody>
      </p:sp>
      <p:sp>
        <p:nvSpPr>
          <p:cNvPr id="988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989" name=""/>
          <p:cNvSpPr/>
          <p:nvPr/>
        </p:nvSpPr>
        <p:spPr>
          <a:xfrm rot="0" flipH="0" flipV="0">
            <a:off x="609600" y="1323975"/>
            <a:ext cx="1762125" cy="1657350"/>
          </a:xfrm>
          <a:prstGeom prst="roundRect">
            <a:avLst>
              <a:gd name="adj" fmla="val 229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90" name=""/>
          <p:cNvSpPr/>
          <p:nvPr/>
        </p:nvSpPr>
        <p:spPr>
          <a:xfrm rot="0" flipH="0" flipV="0">
            <a:off x="609600" y="1323975"/>
            <a:ext cx="1762125" cy="1657350"/>
          </a:xfrm>
          <a:custGeom>
            <a:pathLst>
              <a:path w="185" h="174">
                <a:moveTo>
                  <a:pt x="181" y="0"/>
                </a:moveTo>
                <a:cubicBezTo>
                  <a:pt x="183" y="0"/>
                  <a:pt x="185" y="2"/>
                  <a:pt x="185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181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991" name="" descr="{&quot;isTemplate&quot;:true,&quot;type&quot;:&quot;text&quot;}"/>
          <p:cNvSpPr txBox="1"/>
          <p:nvPr/>
        </p:nvSpPr>
        <p:spPr>
          <a:xfrm rot="0" flipH="0" flipV="0">
            <a:off x="723900" y="1438275"/>
            <a:ext cx="1295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主数据</a:t>
            </a:r>
            <a:endParaRPr/>
          </a:p>
        </p:txBody>
      </p:sp>
      <p:sp>
        <p:nvSpPr>
          <p:cNvPr id="992" name="" descr="{&quot;isTemplate&quot;:true,&quot;type&quot;:&quot;text&quot;}"/>
          <p:cNvSpPr txBox="1"/>
          <p:nvPr/>
        </p:nvSpPr>
        <p:spPr>
          <a:xfrm rot="0" flipH="0" flipV="0">
            <a:off x="2085975" y="1466850"/>
            <a:ext cx="1714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8A8F99"/>
                </a:solidFill>
                <a:latin typeface="Microsoft YaHei"/>
                <a:ea typeface="Microsoft YaHei"/>
              </a:rPr>
              <a:t>P</a:t>
            </a:r>
            <a:r>
              <a:rPr lang="en-US" sz="750">
                <a:solidFill>
                  <a:srgbClr val="8A8F99"/>
                </a:solidFill>
                <a:latin typeface="Microsoft YaHei"/>
                <a:ea typeface="Microsoft YaHei"/>
              </a:rPr>
              <a:t>19</a:t>
            </a:r>
            <a:endParaRPr/>
          </a:p>
        </p:txBody>
      </p:sp>
      <p:sp>
        <p:nvSpPr>
          <p:cNvPr id="993" name=""/>
          <p:cNvSpPr/>
          <p:nvPr/>
        </p:nvSpPr>
        <p:spPr>
          <a:xfrm rot="0" flipH="0" flipV="0">
            <a:off x="723900" y="1695450"/>
            <a:ext cx="1533525" cy="228600"/>
          </a:xfrm>
          <a:prstGeom prst="roundRect">
            <a:avLst>
              <a:gd name="adj" fmla="val 125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994" name="" descr="{&quot;isTemplate&quot;:true,&quot;type&quot;:&quot;text&quot;}"/>
          <p:cNvSpPr txBox="1"/>
          <p:nvPr/>
        </p:nvSpPr>
        <p:spPr>
          <a:xfrm rot="0" flipH="0" flipV="0">
            <a:off x="800100" y="1743075"/>
            <a:ext cx="1381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BA15C"/>
                </a:solidFill>
                <a:latin typeface="Microsoft YaHei"/>
                <a:ea typeface="Microsoft YaHei"/>
              </a:rPr>
              <a:t>维度挂规范</a:t>
            </a:r>
            <a:r>
              <a:rPr lang="en-US" sz="825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 ID</a:t>
            </a:r>
            <a:endParaRPr/>
          </a:p>
        </p:txBody>
      </p:sp>
      <p:sp>
        <p:nvSpPr>
          <p:cNvPr id="995" name="" descr="{&quot;isTemplate&quot;:true,&quot;type&quot;:&quot;text&quot;}"/>
          <p:cNvSpPr txBox="1"/>
          <p:nvPr/>
        </p:nvSpPr>
        <p:spPr>
          <a:xfrm rot="0" flipH="0" flipV="0">
            <a:off x="723900" y="2019300"/>
            <a:ext cx="1533525" cy="809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维度成员以主数据对象集为准，合并触发重算</a:t>
            </a:r>
            <a:endParaRPr/>
          </a:p>
        </p:txBody>
      </p:sp>
      <p:sp>
        <p:nvSpPr>
          <p:cNvPr id="996" name=""/>
          <p:cNvSpPr/>
          <p:nvPr/>
        </p:nvSpPr>
        <p:spPr>
          <a:xfrm rot="0" flipH="0" flipV="0">
            <a:off x="2457450" y="1323975"/>
            <a:ext cx="1752600" cy="1657350"/>
          </a:xfrm>
          <a:prstGeom prst="roundRect">
            <a:avLst>
              <a:gd name="adj" fmla="val 229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97" name=""/>
          <p:cNvSpPr/>
          <p:nvPr/>
        </p:nvSpPr>
        <p:spPr>
          <a:xfrm rot="0" flipH="0" flipV="0">
            <a:off x="2457450" y="1323975"/>
            <a:ext cx="1752600" cy="1657350"/>
          </a:xfrm>
          <a:custGeom>
            <a:pathLst>
              <a:path w="184" h="174">
                <a:moveTo>
                  <a:pt x="180" y="0"/>
                </a:moveTo>
                <a:cubicBezTo>
                  <a:pt x="182" y="0"/>
                  <a:pt x="184" y="2"/>
                  <a:pt x="184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180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998" name="" descr="{&quot;isTemplate&quot;:true,&quot;type&quot;:&quot;text&quot;}"/>
          <p:cNvSpPr txBox="1"/>
          <p:nvPr/>
        </p:nvSpPr>
        <p:spPr>
          <a:xfrm rot="0" flipH="0" flipV="0">
            <a:off x="2571750" y="1438275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数据治理</a:t>
            </a:r>
            <a:endParaRPr/>
          </a:p>
        </p:txBody>
      </p:sp>
      <p:sp>
        <p:nvSpPr>
          <p:cNvPr id="999" name="" descr="{&quot;isTemplate&quot;:true,&quot;type&quot;:&quot;text&quot;}"/>
          <p:cNvSpPr txBox="1"/>
          <p:nvPr/>
        </p:nvSpPr>
        <p:spPr>
          <a:xfrm rot="0" flipH="0" flipV="0">
            <a:off x="3924300" y="1466850"/>
            <a:ext cx="1714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8A8F99"/>
                </a:solidFill>
                <a:latin typeface="Microsoft YaHei"/>
                <a:ea typeface="Microsoft YaHei"/>
              </a:rPr>
              <a:t>P</a:t>
            </a:r>
            <a:r>
              <a:rPr lang="en-US" sz="750">
                <a:solidFill>
                  <a:srgbClr val="8A8F99"/>
                </a:solidFill>
                <a:latin typeface="Microsoft YaHei"/>
                <a:ea typeface="Microsoft YaHei"/>
              </a:rPr>
              <a:t>20</a:t>
            </a:r>
            <a:endParaRPr/>
          </a:p>
        </p:txBody>
      </p:sp>
      <p:sp>
        <p:nvSpPr>
          <p:cNvPr id="1000" name=""/>
          <p:cNvSpPr/>
          <p:nvPr/>
        </p:nvSpPr>
        <p:spPr>
          <a:xfrm rot="0" flipH="0" flipV="0">
            <a:off x="2571750" y="1695450"/>
            <a:ext cx="1524000" cy="228600"/>
          </a:xfrm>
          <a:prstGeom prst="roundRect">
            <a:avLst>
              <a:gd name="adj" fmla="val 125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001" name="" descr="{&quot;isTemplate&quot;:true,&quot;type&quot;:&quot;text&quot;}"/>
          <p:cNvSpPr txBox="1"/>
          <p:nvPr/>
        </p:nvSpPr>
        <p:spPr>
          <a:xfrm rot="0" flipH="0" flipV="0">
            <a:off x="2647950" y="1743075"/>
            <a:ext cx="1371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BA15C"/>
                </a:solidFill>
                <a:latin typeface="Microsoft YaHei"/>
                <a:ea typeface="Microsoft YaHei"/>
              </a:rPr>
              <a:t>口径是策略</a:t>
            </a:r>
            <a:endParaRPr/>
          </a:p>
        </p:txBody>
      </p:sp>
      <p:sp>
        <p:nvSpPr>
          <p:cNvPr id="1002" name="" descr="{&quot;isTemplate&quot;:true,&quot;type&quot;:&quot;text&quot;}"/>
          <p:cNvSpPr txBox="1"/>
          <p:nvPr/>
        </p:nvSpPr>
        <p:spPr>
          <a:xfrm rot="0" flipH="0" flipV="0">
            <a:off x="2571750" y="2019300"/>
            <a:ext cx="1524000" cy="809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变更走提案，聚合取严，用途受限于</a:t>
            </a:r>
            <a:r>
              <a:rPr lang="en-US" sz="788">
                <a:solidFill>
                  <a:srgbClr val="5A6070"/>
                </a:solidFill>
                <a:latin typeface="Microsoft YaHei"/>
                <a:ea typeface="Microsoft YaHei"/>
              </a:rPr>
              <a:t xml:space="preserve"> approved use</a:t>
            </a:r>
            <a:endParaRPr/>
          </a:p>
        </p:txBody>
      </p:sp>
      <p:sp>
        <p:nvSpPr>
          <p:cNvPr id="1003" name=""/>
          <p:cNvSpPr/>
          <p:nvPr/>
        </p:nvSpPr>
        <p:spPr>
          <a:xfrm rot="0" flipH="0" flipV="0">
            <a:off x="4295775" y="1323975"/>
            <a:ext cx="1762125" cy="1657350"/>
          </a:xfrm>
          <a:prstGeom prst="roundRect">
            <a:avLst>
              <a:gd name="adj" fmla="val 229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04" name=""/>
          <p:cNvSpPr/>
          <p:nvPr/>
        </p:nvSpPr>
        <p:spPr>
          <a:xfrm rot="0" flipH="0" flipV="0">
            <a:off x="4295775" y="1323975"/>
            <a:ext cx="1762125" cy="1657350"/>
          </a:xfrm>
          <a:custGeom>
            <a:pathLst>
              <a:path w="185" h="174">
                <a:moveTo>
                  <a:pt x="181" y="0"/>
                </a:moveTo>
                <a:cubicBezTo>
                  <a:pt x="183" y="0"/>
                  <a:pt x="185" y="2"/>
                  <a:pt x="185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181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05" name="" descr="{&quot;isTemplate&quot;:true,&quot;type&quot;:&quot;text&quot;}"/>
          <p:cNvSpPr txBox="1"/>
          <p:nvPr/>
        </p:nvSpPr>
        <p:spPr>
          <a:xfrm rot="0" flipH="0" flipV="0">
            <a:off x="4410075" y="1438275"/>
            <a:ext cx="1295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管道处理</a:t>
            </a:r>
            <a:endParaRPr/>
          </a:p>
        </p:txBody>
      </p:sp>
      <p:sp>
        <p:nvSpPr>
          <p:cNvPr id="1006" name="" descr="{&quot;isTemplate&quot;:true,&quot;type&quot;:&quot;text&quot;}"/>
          <p:cNvSpPr txBox="1"/>
          <p:nvPr/>
        </p:nvSpPr>
        <p:spPr>
          <a:xfrm rot="0" flipH="0" flipV="0">
            <a:off x="5772150" y="1466850"/>
            <a:ext cx="1714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8A8F99"/>
                </a:solidFill>
                <a:latin typeface="Microsoft YaHei"/>
                <a:ea typeface="Microsoft YaHei"/>
              </a:rPr>
              <a:t>P</a:t>
            </a:r>
            <a:r>
              <a:rPr lang="en-US" sz="750">
                <a:solidFill>
                  <a:srgbClr val="8A8F99"/>
                </a:solidFill>
                <a:latin typeface="Microsoft YaHei"/>
                <a:ea typeface="Microsoft YaHei"/>
              </a:rPr>
              <a:t>21</a:t>
            </a:r>
            <a:endParaRPr/>
          </a:p>
        </p:txBody>
      </p:sp>
      <p:sp>
        <p:nvSpPr>
          <p:cNvPr id="1007" name=""/>
          <p:cNvSpPr/>
          <p:nvPr/>
        </p:nvSpPr>
        <p:spPr>
          <a:xfrm rot="0" flipH="0" flipV="0">
            <a:off x="4410075" y="1695450"/>
            <a:ext cx="1533525" cy="228600"/>
          </a:xfrm>
          <a:prstGeom prst="roundRect">
            <a:avLst>
              <a:gd name="adj" fmla="val 125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008" name="" descr="{&quot;isTemplate&quot;:true,&quot;type&quot;:&quot;text&quot;}"/>
          <p:cNvSpPr txBox="1"/>
          <p:nvPr/>
        </p:nvSpPr>
        <p:spPr>
          <a:xfrm rot="0" flipH="0" flipV="0">
            <a:off x="4486275" y="1743075"/>
            <a:ext cx="1381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BA15C"/>
                </a:solidFill>
                <a:latin typeface="Microsoft YaHei"/>
                <a:ea typeface="Microsoft YaHei"/>
              </a:rPr>
              <a:t>算哪儿有取舍</a:t>
            </a:r>
            <a:endParaRPr/>
          </a:p>
        </p:txBody>
      </p:sp>
      <p:sp>
        <p:nvSpPr>
          <p:cNvPr id="1009" name="" descr="{&quot;isTemplate&quot;:true,&quot;type&quot;:&quot;text&quot;}"/>
          <p:cNvSpPr txBox="1"/>
          <p:nvPr/>
        </p:nvSpPr>
        <p:spPr>
          <a:xfrm rot="0" flipH="0" flipV="0">
            <a:off x="4410075" y="2019300"/>
            <a:ext cx="1533525" cy="809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口径常变走运行时，稳定高频走预计算且挂版本号</a:t>
            </a:r>
            <a:endParaRPr/>
          </a:p>
        </p:txBody>
      </p:sp>
      <p:sp>
        <p:nvSpPr>
          <p:cNvPr id="1010" name=""/>
          <p:cNvSpPr/>
          <p:nvPr/>
        </p:nvSpPr>
        <p:spPr>
          <a:xfrm rot="0" flipH="0" flipV="0">
            <a:off x="6143625" y="1323975"/>
            <a:ext cx="1752600" cy="1657350"/>
          </a:xfrm>
          <a:prstGeom prst="roundRect">
            <a:avLst>
              <a:gd name="adj" fmla="val 229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11" name=""/>
          <p:cNvSpPr/>
          <p:nvPr/>
        </p:nvSpPr>
        <p:spPr>
          <a:xfrm rot="0" flipH="0" flipV="0">
            <a:off x="6143625" y="1323975"/>
            <a:ext cx="1752600" cy="1657350"/>
          </a:xfrm>
          <a:custGeom>
            <a:pathLst>
              <a:path w="184" h="174">
                <a:moveTo>
                  <a:pt x="180" y="0"/>
                </a:moveTo>
                <a:cubicBezTo>
                  <a:pt x="182" y="0"/>
                  <a:pt x="184" y="2"/>
                  <a:pt x="184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180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12" name="" descr="{&quot;isTemplate&quot;:true,&quot;type&quot;:&quot;text&quot;}"/>
          <p:cNvSpPr txBox="1"/>
          <p:nvPr/>
        </p:nvSpPr>
        <p:spPr>
          <a:xfrm rot="0" flipH="0" flipV="0">
            <a:off x="6257925" y="1438275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知识库</a:t>
            </a:r>
            <a:endParaRPr/>
          </a:p>
        </p:txBody>
      </p:sp>
      <p:sp>
        <p:nvSpPr>
          <p:cNvPr id="1013" name="" descr="{&quot;isTemplate&quot;:true,&quot;type&quot;:&quot;text&quot;}"/>
          <p:cNvSpPr txBox="1"/>
          <p:nvPr/>
        </p:nvSpPr>
        <p:spPr>
          <a:xfrm rot="0" flipH="0" flipV="0">
            <a:off x="7610475" y="1466850"/>
            <a:ext cx="1714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8A8F99"/>
                </a:solidFill>
                <a:latin typeface="Microsoft YaHei"/>
                <a:ea typeface="Microsoft YaHei"/>
              </a:rPr>
              <a:t>P</a:t>
            </a:r>
            <a:r>
              <a:rPr lang="en-US" sz="750">
                <a:solidFill>
                  <a:srgbClr val="8A8F99"/>
                </a:solidFill>
                <a:latin typeface="Microsoft YaHei"/>
                <a:ea typeface="Microsoft YaHei"/>
              </a:rPr>
              <a:t>22</a:t>
            </a:r>
            <a:endParaRPr/>
          </a:p>
        </p:txBody>
      </p:sp>
      <p:sp>
        <p:nvSpPr>
          <p:cNvPr id="1014" name=""/>
          <p:cNvSpPr/>
          <p:nvPr/>
        </p:nvSpPr>
        <p:spPr>
          <a:xfrm rot="0" flipH="0" flipV="0">
            <a:off x="6257925" y="1695450"/>
            <a:ext cx="1524000" cy="228600"/>
          </a:xfrm>
          <a:prstGeom prst="roundRect">
            <a:avLst>
              <a:gd name="adj" fmla="val 125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015" name="" descr="{&quot;isTemplate&quot;:true,&quot;type&quot;:&quot;text&quot;}"/>
          <p:cNvSpPr txBox="1"/>
          <p:nvPr/>
        </p:nvSpPr>
        <p:spPr>
          <a:xfrm rot="0" flipH="0" flipV="0">
            <a:off x="6334125" y="1743075"/>
            <a:ext cx="1371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BA15C"/>
                </a:solidFill>
                <a:latin typeface="Microsoft YaHei"/>
                <a:ea typeface="Microsoft YaHei"/>
              </a:rPr>
              <a:t>口径可检索</a:t>
            </a:r>
            <a:endParaRPr/>
          </a:p>
        </p:txBody>
      </p:sp>
      <p:sp>
        <p:nvSpPr>
          <p:cNvPr id="1016" name="" descr="{&quot;isTemplate&quot;:true,&quot;type&quot;:&quot;text&quot;}"/>
          <p:cNvSpPr txBox="1"/>
          <p:nvPr/>
        </p:nvSpPr>
        <p:spPr>
          <a:xfrm rot="0" flipH="0" flipV="0">
            <a:off x="6257925" y="2019300"/>
            <a:ext cx="1524000" cy="809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切片带五元组与版本，密级随值继承</a:t>
            </a:r>
            <a:endParaRPr/>
          </a:p>
        </p:txBody>
      </p:sp>
      <p:sp>
        <p:nvSpPr>
          <p:cNvPr id="1017" name=""/>
          <p:cNvSpPr/>
          <p:nvPr/>
        </p:nvSpPr>
        <p:spPr>
          <a:xfrm rot="0" flipH="0" flipV="0">
            <a:off x="7981950" y="1323975"/>
            <a:ext cx="1762125" cy="1657350"/>
          </a:xfrm>
          <a:prstGeom prst="roundRect">
            <a:avLst>
              <a:gd name="adj" fmla="val 229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18" name=""/>
          <p:cNvSpPr/>
          <p:nvPr/>
        </p:nvSpPr>
        <p:spPr>
          <a:xfrm rot="0" flipH="0" flipV="0">
            <a:off x="7981950" y="1323975"/>
            <a:ext cx="1762125" cy="1657350"/>
          </a:xfrm>
          <a:custGeom>
            <a:pathLst>
              <a:path w="185" h="174">
                <a:moveTo>
                  <a:pt x="181" y="0"/>
                </a:moveTo>
                <a:cubicBezTo>
                  <a:pt x="183" y="0"/>
                  <a:pt x="185" y="2"/>
                  <a:pt x="185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181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19" name="" descr="{&quot;isTemplate&quot;:true,&quot;type&quot;:&quot;text&quot;}"/>
          <p:cNvSpPr txBox="1"/>
          <p:nvPr/>
        </p:nvSpPr>
        <p:spPr>
          <a:xfrm rot="0" flipH="0" flipV="0">
            <a:off x="8096250" y="1438275"/>
            <a:ext cx="1295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1423"/>
                </a:solidFill>
                <a:latin typeface="Microsoft YaHei"/>
                <a:ea typeface="Microsoft YaHei"/>
              </a:rPr>
              <a:t>Agent</a:t>
            </a:r>
            <a:endParaRPr/>
          </a:p>
        </p:txBody>
      </p:sp>
      <p:sp>
        <p:nvSpPr>
          <p:cNvPr id="1020" name="" descr="{&quot;isTemplate&quot;:true,&quot;type&quot;:&quot;text&quot;}"/>
          <p:cNvSpPr txBox="1"/>
          <p:nvPr/>
        </p:nvSpPr>
        <p:spPr>
          <a:xfrm rot="0" flipH="0" flipV="0">
            <a:off x="9458325" y="1466850"/>
            <a:ext cx="1714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8A8F99"/>
                </a:solidFill>
                <a:latin typeface="Microsoft YaHei"/>
                <a:ea typeface="Microsoft YaHei"/>
              </a:rPr>
              <a:t>P</a:t>
            </a:r>
            <a:r>
              <a:rPr lang="en-US" sz="750">
                <a:solidFill>
                  <a:srgbClr val="8A8F99"/>
                </a:solidFill>
                <a:latin typeface="Microsoft YaHei"/>
                <a:ea typeface="Microsoft YaHei"/>
              </a:rPr>
              <a:t>22</a:t>
            </a:r>
            <a:endParaRPr/>
          </a:p>
        </p:txBody>
      </p:sp>
      <p:sp>
        <p:nvSpPr>
          <p:cNvPr id="1021" name=""/>
          <p:cNvSpPr/>
          <p:nvPr/>
        </p:nvSpPr>
        <p:spPr>
          <a:xfrm rot="0" flipH="0" flipV="0">
            <a:off x="8096250" y="1695450"/>
            <a:ext cx="1533525" cy="228600"/>
          </a:xfrm>
          <a:prstGeom prst="roundRect">
            <a:avLst>
              <a:gd name="adj" fmla="val 125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022" name="" descr="{&quot;isTemplate&quot;:true,&quot;type&quot;:&quot;text&quot;}"/>
          <p:cNvSpPr txBox="1"/>
          <p:nvPr/>
        </p:nvSpPr>
        <p:spPr>
          <a:xfrm rot="0" flipH="0" flipV="0">
            <a:off x="8172450" y="1743075"/>
            <a:ext cx="1381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BA15C"/>
                </a:solidFill>
                <a:latin typeface="Microsoft YaHei"/>
                <a:ea typeface="Microsoft YaHei"/>
              </a:rPr>
              <a:t>给接口不给记录</a:t>
            </a:r>
            <a:endParaRPr/>
          </a:p>
        </p:txBody>
      </p:sp>
      <p:sp>
        <p:nvSpPr>
          <p:cNvPr id="1023" name="" descr="{&quot;isTemplate&quot;:true,&quot;type&quot;:&quot;text&quot;}"/>
          <p:cNvSpPr txBox="1"/>
          <p:nvPr/>
        </p:nvSpPr>
        <p:spPr>
          <a:xfrm rot="0" flipH="0" flipV="0">
            <a:off x="8096250" y="2019300"/>
            <a:ext cx="1533525" cy="809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返回值含口径标识与版本，记忆只存口径不存数值</a:t>
            </a:r>
            <a:endParaRPr/>
          </a:p>
        </p:txBody>
      </p:sp>
      <p:sp>
        <p:nvSpPr>
          <p:cNvPr id="1024" name=""/>
          <p:cNvSpPr/>
          <p:nvPr/>
        </p:nvSpPr>
        <p:spPr>
          <a:xfrm rot="0" flipH="0" flipV="0">
            <a:off x="9829800" y="1323975"/>
            <a:ext cx="1752600" cy="1657350"/>
          </a:xfrm>
          <a:prstGeom prst="roundRect">
            <a:avLst>
              <a:gd name="adj" fmla="val 229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25" name=""/>
          <p:cNvSpPr/>
          <p:nvPr/>
        </p:nvSpPr>
        <p:spPr>
          <a:xfrm rot="0" flipH="0" flipV="0">
            <a:off x="9829800" y="1323975"/>
            <a:ext cx="1752600" cy="1657350"/>
          </a:xfrm>
          <a:custGeom>
            <a:pathLst>
              <a:path w="184" h="174">
                <a:moveTo>
                  <a:pt x="180" y="0"/>
                </a:moveTo>
                <a:cubicBezTo>
                  <a:pt x="182" y="0"/>
                  <a:pt x="184" y="2"/>
                  <a:pt x="184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180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26" name="" descr="{&quot;isTemplate&quot;:true,&quot;type&quot;:&quot;text&quot;}"/>
          <p:cNvSpPr txBox="1"/>
          <p:nvPr/>
        </p:nvSpPr>
        <p:spPr>
          <a:xfrm rot="0" flipH="0" flipV="0">
            <a:off x="9944100" y="1438275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1423"/>
                </a:solidFill>
                <a:latin typeface="Microsoft YaHei"/>
                <a:ea typeface="Microsoft YaHei"/>
              </a:rPr>
              <a:t>Ontology</a:t>
            </a:r>
            <a:endParaRPr/>
          </a:p>
        </p:txBody>
      </p:sp>
      <p:sp>
        <p:nvSpPr>
          <p:cNvPr id="1027" name="" descr="{&quot;isTemplate&quot;:true,&quot;type&quot;:&quot;text&quot;}"/>
          <p:cNvSpPr txBox="1"/>
          <p:nvPr/>
        </p:nvSpPr>
        <p:spPr>
          <a:xfrm rot="0" flipH="0" flipV="0">
            <a:off x="11296650" y="1466850"/>
            <a:ext cx="1714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8A8F99"/>
                </a:solidFill>
                <a:latin typeface="Microsoft YaHei"/>
                <a:ea typeface="Microsoft YaHei"/>
              </a:rPr>
              <a:t>P</a:t>
            </a:r>
            <a:r>
              <a:rPr lang="en-US" sz="750">
                <a:solidFill>
                  <a:srgbClr val="8A8F99"/>
                </a:solidFill>
                <a:latin typeface="Microsoft YaHei"/>
                <a:ea typeface="Microsoft YaHei"/>
              </a:rPr>
              <a:t>23</a:t>
            </a:r>
            <a:endParaRPr/>
          </a:p>
        </p:txBody>
      </p:sp>
      <p:sp>
        <p:nvSpPr>
          <p:cNvPr id="1028" name=""/>
          <p:cNvSpPr/>
          <p:nvPr/>
        </p:nvSpPr>
        <p:spPr>
          <a:xfrm rot="0" flipH="0" flipV="0">
            <a:off x="9944100" y="1695450"/>
            <a:ext cx="1524000" cy="228600"/>
          </a:xfrm>
          <a:prstGeom prst="roundRect">
            <a:avLst>
              <a:gd name="adj" fmla="val 1250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029" name="" descr="{&quot;isTemplate&quot;:true,&quot;type&quot;:&quot;text&quot;}"/>
          <p:cNvSpPr txBox="1"/>
          <p:nvPr/>
        </p:nvSpPr>
        <p:spPr>
          <a:xfrm rot="0" flipH="0" flipV="0">
            <a:off x="10020300" y="1743075"/>
            <a:ext cx="1371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BA15C"/>
                </a:solidFill>
                <a:latin typeface="Microsoft YaHei"/>
                <a:ea typeface="Microsoft YaHei"/>
              </a:rPr>
              <a:t>原生组成</a:t>
            </a:r>
            <a:endParaRPr/>
          </a:p>
        </p:txBody>
      </p:sp>
      <p:sp>
        <p:nvSpPr>
          <p:cNvPr id="1030" name="" descr="{&quot;isTemplate&quot;:true,&quot;type&quot;:&quot;text&quot;}"/>
          <p:cNvSpPr txBox="1"/>
          <p:nvPr/>
        </p:nvSpPr>
        <p:spPr>
          <a:xfrm rot="0" flipH="0" flipV="0">
            <a:off x="9944100" y="2019300"/>
            <a:ext cx="1524000" cy="8096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指标即派生属性，不另建指标引擎</a:t>
            </a:r>
            <a:endParaRPr/>
          </a:p>
        </p:txBody>
      </p:sp>
      <p:sp>
        <p:nvSpPr>
          <p:cNvPr id="1031" name=""/>
          <p:cNvSpPr/>
          <p:nvPr/>
        </p:nvSpPr>
        <p:spPr>
          <a:xfrm rot="0" flipH="0" flipV="0">
            <a:off x="609600" y="3038475"/>
            <a:ext cx="10972800" cy="1762125"/>
          </a:xfrm>
          <a:prstGeom prst="roundRect">
            <a:avLst>
              <a:gd name="adj" fmla="val 216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032" name="" descr="{&quot;isTemplate&quot;:true,&quot;type&quot;:&quot;text&quot;}"/>
          <p:cNvSpPr txBox="1"/>
          <p:nvPr/>
        </p:nvSpPr>
        <p:spPr>
          <a:xfrm rot="0" flipH="0" flipV="0">
            <a:off x="800100" y="3162300"/>
            <a:ext cx="10591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四条硬边界：违反任何一条，指标体系就开始退化</a:t>
            </a:r>
            <a:endParaRPr/>
          </a:p>
        </p:txBody>
      </p:sp>
      <p:sp>
        <p:nvSpPr>
          <p:cNvPr id="1033" name=""/>
          <p:cNvSpPr/>
          <p:nvPr/>
        </p:nvSpPr>
        <p:spPr>
          <a:xfrm rot="0" flipH="0" flipV="0">
            <a:off x="800100" y="3429000"/>
            <a:ext cx="2581275" cy="1247775"/>
          </a:xfrm>
          <a:prstGeom prst="roundRect">
            <a:avLst>
              <a:gd name="adj" fmla="val 2290"/>
            </a:avLst>
          </a:prstGeom>
          <a:solidFill>
            <a:srgbClr val="FA4F24">
              <a:alpha val="16000"/>
            </a:srgbClr>
          </a:solidFill>
          <a:ln/>
        </p:spPr>
        <p:txBody>
          <a:bodyPr/>
          <a:p/>
        </p:txBody>
      </p:sp>
      <p:sp>
        <p:nvSpPr>
          <p:cNvPr id="1034" name="" descr="{&quot;isTemplate&quot;:true,&quot;type&quot;:&quot;text&quot;}"/>
          <p:cNvSpPr txBox="1"/>
          <p:nvPr/>
        </p:nvSpPr>
        <p:spPr>
          <a:xfrm rot="0" flipH="0" flipV="0">
            <a:off x="933450" y="3771900"/>
            <a:ext cx="2314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一</a:t>
            </a: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口径唯一，同词唯一解释</a:t>
            </a:r>
            <a:endParaRPr/>
          </a:p>
        </p:txBody>
      </p:sp>
      <p:sp>
        <p:nvSpPr>
          <p:cNvPr id="1035" name="" descr="{&quot;isTemplate&quot;:true,&quot;type&quot;:&quot;text&quot;}"/>
          <p:cNvSpPr txBox="1"/>
          <p:nvPr/>
        </p:nvSpPr>
        <p:spPr>
          <a:xfrm rot="0" flipH="0" flipV="0">
            <a:off x="933450" y="3981450"/>
            <a:ext cx="2314575" cy="361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全公司同一个词只能有一个解释。允许有别名，不允许有两个口径。破这条，后面三条都守不住。</a:t>
            </a:r>
            <a:endParaRPr/>
          </a:p>
        </p:txBody>
      </p:sp>
      <p:sp>
        <p:nvSpPr>
          <p:cNvPr id="1036" name=""/>
          <p:cNvSpPr/>
          <p:nvPr/>
        </p:nvSpPr>
        <p:spPr>
          <a:xfrm rot="0" flipH="0" flipV="0">
            <a:off x="3476625" y="3429000"/>
            <a:ext cx="2571750" cy="1247775"/>
          </a:xfrm>
          <a:prstGeom prst="roundRect">
            <a:avLst>
              <a:gd name="adj" fmla="val 2290"/>
            </a:avLst>
          </a:prstGeom>
          <a:solidFill>
            <a:srgbClr val="FA4F24">
              <a:alpha val="16000"/>
            </a:srgbClr>
          </a:solidFill>
          <a:ln/>
        </p:spPr>
        <p:txBody>
          <a:bodyPr/>
          <a:p/>
        </p:txBody>
      </p:sp>
      <p:sp>
        <p:nvSpPr>
          <p:cNvPr id="1037" name="" descr="{&quot;isTemplate&quot;:true,&quot;type&quot;:&quot;text&quot;}"/>
          <p:cNvSpPr txBox="1"/>
          <p:nvPr/>
        </p:nvSpPr>
        <p:spPr>
          <a:xfrm rot="0" flipH="0" flipV="0">
            <a:off x="3609975" y="3771900"/>
            <a:ext cx="2305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二</a:t>
            </a: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口径可执行，不只是可读</a:t>
            </a:r>
            <a:endParaRPr/>
          </a:p>
        </p:txBody>
      </p:sp>
      <p:sp>
        <p:nvSpPr>
          <p:cNvPr id="1038" name="" descr="{&quot;isTemplate&quot;:true,&quot;type&quot;:&quot;text&quot;}"/>
          <p:cNvSpPr txBox="1"/>
          <p:nvPr/>
        </p:nvSpPr>
        <p:spPr>
          <a:xfrm rot="0" flipH="0" flipV="0">
            <a:off x="3609975" y="3981450"/>
            <a:ext cx="2305050" cy="361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口径必须是能被引擎执行的结构化定义。写在文档里的口径，早晚和算出来的那一套分叉。</a:t>
            </a:r>
            <a:endParaRPr/>
          </a:p>
        </p:txBody>
      </p:sp>
      <p:sp>
        <p:nvSpPr>
          <p:cNvPr id="1039" name=""/>
          <p:cNvSpPr/>
          <p:nvPr/>
        </p:nvSpPr>
        <p:spPr>
          <a:xfrm rot="0" flipH="0" flipV="0">
            <a:off x="6143625" y="3429000"/>
            <a:ext cx="2581275" cy="1247775"/>
          </a:xfrm>
          <a:prstGeom prst="roundRect">
            <a:avLst>
              <a:gd name="adj" fmla="val 2290"/>
            </a:avLst>
          </a:prstGeom>
          <a:solidFill>
            <a:srgbClr val="FA4F24">
              <a:alpha val="16000"/>
            </a:srgbClr>
          </a:solidFill>
          <a:ln/>
        </p:spPr>
        <p:txBody>
          <a:bodyPr/>
          <a:p/>
        </p:txBody>
      </p:sp>
      <p:sp>
        <p:nvSpPr>
          <p:cNvPr id="1040" name="" descr="{&quot;isTemplate&quot;:true,&quot;type&quot;:&quot;text&quot;}"/>
          <p:cNvSpPr txBox="1"/>
          <p:nvPr/>
        </p:nvSpPr>
        <p:spPr>
          <a:xfrm rot="0" flipH="0" flipV="0">
            <a:off x="6276975" y="3771900"/>
            <a:ext cx="2314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三</a:t>
            </a: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口径与值同源同权</a:t>
            </a:r>
            <a:endParaRPr/>
          </a:p>
        </p:txBody>
      </p:sp>
      <p:sp>
        <p:nvSpPr>
          <p:cNvPr id="1041" name="" descr="{&quot;isTemplate&quot;:true,&quot;type&quot;:&quot;text&quot;}"/>
          <p:cNvSpPr txBox="1"/>
          <p:nvPr/>
        </p:nvSpPr>
        <p:spPr>
          <a:xfrm rot="0" flipH="0" flipV="0">
            <a:off x="6276975" y="3981450"/>
            <a:ext cx="2314575" cy="361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口径和值必须在同一个模型里，并继承同一套权限基线。两处维护就意味着两套真相。</a:t>
            </a:r>
            <a:endParaRPr/>
          </a:p>
        </p:txBody>
      </p:sp>
      <p:sp>
        <p:nvSpPr>
          <p:cNvPr id="1042" name=""/>
          <p:cNvSpPr/>
          <p:nvPr/>
        </p:nvSpPr>
        <p:spPr>
          <a:xfrm rot="0" flipH="0" flipV="0">
            <a:off x="8820150" y="3429000"/>
            <a:ext cx="2571750" cy="1247775"/>
          </a:xfrm>
          <a:prstGeom prst="roundRect">
            <a:avLst>
              <a:gd name="adj" fmla="val 2290"/>
            </a:avLst>
          </a:prstGeom>
          <a:solidFill>
            <a:srgbClr val="FA4F24">
              <a:alpha val="16000"/>
            </a:srgbClr>
          </a:solidFill>
          <a:ln/>
        </p:spPr>
        <p:txBody>
          <a:bodyPr/>
          <a:p/>
        </p:txBody>
      </p:sp>
      <p:sp>
        <p:nvSpPr>
          <p:cNvPr id="1043" name="" descr="{&quot;isTemplate&quot;:true,&quot;type&quot;:&quot;text&quot;}"/>
          <p:cNvSpPr txBox="1"/>
          <p:nvPr/>
        </p:nvSpPr>
        <p:spPr>
          <a:xfrm rot="0" flipH="0" flipV="0">
            <a:off x="8953500" y="3771900"/>
            <a:ext cx="2305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四</a:t>
            </a: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口径变更按动作管</a:t>
            </a:r>
            <a:endParaRPr/>
          </a:p>
        </p:txBody>
      </p:sp>
      <p:sp>
        <p:nvSpPr>
          <p:cNvPr id="1044" name="" descr="{&quot;isTemplate&quot;:true,&quot;type&quot;:&quot;text&quot;}"/>
          <p:cNvSpPr txBox="1"/>
          <p:nvPr/>
        </p:nvSpPr>
        <p:spPr>
          <a:xfrm rot="0" flipH="0" flipV="0">
            <a:off x="8953500" y="3981450"/>
            <a:ext cx="2305050" cy="361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788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变更是受管动作：要提案、要影响面、要双版本比对、要能回滚。改配置不算改口径。</a:t>
            </a:r>
            <a:endParaRPr/>
          </a:p>
        </p:txBody>
      </p:sp>
      <p:sp>
        <p:nvSpPr>
          <p:cNvPr id="1045" name=""/>
          <p:cNvSpPr/>
          <p:nvPr/>
        </p:nvSpPr>
        <p:spPr>
          <a:xfrm rot="0" flipH="0" flipV="0">
            <a:off x="609600" y="4895850"/>
            <a:ext cx="10972800" cy="742950"/>
          </a:xfrm>
          <a:prstGeom prst="roundRect">
            <a:avLst>
              <a:gd name="adj" fmla="val 5128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046" name="" descr="{&quot;isTemplate&quot;:true,&quot;type&quot;:&quot;text&quot;}"/>
          <p:cNvSpPr txBox="1"/>
          <p:nvPr/>
        </p:nvSpPr>
        <p:spPr>
          <a:xfrm rot="0" flipH="0" flipV="0">
            <a:off x="781050" y="5191125"/>
            <a:ext cx="1162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一句话收口</a:t>
            </a:r>
            <a:endParaRPr/>
          </a:p>
        </p:txBody>
      </p:sp>
      <p:sp>
        <p:nvSpPr>
          <p:cNvPr id="1047" name=""/>
          <p:cNvSpPr/>
          <p:nvPr/>
        </p:nvSpPr>
        <p:spPr>
          <a:xfrm rot="0" flipH="0" flipV="0">
            <a:off x="2095500" y="5124450"/>
            <a:ext cx="9525" cy="285750"/>
          </a:xfrm>
          <a:prstGeom prst="rect">
            <a:avLst/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1048" name="" descr="{&quot;isTemplate&quot;:true,&quot;type&quot;:&quot;text&quot;}"/>
          <p:cNvSpPr txBox="1"/>
          <p:nvPr/>
        </p:nvSpPr>
        <p:spPr>
          <a:xfrm rot="0" flipH="0" flipV="0">
            <a:off x="2257425" y="5162550"/>
            <a:ext cx="9153525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指标的六个方向不是六套工程，而是同一份口径的六种落法。所以推进顺序永远是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先把那一份定义立住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，再谈六个方向的落地。</a:t>
            </a:r>
            <a:endParaRPr/>
          </a:p>
        </p:txBody>
      </p:sp>
      <p:sp>
        <p:nvSpPr>
          <p:cNvPr id="1049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050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51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指标体系咨询方法论</a:t>
            </a:r>
            <a:endParaRPr/>
          </a:p>
        </p:txBody>
      </p:sp>
      <p:sp>
        <p:nvSpPr>
          <p:cNvPr id="1052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24 / 30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1053" name="" descr="&lt;Slide style={{ width: 1280, height: 720, background: '#0F1423' }}&gt;&#13;&#10;  &lt;Box style={{ position: 'absolute', left: 0, top: 0, width: 1280, height: 720, background: 'linear-gradient(135deg, #0F1423 0%, #2A1810 100%)' }} /&gt;&#13;&#10;  &lt;Box style={{ position: 'absolute', right: 0, top: 0, width: 560, height: 720, background: 'linear-gradient(200deg, rgba(250,79,36,0.28) 0%, rgba(250,79,36,0) 70%)' }} /&gt;&#13;&#10;&#13;&#10;  &lt;Box style={{ position: 'absolute', right: 70, top: 110 }}&gt;&#13;&#10;    &lt;Text style={{ fontSize: 300, fontWeight: 'bold', color: 'rgba(255,255,255,0.08)', lineHeight: 1.0 }}&gt;04&lt;/Text&gt;&#13;&#10;  &lt;/Box&gt;&#13;&#10;&#13;&#10;  &lt;Box style={{ position: 'absolute', left: 88, top: 232, width: 760, flexDirection: 'column' }}&gt;&#13;&#10;    &lt;Text style={{ fontSize: 15, color: 'rgba(255,255,255,0.5)', letterSpacing: 3 }}&gt;PART 04&lt;/Text&gt;&#13;&#10;    &lt;Box style={{ width: 72, height: 5, background: '#FA4F24', marginTop: 22 }} /&gt;&#13;&#10;    &lt;Text style={{ fontSize: 52, fontWeight: 'bold', color: '#FFFFFF', marginTop: 28, lineHeight: 1.15 }}&gt;回到 4A&lt;/Text&gt;&#13;&#10;    &lt;Text style={{ fontSize: 17, color: 'rgba(255,255,255,0.62)', letterSpacing: 2, marginTop: 20 }}&gt;BACK TO THE FOUR A ARCHITECTURES&lt;/Text&gt;&#13;&#10;    &lt;Text style={{ fontSize: 19, color: 'rgba(255,255,255,0.85)', marginTop: 26, lineHeight: 1.6 }}&gt;指标作为业务应用，在四个层面上的样子&lt;/Text&gt;&#13;&#10;    &lt;Text style={{ fontSize: 14.5, color: 'rgba(255,255,255,0.55)', marginTop: 16, lineHeight: 1.55, width: 720 }}&gt;这一部分回到企业架构坐标系：业务架构裁定口径、数据架构建指标元数据、应用架构做问数与驾驶舱、技术架构做计算与缓存；最后是成熟度五级、五类失效与十二项评审。&lt;/Text&gt;&#13;&#10;  &lt;/Box&gt;&#13;&#10;&#13;&#10;  &lt;Box style={{ position: 'absolute', right: 88, bottom: 64, flexDirection: 'row', alignItems: 'center', gap: 12 }}&gt;&#13;&#10;    &lt;Box style={{ width: 14, height: 14, background: '#FA4F24' }} /&gt;&#13;&#10;    &lt;Text style={{ fontSize: 14, color: 'rgba(255,255,255,0.5)' }}&gt;硕磐机密 · 指标体系咨询方法论&lt;/Text&gt;&#13;&#10;    &lt;Text style={{ fontSize: 14, color: 'rgba(255,255,255,0.5)', marginLeft: 12 }}&gt;25 / 30&lt;/Text&gt;&#13;&#10;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0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056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FA4F24">
                  <a:alpha val="28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1057" name="" descr="{&quot;isTemplate&quot;:true,&quot;type&quot;:&quot;text&quot;}"/>
          <p:cNvSpPr txBox="1"/>
          <p:nvPr/>
        </p:nvSpPr>
        <p:spPr>
          <a:xfrm rot="0" flipH="0" flipV="0">
            <a:off x="7991475" y="10477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8000"/>
                  </a:srgbClr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058" name="" descr="{&quot;isTemplate&quot;:true,&quot;type&quot;:&quot;text&quot;}"/>
          <p:cNvSpPr txBox="1"/>
          <p:nvPr/>
        </p:nvSpPr>
        <p:spPr>
          <a:xfrm rot="0" flipH="0" flipV="0">
            <a:off x="838200" y="2209800"/>
            <a:ext cx="723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PART 04</a:t>
            </a:r>
            <a:endParaRPr/>
          </a:p>
        </p:txBody>
      </p:sp>
      <p:sp>
        <p:nvSpPr>
          <p:cNvPr id="1059" name=""/>
          <p:cNvSpPr/>
          <p:nvPr/>
        </p:nvSpPr>
        <p:spPr>
          <a:xfrm rot="0" flipH="0" flipV="0">
            <a:off x="838200" y="25908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60" name="" descr="{&quot;isTemplate&quot;:true,&quot;type&quot;:&quot;text&quot;}"/>
          <p:cNvSpPr txBox="1"/>
          <p:nvPr/>
        </p:nvSpPr>
        <p:spPr>
          <a:xfrm rot="0" flipH="0" flipV="0">
            <a:off x="838200" y="2905125"/>
            <a:ext cx="7239000" cy="6858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900" b="1">
                <a:solidFill>
                  <a:srgbClr val="FFFFFF"/>
                </a:solidFill>
                <a:latin typeface="Microsoft YaHei"/>
                <a:ea typeface="Microsoft YaHei"/>
              </a:rPr>
              <a:t>回到</a:t>
            </a:r>
            <a:r>
              <a:rPr lang="en-US" sz="39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4A</a:t>
            </a:r>
            <a:endParaRPr/>
          </a:p>
        </p:txBody>
      </p:sp>
      <p:sp>
        <p:nvSpPr>
          <p:cNvPr id="1061" name="" descr="{&quot;isTemplate&quot;:true,&quot;type&quot;:&quot;text&quot;}"/>
          <p:cNvSpPr txBox="1"/>
          <p:nvPr/>
        </p:nvSpPr>
        <p:spPr>
          <a:xfrm rot="0" flipH="0" flipV="0">
            <a:off x="838200" y="3781425"/>
            <a:ext cx="7239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BACK TO THE FOUR A ARCHITECTURES</a:t>
            </a:r>
            <a:endParaRPr/>
          </a:p>
        </p:txBody>
      </p:sp>
      <p:sp>
        <p:nvSpPr>
          <p:cNvPr id="1062" name="" descr="{&quot;isTemplate&quot;:true,&quot;type&quot;:&quot;text&quot;}"/>
          <p:cNvSpPr txBox="1"/>
          <p:nvPr/>
        </p:nvSpPr>
        <p:spPr>
          <a:xfrm rot="0" flipH="0" flipV="0">
            <a:off x="838200" y="4229100"/>
            <a:ext cx="72390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指标作为业务应用，在四个层面上的样子</a:t>
            </a:r>
            <a:endParaRPr/>
          </a:p>
        </p:txBody>
      </p:sp>
      <p:sp>
        <p:nvSpPr>
          <p:cNvPr id="1063" name="" descr="{&quot;isTemplate&quot;:true,&quot;type&quot;:&quot;text&quot;}"/>
          <p:cNvSpPr txBox="1"/>
          <p:nvPr/>
        </p:nvSpPr>
        <p:spPr>
          <a:xfrm rot="0" flipH="0" flipV="0">
            <a:off x="838200" y="4733925"/>
            <a:ext cx="6858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88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这一部分回到企业架构坐标系：业务架构裁定口径、数据架构建指标元数据、应用架构做问数与驾驶舱、技术架构做计算与缓存；最后是成熟度五级、五类失效与十二项评审。</a:t>
            </a:r>
            <a:endParaRPr/>
          </a:p>
        </p:txBody>
      </p:sp>
      <p:sp>
        <p:nvSpPr>
          <p:cNvPr id="1064" name=""/>
          <p:cNvSpPr/>
          <p:nvPr/>
        </p:nvSpPr>
        <p:spPr>
          <a:xfrm rot="0" flipH="0" flipV="0">
            <a:off x="8572500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65" name="" descr="{&quot;isTemplate&quot;:true,&quot;type&quot;:&quot;text&quot;}"/>
          <p:cNvSpPr txBox="1"/>
          <p:nvPr/>
        </p:nvSpPr>
        <p:spPr>
          <a:xfrm rot="0" flipH="0" flipV="0">
            <a:off x="8820150" y="608647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指标体系咨询方法论</a:t>
            </a:r>
            <a:endParaRPr/>
          </a:p>
        </p:txBody>
      </p:sp>
      <p:sp>
        <p:nvSpPr>
          <p:cNvPr id="1066" name="" descr="{&quot;isTemplate&quot;:true,&quot;type&quot;:&quot;text&quot;}"/>
          <p:cNvSpPr txBox="1"/>
          <p:nvPr/>
        </p:nvSpPr>
        <p:spPr>
          <a:xfrm rot="0" flipH="0" flipV="0">
            <a:off x="10896600" y="6086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25 / 30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1067" name="" descr="&lt;Slide style={{ width: 1280, height: 720, background: '#FFFFFF', padding: '24px 64px 0' }}&gt;&#10;  &lt;Box style={{ height: 96, flexDirection: 'column', justifyContent: 'flex-start' }}&gt;&#10;    &lt;Text style={{ fontSize: 32, fontWeight: 'bold', color: '#0F1423' }}&gt;&#10;      指标体系的 4A 映射总览：&lt;span style={{ color: '#FA4F24' }}&gt;作为一个业务应用，它在四层上的样子&lt;/span&gt;&#10;    &lt;/Text&gt;&#10;    &lt;Text style={{ fontSize: 20, color: '#8A8F99', marginTop: 8 }}&gt;指标体系不是一个纯技术对象——它的第一性问题在业务架构层，不在技术架构层&lt;/Text&gt;&#10;  &lt;/Box&gt;&#10;  &lt;Box style={{ height: 1, background: '#E8E8E8' }} /&gt;&#10;&#10;  &lt;Box style={{ paddingTop: 14, paddingBottom: 8, height: 479, flexDirection: 'column', gap: 10 }}&gt;&#10;    &lt;Box style={{ flex: 1.15, flexDirection: 'row', gap: 10 }}&gt;&#10;      {[&#10;        { a: 'BA', n: '业务架构', t: '谁裁定口径', d: '口径的唯一解释权与裁定机制', p: '27' },&#10;        { a: 'DA', n: '数据架构', t: '口径怎么被建模', d: '指标元数据模型与依赖关系', p: '27' },&#10;        { a: 'AA', n: '应用架构', t: '口径怎么被消费', d: '问数、驾驶舱、场景化指标集', p: '28' },&#10;        { a: 'TA', n: '技术架构', t: '口径怎么被算出来', d: '计算引擎、缓存与审计存储', p: '28' },&#10;      ].map((x) =&gt; (&#10;        &lt;Box key={x.a} style={{ flex: 1, background: '#F7F7F8', borderRadius: 4, borderTop: '4px solid #FA4F24', padding: '14px 16px', flexDirection: 'column' }}&gt;&#10;          &lt;Box style={{ flexDirection: 'row', alignItems: 'center', gap: 9 }}&gt;&#10;            &lt;Text style={{ fontSize: 24, fontWeight: 'bold', color: '#FA4F24' }}&gt;{x.a}&lt;/Text&gt;&#10;            &lt;Text style={{ fontSize: 14.5, fontWeight: 'bold', color: '#0F1423', flex: 1 }}&gt;{x.n}&lt;/Text&gt;&#10;            &lt;Text style={{ fontSize: 10, color: '#8A8F99' }}&gt;P{x.p}&lt;/Text&gt;&#10;          &lt;/Box&gt;&#10;          &lt;Box style={{ width: 40, height: 3, background: '#FBA15C', marginTop: 11 }} /&gt;&#10;          &lt;Text style={{ fontSize: 15, fontWeight: 'bold', color: '#0F1423', marginTop: 12, lineHeight: 1.4 }}&gt;{x.t}&lt;/Text&gt;&#10;          &lt;Text style={{ fontSize: 11.5, color: '#5A6070', marginTop: 9, lineHeight: 1.5, flex: 1 }}&gt;{x.d}&lt;/Text&gt;&#10;        &lt;/Box&gt;&#10;      ))}&#10;    &lt;/Box&gt;&#10;&#10;    &lt;Box style={{ flex: 0.62, background: '#0F1423', borderRadius: 4, padding: '11px 20px', flexDirection: 'row', gap: 18 }}&gt;&#10;      &lt;Box style={{ width: 132, flexDirection: 'column', justifyContent: 'center' }}&gt;&#10;        &lt;Text style={{ fontSize: 14.5, fontWeight: 'bold', color: '#FBA15C' }}&gt;四个特有之处&lt;/Text&gt;&#10;        &lt;Text style={{ fontSize: 10, color: 'rgba(255,255,255,0.5)', marginTop: 5, lineHeight: 1.4 }}&gt;别的 4A 管功能&lt;br /&gt;指标管「怎么理解」&lt;/Text&gt;&#10;      &lt;/Box&gt;&#10;      &lt;Box style={{ width: 1, background: 'rgba(255,255,255,0.15)' }} /&gt;&#10;      &lt;Box style={{ flex: 1, flexDirection: 'row', gap: 10 }}&gt;&#10;        {[&#10;          { t: '口径即产品', d: '指标体系的产出物是「唯一解释」，不是一个功能' },&#10;          { t: '失败是静默的', d: '数字照常出来，只是和昨天说的不是一回事' },&#10;          { t: '权限即口径的一部分', d: '不同权限下的两个值都是对的，必须都写明' },&#10;          { t: 'AI 让错误获得行动力', d: '口径错的代价从「不可信」变成「做错事」' },&#10;        ].map((x) =&gt; (&#10;          &lt;Box key={x.t} style={{ flex: 1, justifyContent: 'center' }}&gt;&#10;            &lt;Text style={{ fontSize: 12, fontWeight: 'bold', color: '#FFFFFF' }}&gt;{x.t}&lt;/Text&gt;&#10;            &lt;Text style={{ fontSize: 10.5, color: 'rgba(255,255,255,0.75)', marginTop: 5, lineHeight: 1.45 }}&gt;{x.d}&lt;/Text&gt;&#10;          &lt;/Box&gt;&#10;        ))}&#10;      &lt;/Box&gt;&#10;    &lt;/Box&gt;&#10;  &lt;/Box&gt;&#10;&#10;  &lt;Box style={{ height: 58, flexDirection: 'row', alignItems: 'center', borderTop: '1px solid #E8E8E8' }}&gt;&#10;    &lt;Box style={{ width: 10, height: 10, background: '#FA4F24' }} /&gt;&#10;    &lt;Text style={{ fontSize: 13, color: '#8A8F99', marginLeft: 12 }}&gt;硕磐机密 · 指标体系咨询方法论&lt;/Text&gt;&#10;    &lt;Text style={{ fontSize: 13, color: '#8A8F99', marginLeft: 'auto' }}&gt;26 / 3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69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指标体系的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4A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映射总览：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作为一个业务应用，它在四层上的样子</a:t>
            </a:r>
            <a:endParaRPr/>
          </a:p>
        </p:txBody>
      </p:sp>
      <p:sp>
        <p:nvSpPr>
          <p:cNvPr id="1070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指标体系不是一个纯技术对象——它的第一性问题在业务架构层，不在技术架构层</a:t>
            </a:r>
            <a:endParaRPr/>
          </a:p>
        </p:txBody>
      </p:sp>
      <p:sp>
        <p:nvSpPr>
          <p:cNvPr id="1071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072" name=""/>
          <p:cNvSpPr/>
          <p:nvPr/>
        </p:nvSpPr>
        <p:spPr>
          <a:xfrm rot="0" flipH="0" flipV="0">
            <a:off x="609600" y="1323975"/>
            <a:ext cx="2676525" cy="2752725"/>
          </a:xfrm>
          <a:prstGeom prst="roundRect">
            <a:avLst>
              <a:gd name="adj" fmla="val 142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73" name=""/>
          <p:cNvSpPr/>
          <p:nvPr/>
        </p:nvSpPr>
        <p:spPr>
          <a:xfrm rot="0" flipH="0" flipV="0">
            <a:off x="609600" y="1323975"/>
            <a:ext cx="2676525" cy="2752725"/>
          </a:xfrm>
          <a:custGeom>
            <a:pathLst>
              <a:path w="281" h="289">
                <a:moveTo>
                  <a:pt x="277" y="0"/>
                </a:moveTo>
                <a:cubicBezTo>
                  <a:pt x="279" y="0"/>
                  <a:pt x="281" y="2"/>
                  <a:pt x="281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77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74" name="" descr="{&quot;isTemplate&quot;:true,&quot;type&quot;:&quot;text&quot;}"/>
          <p:cNvSpPr txBox="1"/>
          <p:nvPr/>
        </p:nvSpPr>
        <p:spPr>
          <a:xfrm rot="0" flipH="0" flipV="0">
            <a:off x="762000" y="1457325"/>
            <a:ext cx="3333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A4F24"/>
                </a:solidFill>
                <a:latin typeface="Microsoft YaHei"/>
                <a:ea typeface="Microsoft YaHei"/>
              </a:rPr>
              <a:t>BA</a:t>
            </a:r>
            <a:endParaRPr/>
          </a:p>
        </p:txBody>
      </p:sp>
      <p:sp>
        <p:nvSpPr>
          <p:cNvPr id="1075" name="" descr="{&quot;isTemplate&quot;:true,&quot;type&quot;:&quot;text&quot;}"/>
          <p:cNvSpPr txBox="1"/>
          <p:nvPr/>
        </p:nvSpPr>
        <p:spPr>
          <a:xfrm rot="0" flipH="0" flipV="0">
            <a:off x="1181100" y="1514475"/>
            <a:ext cx="1695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业务架构</a:t>
            </a:r>
            <a:endParaRPr/>
          </a:p>
        </p:txBody>
      </p:sp>
      <p:sp>
        <p:nvSpPr>
          <p:cNvPr id="1076" name="" descr="{&quot;isTemplate&quot;:true,&quot;type&quot;:&quot;text&quot;}"/>
          <p:cNvSpPr txBox="1"/>
          <p:nvPr/>
        </p:nvSpPr>
        <p:spPr>
          <a:xfrm rot="0" flipH="0" flipV="0">
            <a:off x="2962275" y="1543050"/>
            <a:ext cx="1714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8A8F99"/>
                </a:solidFill>
                <a:latin typeface="Microsoft YaHei"/>
                <a:ea typeface="Microsoft YaHei"/>
              </a:rPr>
              <a:t>P</a:t>
            </a:r>
            <a:r>
              <a:rPr lang="en-US" sz="750">
                <a:solidFill>
                  <a:srgbClr val="8A8F99"/>
                </a:solidFill>
                <a:latin typeface="Microsoft YaHei"/>
                <a:ea typeface="Microsoft YaHei"/>
              </a:rPr>
              <a:t>27</a:t>
            </a:r>
            <a:endParaRPr/>
          </a:p>
        </p:txBody>
      </p:sp>
      <p:sp>
        <p:nvSpPr>
          <p:cNvPr id="1077" name=""/>
          <p:cNvSpPr/>
          <p:nvPr/>
        </p:nvSpPr>
        <p:spPr>
          <a:xfrm rot="0" flipH="0" flipV="0">
            <a:off x="762000" y="1838325"/>
            <a:ext cx="381000" cy="28575"/>
          </a:xfrm>
          <a:prstGeom prst="rect">
            <a:avLst/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1078" name="" descr="{&quot;isTemplate&quot;:true,&quot;type&quot;:&quot;text&quot;}"/>
          <p:cNvSpPr txBox="1"/>
          <p:nvPr/>
        </p:nvSpPr>
        <p:spPr>
          <a:xfrm rot="0" flipH="0" flipV="0">
            <a:off x="762000" y="1981200"/>
            <a:ext cx="237172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谁裁定口径</a:t>
            </a:r>
            <a:endParaRPr/>
          </a:p>
        </p:txBody>
      </p:sp>
      <p:sp>
        <p:nvSpPr>
          <p:cNvPr id="1079" name="" descr="{&quot;isTemplate&quot;:true,&quot;type&quot;:&quot;text&quot;}"/>
          <p:cNvSpPr txBox="1"/>
          <p:nvPr/>
        </p:nvSpPr>
        <p:spPr>
          <a:xfrm rot="0" flipH="0" flipV="0">
            <a:off x="762000" y="2314575"/>
            <a:ext cx="2371725" cy="1590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5A6070"/>
                </a:solidFill>
                <a:latin typeface="Microsoft YaHei"/>
                <a:ea typeface="Microsoft YaHei"/>
              </a:rPr>
              <a:t>口径的唯一解释权与裁定机制</a:t>
            </a:r>
            <a:endParaRPr/>
          </a:p>
        </p:txBody>
      </p:sp>
      <p:sp>
        <p:nvSpPr>
          <p:cNvPr id="1080" name=""/>
          <p:cNvSpPr/>
          <p:nvPr/>
        </p:nvSpPr>
        <p:spPr>
          <a:xfrm rot="0" flipH="0" flipV="0">
            <a:off x="3381375" y="1323975"/>
            <a:ext cx="2667000" cy="2752725"/>
          </a:xfrm>
          <a:prstGeom prst="roundRect">
            <a:avLst>
              <a:gd name="adj" fmla="val 142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81" name=""/>
          <p:cNvSpPr/>
          <p:nvPr/>
        </p:nvSpPr>
        <p:spPr>
          <a:xfrm rot="0" flipH="0" flipV="0">
            <a:off x="3381375" y="1323975"/>
            <a:ext cx="2667000" cy="2752725"/>
          </a:xfrm>
          <a:custGeom>
            <a:pathLst>
              <a:path w="280" h="289">
                <a:moveTo>
                  <a:pt x="276" y="0"/>
                </a:moveTo>
                <a:cubicBezTo>
                  <a:pt x="278" y="0"/>
                  <a:pt x="280" y="2"/>
                  <a:pt x="28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82" name="" descr="{&quot;isTemplate&quot;:true,&quot;type&quot;:&quot;text&quot;}"/>
          <p:cNvSpPr txBox="1"/>
          <p:nvPr/>
        </p:nvSpPr>
        <p:spPr>
          <a:xfrm rot="0" flipH="0" flipV="0">
            <a:off x="3533775" y="1457325"/>
            <a:ext cx="3524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A4F24"/>
                </a:solidFill>
                <a:latin typeface="Microsoft YaHei"/>
                <a:ea typeface="Microsoft YaHei"/>
              </a:rPr>
              <a:t>DA</a:t>
            </a:r>
            <a:endParaRPr/>
          </a:p>
        </p:txBody>
      </p:sp>
      <p:sp>
        <p:nvSpPr>
          <p:cNvPr id="1083" name="" descr="{&quot;isTemplate&quot;:true,&quot;type&quot;:&quot;text&quot;}"/>
          <p:cNvSpPr txBox="1"/>
          <p:nvPr/>
        </p:nvSpPr>
        <p:spPr>
          <a:xfrm rot="0" flipH="0" flipV="0">
            <a:off x="3971925" y="1514475"/>
            <a:ext cx="1666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数据架构</a:t>
            </a:r>
            <a:endParaRPr/>
          </a:p>
        </p:txBody>
      </p:sp>
      <p:sp>
        <p:nvSpPr>
          <p:cNvPr id="1084" name="" descr="{&quot;isTemplate&quot;:true,&quot;type&quot;:&quot;text&quot;}"/>
          <p:cNvSpPr txBox="1"/>
          <p:nvPr/>
        </p:nvSpPr>
        <p:spPr>
          <a:xfrm rot="0" flipH="0" flipV="0">
            <a:off x="5724525" y="1543050"/>
            <a:ext cx="1714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8A8F99"/>
                </a:solidFill>
                <a:latin typeface="Microsoft YaHei"/>
                <a:ea typeface="Microsoft YaHei"/>
              </a:rPr>
              <a:t>P</a:t>
            </a:r>
            <a:r>
              <a:rPr lang="en-US" sz="750">
                <a:solidFill>
                  <a:srgbClr val="8A8F99"/>
                </a:solidFill>
                <a:latin typeface="Microsoft YaHei"/>
                <a:ea typeface="Microsoft YaHei"/>
              </a:rPr>
              <a:t>27</a:t>
            </a:r>
            <a:endParaRPr/>
          </a:p>
        </p:txBody>
      </p:sp>
      <p:sp>
        <p:nvSpPr>
          <p:cNvPr id="1085" name=""/>
          <p:cNvSpPr/>
          <p:nvPr/>
        </p:nvSpPr>
        <p:spPr>
          <a:xfrm rot="0" flipH="0" flipV="0">
            <a:off x="3533775" y="1838325"/>
            <a:ext cx="381000" cy="28575"/>
          </a:xfrm>
          <a:prstGeom prst="rect">
            <a:avLst/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1086" name="" descr="{&quot;isTemplate&quot;:true,&quot;type&quot;:&quot;text&quot;}"/>
          <p:cNvSpPr txBox="1"/>
          <p:nvPr/>
        </p:nvSpPr>
        <p:spPr>
          <a:xfrm rot="0" flipH="0" flipV="0">
            <a:off x="3533775" y="1981200"/>
            <a:ext cx="23622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口径怎么被建模</a:t>
            </a:r>
            <a:endParaRPr/>
          </a:p>
        </p:txBody>
      </p:sp>
      <p:sp>
        <p:nvSpPr>
          <p:cNvPr id="1087" name="" descr="{&quot;isTemplate&quot;:true,&quot;type&quot;:&quot;text&quot;}"/>
          <p:cNvSpPr txBox="1"/>
          <p:nvPr/>
        </p:nvSpPr>
        <p:spPr>
          <a:xfrm rot="0" flipH="0" flipV="0">
            <a:off x="3533775" y="2314575"/>
            <a:ext cx="2362200" cy="1590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5A6070"/>
                </a:solidFill>
                <a:latin typeface="Microsoft YaHei"/>
                <a:ea typeface="Microsoft YaHei"/>
              </a:rPr>
              <a:t>指标元数据模型与依赖关系</a:t>
            </a:r>
            <a:endParaRPr/>
          </a:p>
        </p:txBody>
      </p:sp>
      <p:sp>
        <p:nvSpPr>
          <p:cNvPr id="1088" name=""/>
          <p:cNvSpPr/>
          <p:nvPr/>
        </p:nvSpPr>
        <p:spPr>
          <a:xfrm rot="0" flipH="0" flipV="0">
            <a:off x="6143625" y="1323975"/>
            <a:ext cx="2676525" cy="2752725"/>
          </a:xfrm>
          <a:prstGeom prst="roundRect">
            <a:avLst>
              <a:gd name="adj" fmla="val 142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89" name=""/>
          <p:cNvSpPr/>
          <p:nvPr/>
        </p:nvSpPr>
        <p:spPr>
          <a:xfrm rot="0" flipH="0" flipV="0">
            <a:off x="6143625" y="1323975"/>
            <a:ext cx="2676525" cy="2752725"/>
          </a:xfrm>
          <a:custGeom>
            <a:pathLst>
              <a:path w="281" h="289">
                <a:moveTo>
                  <a:pt x="277" y="0"/>
                </a:moveTo>
                <a:cubicBezTo>
                  <a:pt x="279" y="0"/>
                  <a:pt x="281" y="2"/>
                  <a:pt x="281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77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90" name="" descr="{&quot;isTemplate&quot;:true,&quot;type&quot;:&quot;text&quot;}"/>
          <p:cNvSpPr txBox="1"/>
          <p:nvPr/>
        </p:nvSpPr>
        <p:spPr>
          <a:xfrm rot="0" flipH="0" flipV="0">
            <a:off x="6296025" y="1457325"/>
            <a:ext cx="3524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A4F24"/>
                </a:solidFill>
                <a:latin typeface="Microsoft YaHei"/>
                <a:ea typeface="Microsoft YaHei"/>
              </a:rPr>
              <a:t>AA</a:t>
            </a:r>
            <a:endParaRPr/>
          </a:p>
        </p:txBody>
      </p:sp>
      <p:sp>
        <p:nvSpPr>
          <p:cNvPr id="1091" name="" descr="{&quot;isTemplate&quot;:true,&quot;type&quot;:&quot;text&quot;}"/>
          <p:cNvSpPr txBox="1"/>
          <p:nvPr/>
        </p:nvSpPr>
        <p:spPr>
          <a:xfrm rot="0" flipH="0" flipV="0">
            <a:off x="6734175" y="1514475"/>
            <a:ext cx="1676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应用架构</a:t>
            </a:r>
            <a:endParaRPr/>
          </a:p>
        </p:txBody>
      </p:sp>
      <p:sp>
        <p:nvSpPr>
          <p:cNvPr id="1092" name="" descr="{&quot;isTemplate&quot;:true,&quot;type&quot;:&quot;text&quot;}"/>
          <p:cNvSpPr txBox="1"/>
          <p:nvPr/>
        </p:nvSpPr>
        <p:spPr>
          <a:xfrm rot="0" flipH="0" flipV="0">
            <a:off x="8496300" y="1543050"/>
            <a:ext cx="1714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8A8F99"/>
                </a:solidFill>
                <a:latin typeface="Microsoft YaHei"/>
                <a:ea typeface="Microsoft YaHei"/>
              </a:rPr>
              <a:t>P</a:t>
            </a:r>
            <a:r>
              <a:rPr lang="en-US" sz="750">
                <a:solidFill>
                  <a:srgbClr val="8A8F99"/>
                </a:solidFill>
                <a:latin typeface="Microsoft YaHei"/>
                <a:ea typeface="Microsoft YaHei"/>
              </a:rPr>
              <a:t>28</a:t>
            </a:r>
            <a:endParaRPr/>
          </a:p>
        </p:txBody>
      </p:sp>
      <p:sp>
        <p:nvSpPr>
          <p:cNvPr id="1093" name=""/>
          <p:cNvSpPr/>
          <p:nvPr/>
        </p:nvSpPr>
        <p:spPr>
          <a:xfrm rot="0" flipH="0" flipV="0">
            <a:off x="6296025" y="1838325"/>
            <a:ext cx="381000" cy="28575"/>
          </a:xfrm>
          <a:prstGeom prst="rect">
            <a:avLst/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1094" name="" descr="{&quot;isTemplate&quot;:true,&quot;type&quot;:&quot;text&quot;}"/>
          <p:cNvSpPr txBox="1"/>
          <p:nvPr/>
        </p:nvSpPr>
        <p:spPr>
          <a:xfrm rot="0" flipH="0" flipV="0">
            <a:off x="6296025" y="1981200"/>
            <a:ext cx="237172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口径怎么被消费</a:t>
            </a:r>
            <a:endParaRPr/>
          </a:p>
        </p:txBody>
      </p:sp>
      <p:sp>
        <p:nvSpPr>
          <p:cNvPr id="1095" name="" descr="{&quot;isTemplate&quot;:true,&quot;type&quot;:&quot;text&quot;}"/>
          <p:cNvSpPr txBox="1"/>
          <p:nvPr/>
        </p:nvSpPr>
        <p:spPr>
          <a:xfrm rot="0" flipH="0" flipV="0">
            <a:off x="6296025" y="2314575"/>
            <a:ext cx="2371725" cy="1590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5A6070"/>
                </a:solidFill>
                <a:latin typeface="Microsoft YaHei"/>
                <a:ea typeface="Microsoft YaHei"/>
              </a:rPr>
              <a:t>问数、驾驶舱、场景化指标集</a:t>
            </a:r>
            <a:endParaRPr/>
          </a:p>
        </p:txBody>
      </p:sp>
      <p:sp>
        <p:nvSpPr>
          <p:cNvPr id="1096" name=""/>
          <p:cNvSpPr/>
          <p:nvPr/>
        </p:nvSpPr>
        <p:spPr>
          <a:xfrm rot="0" flipH="0" flipV="0">
            <a:off x="8915400" y="1323975"/>
            <a:ext cx="2667000" cy="2752725"/>
          </a:xfrm>
          <a:prstGeom prst="roundRect">
            <a:avLst>
              <a:gd name="adj" fmla="val 142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97" name=""/>
          <p:cNvSpPr/>
          <p:nvPr/>
        </p:nvSpPr>
        <p:spPr>
          <a:xfrm rot="0" flipH="0" flipV="0">
            <a:off x="8915400" y="1323975"/>
            <a:ext cx="2667000" cy="2752725"/>
          </a:xfrm>
          <a:custGeom>
            <a:pathLst>
              <a:path w="280" h="289">
                <a:moveTo>
                  <a:pt x="276" y="0"/>
                </a:moveTo>
                <a:cubicBezTo>
                  <a:pt x="278" y="0"/>
                  <a:pt x="280" y="2"/>
                  <a:pt x="28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76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98" name="" descr="{&quot;isTemplate&quot;:true,&quot;type&quot;:&quot;text&quot;}"/>
          <p:cNvSpPr txBox="1"/>
          <p:nvPr/>
        </p:nvSpPr>
        <p:spPr>
          <a:xfrm rot="0" flipH="0" flipV="0">
            <a:off x="9067800" y="1457325"/>
            <a:ext cx="304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A4F24"/>
                </a:solidFill>
                <a:latin typeface="Microsoft YaHei"/>
                <a:ea typeface="Microsoft YaHei"/>
              </a:rPr>
              <a:t>TA</a:t>
            </a:r>
            <a:endParaRPr/>
          </a:p>
        </p:txBody>
      </p:sp>
      <p:sp>
        <p:nvSpPr>
          <p:cNvPr id="1099" name="" descr="{&quot;isTemplate&quot;:true,&quot;type&quot;:&quot;text&quot;}"/>
          <p:cNvSpPr txBox="1"/>
          <p:nvPr/>
        </p:nvSpPr>
        <p:spPr>
          <a:xfrm rot="0" flipH="0" flipV="0">
            <a:off x="9458325" y="1514475"/>
            <a:ext cx="171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0F1423"/>
                </a:solidFill>
                <a:latin typeface="Microsoft YaHei"/>
                <a:ea typeface="Microsoft YaHei"/>
              </a:rPr>
              <a:t>技术架构</a:t>
            </a:r>
            <a:endParaRPr/>
          </a:p>
        </p:txBody>
      </p:sp>
      <p:sp>
        <p:nvSpPr>
          <p:cNvPr id="1100" name="" descr="{&quot;isTemplate&quot;:true,&quot;type&quot;:&quot;text&quot;}"/>
          <p:cNvSpPr txBox="1"/>
          <p:nvPr/>
        </p:nvSpPr>
        <p:spPr>
          <a:xfrm rot="0" flipH="0" flipV="0">
            <a:off x="11258550" y="1543050"/>
            <a:ext cx="1714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8A8F99"/>
                </a:solidFill>
                <a:latin typeface="Microsoft YaHei"/>
                <a:ea typeface="Microsoft YaHei"/>
              </a:rPr>
              <a:t>P</a:t>
            </a:r>
            <a:r>
              <a:rPr lang="en-US" sz="750">
                <a:solidFill>
                  <a:srgbClr val="8A8F99"/>
                </a:solidFill>
                <a:latin typeface="Microsoft YaHei"/>
                <a:ea typeface="Microsoft YaHei"/>
              </a:rPr>
              <a:t>28</a:t>
            </a:r>
            <a:endParaRPr/>
          </a:p>
        </p:txBody>
      </p:sp>
      <p:sp>
        <p:nvSpPr>
          <p:cNvPr id="1101" name=""/>
          <p:cNvSpPr/>
          <p:nvPr/>
        </p:nvSpPr>
        <p:spPr>
          <a:xfrm rot="0" flipH="0" flipV="0">
            <a:off x="9067800" y="1838325"/>
            <a:ext cx="381000" cy="28575"/>
          </a:xfrm>
          <a:prstGeom prst="rect">
            <a:avLst/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1102" name="" descr="{&quot;isTemplate&quot;:true,&quot;type&quot;:&quot;text&quot;}"/>
          <p:cNvSpPr txBox="1"/>
          <p:nvPr/>
        </p:nvSpPr>
        <p:spPr>
          <a:xfrm rot="0" flipH="0" flipV="0">
            <a:off x="9067800" y="1981200"/>
            <a:ext cx="23622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口径怎么被算出来</a:t>
            </a:r>
            <a:endParaRPr/>
          </a:p>
        </p:txBody>
      </p:sp>
      <p:sp>
        <p:nvSpPr>
          <p:cNvPr id="1103" name="" descr="{&quot;isTemplate&quot;:true,&quot;type&quot;:&quot;text&quot;}"/>
          <p:cNvSpPr txBox="1"/>
          <p:nvPr/>
        </p:nvSpPr>
        <p:spPr>
          <a:xfrm rot="0" flipH="0" flipV="0">
            <a:off x="9067800" y="2314575"/>
            <a:ext cx="2362200" cy="1590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5A6070"/>
                </a:solidFill>
                <a:latin typeface="Microsoft YaHei"/>
                <a:ea typeface="Microsoft YaHei"/>
              </a:rPr>
              <a:t>计算引擎、缓存与审计存储</a:t>
            </a:r>
            <a:endParaRPr/>
          </a:p>
        </p:txBody>
      </p:sp>
      <p:sp>
        <p:nvSpPr>
          <p:cNvPr id="1104" name=""/>
          <p:cNvSpPr/>
          <p:nvPr/>
        </p:nvSpPr>
        <p:spPr>
          <a:xfrm rot="0" flipH="0" flipV="0">
            <a:off x="609600" y="4133850"/>
            <a:ext cx="10972800" cy="1504950"/>
          </a:xfrm>
          <a:prstGeom prst="roundRect">
            <a:avLst>
              <a:gd name="adj" fmla="val 253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105" name="" descr="{&quot;isTemplate&quot;:true,&quot;type&quot;:&quot;text&quot;}"/>
          <p:cNvSpPr txBox="1"/>
          <p:nvPr/>
        </p:nvSpPr>
        <p:spPr>
          <a:xfrm rot="0" flipH="0" flipV="0">
            <a:off x="800100" y="4619625"/>
            <a:ext cx="1257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BA15C"/>
                </a:solidFill>
                <a:latin typeface="Microsoft YaHei"/>
                <a:ea typeface="Microsoft YaHei"/>
              </a:rPr>
              <a:t>四个特有之处</a:t>
            </a:r>
            <a:endParaRPr/>
          </a:p>
        </p:txBody>
      </p:sp>
      <p:sp>
        <p:nvSpPr>
          <p:cNvPr id="1106" name="" descr="{&quot;isTemplate&quot;:true,&quot;type&quot;:&quot;text&quot;}"/>
          <p:cNvSpPr txBox="1"/>
          <p:nvPr/>
        </p:nvSpPr>
        <p:spPr>
          <a:xfrm rot="0" flipH="0" flipV="0">
            <a:off x="800100" y="4838700"/>
            <a:ext cx="125730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别的</a:t>
            </a:r>
            <a:r>
              <a:rPr lang="en-US" sz="7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4A </a:t>
            </a:r>
            <a:r>
              <a:rPr lang="zh-CN" sz="7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管功能</a:t>
            </a:r>
            <a:endParaRPr/>
          </a:p>
          <a:p>
            <a:pPr>
              <a:lnSpc>
                <a:spcPct val="140000"/>
              </a:lnSpc>
            </a:pPr>
            <a:r>
              <a:rPr lang="zh-CN" sz="7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指标管「怎么理解」</a:t>
            </a:r>
            <a:endParaRPr/>
          </a:p>
        </p:txBody>
      </p:sp>
      <p:sp>
        <p:nvSpPr>
          <p:cNvPr id="1107" name=""/>
          <p:cNvSpPr/>
          <p:nvPr/>
        </p:nvSpPr>
        <p:spPr>
          <a:xfrm rot="0" flipH="0" flipV="0">
            <a:off x="2228850" y="4238625"/>
            <a:ext cx="9525" cy="12954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p/>
        </p:txBody>
      </p:sp>
      <p:sp>
        <p:nvSpPr>
          <p:cNvPr id="1108" name="" descr="{&quot;isTemplate&quot;:true,&quot;type&quot;:&quot;text&quot;}"/>
          <p:cNvSpPr txBox="1"/>
          <p:nvPr/>
        </p:nvSpPr>
        <p:spPr>
          <a:xfrm rot="0" flipH="0" flipV="0">
            <a:off x="2409825" y="4619625"/>
            <a:ext cx="2171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口径即产品</a:t>
            </a:r>
            <a:endParaRPr/>
          </a:p>
        </p:txBody>
      </p:sp>
      <p:sp>
        <p:nvSpPr>
          <p:cNvPr id="1109" name="" descr="{&quot;isTemplate&quot;:true,&quot;type&quot;:&quot;text&quot;}"/>
          <p:cNvSpPr txBox="1"/>
          <p:nvPr/>
        </p:nvSpPr>
        <p:spPr>
          <a:xfrm rot="0" flipH="0" flipV="0">
            <a:off x="2409825" y="4810125"/>
            <a:ext cx="2171700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指标体系的产出物是「唯一解释」，不是一个功能</a:t>
            </a:r>
            <a:endParaRPr/>
          </a:p>
        </p:txBody>
      </p:sp>
      <p:sp>
        <p:nvSpPr>
          <p:cNvPr id="1110" name="" descr="{&quot;isTemplate&quot;:true,&quot;type&quot;:&quot;text&quot;}"/>
          <p:cNvSpPr txBox="1"/>
          <p:nvPr/>
        </p:nvSpPr>
        <p:spPr>
          <a:xfrm rot="0" flipH="0" flipV="0">
            <a:off x="4676775" y="4705350"/>
            <a:ext cx="21812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失败是静默的</a:t>
            </a:r>
            <a:endParaRPr/>
          </a:p>
        </p:txBody>
      </p:sp>
      <p:sp>
        <p:nvSpPr>
          <p:cNvPr id="1111" name="" descr="{&quot;isTemplate&quot;:true,&quot;type&quot;:&quot;text&quot;}"/>
          <p:cNvSpPr txBox="1"/>
          <p:nvPr/>
        </p:nvSpPr>
        <p:spPr>
          <a:xfrm rot="0" flipH="0" flipV="0">
            <a:off x="4676775" y="4895850"/>
            <a:ext cx="2181225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数字照常出来，只是和昨天说的不是一回事</a:t>
            </a:r>
            <a:endParaRPr/>
          </a:p>
        </p:txBody>
      </p:sp>
      <p:sp>
        <p:nvSpPr>
          <p:cNvPr id="1112" name="" descr="{&quot;isTemplate&quot;:true,&quot;type&quot;:&quot;text&quot;}"/>
          <p:cNvSpPr txBox="1"/>
          <p:nvPr/>
        </p:nvSpPr>
        <p:spPr>
          <a:xfrm rot="0" flipH="0" flipV="0">
            <a:off x="6953250" y="4705350"/>
            <a:ext cx="2171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权限即口径的一部分</a:t>
            </a:r>
            <a:endParaRPr/>
          </a:p>
        </p:txBody>
      </p:sp>
      <p:sp>
        <p:nvSpPr>
          <p:cNvPr id="1113" name="" descr="{&quot;isTemplate&quot;:true,&quot;type&quot;:&quot;text&quot;}"/>
          <p:cNvSpPr txBox="1"/>
          <p:nvPr/>
        </p:nvSpPr>
        <p:spPr>
          <a:xfrm rot="0" flipH="0" flipV="0">
            <a:off x="6953250" y="4895850"/>
            <a:ext cx="217170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不同权限下的两个值都是对的，必须都写明</a:t>
            </a:r>
            <a:endParaRPr/>
          </a:p>
        </p:txBody>
      </p:sp>
      <p:sp>
        <p:nvSpPr>
          <p:cNvPr id="1114" name="" descr="{&quot;isTemplate&quot;:true,&quot;type&quot;:&quot;text&quot;}"/>
          <p:cNvSpPr txBox="1"/>
          <p:nvPr/>
        </p:nvSpPr>
        <p:spPr>
          <a:xfrm rot="0" flipH="0" flipV="0">
            <a:off x="9220200" y="4705350"/>
            <a:ext cx="2171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让错误获得行动力</a:t>
            </a:r>
            <a:endParaRPr/>
          </a:p>
        </p:txBody>
      </p:sp>
      <p:sp>
        <p:nvSpPr>
          <p:cNvPr id="1115" name="" descr="{&quot;isTemplate&quot;:true,&quot;type&quot;:&quot;text&quot;}"/>
          <p:cNvSpPr txBox="1"/>
          <p:nvPr/>
        </p:nvSpPr>
        <p:spPr>
          <a:xfrm rot="0" flipH="0" flipV="0">
            <a:off x="9220200" y="4895850"/>
            <a:ext cx="217170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口径错的代价从「不可信」变成「做错事」</a:t>
            </a:r>
            <a:endParaRPr/>
          </a:p>
        </p:txBody>
      </p:sp>
      <p:sp>
        <p:nvSpPr>
          <p:cNvPr id="1116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117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18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指标体系咨询方法论</a:t>
            </a:r>
            <a:endParaRPr/>
          </a:p>
        </p:txBody>
      </p:sp>
      <p:sp>
        <p:nvSpPr>
          <p:cNvPr id="1119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26 / 30</a:t>
            </a:r>
            <a:endParaRPr/>
          </a:p>
        </p:txBody>
      </p:sp>
    </p:spTree>
  </p:cSld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120" name="" descr="&lt;Slide style={{ width: 1280, height: 720, background: '#FFFFFF', padding: '24px 64px 0' }}&gt;&#10;  &lt;Box style={{ height: 96, flexDirection: 'column', justifyContent: 'flex-start' }}&gt;&#10;    &lt;Text style={{ fontSize: 32, fontWeight: 'bold', color: '#0F1423' }}&gt;&#10;      BA 谁裁定口径，DA 怎么把口径&lt;span style={{ color: '#FA4F24' }}&gt;建成数据&lt;/span&gt;&#10;    &lt;/Text&gt;&#10;    &lt;Text style={{ fontSize: 20, color: '#8A8F99', marginTop: 8 }}&gt;口径是业务决定，技术决定不了；指标是数据对象，靠文档管不住&lt;/Text&gt;&#10;  &lt;/Box&gt;&#10;  &lt;Box style={{ height: 1, background: '#E8E8E8' }} /&gt;&#10;&#10;  &lt;Box style={{ paddingTop: 14, paddingBottom: 8, height: 479, flexDirection: 'column', gap: 10 }}&gt;&#10;    &lt;Box style={{ flex: 1, flexDirection: 'row', gap: 10 }}&gt;&#10;      &lt;Box style={{ flex: 1, background: '#F7F7F8', borderRadius: 4, borderTop: '4px solid #FA4F24', padding: '12px 16px', flexDirection: 'column' }}&gt;&#10;        &lt;Box style={{ flexDirection: 'row', alignItems: 'center', gap: 9 }}&gt;&#10;          &lt;Text style={{ fontSize: 22, fontWeight: 'bold', color: '#FA4F24' }}&gt;BA&lt;/Text&gt;&#10;          &lt;Text style={{ fontSize: 15, fontWeight: 'bold', color: '#0F1423' }}&gt;业务架构：谁裁定口径&lt;/Text&gt;&#10;        &lt;/Box&gt;&#10;        &lt;Box style={{ marginTop: 10, gap: 6, flex: 1 }}&gt;&#10;          {[&#10;            { t: '口径定义责任人是业务，不是 IT', d: '财务口径由财务裁定，IT 只负责把它实现成可执行定义' },&#10;            { t: '指标必须挂到战略意图上', d: '每个 A 级指标要写清它支撑哪个决策、谁看、多久看一次；挂不上的降级' },&#10;            { t: '裁定会固定节奏与议程', d: '只议四类：新增、变更、废止、跨部门冲突；结论必须落成裁定表' },&#10;            { t: '跨部门冲突要有终裁机制', d: '两个部门口径不一致时，必须有人能拍板，否则口径永远统一不了' },&#10;          ].map((x) =&gt; (&#10;            &lt;Box key={x.t} style={{ flex: 1, background: '#FFFFFF', borderRadius: 3, borderLeft: '3px solid #FA4F24', padding: '6px 11px', justifyContent: 'center' }}&gt;&#10;              &lt;Text style={{ fontSize: 11.5, fontWeight: 'bold', color: '#0F1423' }}&gt;{x.t}&lt;/Text&gt;&#10;              &lt;Text style={{ fontSize: 10.5, color: '#5A6070', marginTop: 3, lineHeight: 1.4 }}&gt;{x.d}&lt;/Text&gt;&#10;            &lt;/Box&gt;&#10;          ))}&#10;        &lt;/Box&gt;&#10;      &lt;/Box&gt;&#10;&#10;      &lt;Box style={{ flex: 1, background: '#F7F7F8', borderRadius: 4, borderTop: '4px solid #F87D2F', padding: '12px 16px', flexDirection: 'column' }}&gt;&#10;        &lt;Box style={{ flexDirection: 'row', alignItems: 'center', gap: 9 }}&gt;&#10;          &lt;Text style={{ fontSize: 22, fontWeight: 'bold', color: '#F87D2F' }}&gt;DA&lt;/Text&gt;&#10;          &lt;Text style={{ fontSize: 15, fontWeight: 'bold', color: '#0F1423' }}&gt;数据架构：口径建成数据&lt;/Text&gt;&#10;        &lt;/Box&gt;&#10;        &lt;Box style={{ marginTop: 10, gap: 6, flex: 1 }}&gt;&#10;          {[&#10;            { t: '十二项元数据必须落库，不能只在文档', d: '指标定义就是数据资产，要能被查询、被血缘覆盖' },&#10;            { t: '三层分解与依赖 DAG 要显式存', d: '这是变更影响面分析的唯一数据来源' },&#10;            { t: '派生属性定义要与对象模型同源', d: '口径引用对象类型与链接类型，不另建维度模型' },&#10;            { t: '预计算结果必须挂口径版本', d: '任何一个数字都要能追到它是用哪版口径、哪个时点算出来的' },&#10;          ].map((x) =&gt; (&#10;            &lt;Box key={x.t} style={{ flex: 1, background: '#FFFFFF', borderRadius: 3, borderLeft: '3px solid #F87D2F', padding: '6px 11px', justifyContent: 'center' }}&gt;&#10;              &lt;Text style={{ fontSize: 11.5, fontWeight: 'bold', color: '#0F1423' }}&gt;{x.t}&lt;/Text&gt;&#10;              &lt;Text style={{ fontSize: 10.5, color: '#5A6070', marginTop: 3, lineHeight: 1.4 }}&gt;{x.d}&lt;/Text&gt;&#10;            &lt;/Box&gt;&#10;          ))}&#10;        &lt;/Box&gt;&#10;      &lt;/Box&gt;&#10;    &lt;/Box&gt;&#10;&#10;    &lt;Box style={{ flex: 0.95, background: '#0F1423', borderRadius: 4, padding: '12px 20px', flexDirection: 'column' }}&gt;&#10;      &lt;Text style={{ fontSize: 13.5, fontWeight: 'bold', color: '#FBA15C' }}&gt;DA 侧必建的十四项指标元数据&lt;/Text&gt;&#10;      &lt;Box style={{ flexDirection: 'row', flexWrap: 'wrap', gap: 5, marginTop: 9, flex: 1 }}&gt;&#10;        {[&#10;          '指标唯一标识', '指标名与别名', '业务定义文本', '计算表达式', '所属层级',&#10;          '粒度声明', '时间口径与时区', '截止时点', '聚合类型', '空值处理策略',&#10;          '过滤排除清单', '上游依赖关系', '版本号与变更记录', '权限基线与用途集合',&#10;        ].map((t, i) =&gt; (&#10;          &lt;Box key={t} style={{ width: '24.3%', background: 'rgba(255,255,255,0.07)', borderRadius: 3, padding: '5px 9px', flexDirection: 'row', alignItems: 'center', gap: 7 }}&gt;&#10;            &lt;Text style={{ fontSize: 10, fontWeight: 'bold', color: '#FBA15C' }}&gt;{String(i + 1).padStart(2, '0')}&lt;/Text&gt;&#10;            &lt;Text style={{ fontSize: 10, color: 'rgba(255,255,255,0.88)' }}&gt;{t}&lt;/Text&gt;&#10;          &lt;/Box&gt;&#10;        ))}&#10;      &lt;/Box&gt;&#10;      &lt;Text style={{ fontSize: 10, color: 'rgba(255,255,255,0.6)', marginTop: 7, lineHeight: 1.4 }}&gt;&#10;        第 14 项「权限基线与用途集合」是其他各册都没有的——它让同一个指标在不同场景下可以有多个有据可依的取值。&#10;      &lt;/Text&gt;&#10;    &lt;/Box&gt;&#10;  &lt;/Box&gt;&#10;&#10;  &lt;Box style={{ height: 58, flexDirection: 'row', alignItems: 'center', borderTop: '1px solid #E8E8E8' }}&gt;&#10;    &lt;Box style={{ width: 10, height: 10, background: '#FA4F24' }} /&gt;&#10;    &lt;Text style={{ fontSize: 13, color: '#8A8F99', marginLeft: 12 }}&gt;硕磐机密 · 指标体系咨询方法论&lt;/Text&gt;&#10;    &lt;Text style={{ fontSize: 13, color: '#8A8F99', marginLeft: 'auto' }}&gt;27 / 3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22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BA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谁裁定口径，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DA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怎么把口径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建成数据</a:t>
            </a:r>
            <a:endParaRPr/>
          </a:p>
        </p:txBody>
      </p:sp>
      <p:sp>
        <p:nvSpPr>
          <p:cNvPr id="1123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口径是业务决定，技术决定不了；指标是数据对象，靠文档管不住</a:t>
            </a:r>
            <a:endParaRPr/>
          </a:p>
        </p:txBody>
      </p:sp>
      <p:sp>
        <p:nvSpPr>
          <p:cNvPr id="1124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125" name=""/>
          <p:cNvSpPr/>
          <p:nvPr/>
        </p:nvSpPr>
        <p:spPr>
          <a:xfrm rot="0" flipH="0" flipV="0">
            <a:off x="609600" y="1323975"/>
            <a:ext cx="5438775" cy="2581275"/>
          </a:xfrm>
          <a:prstGeom prst="roundRect">
            <a:avLst>
              <a:gd name="adj" fmla="val 147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26" name=""/>
          <p:cNvSpPr/>
          <p:nvPr/>
        </p:nvSpPr>
        <p:spPr>
          <a:xfrm rot="0" flipH="0" flipV="0">
            <a:off x="609600" y="1323975"/>
            <a:ext cx="5438775" cy="2581275"/>
          </a:xfrm>
          <a:custGeom>
            <a:pathLst>
              <a:path w="571" h="271">
                <a:moveTo>
                  <a:pt x="567" y="0"/>
                </a:moveTo>
                <a:cubicBezTo>
                  <a:pt x="569" y="0"/>
                  <a:pt x="571" y="2"/>
                  <a:pt x="571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67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27" name="" descr="{&quot;isTemplate&quot;:true,&quot;type&quot;:&quot;text&quot;}"/>
          <p:cNvSpPr txBox="1"/>
          <p:nvPr/>
        </p:nvSpPr>
        <p:spPr>
          <a:xfrm rot="0" flipH="0" flipV="0">
            <a:off x="762000" y="1438275"/>
            <a:ext cx="304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A4F24"/>
                </a:solidFill>
                <a:latin typeface="Microsoft YaHei"/>
                <a:ea typeface="Microsoft YaHei"/>
              </a:rPr>
              <a:t>BA</a:t>
            </a:r>
            <a:endParaRPr/>
          </a:p>
        </p:txBody>
      </p:sp>
      <p:sp>
        <p:nvSpPr>
          <p:cNvPr id="1128" name="" descr="{&quot;isTemplate&quot;:true,&quot;type&quot;:&quot;text&quot;}"/>
          <p:cNvSpPr txBox="1"/>
          <p:nvPr/>
        </p:nvSpPr>
        <p:spPr>
          <a:xfrm rot="0" flipH="0" flipV="0">
            <a:off x="1152525" y="1485900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业务架构：谁裁定口径</a:t>
            </a:r>
            <a:endParaRPr/>
          </a:p>
        </p:txBody>
      </p:sp>
      <p:sp>
        <p:nvSpPr>
          <p:cNvPr id="1129" name=""/>
          <p:cNvSpPr/>
          <p:nvPr/>
        </p:nvSpPr>
        <p:spPr>
          <a:xfrm rot="0" flipH="0" flipV="0">
            <a:off x="790575" y="1790700"/>
            <a:ext cx="5133975" cy="447675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30" name=""/>
          <p:cNvSpPr/>
          <p:nvPr/>
        </p:nvSpPr>
        <p:spPr>
          <a:xfrm rot="0" flipH="0" flipV="0">
            <a:off x="790575" y="1790700"/>
            <a:ext cx="5133975" cy="447675"/>
          </a:xfrm>
          <a:custGeom>
            <a:pathLst>
              <a:path w="539" h="47">
                <a:moveTo>
                  <a:pt x="3" y="47"/>
                </a:moveTo>
                <a:cubicBezTo>
                  <a:pt x="1" y="47"/>
                  <a:pt x="0" y="46"/>
                  <a:pt x="0" y="44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7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31" name="" descr="{&quot;isTemplate&quot;:true,&quot;type&quot;:&quot;text&quot;}"/>
          <p:cNvSpPr txBox="1"/>
          <p:nvPr/>
        </p:nvSpPr>
        <p:spPr>
          <a:xfrm rot="0" flipH="0" flipV="0">
            <a:off x="895350" y="1847850"/>
            <a:ext cx="4895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口径定义责任人是业务，不是</a:t>
            </a:r>
            <a:r>
              <a:rPr lang="en-US" sz="863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IT</a:t>
            </a:r>
            <a:endParaRPr/>
          </a:p>
        </p:txBody>
      </p:sp>
      <p:sp>
        <p:nvSpPr>
          <p:cNvPr id="1132" name="" descr="{&quot;isTemplate&quot;:true,&quot;type&quot;:&quot;text&quot;}"/>
          <p:cNvSpPr txBox="1"/>
          <p:nvPr/>
        </p:nvSpPr>
        <p:spPr>
          <a:xfrm rot="0" flipH="0" flipV="0">
            <a:off x="895350" y="2009775"/>
            <a:ext cx="489585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财务口径由财务裁定，</a:t>
            </a:r>
            <a:r>
              <a:rPr lang="en-US" sz="788">
                <a:solidFill>
                  <a:srgbClr val="5A6070"/>
                </a:solidFill>
                <a:latin typeface="Microsoft YaHei"/>
                <a:ea typeface="Microsoft YaHei"/>
              </a:rPr>
              <a:t xml:space="preserve">IT </a:t>
            </a: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只负责把它实现成可执行定义</a:t>
            </a:r>
            <a:endParaRPr/>
          </a:p>
        </p:txBody>
      </p:sp>
      <p:sp>
        <p:nvSpPr>
          <p:cNvPr id="1133" name=""/>
          <p:cNvSpPr/>
          <p:nvPr/>
        </p:nvSpPr>
        <p:spPr>
          <a:xfrm rot="0" flipH="0" flipV="0">
            <a:off x="790575" y="2295525"/>
            <a:ext cx="5133975" cy="447675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34" name=""/>
          <p:cNvSpPr/>
          <p:nvPr/>
        </p:nvSpPr>
        <p:spPr>
          <a:xfrm rot="0" flipH="0" flipV="0">
            <a:off x="790575" y="2295525"/>
            <a:ext cx="5133975" cy="447675"/>
          </a:xfrm>
          <a:custGeom>
            <a:pathLst>
              <a:path w="539" h="47">
                <a:moveTo>
                  <a:pt x="3" y="47"/>
                </a:moveTo>
                <a:cubicBezTo>
                  <a:pt x="1" y="47"/>
                  <a:pt x="0" y="46"/>
                  <a:pt x="0" y="44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7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35" name="" descr="{&quot;isTemplate&quot;:true,&quot;type&quot;:&quot;text&quot;}"/>
          <p:cNvSpPr txBox="1"/>
          <p:nvPr/>
        </p:nvSpPr>
        <p:spPr>
          <a:xfrm rot="0" flipH="0" flipV="0">
            <a:off x="895350" y="2352675"/>
            <a:ext cx="4895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指标必须挂到战略意图上</a:t>
            </a:r>
            <a:endParaRPr/>
          </a:p>
        </p:txBody>
      </p:sp>
      <p:sp>
        <p:nvSpPr>
          <p:cNvPr id="1136" name="" descr="{&quot;isTemplate&quot;:true,&quot;type&quot;:&quot;text&quot;}"/>
          <p:cNvSpPr txBox="1"/>
          <p:nvPr/>
        </p:nvSpPr>
        <p:spPr>
          <a:xfrm rot="0" flipH="0" flipV="0">
            <a:off x="895350" y="2514600"/>
            <a:ext cx="489585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每个</a:t>
            </a:r>
            <a:r>
              <a:rPr lang="en-US" sz="788">
                <a:solidFill>
                  <a:srgbClr val="5A6070"/>
                </a:solidFill>
                <a:latin typeface="Microsoft YaHei"/>
                <a:ea typeface="Microsoft YaHei"/>
              </a:rPr>
              <a:t xml:space="preserve"> A </a:t>
            </a: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级指标要写清它支撑哪个决策、谁看、多久看一次；挂不上的降级</a:t>
            </a:r>
            <a:endParaRPr/>
          </a:p>
        </p:txBody>
      </p:sp>
      <p:sp>
        <p:nvSpPr>
          <p:cNvPr id="1137" name=""/>
          <p:cNvSpPr/>
          <p:nvPr/>
        </p:nvSpPr>
        <p:spPr>
          <a:xfrm rot="0" flipH="0" flipV="0">
            <a:off x="790575" y="2800350"/>
            <a:ext cx="5133975" cy="447675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38" name=""/>
          <p:cNvSpPr/>
          <p:nvPr/>
        </p:nvSpPr>
        <p:spPr>
          <a:xfrm rot="0" flipH="0" flipV="0">
            <a:off x="790575" y="2800350"/>
            <a:ext cx="5133975" cy="447675"/>
          </a:xfrm>
          <a:custGeom>
            <a:pathLst>
              <a:path w="539" h="47">
                <a:moveTo>
                  <a:pt x="3" y="47"/>
                </a:moveTo>
                <a:cubicBezTo>
                  <a:pt x="1" y="47"/>
                  <a:pt x="0" y="46"/>
                  <a:pt x="0" y="44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7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39" name="" descr="{&quot;isTemplate&quot;:true,&quot;type&quot;:&quot;text&quot;}"/>
          <p:cNvSpPr txBox="1"/>
          <p:nvPr/>
        </p:nvSpPr>
        <p:spPr>
          <a:xfrm rot="0" flipH="0" flipV="0">
            <a:off x="895350" y="2857500"/>
            <a:ext cx="4895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裁定会固定节奏与议程</a:t>
            </a:r>
            <a:endParaRPr/>
          </a:p>
        </p:txBody>
      </p:sp>
      <p:sp>
        <p:nvSpPr>
          <p:cNvPr id="1140" name="" descr="{&quot;isTemplate&quot;:true,&quot;type&quot;:&quot;text&quot;}"/>
          <p:cNvSpPr txBox="1"/>
          <p:nvPr/>
        </p:nvSpPr>
        <p:spPr>
          <a:xfrm rot="0" flipH="0" flipV="0">
            <a:off x="895350" y="3019425"/>
            <a:ext cx="489585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只议四类：新增、变更、废止、跨部门冲突；结论必须落成裁定表</a:t>
            </a:r>
            <a:endParaRPr/>
          </a:p>
        </p:txBody>
      </p:sp>
      <p:sp>
        <p:nvSpPr>
          <p:cNvPr id="1141" name=""/>
          <p:cNvSpPr/>
          <p:nvPr/>
        </p:nvSpPr>
        <p:spPr>
          <a:xfrm rot="0" flipH="0" flipV="0">
            <a:off x="790575" y="3305175"/>
            <a:ext cx="5133975" cy="447675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42" name=""/>
          <p:cNvSpPr/>
          <p:nvPr/>
        </p:nvSpPr>
        <p:spPr>
          <a:xfrm rot="0" flipH="0" flipV="0">
            <a:off x="790575" y="3305175"/>
            <a:ext cx="5133975" cy="447675"/>
          </a:xfrm>
          <a:custGeom>
            <a:pathLst>
              <a:path w="539" h="47">
                <a:moveTo>
                  <a:pt x="3" y="47"/>
                </a:moveTo>
                <a:cubicBezTo>
                  <a:pt x="1" y="47"/>
                  <a:pt x="0" y="46"/>
                  <a:pt x="0" y="44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7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43" name="" descr="{&quot;isTemplate&quot;:true,&quot;type&quot;:&quot;text&quot;}"/>
          <p:cNvSpPr txBox="1"/>
          <p:nvPr/>
        </p:nvSpPr>
        <p:spPr>
          <a:xfrm rot="0" flipH="0" flipV="0">
            <a:off x="895350" y="3362325"/>
            <a:ext cx="4895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跨部门冲突要有终裁机制</a:t>
            </a:r>
            <a:endParaRPr/>
          </a:p>
        </p:txBody>
      </p:sp>
      <p:sp>
        <p:nvSpPr>
          <p:cNvPr id="1144" name="" descr="{&quot;isTemplate&quot;:true,&quot;type&quot;:&quot;text&quot;}"/>
          <p:cNvSpPr txBox="1"/>
          <p:nvPr/>
        </p:nvSpPr>
        <p:spPr>
          <a:xfrm rot="0" flipH="0" flipV="0">
            <a:off x="895350" y="3524250"/>
            <a:ext cx="489585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两个部门口径不一致时，必须有人能拍板，否则口径永远统一不了</a:t>
            </a:r>
            <a:endParaRPr/>
          </a:p>
        </p:txBody>
      </p:sp>
      <p:sp>
        <p:nvSpPr>
          <p:cNvPr id="1145" name=""/>
          <p:cNvSpPr/>
          <p:nvPr/>
        </p:nvSpPr>
        <p:spPr>
          <a:xfrm rot="0" flipH="0" flipV="0">
            <a:off x="6143625" y="1323975"/>
            <a:ext cx="5438775" cy="2581275"/>
          </a:xfrm>
          <a:prstGeom prst="roundRect">
            <a:avLst>
              <a:gd name="adj" fmla="val 147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46" name=""/>
          <p:cNvSpPr/>
          <p:nvPr/>
        </p:nvSpPr>
        <p:spPr>
          <a:xfrm rot="0" flipH="0" flipV="0">
            <a:off x="6143625" y="1323975"/>
            <a:ext cx="5438775" cy="2581275"/>
          </a:xfrm>
          <a:custGeom>
            <a:pathLst>
              <a:path w="571" h="271">
                <a:moveTo>
                  <a:pt x="567" y="0"/>
                </a:moveTo>
                <a:cubicBezTo>
                  <a:pt x="569" y="0"/>
                  <a:pt x="571" y="2"/>
                  <a:pt x="571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67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1147" name="" descr="{&quot;isTemplate&quot;:true,&quot;type&quot;:&quot;text&quot;}"/>
          <p:cNvSpPr txBox="1"/>
          <p:nvPr/>
        </p:nvSpPr>
        <p:spPr>
          <a:xfrm rot="0" flipH="0" flipV="0">
            <a:off x="6296025" y="1438275"/>
            <a:ext cx="323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87D2F"/>
                </a:solidFill>
                <a:latin typeface="Microsoft YaHei"/>
                <a:ea typeface="Microsoft YaHei"/>
              </a:rPr>
              <a:t>DA</a:t>
            </a:r>
            <a:endParaRPr/>
          </a:p>
        </p:txBody>
      </p:sp>
      <p:sp>
        <p:nvSpPr>
          <p:cNvPr id="1148" name="" descr="{&quot;isTemplate&quot;:true,&quot;type&quot;:&quot;text&quot;}"/>
          <p:cNvSpPr txBox="1"/>
          <p:nvPr/>
        </p:nvSpPr>
        <p:spPr>
          <a:xfrm rot="0" flipH="0" flipV="0">
            <a:off x="6705600" y="1485900"/>
            <a:ext cx="1571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数据架构：口径建成数据</a:t>
            </a:r>
            <a:endParaRPr/>
          </a:p>
        </p:txBody>
      </p:sp>
      <p:sp>
        <p:nvSpPr>
          <p:cNvPr id="1149" name=""/>
          <p:cNvSpPr/>
          <p:nvPr/>
        </p:nvSpPr>
        <p:spPr>
          <a:xfrm rot="0" flipH="0" flipV="0">
            <a:off x="6324600" y="1790700"/>
            <a:ext cx="5133975" cy="447675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50" name=""/>
          <p:cNvSpPr/>
          <p:nvPr/>
        </p:nvSpPr>
        <p:spPr>
          <a:xfrm rot="0" flipH="0" flipV="0">
            <a:off x="6324600" y="1790700"/>
            <a:ext cx="5133975" cy="447675"/>
          </a:xfrm>
          <a:custGeom>
            <a:pathLst>
              <a:path w="539" h="47">
                <a:moveTo>
                  <a:pt x="3" y="47"/>
                </a:moveTo>
                <a:cubicBezTo>
                  <a:pt x="1" y="47"/>
                  <a:pt x="0" y="46"/>
                  <a:pt x="0" y="44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7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1151" name="" descr="{&quot;isTemplate&quot;:true,&quot;type&quot;:&quot;text&quot;}"/>
          <p:cNvSpPr txBox="1"/>
          <p:nvPr/>
        </p:nvSpPr>
        <p:spPr>
          <a:xfrm rot="0" flipH="0" flipV="0">
            <a:off x="6429375" y="1847850"/>
            <a:ext cx="4895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十二项元数据必须落库，不能只在文档</a:t>
            </a:r>
            <a:endParaRPr/>
          </a:p>
        </p:txBody>
      </p:sp>
      <p:sp>
        <p:nvSpPr>
          <p:cNvPr id="1152" name="" descr="{&quot;isTemplate&quot;:true,&quot;type&quot;:&quot;text&quot;}"/>
          <p:cNvSpPr txBox="1"/>
          <p:nvPr/>
        </p:nvSpPr>
        <p:spPr>
          <a:xfrm rot="0" flipH="0" flipV="0">
            <a:off x="6429375" y="2009775"/>
            <a:ext cx="489585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指标定义就是数据资产，要能被查询、被血缘覆盖</a:t>
            </a:r>
            <a:endParaRPr/>
          </a:p>
        </p:txBody>
      </p:sp>
      <p:sp>
        <p:nvSpPr>
          <p:cNvPr id="1153" name=""/>
          <p:cNvSpPr/>
          <p:nvPr/>
        </p:nvSpPr>
        <p:spPr>
          <a:xfrm rot="0" flipH="0" flipV="0">
            <a:off x="6324600" y="2295525"/>
            <a:ext cx="5133975" cy="447675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54" name=""/>
          <p:cNvSpPr/>
          <p:nvPr/>
        </p:nvSpPr>
        <p:spPr>
          <a:xfrm rot="0" flipH="0" flipV="0">
            <a:off x="6324600" y="2295525"/>
            <a:ext cx="5133975" cy="447675"/>
          </a:xfrm>
          <a:custGeom>
            <a:pathLst>
              <a:path w="539" h="47">
                <a:moveTo>
                  <a:pt x="3" y="47"/>
                </a:moveTo>
                <a:cubicBezTo>
                  <a:pt x="1" y="47"/>
                  <a:pt x="0" y="46"/>
                  <a:pt x="0" y="44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7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1155" name="" descr="{&quot;isTemplate&quot;:true,&quot;type&quot;:&quot;text&quot;}"/>
          <p:cNvSpPr txBox="1"/>
          <p:nvPr/>
        </p:nvSpPr>
        <p:spPr>
          <a:xfrm rot="0" flipH="0" flipV="0">
            <a:off x="6429375" y="2352675"/>
            <a:ext cx="4895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三层分解与依赖</a:t>
            </a:r>
            <a:r>
              <a:rPr lang="en-US" sz="863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DAG </a:t>
            </a: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要显式存</a:t>
            </a:r>
            <a:endParaRPr/>
          </a:p>
        </p:txBody>
      </p:sp>
      <p:sp>
        <p:nvSpPr>
          <p:cNvPr id="1156" name="" descr="{&quot;isTemplate&quot;:true,&quot;type&quot;:&quot;text&quot;}"/>
          <p:cNvSpPr txBox="1"/>
          <p:nvPr/>
        </p:nvSpPr>
        <p:spPr>
          <a:xfrm rot="0" flipH="0" flipV="0">
            <a:off x="6429375" y="2514600"/>
            <a:ext cx="489585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这是变更影响面分析的唯一数据来源</a:t>
            </a:r>
            <a:endParaRPr/>
          </a:p>
        </p:txBody>
      </p:sp>
      <p:sp>
        <p:nvSpPr>
          <p:cNvPr id="1157" name=""/>
          <p:cNvSpPr/>
          <p:nvPr/>
        </p:nvSpPr>
        <p:spPr>
          <a:xfrm rot="0" flipH="0" flipV="0">
            <a:off x="6324600" y="2800350"/>
            <a:ext cx="5133975" cy="447675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58" name=""/>
          <p:cNvSpPr/>
          <p:nvPr/>
        </p:nvSpPr>
        <p:spPr>
          <a:xfrm rot="0" flipH="0" flipV="0">
            <a:off x="6324600" y="2800350"/>
            <a:ext cx="5133975" cy="447675"/>
          </a:xfrm>
          <a:custGeom>
            <a:pathLst>
              <a:path w="539" h="47">
                <a:moveTo>
                  <a:pt x="3" y="47"/>
                </a:moveTo>
                <a:cubicBezTo>
                  <a:pt x="1" y="47"/>
                  <a:pt x="0" y="46"/>
                  <a:pt x="0" y="44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7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1159" name="" descr="{&quot;isTemplate&quot;:true,&quot;type&quot;:&quot;text&quot;}"/>
          <p:cNvSpPr txBox="1"/>
          <p:nvPr/>
        </p:nvSpPr>
        <p:spPr>
          <a:xfrm rot="0" flipH="0" flipV="0">
            <a:off x="6429375" y="2857500"/>
            <a:ext cx="4895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派生属性定义要与对象模型同源</a:t>
            </a:r>
            <a:endParaRPr/>
          </a:p>
        </p:txBody>
      </p:sp>
      <p:sp>
        <p:nvSpPr>
          <p:cNvPr id="1160" name="" descr="{&quot;isTemplate&quot;:true,&quot;type&quot;:&quot;text&quot;}"/>
          <p:cNvSpPr txBox="1"/>
          <p:nvPr/>
        </p:nvSpPr>
        <p:spPr>
          <a:xfrm rot="0" flipH="0" flipV="0">
            <a:off x="6429375" y="3019425"/>
            <a:ext cx="489585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口径引用对象类型与链接类型，不另建维度模型</a:t>
            </a:r>
            <a:endParaRPr/>
          </a:p>
        </p:txBody>
      </p:sp>
      <p:sp>
        <p:nvSpPr>
          <p:cNvPr id="1161" name=""/>
          <p:cNvSpPr/>
          <p:nvPr/>
        </p:nvSpPr>
        <p:spPr>
          <a:xfrm rot="0" flipH="0" flipV="0">
            <a:off x="6324600" y="3305175"/>
            <a:ext cx="5133975" cy="447675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62" name=""/>
          <p:cNvSpPr/>
          <p:nvPr/>
        </p:nvSpPr>
        <p:spPr>
          <a:xfrm rot="0" flipH="0" flipV="0">
            <a:off x="6324600" y="3305175"/>
            <a:ext cx="5133975" cy="447675"/>
          </a:xfrm>
          <a:custGeom>
            <a:pathLst>
              <a:path w="539" h="47">
                <a:moveTo>
                  <a:pt x="3" y="47"/>
                </a:moveTo>
                <a:cubicBezTo>
                  <a:pt x="1" y="47"/>
                  <a:pt x="0" y="46"/>
                  <a:pt x="0" y="44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7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1163" name="" descr="{&quot;isTemplate&quot;:true,&quot;type&quot;:&quot;text&quot;}"/>
          <p:cNvSpPr txBox="1"/>
          <p:nvPr/>
        </p:nvSpPr>
        <p:spPr>
          <a:xfrm rot="0" flipH="0" flipV="0">
            <a:off x="6429375" y="3362325"/>
            <a:ext cx="4895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预计算结果必须挂口径版本</a:t>
            </a:r>
            <a:endParaRPr/>
          </a:p>
        </p:txBody>
      </p:sp>
      <p:sp>
        <p:nvSpPr>
          <p:cNvPr id="1164" name="" descr="{&quot;isTemplate&quot;:true,&quot;type&quot;:&quot;text&quot;}"/>
          <p:cNvSpPr txBox="1"/>
          <p:nvPr/>
        </p:nvSpPr>
        <p:spPr>
          <a:xfrm rot="0" flipH="0" flipV="0">
            <a:off x="6429375" y="3524250"/>
            <a:ext cx="489585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任何一个数字都要能追到它是用哪版口径、哪个时点算出来的</a:t>
            </a:r>
            <a:endParaRPr/>
          </a:p>
        </p:txBody>
      </p:sp>
      <p:sp>
        <p:nvSpPr>
          <p:cNvPr id="1165" name=""/>
          <p:cNvSpPr/>
          <p:nvPr/>
        </p:nvSpPr>
        <p:spPr>
          <a:xfrm rot="0" flipH="0" flipV="0">
            <a:off x="609600" y="3962400"/>
            <a:ext cx="10972800" cy="1685925"/>
          </a:xfrm>
          <a:prstGeom prst="roundRect">
            <a:avLst>
              <a:gd name="adj" fmla="val 226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166" name="" descr="{&quot;isTemplate&quot;:true,&quot;type&quot;:&quot;text&quot;}"/>
          <p:cNvSpPr txBox="1"/>
          <p:nvPr/>
        </p:nvSpPr>
        <p:spPr>
          <a:xfrm rot="0" flipH="0" flipV="0">
            <a:off x="800100" y="4076700"/>
            <a:ext cx="10591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DA </a:t>
            </a: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侧必建的十四项指标元数据</a:t>
            </a:r>
            <a:endParaRPr/>
          </a:p>
        </p:txBody>
      </p:sp>
      <p:sp>
        <p:nvSpPr>
          <p:cNvPr id="1167" name=""/>
          <p:cNvSpPr/>
          <p:nvPr/>
        </p:nvSpPr>
        <p:spPr>
          <a:xfrm rot="0" flipH="0" flipV="0">
            <a:off x="800100" y="4324350"/>
            <a:ext cx="2571750" cy="209550"/>
          </a:xfrm>
          <a:prstGeom prst="roundRect">
            <a:avLst>
              <a:gd name="adj" fmla="val 13636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168" name="" descr="{&quot;isTemplate&quot;:true,&quot;type&quot;:&quot;text&quot;}"/>
          <p:cNvSpPr txBox="1"/>
          <p:nvPr/>
        </p:nvSpPr>
        <p:spPr>
          <a:xfrm rot="0" flipH="0" flipV="0">
            <a:off x="885825" y="4371975"/>
            <a:ext cx="1238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BA15C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169" name="" descr="{&quot;isTemplate&quot;:true,&quot;type&quot;:&quot;text&quot;}"/>
          <p:cNvSpPr txBox="1"/>
          <p:nvPr/>
        </p:nvSpPr>
        <p:spPr>
          <a:xfrm rot="0" flipH="0" flipV="0">
            <a:off x="1076325" y="4371975"/>
            <a:ext cx="5715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指标唯一标识</a:t>
            </a:r>
            <a:endParaRPr/>
          </a:p>
        </p:txBody>
      </p:sp>
      <p:sp>
        <p:nvSpPr>
          <p:cNvPr id="1170" name=""/>
          <p:cNvSpPr/>
          <p:nvPr/>
        </p:nvSpPr>
        <p:spPr>
          <a:xfrm rot="0" flipH="0" flipV="0">
            <a:off x="3419475" y="4324350"/>
            <a:ext cx="2571750" cy="209550"/>
          </a:xfrm>
          <a:prstGeom prst="roundRect">
            <a:avLst>
              <a:gd name="adj" fmla="val 13636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171" name="" descr="{&quot;isTemplate&quot;:true,&quot;type&quot;:&quot;text&quot;}"/>
          <p:cNvSpPr txBox="1"/>
          <p:nvPr/>
        </p:nvSpPr>
        <p:spPr>
          <a:xfrm rot="0" flipH="0" flipV="0">
            <a:off x="3505200" y="4371975"/>
            <a:ext cx="1238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BA15C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172" name="" descr="{&quot;isTemplate&quot;:true,&quot;type&quot;:&quot;text&quot;}"/>
          <p:cNvSpPr txBox="1"/>
          <p:nvPr/>
        </p:nvSpPr>
        <p:spPr>
          <a:xfrm rot="0" flipH="0" flipV="0">
            <a:off x="3695700" y="4371975"/>
            <a:ext cx="5715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指标名与别名</a:t>
            </a:r>
            <a:endParaRPr/>
          </a:p>
        </p:txBody>
      </p:sp>
      <p:sp>
        <p:nvSpPr>
          <p:cNvPr id="1173" name=""/>
          <p:cNvSpPr/>
          <p:nvPr/>
        </p:nvSpPr>
        <p:spPr>
          <a:xfrm rot="0" flipH="0" flipV="0">
            <a:off x="6038850" y="4324350"/>
            <a:ext cx="2581275" cy="209550"/>
          </a:xfrm>
          <a:prstGeom prst="roundRect">
            <a:avLst>
              <a:gd name="adj" fmla="val 13636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174" name="" descr="{&quot;isTemplate&quot;:true,&quot;type&quot;:&quot;text&quot;}"/>
          <p:cNvSpPr txBox="1"/>
          <p:nvPr/>
        </p:nvSpPr>
        <p:spPr>
          <a:xfrm rot="0" flipH="0" flipV="0">
            <a:off x="6124575" y="4371975"/>
            <a:ext cx="1238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BA15C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175" name="" descr="{&quot;isTemplate&quot;:true,&quot;type&quot;:&quot;text&quot;}"/>
          <p:cNvSpPr txBox="1"/>
          <p:nvPr/>
        </p:nvSpPr>
        <p:spPr>
          <a:xfrm rot="0" flipH="0" flipV="0">
            <a:off x="6315075" y="4371975"/>
            <a:ext cx="5715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业务定义文本</a:t>
            </a:r>
            <a:endParaRPr/>
          </a:p>
        </p:txBody>
      </p:sp>
      <p:sp>
        <p:nvSpPr>
          <p:cNvPr id="1176" name=""/>
          <p:cNvSpPr/>
          <p:nvPr/>
        </p:nvSpPr>
        <p:spPr>
          <a:xfrm rot="0" flipH="0" flipV="0">
            <a:off x="8667750" y="4324350"/>
            <a:ext cx="2571750" cy="209550"/>
          </a:xfrm>
          <a:prstGeom prst="roundRect">
            <a:avLst>
              <a:gd name="adj" fmla="val 13636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177" name="" descr="{&quot;isTemplate&quot;:true,&quot;type&quot;:&quot;text&quot;}"/>
          <p:cNvSpPr txBox="1"/>
          <p:nvPr/>
        </p:nvSpPr>
        <p:spPr>
          <a:xfrm rot="0" flipH="0" flipV="0">
            <a:off x="8753475" y="4371975"/>
            <a:ext cx="1238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BA15C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178" name="" descr="{&quot;isTemplate&quot;:true,&quot;type&quot;:&quot;text&quot;}"/>
          <p:cNvSpPr txBox="1"/>
          <p:nvPr/>
        </p:nvSpPr>
        <p:spPr>
          <a:xfrm rot="0" flipH="0" flipV="0">
            <a:off x="8943975" y="4371975"/>
            <a:ext cx="476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计算表达式</a:t>
            </a:r>
            <a:endParaRPr/>
          </a:p>
        </p:txBody>
      </p:sp>
      <p:sp>
        <p:nvSpPr>
          <p:cNvPr id="1179" name=""/>
          <p:cNvSpPr/>
          <p:nvPr/>
        </p:nvSpPr>
        <p:spPr>
          <a:xfrm rot="0" flipH="0" flipV="0">
            <a:off x="800100" y="4581525"/>
            <a:ext cx="2571750" cy="209550"/>
          </a:xfrm>
          <a:prstGeom prst="roundRect">
            <a:avLst>
              <a:gd name="adj" fmla="val 13636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180" name="" descr="{&quot;isTemplate&quot;:true,&quot;type&quot;:&quot;text&quot;}"/>
          <p:cNvSpPr txBox="1"/>
          <p:nvPr/>
        </p:nvSpPr>
        <p:spPr>
          <a:xfrm rot="0" flipH="0" flipV="0">
            <a:off x="885825" y="4629150"/>
            <a:ext cx="1238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BA15C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1181" name="" descr="{&quot;isTemplate&quot;:true,&quot;type&quot;:&quot;text&quot;}"/>
          <p:cNvSpPr txBox="1"/>
          <p:nvPr/>
        </p:nvSpPr>
        <p:spPr>
          <a:xfrm rot="0" flipH="0" flipV="0">
            <a:off x="1076325" y="4629150"/>
            <a:ext cx="381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所属层级</a:t>
            </a:r>
            <a:endParaRPr/>
          </a:p>
        </p:txBody>
      </p:sp>
      <p:sp>
        <p:nvSpPr>
          <p:cNvPr id="1182" name=""/>
          <p:cNvSpPr/>
          <p:nvPr/>
        </p:nvSpPr>
        <p:spPr>
          <a:xfrm rot="0" flipH="0" flipV="0">
            <a:off x="3419475" y="4581525"/>
            <a:ext cx="2571750" cy="209550"/>
          </a:xfrm>
          <a:prstGeom prst="roundRect">
            <a:avLst>
              <a:gd name="adj" fmla="val 13636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183" name="" descr="{&quot;isTemplate&quot;:true,&quot;type&quot;:&quot;text&quot;}"/>
          <p:cNvSpPr txBox="1"/>
          <p:nvPr/>
        </p:nvSpPr>
        <p:spPr>
          <a:xfrm rot="0" flipH="0" flipV="0">
            <a:off x="3505200" y="4629150"/>
            <a:ext cx="1238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BA15C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1184" name="" descr="{&quot;isTemplate&quot;:true,&quot;type&quot;:&quot;text&quot;}"/>
          <p:cNvSpPr txBox="1"/>
          <p:nvPr/>
        </p:nvSpPr>
        <p:spPr>
          <a:xfrm rot="0" flipH="0" flipV="0">
            <a:off x="3695700" y="4629150"/>
            <a:ext cx="381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粒度声明</a:t>
            </a:r>
            <a:endParaRPr/>
          </a:p>
        </p:txBody>
      </p:sp>
      <p:sp>
        <p:nvSpPr>
          <p:cNvPr id="1185" name=""/>
          <p:cNvSpPr/>
          <p:nvPr/>
        </p:nvSpPr>
        <p:spPr>
          <a:xfrm rot="0" flipH="0" flipV="0">
            <a:off x="6038850" y="4581525"/>
            <a:ext cx="2581275" cy="209550"/>
          </a:xfrm>
          <a:prstGeom prst="roundRect">
            <a:avLst>
              <a:gd name="adj" fmla="val 13636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186" name="" descr="{&quot;isTemplate&quot;:true,&quot;type&quot;:&quot;text&quot;}"/>
          <p:cNvSpPr txBox="1"/>
          <p:nvPr/>
        </p:nvSpPr>
        <p:spPr>
          <a:xfrm rot="0" flipH="0" flipV="0">
            <a:off x="6124575" y="4629150"/>
            <a:ext cx="1238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BA15C"/>
                </a:solidFill>
                <a:latin typeface="Microsoft YaHei"/>
                <a:ea typeface="Microsoft YaHei"/>
              </a:rPr>
              <a:t>07</a:t>
            </a:r>
            <a:endParaRPr/>
          </a:p>
        </p:txBody>
      </p:sp>
      <p:sp>
        <p:nvSpPr>
          <p:cNvPr id="1187" name="" descr="{&quot;isTemplate&quot;:true,&quot;type&quot;:&quot;text&quot;}"/>
          <p:cNvSpPr txBox="1"/>
          <p:nvPr/>
        </p:nvSpPr>
        <p:spPr>
          <a:xfrm rot="0" flipH="0" flipV="0">
            <a:off x="6315075" y="4629150"/>
            <a:ext cx="666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时间口径与时区</a:t>
            </a:r>
            <a:endParaRPr/>
          </a:p>
        </p:txBody>
      </p:sp>
      <p:sp>
        <p:nvSpPr>
          <p:cNvPr id="1188" name=""/>
          <p:cNvSpPr/>
          <p:nvPr/>
        </p:nvSpPr>
        <p:spPr>
          <a:xfrm rot="0" flipH="0" flipV="0">
            <a:off x="8667750" y="4581525"/>
            <a:ext cx="2571750" cy="209550"/>
          </a:xfrm>
          <a:prstGeom prst="roundRect">
            <a:avLst>
              <a:gd name="adj" fmla="val 13636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189" name="" descr="{&quot;isTemplate&quot;:true,&quot;type&quot;:&quot;text&quot;}"/>
          <p:cNvSpPr txBox="1"/>
          <p:nvPr/>
        </p:nvSpPr>
        <p:spPr>
          <a:xfrm rot="0" flipH="0" flipV="0">
            <a:off x="8753475" y="4629150"/>
            <a:ext cx="1238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BA15C"/>
                </a:solidFill>
                <a:latin typeface="Microsoft YaHei"/>
                <a:ea typeface="Microsoft YaHei"/>
              </a:rPr>
              <a:t>08</a:t>
            </a:r>
            <a:endParaRPr/>
          </a:p>
        </p:txBody>
      </p:sp>
      <p:sp>
        <p:nvSpPr>
          <p:cNvPr id="1190" name="" descr="{&quot;isTemplate&quot;:true,&quot;type&quot;:&quot;text&quot;}"/>
          <p:cNvSpPr txBox="1"/>
          <p:nvPr/>
        </p:nvSpPr>
        <p:spPr>
          <a:xfrm rot="0" flipH="0" flipV="0">
            <a:off x="8943975" y="4629150"/>
            <a:ext cx="381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截止时点</a:t>
            </a:r>
            <a:endParaRPr/>
          </a:p>
        </p:txBody>
      </p:sp>
      <p:sp>
        <p:nvSpPr>
          <p:cNvPr id="1191" name=""/>
          <p:cNvSpPr/>
          <p:nvPr/>
        </p:nvSpPr>
        <p:spPr>
          <a:xfrm rot="0" flipH="0" flipV="0">
            <a:off x="800100" y="4838700"/>
            <a:ext cx="2571750" cy="209550"/>
          </a:xfrm>
          <a:prstGeom prst="roundRect">
            <a:avLst>
              <a:gd name="adj" fmla="val 13636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192" name="" descr="{&quot;isTemplate&quot;:true,&quot;type&quot;:&quot;text&quot;}"/>
          <p:cNvSpPr txBox="1"/>
          <p:nvPr/>
        </p:nvSpPr>
        <p:spPr>
          <a:xfrm rot="0" flipH="0" flipV="0">
            <a:off x="885825" y="4886325"/>
            <a:ext cx="1238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BA15C"/>
                </a:solidFill>
                <a:latin typeface="Microsoft YaHei"/>
                <a:ea typeface="Microsoft YaHei"/>
              </a:rPr>
              <a:t>09</a:t>
            </a:r>
            <a:endParaRPr/>
          </a:p>
        </p:txBody>
      </p:sp>
      <p:sp>
        <p:nvSpPr>
          <p:cNvPr id="1193" name="" descr="{&quot;isTemplate&quot;:true,&quot;type&quot;:&quot;text&quot;}"/>
          <p:cNvSpPr txBox="1"/>
          <p:nvPr/>
        </p:nvSpPr>
        <p:spPr>
          <a:xfrm rot="0" flipH="0" flipV="0">
            <a:off x="1076325" y="4886325"/>
            <a:ext cx="381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聚合类型</a:t>
            </a:r>
            <a:endParaRPr/>
          </a:p>
        </p:txBody>
      </p:sp>
      <p:sp>
        <p:nvSpPr>
          <p:cNvPr id="1194" name=""/>
          <p:cNvSpPr/>
          <p:nvPr/>
        </p:nvSpPr>
        <p:spPr>
          <a:xfrm rot="0" flipH="0" flipV="0">
            <a:off x="3419475" y="4838700"/>
            <a:ext cx="2571750" cy="209550"/>
          </a:xfrm>
          <a:prstGeom prst="roundRect">
            <a:avLst>
              <a:gd name="adj" fmla="val 13636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195" name="" descr="{&quot;isTemplate&quot;:true,&quot;type&quot;:&quot;text&quot;}"/>
          <p:cNvSpPr txBox="1"/>
          <p:nvPr/>
        </p:nvSpPr>
        <p:spPr>
          <a:xfrm rot="0" flipH="0" flipV="0">
            <a:off x="3505200" y="4886325"/>
            <a:ext cx="1238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BA15C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1196" name="" descr="{&quot;isTemplate&quot;:true,&quot;type&quot;:&quot;text&quot;}"/>
          <p:cNvSpPr txBox="1"/>
          <p:nvPr/>
        </p:nvSpPr>
        <p:spPr>
          <a:xfrm rot="0" flipH="0" flipV="0">
            <a:off x="3695700" y="4886325"/>
            <a:ext cx="5715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空值处理策略</a:t>
            </a:r>
            <a:endParaRPr/>
          </a:p>
        </p:txBody>
      </p:sp>
      <p:sp>
        <p:nvSpPr>
          <p:cNvPr id="1197" name=""/>
          <p:cNvSpPr/>
          <p:nvPr/>
        </p:nvSpPr>
        <p:spPr>
          <a:xfrm rot="0" flipH="0" flipV="0">
            <a:off x="6038850" y="4838700"/>
            <a:ext cx="2581275" cy="209550"/>
          </a:xfrm>
          <a:prstGeom prst="roundRect">
            <a:avLst>
              <a:gd name="adj" fmla="val 13636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198" name="" descr="{&quot;isTemplate&quot;:true,&quot;type&quot;:&quot;text&quot;}"/>
          <p:cNvSpPr txBox="1"/>
          <p:nvPr/>
        </p:nvSpPr>
        <p:spPr>
          <a:xfrm rot="0" flipH="0" flipV="0">
            <a:off x="6124575" y="4886325"/>
            <a:ext cx="1238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BA15C"/>
                </a:solidFill>
                <a:latin typeface="Microsoft YaHei"/>
                <a:ea typeface="Microsoft YaHei"/>
              </a:rPr>
              <a:t>11</a:t>
            </a:r>
            <a:endParaRPr/>
          </a:p>
        </p:txBody>
      </p:sp>
      <p:sp>
        <p:nvSpPr>
          <p:cNvPr id="1199" name="" descr="{&quot;isTemplate&quot;:true,&quot;type&quot;:&quot;text&quot;}"/>
          <p:cNvSpPr txBox="1"/>
          <p:nvPr/>
        </p:nvSpPr>
        <p:spPr>
          <a:xfrm rot="0" flipH="0" flipV="0">
            <a:off x="6315075" y="4886325"/>
            <a:ext cx="5715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过滤排除清单</a:t>
            </a:r>
            <a:endParaRPr/>
          </a:p>
        </p:txBody>
      </p:sp>
      <p:sp>
        <p:nvSpPr>
          <p:cNvPr id="1200" name=""/>
          <p:cNvSpPr/>
          <p:nvPr/>
        </p:nvSpPr>
        <p:spPr>
          <a:xfrm rot="0" flipH="0" flipV="0">
            <a:off x="8667750" y="4838700"/>
            <a:ext cx="2571750" cy="209550"/>
          </a:xfrm>
          <a:prstGeom prst="roundRect">
            <a:avLst>
              <a:gd name="adj" fmla="val 13636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201" name="" descr="{&quot;isTemplate&quot;:true,&quot;type&quot;:&quot;text&quot;}"/>
          <p:cNvSpPr txBox="1"/>
          <p:nvPr/>
        </p:nvSpPr>
        <p:spPr>
          <a:xfrm rot="0" flipH="0" flipV="0">
            <a:off x="8753475" y="4886325"/>
            <a:ext cx="1238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BA15C"/>
                </a:solidFill>
                <a:latin typeface="Microsoft YaHei"/>
                <a:ea typeface="Microsoft YaHei"/>
              </a:rPr>
              <a:t>12</a:t>
            </a:r>
            <a:endParaRPr/>
          </a:p>
        </p:txBody>
      </p:sp>
      <p:sp>
        <p:nvSpPr>
          <p:cNvPr id="1202" name="" descr="{&quot;isTemplate&quot;:true,&quot;type&quot;:&quot;text&quot;}"/>
          <p:cNvSpPr txBox="1"/>
          <p:nvPr/>
        </p:nvSpPr>
        <p:spPr>
          <a:xfrm rot="0" flipH="0" flipV="0">
            <a:off x="8943975" y="4886325"/>
            <a:ext cx="5715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上游依赖关系</a:t>
            </a:r>
            <a:endParaRPr/>
          </a:p>
        </p:txBody>
      </p:sp>
      <p:sp>
        <p:nvSpPr>
          <p:cNvPr id="1203" name=""/>
          <p:cNvSpPr/>
          <p:nvPr/>
        </p:nvSpPr>
        <p:spPr>
          <a:xfrm rot="0" flipH="0" flipV="0">
            <a:off x="800100" y="5095875"/>
            <a:ext cx="2571750" cy="209550"/>
          </a:xfrm>
          <a:prstGeom prst="roundRect">
            <a:avLst>
              <a:gd name="adj" fmla="val 13636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204" name="" descr="{&quot;isTemplate&quot;:true,&quot;type&quot;:&quot;text&quot;}"/>
          <p:cNvSpPr txBox="1"/>
          <p:nvPr/>
        </p:nvSpPr>
        <p:spPr>
          <a:xfrm rot="0" flipH="0" flipV="0">
            <a:off x="885825" y="5143500"/>
            <a:ext cx="1238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BA15C"/>
                </a:solidFill>
                <a:latin typeface="Microsoft YaHei"/>
                <a:ea typeface="Microsoft YaHei"/>
              </a:rPr>
              <a:t>13</a:t>
            </a:r>
            <a:endParaRPr/>
          </a:p>
        </p:txBody>
      </p:sp>
      <p:sp>
        <p:nvSpPr>
          <p:cNvPr id="1205" name="" descr="{&quot;isTemplate&quot;:true,&quot;type&quot;:&quot;text&quot;}"/>
          <p:cNvSpPr txBox="1"/>
          <p:nvPr/>
        </p:nvSpPr>
        <p:spPr>
          <a:xfrm rot="0" flipH="0" flipV="0">
            <a:off x="1076325" y="5143500"/>
            <a:ext cx="762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版本号与变更记录</a:t>
            </a:r>
            <a:endParaRPr/>
          </a:p>
        </p:txBody>
      </p:sp>
      <p:sp>
        <p:nvSpPr>
          <p:cNvPr id="1206" name=""/>
          <p:cNvSpPr/>
          <p:nvPr/>
        </p:nvSpPr>
        <p:spPr>
          <a:xfrm rot="0" flipH="0" flipV="0">
            <a:off x="3419475" y="5095875"/>
            <a:ext cx="2571750" cy="209550"/>
          </a:xfrm>
          <a:prstGeom prst="roundRect">
            <a:avLst>
              <a:gd name="adj" fmla="val 13636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207" name="" descr="{&quot;isTemplate&quot;:true,&quot;type&quot;:&quot;text&quot;}"/>
          <p:cNvSpPr txBox="1"/>
          <p:nvPr/>
        </p:nvSpPr>
        <p:spPr>
          <a:xfrm rot="0" flipH="0" flipV="0">
            <a:off x="3505200" y="5143500"/>
            <a:ext cx="1238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BA15C"/>
                </a:solidFill>
                <a:latin typeface="Microsoft YaHei"/>
                <a:ea typeface="Microsoft YaHei"/>
              </a:rPr>
              <a:t>14</a:t>
            </a:r>
            <a:endParaRPr/>
          </a:p>
        </p:txBody>
      </p:sp>
      <p:sp>
        <p:nvSpPr>
          <p:cNvPr id="1208" name="" descr="{&quot;isTemplate&quot;:true,&quot;type&quot;:&quot;text&quot;}"/>
          <p:cNvSpPr txBox="1"/>
          <p:nvPr/>
        </p:nvSpPr>
        <p:spPr>
          <a:xfrm rot="0" flipH="0" flipV="0">
            <a:off x="3695700" y="5143500"/>
            <a:ext cx="857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权限基线与用途集合</a:t>
            </a:r>
            <a:endParaRPr/>
          </a:p>
        </p:txBody>
      </p:sp>
      <p:sp>
        <p:nvSpPr>
          <p:cNvPr id="1209" name="" descr="{&quot;isTemplate&quot;:true,&quot;type&quot;:&quot;text&quot;}"/>
          <p:cNvSpPr txBox="1"/>
          <p:nvPr/>
        </p:nvSpPr>
        <p:spPr>
          <a:xfrm rot="0" flipH="0" flipV="0">
            <a:off x="800100" y="5372100"/>
            <a:ext cx="10591800" cy="1619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第</a:t>
            </a:r>
            <a:r>
              <a:rPr lang="en-US" sz="7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 xml:space="preserve"> 14 </a:t>
            </a:r>
            <a:r>
              <a:rPr lang="zh-CN" sz="7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项「权限基线与用途集合」是其他各册都没有的——它让同一个指标在不同场景下可以有多个有据可依的取值。</a:t>
            </a:r>
            <a:endParaRPr/>
          </a:p>
        </p:txBody>
      </p:sp>
      <p:sp>
        <p:nvSpPr>
          <p:cNvPr id="1210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211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12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指标体系咨询方法论</a:t>
            </a:r>
            <a:endParaRPr/>
          </a:p>
        </p:txBody>
      </p:sp>
      <p:sp>
        <p:nvSpPr>
          <p:cNvPr id="1213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27 / 30</a:t>
            </a:r>
            <a:endParaRPr/>
          </a:p>
        </p:txBody>
      </p:sp>
    </p:spTree>
  </p:cSld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1214" name="" descr="&lt;Slide style={{ width: 1280, height: 720, background: '#FFFFFF', padding: '24px 64px 0' }}&gt;&#10;  &lt;Box style={{ height: 96, flexDirection: 'column', justifyContent: 'flex-start' }}&gt;&#10;    &lt;Text style={{ fontSize: 32, fontWeight: 'bold', color: '#0F1423' }}&gt;&#10;      AA 怎么消费口径，TA 怎么把口径&lt;span style={{ color: '#FA4F24' }}&gt;算出来&lt;/span&gt;&#10;    &lt;/Text&gt;&#10;    &lt;Text style={{ fontSize: 20, color: '#8A8F99', marginTop: 8 }}&gt;问数、驾驶舱、场景化指标集是三档不同的应用形态；计算侧要给出可解释、可回放、可回滚&lt;/Text&gt;&#10;  &lt;/Box&gt;&#10;  &lt;Box style={{ height: 1, background: '#E8E8E8' }} /&gt;&#10;&#10;  &lt;Box style={{ paddingTop: 14, paddingBottom: 8, height: 479, flexDirection: 'column', gap: 10 }}&gt;&#10;    &lt;Box style={{ flex: 1, flexDirection: 'row', gap: 10 }}&gt;&#10;      &lt;Box style={{ flex: 1, background: '#F7F7F8', borderRadius: 4, borderTop: '4px solid #FA4F24', padding: '12px 16px', flexDirection: 'column' }}&gt;&#10;        &lt;Box style={{ flexDirection: 'row', alignItems: 'center', gap: 9 }}&gt;&#10;          &lt;Text style={{ fontSize: 22, fontWeight: 'bold', color: '#FA4F24' }}&gt;AA&lt;/Text&gt;&#10;          &lt;Text style={{ fontSize: 15, fontWeight: 'bold', color: '#0F1423' }}&gt;应用架构：三档消费形态&lt;/Text&gt;&#10;        &lt;/Box&gt;&#10;        &lt;Box style={{ marginTop: 10, gap: 6, flex: 1 }}&gt;&#10;          {[&#10;            { t: '场景化指标集（推荐起点）', d: '一个问数场景配一组最小可用指标，口径从注册表取，不允许现场写公式' },&#10;            { t: '管理驾驶舱', d: '面向固定决策视图，每个卡片标注口径版本与权限基线；口径变更要能提示到卡片' },&#10;            { t: '问数 / ChatBI', d: '自然语言入口，但必须走「按口径取数」的接口，返回值附口径标识与版本' },&#10;          ].map((x) =&gt; (&#10;            &lt;Box key={x.t} style={{ flex: 1, background: '#FFFFFF', borderRadius: 3, borderLeft: '3px solid #FA4F24', padding: '6px 11px', justifyContent: 'center' }}&gt;&#10;              &lt;Text style={{ fontSize: 11.5, fontWeight: 'bold', color: '#0F1423' }}&gt;{x.t}&lt;/Text&gt;&#10;              &lt;Text style={{ fontSize: 10.5, color: '#5A6070', marginTop: 3, lineHeight: 1.4 }}&gt;{x.d}&lt;/Text&gt;&#10;            &lt;/Box&gt;&#10;          ))}&#10;        &lt;/Box&gt;&#10;        &lt;Box style={{ background: '#FFF3EE', borderRadius: 3, padding: '6px 11px', marginTop: 8 }}&gt;&#10;          &lt;Text style={{ fontSize: 10.5, color: '#C43A17', lineHeight: 1.45 }}&gt;&#10;            推进顺序建议：先做场景化指标集，因为它验证的是「口径能不能被消费方正确取用」，这件事验证不过，做驾驶舱也没意义。&#10;          &lt;/Text&gt;&#10;        &lt;/Box&gt;&#10;      &lt;/Box&gt;&#10;&#10;      &lt;Box style={{ flex: 1, background: '#0F1423', borderRadius: 4, padding: '12px 18px', flexDirection: 'column' }}&gt;&#10;        &lt;Box style={{ flexDirection: 'row', alignItems: 'center', gap: 9 }}&gt;&#10;          &lt;Text style={{ fontSize: 22, fontWeight: 'bold', color: '#FBA15C' }}&gt;TA&lt;/Text&gt;&#10;          &lt;Text style={{ fontSize: 15, fontWeight: 'bold', color: '#FFFFFF' }}&gt;技术架构：计算三要求&lt;/Text&gt;&#10;        &lt;/Box&gt;&#10;        &lt;Box style={{ marginTop: 10, gap: 7, flex: 1 }}&gt;&#10;          {[&#10;            { n: '01', t: '可解释', d: '每个返回值能展开成计算链路：走了哪些对象、哪些链接跳、用的哪版公式' },&#10;            { n: '02', t: '可回放', d: '给定口径版本与时点，能重放历史结果，验证「昨天和今天为什么不一样」' },&#10;            { n: '03', t: '可回滚', d: '口径版本切换是开关操作，不依赖重跑历史数据，分钟级可退' },&#10;          ].map((x) =&gt; (&#10;            &lt;Box key={x.n} style={{ flex: 1, background: 'rgba(255,255,255,0.07)', borderRadius: 3, borderLeft: '3px solid #FBA15C', padding: '7px 12px', justifyContent: 'center' }}&gt;&#10;              &lt;Box style={{ flexDirection: 'row', alignItems: 'center', gap: 8 }}&gt;&#10;                &lt;Text style={{ fontSize: 10.5, fontWeight: 'bold', color: '#FBA15C' }}&gt;{x.n}&lt;/Text&gt;&#10;                &lt;Text style={{ fontSize: 12, fontWeight: 'bold', color: '#FFFFFF' }}&gt;{x.t}&lt;/Text&gt;&#10;              &lt;/Box&gt;&#10;              &lt;Text style={{ fontSize: 10.5, color: 'rgba(255,255,255,0.78)', marginTop: 4, lineHeight: 1.45 }}&gt;{x.d}&lt;/Text&gt;&#10;            &lt;/Box&gt;&#10;          ))}&#10;        &lt;/Box&gt;&#10;        &lt;Box style={{ background: 'rgba(250,79,36,0.18)', borderRadius: 3, padding: '7px 11px', marginTop: 8 }}&gt;&#10;          &lt;Text style={{ fontSize: 10.5, color: 'rgba(255,255,255,0.9)', lineHeight: 1.45 }}&gt;&#10;            附加要求：&lt;tspan style={{ fontWeight: 'bold', color: '#FBA15C' }}&gt;excludedItems 与近似标志必须落库&lt;/tspan&gt;。被丢弃的分组数与准确性标志，是指标静默失真的两个直接证据。&#10;          &lt;/Text&gt;&#10;        &lt;/Box&gt;&#10;      &lt;/Box&gt;&#10;    &lt;/Box&gt;&#10;&#10;    &lt;Box style={{ flex: 0.72, background: '#FFF3EE', borderRadius: 4, padding: '10px 18px', flexDirection: 'row', alignItems: 'center', gap: 16 }}&gt;&#10;      &lt;Text style={{ fontSize: 13, fontWeight: 'bold', color: '#C43A17', width: 122 }}&gt;与第十册的不同&lt;/Text&gt;&#10;      &lt;Box style={{ width: 1, height: 30, background: '#FBA15C' }} /&gt;&#10;      &lt;Text style={{ fontSize: 11.5, color: '#3A4050', lineHeight: 1.5, flex: 1 }}&gt;&#10;        主数据的技术关键是&lt;tspan style={{ fontWeight: 'bold' }}&gt;撤销&lt;/tspan&gt;（合并不覆盖）；指标的技术关键是&lt;tspan style={{ fontWeight: 'bold' }}&gt;版本&lt;/tspan&gt;（口径不改历史）。前者管的是「错了怎么退」，后者管的是「变了怎么讲清楚」——但两者都必须先有血缘与版本，才谈得上退与讲。&#10;      &lt;/Text&gt;&#10;    &lt;/Box&gt;&#10;  &lt;/Box&gt;&#10;&#10;  &lt;Box style={{ height: 58, flexDirection: 'row', alignItems: 'center', borderTop: '1px solid #E8E8E8' }}&gt;&#10;    &lt;Box style={{ width: 10, height: 10, background: '#FA4F24' }} /&gt;&#10;    &lt;Text style={{ fontSize: 13, color: '#8A8F99', marginLeft: 12 }}&gt;硕磐机密 · 指标体系咨询方法论&lt;/Text&gt;&#10;    &lt;Text style={{ fontSize: 13, color: '#8A8F99', marginLeft: 'auto' }}&gt;28 / 3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16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AA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怎么消费口径，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TA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怎么把口径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算出来</a:t>
            </a:r>
            <a:endParaRPr/>
          </a:p>
        </p:txBody>
      </p:sp>
      <p:sp>
        <p:nvSpPr>
          <p:cNvPr id="1217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问数、驾驶舱、场景化指标集是三档不同的应用形态；计算侧要给出可解释、可回放、可回滚</a:t>
            </a:r>
            <a:endParaRPr/>
          </a:p>
        </p:txBody>
      </p:sp>
      <p:sp>
        <p:nvSpPr>
          <p:cNvPr id="1218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219" name=""/>
          <p:cNvSpPr/>
          <p:nvPr/>
        </p:nvSpPr>
        <p:spPr>
          <a:xfrm rot="0" flipH="0" flipV="0">
            <a:off x="609600" y="1323975"/>
            <a:ext cx="5438775" cy="3286125"/>
          </a:xfrm>
          <a:prstGeom prst="roundRect">
            <a:avLst>
              <a:gd name="adj" fmla="val 115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20" name=""/>
          <p:cNvSpPr/>
          <p:nvPr/>
        </p:nvSpPr>
        <p:spPr>
          <a:xfrm rot="0" flipH="0" flipV="0">
            <a:off x="609600" y="1323975"/>
            <a:ext cx="5438775" cy="3286125"/>
          </a:xfrm>
          <a:custGeom>
            <a:pathLst>
              <a:path w="571" h="345">
                <a:moveTo>
                  <a:pt x="567" y="0"/>
                </a:moveTo>
                <a:cubicBezTo>
                  <a:pt x="569" y="0"/>
                  <a:pt x="571" y="2"/>
                  <a:pt x="571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67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21" name="" descr="{&quot;isTemplate&quot;:true,&quot;type&quot;:&quot;text&quot;}"/>
          <p:cNvSpPr txBox="1"/>
          <p:nvPr/>
        </p:nvSpPr>
        <p:spPr>
          <a:xfrm rot="0" flipH="0" flipV="0">
            <a:off x="762000" y="1438275"/>
            <a:ext cx="323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A4F24"/>
                </a:solidFill>
                <a:latin typeface="Microsoft YaHei"/>
                <a:ea typeface="Microsoft YaHei"/>
              </a:rPr>
              <a:t>AA</a:t>
            </a:r>
            <a:endParaRPr/>
          </a:p>
        </p:txBody>
      </p:sp>
      <p:sp>
        <p:nvSpPr>
          <p:cNvPr id="1222" name="" descr="{&quot;isTemplate&quot;:true,&quot;type&quot;:&quot;text&quot;}"/>
          <p:cNvSpPr txBox="1"/>
          <p:nvPr/>
        </p:nvSpPr>
        <p:spPr>
          <a:xfrm rot="0" flipH="0" flipV="0">
            <a:off x="1171575" y="1485900"/>
            <a:ext cx="1571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应用架构：三档消费形态</a:t>
            </a:r>
            <a:endParaRPr/>
          </a:p>
        </p:txBody>
      </p:sp>
      <p:sp>
        <p:nvSpPr>
          <p:cNvPr id="1223" name=""/>
          <p:cNvSpPr/>
          <p:nvPr/>
        </p:nvSpPr>
        <p:spPr>
          <a:xfrm rot="0" flipH="0" flipV="0">
            <a:off x="790575" y="1790700"/>
            <a:ext cx="5133975" cy="66675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24" name=""/>
          <p:cNvSpPr/>
          <p:nvPr/>
        </p:nvSpPr>
        <p:spPr>
          <a:xfrm rot="0" flipH="0" flipV="0">
            <a:off x="790575" y="1790700"/>
            <a:ext cx="5133975" cy="666750"/>
          </a:xfrm>
          <a:custGeom>
            <a:pathLst>
              <a:path w="539" h="70">
                <a:moveTo>
                  <a:pt x="3" y="70"/>
                </a:moveTo>
                <a:cubicBezTo>
                  <a:pt x="1" y="70"/>
                  <a:pt x="0" y="69"/>
                  <a:pt x="0" y="6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7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25" name="" descr="{&quot;isTemplate&quot;:true,&quot;type&quot;:&quot;text&quot;}"/>
          <p:cNvSpPr txBox="1"/>
          <p:nvPr/>
        </p:nvSpPr>
        <p:spPr>
          <a:xfrm rot="0" flipH="0" flipV="0">
            <a:off x="895350" y="1962150"/>
            <a:ext cx="4895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场景化指标集（推荐起点）</a:t>
            </a:r>
            <a:endParaRPr/>
          </a:p>
        </p:txBody>
      </p:sp>
      <p:sp>
        <p:nvSpPr>
          <p:cNvPr id="1226" name="" descr="{&quot;isTemplate&quot;:true,&quot;type&quot;:&quot;text&quot;}"/>
          <p:cNvSpPr txBox="1"/>
          <p:nvPr/>
        </p:nvSpPr>
        <p:spPr>
          <a:xfrm rot="0" flipH="0" flipV="0">
            <a:off x="895350" y="2124075"/>
            <a:ext cx="489585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一个问数场景配一组最小可用指标，口径从注册表取，不允许现场写公式</a:t>
            </a:r>
            <a:endParaRPr/>
          </a:p>
        </p:txBody>
      </p:sp>
      <p:sp>
        <p:nvSpPr>
          <p:cNvPr id="1227" name=""/>
          <p:cNvSpPr/>
          <p:nvPr/>
        </p:nvSpPr>
        <p:spPr>
          <a:xfrm rot="0" flipH="0" flipV="0">
            <a:off x="790575" y="2514600"/>
            <a:ext cx="5133975" cy="676275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28" name=""/>
          <p:cNvSpPr/>
          <p:nvPr/>
        </p:nvSpPr>
        <p:spPr>
          <a:xfrm rot="0" flipH="0" flipV="0">
            <a:off x="790575" y="2514600"/>
            <a:ext cx="5133975" cy="676275"/>
          </a:xfrm>
          <a:custGeom>
            <a:pathLst>
              <a:path w="539" h="71">
                <a:moveTo>
                  <a:pt x="3" y="71"/>
                </a:moveTo>
                <a:cubicBezTo>
                  <a:pt x="1" y="71"/>
                  <a:pt x="0" y="70"/>
                  <a:pt x="0" y="6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7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29" name="" descr="{&quot;isTemplate&quot;:true,&quot;type&quot;:&quot;text&quot;}"/>
          <p:cNvSpPr txBox="1"/>
          <p:nvPr/>
        </p:nvSpPr>
        <p:spPr>
          <a:xfrm rot="0" flipH="0" flipV="0">
            <a:off x="895350" y="2686050"/>
            <a:ext cx="4895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管理驾驶舱</a:t>
            </a:r>
            <a:endParaRPr/>
          </a:p>
        </p:txBody>
      </p:sp>
      <p:sp>
        <p:nvSpPr>
          <p:cNvPr id="1230" name="" descr="{&quot;isTemplate&quot;:true,&quot;type&quot;:&quot;text&quot;}"/>
          <p:cNvSpPr txBox="1"/>
          <p:nvPr/>
        </p:nvSpPr>
        <p:spPr>
          <a:xfrm rot="0" flipH="0" flipV="0">
            <a:off x="895350" y="2847975"/>
            <a:ext cx="489585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面向固定决策视图，每个卡片标注口径版本与权限基线；口径变更要能提示到卡片</a:t>
            </a:r>
            <a:endParaRPr/>
          </a:p>
        </p:txBody>
      </p:sp>
      <p:sp>
        <p:nvSpPr>
          <p:cNvPr id="1231" name=""/>
          <p:cNvSpPr/>
          <p:nvPr/>
        </p:nvSpPr>
        <p:spPr>
          <a:xfrm rot="0" flipH="0" flipV="0">
            <a:off x="790575" y="3248025"/>
            <a:ext cx="5133975" cy="66675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32" name=""/>
          <p:cNvSpPr/>
          <p:nvPr/>
        </p:nvSpPr>
        <p:spPr>
          <a:xfrm rot="0" flipH="0" flipV="0">
            <a:off x="790575" y="3248025"/>
            <a:ext cx="5133975" cy="666750"/>
          </a:xfrm>
          <a:custGeom>
            <a:pathLst>
              <a:path w="539" h="70">
                <a:moveTo>
                  <a:pt x="3" y="70"/>
                </a:moveTo>
                <a:cubicBezTo>
                  <a:pt x="1" y="70"/>
                  <a:pt x="0" y="69"/>
                  <a:pt x="0" y="6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7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33" name="" descr="{&quot;isTemplate&quot;:true,&quot;type&quot;:&quot;text&quot;}"/>
          <p:cNvSpPr txBox="1"/>
          <p:nvPr/>
        </p:nvSpPr>
        <p:spPr>
          <a:xfrm rot="0" flipH="0" flipV="0">
            <a:off x="895350" y="3419475"/>
            <a:ext cx="4895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0F1423"/>
                </a:solidFill>
                <a:latin typeface="Microsoft YaHei"/>
                <a:ea typeface="Microsoft YaHei"/>
              </a:rPr>
              <a:t>问数</a:t>
            </a:r>
            <a:r>
              <a:rPr lang="en-US" sz="863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/ ChatBI</a:t>
            </a:r>
            <a:endParaRPr/>
          </a:p>
        </p:txBody>
      </p:sp>
      <p:sp>
        <p:nvSpPr>
          <p:cNvPr id="1234" name="" descr="{&quot;isTemplate&quot;:true,&quot;type&quot;:&quot;text&quot;}"/>
          <p:cNvSpPr txBox="1"/>
          <p:nvPr/>
        </p:nvSpPr>
        <p:spPr>
          <a:xfrm rot="0" flipH="0" flipV="0">
            <a:off x="895350" y="3581400"/>
            <a:ext cx="489585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自然语言入口，但必须走「按口径取数」的接口，返回值附口径标识与版本</a:t>
            </a:r>
            <a:endParaRPr/>
          </a:p>
        </p:txBody>
      </p:sp>
      <p:sp>
        <p:nvSpPr>
          <p:cNvPr id="1235" name=""/>
          <p:cNvSpPr/>
          <p:nvPr/>
        </p:nvSpPr>
        <p:spPr>
          <a:xfrm rot="0" flipH="0" flipV="0">
            <a:off x="762000" y="3990975"/>
            <a:ext cx="5133975" cy="466725"/>
          </a:xfrm>
          <a:prstGeom prst="roundRect">
            <a:avLst>
              <a:gd name="adj" fmla="val 6122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236" name="" descr="{&quot;isTemplate&quot;:true,&quot;type&quot;:&quot;text&quot;}"/>
          <p:cNvSpPr txBox="1"/>
          <p:nvPr/>
        </p:nvSpPr>
        <p:spPr>
          <a:xfrm rot="0" flipH="0" flipV="0">
            <a:off x="866775" y="4048125"/>
            <a:ext cx="4924425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788">
                <a:solidFill>
                  <a:srgbClr val="C43A17"/>
                </a:solidFill>
                <a:latin typeface="Microsoft YaHei"/>
                <a:ea typeface="Microsoft YaHei"/>
              </a:rPr>
              <a:t>推进顺序建议：先做场景化指标集，因为它验证的是「口径能不能被消费方正确取用」，这件事验证不过，做驾驶舱也没意义。</a:t>
            </a:r>
            <a:endParaRPr/>
          </a:p>
        </p:txBody>
      </p:sp>
      <p:sp>
        <p:nvSpPr>
          <p:cNvPr id="1237" name=""/>
          <p:cNvSpPr/>
          <p:nvPr/>
        </p:nvSpPr>
        <p:spPr>
          <a:xfrm rot="0" flipH="0" flipV="0">
            <a:off x="6143625" y="1285875"/>
            <a:ext cx="5438775" cy="3286125"/>
          </a:xfrm>
          <a:prstGeom prst="roundRect">
            <a:avLst>
              <a:gd name="adj" fmla="val 1159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238" name="" descr="{&quot;isTemplate&quot;:true,&quot;type&quot;:&quot;text&quot;}"/>
          <p:cNvSpPr txBox="1"/>
          <p:nvPr/>
        </p:nvSpPr>
        <p:spPr>
          <a:xfrm rot="0" flipH="0" flipV="0">
            <a:off x="6315075" y="1400175"/>
            <a:ext cx="2762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BA15C"/>
                </a:solidFill>
                <a:latin typeface="Microsoft YaHei"/>
                <a:ea typeface="Microsoft YaHei"/>
              </a:rPr>
              <a:t>TA</a:t>
            </a:r>
            <a:endParaRPr/>
          </a:p>
        </p:txBody>
      </p:sp>
      <p:sp>
        <p:nvSpPr>
          <p:cNvPr id="1239" name="" descr="{&quot;isTemplate&quot;:true,&quot;type&quot;:&quot;text&quot;}"/>
          <p:cNvSpPr txBox="1"/>
          <p:nvPr/>
        </p:nvSpPr>
        <p:spPr>
          <a:xfrm rot="0" flipH="0" flipV="0">
            <a:off x="6677025" y="1447800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技术架构：计算三要求</a:t>
            </a:r>
            <a:endParaRPr/>
          </a:p>
        </p:txBody>
      </p:sp>
      <p:sp>
        <p:nvSpPr>
          <p:cNvPr id="1240" name=""/>
          <p:cNvSpPr/>
          <p:nvPr/>
        </p:nvSpPr>
        <p:spPr>
          <a:xfrm rot="0" flipH="0" flipV="0">
            <a:off x="6343650" y="1752600"/>
            <a:ext cx="5095875" cy="666750"/>
          </a:xfrm>
          <a:prstGeom prst="roundRect">
            <a:avLst>
              <a:gd name="adj" fmla="val 4286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241" name=""/>
          <p:cNvSpPr/>
          <p:nvPr/>
        </p:nvSpPr>
        <p:spPr>
          <a:xfrm rot="0" flipH="0" flipV="0">
            <a:off x="6343650" y="1752600"/>
            <a:ext cx="5095875" cy="666750"/>
          </a:xfrm>
          <a:custGeom>
            <a:pathLst>
              <a:path w="535" h="70">
                <a:moveTo>
                  <a:pt x="3" y="70"/>
                </a:moveTo>
                <a:cubicBezTo>
                  <a:pt x="1" y="70"/>
                  <a:pt x="0" y="69"/>
                  <a:pt x="0" y="6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7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242" name="" descr="{&quot;isTemplate&quot;:true,&quot;type&quot;:&quot;text&quot;}"/>
          <p:cNvSpPr txBox="1"/>
          <p:nvPr/>
        </p:nvSpPr>
        <p:spPr>
          <a:xfrm rot="0" flipH="0" flipV="0">
            <a:off x="6457950" y="1914525"/>
            <a:ext cx="1238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FBA15C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243" name="" descr="{&quot;isTemplate&quot;:true,&quot;type&quot;:&quot;text&quot;}"/>
          <p:cNvSpPr txBox="1"/>
          <p:nvPr/>
        </p:nvSpPr>
        <p:spPr>
          <a:xfrm rot="0" flipH="0" flipV="0">
            <a:off x="6657975" y="1905000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可解释</a:t>
            </a:r>
            <a:endParaRPr/>
          </a:p>
        </p:txBody>
      </p:sp>
      <p:sp>
        <p:nvSpPr>
          <p:cNvPr id="1244" name="" descr="{&quot;isTemplate&quot;:true,&quot;type&quot;:&quot;text&quot;}"/>
          <p:cNvSpPr txBox="1"/>
          <p:nvPr/>
        </p:nvSpPr>
        <p:spPr>
          <a:xfrm rot="0" flipH="0" flipV="0">
            <a:off x="6457950" y="2085975"/>
            <a:ext cx="483870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每个返回值能展开成计算链路：走了哪些对象、哪些链接跳、用的哪版公式</a:t>
            </a:r>
            <a:endParaRPr/>
          </a:p>
        </p:txBody>
      </p:sp>
      <p:sp>
        <p:nvSpPr>
          <p:cNvPr id="1245" name=""/>
          <p:cNvSpPr/>
          <p:nvPr/>
        </p:nvSpPr>
        <p:spPr>
          <a:xfrm rot="0" flipH="0" flipV="0">
            <a:off x="6343650" y="2486025"/>
            <a:ext cx="5095875" cy="676275"/>
          </a:xfrm>
          <a:prstGeom prst="roundRect">
            <a:avLst>
              <a:gd name="adj" fmla="val 4225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246" name=""/>
          <p:cNvSpPr/>
          <p:nvPr/>
        </p:nvSpPr>
        <p:spPr>
          <a:xfrm rot="0" flipH="0" flipV="0">
            <a:off x="6343650" y="2486025"/>
            <a:ext cx="5095875" cy="676275"/>
          </a:xfrm>
          <a:custGeom>
            <a:pathLst>
              <a:path w="535" h="71">
                <a:moveTo>
                  <a:pt x="3" y="71"/>
                </a:moveTo>
                <a:cubicBezTo>
                  <a:pt x="1" y="71"/>
                  <a:pt x="0" y="70"/>
                  <a:pt x="0" y="6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7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247" name="" descr="{&quot;isTemplate&quot;:true,&quot;type&quot;:&quot;text&quot;}"/>
          <p:cNvSpPr txBox="1"/>
          <p:nvPr/>
        </p:nvSpPr>
        <p:spPr>
          <a:xfrm rot="0" flipH="0" flipV="0">
            <a:off x="6457950" y="2657475"/>
            <a:ext cx="1238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FBA15C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248" name="" descr="{&quot;isTemplate&quot;:true,&quot;type&quot;:&quot;text&quot;}"/>
          <p:cNvSpPr txBox="1"/>
          <p:nvPr/>
        </p:nvSpPr>
        <p:spPr>
          <a:xfrm rot="0" flipH="0" flipV="0">
            <a:off x="6657975" y="2647950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可回放</a:t>
            </a:r>
            <a:endParaRPr/>
          </a:p>
        </p:txBody>
      </p:sp>
      <p:sp>
        <p:nvSpPr>
          <p:cNvPr id="1249" name="" descr="{&quot;isTemplate&quot;:true,&quot;type&quot;:&quot;text&quot;}"/>
          <p:cNvSpPr txBox="1"/>
          <p:nvPr/>
        </p:nvSpPr>
        <p:spPr>
          <a:xfrm rot="0" flipH="0" flipV="0">
            <a:off x="6457950" y="2828925"/>
            <a:ext cx="483870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给定口径版本与时点，能重放历史结果，验证「昨天和今天为什么不一样」</a:t>
            </a:r>
            <a:endParaRPr/>
          </a:p>
        </p:txBody>
      </p:sp>
      <p:sp>
        <p:nvSpPr>
          <p:cNvPr id="1250" name=""/>
          <p:cNvSpPr/>
          <p:nvPr/>
        </p:nvSpPr>
        <p:spPr>
          <a:xfrm rot="0" flipH="0" flipV="0">
            <a:off x="6343650" y="3228975"/>
            <a:ext cx="5095875" cy="666750"/>
          </a:xfrm>
          <a:prstGeom prst="roundRect">
            <a:avLst>
              <a:gd name="adj" fmla="val 4286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251" name=""/>
          <p:cNvSpPr/>
          <p:nvPr/>
        </p:nvSpPr>
        <p:spPr>
          <a:xfrm rot="0" flipH="0" flipV="0">
            <a:off x="6343650" y="3228975"/>
            <a:ext cx="5095875" cy="666750"/>
          </a:xfrm>
          <a:custGeom>
            <a:pathLst>
              <a:path w="535" h="70">
                <a:moveTo>
                  <a:pt x="3" y="70"/>
                </a:moveTo>
                <a:cubicBezTo>
                  <a:pt x="1" y="70"/>
                  <a:pt x="0" y="69"/>
                  <a:pt x="0" y="6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7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252" name="" descr="{&quot;isTemplate&quot;:true,&quot;type&quot;:&quot;text&quot;}"/>
          <p:cNvSpPr txBox="1"/>
          <p:nvPr/>
        </p:nvSpPr>
        <p:spPr>
          <a:xfrm rot="0" flipH="0" flipV="0">
            <a:off x="6457950" y="3390900"/>
            <a:ext cx="1238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FBA15C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253" name="" descr="{&quot;isTemplate&quot;:true,&quot;type&quot;:&quot;text&quot;}"/>
          <p:cNvSpPr txBox="1"/>
          <p:nvPr/>
        </p:nvSpPr>
        <p:spPr>
          <a:xfrm rot="0" flipH="0" flipV="0">
            <a:off x="6657975" y="338137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可回滚</a:t>
            </a:r>
            <a:endParaRPr/>
          </a:p>
        </p:txBody>
      </p:sp>
      <p:sp>
        <p:nvSpPr>
          <p:cNvPr id="1254" name="" descr="{&quot;isTemplate&quot;:true,&quot;type&quot;:&quot;text&quot;}"/>
          <p:cNvSpPr txBox="1"/>
          <p:nvPr/>
        </p:nvSpPr>
        <p:spPr>
          <a:xfrm rot="0" flipH="0" flipV="0">
            <a:off x="6457950" y="3562350"/>
            <a:ext cx="4838700" cy="1809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</a:rPr>
              <a:t>口径版本切换是开关操作，不依赖重跑历史数据，分钟级可退</a:t>
            </a:r>
            <a:endParaRPr/>
          </a:p>
        </p:txBody>
      </p:sp>
      <p:sp>
        <p:nvSpPr>
          <p:cNvPr id="1255" name=""/>
          <p:cNvSpPr/>
          <p:nvPr/>
        </p:nvSpPr>
        <p:spPr>
          <a:xfrm rot="0" flipH="0" flipV="0">
            <a:off x="6315075" y="3971925"/>
            <a:ext cx="5095875" cy="485775"/>
          </a:xfrm>
          <a:prstGeom prst="roundRect">
            <a:avLst>
              <a:gd name="adj" fmla="val 5882"/>
            </a:avLst>
          </a:prstGeom>
          <a:solidFill>
            <a:srgbClr val="FA4F24">
              <a:alpha val="18000"/>
            </a:srgbClr>
          </a:solidFill>
          <a:ln/>
        </p:spPr>
        <p:txBody>
          <a:bodyPr/>
          <a:p/>
        </p:txBody>
      </p:sp>
      <p:sp>
        <p:nvSpPr>
          <p:cNvPr id="1256" name="" descr="{&quot;isTemplate&quot;:true,&quot;type&quot;:&quot;text&quot;}"/>
          <p:cNvSpPr txBox="1"/>
          <p:nvPr/>
        </p:nvSpPr>
        <p:spPr>
          <a:xfrm rot="0" flipH="0" flipV="0">
            <a:off x="6419850" y="4038600"/>
            <a:ext cx="4886325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788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附加要求：</a:t>
            </a:r>
            <a:r>
              <a:rPr lang="en-US" sz="788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excludedItems </a:t>
            </a:r>
            <a:r>
              <a:rPr lang="zh-CN" sz="788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与近似标志必须落库</a:t>
            </a:r>
            <a:r>
              <a:rPr lang="zh-CN" sz="788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。被丢弃的分组数与准确性标志，是指标静默失真的两个直接证据。</a:t>
            </a:r>
            <a:endParaRPr/>
          </a:p>
        </p:txBody>
      </p:sp>
      <p:sp>
        <p:nvSpPr>
          <p:cNvPr id="1257" name=""/>
          <p:cNvSpPr/>
          <p:nvPr/>
        </p:nvSpPr>
        <p:spPr>
          <a:xfrm rot="0" flipH="0" flipV="0">
            <a:off x="609600" y="4667250"/>
            <a:ext cx="10972800" cy="971550"/>
          </a:xfrm>
          <a:prstGeom prst="roundRect">
            <a:avLst>
              <a:gd name="adj" fmla="val 3922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258" name="" descr="{&quot;isTemplate&quot;:true,&quot;type&quot;:&quot;text&quot;}"/>
          <p:cNvSpPr txBox="1"/>
          <p:nvPr/>
        </p:nvSpPr>
        <p:spPr>
          <a:xfrm rot="0" flipH="0" flipV="0">
            <a:off x="781050" y="5076825"/>
            <a:ext cx="1162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与第十册的不同</a:t>
            </a:r>
            <a:endParaRPr/>
          </a:p>
        </p:txBody>
      </p:sp>
      <p:sp>
        <p:nvSpPr>
          <p:cNvPr id="1259" name=""/>
          <p:cNvSpPr/>
          <p:nvPr/>
        </p:nvSpPr>
        <p:spPr>
          <a:xfrm rot="0" flipH="0" flipV="0">
            <a:off x="2095500" y="5010150"/>
            <a:ext cx="9525" cy="285750"/>
          </a:xfrm>
          <a:prstGeom prst="rect">
            <a:avLst/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1260" name="" descr="{&quot;isTemplate&quot;:true,&quot;type&quot;:&quot;text&quot;}"/>
          <p:cNvSpPr txBox="1"/>
          <p:nvPr/>
        </p:nvSpPr>
        <p:spPr>
          <a:xfrm rot="0" flipH="0" flipV="0">
            <a:off x="2257425" y="4953000"/>
            <a:ext cx="9153525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主数据的技术关键是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撤销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（合并不覆盖）；指标的技术关键是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版本</a:t>
            </a:r>
            <a:r>
              <a:rPr lang="zh-CN" sz="863">
                <a:solidFill>
                  <a:srgbClr val="3A4050"/>
                </a:solidFill>
                <a:latin typeface="Microsoft YaHei"/>
                <a:ea typeface="Microsoft YaHei"/>
              </a:rPr>
              <a:t>（口径不改历史）。前者管的是「错了怎么退」，后者管的是「变了怎么讲清楚」——但两者都必须先有血缘与版本，才谈得上退与讲。</a:t>
            </a:r>
            <a:endParaRPr/>
          </a:p>
        </p:txBody>
      </p:sp>
      <p:sp>
        <p:nvSpPr>
          <p:cNvPr id="1261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262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63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指标体系咨询方法论</a:t>
            </a:r>
            <a:endParaRPr/>
          </a:p>
        </p:txBody>
      </p:sp>
      <p:sp>
        <p:nvSpPr>
          <p:cNvPr id="1264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28 / 30</a:t>
            </a:r>
            <a:endParaRPr/>
          </a:p>
        </p:txBody>
      </p:sp>
    </p:spTree>
  </p:cSld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1265" name="" descr="&lt;Slide style={{ width: 1280, height: 720, background: '#FFFFFF', padding: '24px 64px 0' }}&gt;&#10;  &lt;Box style={{ height: 96, flexDirection: 'column', justifyContent: 'flex-start' }}&gt;&#10;    &lt;Text style={{ fontSize: 32, fontWeight: 'bold', color: '#0F1423' }}&gt;&#10;      成熟度五级 · 五类失效 · 十二项评审&#10;    &lt;/Text&gt;&#10;    &lt;Text style={{ fontSize: 20, color: '#8A8F99', marginTop: 8 }}&gt;用这一页给现状定位：先看落在哪一级，再对照五类失效，最后用十二项评审打分&lt;/Text&gt;&#10;  &lt;/Box&gt;&#10;  &lt;Box style={{ height: 1, background: '#E8E8E8' }} /&gt;&#10;&#10;  &lt;Box style={{ paddingTop: 14, paddingBottom: 8, height: 479, flexDirection: 'column', gap: 10 }}&gt;&#10;    &lt;Box style={{ flex: 0.92, flexDirection: 'row', gap: 9 }}&gt;&#10;      {[&#10;        { lv: 'L1', t: '无序', c: '#8A8F99', d: '每个报表自己写公式，指标名靠约定', k: '无注册表' },&#10;        { lv: 'L2', t: '登记', c: '#F87D2F', d: '有指标字典，但只在文档里，值各算各的', k: '文档与实现分叉' },&#10;        { lv: 'L3', t: '可查', c: '#FA4F24', d: '口径进模型，值由派生属性算，口径与值同源', k: '进入本体' },&#10;        { lv: 'L4', t: '受管', c: '#C43A17', d: '变更走提案、有版本、可回滚，权限基线写明', k: '有裁定会有回滚' },&#10;        { lv: 'L5', t: '自愈', c: '#0F1423', d: '静默失效自动检出并告警，Agent 用的是受管口径接口', k: '规则先于人发现' },&#10;      ].map((x) =&gt; (&#10;        &lt;Box key={x.lv} style={{ flex: 1, background: '#F7F7F8', borderRadius: 4, borderTop: '4px solid ' + x.c, padding: '11px 13px', flexDirection: 'column' }}&gt;&#10;          &lt;Box style={{ flexDirection: 'row', alignItems: 'center', gap: 8 }}&gt;&#10;            &lt;Text style={{ fontSize: 17, fontWeight: 'bold', color: x.c }}&gt;{x.lv}&lt;/Text&gt;&#10;            &lt;Text style={{ fontSize: 14, fontWeight: 'bold', color: '#0F1423', flex: 1 }}&gt;{x.t}&lt;/Text&gt;&#10;          &lt;/Box&gt;&#10;          &lt;Text style={{ fontSize: 10.5, color: '#5A6070', marginTop: 8, lineHeight: 1.45, flex: 1 }}&gt;{x.d}&lt;/Text&gt;&#10;          &lt;Box style={{ background: '#FFFFFF', borderRadius: 3, padding: '4px 8px', marginTop: 7 }}&gt;&#10;            &lt;Text style={{ fontSize: 10, fontWeight: 'bold', color: x.c }}&gt;{x.k}&lt;/Text&gt;&#10;          &lt;/Box&gt;&#10;        &lt;/Box&gt;&#10;      ))}&#10;    &lt;/Box&gt;&#10;&#10;    &lt;Box style={{ flex: 0.8, background: '#0F1423', borderRadius: 4, padding: '11px 20px', flexDirection: 'column' }}&gt;&#10;      &lt;Text style={{ fontSize: 13.5, fontWeight: 'bold', color: '#FBA15C' }}&gt;五类典型失效：出现哪一类，就往回退一级&lt;/Text&gt;&#10;      &lt;Box style={{ flexDirection: 'row', gap: 9, marginTop: 9, flex: 1 }}&gt;&#10;        {[&#10;          { t: '同名不同义仍在发生', d: 'L1 / L2 的典型标志，说明登记没落到约束上' },&#10;          { t: '口径与值不同源', d: 'L2 / L3 之间的裂缝，文档还在更新、模型没动' },&#10;          { t: '静默丢数无人知晓', d: 'excludedItems 与近似标志没落库，或落库了没人看' },&#10;          { t: '变更无版本无回滚', d: '出事只能靠人记忆复原，这是 L4 的门槛' },&#10;          { t: 'Agent 读的是过期口径', d: 'L4 / L5 之间的裂缝，知识库切片版本没跟上' },&#10;        ].map((x, i) =&gt; (&#10;          &lt;Box key={i} style={{ flex: 1, background: 'rgba(250,79,36,0.16)', borderRadius: 3, padding: '8px 12px', justifyContent: 'center' }}&gt;&#10;            &lt;Text style={{ fontSize: 11.5, fontWeight: 'bold', color: '#FFFFFF' }}&gt;{i + 1}. {x.t}&lt;/Text&gt;&#10;            &lt;Text style={{ fontSize: 10, color: 'rgba(255,255,255,0.75)', marginTop: 4, lineHeight: 1.4 }}&gt;{x.d}&lt;/Text&gt;&#10;          &lt;/Box&gt;&#10;        ))}&#10;      &lt;/Box&gt;&#10;    &lt;/Box&gt;&#10;&#10;    &lt;Box style={{ flex: 1, background: '#F7F7F8', borderRadius: 4, padding: '11px 20px', flexDirection: 'column' }}&gt;&#10;      &lt;Text style={{ fontSize: 13.5, fontWeight: 'bold', color: '#0F1423' }}&gt;十二项评审清单：每项只能答「是」或「否」，答不出即不合格&lt;/Text&gt;&#10;      &lt;Box style={{ flexDirection: 'row', flexWrap: 'wrap', gap: 6, marginTop: 9, flex: 1 }}&gt;&#10;        {[&#10;          '指标名全公司唯一？', '五元组是否完整无留空？', '时区与截止时点写明？',&#10;          '空值处理策略明确？', '上游依赖已登记可查？', '口径是可执行定义而非文档？',&#10;          '口径与值在同一模型？', '权限基线写明？', '版本号与变更历史完整？',&#10;          '变更附影响面清单？', '静默失效有检出规则？', 'Agent 只调受管口径接口？',&#10;        ].map((t, i) =&gt; (&#10;          &lt;Box key={t} style={{ width: '24.3%', background: '#FFFFFF', borderRadius: 3, borderLeft: '3px solid #FA4F24', padding: '6px 9px', flexDirection: 'row', alignItems: 'center', gap: 7 }}&gt;&#10;            &lt;Text style={{ fontSize: 10, fontWeight: 'bold', color: '#FA4F24' }}&gt;{String(i + 1).padStart(2, '0')}&lt;/Text&gt;&#10;            &lt;Text style={{ fontSize: 10.5, color: '#3A4050' }}&gt;{t}&lt;/Text&gt;&#10;          &lt;/Box&gt;&#10;        ))}&#10;      &lt;/Box&gt;&#10;    &lt;/Box&gt;&#10;  &lt;/Box&gt;&#10;&#10;  &lt;Box style={{ height: 58, flexDirection: 'row', alignItems: 'center', borderTop: '1px solid #E8E8E8' }}&gt;&#10;    &lt;Box style={{ width: 10, height: 10, background: '#FA4F24' }} /&gt;&#10;    &lt;Text style={{ fontSize: 13, color: '#8A8F99', marginLeft: 12 }}&gt;硕磐机密 · 指标体系咨询方法论&lt;/Text&gt;&#10;    &lt;Text style={{ fontSize: 13, color: '#8A8F99', marginLeft: 'auto' }}&gt;29 / 3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67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成熟度五级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五类失效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十二项评审</a:t>
            </a:r>
            <a:endParaRPr/>
          </a:p>
        </p:txBody>
      </p:sp>
      <p:sp>
        <p:nvSpPr>
          <p:cNvPr id="1268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用这一页给现状定位：先看落在哪一级，再对照五类失效，最后用十二项评审打分</a:t>
            </a:r>
            <a:endParaRPr/>
          </a:p>
        </p:txBody>
      </p:sp>
      <p:sp>
        <p:nvSpPr>
          <p:cNvPr id="1269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270" name=""/>
          <p:cNvSpPr/>
          <p:nvPr/>
        </p:nvSpPr>
        <p:spPr>
          <a:xfrm rot="0" flipH="0" flipV="0">
            <a:off x="609600" y="1323975"/>
            <a:ext cx="2124075" cy="1352550"/>
          </a:xfrm>
          <a:prstGeom prst="roundRect">
            <a:avLst>
              <a:gd name="adj" fmla="val 281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71" name=""/>
          <p:cNvSpPr/>
          <p:nvPr/>
        </p:nvSpPr>
        <p:spPr>
          <a:xfrm rot="0" flipH="0" flipV="0">
            <a:off x="609600" y="1323975"/>
            <a:ext cx="2124075" cy="1352550"/>
          </a:xfrm>
          <a:custGeom>
            <a:pathLst>
              <a:path w="223" h="142">
                <a:moveTo>
                  <a:pt x="219" y="0"/>
                </a:moveTo>
                <a:cubicBezTo>
                  <a:pt x="221" y="0"/>
                  <a:pt x="223" y="2"/>
                  <a:pt x="223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19" y="0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1272" name="" descr="{&quot;isTemplate&quot;:true,&quot;type&quot;:&quot;text&quot;}"/>
          <p:cNvSpPr txBox="1"/>
          <p:nvPr/>
        </p:nvSpPr>
        <p:spPr>
          <a:xfrm rot="0" flipH="0" flipV="0">
            <a:off x="733425" y="1428750"/>
            <a:ext cx="19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8A8F99"/>
                </a:solidFill>
                <a:latin typeface="Microsoft YaHei"/>
                <a:ea typeface="Microsoft YaHei"/>
              </a:rPr>
              <a:t>L1</a:t>
            </a:r>
            <a:endParaRPr/>
          </a:p>
        </p:txBody>
      </p:sp>
      <p:sp>
        <p:nvSpPr>
          <p:cNvPr id="1273" name="" descr="{&quot;isTemplate&quot;:true,&quot;type&quot;:&quot;text&quot;}"/>
          <p:cNvSpPr txBox="1"/>
          <p:nvPr/>
        </p:nvSpPr>
        <p:spPr>
          <a:xfrm rot="0" flipH="0" flipV="0">
            <a:off x="1000125" y="1447800"/>
            <a:ext cx="1609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无序</a:t>
            </a:r>
            <a:endParaRPr/>
          </a:p>
        </p:txBody>
      </p:sp>
      <p:sp>
        <p:nvSpPr>
          <p:cNvPr id="1274" name="" descr="{&quot;isTemplate&quot;:true,&quot;type&quot;:&quot;text&quot;}"/>
          <p:cNvSpPr txBox="1"/>
          <p:nvPr/>
        </p:nvSpPr>
        <p:spPr>
          <a:xfrm rot="0" flipH="0" flipV="0">
            <a:off x="733425" y="1704975"/>
            <a:ext cx="1876425" cy="571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每个报表自己写公式，指标名靠约定</a:t>
            </a:r>
            <a:endParaRPr/>
          </a:p>
        </p:txBody>
      </p:sp>
      <p:sp>
        <p:nvSpPr>
          <p:cNvPr id="1275" name=""/>
          <p:cNvSpPr/>
          <p:nvPr/>
        </p:nvSpPr>
        <p:spPr>
          <a:xfrm rot="0" flipH="0" flipV="0">
            <a:off x="733425" y="2343150"/>
            <a:ext cx="1876425" cy="190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76" name="" descr="{&quot;isTemplate&quot;:true,&quot;type&quot;:&quot;text&quot;}"/>
          <p:cNvSpPr txBox="1"/>
          <p:nvPr/>
        </p:nvSpPr>
        <p:spPr>
          <a:xfrm rot="0" flipH="0" flipV="0">
            <a:off x="809625" y="2381250"/>
            <a:ext cx="17240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8A8F99"/>
                </a:solidFill>
                <a:latin typeface="Microsoft YaHei"/>
                <a:ea typeface="Microsoft YaHei"/>
              </a:rPr>
              <a:t>无注册表</a:t>
            </a:r>
            <a:endParaRPr/>
          </a:p>
        </p:txBody>
      </p:sp>
      <p:sp>
        <p:nvSpPr>
          <p:cNvPr id="1277" name=""/>
          <p:cNvSpPr/>
          <p:nvPr/>
        </p:nvSpPr>
        <p:spPr>
          <a:xfrm rot="0" flipH="0" flipV="0">
            <a:off x="2819400" y="1323975"/>
            <a:ext cx="2124075" cy="1352550"/>
          </a:xfrm>
          <a:prstGeom prst="roundRect">
            <a:avLst>
              <a:gd name="adj" fmla="val 281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78" name=""/>
          <p:cNvSpPr/>
          <p:nvPr/>
        </p:nvSpPr>
        <p:spPr>
          <a:xfrm rot="0" flipH="0" flipV="0">
            <a:off x="2819400" y="1323975"/>
            <a:ext cx="2124075" cy="1352550"/>
          </a:xfrm>
          <a:custGeom>
            <a:pathLst>
              <a:path w="223" h="142">
                <a:moveTo>
                  <a:pt x="219" y="0"/>
                </a:moveTo>
                <a:cubicBezTo>
                  <a:pt x="221" y="0"/>
                  <a:pt x="223" y="2"/>
                  <a:pt x="223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19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1279" name="" descr="{&quot;isTemplate&quot;:true,&quot;type&quot;:&quot;text&quot;}"/>
          <p:cNvSpPr txBox="1"/>
          <p:nvPr/>
        </p:nvSpPr>
        <p:spPr>
          <a:xfrm rot="0" flipH="0" flipV="0">
            <a:off x="2943225" y="1428750"/>
            <a:ext cx="19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87D2F"/>
                </a:solidFill>
                <a:latin typeface="Microsoft YaHei"/>
                <a:ea typeface="Microsoft YaHei"/>
              </a:rPr>
              <a:t>L2</a:t>
            </a:r>
            <a:endParaRPr/>
          </a:p>
        </p:txBody>
      </p:sp>
      <p:sp>
        <p:nvSpPr>
          <p:cNvPr id="1280" name="" descr="{&quot;isTemplate&quot;:true,&quot;type&quot;:&quot;text&quot;}"/>
          <p:cNvSpPr txBox="1"/>
          <p:nvPr/>
        </p:nvSpPr>
        <p:spPr>
          <a:xfrm rot="0" flipH="0" flipV="0">
            <a:off x="3209925" y="1447800"/>
            <a:ext cx="1609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登记</a:t>
            </a:r>
            <a:endParaRPr/>
          </a:p>
        </p:txBody>
      </p:sp>
      <p:sp>
        <p:nvSpPr>
          <p:cNvPr id="1281" name="" descr="{&quot;isTemplate&quot;:true,&quot;type&quot;:&quot;text&quot;}"/>
          <p:cNvSpPr txBox="1"/>
          <p:nvPr/>
        </p:nvSpPr>
        <p:spPr>
          <a:xfrm rot="0" flipH="0" flipV="0">
            <a:off x="2943225" y="1704975"/>
            <a:ext cx="1876425" cy="571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有指标字典，但只在文档里，值各算各的</a:t>
            </a:r>
            <a:endParaRPr/>
          </a:p>
        </p:txBody>
      </p:sp>
      <p:sp>
        <p:nvSpPr>
          <p:cNvPr id="1282" name=""/>
          <p:cNvSpPr/>
          <p:nvPr/>
        </p:nvSpPr>
        <p:spPr>
          <a:xfrm rot="0" flipH="0" flipV="0">
            <a:off x="2943225" y="2343150"/>
            <a:ext cx="1876425" cy="190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83" name="" descr="{&quot;isTemplate&quot;:true,&quot;type&quot;:&quot;text&quot;}"/>
          <p:cNvSpPr txBox="1"/>
          <p:nvPr/>
        </p:nvSpPr>
        <p:spPr>
          <a:xfrm rot="0" flipH="0" flipV="0">
            <a:off x="3019425" y="2381250"/>
            <a:ext cx="17240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F87D2F"/>
                </a:solidFill>
                <a:latin typeface="Microsoft YaHei"/>
                <a:ea typeface="Microsoft YaHei"/>
              </a:rPr>
              <a:t>文档与实现分叉</a:t>
            </a:r>
            <a:endParaRPr/>
          </a:p>
        </p:txBody>
      </p:sp>
      <p:sp>
        <p:nvSpPr>
          <p:cNvPr id="1284" name=""/>
          <p:cNvSpPr/>
          <p:nvPr/>
        </p:nvSpPr>
        <p:spPr>
          <a:xfrm rot="0" flipH="0" flipV="0">
            <a:off x="5029200" y="1323975"/>
            <a:ext cx="2133600" cy="1352550"/>
          </a:xfrm>
          <a:prstGeom prst="roundRect">
            <a:avLst>
              <a:gd name="adj" fmla="val 281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85" name=""/>
          <p:cNvSpPr/>
          <p:nvPr/>
        </p:nvSpPr>
        <p:spPr>
          <a:xfrm rot="0" flipH="0" flipV="0">
            <a:off x="5029200" y="1323975"/>
            <a:ext cx="2133600" cy="1352550"/>
          </a:xfrm>
          <a:custGeom>
            <a:pathLst>
              <a:path w="224" h="142">
                <a:moveTo>
                  <a:pt x="220" y="0"/>
                </a:moveTo>
                <a:cubicBezTo>
                  <a:pt x="222" y="0"/>
                  <a:pt x="224" y="2"/>
                  <a:pt x="224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20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86" name="" descr="{&quot;isTemplate&quot;:true,&quot;type&quot;:&quot;text&quot;}"/>
          <p:cNvSpPr txBox="1"/>
          <p:nvPr/>
        </p:nvSpPr>
        <p:spPr>
          <a:xfrm rot="0" flipH="0" flipV="0">
            <a:off x="5153025" y="1428750"/>
            <a:ext cx="19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A4F24"/>
                </a:solidFill>
                <a:latin typeface="Microsoft YaHei"/>
                <a:ea typeface="Microsoft YaHei"/>
              </a:rPr>
              <a:t>L3</a:t>
            </a:r>
            <a:endParaRPr/>
          </a:p>
        </p:txBody>
      </p:sp>
      <p:sp>
        <p:nvSpPr>
          <p:cNvPr id="1287" name="" descr="{&quot;isTemplate&quot;:true,&quot;type&quot;:&quot;text&quot;}"/>
          <p:cNvSpPr txBox="1"/>
          <p:nvPr/>
        </p:nvSpPr>
        <p:spPr>
          <a:xfrm rot="0" flipH="0" flipV="0">
            <a:off x="5419725" y="1447800"/>
            <a:ext cx="1619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可查</a:t>
            </a:r>
            <a:endParaRPr/>
          </a:p>
        </p:txBody>
      </p:sp>
      <p:sp>
        <p:nvSpPr>
          <p:cNvPr id="1288" name="" descr="{&quot;isTemplate&quot;:true,&quot;type&quot;:&quot;text&quot;}"/>
          <p:cNvSpPr txBox="1"/>
          <p:nvPr/>
        </p:nvSpPr>
        <p:spPr>
          <a:xfrm rot="0" flipH="0" flipV="0">
            <a:off x="5153025" y="1704975"/>
            <a:ext cx="18859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口径进模型，值由派生属性算，口径与值同源</a:t>
            </a:r>
            <a:endParaRPr/>
          </a:p>
        </p:txBody>
      </p:sp>
      <p:sp>
        <p:nvSpPr>
          <p:cNvPr id="1289" name=""/>
          <p:cNvSpPr/>
          <p:nvPr/>
        </p:nvSpPr>
        <p:spPr>
          <a:xfrm rot="0" flipH="0" flipV="0">
            <a:off x="5153025" y="2343150"/>
            <a:ext cx="1885950" cy="190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90" name="" descr="{&quot;isTemplate&quot;:true,&quot;type&quot;:&quot;text&quot;}"/>
          <p:cNvSpPr txBox="1"/>
          <p:nvPr/>
        </p:nvSpPr>
        <p:spPr>
          <a:xfrm rot="0" flipH="0" flipV="0">
            <a:off x="5229225" y="2381250"/>
            <a:ext cx="17335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FA4F24"/>
                </a:solidFill>
                <a:latin typeface="Microsoft YaHei"/>
                <a:ea typeface="Microsoft YaHei"/>
              </a:rPr>
              <a:t>进入本体</a:t>
            </a:r>
            <a:endParaRPr/>
          </a:p>
        </p:txBody>
      </p:sp>
      <p:sp>
        <p:nvSpPr>
          <p:cNvPr id="1291" name=""/>
          <p:cNvSpPr/>
          <p:nvPr/>
        </p:nvSpPr>
        <p:spPr>
          <a:xfrm rot="0" flipH="0" flipV="0">
            <a:off x="7248525" y="1323975"/>
            <a:ext cx="2124075" cy="1352550"/>
          </a:xfrm>
          <a:prstGeom prst="roundRect">
            <a:avLst>
              <a:gd name="adj" fmla="val 281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92" name=""/>
          <p:cNvSpPr/>
          <p:nvPr/>
        </p:nvSpPr>
        <p:spPr>
          <a:xfrm rot="0" flipH="0" flipV="0">
            <a:off x="7248525" y="1323975"/>
            <a:ext cx="2124075" cy="1352550"/>
          </a:xfrm>
          <a:custGeom>
            <a:pathLst>
              <a:path w="223" h="142">
                <a:moveTo>
                  <a:pt x="219" y="0"/>
                </a:moveTo>
                <a:cubicBezTo>
                  <a:pt x="221" y="0"/>
                  <a:pt x="223" y="2"/>
                  <a:pt x="223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19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293" name="" descr="{&quot;isTemplate&quot;:true,&quot;type&quot;:&quot;text&quot;}"/>
          <p:cNvSpPr txBox="1"/>
          <p:nvPr/>
        </p:nvSpPr>
        <p:spPr>
          <a:xfrm rot="0" flipH="0" flipV="0">
            <a:off x="7372350" y="1428750"/>
            <a:ext cx="19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C43A17"/>
                </a:solidFill>
                <a:latin typeface="Microsoft YaHei"/>
                <a:ea typeface="Microsoft YaHei"/>
              </a:rPr>
              <a:t>L4</a:t>
            </a:r>
            <a:endParaRPr/>
          </a:p>
        </p:txBody>
      </p:sp>
      <p:sp>
        <p:nvSpPr>
          <p:cNvPr id="1294" name="" descr="{&quot;isTemplate&quot;:true,&quot;type&quot;:&quot;text&quot;}"/>
          <p:cNvSpPr txBox="1"/>
          <p:nvPr/>
        </p:nvSpPr>
        <p:spPr>
          <a:xfrm rot="0" flipH="0" flipV="0">
            <a:off x="7639050" y="1447800"/>
            <a:ext cx="1609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受管</a:t>
            </a:r>
            <a:endParaRPr/>
          </a:p>
        </p:txBody>
      </p:sp>
      <p:sp>
        <p:nvSpPr>
          <p:cNvPr id="1295" name="" descr="{&quot;isTemplate&quot;:true,&quot;type&quot;:&quot;text&quot;}"/>
          <p:cNvSpPr txBox="1"/>
          <p:nvPr/>
        </p:nvSpPr>
        <p:spPr>
          <a:xfrm rot="0" flipH="0" flipV="0">
            <a:off x="7372350" y="1704975"/>
            <a:ext cx="18764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变更走提案、有版本、可回滚，权限基线写明</a:t>
            </a:r>
            <a:endParaRPr/>
          </a:p>
        </p:txBody>
      </p:sp>
      <p:sp>
        <p:nvSpPr>
          <p:cNvPr id="1296" name=""/>
          <p:cNvSpPr/>
          <p:nvPr/>
        </p:nvSpPr>
        <p:spPr>
          <a:xfrm rot="0" flipH="0" flipV="0">
            <a:off x="7372350" y="2343150"/>
            <a:ext cx="1876425" cy="190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97" name="" descr="{&quot;isTemplate&quot;:true,&quot;type&quot;:&quot;text&quot;}"/>
          <p:cNvSpPr txBox="1"/>
          <p:nvPr/>
        </p:nvSpPr>
        <p:spPr>
          <a:xfrm rot="0" flipH="0" flipV="0">
            <a:off x="7448550" y="2381250"/>
            <a:ext cx="17240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C43A17"/>
                </a:solidFill>
                <a:latin typeface="Microsoft YaHei"/>
                <a:ea typeface="Microsoft YaHei"/>
              </a:rPr>
              <a:t>有裁定会有回滚</a:t>
            </a:r>
            <a:endParaRPr/>
          </a:p>
        </p:txBody>
      </p:sp>
      <p:sp>
        <p:nvSpPr>
          <p:cNvPr id="1298" name=""/>
          <p:cNvSpPr/>
          <p:nvPr/>
        </p:nvSpPr>
        <p:spPr>
          <a:xfrm rot="0" flipH="0" flipV="0">
            <a:off x="9458325" y="1323975"/>
            <a:ext cx="2124075" cy="1352550"/>
          </a:xfrm>
          <a:prstGeom prst="roundRect">
            <a:avLst>
              <a:gd name="adj" fmla="val 281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99" name=""/>
          <p:cNvSpPr/>
          <p:nvPr/>
        </p:nvSpPr>
        <p:spPr>
          <a:xfrm rot="0" flipH="0" flipV="0">
            <a:off x="9458325" y="1323975"/>
            <a:ext cx="2124075" cy="1352550"/>
          </a:xfrm>
          <a:custGeom>
            <a:pathLst>
              <a:path w="223" h="142">
                <a:moveTo>
                  <a:pt x="219" y="0"/>
                </a:moveTo>
                <a:cubicBezTo>
                  <a:pt x="221" y="0"/>
                  <a:pt x="223" y="2"/>
                  <a:pt x="223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19" y="0"/>
                </a:lnTo>
                <a:close/>
              </a:path>
            </a:pathLst>
          </a:custGeom>
          <a:solidFill>
            <a:srgbClr val="0F1423"/>
          </a:solidFill>
          <a:ln/>
        </p:spPr>
        <p:txBody>
          <a:bodyPr/>
          <a:p/>
        </p:txBody>
      </p:sp>
      <p:sp>
        <p:nvSpPr>
          <p:cNvPr id="1300" name="" descr="{&quot;isTemplate&quot;:true,&quot;type&quot;:&quot;text&quot;}"/>
          <p:cNvSpPr txBox="1"/>
          <p:nvPr/>
        </p:nvSpPr>
        <p:spPr>
          <a:xfrm rot="0" flipH="0" flipV="0">
            <a:off x="9582150" y="1428750"/>
            <a:ext cx="19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F1423"/>
                </a:solidFill>
                <a:latin typeface="Microsoft YaHei"/>
                <a:ea typeface="Microsoft YaHei"/>
              </a:rPr>
              <a:t>L5</a:t>
            </a:r>
            <a:endParaRPr/>
          </a:p>
        </p:txBody>
      </p:sp>
      <p:sp>
        <p:nvSpPr>
          <p:cNvPr id="1301" name="" descr="{&quot;isTemplate&quot;:true,&quot;type&quot;:&quot;text&quot;}"/>
          <p:cNvSpPr txBox="1"/>
          <p:nvPr/>
        </p:nvSpPr>
        <p:spPr>
          <a:xfrm rot="0" flipH="0" flipV="0">
            <a:off x="9848850" y="1447800"/>
            <a:ext cx="1609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自愈</a:t>
            </a:r>
            <a:endParaRPr/>
          </a:p>
        </p:txBody>
      </p:sp>
      <p:sp>
        <p:nvSpPr>
          <p:cNvPr id="1302" name="" descr="{&quot;isTemplate&quot;:true,&quot;type&quot;:&quot;text&quot;}"/>
          <p:cNvSpPr txBox="1"/>
          <p:nvPr/>
        </p:nvSpPr>
        <p:spPr>
          <a:xfrm rot="0" flipH="0" flipV="0">
            <a:off x="9582150" y="1704975"/>
            <a:ext cx="18764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静默失效自动检出并告警，</a:t>
            </a:r>
            <a:r>
              <a:rPr lang="en-US" sz="788">
                <a:solidFill>
                  <a:srgbClr val="5A6070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788">
                <a:solidFill>
                  <a:srgbClr val="5A6070"/>
                </a:solidFill>
                <a:latin typeface="Microsoft YaHei"/>
                <a:ea typeface="Microsoft YaHei"/>
              </a:rPr>
              <a:t>用的是受管口径接口</a:t>
            </a:r>
            <a:endParaRPr/>
          </a:p>
        </p:txBody>
      </p:sp>
      <p:sp>
        <p:nvSpPr>
          <p:cNvPr id="1303" name=""/>
          <p:cNvSpPr/>
          <p:nvPr/>
        </p:nvSpPr>
        <p:spPr>
          <a:xfrm rot="0" flipH="0" flipV="0">
            <a:off x="9582150" y="2343150"/>
            <a:ext cx="1876425" cy="190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04" name="" descr="{&quot;isTemplate&quot;:true,&quot;type&quot;:&quot;text&quot;}"/>
          <p:cNvSpPr txBox="1"/>
          <p:nvPr/>
        </p:nvSpPr>
        <p:spPr>
          <a:xfrm rot="0" flipH="0" flipV="0">
            <a:off x="9658350" y="2381250"/>
            <a:ext cx="17240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F1423"/>
                </a:solidFill>
                <a:latin typeface="Microsoft YaHei"/>
                <a:ea typeface="Microsoft YaHei"/>
              </a:rPr>
              <a:t>规则先于人发现</a:t>
            </a:r>
            <a:endParaRPr/>
          </a:p>
        </p:txBody>
      </p:sp>
      <p:sp>
        <p:nvSpPr>
          <p:cNvPr id="1305" name=""/>
          <p:cNvSpPr/>
          <p:nvPr/>
        </p:nvSpPr>
        <p:spPr>
          <a:xfrm rot="0" flipH="0" flipV="0">
            <a:off x="609600" y="2733675"/>
            <a:ext cx="10972800" cy="1285875"/>
          </a:xfrm>
          <a:prstGeom prst="roundRect">
            <a:avLst>
              <a:gd name="adj" fmla="val 2963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306" name="" descr="{&quot;isTemplate&quot;:true,&quot;type&quot;:&quot;text&quot;}"/>
          <p:cNvSpPr txBox="1"/>
          <p:nvPr/>
        </p:nvSpPr>
        <p:spPr>
          <a:xfrm rot="0" flipH="0" flipV="0">
            <a:off x="800100" y="2838450"/>
            <a:ext cx="10591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BA15C"/>
                </a:solidFill>
                <a:latin typeface="Microsoft YaHei"/>
                <a:ea typeface="Microsoft YaHei"/>
              </a:rPr>
              <a:t>五类典型失效：出现哪一类，就往回退一级</a:t>
            </a:r>
            <a:endParaRPr/>
          </a:p>
        </p:txBody>
      </p:sp>
      <p:sp>
        <p:nvSpPr>
          <p:cNvPr id="1307" name=""/>
          <p:cNvSpPr/>
          <p:nvPr/>
        </p:nvSpPr>
        <p:spPr>
          <a:xfrm rot="0" flipH="0" flipV="0">
            <a:off x="800100" y="3086100"/>
            <a:ext cx="2047875" cy="828675"/>
          </a:xfrm>
          <a:prstGeom prst="roundRect">
            <a:avLst>
              <a:gd name="adj" fmla="val 3448"/>
            </a:avLst>
          </a:prstGeom>
          <a:solidFill>
            <a:srgbClr val="FA4F24">
              <a:alpha val="16000"/>
            </a:srgbClr>
          </a:solidFill>
          <a:ln/>
        </p:spPr>
        <p:txBody>
          <a:bodyPr/>
          <a:p/>
        </p:txBody>
      </p:sp>
      <p:sp>
        <p:nvSpPr>
          <p:cNvPr id="1308" name="" descr="{&quot;isTemplate&quot;:true,&quot;type&quot;:&quot;text&quot;}"/>
          <p:cNvSpPr txBox="1"/>
          <p:nvPr/>
        </p:nvSpPr>
        <p:spPr>
          <a:xfrm rot="0" flipH="0" flipV="0">
            <a:off x="914400" y="3257550"/>
            <a:ext cx="18192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r>
              <a:rPr lang="en-US" sz="863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. </a:t>
            </a:r>
            <a:r>
              <a:rPr lang="zh-CN" sz="863" b="1">
                <a:solidFill>
                  <a:srgbClr val="FFFFFF"/>
                </a:solidFill>
                <a:latin typeface="Microsoft YaHei"/>
                <a:ea typeface="Microsoft YaHei"/>
              </a:rPr>
              <a:t>同名不同义仍在发生</a:t>
            </a:r>
            <a:endParaRPr/>
          </a:p>
        </p:txBody>
      </p:sp>
      <p:sp>
        <p:nvSpPr>
          <p:cNvPr id="1309" name="" descr="{&quot;isTemplate&quot;:true,&quot;type&quot;:&quot;text&quot;}"/>
          <p:cNvSpPr txBox="1"/>
          <p:nvPr/>
        </p:nvSpPr>
        <p:spPr>
          <a:xfrm rot="0" flipH="0" flipV="0">
            <a:off x="914400" y="3429000"/>
            <a:ext cx="1819275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7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L1 / L2 </a:t>
            </a:r>
            <a:r>
              <a:rPr lang="zh-CN" sz="7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的典型标志，说明登记没落到约束上</a:t>
            </a:r>
            <a:endParaRPr/>
          </a:p>
        </p:txBody>
      </p:sp>
      <p:sp>
        <p:nvSpPr>
          <p:cNvPr id="1310" name=""/>
          <p:cNvSpPr/>
          <p:nvPr/>
        </p:nvSpPr>
        <p:spPr>
          <a:xfrm rot="0" flipH="0" flipV="0">
            <a:off x="2933700" y="3086100"/>
            <a:ext cx="2047875" cy="828675"/>
          </a:xfrm>
          <a:prstGeom prst="roundRect">
            <a:avLst>
              <a:gd name="adj" fmla="val 3448"/>
            </a:avLst>
          </a:prstGeom>
          <a:solidFill>
            <a:srgbClr val="FA4F24">
              <a:alpha val="16000"/>
            </a:srgbClr>
          </a:solidFill>
          <a:ln/>
        </p:spPr>
        <p:txBody>
          <a:bodyPr/>
          <a:p/>
        </p:txBody>
      </p:sp>
      <p:sp>
        <p:nvSpPr>
          <p:cNvPr id="1311" name="" descr="{&quot;isTemplate&quot;:true,&quot;type&quot;:&quot;text&quot;}"/>
          <p:cNvSpPr txBox="1"/>
          <p:nvPr/>
        </p:nvSpPr>
        <p:spPr>
          <a:xfrm rot="0" flipH="0" flipV="0">
            <a:off x="3048000" y="3257550"/>
            <a:ext cx="18192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r>
              <a:rPr lang="en-US" sz="863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. </a:t>
            </a:r>
            <a:r>
              <a:rPr lang="zh-CN" sz="863" b="1">
                <a:solidFill>
                  <a:srgbClr val="FFFFFF"/>
                </a:solidFill>
                <a:latin typeface="Microsoft YaHei"/>
                <a:ea typeface="Microsoft YaHei"/>
              </a:rPr>
              <a:t>口径与值不同源</a:t>
            </a:r>
            <a:endParaRPr/>
          </a:p>
        </p:txBody>
      </p:sp>
      <p:sp>
        <p:nvSpPr>
          <p:cNvPr id="1312" name="" descr="{&quot;isTemplate&quot;:true,&quot;type&quot;:&quot;text&quot;}"/>
          <p:cNvSpPr txBox="1"/>
          <p:nvPr/>
        </p:nvSpPr>
        <p:spPr>
          <a:xfrm rot="0" flipH="0" flipV="0">
            <a:off x="3048000" y="3429000"/>
            <a:ext cx="1819275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7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L2 / L3 </a:t>
            </a:r>
            <a:r>
              <a:rPr lang="zh-CN" sz="7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之间的裂缝，文档还在更新、模型没动</a:t>
            </a:r>
            <a:endParaRPr/>
          </a:p>
        </p:txBody>
      </p:sp>
      <p:sp>
        <p:nvSpPr>
          <p:cNvPr id="1313" name=""/>
          <p:cNvSpPr/>
          <p:nvPr/>
        </p:nvSpPr>
        <p:spPr>
          <a:xfrm rot="0" flipH="0" flipV="0">
            <a:off x="5067300" y="3086100"/>
            <a:ext cx="2057400" cy="828675"/>
          </a:xfrm>
          <a:prstGeom prst="roundRect">
            <a:avLst>
              <a:gd name="adj" fmla="val 3448"/>
            </a:avLst>
          </a:prstGeom>
          <a:solidFill>
            <a:srgbClr val="FA4F24">
              <a:alpha val="16000"/>
            </a:srgbClr>
          </a:solidFill>
          <a:ln/>
        </p:spPr>
        <p:txBody>
          <a:bodyPr/>
          <a:p/>
        </p:txBody>
      </p:sp>
      <p:sp>
        <p:nvSpPr>
          <p:cNvPr id="1314" name="" descr="{&quot;isTemplate&quot;:true,&quot;type&quot;:&quot;text&quot;}"/>
          <p:cNvSpPr txBox="1"/>
          <p:nvPr/>
        </p:nvSpPr>
        <p:spPr>
          <a:xfrm rot="0" flipH="0" flipV="0">
            <a:off x="5181600" y="3257550"/>
            <a:ext cx="18288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r>
              <a:rPr lang="en-US" sz="863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. </a:t>
            </a:r>
            <a:r>
              <a:rPr lang="zh-CN" sz="863" b="1">
                <a:solidFill>
                  <a:srgbClr val="FFFFFF"/>
                </a:solidFill>
                <a:latin typeface="Microsoft YaHei"/>
                <a:ea typeface="Microsoft YaHei"/>
              </a:rPr>
              <a:t>静默丢数无人知晓</a:t>
            </a:r>
            <a:endParaRPr/>
          </a:p>
        </p:txBody>
      </p:sp>
      <p:sp>
        <p:nvSpPr>
          <p:cNvPr id="1315" name="" descr="{&quot;isTemplate&quot;:true,&quot;type&quot;:&quot;text&quot;}"/>
          <p:cNvSpPr txBox="1"/>
          <p:nvPr/>
        </p:nvSpPr>
        <p:spPr>
          <a:xfrm rot="0" flipH="0" flipV="0">
            <a:off x="5181600" y="3429000"/>
            <a:ext cx="1828800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7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excludedItems </a:t>
            </a:r>
            <a:r>
              <a:rPr lang="zh-CN" sz="7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与近似标志没落库，或落库了没人看</a:t>
            </a:r>
            <a:endParaRPr/>
          </a:p>
        </p:txBody>
      </p:sp>
      <p:sp>
        <p:nvSpPr>
          <p:cNvPr id="1316" name=""/>
          <p:cNvSpPr/>
          <p:nvPr/>
        </p:nvSpPr>
        <p:spPr>
          <a:xfrm rot="0" flipH="0" flipV="0">
            <a:off x="7210425" y="3086100"/>
            <a:ext cx="2047875" cy="828675"/>
          </a:xfrm>
          <a:prstGeom prst="roundRect">
            <a:avLst>
              <a:gd name="adj" fmla="val 3448"/>
            </a:avLst>
          </a:prstGeom>
          <a:solidFill>
            <a:srgbClr val="FA4F24">
              <a:alpha val="16000"/>
            </a:srgbClr>
          </a:solidFill>
          <a:ln/>
        </p:spPr>
        <p:txBody>
          <a:bodyPr/>
          <a:p/>
        </p:txBody>
      </p:sp>
      <p:sp>
        <p:nvSpPr>
          <p:cNvPr id="1317" name="" descr="{&quot;isTemplate&quot;:true,&quot;type&quot;:&quot;text&quot;}"/>
          <p:cNvSpPr txBox="1"/>
          <p:nvPr/>
        </p:nvSpPr>
        <p:spPr>
          <a:xfrm rot="0" flipH="0" flipV="0">
            <a:off x="7324725" y="3333750"/>
            <a:ext cx="18192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r>
              <a:rPr lang="en-US" sz="863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. </a:t>
            </a:r>
            <a:r>
              <a:rPr lang="zh-CN" sz="863" b="1">
                <a:solidFill>
                  <a:srgbClr val="FFFFFF"/>
                </a:solidFill>
                <a:latin typeface="Microsoft YaHei"/>
                <a:ea typeface="Microsoft YaHei"/>
              </a:rPr>
              <a:t>变更无版本无回滚</a:t>
            </a:r>
            <a:endParaRPr/>
          </a:p>
        </p:txBody>
      </p:sp>
      <p:sp>
        <p:nvSpPr>
          <p:cNvPr id="1318" name="" descr="{&quot;isTemplate&quot;:true,&quot;type&quot;:&quot;text&quot;}"/>
          <p:cNvSpPr txBox="1"/>
          <p:nvPr/>
        </p:nvSpPr>
        <p:spPr>
          <a:xfrm rot="0" flipH="0" flipV="0">
            <a:off x="7324725" y="3505200"/>
            <a:ext cx="1819275" cy="1619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出事只能靠人记忆复原，这是</a:t>
            </a:r>
            <a:r>
              <a:rPr lang="en-US" sz="7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 L4 </a:t>
            </a:r>
            <a:r>
              <a:rPr lang="zh-CN" sz="7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的门槛</a:t>
            </a:r>
            <a:endParaRPr/>
          </a:p>
        </p:txBody>
      </p:sp>
      <p:sp>
        <p:nvSpPr>
          <p:cNvPr id="1319" name=""/>
          <p:cNvSpPr/>
          <p:nvPr/>
        </p:nvSpPr>
        <p:spPr>
          <a:xfrm rot="0" flipH="0" flipV="0">
            <a:off x="9344025" y="3086100"/>
            <a:ext cx="2047875" cy="828675"/>
          </a:xfrm>
          <a:prstGeom prst="roundRect">
            <a:avLst>
              <a:gd name="adj" fmla="val 3448"/>
            </a:avLst>
          </a:prstGeom>
          <a:solidFill>
            <a:srgbClr val="FA4F24">
              <a:alpha val="16000"/>
            </a:srgbClr>
          </a:solidFill>
          <a:ln/>
        </p:spPr>
        <p:txBody>
          <a:bodyPr/>
          <a:p/>
        </p:txBody>
      </p:sp>
      <p:sp>
        <p:nvSpPr>
          <p:cNvPr id="1320" name="" descr="{&quot;isTemplate&quot;:true,&quot;type&quot;:&quot;text&quot;}"/>
          <p:cNvSpPr txBox="1"/>
          <p:nvPr/>
        </p:nvSpPr>
        <p:spPr>
          <a:xfrm rot="0" flipH="0" flipV="0">
            <a:off x="9458325" y="3257550"/>
            <a:ext cx="18192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r>
              <a:rPr lang="en-US" sz="863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. </a:t>
            </a:r>
            <a:r>
              <a:rPr lang="en-US" sz="863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863" b="1">
                <a:solidFill>
                  <a:srgbClr val="FFFFFF"/>
                </a:solidFill>
                <a:latin typeface="Microsoft YaHei"/>
                <a:ea typeface="Microsoft YaHei"/>
              </a:rPr>
              <a:t>读的是过期口径</a:t>
            </a:r>
            <a:endParaRPr/>
          </a:p>
        </p:txBody>
      </p:sp>
      <p:sp>
        <p:nvSpPr>
          <p:cNvPr id="1321" name="" descr="{&quot;isTemplate&quot;:true,&quot;type&quot;:&quot;text&quot;}"/>
          <p:cNvSpPr txBox="1"/>
          <p:nvPr/>
        </p:nvSpPr>
        <p:spPr>
          <a:xfrm rot="0" flipH="0" flipV="0">
            <a:off x="9458325" y="3429000"/>
            <a:ext cx="1819275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7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L4 / L5 </a:t>
            </a:r>
            <a:r>
              <a:rPr lang="zh-CN" sz="7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之间的裂缝，知识库切片版本没跟上</a:t>
            </a:r>
            <a:endParaRPr/>
          </a:p>
        </p:txBody>
      </p:sp>
      <p:sp>
        <p:nvSpPr>
          <p:cNvPr id="1322" name=""/>
          <p:cNvSpPr/>
          <p:nvPr/>
        </p:nvSpPr>
        <p:spPr>
          <a:xfrm rot="0" flipH="0" flipV="0">
            <a:off x="609600" y="4114800"/>
            <a:ext cx="10972800" cy="1524000"/>
          </a:xfrm>
          <a:prstGeom prst="roundRect">
            <a:avLst>
              <a:gd name="adj" fmla="val 25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23" name="" descr="{&quot;isTemplate&quot;:true,&quot;type&quot;:&quot;text&quot;}"/>
          <p:cNvSpPr txBox="1"/>
          <p:nvPr/>
        </p:nvSpPr>
        <p:spPr>
          <a:xfrm rot="0" flipH="0" flipV="0">
            <a:off x="800100" y="4219575"/>
            <a:ext cx="10591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0F1423"/>
                </a:solidFill>
                <a:latin typeface="Microsoft YaHei"/>
                <a:ea typeface="Microsoft YaHei"/>
              </a:rPr>
              <a:t>十二项评审清单：每项只能答「是」或「否」，答不出即不合格</a:t>
            </a:r>
            <a:endParaRPr/>
          </a:p>
        </p:txBody>
      </p:sp>
      <p:sp>
        <p:nvSpPr>
          <p:cNvPr id="1324" name=""/>
          <p:cNvSpPr/>
          <p:nvPr/>
        </p:nvSpPr>
        <p:spPr>
          <a:xfrm rot="0" flipH="0" flipV="0">
            <a:off x="828675" y="4467225"/>
            <a:ext cx="2571750" cy="314325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25" name=""/>
          <p:cNvSpPr/>
          <p:nvPr/>
        </p:nvSpPr>
        <p:spPr>
          <a:xfrm rot="0" flipH="0" flipV="0">
            <a:off x="828675" y="4467225"/>
            <a:ext cx="2571750" cy="314325"/>
          </a:xfrm>
          <a:custGeom>
            <a:pathLst>
              <a:path w="270" h="33">
                <a:moveTo>
                  <a:pt x="3" y="33"/>
                </a:moveTo>
                <a:cubicBezTo>
                  <a:pt x="1" y="33"/>
                  <a:pt x="0" y="32"/>
                  <a:pt x="0" y="30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3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26" name="" descr="{&quot;isTemplate&quot;:true,&quot;type&quot;:&quot;text&quot;}"/>
          <p:cNvSpPr txBox="1"/>
          <p:nvPr/>
        </p:nvSpPr>
        <p:spPr>
          <a:xfrm rot="0" flipH="0" flipV="0">
            <a:off x="914400" y="4572000"/>
            <a:ext cx="1238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327" name="" descr="{&quot;isTemplate&quot;:true,&quot;type&quot;:&quot;text&quot;}"/>
          <p:cNvSpPr txBox="1"/>
          <p:nvPr/>
        </p:nvSpPr>
        <p:spPr>
          <a:xfrm rot="0" flipH="0" flipV="0">
            <a:off x="1104900" y="4562475"/>
            <a:ext cx="9048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指标名全公司唯一？</a:t>
            </a:r>
            <a:endParaRPr/>
          </a:p>
        </p:txBody>
      </p:sp>
      <p:sp>
        <p:nvSpPr>
          <p:cNvPr id="1328" name=""/>
          <p:cNvSpPr/>
          <p:nvPr/>
        </p:nvSpPr>
        <p:spPr>
          <a:xfrm rot="0" flipH="0" flipV="0">
            <a:off x="3457575" y="4467225"/>
            <a:ext cx="2571750" cy="314325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29" name=""/>
          <p:cNvSpPr/>
          <p:nvPr/>
        </p:nvSpPr>
        <p:spPr>
          <a:xfrm rot="0" flipH="0" flipV="0">
            <a:off x="3457575" y="4467225"/>
            <a:ext cx="2571750" cy="314325"/>
          </a:xfrm>
          <a:custGeom>
            <a:pathLst>
              <a:path w="270" h="33">
                <a:moveTo>
                  <a:pt x="3" y="33"/>
                </a:moveTo>
                <a:cubicBezTo>
                  <a:pt x="1" y="33"/>
                  <a:pt x="0" y="32"/>
                  <a:pt x="0" y="30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3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30" name="" descr="{&quot;isTemplate&quot;:true,&quot;type&quot;:&quot;text&quot;}"/>
          <p:cNvSpPr txBox="1"/>
          <p:nvPr/>
        </p:nvSpPr>
        <p:spPr>
          <a:xfrm rot="0" flipH="0" flipV="0">
            <a:off x="3543300" y="4572000"/>
            <a:ext cx="1238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331" name="" descr="{&quot;isTemplate&quot;:true,&quot;type&quot;:&quot;text&quot;}"/>
          <p:cNvSpPr txBox="1"/>
          <p:nvPr/>
        </p:nvSpPr>
        <p:spPr>
          <a:xfrm rot="0" flipH="0" flipV="0">
            <a:off x="3733800" y="4562475"/>
            <a:ext cx="11049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五元组是否完整无留空？</a:t>
            </a:r>
            <a:endParaRPr/>
          </a:p>
        </p:txBody>
      </p:sp>
      <p:sp>
        <p:nvSpPr>
          <p:cNvPr id="1332" name=""/>
          <p:cNvSpPr/>
          <p:nvPr/>
        </p:nvSpPr>
        <p:spPr>
          <a:xfrm rot="0" flipH="0" flipV="0">
            <a:off x="6086475" y="4467225"/>
            <a:ext cx="2581275" cy="314325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33" name=""/>
          <p:cNvSpPr/>
          <p:nvPr/>
        </p:nvSpPr>
        <p:spPr>
          <a:xfrm rot="0" flipH="0" flipV="0">
            <a:off x="6086475" y="4467225"/>
            <a:ext cx="2581275" cy="314325"/>
          </a:xfrm>
          <a:custGeom>
            <a:pathLst>
              <a:path w="271" h="33">
                <a:moveTo>
                  <a:pt x="3" y="33"/>
                </a:moveTo>
                <a:cubicBezTo>
                  <a:pt x="1" y="33"/>
                  <a:pt x="0" y="32"/>
                  <a:pt x="0" y="30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3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34" name="" descr="{&quot;isTemplate&quot;:true,&quot;type&quot;:&quot;text&quot;}"/>
          <p:cNvSpPr txBox="1"/>
          <p:nvPr/>
        </p:nvSpPr>
        <p:spPr>
          <a:xfrm rot="0" flipH="0" flipV="0">
            <a:off x="6172200" y="4572000"/>
            <a:ext cx="1238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335" name="" descr="{&quot;isTemplate&quot;:true,&quot;type&quot;:&quot;text&quot;}"/>
          <p:cNvSpPr txBox="1"/>
          <p:nvPr/>
        </p:nvSpPr>
        <p:spPr>
          <a:xfrm rot="0" flipH="0" flipV="0">
            <a:off x="6362700" y="4562475"/>
            <a:ext cx="10001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时区与截止时点写明？</a:t>
            </a:r>
            <a:endParaRPr/>
          </a:p>
        </p:txBody>
      </p:sp>
      <p:sp>
        <p:nvSpPr>
          <p:cNvPr id="1336" name=""/>
          <p:cNvSpPr/>
          <p:nvPr/>
        </p:nvSpPr>
        <p:spPr>
          <a:xfrm rot="0" flipH="0" flipV="0">
            <a:off x="8724900" y="4467225"/>
            <a:ext cx="2571750" cy="314325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37" name=""/>
          <p:cNvSpPr/>
          <p:nvPr/>
        </p:nvSpPr>
        <p:spPr>
          <a:xfrm rot="0" flipH="0" flipV="0">
            <a:off x="8724900" y="4467225"/>
            <a:ext cx="2571750" cy="314325"/>
          </a:xfrm>
          <a:custGeom>
            <a:pathLst>
              <a:path w="270" h="33">
                <a:moveTo>
                  <a:pt x="3" y="33"/>
                </a:moveTo>
                <a:cubicBezTo>
                  <a:pt x="1" y="33"/>
                  <a:pt x="0" y="32"/>
                  <a:pt x="0" y="30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3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38" name="" descr="{&quot;isTemplate&quot;:true,&quot;type&quot;:&quot;text&quot;}"/>
          <p:cNvSpPr txBox="1"/>
          <p:nvPr/>
        </p:nvSpPr>
        <p:spPr>
          <a:xfrm rot="0" flipH="0" flipV="0">
            <a:off x="8810625" y="4572000"/>
            <a:ext cx="1238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339" name="" descr="{&quot;isTemplate&quot;:true,&quot;type&quot;:&quot;text&quot;}"/>
          <p:cNvSpPr txBox="1"/>
          <p:nvPr/>
        </p:nvSpPr>
        <p:spPr>
          <a:xfrm rot="0" flipH="0" flipV="0">
            <a:off x="9001125" y="4562475"/>
            <a:ext cx="9048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空值处理策略明确？</a:t>
            </a:r>
            <a:endParaRPr/>
          </a:p>
        </p:txBody>
      </p:sp>
      <p:sp>
        <p:nvSpPr>
          <p:cNvPr id="1340" name=""/>
          <p:cNvSpPr/>
          <p:nvPr/>
        </p:nvSpPr>
        <p:spPr>
          <a:xfrm rot="0" flipH="0" flipV="0">
            <a:off x="828675" y="4838700"/>
            <a:ext cx="2571750" cy="32385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41" name=""/>
          <p:cNvSpPr/>
          <p:nvPr/>
        </p:nvSpPr>
        <p:spPr>
          <a:xfrm rot="0" flipH="0" flipV="0">
            <a:off x="828675" y="4838700"/>
            <a:ext cx="2571750" cy="323850"/>
          </a:xfrm>
          <a:custGeom>
            <a:pathLst>
              <a:path w="270" h="34">
                <a:moveTo>
                  <a:pt x="3" y="34"/>
                </a:moveTo>
                <a:cubicBezTo>
                  <a:pt x="1" y="34"/>
                  <a:pt x="0" y="33"/>
                  <a:pt x="0" y="3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42" name="" descr="{&quot;isTemplate&quot;:true,&quot;type&quot;:&quot;text&quot;}"/>
          <p:cNvSpPr txBox="1"/>
          <p:nvPr/>
        </p:nvSpPr>
        <p:spPr>
          <a:xfrm rot="0" flipH="0" flipV="0">
            <a:off x="914400" y="4943475"/>
            <a:ext cx="1238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A4F24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1343" name="" descr="{&quot;isTemplate&quot;:true,&quot;type&quot;:&quot;text&quot;}"/>
          <p:cNvSpPr txBox="1"/>
          <p:nvPr/>
        </p:nvSpPr>
        <p:spPr>
          <a:xfrm rot="0" flipH="0" flipV="0">
            <a:off x="1104900" y="4943475"/>
            <a:ext cx="10001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上游依赖已登记可查？</a:t>
            </a:r>
            <a:endParaRPr/>
          </a:p>
        </p:txBody>
      </p:sp>
      <p:sp>
        <p:nvSpPr>
          <p:cNvPr id="1344" name=""/>
          <p:cNvSpPr/>
          <p:nvPr/>
        </p:nvSpPr>
        <p:spPr>
          <a:xfrm rot="0" flipH="0" flipV="0">
            <a:off x="3457575" y="4838700"/>
            <a:ext cx="2571750" cy="32385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45" name=""/>
          <p:cNvSpPr/>
          <p:nvPr/>
        </p:nvSpPr>
        <p:spPr>
          <a:xfrm rot="0" flipH="0" flipV="0">
            <a:off x="3457575" y="4838700"/>
            <a:ext cx="2571750" cy="323850"/>
          </a:xfrm>
          <a:custGeom>
            <a:pathLst>
              <a:path w="270" h="34">
                <a:moveTo>
                  <a:pt x="3" y="34"/>
                </a:moveTo>
                <a:cubicBezTo>
                  <a:pt x="1" y="34"/>
                  <a:pt x="0" y="33"/>
                  <a:pt x="0" y="3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46" name="" descr="{&quot;isTemplate&quot;:true,&quot;type&quot;:&quot;text&quot;}"/>
          <p:cNvSpPr txBox="1"/>
          <p:nvPr/>
        </p:nvSpPr>
        <p:spPr>
          <a:xfrm rot="0" flipH="0" flipV="0">
            <a:off x="3543300" y="4943475"/>
            <a:ext cx="1238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A4F24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1347" name="" descr="{&quot;isTemplate&quot;:true,&quot;type&quot;:&quot;text&quot;}"/>
          <p:cNvSpPr txBox="1"/>
          <p:nvPr/>
        </p:nvSpPr>
        <p:spPr>
          <a:xfrm rot="0" flipH="0" flipV="0">
            <a:off x="3733800" y="4943475"/>
            <a:ext cx="13049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口径是可执行定义而非文档？</a:t>
            </a:r>
            <a:endParaRPr/>
          </a:p>
        </p:txBody>
      </p:sp>
      <p:sp>
        <p:nvSpPr>
          <p:cNvPr id="1348" name=""/>
          <p:cNvSpPr/>
          <p:nvPr/>
        </p:nvSpPr>
        <p:spPr>
          <a:xfrm rot="0" flipH="0" flipV="0">
            <a:off x="6086475" y="4838700"/>
            <a:ext cx="2581275" cy="32385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49" name=""/>
          <p:cNvSpPr/>
          <p:nvPr/>
        </p:nvSpPr>
        <p:spPr>
          <a:xfrm rot="0" flipH="0" flipV="0">
            <a:off x="6086475" y="4838700"/>
            <a:ext cx="2581275" cy="323850"/>
          </a:xfrm>
          <a:custGeom>
            <a:pathLst>
              <a:path w="271" h="34">
                <a:moveTo>
                  <a:pt x="3" y="34"/>
                </a:moveTo>
                <a:cubicBezTo>
                  <a:pt x="1" y="34"/>
                  <a:pt x="0" y="33"/>
                  <a:pt x="0" y="3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50" name="" descr="{&quot;isTemplate&quot;:true,&quot;type&quot;:&quot;text&quot;}"/>
          <p:cNvSpPr txBox="1"/>
          <p:nvPr/>
        </p:nvSpPr>
        <p:spPr>
          <a:xfrm rot="0" flipH="0" flipV="0">
            <a:off x="6172200" y="4943475"/>
            <a:ext cx="1238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A4F24"/>
                </a:solidFill>
                <a:latin typeface="Microsoft YaHei"/>
                <a:ea typeface="Microsoft YaHei"/>
              </a:rPr>
              <a:t>07</a:t>
            </a:r>
            <a:endParaRPr/>
          </a:p>
        </p:txBody>
      </p:sp>
      <p:sp>
        <p:nvSpPr>
          <p:cNvPr id="1351" name="" descr="{&quot;isTemplate&quot;:true,&quot;type&quot;:&quot;text&quot;}"/>
          <p:cNvSpPr txBox="1"/>
          <p:nvPr/>
        </p:nvSpPr>
        <p:spPr>
          <a:xfrm rot="0" flipH="0" flipV="0">
            <a:off x="6362700" y="4943475"/>
            <a:ext cx="10001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口径与值在同一模型？</a:t>
            </a:r>
            <a:endParaRPr/>
          </a:p>
        </p:txBody>
      </p:sp>
      <p:sp>
        <p:nvSpPr>
          <p:cNvPr id="1352" name=""/>
          <p:cNvSpPr/>
          <p:nvPr/>
        </p:nvSpPr>
        <p:spPr>
          <a:xfrm rot="0" flipH="0" flipV="0">
            <a:off x="8724900" y="4838700"/>
            <a:ext cx="2571750" cy="32385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53" name=""/>
          <p:cNvSpPr/>
          <p:nvPr/>
        </p:nvSpPr>
        <p:spPr>
          <a:xfrm rot="0" flipH="0" flipV="0">
            <a:off x="8724900" y="4838700"/>
            <a:ext cx="2571750" cy="323850"/>
          </a:xfrm>
          <a:custGeom>
            <a:pathLst>
              <a:path w="270" h="34">
                <a:moveTo>
                  <a:pt x="3" y="34"/>
                </a:moveTo>
                <a:cubicBezTo>
                  <a:pt x="1" y="34"/>
                  <a:pt x="0" y="33"/>
                  <a:pt x="0" y="3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54" name="" descr="{&quot;isTemplate&quot;:true,&quot;type&quot;:&quot;text&quot;}"/>
          <p:cNvSpPr txBox="1"/>
          <p:nvPr/>
        </p:nvSpPr>
        <p:spPr>
          <a:xfrm rot="0" flipH="0" flipV="0">
            <a:off x="8810625" y="4943475"/>
            <a:ext cx="1238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A4F24"/>
                </a:solidFill>
                <a:latin typeface="Microsoft YaHei"/>
                <a:ea typeface="Microsoft YaHei"/>
              </a:rPr>
              <a:t>08</a:t>
            </a:r>
            <a:endParaRPr/>
          </a:p>
        </p:txBody>
      </p:sp>
      <p:sp>
        <p:nvSpPr>
          <p:cNvPr id="1355" name="" descr="{&quot;isTemplate&quot;:true,&quot;type&quot;:&quot;text&quot;}"/>
          <p:cNvSpPr txBox="1"/>
          <p:nvPr/>
        </p:nvSpPr>
        <p:spPr>
          <a:xfrm rot="0" flipH="0" flipV="0">
            <a:off x="9001125" y="4943475"/>
            <a:ext cx="7048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权限基线写明？</a:t>
            </a:r>
            <a:endParaRPr/>
          </a:p>
        </p:txBody>
      </p:sp>
      <p:sp>
        <p:nvSpPr>
          <p:cNvPr id="1356" name=""/>
          <p:cNvSpPr/>
          <p:nvPr/>
        </p:nvSpPr>
        <p:spPr>
          <a:xfrm rot="0" flipH="0" flipV="0">
            <a:off x="828675" y="5219700"/>
            <a:ext cx="2571750" cy="314325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57" name=""/>
          <p:cNvSpPr/>
          <p:nvPr/>
        </p:nvSpPr>
        <p:spPr>
          <a:xfrm rot="0" flipH="0" flipV="0">
            <a:off x="828675" y="5219700"/>
            <a:ext cx="2571750" cy="314325"/>
          </a:xfrm>
          <a:custGeom>
            <a:pathLst>
              <a:path w="270" h="33">
                <a:moveTo>
                  <a:pt x="3" y="33"/>
                </a:moveTo>
                <a:cubicBezTo>
                  <a:pt x="1" y="33"/>
                  <a:pt x="0" y="32"/>
                  <a:pt x="0" y="30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3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58" name="" descr="{&quot;isTemplate&quot;:true,&quot;type&quot;:&quot;text&quot;}"/>
          <p:cNvSpPr txBox="1"/>
          <p:nvPr/>
        </p:nvSpPr>
        <p:spPr>
          <a:xfrm rot="0" flipH="0" flipV="0">
            <a:off x="914400" y="5324475"/>
            <a:ext cx="1238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A4F24"/>
                </a:solidFill>
                <a:latin typeface="Microsoft YaHei"/>
                <a:ea typeface="Microsoft YaHei"/>
              </a:rPr>
              <a:t>09</a:t>
            </a:r>
            <a:endParaRPr/>
          </a:p>
        </p:txBody>
      </p:sp>
      <p:sp>
        <p:nvSpPr>
          <p:cNvPr id="1359" name="" descr="{&quot;isTemplate&quot;:true,&quot;type&quot;:&quot;text&quot;}"/>
          <p:cNvSpPr txBox="1"/>
          <p:nvPr/>
        </p:nvSpPr>
        <p:spPr>
          <a:xfrm rot="0" flipH="0" flipV="0">
            <a:off x="1104900" y="5314950"/>
            <a:ext cx="11049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版本号与变更历史完整？</a:t>
            </a:r>
            <a:endParaRPr/>
          </a:p>
        </p:txBody>
      </p:sp>
      <p:sp>
        <p:nvSpPr>
          <p:cNvPr id="1360" name=""/>
          <p:cNvSpPr/>
          <p:nvPr/>
        </p:nvSpPr>
        <p:spPr>
          <a:xfrm rot="0" flipH="0" flipV="0">
            <a:off x="3457575" y="5219700"/>
            <a:ext cx="2571750" cy="314325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61" name=""/>
          <p:cNvSpPr/>
          <p:nvPr/>
        </p:nvSpPr>
        <p:spPr>
          <a:xfrm rot="0" flipH="0" flipV="0">
            <a:off x="3457575" y="5219700"/>
            <a:ext cx="2571750" cy="314325"/>
          </a:xfrm>
          <a:custGeom>
            <a:pathLst>
              <a:path w="270" h="33">
                <a:moveTo>
                  <a:pt x="3" y="33"/>
                </a:moveTo>
                <a:cubicBezTo>
                  <a:pt x="1" y="33"/>
                  <a:pt x="0" y="32"/>
                  <a:pt x="0" y="30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3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62" name="" descr="{&quot;isTemplate&quot;:true,&quot;type&quot;:&quot;text&quot;}"/>
          <p:cNvSpPr txBox="1"/>
          <p:nvPr/>
        </p:nvSpPr>
        <p:spPr>
          <a:xfrm rot="0" flipH="0" flipV="0">
            <a:off x="3543300" y="5324475"/>
            <a:ext cx="1238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A4F24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1363" name="" descr="{&quot;isTemplate&quot;:true,&quot;type&quot;:&quot;text&quot;}"/>
          <p:cNvSpPr txBox="1"/>
          <p:nvPr/>
        </p:nvSpPr>
        <p:spPr>
          <a:xfrm rot="0" flipH="0" flipV="0">
            <a:off x="3733800" y="5314950"/>
            <a:ext cx="9048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变更附影响面清单？</a:t>
            </a:r>
            <a:endParaRPr/>
          </a:p>
        </p:txBody>
      </p:sp>
      <p:sp>
        <p:nvSpPr>
          <p:cNvPr id="1364" name=""/>
          <p:cNvSpPr/>
          <p:nvPr/>
        </p:nvSpPr>
        <p:spPr>
          <a:xfrm rot="0" flipH="0" flipV="0">
            <a:off x="6086475" y="5219700"/>
            <a:ext cx="2581275" cy="314325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65" name=""/>
          <p:cNvSpPr/>
          <p:nvPr/>
        </p:nvSpPr>
        <p:spPr>
          <a:xfrm rot="0" flipH="0" flipV="0">
            <a:off x="6086475" y="5219700"/>
            <a:ext cx="2581275" cy="314325"/>
          </a:xfrm>
          <a:custGeom>
            <a:pathLst>
              <a:path w="271" h="33">
                <a:moveTo>
                  <a:pt x="3" y="33"/>
                </a:moveTo>
                <a:cubicBezTo>
                  <a:pt x="1" y="33"/>
                  <a:pt x="0" y="32"/>
                  <a:pt x="0" y="30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3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66" name="" descr="{&quot;isTemplate&quot;:true,&quot;type&quot;:&quot;text&quot;}"/>
          <p:cNvSpPr txBox="1"/>
          <p:nvPr/>
        </p:nvSpPr>
        <p:spPr>
          <a:xfrm rot="0" flipH="0" flipV="0">
            <a:off x="6172200" y="5324475"/>
            <a:ext cx="1238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A4F24"/>
                </a:solidFill>
                <a:latin typeface="Microsoft YaHei"/>
                <a:ea typeface="Microsoft YaHei"/>
              </a:rPr>
              <a:t>11</a:t>
            </a:r>
            <a:endParaRPr/>
          </a:p>
        </p:txBody>
      </p:sp>
      <p:sp>
        <p:nvSpPr>
          <p:cNvPr id="1367" name="" descr="{&quot;isTemplate&quot;:true,&quot;type&quot;:&quot;text&quot;}"/>
          <p:cNvSpPr txBox="1"/>
          <p:nvPr/>
        </p:nvSpPr>
        <p:spPr>
          <a:xfrm rot="0" flipH="0" flipV="0">
            <a:off x="6362700" y="5314950"/>
            <a:ext cx="10001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静默失效有检出规则？</a:t>
            </a:r>
            <a:endParaRPr/>
          </a:p>
        </p:txBody>
      </p:sp>
      <p:sp>
        <p:nvSpPr>
          <p:cNvPr id="1368" name=""/>
          <p:cNvSpPr/>
          <p:nvPr/>
        </p:nvSpPr>
        <p:spPr>
          <a:xfrm rot="0" flipH="0" flipV="0">
            <a:off x="8724900" y="5219700"/>
            <a:ext cx="2571750" cy="314325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69" name=""/>
          <p:cNvSpPr/>
          <p:nvPr/>
        </p:nvSpPr>
        <p:spPr>
          <a:xfrm rot="0" flipH="0" flipV="0">
            <a:off x="8724900" y="5219700"/>
            <a:ext cx="2571750" cy="314325"/>
          </a:xfrm>
          <a:custGeom>
            <a:pathLst>
              <a:path w="270" h="33">
                <a:moveTo>
                  <a:pt x="3" y="33"/>
                </a:moveTo>
                <a:cubicBezTo>
                  <a:pt x="1" y="33"/>
                  <a:pt x="0" y="32"/>
                  <a:pt x="0" y="30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3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70" name="" descr="{&quot;isTemplate&quot;:true,&quot;type&quot;:&quot;text&quot;}"/>
          <p:cNvSpPr txBox="1"/>
          <p:nvPr/>
        </p:nvSpPr>
        <p:spPr>
          <a:xfrm rot="0" flipH="0" flipV="0">
            <a:off x="8810625" y="5324475"/>
            <a:ext cx="1238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b="1">
                <a:solidFill>
                  <a:srgbClr val="FA4F24"/>
                </a:solidFill>
                <a:latin typeface="Microsoft YaHei"/>
                <a:ea typeface="Microsoft YaHei"/>
              </a:rPr>
              <a:t>12</a:t>
            </a:r>
            <a:endParaRPr/>
          </a:p>
        </p:txBody>
      </p:sp>
      <p:sp>
        <p:nvSpPr>
          <p:cNvPr id="1371" name="" descr="{&quot;isTemplate&quot;:true,&quot;type&quot;:&quot;text&quot;}"/>
          <p:cNvSpPr txBox="1"/>
          <p:nvPr/>
        </p:nvSpPr>
        <p:spPr>
          <a:xfrm rot="0" flipH="0" flipV="0">
            <a:off x="9001125" y="5314950"/>
            <a:ext cx="12287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3A4050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788">
                <a:solidFill>
                  <a:srgbClr val="3A4050"/>
                </a:solidFill>
                <a:latin typeface="Microsoft YaHei"/>
                <a:ea typeface="Microsoft YaHei"/>
              </a:rPr>
              <a:t>只调受管口径接口？</a:t>
            </a:r>
            <a:endParaRPr/>
          </a:p>
        </p:txBody>
      </p:sp>
      <p:sp>
        <p:nvSpPr>
          <p:cNvPr id="1372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373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74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指标体系咨询方法论</a:t>
            </a:r>
            <a:endParaRPr/>
          </a:p>
        </p:txBody>
      </p:sp>
      <p:sp>
        <p:nvSpPr>
          <p:cNvPr id="1375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29 / 30</a:t>
            </a:r>
            <a:endParaRPr/>
          </a:p>
        </p:txBody>
      </p:sp>
    </p:spTree>
  </p:cSld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1422" name="" descr="&lt;Slide style={{ width: 1280, height: 720, background: '#0F1423' }}&gt;&#10;  &lt;Box style={{ position: 'absolute', left: 0, top: 0, width: 1280, height: 720, background: 'linear-gradient(135deg, #0F1423 0%, #2A1810 100%)' }} /&gt;&#10;  &lt;Box style={{ position: 'absolute', right: 0, top: 0, width: 620, height: 720, background: 'linear-gradient(200deg, rgba(250,79,36,0.24) 0%, rgba(250,79,36,0) 70%)' }} /&gt;&#10;&#10;  &lt;Box style={{ position: 'absolute', left: 88, top: 74, width: 1104 }}&gt;&#10;    &lt;Box style={{ flexDirection: 'row', alignItems: 'center', gap: 14 }}&gt;&#10;      &lt;Box style={{ width: 14, height: 14, background: '#FA4F24' }} /&gt;&#10;      &lt;Text style={{ fontSize: 15, color: 'rgba(255,255,255,0.5)', letterSpacing: 3 }}&gt;结语 · 第十一册&lt;/Text&gt;&#10;    &lt;/Box&gt;&#10;    &lt;Text style={{ fontSize: 44, fontWeight: 'bold', color: '#FFFFFF', marginTop: 24, lineHeight: 1.25 }}&gt;&#10;      十一册走完，4A 的六个新实践点&lt;span style={{ color: '#FA4F24' }}&gt;都落到了同一件事上&lt;/span&gt;&#10;    &lt;/Text&gt;&#10;    &lt;Box style={{ width: 72, height: 5, background: '#FA4F24', marginTop: 26 }} /&gt;&#10;  &lt;/Box&gt;&#10;&#10;  &lt;Box style={{ position: 'absolute', left: 88, top: 262, width: 1104, flexDirection: 'row', gap: 12 }}&gt;&#10;    {[&#10;      { n: 'Ontology', t: '语义与动力学合一', d: '本体是 4A 的汇流点' },&#10;      { n: 'Agent', t: '明确谁来判断', d: '权限多大、何时停手' },&#10;      { n: '知识库', t: '知识要被治理', d: '不只是被存起来' },&#10;      { n: '管道处理', t: '进出本体可管可追可退', d: '一条链路的三个要求' },&#10;      { n: '数据治理', t: '治理对象扩展到动作', d: '策略、记忆、日志都受管' },&#10;      { n: '主数据', t: '不是模块，是建模方式', d: '先定主键再谈匹配' },&#10;      { n: '指标体系', t: '不是报表，是派生属性', d: '先把那一份口径立住', c: '#FA4F24' },&#10;    ].map((x) =&gt; (&#10;      &lt;Box key={x.n} style={{ flex: 1, background: x.c ? 'rgba(250,79,36,0.22)' : 'rgba(255,255,255,0.06)', borderRadius: 4, borderTop: x.c ? '3px solid #FA4F24' : '3px solid rgba(255,255,255,0.16)', padding: '13px 14px' }}&gt;&#10;        &lt;Text style={{ fontSize: 14, fontWeight: 'bold', color: x.c || '#FFFFFF' }}&gt;{x.n}&lt;/Text&gt;&#10;        &lt;Text style={{ fontSize: 11.5, color: 'rgba(255,255,255,0.85)', marginTop: 7, lineHeight: 1.4 }}&gt;{x.t}&lt;/Text&gt;&#10;        &lt;Text style={{ fontSize: 10.5, color: 'rgba(255,255,255,0.5)', marginTop: 6, lineHeight: 1.4 }}&gt;{x.d}&lt;/Text&gt;&#10;      &lt;/Box&gt;&#10;    ))}&#10;  &lt;/Box&gt;&#10;&#10;  &lt;Box style={{ position: 'absolute', left: 88, top: 466, width: 1104, background: 'rgba(250,79,36,0.16)', borderRadius: 4, padding: '16px 22px', flexDirection: 'row', gap: 22 }}&gt;&#10;    &lt;Text style={{ fontSize: 15, fontWeight: 'bold', color: '#FBA15C', width: 118 }}&gt;串起来是一句话&lt;/Text&gt;&#10;    &lt;Box style={{ width: 1, background: 'rgba(255,255,255,0.2)' }} /&gt;&#10;    &lt;Box style={{ flex: 1, flexDirection: 'column', gap: 7 }}&gt;&#10;      &lt;Text style={{ fontSize: 13.5, color: 'rgba(255,255,255,0.92)', lineHeight: 1.55 }}&gt;&#10;        六个新实践点做的是同一件事：&lt;tspan style={{ fontWeight: 'bold', color: '#FBA15C' }}&gt;把原本靠人记住的东西，变成模型里可查询、可继承、可审计、可退回的东西&lt;/tspan&gt;。&#10;      &lt;/Text&gt;&#10;      &lt;Text style={{ fontSize: 13.5, color: 'rgba(255,255,255,0.92)', lineHeight: 1.55 }}&gt;&#10;        实体、语义、知识、链路、动作、口径——凡是过去「大家都知道但没人说得清」的东西，这一轮都要变成可执行的定义。&#10;      &lt;/Text&gt;&#10;      &lt;Box style={{ flexDirection: 'row', alignItems: 'center', gap: 10, marginTop: 3 }}&gt;&#10;        &lt;Box style={{ width: 4, height: 22, background: '#FA4F24' }} /&gt;&#10;        &lt;Text style={{ fontSize: 15, fontWeight: 'bold', color: '#FFFFFF' }}&gt;&#10;          所以第一件事永远是同一句：先定义，再建模，最后才谈智能。&#10;        &lt;/Text&gt;&#10;      &lt;/Box&gt;&#10;    &lt;/Box&gt;&#10;  &lt;/Box&gt;&#10;&#10;  &lt;Box style={{ position: 'absolute', right: 88, bottom: 46, flexDirection: 'row', alignItems: 'center', gap: 12 }}&gt;&#10;    &lt;Text style={{ fontSize: 14, color: 'rgba(255,255,255,0.5)' }}&gt;硕磐机密 · 指标体系咨询方法论&lt;/Text&gt;&#10;    &lt;Text style={{ fontSize: 14, color: 'rgba(255,255,255,0.5)', marginLeft: 12 }}&gt;30 / 3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4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425" name=""/>
          <p:cNvSpPr/>
          <p:nvPr/>
        </p:nvSpPr>
        <p:spPr>
          <a:xfrm rot="0" flipH="0" flipV="0">
            <a:off x="6286500" y="0"/>
            <a:ext cx="5905500" cy="6858000"/>
          </a:xfrm>
          <a:prstGeom prst="rect">
            <a:avLst/>
          </a:prstGeom>
          <a:gradFill>
            <a:gsLst>
              <a:gs pos="0">
                <a:srgbClr val="FA4F24">
                  <a:alpha val="24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1426" name=""/>
          <p:cNvSpPr/>
          <p:nvPr/>
        </p:nvSpPr>
        <p:spPr>
          <a:xfrm rot="0" flipH="0" flipV="0">
            <a:off x="838200" y="7239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27" name="" descr="{&quot;isTemplate&quot;:true,&quot;type&quot;:&quot;text&quot;}"/>
          <p:cNvSpPr txBox="1"/>
          <p:nvPr/>
        </p:nvSpPr>
        <p:spPr>
          <a:xfrm rot="0" flipH="0" flipV="0">
            <a:off x="1104900" y="704850"/>
            <a:ext cx="1238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结语</a:t>
            </a: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第十一册</a:t>
            </a:r>
            <a:endParaRPr/>
          </a:p>
        </p:txBody>
      </p:sp>
      <p:sp>
        <p:nvSpPr>
          <p:cNvPr id="1428" name="" descr="{&quot;isTemplate&quot;:true,&quot;type&quot;:&quot;text&quot;}"/>
          <p:cNvSpPr txBox="1"/>
          <p:nvPr/>
        </p:nvSpPr>
        <p:spPr>
          <a:xfrm rot="0" flipH="0" flipV="0">
            <a:off x="838200" y="1104900"/>
            <a:ext cx="10515600" cy="6286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300" b="1">
                <a:solidFill>
                  <a:srgbClr val="FFFFFF"/>
                </a:solidFill>
                <a:latin typeface="Microsoft YaHei"/>
                <a:ea typeface="Microsoft YaHei"/>
              </a:rPr>
              <a:t>十一册走完，</a:t>
            </a:r>
            <a:r>
              <a:rPr lang="en-US" sz="33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4A </a:t>
            </a:r>
            <a:r>
              <a:rPr lang="zh-CN" sz="3300" b="1">
                <a:solidFill>
                  <a:srgbClr val="FFFFFF"/>
                </a:solidFill>
                <a:latin typeface="Microsoft YaHei"/>
                <a:ea typeface="Microsoft YaHei"/>
              </a:rPr>
              <a:t>的六个新实践点</a:t>
            </a:r>
            <a:r>
              <a:rPr lang="zh-CN" sz="3300" b="1">
                <a:solidFill>
                  <a:srgbClr val="FA4F24"/>
                </a:solidFill>
                <a:latin typeface="Microsoft YaHei"/>
                <a:ea typeface="Microsoft YaHei"/>
              </a:rPr>
              <a:t>都落到了同一件事上</a:t>
            </a:r>
            <a:endParaRPr/>
          </a:p>
        </p:txBody>
      </p:sp>
      <p:sp>
        <p:nvSpPr>
          <p:cNvPr id="1429" name=""/>
          <p:cNvSpPr/>
          <p:nvPr/>
        </p:nvSpPr>
        <p:spPr>
          <a:xfrm rot="0" flipH="0" flipV="0">
            <a:off x="838200" y="19812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30" name=""/>
          <p:cNvSpPr/>
          <p:nvPr/>
        </p:nvSpPr>
        <p:spPr>
          <a:xfrm rot="0" flipH="0" flipV="0">
            <a:off x="838200" y="2524125"/>
            <a:ext cx="1400175" cy="923925"/>
          </a:xfrm>
          <a:prstGeom prst="roundRect">
            <a:avLst>
              <a:gd name="adj" fmla="val 4124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1431" name=""/>
          <p:cNvSpPr/>
          <p:nvPr/>
        </p:nvSpPr>
        <p:spPr>
          <a:xfrm rot="0" flipH="0" flipV="0">
            <a:off x="838200" y="2524125"/>
            <a:ext cx="1400175" cy="923925"/>
          </a:xfrm>
          <a:custGeom>
            <a:pathLst>
              <a:path w="147" h="97">
                <a:moveTo>
                  <a:pt x="143" y="0"/>
                </a:moveTo>
                <a:cubicBezTo>
                  <a:pt x="145" y="0"/>
                  <a:pt x="147" y="2"/>
                  <a:pt x="147" y="4"/>
                </a:cubicBezTo>
                <a:cubicBezTo>
                  <a:pt x="147" y="3"/>
                  <a:pt x="146" y="3"/>
                  <a:pt x="146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143" y="0"/>
                </a:lnTo>
                <a:close/>
              </a:path>
            </a:pathLst>
          </a:custGeom>
          <a:solidFill>
            <a:srgbClr val="FFFFFF">
              <a:alpha val="16000"/>
            </a:srgbClr>
          </a:solidFill>
          <a:ln/>
        </p:spPr>
        <p:txBody>
          <a:bodyPr/>
          <a:p/>
        </p:txBody>
      </p:sp>
      <p:sp>
        <p:nvSpPr>
          <p:cNvPr id="1432" name="" descr="{&quot;isTemplate&quot;:true,&quot;type&quot;:&quot;text&quot;}"/>
          <p:cNvSpPr txBox="1"/>
          <p:nvPr/>
        </p:nvSpPr>
        <p:spPr>
          <a:xfrm rot="0" flipH="0" flipV="0">
            <a:off x="971550" y="26479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Ontology</a:t>
            </a:r>
            <a:endParaRPr/>
          </a:p>
        </p:txBody>
      </p:sp>
      <p:sp>
        <p:nvSpPr>
          <p:cNvPr id="1433" name="" descr="{&quot;isTemplate&quot;:true,&quot;type&quot;:&quot;text&quot;}"/>
          <p:cNvSpPr txBox="1"/>
          <p:nvPr/>
        </p:nvSpPr>
        <p:spPr>
          <a:xfrm rot="0" flipH="0" flipV="0">
            <a:off x="971550" y="2876550"/>
            <a:ext cx="113347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语义与动力学合一</a:t>
            </a:r>
            <a:endParaRPr/>
          </a:p>
        </p:txBody>
      </p:sp>
      <p:sp>
        <p:nvSpPr>
          <p:cNvPr id="1434" name="" descr="{&quot;isTemplate&quot;:true,&quot;type&quot;:&quot;text&quot;}"/>
          <p:cNvSpPr txBox="1"/>
          <p:nvPr/>
        </p:nvSpPr>
        <p:spPr>
          <a:xfrm rot="0" flipH="0" flipV="0">
            <a:off x="971550" y="3124200"/>
            <a:ext cx="113347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本体是</a:t>
            </a:r>
            <a:r>
              <a:rPr lang="en-US" sz="788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4A </a:t>
            </a:r>
            <a:r>
              <a:rPr lang="zh-CN" sz="788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的汇流点</a:t>
            </a:r>
            <a:endParaRPr/>
          </a:p>
        </p:txBody>
      </p:sp>
      <p:sp>
        <p:nvSpPr>
          <p:cNvPr id="1435" name=""/>
          <p:cNvSpPr/>
          <p:nvPr/>
        </p:nvSpPr>
        <p:spPr>
          <a:xfrm rot="0" flipH="0" flipV="0">
            <a:off x="2352675" y="2524125"/>
            <a:ext cx="1409700" cy="923925"/>
          </a:xfrm>
          <a:prstGeom prst="roundRect">
            <a:avLst>
              <a:gd name="adj" fmla="val 4124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1436" name=""/>
          <p:cNvSpPr/>
          <p:nvPr/>
        </p:nvSpPr>
        <p:spPr>
          <a:xfrm rot="0" flipH="0" flipV="0">
            <a:off x="2352675" y="2524125"/>
            <a:ext cx="1409700" cy="923925"/>
          </a:xfrm>
          <a:custGeom>
            <a:pathLst>
              <a:path w="148" h="97">
                <a:moveTo>
                  <a:pt x="144" y="0"/>
                </a:moveTo>
                <a:cubicBezTo>
                  <a:pt x="146" y="0"/>
                  <a:pt x="148" y="2"/>
                  <a:pt x="148" y="4"/>
                </a:cubicBezTo>
                <a:cubicBezTo>
                  <a:pt x="148" y="3"/>
                  <a:pt x="147" y="3"/>
                  <a:pt x="147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144" y="0"/>
                </a:lnTo>
                <a:close/>
              </a:path>
            </a:pathLst>
          </a:custGeom>
          <a:solidFill>
            <a:srgbClr val="FFFFFF">
              <a:alpha val="16000"/>
            </a:srgbClr>
          </a:solidFill>
          <a:ln/>
        </p:spPr>
        <p:txBody>
          <a:bodyPr/>
          <a:p/>
        </p:txBody>
      </p:sp>
      <p:sp>
        <p:nvSpPr>
          <p:cNvPr id="1437" name="" descr="{&quot;isTemplate&quot;:true,&quot;type&quot;:&quot;text&quot;}"/>
          <p:cNvSpPr txBox="1"/>
          <p:nvPr/>
        </p:nvSpPr>
        <p:spPr>
          <a:xfrm rot="0" flipH="0" flipV="0">
            <a:off x="2486025" y="2647950"/>
            <a:ext cx="114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Agent</a:t>
            </a:r>
            <a:endParaRPr/>
          </a:p>
        </p:txBody>
      </p:sp>
      <p:sp>
        <p:nvSpPr>
          <p:cNvPr id="1438" name="" descr="{&quot;isTemplate&quot;:true,&quot;type&quot;:&quot;text&quot;}"/>
          <p:cNvSpPr txBox="1"/>
          <p:nvPr/>
        </p:nvSpPr>
        <p:spPr>
          <a:xfrm rot="0" flipH="0" flipV="0">
            <a:off x="2486025" y="2876550"/>
            <a:ext cx="114300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明确谁来判断</a:t>
            </a:r>
            <a:endParaRPr/>
          </a:p>
        </p:txBody>
      </p:sp>
      <p:sp>
        <p:nvSpPr>
          <p:cNvPr id="1439" name="" descr="{&quot;isTemplate&quot;:true,&quot;type&quot;:&quot;text&quot;}"/>
          <p:cNvSpPr txBox="1"/>
          <p:nvPr/>
        </p:nvSpPr>
        <p:spPr>
          <a:xfrm rot="0" flipH="0" flipV="0">
            <a:off x="2486025" y="3124200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权限多大、何时停手</a:t>
            </a:r>
            <a:endParaRPr/>
          </a:p>
        </p:txBody>
      </p:sp>
      <p:sp>
        <p:nvSpPr>
          <p:cNvPr id="1440" name=""/>
          <p:cNvSpPr/>
          <p:nvPr/>
        </p:nvSpPr>
        <p:spPr>
          <a:xfrm rot="0" flipH="0" flipV="0">
            <a:off x="3876675" y="2524125"/>
            <a:ext cx="1400175" cy="923925"/>
          </a:xfrm>
          <a:prstGeom prst="roundRect">
            <a:avLst>
              <a:gd name="adj" fmla="val 4124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1441" name=""/>
          <p:cNvSpPr/>
          <p:nvPr/>
        </p:nvSpPr>
        <p:spPr>
          <a:xfrm rot="0" flipH="0" flipV="0">
            <a:off x="3876675" y="2524125"/>
            <a:ext cx="1400175" cy="923925"/>
          </a:xfrm>
          <a:custGeom>
            <a:pathLst>
              <a:path w="147" h="97">
                <a:moveTo>
                  <a:pt x="143" y="0"/>
                </a:moveTo>
                <a:cubicBezTo>
                  <a:pt x="145" y="0"/>
                  <a:pt x="147" y="2"/>
                  <a:pt x="147" y="4"/>
                </a:cubicBezTo>
                <a:cubicBezTo>
                  <a:pt x="147" y="3"/>
                  <a:pt x="146" y="3"/>
                  <a:pt x="146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143" y="0"/>
                </a:lnTo>
                <a:close/>
              </a:path>
            </a:pathLst>
          </a:custGeom>
          <a:solidFill>
            <a:srgbClr val="FFFFFF">
              <a:alpha val="16000"/>
            </a:srgbClr>
          </a:solidFill>
          <a:ln/>
        </p:spPr>
        <p:txBody>
          <a:bodyPr/>
          <a:p/>
        </p:txBody>
      </p:sp>
      <p:sp>
        <p:nvSpPr>
          <p:cNvPr id="1442" name="" descr="{&quot;isTemplate&quot;:true,&quot;type&quot;:&quot;text&quot;}"/>
          <p:cNvSpPr txBox="1"/>
          <p:nvPr/>
        </p:nvSpPr>
        <p:spPr>
          <a:xfrm rot="0" flipH="0" flipV="0">
            <a:off x="4010025" y="26479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知识库</a:t>
            </a:r>
            <a:endParaRPr/>
          </a:p>
        </p:txBody>
      </p:sp>
      <p:sp>
        <p:nvSpPr>
          <p:cNvPr id="1443" name="" descr="{&quot;isTemplate&quot;:true,&quot;type&quot;:&quot;text&quot;}"/>
          <p:cNvSpPr txBox="1"/>
          <p:nvPr/>
        </p:nvSpPr>
        <p:spPr>
          <a:xfrm rot="0" flipH="0" flipV="0">
            <a:off x="4010025" y="2876550"/>
            <a:ext cx="113347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知识要被治理</a:t>
            </a:r>
            <a:endParaRPr/>
          </a:p>
        </p:txBody>
      </p:sp>
      <p:sp>
        <p:nvSpPr>
          <p:cNvPr id="1444" name="" descr="{&quot;isTemplate&quot;:true,&quot;type&quot;:&quot;text&quot;}"/>
          <p:cNvSpPr txBox="1"/>
          <p:nvPr/>
        </p:nvSpPr>
        <p:spPr>
          <a:xfrm rot="0" flipH="0" flipV="0">
            <a:off x="4010025" y="3124200"/>
            <a:ext cx="113347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不只是被存起来</a:t>
            </a:r>
            <a:endParaRPr/>
          </a:p>
        </p:txBody>
      </p:sp>
      <p:sp>
        <p:nvSpPr>
          <p:cNvPr id="1445" name=""/>
          <p:cNvSpPr/>
          <p:nvPr/>
        </p:nvSpPr>
        <p:spPr>
          <a:xfrm rot="0" flipH="0" flipV="0">
            <a:off x="5391150" y="2524125"/>
            <a:ext cx="1409700" cy="923925"/>
          </a:xfrm>
          <a:prstGeom prst="roundRect">
            <a:avLst>
              <a:gd name="adj" fmla="val 4124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1446" name=""/>
          <p:cNvSpPr/>
          <p:nvPr/>
        </p:nvSpPr>
        <p:spPr>
          <a:xfrm rot="0" flipH="0" flipV="0">
            <a:off x="5391150" y="2524125"/>
            <a:ext cx="1409700" cy="923925"/>
          </a:xfrm>
          <a:custGeom>
            <a:pathLst>
              <a:path w="148" h="97">
                <a:moveTo>
                  <a:pt x="144" y="0"/>
                </a:moveTo>
                <a:cubicBezTo>
                  <a:pt x="146" y="0"/>
                  <a:pt x="148" y="2"/>
                  <a:pt x="148" y="4"/>
                </a:cubicBezTo>
                <a:cubicBezTo>
                  <a:pt x="148" y="3"/>
                  <a:pt x="147" y="3"/>
                  <a:pt x="147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144" y="0"/>
                </a:lnTo>
                <a:close/>
              </a:path>
            </a:pathLst>
          </a:custGeom>
          <a:solidFill>
            <a:srgbClr val="FFFFFF">
              <a:alpha val="16000"/>
            </a:srgbClr>
          </a:solidFill>
          <a:ln/>
        </p:spPr>
        <p:txBody>
          <a:bodyPr/>
          <a:p/>
        </p:txBody>
      </p:sp>
      <p:sp>
        <p:nvSpPr>
          <p:cNvPr id="1447" name="" descr="{&quot;isTemplate&quot;:true,&quot;type&quot;:&quot;text&quot;}"/>
          <p:cNvSpPr txBox="1"/>
          <p:nvPr/>
        </p:nvSpPr>
        <p:spPr>
          <a:xfrm rot="0" flipH="0" flipV="0">
            <a:off x="5524500" y="2647950"/>
            <a:ext cx="114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管道处理</a:t>
            </a:r>
            <a:endParaRPr/>
          </a:p>
        </p:txBody>
      </p:sp>
      <p:sp>
        <p:nvSpPr>
          <p:cNvPr id="1448" name="" descr="{&quot;isTemplate&quot;:true,&quot;type&quot;:&quot;text&quot;}"/>
          <p:cNvSpPr txBox="1"/>
          <p:nvPr/>
        </p:nvSpPr>
        <p:spPr>
          <a:xfrm rot="0" flipH="0" flipV="0">
            <a:off x="5524500" y="2876550"/>
            <a:ext cx="114300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进出本体可管可追可退</a:t>
            </a:r>
            <a:endParaRPr/>
          </a:p>
        </p:txBody>
      </p:sp>
      <p:sp>
        <p:nvSpPr>
          <p:cNvPr id="1449" name="" descr="{&quot;isTemplate&quot;:true,&quot;type&quot;:&quot;text&quot;}"/>
          <p:cNvSpPr txBox="1"/>
          <p:nvPr/>
        </p:nvSpPr>
        <p:spPr>
          <a:xfrm rot="0" flipH="0" flipV="0">
            <a:off x="5524500" y="3124200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一条链路的三个要求</a:t>
            </a:r>
            <a:endParaRPr/>
          </a:p>
        </p:txBody>
      </p:sp>
      <p:sp>
        <p:nvSpPr>
          <p:cNvPr id="1450" name=""/>
          <p:cNvSpPr/>
          <p:nvPr/>
        </p:nvSpPr>
        <p:spPr>
          <a:xfrm rot="0" flipH="0" flipV="0">
            <a:off x="6915150" y="2524125"/>
            <a:ext cx="1400175" cy="923925"/>
          </a:xfrm>
          <a:prstGeom prst="roundRect">
            <a:avLst>
              <a:gd name="adj" fmla="val 4124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1451" name=""/>
          <p:cNvSpPr/>
          <p:nvPr/>
        </p:nvSpPr>
        <p:spPr>
          <a:xfrm rot="0" flipH="0" flipV="0">
            <a:off x="6915150" y="2524125"/>
            <a:ext cx="1400175" cy="923925"/>
          </a:xfrm>
          <a:custGeom>
            <a:pathLst>
              <a:path w="147" h="97">
                <a:moveTo>
                  <a:pt x="143" y="0"/>
                </a:moveTo>
                <a:cubicBezTo>
                  <a:pt x="145" y="0"/>
                  <a:pt x="147" y="2"/>
                  <a:pt x="147" y="4"/>
                </a:cubicBezTo>
                <a:cubicBezTo>
                  <a:pt x="147" y="3"/>
                  <a:pt x="146" y="3"/>
                  <a:pt x="146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143" y="0"/>
                </a:lnTo>
                <a:close/>
              </a:path>
            </a:pathLst>
          </a:custGeom>
          <a:solidFill>
            <a:srgbClr val="FFFFFF">
              <a:alpha val="16000"/>
            </a:srgbClr>
          </a:solidFill>
          <a:ln/>
        </p:spPr>
        <p:txBody>
          <a:bodyPr/>
          <a:p/>
        </p:txBody>
      </p:sp>
      <p:sp>
        <p:nvSpPr>
          <p:cNvPr id="1452" name="" descr="{&quot;isTemplate&quot;:true,&quot;type&quot;:&quot;text&quot;}"/>
          <p:cNvSpPr txBox="1"/>
          <p:nvPr/>
        </p:nvSpPr>
        <p:spPr>
          <a:xfrm rot="0" flipH="0" flipV="0">
            <a:off x="7048500" y="26479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数据治理</a:t>
            </a:r>
            <a:endParaRPr/>
          </a:p>
        </p:txBody>
      </p:sp>
      <p:sp>
        <p:nvSpPr>
          <p:cNvPr id="1453" name="" descr="{&quot;isTemplate&quot;:true,&quot;type&quot;:&quot;text&quot;}"/>
          <p:cNvSpPr txBox="1"/>
          <p:nvPr/>
        </p:nvSpPr>
        <p:spPr>
          <a:xfrm rot="0" flipH="0" flipV="0">
            <a:off x="7048500" y="2876550"/>
            <a:ext cx="113347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治理对象扩展到动作</a:t>
            </a:r>
            <a:endParaRPr/>
          </a:p>
        </p:txBody>
      </p:sp>
      <p:sp>
        <p:nvSpPr>
          <p:cNvPr id="1454" name="" descr="{&quot;isTemplate&quot;:true,&quot;type&quot;:&quot;text&quot;}"/>
          <p:cNvSpPr txBox="1"/>
          <p:nvPr/>
        </p:nvSpPr>
        <p:spPr>
          <a:xfrm rot="0" flipH="0" flipV="0">
            <a:off x="7048500" y="3124200"/>
            <a:ext cx="113347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策略、记忆、日志都受管</a:t>
            </a:r>
            <a:endParaRPr/>
          </a:p>
        </p:txBody>
      </p:sp>
      <p:sp>
        <p:nvSpPr>
          <p:cNvPr id="1455" name=""/>
          <p:cNvSpPr/>
          <p:nvPr/>
        </p:nvSpPr>
        <p:spPr>
          <a:xfrm rot="0" flipH="0" flipV="0">
            <a:off x="8429625" y="2524125"/>
            <a:ext cx="1409700" cy="923925"/>
          </a:xfrm>
          <a:prstGeom prst="roundRect">
            <a:avLst>
              <a:gd name="adj" fmla="val 4124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1456" name=""/>
          <p:cNvSpPr/>
          <p:nvPr/>
        </p:nvSpPr>
        <p:spPr>
          <a:xfrm rot="0" flipH="0" flipV="0">
            <a:off x="8429625" y="2524125"/>
            <a:ext cx="1409700" cy="923925"/>
          </a:xfrm>
          <a:custGeom>
            <a:pathLst>
              <a:path w="148" h="97">
                <a:moveTo>
                  <a:pt x="144" y="0"/>
                </a:moveTo>
                <a:cubicBezTo>
                  <a:pt x="146" y="0"/>
                  <a:pt x="148" y="2"/>
                  <a:pt x="148" y="4"/>
                </a:cubicBezTo>
                <a:cubicBezTo>
                  <a:pt x="148" y="3"/>
                  <a:pt x="147" y="3"/>
                  <a:pt x="147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144" y="0"/>
                </a:lnTo>
                <a:close/>
              </a:path>
            </a:pathLst>
          </a:custGeom>
          <a:solidFill>
            <a:srgbClr val="FFFFFF">
              <a:alpha val="16000"/>
            </a:srgbClr>
          </a:solidFill>
          <a:ln/>
        </p:spPr>
        <p:txBody>
          <a:bodyPr/>
          <a:p/>
        </p:txBody>
      </p:sp>
      <p:sp>
        <p:nvSpPr>
          <p:cNvPr id="1457" name="" descr="{&quot;isTemplate&quot;:true,&quot;type&quot;:&quot;text&quot;}"/>
          <p:cNvSpPr txBox="1"/>
          <p:nvPr/>
        </p:nvSpPr>
        <p:spPr>
          <a:xfrm rot="0" flipH="0" flipV="0">
            <a:off x="8562975" y="2647950"/>
            <a:ext cx="114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主数据</a:t>
            </a:r>
            <a:endParaRPr/>
          </a:p>
        </p:txBody>
      </p:sp>
      <p:sp>
        <p:nvSpPr>
          <p:cNvPr id="1458" name="" descr="{&quot;isTemplate&quot;:true,&quot;type&quot;:&quot;text&quot;}"/>
          <p:cNvSpPr txBox="1"/>
          <p:nvPr/>
        </p:nvSpPr>
        <p:spPr>
          <a:xfrm rot="0" flipH="0" flipV="0">
            <a:off x="8562975" y="2876550"/>
            <a:ext cx="114300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不是模块，是建模方式</a:t>
            </a:r>
            <a:endParaRPr/>
          </a:p>
        </p:txBody>
      </p:sp>
      <p:sp>
        <p:nvSpPr>
          <p:cNvPr id="1459" name="" descr="{&quot;isTemplate&quot;:true,&quot;type&quot;:&quot;text&quot;}"/>
          <p:cNvSpPr txBox="1"/>
          <p:nvPr/>
        </p:nvSpPr>
        <p:spPr>
          <a:xfrm rot="0" flipH="0" flipV="0">
            <a:off x="8562975" y="3124200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先定主键再谈匹配</a:t>
            </a:r>
            <a:endParaRPr/>
          </a:p>
        </p:txBody>
      </p:sp>
      <p:sp>
        <p:nvSpPr>
          <p:cNvPr id="1460" name=""/>
          <p:cNvSpPr/>
          <p:nvPr/>
        </p:nvSpPr>
        <p:spPr>
          <a:xfrm rot="0" flipH="0" flipV="0">
            <a:off x="9953625" y="2524125"/>
            <a:ext cx="1400175" cy="923925"/>
          </a:xfrm>
          <a:prstGeom prst="roundRect">
            <a:avLst>
              <a:gd name="adj" fmla="val 4124"/>
            </a:avLst>
          </a:prstGeom>
          <a:solidFill>
            <a:srgbClr val="FA4F24">
              <a:alpha val="22000"/>
            </a:srgbClr>
          </a:solidFill>
          <a:ln/>
        </p:spPr>
        <p:txBody>
          <a:bodyPr/>
          <a:p/>
        </p:txBody>
      </p:sp>
      <p:sp>
        <p:nvSpPr>
          <p:cNvPr id="1461" name=""/>
          <p:cNvSpPr/>
          <p:nvPr/>
        </p:nvSpPr>
        <p:spPr>
          <a:xfrm rot="0" flipH="0" flipV="0">
            <a:off x="9953625" y="2524125"/>
            <a:ext cx="1400175" cy="923925"/>
          </a:xfrm>
          <a:custGeom>
            <a:pathLst>
              <a:path w="147" h="97">
                <a:moveTo>
                  <a:pt x="143" y="0"/>
                </a:moveTo>
                <a:cubicBezTo>
                  <a:pt x="145" y="0"/>
                  <a:pt x="147" y="2"/>
                  <a:pt x="147" y="4"/>
                </a:cubicBezTo>
                <a:cubicBezTo>
                  <a:pt x="147" y="3"/>
                  <a:pt x="146" y="3"/>
                  <a:pt x="146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143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62" name="" descr="{&quot;isTemplate&quot;:true,&quot;type&quot;:&quot;text&quot;}"/>
          <p:cNvSpPr txBox="1"/>
          <p:nvPr/>
        </p:nvSpPr>
        <p:spPr>
          <a:xfrm rot="0" flipH="0" flipV="0">
            <a:off x="10086975" y="2647950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A4F24"/>
                </a:solidFill>
                <a:latin typeface="Microsoft YaHei"/>
                <a:ea typeface="Microsoft YaHei"/>
              </a:rPr>
              <a:t>指标体系</a:t>
            </a:r>
            <a:endParaRPr/>
          </a:p>
        </p:txBody>
      </p:sp>
      <p:sp>
        <p:nvSpPr>
          <p:cNvPr id="1463" name="" descr="{&quot;isTemplate&quot;:true,&quot;type&quot;:&quot;text&quot;}"/>
          <p:cNvSpPr txBox="1"/>
          <p:nvPr/>
        </p:nvSpPr>
        <p:spPr>
          <a:xfrm rot="0" flipH="0" flipV="0">
            <a:off x="10086975" y="2876550"/>
            <a:ext cx="1133475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不是报表，是派生属性</a:t>
            </a:r>
            <a:endParaRPr/>
          </a:p>
        </p:txBody>
      </p:sp>
      <p:sp>
        <p:nvSpPr>
          <p:cNvPr id="1464" name="" descr="{&quot;isTemplate&quot;:true,&quot;type&quot;:&quot;text&quot;}"/>
          <p:cNvSpPr txBox="1"/>
          <p:nvPr/>
        </p:nvSpPr>
        <p:spPr>
          <a:xfrm rot="0" flipH="0" flipV="0">
            <a:off x="10086975" y="3124200"/>
            <a:ext cx="113347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先把那一份口径立住</a:t>
            </a:r>
            <a:endParaRPr/>
          </a:p>
        </p:txBody>
      </p:sp>
      <p:sp>
        <p:nvSpPr>
          <p:cNvPr id="1465" name=""/>
          <p:cNvSpPr/>
          <p:nvPr/>
        </p:nvSpPr>
        <p:spPr>
          <a:xfrm rot="0" flipH="0" flipV="0">
            <a:off x="838200" y="4438650"/>
            <a:ext cx="10515600" cy="1171575"/>
          </a:xfrm>
          <a:prstGeom prst="roundRect">
            <a:avLst>
              <a:gd name="adj" fmla="val 3252"/>
            </a:avLst>
          </a:prstGeom>
          <a:solidFill>
            <a:srgbClr val="FA4F24">
              <a:alpha val="16000"/>
            </a:srgbClr>
          </a:solidFill>
          <a:ln/>
        </p:spPr>
        <p:txBody>
          <a:bodyPr/>
          <a:p/>
        </p:txBody>
      </p:sp>
      <p:sp>
        <p:nvSpPr>
          <p:cNvPr id="1466" name="" descr="{&quot;isTemplate&quot;:true,&quot;type&quot;:&quot;text&quot;}"/>
          <p:cNvSpPr txBox="1"/>
          <p:nvPr/>
        </p:nvSpPr>
        <p:spPr>
          <a:xfrm rot="0" flipH="0" flipV="0">
            <a:off x="1047750" y="4591050"/>
            <a:ext cx="1123950" cy="866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BA15C"/>
                </a:solidFill>
                <a:latin typeface="Microsoft YaHei"/>
                <a:ea typeface="Microsoft YaHei"/>
              </a:rPr>
              <a:t>串起来是一句话</a:t>
            </a:r>
            <a:endParaRPr/>
          </a:p>
        </p:txBody>
      </p:sp>
      <p:sp>
        <p:nvSpPr>
          <p:cNvPr id="1467" name=""/>
          <p:cNvSpPr/>
          <p:nvPr/>
        </p:nvSpPr>
        <p:spPr>
          <a:xfrm rot="0" flipH="0" flipV="0">
            <a:off x="2381250" y="4591050"/>
            <a:ext cx="9525" cy="86677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p/>
        </p:txBody>
      </p:sp>
      <p:sp>
        <p:nvSpPr>
          <p:cNvPr id="1468" name="" descr="{&quot;isTemplate&quot;:true,&quot;type&quot;:&quot;text&quot;}"/>
          <p:cNvSpPr txBox="1"/>
          <p:nvPr/>
        </p:nvSpPr>
        <p:spPr>
          <a:xfrm rot="0" flipH="0" flipV="0">
            <a:off x="2600325" y="4591050"/>
            <a:ext cx="8543925" cy="2476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13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六个新实践点做的是同一件事：</a:t>
            </a:r>
            <a:r>
              <a:rPr lang="zh-CN" sz="1013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把原本靠人记住的东西，变成模型里可查询、可继承、可审计、可退回的东西</a:t>
            </a:r>
            <a:r>
              <a:rPr lang="zh-CN" sz="1013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469" name="" descr="{&quot;isTemplate&quot;:true,&quot;type&quot;:&quot;text&quot;}"/>
          <p:cNvSpPr txBox="1"/>
          <p:nvPr/>
        </p:nvSpPr>
        <p:spPr>
          <a:xfrm rot="0" flipH="0" flipV="0">
            <a:off x="2600325" y="4905375"/>
            <a:ext cx="8543925" cy="2476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13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实体、语义、知识、链路、动作、口径——凡是过去「大家都知道但没人说得清」的东西，这一轮都要变成可执行的定义。</a:t>
            </a:r>
            <a:endParaRPr/>
          </a:p>
        </p:txBody>
      </p:sp>
      <p:sp>
        <p:nvSpPr>
          <p:cNvPr id="1470" name=""/>
          <p:cNvSpPr/>
          <p:nvPr/>
        </p:nvSpPr>
        <p:spPr>
          <a:xfrm rot="0" flipH="0" flipV="0">
            <a:off x="2600325" y="5248275"/>
            <a:ext cx="38100" cy="2095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71" name="" descr="{&quot;isTemplate&quot;:true,&quot;type&quot;:&quot;text&quot;}"/>
          <p:cNvSpPr txBox="1"/>
          <p:nvPr/>
        </p:nvSpPr>
        <p:spPr>
          <a:xfrm rot="0" flipH="0" flipV="0">
            <a:off x="2733675" y="5267325"/>
            <a:ext cx="4000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所以第一件事永远是同一句：先定义，再建模，最后才谈智能。</a:t>
            </a:r>
            <a:endParaRPr/>
          </a:p>
        </p:txBody>
      </p:sp>
      <p:sp>
        <p:nvSpPr>
          <p:cNvPr id="1472" name="" descr="{&quot;isTemplate&quot;:true,&quot;type&quot;:&quot;text&quot;}"/>
          <p:cNvSpPr txBox="1"/>
          <p:nvPr/>
        </p:nvSpPr>
        <p:spPr>
          <a:xfrm rot="0" flipH="0" flipV="0">
            <a:off x="8820150" y="6257925"/>
            <a:ext cx="1847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指标体系咨询方法论</a:t>
            </a:r>
            <a:endParaRPr/>
          </a:p>
        </p:txBody>
      </p:sp>
      <p:sp>
        <p:nvSpPr>
          <p:cNvPr id="1473" name="" descr="{&quot;isTemplate&quot;:true,&quot;type&quot;:&quot;text&quot;}"/>
          <p:cNvSpPr txBox="1"/>
          <p:nvPr/>
        </p:nvSpPr>
        <p:spPr>
          <a:xfrm rot="0" flipH="0" flipV="0">
            <a:off x="10896600" y="62579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30 / 30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2026-10-12T10:38:44Z</dcterms:created>
  <dcterms:modified xsi:type="dcterms:W3CDTF">2026-10-12T10:38:44Z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{"AIGC":{"Label":"1","ContentProducer":"00119111010856365494821B355","ProduceID":"01a12de42f457bc1b83024841bbe123e","ReservedCode1":"","ContentPropagator":"00119111010856365494821B355","PropagateID":"01a12de42f457bc1b83024841bbe123e","ReservedCode2":""}}</vt:lpwstr>
  </property>
</Properties>
</file>