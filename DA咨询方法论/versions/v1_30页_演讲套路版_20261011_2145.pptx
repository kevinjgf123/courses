
<file path=[Content_Types].xml><?xml version="1.0" encoding="utf-8"?>
<Types xmlns="http://schemas.openxmlformats.org/package/2006/content-types">
  <Default Extension="rels" ContentType="application/vnd.openxmlformats-package.relationships+xml"/>
  <Default Extension="xml" ContentType="application/xml"/>
  <Override PartName="/ppt/slides/slide13.xml" ContentType="application/vnd.openxmlformats-officedocument.presentationml.slide+xml"/>
  <Override PartName="/ppt/slides/slide21.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s/slide12.xml" ContentType="application/vnd.openxmlformats-officedocument.presentationml.slide+xml"/>
  <Override PartName="/ppt/slideMasters/slideMaster1.xml" ContentType="application/vnd.openxmlformats-officedocument.presentationml.slideMaster+xml"/>
  <Override PartName="/ppt/presProps.xml" ContentType="application/vnd.openxmlformats-officedocument.presentationml.presProps+xml"/>
  <Override PartName="/ppt/slides/slide15.xml" ContentType="application/vnd.openxmlformats-officedocument.presentationml.slide+xml"/>
  <Override PartName="/ppt/slides/slide28.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Slides/notesSlide27.xml" ContentType="application/vnd.openxmlformats-officedocument.presentationml.notesSlide+xml"/>
  <Override PartName="/ppt/slides/slide18.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0.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23.xml" ContentType="application/vnd.openxmlformats-officedocument.presentationml.slide+xml"/>
  <Override PartName="/ppt/slides/slide4.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6.xml" ContentType="application/vnd.openxmlformats-officedocument.presentationml.slide+xml"/>
  <Override PartName="/ppt/slides/slide7.xml" ContentType="application/vnd.openxmlformats-officedocument.presentationml.slide+xml"/>
  <Override PartName="/ppt/viewProps.xml" ContentType="application/vnd.openxmlformats-officedocument.presentationml.viewProps+xml"/>
  <Override PartName="/ppt/slides/slide27.xml" ContentType="application/vnd.openxmlformats-officedocument.presentationml.slide+xml"/>
  <Override PartName="/ppt/slides/slide9.xml" ContentType="application/vnd.openxmlformats-officedocument.presentationml.slide+xml"/>
  <Override PartName="/ppt/slides/slide29.xml" ContentType="application/vnd.openxmlformats-officedocument.presentationml.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Layouts/slideLayout1.xml" ContentType="application/vnd.openxmlformats-officedocument.presentationml.slideLayout+xml"/>
  <Override PartName="/ppt/notesSlides/notesSlide11.xml" ContentType="application/vnd.openxmlformats-officedocument.presentationml.notesSlide+xml"/>
  <Override PartName="/ppt/presentation.xml" ContentType="application/vnd.openxmlformats-officedocument.presentationml.presentation.main+xml"/>
  <Override PartName="/docProps/core.xml" ContentType="application/vnd.openxmlformats-package.core-properties+xml"/>
  <Override PartName="/ppt/notesSlides/notesSlide10.xml" ContentType="application/vnd.openxmlformats-officedocument.presentationml.notesSlide+xml"/>
  <Override PartName="/ppt/notesSlides/notesSlide18.xml" ContentType="application/vnd.openxmlformats-officedocument.presentationml.notesSlide+xml"/>
  <Override PartName="/docProps/custom.xml" ContentType="application/vnd.openxmlformats-officedocument.custom-properties+xml"/>
  <Override PartName="/ppt/theme/theme2.xml" ContentType="application/vnd.openxmlformats-officedocument.theme+xml"/>
  <Override PartName="/ppt/theme/theme1.xml" ContentType="application/vnd.openxmlformats-officedocument.them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19.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7.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Types>
</file>

<file path=_rels/.rels><?xml version="1.0" encoding="UTF-8" standalone="yes"?><Relationships xmlns="http://schemas.openxmlformats.org/package/2006/relationships"><Relationship Id="rId0" Type="http://schemas.openxmlformats.org/officeDocument/2006/relationships/officeDocument" Target="ppt/presentation.xml" /><Relationship Id="rId1" Type="http://schemas.openxmlformats.org/package/2006/relationships/metadata/core-properties" Target="docProps/core.xml" /><Relationship Id="rId2" Type="http://schemas.openxmlformats.org/officeDocument/2006/relationships/extended-properties" Target="docProps/app.xml" /><Relationship Id="rId3" Type="http://schemas.openxmlformats.org/officeDocument/2006/relationships/custom-properties" Target="docProps/custom.xml" /></Relationships>
</file>

<file path=ppt/presentation.xml><?xml version="1.0" encoding="utf-8"?>
<p:presentation xmlns:p="http://schemas.openxmlformats.org/presentationml/2006/main" xmlns:a="http://schemas.openxmlformats.org/drawingml/2006/main" xmlns:r="http://schemas.openxmlformats.org/officeDocument/2006/relationships" firstSlideNum="1">
  <p:sldMasterIdLst>
    <p:sldMasterId id="2147483648" r:id="rId0"/>
  </p:sldMasterIdLst>
  <p:notesMasterIdLst>
    <p:notesMasterId r:id="rId31"/>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4" Type="http://schemas.openxmlformats.org/officeDocument/2006/relationships/slide" Target="slides/slide14.xml" /><Relationship Id="rId12" Type="http://schemas.openxmlformats.org/officeDocument/2006/relationships/slide" Target="slides/slide12.xml" /><Relationship Id="rId0" Type="http://schemas.openxmlformats.org/officeDocument/2006/relationships/slideMaster" Target="slideMasters/slideMaster1.xml" /><Relationship Id="rId8" Type="http://schemas.openxmlformats.org/officeDocument/2006/relationships/slide" Target="slides/slide8.xml" /><Relationship Id="rId1" Type="http://schemas.openxmlformats.org/officeDocument/2006/relationships/slide" Target="slides/slide1.xml" /><Relationship Id="rId15" Type="http://schemas.openxmlformats.org/officeDocument/2006/relationships/slide" Target="slides/slide15.xml" /><Relationship Id="rId11" Type="http://schemas.openxmlformats.org/officeDocument/2006/relationships/slide" Target="slides/slide11.xml" /><Relationship Id="rId10" Type="http://schemas.openxmlformats.org/officeDocument/2006/relationships/slide" Target="slides/slide10.xml" /><Relationship Id="rId13" Type="http://schemas.openxmlformats.org/officeDocument/2006/relationships/slide" Target="slides/slide13.xml" /><Relationship Id="rId16" Type="http://schemas.openxmlformats.org/officeDocument/2006/relationships/slide" Target="slides/slide16.xml" /><Relationship Id="rId17" Type="http://schemas.openxmlformats.org/officeDocument/2006/relationships/slide" Target="slides/slide17.xml" /><Relationship Id="rId18" Type="http://schemas.openxmlformats.org/officeDocument/2006/relationships/slide" Target="slides/slide18.xml" /><Relationship Id="rId19" Type="http://schemas.openxmlformats.org/officeDocument/2006/relationships/slide" Target="slides/slide19.xml" /><Relationship Id="rId2" Type="http://schemas.openxmlformats.org/officeDocument/2006/relationships/slide" Target="slides/slide2.xml" /><Relationship Id="rId20" Type="http://schemas.openxmlformats.org/officeDocument/2006/relationships/slide" Target="slides/slide20.xml" /><Relationship Id="rId21" Type="http://schemas.openxmlformats.org/officeDocument/2006/relationships/slide" Target="slides/slide21.xml" /><Relationship Id="rId30" Type="http://schemas.openxmlformats.org/officeDocument/2006/relationships/slide" Target="slides/slide30.xml" /><Relationship Id="rId22" Type="http://schemas.openxmlformats.org/officeDocument/2006/relationships/slide" Target="slides/slide22.xml" /><Relationship Id="rId23" Type="http://schemas.openxmlformats.org/officeDocument/2006/relationships/slide" Target="slides/slide23.xml" /><Relationship Id="rId24" Type="http://schemas.openxmlformats.org/officeDocument/2006/relationships/slide" Target="slides/slide24.xml" /><Relationship Id="rId5" Type="http://schemas.openxmlformats.org/officeDocument/2006/relationships/slide" Target="slides/slide5.xml" /><Relationship Id="rId25" Type="http://schemas.openxmlformats.org/officeDocument/2006/relationships/slide" Target="slides/slide25.xml" /><Relationship Id="rId26" Type="http://schemas.openxmlformats.org/officeDocument/2006/relationships/slide" Target="slides/slide26.xml" /><Relationship Id="rId27" Type="http://schemas.openxmlformats.org/officeDocument/2006/relationships/slide" Target="slides/slide27.xml" /><Relationship Id="rId6" Type="http://schemas.openxmlformats.org/officeDocument/2006/relationships/slide" Target="slides/slide6.xml" /><Relationship Id="rId28" Type="http://schemas.openxmlformats.org/officeDocument/2006/relationships/slide" Target="slides/slide28.xml" /><Relationship Id="rId29" Type="http://schemas.openxmlformats.org/officeDocument/2006/relationships/slide" Target="slides/slide29.xml" /><Relationship Id="rId3" Type="http://schemas.openxmlformats.org/officeDocument/2006/relationships/slide" Target="slides/slide3.xml" /><Relationship Id="rId31" Type="http://schemas.openxmlformats.org/officeDocument/2006/relationships/notesMaster" Target="notesMasters/notesMaster1.xml" /><Relationship Id="rId32" Type="http://schemas.openxmlformats.org/officeDocument/2006/relationships/presProps" Target="presProps.xml" /><Relationship Id="rId33" Type="http://schemas.openxmlformats.org/officeDocument/2006/relationships/tableStyles" Target="tableStyles.xml" /><Relationship Id="rId34" Type="http://schemas.openxmlformats.org/officeDocument/2006/relationships/viewProps" Target="viewProps.xml" /><Relationship Id="rId4" Type="http://schemas.openxmlformats.org/officeDocument/2006/relationships/slide" Target="slides/slide4.xml" /><Relationship Id="rId7" Type="http://schemas.openxmlformats.org/officeDocument/2006/relationships/slide" Target="slides/slide7.xml" /><Relationship Id="rId9" Type="http://schemas.openxmlformats.org/officeDocument/2006/relationships/slide" Target="slides/slide9.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0"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Relationships xmlns="http://schemas.openxmlformats.org/package/2006/relationships"><Relationship Id="rId0" Type="http://schemas.openxmlformats.org/officeDocument/2006/relationships/slide" Target="../slides/slide10.xml" /><Relationship Id="rId1" Type="http://schemas.openxmlformats.org/officeDocument/2006/relationships/notesMaster" Target="../notesMasters/notesMaster1.xml" /></Relationships>
</file>

<file path=ppt/notesSlides/_rels/notesSlide3.xml.rels><?xml version="1.0" encoding="UTF-8" standalone="yes"?><Relationships xmlns="http://schemas.openxmlformats.org/package/2006/relationships"><Relationship Id="rId0" Type="http://schemas.openxmlformats.org/officeDocument/2006/relationships/slide" Target="../slides/slide11.xml" /><Relationship Id="rId1" Type="http://schemas.openxmlformats.org/officeDocument/2006/relationships/notesMaster" Target="../notesMasters/notesMaster1.xml" /></Relationships>
</file>

<file path=ppt/notesSlides/_rels/notesSlide4.xml.rels><?xml version="1.0" encoding="UTF-8" standalone="yes"?><Relationships xmlns="http://schemas.openxmlformats.org/package/2006/relationships"><Relationship Id="rId0" Type="http://schemas.openxmlformats.org/officeDocument/2006/relationships/slide" Target="../slides/slide12.xml" /><Relationship Id="rId1" Type="http://schemas.openxmlformats.org/officeDocument/2006/relationships/notesMaster" Target="../notesMasters/notesMaster1.xml" /></Relationships>
</file>

<file path=ppt/notesSlides/_rels/notesSlide5.xml.rels><?xml version="1.0" encoding="UTF-8" standalone="yes"?><Relationships xmlns="http://schemas.openxmlformats.org/package/2006/relationships"><Relationship Id="rId0" Type="http://schemas.openxmlformats.org/officeDocument/2006/relationships/slide" Target="../slides/slide13.xml" /><Relationship Id="rId1" Type="http://schemas.openxmlformats.org/officeDocument/2006/relationships/notesMaster" Target="../notesMasters/notesMaster1.xml" /></Relationships>
</file>

<file path=ppt/notesSlides/_rels/notesSlide6.xml.rels><?xml version="1.0" encoding="UTF-8" standalone="yes"?><Relationships xmlns="http://schemas.openxmlformats.org/package/2006/relationships"><Relationship Id="rId0" Type="http://schemas.openxmlformats.org/officeDocument/2006/relationships/slide" Target="../slides/slide14.xml" /><Relationship Id="rId1" Type="http://schemas.openxmlformats.org/officeDocument/2006/relationships/notesMaster" Target="../notesMasters/notesMaster1.xml" /></Relationships>
</file>

<file path=ppt/notesSlides/_rels/notesSlide7.xml.rels><?xml version="1.0" encoding="UTF-8" standalone="yes"?><Relationships xmlns="http://schemas.openxmlformats.org/package/2006/relationships"><Relationship Id="rId0" Type="http://schemas.openxmlformats.org/officeDocument/2006/relationships/slide" Target="../slides/slide15.xml" /><Relationship Id="rId1" Type="http://schemas.openxmlformats.org/officeDocument/2006/relationships/notesMaster" Target="../notesMasters/notesMaster1.xml" /></Relationships>
</file>

<file path=ppt/notesSlides/_rels/notesSlide8.xml.rels><?xml version="1.0" encoding="UTF-8" standalone="yes"?><Relationships xmlns="http://schemas.openxmlformats.org/package/2006/relationships"><Relationship Id="rId0" Type="http://schemas.openxmlformats.org/officeDocument/2006/relationships/slide" Target="../slides/slide16.xml" /><Relationship Id="rId1" Type="http://schemas.openxmlformats.org/officeDocument/2006/relationships/notesMaster" Target="../notesMasters/notesMaster1.xml" /></Relationships>
</file>

<file path=ppt/notesSlides/_rels/notesSlide9.xml.rels><?xml version="1.0" encoding="UTF-8" standalone="yes"?><Relationships xmlns="http://schemas.openxmlformats.org/package/2006/relationships"><Relationship Id="rId0"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0.xml.rels><?xml version="1.0" encoding="UTF-8" standalone="yes"?><Relationships xmlns="http://schemas.openxmlformats.org/package/2006/relationships"><Relationship Id="rId0"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1.xml.rels><?xml version="1.0" encoding="UTF-8" standalone="yes"?><Relationships xmlns="http://schemas.openxmlformats.org/package/2006/relationships"><Relationship Id="rId0"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2.xml.rels><?xml version="1.0" encoding="UTF-8" standalone="yes"?><Relationships xmlns="http://schemas.openxmlformats.org/package/2006/relationships"><Relationship Id="rId0" Type="http://schemas.openxmlformats.org/officeDocument/2006/relationships/slide" Target="../slides/slide2.xml" /><Relationship Id="rId1" Type="http://schemas.openxmlformats.org/officeDocument/2006/relationships/notesMaster" Target="../notesMasters/notesMaster1.xml" /></Relationships>
</file>

<file path=ppt/notesSlides/_rels/notesSlide13.xml.rels><?xml version="1.0" encoding="UTF-8" standalone="yes"?><Relationships xmlns="http://schemas.openxmlformats.org/package/2006/relationships"><Relationship Id="rId0"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4.xml.rels><?xml version="1.0" encoding="UTF-8" standalone="yes"?><Relationships xmlns="http://schemas.openxmlformats.org/package/2006/relationships"><Relationship Id="rId0"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5.xml.rels><?xml version="1.0" encoding="UTF-8" standalone="yes"?><Relationships xmlns="http://schemas.openxmlformats.org/package/2006/relationships"><Relationship Id="rId0"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3.xml" /></Relationships>
</file>

<file path=ppt/notesSlides/_rels/notesSlide17.xml.rels><?xml version="1.0" encoding="UTF-8" standalone="yes"?><Relationships xmlns="http://schemas.openxmlformats.org/package/2006/relationships"><Relationship Id="rId0"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8.xml.rels><?xml version="1.0" encoding="UTF-8" standalone="yes"?><Relationships xmlns="http://schemas.openxmlformats.org/package/2006/relationships"><Relationship Id="rId0"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9.xml.rels><?xml version="1.0" encoding="UTF-8" standalone="yes"?><Relationships xmlns="http://schemas.openxmlformats.org/package/2006/relationships"><Relationship Id="rId0"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0.xml.rels><?xml version="1.0" encoding="UTF-8" standalone="yes"?><Relationships xmlns="http://schemas.openxmlformats.org/package/2006/relationships"><Relationship Id="rId0"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1.xml.rels><?xml version="1.0" encoding="UTF-8" standalone="yes"?><Relationships xmlns="http://schemas.openxmlformats.org/package/2006/relationships"><Relationship Id="rId0"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2.xml.rels><?xml version="1.0" encoding="UTF-8" standalone="yes"?><Relationships xmlns="http://schemas.openxmlformats.org/package/2006/relationships"><Relationship Id="rId0"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3.xml.rels><?xml version="1.0" encoding="UTF-8" standalone="yes"?><Relationships xmlns="http://schemas.openxmlformats.org/package/2006/relationships"><Relationship Id="rId0" Type="http://schemas.openxmlformats.org/officeDocument/2006/relationships/slide" Target="../slides/slide3.xml" /><Relationship Id="rId1" Type="http://schemas.openxmlformats.org/officeDocument/2006/relationships/notesMaster" Target="../notesMasters/notesMaster1.xml" /></Relationships>
</file>

<file path=ppt/notesSlides/_rels/notesSlide24.xml.rels><?xml version="1.0" encoding="UTF-8" standalone="yes"?><Relationships xmlns="http://schemas.openxmlformats.org/package/2006/relationships"><Relationship Id="rId0"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5.xml.rels><?xml version="1.0" encoding="UTF-8" standalone="yes"?><Relationships xmlns="http://schemas.openxmlformats.org/package/2006/relationships"><Relationship Id="rId0" Type="http://schemas.openxmlformats.org/officeDocument/2006/relationships/slide" Target="../slides/slide4.xml" /><Relationship Id="rId1" Type="http://schemas.openxmlformats.org/officeDocument/2006/relationships/notesMaster" Target="../notesMasters/notesMaster1.xml" /></Relationships>
</file>

<file path=ppt/notesSlides/_rels/notesSlide26.xml.rels><?xml version="1.0" encoding="UTF-8" standalone="yes"?><Relationships xmlns="http://schemas.openxmlformats.org/package/2006/relationships"><Relationship Id="rId0" Type="http://schemas.openxmlformats.org/officeDocument/2006/relationships/slide" Target="../slides/slide5.xml" /><Relationship Id="rId1" Type="http://schemas.openxmlformats.org/officeDocument/2006/relationships/notesMaster" Target="../notesMasters/notesMaster1.xml" /></Relationships>
</file>

<file path=ppt/notesSlides/_rels/notesSlide27.xml.rels><?xml version="1.0" encoding="UTF-8" standalone="yes"?><Relationships xmlns="http://schemas.openxmlformats.org/package/2006/relationships"><Relationship Id="rId0" Type="http://schemas.openxmlformats.org/officeDocument/2006/relationships/slide" Target="../slides/slide6.xml" /><Relationship Id="rId1" Type="http://schemas.openxmlformats.org/officeDocument/2006/relationships/notesMaster" Target="../notesMasters/notesMaster1.xml" /></Relationships>
</file>

<file path=ppt/notesSlides/_rels/notesSlide2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7.xml" /></Relationships>
</file>

<file path=ppt/notesSlides/_rels/notesSlide29.xml.rels><?xml version="1.0" encoding="UTF-8" standalone="yes"?><Relationships xmlns="http://schemas.openxmlformats.org/package/2006/relationships"><Relationship Id="rId0" Type="http://schemas.openxmlformats.org/officeDocument/2006/relationships/slide" Target="../slides/slide8.xml" /><Relationship Id="rId1" Type="http://schemas.openxmlformats.org/officeDocument/2006/relationships/notesMaster" Target="../notesMasters/notesMaster1.xml" /></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9.xml"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
          <p:cNvSpPr/>
          <p:nvPr>
            <p:ph type="body"/>
          </p:nvPr>
        </p:nvSpPr>
        <p:spPr>
          <a:xfrm>
            <a:off x="0" y="0"/>
            <a:ext cx="177800" cy="444500"/>
          </a:xfrm>
        </p:spPr>
        <p:txBody>
          <a:bodyPr/>
          <a:p>
            <a:pPr/>
            <a:r>
              <a:rPr lang="en-US"/>
              <a:t>各位好。这一册是 EA 企业架构咨询方法论里数据架构这一层的展开本。
为什么值得单独开一册？因为在四层架构里，数据架构是最容易被做薄、也最容易被做偏的一层。别的层做偏了，业务方一眼能看出来；数据架构做偏了，短期谁也看不出来——系统照样跑，报表照样出，直到有一天你要做数据共享、要做跨部门分析、要做集团合并，才发现数据对不上，而这时候返工的代价已经很高了。
这一册的依据还是华为《华为数据之道》。那本书把数据管理的整体打通了，这一册我们只聚焦一件事：信息架构怎么做。
我先给大家一个判断，作为全册的一条主线，请各位记住这句话——先有「治」，才有「存」。所谓治，就是目录、标准、模型、分布这四件事；所谓存，就是数据入湖落仓。很多企业的顺序是反的：先建平台、先灌数据，治理的事想着以后再补。这个顺序一错，湖建起来了，水是浑的，后面治理不动，整个平台就废了。
这一册大概讲五十分钟，我会把四组件一个一个拆开，每个组件都讲方法、内容、模板三段。听完之后，各位手上应该能拿走一整套可以直接开工的东西。</a:t>
            </a:r>
            <a:endParaRPr/>
          </a:p>
        </p:txBody>
      </p:sp>
    </p:spTree>
  </p:cSld>
  <p:clrMapOvr>
    <a:masterClrMapping/>
  </p:clrMapOvr>
</p:notes>
</file>

<file path=ppt/notesSlides/notesSlide2.xml><?xml version="1.0" encoding="utf-8"?>
<p:notes xmlns:p="http://schemas.openxmlformats.org/presentationml/2006/main" xmlns:a="http://schemas.openxmlformats.org/drawingml/2006/main">
  <p:cSld>
    <p:spTree>
      <p:nvGrpSpPr>
        <p:cNvPr id="3" name=""/>
        <p:cNvGrpSpPr/>
        <p:nvPr/>
      </p:nvGrpSpPr>
      <p:grpSpPr>
        <a:xfrm>
          <a:off x="0" y="0"/>
          <a:ext cx="0" cy="0"/>
          <a:chOff x="0" y="0"/>
          <a:chExt cx="0" cy="0"/>
        </a:xfrm>
      </p:grpSpPr>
      <p:sp>
        <p:nvSpPr>
          <p:cNvPr id="4" name=""/>
          <p:cNvSpPr/>
          <p:nvPr>
            <p:ph type="body"/>
          </p:nvPr>
        </p:nvSpPr>
        <p:spPr>
          <a:xfrm>
            <a:off x="0" y="0"/>
            <a:ext cx="177800" cy="444500"/>
          </a:xfrm>
        </p:spPr>
        <p:txBody>
          <a:bodyPr/>
          <a:p>
            <a:pPr/>
            <a:r>
              <a:rPr lang="en-US"/>
              <a:t>这一页讲业务对象识别的交付物，一共两份。
右边这两块我不多讲，重点讲左边这个场景，因为这个例子很能说明问题。
场景是这样的：企业里某个子公司，要和一个法人客户签一份客户合同，合同里要明确交易的产品。就这么简单一笔业务。在座各位想一想，在这个场景里，有几个东西是需要管理和控制的？
至少四个：子公司、法人客户、客户合同、产品。这四个就是我们识别出来的业务对象。它们都不是凭空想出来的，是从一笔真实交易里自然浮现出来的。
这个例子我想说明的是方法论上的一个要点：业务对象是从业务场景里「长」出来的，不是从数据表里「扒」出来的。很多团队做对象识别，做法是打开数据库看有哪些表，然后给每张表起个名字。那不是业务对象，那是数据库表。区别在哪里？业务对象是业务的语言，表是系统的语言。同一个对象在不同系统里可能有三张表，但业务上它是一个对象。
下面这张关系图是概念层的雏形，记住它的形状——左边和右边是一对多，中间那个是核心。下一页我给一张可以直接拿去用的卡片。</a:t>
            </a:r>
            <a:endParaRPr/>
          </a:p>
        </p:txBody>
      </p:sp>
    </p:spTree>
  </p:cSld>
  <p:clrMapOvr>
    <a:masterClrMapping/>
  </p:clrMapOvr>
</p:notes>
</file>

<file path=ppt/notesSlides/notesSlide3.xml><?xml version="1.0" encoding="utf-8"?>
<p:notes xmlns:p="http://schemas.openxmlformats.org/presentationml/2006/main" xmlns:a="http://schemas.openxmlformats.org/drawingml/2006/main">
  <p:cSld>
    <p:spTree>
      <p:nvGrpSpPr>
        <p:cNvPr id="5" name=""/>
        <p:cNvGrpSpPr/>
        <p:nvPr/>
      </p:nvGrpSpPr>
      <p:grpSpPr>
        <a:xfrm>
          <a:off x="0" y="0"/>
          <a:ext cx="0" cy="0"/>
          <a:chOff x="0" y="0"/>
          <a:chExt cx="0" cy="0"/>
        </a:xfrm>
      </p:grpSpPr>
      <p:sp>
        <p:nvSpPr>
          <p:cNvPr id="6" name=""/>
          <p:cNvSpPr/>
          <p:nvPr>
            <p:ph type="body"/>
          </p:nvPr>
        </p:nvSpPr>
        <p:spPr>
          <a:xfrm>
            <a:off x="0" y="0"/>
            <a:ext cx="177800" cy="444500"/>
          </a:xfrm>
        </p:spPr>
        <p:txBody>
          <a:bodyPr/>
          <a:p>
            <a:pPr/>
            <a:r>
              <a:rPr lang="en-US"/>
              <a:t>这一页是业务对象定义卡。这个模板怎么用，我强调一句：它的用法不是最后套格式，是走访的时候就带着它去提问。
为什么这么说？因为这张卡上每一个字段，填不出来的时候，都在告诉你一件事——这件事你还没想清楚。
我举两个最典型的。第一格，业务定义。让你用一句完整的话说明这个东西是什么，很多人立刻就卡住了——写不出来。这说明脑子里只有一个模糊的概念，还不是一个能管理的东西。第二格，数据 Owner。这 一格空的更常见。大家都觉得客户数据应该是客户部管、销售部管、还是数据部管？结果是三个部门都说不是自己的事，最后这个数据实际上没人负责。
所以这张卡的真正价值是暴露盲区。填不出来的字段，就是接下来要去搞明白的事情，这就是「字段即标准」的意思。
右边这三条要求里，我特别强调第三条：判定结论必须逐条勾选，不允许写「部分满足」。为什么？因为一旦允许模糊，四条判定就废了，又退回到凭经验判断的老路。宁可严格一点，把有争议的对象先标出来、走争议流程，也不要让它模模糊糊地混进目录。
组件一讲完了。下一页进入组件二，数据资产目录。</a:t>
            </a:r>
            <a:endParaRPr/>
          </a:p>
        </p:txBody>
      </p:sp>
    </p:spTree>
  </p:cSld>
  <p:clrMapOvr>
    <a:masterClrMapping/>
  </p:clrMapOvr>
</p:notes>
</file>

<file path=ppt/notesSlides/notesSlide4.xml><?xml version="1.0" encoding="utf-8"?>
<p:notes xmlns:p="http://schemas.openxmlformats.org/presentationml/2006/main" xmlns:a="http://schemas.openxmlformats.org/drawingml/2006/main">
  <p:cSld>
    <p:spTree>
      <p:nvGrpSpPr>
        <p:cNvPr id="7" name=""/>
        <p:cNvGrpSpPr/>
        <p:nvPr/>
      </p:nvGrpSpPr>
      <p:grpSpPr>
        <a:xfrm>
          <a:off x="0" y="0"/>
          <a:ext cx="0" cy="0"/>
          <a:chOff x="0" y="0"/>
          <a:chExt cx="0" cy="0"/>
        </a:xfrm>
      </p:grpSpPr>
      <p:sp>
        <p:nvSpPr>
          <p:cNvPr id="8" name=""/>
          <p:cNvSpPr/>
          <p:nvPr>
            <p:ph type="body"/>
          </p:nvPr>
        </p:nvSpPr>
        <p:spPr>
          <a:xfrm>
            <a:off x="0" y="0"/>
            <a:ext cx="177800" cy="444500"/>
          </a:xfrm>
        </p:spPr>
        <p:txBody>
          <a:bodyPr/>
          <a:p>
            <a:pPr/>
            <a:r>
              <a:rPr lang="en-US"/>
              <a:t>第三部分，数据资产目录。
这一部分是整个信息架构的骨架。前面识别出了业务对象，这部分要回答的是：这些对象放在什么位置、谁负责、管到哪一层。
我先讲这一部分的价值。目录不是一份文档，它是企业数据管理的「地基」和「地图」。有了它，数据资产才找得到、看得清、责任才落得下去。
接下来三页还是老规矩：方法讲怎么分层，内容讲交什么，模板给可用的表样和编码规范。</a:t>
            </a:r>
            <a:endParaRPr/>
          </a:p>
        </p:txBody>
      </p:sp>
    </p:spTree>
  </p:cSld>
  <p:clrMapOvr>
    <a:masterClrMapping/>
  </p:clrMapOvr>
</p:notes>
</file>

<file path=ppt/notesSlides/notesSlide5.xml><?xml version="1.0" encoding="utf-8"?>
<p:notes xmlns:p="http://schemas.openxmlformats.org/presentationml/2006/main" xmlns:a="http://schemas.openxmlformats.org/drawingml/2006/main">
  <p:cSld>
    <p:spTree>
      <p:nvGrpSpPr>
        <p:cNvPr id="9" name=""/>
        <p:cNvGrpSpPr/>
        <p:nvPr/>
      </p:nvGrpSpPr>
      <p:grpSpPr>
        <a:xfrm>
          <a:off x="0" y="0"/>
          <a:ext cx="0" cy="0"/>
          <a:chOff x="0" y="0"/>
          <a:chExt cx="0" cy="0"/>
        </a:xfrm>
      </p:grpSpPr>
      <p:sp>
        <p:nvSpPr>
          <p:cNvPr id="10" name=""/>
          <p:cNvSpPr/>
          <p:nvPr>
            <p:ph type="body"/>
          </p:nvPr>
        </p:nvSpPr>
        <p:spPr>
          <a:xfrm>
            <a:off x="0" y="0"/>
            <a:ext cx="177800" cy="444500"/>
          </a:xfrm>
        </p:spPr>
        <p:txBody>
          <a:bodyPr/>
          <a:p>
            <a:pPr/>
            <a:r>
              <a:rPr lang="en-US"/>
              <a:t>这一页讲五层分层法。我刚才在总论那页强调过一句话，现在再说一遍：华为用「业务管理边界」划分，而不是「数据自身特征边界」。这一页最下方我专门标了这句，原因各位还记得吗——因为只有按业务管理边界分，才能强化业务部门的数据管理责任。
这一页我要请各位看的不是五层是什么，而是五层在做什么。
从 L1 到 L3，是在做归类——把企业所有数据归到有限的几个箱子里。这一步的难点不在技术，在于跟业务部门达成共识。L2 主题域怎么划，直接决定了后面的责任怎么分，所以划主题域的时候一定要拉上业务部门一起，不能数据部门关起门来定。
从 L3 到 L5，是在做细化——把一个业务对象拆成逻辑实体，再拆成属性。这一步的难点在于粒度控制，尤其是属性这一层。
我提醒一个实践中的常见错误：属性这层不是越细越好。很多企业把「客户」拆成了几百个属性，包括一些明显是衍生量、临时量的东西。这一层的原则是「如果缺失则业务无法运转」，不是「业务上可能用得上」。
另外我要强调最右边这一列——L3 到 L5 标的是「数据管家」，L1、L2 是另一批人。这个分工下一页会详细讲，因为认责落位是目录的核心价值之一。
下一页我们看目录上完之后，认责怎么落。</a:t>
            </a:r>
            <a:endParaRPr/>
          </a:p>
        </p:txBody>
      </p:sp>
    </p:spTree>
  </p:cSld>
  <p:clrMapOvr>
    <a:masterClrMapping/>
  </p:clrMapOvr>
</p:notes>
</file>

<file path=ppt/notesSlides/notesSlide6.xml><?xml version="1.0" encoding="utf-8"?>
<p:notes xmlns:p="http://schemas.openxmlformats.org/presentationml/2006/main" xmlns:a="http://schemas.openxmlformats.org/drawingml/2006/main">
  <p:cSld>
    <p:spTree>
      <p:nvGrpSpPr>
        <p:cNvPr id="11" name=""/>
        <p:cNvGrpSpPr/>
        <p:nvPr/>
      </p:nvGrpSpPr>
      <p:grpSpPr>
        <a:xfrm>
          <a:off x="0" y="0"/>
          <a:ext cx="0" cy="0"/>
          <a:chOff x="0" y="0"/>
          <a:chExt cx="0" cy="0"/>
        </a:xfrm>
      </p:grpSpPr>
      <p:sp>
        <p:nvSpPr>
          <p:cNvPr id="12" name=""/>
          <p:cNvSpPr/>
          <p:nvPr>
            <p:ph type="body"/>
          </p:nvPr>
        </p:nvSpPr>
        <p:spPr>
          <a:xfrm>
            <a:off x="0" y="0"/>
            <a:ext cx="177800" cy="444500"/>
          </a:xfrm>
        </p:spPr>
        <p:txBody>
          <a:bodyPr/>
          <a:p>
            <a:pPr/>
            <a:r>
              <a:rPr lang="en-US"/>
              <a:t>这一页讲目录这一层要交什么，一共三份：目录全集、认责落位表、变更规程。
中间那条五层落位的示例我不逐个念，我想讲的是这个示例背后的划分方法——注意第二层，L2 是「生产计划、制造执行、外协、设备管理」这四类。这不是我编的，是制造业的标准划分思路：按业务活动性质分，不按组织分。
这一点很重要。如果你们公司的主题域是按部门分的，比如「生产部」「采购部」「财务部」，那这个目录就有个致命问题——组织一调整，目录跟着大改，历史积累全部作废。所以划主题域一定要按业务，不按组织。
右边第二份交付物，我认为是这一部分最容易被忽略、但最有价值的一份：认责落位表。
为什么重要？因为很多企业的目录做得漂漂亮亮，但没人认领。目录变成了一份静态清单，放在那里吃灰。真正的价值在于：每一层都有明确的责任主体，而且这个责任是分层的——L1、L2 由数据专业组织负责，L3 由业务 Owner 负责，L4、L5 由数据管家负责。
这个分层很重要，因为它把责任分在了不同性质的主体上。业务对象是业务的事，让业务 Owner 负责是理所当然的；但属性层面的技术规格，如果也让业务部门定，那多半定不对，所以由数据管家来做。分清楚这一点，权责才清晰。
第三份交付物是变更规程，我不多讲，但要提醒一句：没有变更规程的目录，寿命一般不超过一年。
下一页给表样和编码规范。</a:t>
            </a:r>
            <a:endParaRPr/>
          </a:p>
        </p:txBody>
      </p:sp>
    </p:spTree>
  </p:cSld>
  <p:clrMapOvr>
    <a:masterClrMapping/>
  </p:clrMapOvr>
</p:notes>
</file>

<file path=ppt/notesSlides/notesSlide7.xml><?xml version="1.0" encoding="utf-8"?>
<p:notes xmlns:p="http://schemas.openxmlformats.org/presentationml/2006/main" xmlns:a="http://schemas.openxmlformats.org/drawingml/2006/main">
  <p:cSld>
    <p:spTree>
      <p:nvGrpSpPr>
        <p:cNvPr id="13" name=""/>
        <p:cNvGrpSpPr/>
        <p:nvPr/>
      </p:nvGrpSpPr>
      <p:grpSpPr>
        <a:xfrm>
          <a:off x="0" y="0"/>
          <a:ext cx="0" cy="0"/>
          <a:chOff x="0" y="0"/>
          <a:chExt cx="0" cy="0"/>
        </a:xfrm>
      </p:grpSpPr>
      <p:sp>
        <p:nvSpPr>
          <p:cNvPr id="14" name=""/>
          <p:cNvSpPr/>
          <p:nvPr>
            <p:ph type="body"/>
          </p:nvPr>
        </p:nvSpPr>
        <p:spPr>
          <a:xfrm>
            <a:off x="0" y="0"/>
            <a:ext cx="177800" cy="444500"/>
          </a:xfrm>
        </p:spPr>
        <p:txBody>
          <a:bodyPr/>
          <a:p>
            <a:pPr/>
            <a:r>
              <a:rPr lang="en-US"/>
              <a:t>这一页是目录的模板——五层目录表，还有编码规范。
我先讲右边这条编码规范，因为它是模板里唯一「必须严格遵守」的部分。看这个前缀：D 是主题域，BO 是业务对象，LE 是逻辑实体，AT 是属性。四个前缀，四层，一层一个，不许混用。
为什么编码这么重要？因为它是主键。目录里每一条记录，如果编码不唯一、不稳定，那这份目录就没法被引用、没法被关联、没法做版本管理。有一条实践规律我请各位记住：编码一旦生成，终身不变。哪怕这个对象后来改名、废止，它的编码也不回收、不复用。因为一旦复用，历史数据就全乱了。
再看左边这张表，五列：层级、编码、名称、责任主体、状态。前四列是必填，第五列状态列是为了做生命周期管理——生效、废止、待建，这样目录能反映当前有效的数据资产，而不是一堆历史堆积。
最后我要说一句下面这块橙红里的内容，因为它讲清了目录和模型的关系，这两件事经常被搞混：L1、L2 沿用主题域模型，L3、L4 引用概念模型阶段识别出来的实体。也就是说，目录和模型共用同一套层级定义。这一条守住了，目录和模型就不会变成两张皮；如果各搞各的，数据架构内部先自相矛盾，后面应用架构接入的时候必然对不上。
目录讲完了。下一页进入数据标准。</a:t>
            </a:r>
            <a:endParaRPr/>
          </a:p>
        </p:txBody>
      </p:sp>
    </p:spTree>
  </p:cSld>
  <p:clrMapOvr>
    <a:masterClrMapping/>
  </p:clrMapOvr>
</p:notes>
</file>

<file path=ppt/notesSlides/notesSlide8.xml><?xml version="1.0" encoding="utf-8"?>
<p:notes xmlns:p="http://schemas.openxmlformats.org/presentationml/2006/main" xmlns:a="http://schemas.openxmlformats.org/drawingml/2006/main">
  <p:cSld>
    <p:spTree>
      <p:nvGrpSpPr>
        <p:cNvPr id="15" name=""/>
        <p:cNvGrpSpPr/>
        <p:nvPr/>
      </p:nvGrpSpPr>
      <p:grpSpPr>
        <a:xfrm>
          <a:off x="0" y="0"/>
          <a:ext cx="0" cy="0"/>
          <a:chOff x="0" y="0"/>
          <a:chExt cx="0" cy="0"/>
        </a:xfrm>
      </p:grpSpPr>
      <p:sp>
        <p:nvSpPr>
          <p:cNvPr id="16" name=""/>
          <p:cNvSpPr/>
          <p:nvPr>
            <p:ph type="body"/>
          </p:nvPr>
        </p:nvSpPr>
        <p:spPr>
          <a:xfrm>
            <a:off x="0" y="0"/>
            <a:ext cx="177800" cy="444500"/>
          </a:xfrm>
        </p:spPr>
        <p:txBody>
          <a:bodyPr/>
          <a:p>
            <a:pPr/>
            <a:r>
              <a:rPr lang="en-US"/>
              <a:t>第四部分，数据标准。
这一部分我认为是整个数据架构里「见效最快、也最容易被跳过」的一环。
先说为什么重要。数据标准解决的是「同一个东西，不同部门叫不同名字」这个问题。这个问题听起来很小，但它造成的成本是指数级的——下游系统要额外做人工转换和翻译，业务流程被拉长，而且每一次转换都可能引入新的错误。
然后我要说为什么容易被跳过。因为做标准不产生新东西，也不解决眼前的问题。它是纯粹的基础性工作，投入产出比滞后。所以在一堆项目赶工期的时候，标准是最容易被挤掉的那一项。
但它恰恰是唯一能让不同项目、不同团队、不同年份的成果互相可比的东西。
接下来三页：三视角方法、交付内容、标准卡模板。</a:t>
            </a:r>
            <a:endParaRPr/>
          </a:p>
        </p:txBody>
      </p:sp>
    </p:spTree>
  </p:cSld>
  <p:clrMapOvr>
    <a:masterClrMapping/>
  </p:clrMapOvr>
</p:notes>
</file>

<file path=ppt/notesSlides/notesSlide9.xml><?xml version="1.0" encoding="utf-8"?>
<p:notes xmlns:p="http://schemas.openxmlformats.org/presentationml/2006/main" xmlns:a="http://schemas.openxmlformats.org/drawingml/2006/main">
  <p:cSld>
    <p:spTree>
      <p:nvGrpSpPr>
        <p:cNvPr id="17" name=""/>
        <p:cNvGrpSpPr/>
        <p:nvPr/>
      </p:nvGrpSpPr>
      <p:grpSpPr>
        <a:xfrm>
          <a:off x="0" y="0"/>
          <a:ext cx="0" cy="0"/>
          <a:chOff x="0" y="0"/>
          <a:chExt cx="0" cy="0"/>
        </a:xfrm>
      </p:grpSpPr>
      <p:sp>
        <p:nvSpPr>
          <p:cNvPr id="18" name=""/>
          <p:cNvSpPr/>
          <p:nvPr>
            <p:ph type="body"/>
          </p:nvPr>
        </p:nvSpPr>
        <p:spPr>
          <a:xfrm>
            <a:off x="0" y="0"/>
            <a:ext cx="177800" cy="444500"/>
          </a:xfrm>
        </p:spPr>
        <p:txBody>
          <a:bodyPr/>
          <a:p>
            <a:pPr/>
            <a:r>
              <a:rPr lang="en-US"/>
              <a:t>这一页是数据标准的三视角方法。我先讲一个例子，因为这个例子能把三视角讲透。
就拿「合同编号」来说。贵公司有没有一份统一的合同编号规则？比如多少位、什么前缀、允许不允许特殊字符。如果有，这份规则就是数据标准。
现在我请各位想一个问题：如果规则是这样定的，那么定规则的是谁？按道理是财经部，因为合同编号涉及合同管理，而合同管理归财经。可是真正跟客户谈合同、把编号录入系统的是销售部。而真正盯着这个编号质量、发现问题的是数据管理部。
三个部门，三种角色。所以数据标准必须分三个视角写，这就是三视角的由来。
上面这个例子左边我写了业务视角：统一业务侧的语言和理解。这一视角回答的是「这个词在公司里到底指什么」，包括业务定义、用途、业务规则、同义词。这一视角不解决歧义，数据就会各说各话。
中间技术视角：对 IT 实施形成必要的指引和约束。数据类型、长度、允许值。这一视角不解决约束，规范就落不了地，开发团队随便定。
下面管理视角：明确三类责任主体。这一视角最容易被漏掉，但恰恰是最重要的——很多标准写完了没人执行，根本原因就是没写清楚谁负责。
这里请各位再注意一次那个一票否决权。标准能不能落地，最终取决于有没有一个机制，让不遵守标准的东西无法上线。这个机制，才是标准从「文档」变成「规矩」的分界线。
下一页讲这一层交什么内容。</a:t>
            </a:r>
            <a:endParaRPr/>
          </a:p>
        </p:txBody>
      </p:sp>
    </p:spTree>
  </p:cSld>
  <p:clrMapOvr>
    <a:masterClrMapping/>
  </p:clrMapOvr>
</p:notes>
</file>

<file path=ppt/notesSlides/notesSlide10.xml><?xml version="1.0" encoding="utf-8"?>
<p:notes xmlns:p="http://schemas.openxmlformats.org/presentationml/2006/main" xmlns:a="http://schemas.openxmlformats.org/drawingml/2006/main">
  <p:cSld>
    <p:spTree>
      <p:nvGrpSpPr>
        <p:cNvPr id="19" name=""/>
        <p:cNvGrpSpPr/>
        <p:nvPr/>
      </p:nvGrpSpPr>
      <p:grpSpPr>
        <a:xfrm>
          <a:off x="0" y="0"/>
          <a:ext cx="0" cy="0"/>
          <a:chOff x="0" y="0"/>
          <a:chExt cx="0" cy="0"/>
        </a:xfrm>
      </p:grpSpPr>
      <p:sp>
        <p:nvSpPr>
          <p:cNvPr id="20" name=""/>
          <p:cNvSpPr/>
          <p:nvPr>
            <p:ph type="body"/>
          </p:nvPr>
        </p:nvSpPr>
        <p:spPr>
          <a:xfrm>
            <a:off x="0" y="0"/>
            <a:ext cx="177800" cy="444500"/>
          </a:xfrm>
        </p:spPr>
        <p:txBody>
          <a:bodyPr/>
          <a:p>
            <a:pPr/>
            <a:r>
              <a:rPr lang="en-US"/>
              <a:t>这一页讲数据标准的交付内容，三份：业务术语表、数据标准集、标准变更流程。
左边这个同义词收敛的例子，我请各位重点看。上面那三行——「客户名称、客户名、客商名称、买方名称」——这些不同的叫法，各位在座的企业里大概率都有。它不是某一个部门的错，是自然演化形成的：不同部门在不同年代、由不同的人建了不同的字段，各叫各的。
问题就在这。如果不收敛，代价是什么？下游系统必须做映射和翻译。翻译一次，就多一次出错的可能；而且翻译逻辑本身要维护，系统改一次，翻译规则改一次，长期成本非常可观。
所以数据标准这件事，最小可行版本其实就是这一张同义词表。把最常见的几十个术语先收敛掉，收益就已经很大了。这一点我希望各位回去就能做，不用等什么大项目立项。
上面这行字我还想请各位注意：数据标准定义的是公司层面需共同遵守的属性层数据含义和业务规则。这些理解一旦确定，就应作为企业层面的标准被共同遵守，除了数据 Owner 以外，任何部门都不允许自定义。
「除了数据 Owner 以外，任何部门不允许自定义」——这句话听起来很严格，但它恰恰是标准有效的前提。如果允许各业务系统按自己的需要扩展字段名，那这个标准就名存实亡了。
第三份交付物是变更流程，我不多讲，只提醒一句：标准也需要版本管理，不能随便改。改一次标准要评审，要评估影响面，否则下游全得跟着改。
下一页给标准卡的模板。</a:t>
            </a:r>
            <a:endParaRPr/>
          </a:p>
        </p:txBody>
      </p:sp>
    </p:spTree>
  </p:cSld>
  <p:clrMapOvr>
    <a:masterClrMapping/>
  </p:clrMapOvr>
</p:notes>
</file>

<file path=ppt/notesSlides/notesSlide11.xml><?xml version="1.0" encoding="utf-8"?>
<p:notes xmlns:p="http://schemas.openxmlformats.org/presentationml/2006/main" xmlns:a="http://schemas.openxmlformats.org/drawingml/2006/main">
  <p:cSld>
    <p:spTree>
      <p:nvGrpSpPr>
        <p:cNvPr id="21" name=""/>
        <p:cNvGrpSpPr/>
        <p:nvPr/>
      </p:nvGrpSpPr>
      <p:grpSpPr>
        <a:xfrm>
          <a:off x="0" y="0"/>
          <a:ext cx="0" cy="0"/>
          <a:chOff x="0" y="0"/>
          <a:chExt cx="0" cy="0"/>
        </a:xfrm>
      </p:grpSpPr>
      <p:sp>
        <p:nvSpPr>
          <p:cNvPr id="22" name=""/>
          <p:cNvSpPr/>
          <p:nvPr>
            <p:ph type="body"/>
          </p:nvPr>
        </p:nvSpPr>
        <p:spPr>
          <a:xfrm>
            <a:off x="0" y="0"/>
            <a:ext cx="177800" cy="444500"/>
          </a:xfrm>
        </p:spPr>
        <p:txBody>
          <a:bodyPr/>
          <a:p>
            <a:pPr/>
            <a:r>
              <a:rPr lang="en-US"/>
              <a:t>这一页是数据标准卡的模板。这一页我想讲的不是字段怎么填，是那个「三责分立」的设计。
看最下面那一块，管理视角的三格。规则责任主体、数据维护主体、数据监控主体——我请各位注意，这三格填进去的，很可能是三个不同的部门。
我举个例子说明为什么必须分开。「客户合同」这个对象里面，有些条款规则的制订者是财经部，因为要跟客户谈钱；但负责跟客户达成约定并录入系统的，可能是销售部；而跟踪整个合同数据质量的，可能是数据管理部。
这三件事经常被混为一谈，都写成「业务部门负责」。写成这样，真出问题的时候就会互相推诿——销售说这个规则不是我定的，财经说我只管规则不管录入，最后没人认。这就是很多企业数据质量问题始终解决不了的根源。
所以这张卡的设计，是逼着你把责任写清楚、写具体。这一点跟前面业务对象定义卡里的「数据 Owner」是配套的——Owner 是最终责任人，而这里的三责是把 Owner 下面的具体分工拆开。
最后我要再讲一次右边那块橙红里的机制，因为它才是整套标准真正生效的地方。信息架构管理原则第二条写得很清楚：所有变革项目须遵从数据管控要求，对于不遵从的变革项目，数据管控组织拥有一票否决权。
请各位想一个场景：如果你是数据管控组织，你手里有这一票否决权，你会不会用？如果从来没用过，那说明这个机制是空的。制度上有这个权，实际行使上不敢用，等于没有。
标准讲完了。下一页进入数据模型。</a:t>
            </a:r>
            <a:endParaRPr/>
          </a:p>
        </p:txBody>
      </p:sp>
    </p:spTree>
  </p:cSld>
  <p:clrMapOvr>
    <a:masterClrMapping/>
  </p:clrMapOvr>
</p:notes>
</file>

<file path=ppt/notesSlides/notesSlide12.xml><?xml version="1.0" encoding="utf-8"?>
<p:notes xmlns:p="http://schemas.openxmlformats.org/presentationml/2006/main" xmlns:a="http://schemas.openxmlformats.org/drawingml/2006/main">
  <p:cSld>
    <p:spTree>
      <p:nvGrpSpPr>
        <p:cNvPr id="23" name=""/>
        <p:cNvGrpSpPr/>
        <p:nvPr/>
      </p:nvGrpSpPr>
      <p:grpSpPr>
        <a:xfrm>
          <a:off x="0" y="0"/>
          <a:ext cx="0" cy="0"/>
          <a:chOff x="0" y="0"/>
          <a:chExt cx="0" cy="0"/>
        </a:xfrm>
      </p:grpSpPr>
      <p:sp>
        <p:nvSpPr>
          <p:cNvPr id="24" name=""/>
          <p:cNvSpPr/>
          <p:nvPr>
            <p:ph type="body"/>
          </p:nvPr>
        </p:nvSpPr>
        <p:spPr>
          <a:xfrm>
            <a:off x="0" y="0"/>
            <a:ext cx="177800" cy="444500"/>
          </a:xfrm>
        </p:spPr>
        <p:txBody>
          <a:bodyPr/>
          <a:p>
            <a:pPr/>
            <a:r>
              <a:rPr lang="en-US"/>
              <a:t>这是这一册的地图，各位可以先拍下来。
七个部分，我不解���，只提醒两个结构性设计。
第一个，从第二部分到第六部分，是四组件——业务对象、资产目录、数据标准、数据模型、数据分布。各位注意，这五个部分的编排顺序不是随便排的，它就是信息架构的施工顺序：先认对象，再建目录，定完标准做模型，最后定分布。所以各位如果只记住一件事，就记住这个顺序——跳步做，数据架构必乱。
第二个，每个部分都是方法、内容、模板三段。方法讲怎么做，内容讲这一层要交出什么，模板讲交出来长什么样。这三段各位在主册里已经熟悉了，这一册完全沿用。
最后第七部分是我加的收口，讲数据底座和消费。为什么要讲这个？因为前四组件是设计，画的是图纸；底座和消费是落地，回答图纸盖起来之后房子怎么用。不讲这一段，各位很容易觉得这册讲完了就完了，其实最关键的一段在后面。</a:t>
            </a:r>
            <a:endParaRPr/>
          </a:p>
        </p:txBody>
      </p:sp>
    </p:spTree>
  </p:cSld>
  <p:clrMapOvr>
    <a:masterClrMapping/>
  </p:clrMapOvr>
</p:notes>
</file>

<file path=ppt/notesSlides/notesSlide13.xml><?xml version="1.0" encoding="utf-8"?>
<p:notes xmlns:p="http://schemas.openxmlformats.org/presentationml/2006/main" xmlns:a="http://schemas.openxmlformats.org/drawingml/2006/main">
  <p:cSld>
    <p:spTree>
      <p:nvGrpSpPr>
        <p:cNvPr id="25" name=""/>
        <p:cNvGrpSpPr/>
        <p:nvPr/>
      </p:nvGrpSpPr>
      <p:grpSpPr>
        <a:xfrm>
          <a:off x="0" y="0"/>
          <a:ext cx="0" cy="0"/>
          <a:chOff x="0" y="0"/>
          <a:chExt cx="0" cy="0"/>
        </a:xfrm>
      </p:grpSpPr>
      <p:sp>
        <p:nvSpPr>
          <p:cNvPr id="26" name=""/>
          <p:cNvSpPr/>
          <p:nvPr>
            <p:ph type="body"/>
          </p:nvPr>
        </p:nvSpPr>
        <p:spPr>
          <a:xfrm>
            <a:off x="0" y="0"/>
            <a:ext cx="177800" cy="444500"/>
          </a:xfrm>
        </p:spPr>
        <p:txBody>
          <a:bodyPr/>
          <a:p>
            <a:pPr/>
            <a:r>
              <a:rPr lang="en-US"/>
              <a:t>第五部分，企业级数据模型。
这一部分是数据架构里技术含量最高的一环，也是和业务部门距离最远的一环。
我先说一个华为自己踩过的坑，因为这个坑很多企业现在还踩着：华为过去长期存在信息架构和 IT 开发实施「两张皮」的问题。什么叫两张皮？数据人员画了一套模型，IT 开发人员建库的时候另建一套，两边对不上，也没有机制去管。
这个问题的后果是：模型资产留着，但没有真正约束到任何东西。时间一长，模型就成了文档，而不是设计依据。
所以这一部分我会重点讲「怎么保证不走形」，而不只是「模型长什么样」。
接下来三页：三层建模法、三层交付与一致性控制、E-R 图和逻辑实体表模板。</a:t>
            </a:r>
            <a:endParaRPr/>
          </a:p>
        </p:txBody>
      </p:sp>
    </p:spTree>
  </p:cSld>
  <p:clrMapOvr>
    <a:masterClrMapping/>
  </p:clrMapOvr>
</p:notes>
</file>

<file path=ppt/notesSlides/notesSlide14.xml><?xml version="1.0" encoding="utf-8"?>
<p:notes xmlns:p="http://schemas.openxmlformats.org/presentationml/2006/main" xmlns:a="http://schemas.openxmlformats.org/drawingml/2006/main">
  <p:cSld>
    <p:spTree>
      <p:nvGrpSpPr>
        <p:cNvPr id="27" name=""/>
        <p:cNvGrpSpPr/>
        <p:nvPr/>
      </p:nvGrpSpPr>
      <p:grpSpPr>
        <a:xfrm>
          <a:off x="0" y="0"/>
          <a:ext cx="0" cy="0"/>
          <a:chOff x="0" y="0"/>
          <a:chExt cx="0" cy="0"/>
        </a:xfrm>
      </p:grpSpPr>
      <p:sp>
        <p:nvSpPr>
          <p:cNvPr id="28" name=""/>
          <p:cNvSpPr/>
          <p:nvPr>
            <p:ph type="body"/>
          </p:nvPr>
        </p:nvSpPr>
        <p:spPr>
          <a:xfrm>
            <a:off x="0" y="0"/>
            <a:ext cx="177800" cy="444500"/>
          </a:xfrm>
        </p:spPr>
        <p:txBody>
          <a:bodyPr/>
          <a:p>
            <a:pPr/>
            <a:r>
              <a:rPr lang="en-US"/>
              <a:t>这一页是三层建模法。我先纠正一个常见说法：三层模型不是三份文档，而是同一现实在三个抽象层次上的投影。
概念模型，回答的是「有哪些实体、彼此什么关系」。它的视角是宏观的，用的是业务语言，实体名称必须用标准业务术语。这一层的作用是对齐业务对象——它其实就是上一部分业务对象关系的图形化表达。
逻辑模型，比概念模型细一层。它引入了关键数据属性，把业务规则固化下来。这一层是模型的主体，也是三份交付物里最需要认真做的一份。
物理模型，是逻辑模型向数据库实现的转换。它回答的是「怎么建库」，包含表结构、索引、分区这些物理设计。
这三层最怕的是什么？最怕层级之间断裂——概念模型里的某个实体，在逻辑模型里消失了；逻辑模型里的某个属性，在物理模型里没人实现。这种断裂在项目里很难被发现，因为每一层单独看都没问题，只有把三层叠起来才看得出。
所以下一页我会专门讲一致性怎么控制，这是这一部分的核心难点。</a:t>
            </a:r>
            <a:endParaRPr/>
          </a:p>
        </p:txBody>
      </p:sp>
    </p:spTree>
  </p:cSld>
  <p:clrMapOvr>
    <a:masterClrMapping/>
  </p:clrMapOvr>
</p:notes>
</file>

<file path=ppt/notesSlides/notesSlide15.xml><?xml version="1.0" encoding="utf-8"?>
<p:notes xmlns:p="http://schemas.openxmlformats.org/presentationml/2006/main" xmlns:a="http://schemas.openxmlformats.org/drawingml/2006/main">
  <p:cSld>
    <p:spTree>
      <p:nvGrpSpPr>
        <p:cNvPr id="29" name=""/>
        <p:cNvGrpSpPr/>
        <p:nvPr/>
      </p:nvGrpSpPr>
      <p:grpSpPr>
        <a:xfrm>
          <a:off x="0" y="0"/>
          <a:ext cx="0" cy="0"/>
          <a:chOff x="0" y="0"/>
          <a:chExt cx="0" cy="0"/>
        </a:xfrm>
      </p:grpSpPr>
      <p:sp>
        <p:nvSpPr>
          <p:cNvPr id="30" name=""/>
          <p:cNvSpPr/>
          <p:nvPr>
            <p:ph type="body"/>
          </p:nvPr>
        </p:nvSpPr>
        <p:spPr>
          <a:xfrm>
            <a:off x="0" y="0"/>
            <a:ext cx="177800" cy="444500"/>
          </a:xfrm>
        </p:spPr>
        <p:txBody>
          <a:bodyPr/>
          <a:p>
            <a:pPr/>
            <a:r>
              <a:rPr lang="en-US"/>
              <a:t>这一页讲三层的交付，以及一致性控制。交付物我不细说，我重点讲下面这块一致性控制的内容。
先说为什么要控制一致性。「两张皮」的本质是什么？不是没人建模，是模型之间没有约束。所以解法也不在「再画一遍」，而在「加约束」。华为的做法是一体化建模——工具上一体化设计和开发，同时确保元数据的验证、发布和注册是一致的。
具体两个关键点，上面这块讲的是概念和逻辑之间，主要通过逻辑数据实体的设计管理来实现。我把要求说得具体一点：逻辑模型里的每一个实体，都必须能追溯回概念模型。不允许凭空多出一个实体，这是可以检查的，一一对一遍就知道了。
下面这块讲的是逻辑和物理之间，主要通过一体化建模管理来实现。这里面有几条机制我觉得特别值得借鉴，我念一下各位听听：构建数据标准池，实体属性只能从标准池选择；产品元数据和数据库自动比对验证；产品元数据发布认证和信息资产打通。
各位注意第一条：属性只能从标准池选。这就把上一页讲的数据标准和这一页讲的模型真正连起来了。标准不再是贴在墙上的文档，而是变成了建模时的强制约束条件。这就是标准的真实作用。
最后是下面这行判断，我要提醒各位注意，因为日常沟通里经常搞错：各项目里所说的「数据架构设计」，通常指主题域模型、概念模型、逻辑模型这三层的设计；物理模型通常是数据建模的产出物，不是架构设计的输入。
这句话的意思是——不要拿物理模型反推逻辑模型，那会本末倒置。
下一页给模板。</a:t>
            </a:r>
            <a:endParaRPr/>
          </a:p>
        </p:txBody>
      </p:sp>
    </p:spTree>
  </p:cSld>
  <p:clrMapOvr>
    <a:masterClrMapping/>
  </p:clrMapOvr>
</p:notes>
</file>

<file path=ppt/notesSlides/notesSlide16.xml><?xml version="1.0" encoding="utf-8"?>
<p:notes xmlns:p="http://schemas.openxmlformats.org/presentationml/2006/main" xmlns:a="http://schemas.openxmlformats.org/drawingml/2006/main">
  <p:cSld>
    <p:spTree>
      <p:nvGrpSpPr>
        <p:cNvPr id="31" name=""/>
        <p:cNvGrpSpPr/>
        <p:nvPr/>
      </p:nvGrpSpPr>
      <p:grpSpPr>
        <a:xfrm>
          <a:off x="0" y="0"/>
          <a:ext cx="0" cy="0"/>
          <a:chOff x="0" y="0"/>
          <a:chExt cx="0" cy="0"/>
        </a:xfrm>
      </p:grpSpPr>
      <p:sp>
        <p:nvSpPr>
          <p:cNvPr id="32" name=""/>
          <p:cNvSpPr/>
          <p:nvPr>
            <p:ph type="body"/>
          </p:nvPr>
        </p:nvSpPr>
        <p:spPr>
          <a:xfrm>
            <a:off x="0" y="0"/>
            <a:ext cx="177800" cy="444500"/>
          </a:xfrm>
        </p:spPr>
        <p:txBody>
          <a:bodyPr/>
          <a:p>
            <a:pPr/>
            <a:r>
              <a:rPr lang="en-US"/>
              <a:t>这一页是数据模型的模板——概念层的 E-R 图，加上逻辑层的实体表。这两张东西合起来，就是模型的全部依据。
左边这个 E-R 图我不多讲，请各位注意看它的形状：客户和合同是一对多，合同和产品是多对一。这个关系一旦定下来，很多下游的事情就确定了——比如客户信息必须来自客户主数据，合同里不能自己存一份客户信息。这是从模型推导出来的结论，不需要额外约定。
下面这张逻辑实体表，是模型真正承载规则的地方。每一行是逻辑模型里的一个关键属性，右边标着它是主键还是外键。我请各位注意最右边那个属性编号——AT-CON-CODE，这跟前面目录模板里的编码规范是一致的。
这就是我刚才强调的「共用一套层级」的意义：同一个属性，在目录里、在模型里、在数据标准卡里，用的都是同一个编号。串起来之后，数据标准、目录、模型这三份东西就真的连成了一张网，而不是三个独立文件。
右边上面这条我想请各位特别留意：关键属性的识别是有主观性的，它需要依托企业真实的业务流程和业务活动来判断，不能凭感觉列。判断的标准我前面说过——如果这个属性缺失，业务就转不动了，它就是关键属性；只是「可能用得上」，那就不该进关键属性列表。
最后这条橙红我再说一遍，因为它把整个上半册串起来了：属性只能从标准池选。
模型讲完了。下一页进入最后一个组件，数据分布。</a:t>
            </a:r>
            <a:endParaRPr/>
          </a:p>
        </p:txBody>
      </p:sp>
    </p:spTree>
  </p:cSld>
  <p:clrMapOvr>
    <a:masterClrMapping/>
  </p:clrMapOvr>
</p:notes>
</file>

<file path=ppt/notesSlides/notesSlide17.xml><?xml version="1.0" encoding="utf-8"?>
<p:notes xmlns:p="http://schemas.openxmlformats.org/presentationml/2006/main" xmlns:a="http://schemas.openxmlformats.org/drawingml/2006/main">
  <p:cSld>
    <p:spTree>
      <p:nvGrpSpPr>
        <p:cNvPr id="33" name=""/>
        <p:cNvGrpSpPr/>
        <p:nvPr/>
      </p:nvGrpSpPr>
      <p:grpSpPr>
        <a:xfrm>
          <a:off x="0" y="0"/>
          <a:ext cx="0" cy="0"/>
          <a:chOff x="0" y="0"/>
          <a:chExt cx="0" cy="0"/>
        </a:xfrm>
      </p:grpSpPr>
      <p:sp>
        <p:nvSpPr>
          <p:cNvPr id="34" name=""/>
          <p:cNvSpPr/>
          <p:nvPr>
            <p:ph type="body"/>
          </p:nvPr>
        </p:nvSpPr>
        <p:spPr>
          <a:xfrm>
            <a:off x="0" y="0"/>
            <a:ext cx="177800" cy="444500"/>
          </a:xfrm>
        </p:spPr>
        <p:txBody>
          <a:bodyPr/>
          <a:p>
            <a:pPr/>
            <a:r>
              <a:rPr lang="en-US"/>
              <a:t>第六部分，数据分布。
这是信息架构的第四个组件，也是最后一个。但我想先说一句：很多人觉得它最简单，其实它是最难落地的。
为什么？因为前面三个组件——目录、标准、模型——都是设计性的工作，设计完了基本就稳定了。但分布是关于数据实际怎么流的，而数据流是会变的。系统改造一次、新系统上线一次，数据的流向就变一次。
所以分布这个组件的特点是：需要定期复核。它是唯一一个会随时间推移而失效的组件。
也正因为这样，很多企业的信息架构，前三个建得不错，唯独分布一塌糊涂——文档里的数据流图画得特别漂亮，跟实际情况完全对不上。
接下来三页讲清楚：怎么锁定数据源、交什么、CRUD 矩阵怎么用。</a:t>
            </a:r>
            <a:endParaRPr/>
          </a:p>
        </p:txBody>
      </p:sp>
    </p:spTree>
  </p:cSld>
  <p:clrMapOvr>
    <a:masterClrMapping/>
  </p:clrMapOvr>
</p:notes>
</file>

<file path=ppt/notesSlides/notesSlide18.xml><?xml version="1.0" encoding="utf-8"?>
<p:notes xmlns:p="http://schemas.openxmlformats.org/presentationml/2006/main" xmlns:a="http://schemas.openxmlformats.org/drawingml/2006/main">
  <p:cSld>
    <p:spTree>
      <p:nvGrpSpPr>
        <p:cNvPr id="35" name=""/>
        <p:cNvGrpSpPr/>
        <p:nvPr/>
      </p:nvGrpSpPr>
      <p:grpSpPr>
        <a:xfrm>
          <a:off x="0" y="0"/>
          <a:ext cx="0" cy="0"/>
          <a:chOff x="0" y="0"/>
          <a:chExt cx="0" cy="0"/>
        </a:xfrm>
      </p:grpSpPr>
      <p:sp>
        <p:nvSpPr>
          <p:cNvPr id="36" name=""/>
          <p:cNvSpPr/>
          <p:nvPr>
            <p:ph type="body"/>
          </p:nvPr>
        </p:nvSpPr>
        <p:spPr>
          <a:xfrm>
            <a:off x="0" y="0"/>
            <a:ext cx="177800" cy="444500"/>
          </a:xfrm>
        </p:spPr>
        <p:txBody>
          <a:bodyPr/>
          <a:p>
            <a:pPr/>
            <a:r>
              <a:rPr lang="en-US"/>
              <a:t>这一页讲数据源识别和 CRUD 矩阵。我先说清楚什么叫权威数据源。
这个定义请各位记住：权威数据源是指业务上首次正式发布某项数据的应用系统，并且经过数据管理专业组织认证，作为企业范围内唯一的数据源头被周边系统调用。
这里面有两个关键词。第一是「首次正式发布」，不是「谁先存了这份数据」。很多系统里都有客户信息，但那份数据不一定是正式发布的，可能只是某个系统为了方便自己存的快照。第二是「经过认证」——未经认证的系统不具有权威性，这是个组织认定的事，不是技术判断。
有了这个定义，识别方法就出来了——就是右边这张 CRUD 矩阵。用业务对象做行，应用系统做列，标出每个系统对每个对象是创建还是读取。
这张矩阵的价值，等下一页展开讲。今天我先请各位记住看矩阵的方法：**找到每一行里那个 C**。C 出现的那个系统，就是这个对象的权威源候选。如果一行里出现了两个 C，问题就来了——下一页就是讲这个。
这一页还有个细节，表格下面的图例。C 是创建，R 是读取，破折号是不涉及。我再补充一个：矩阵里还可以标 U 和 D，也就是更新和删除，这两个信息在判断数据一致性风险时特别有用——如果一个系统只有 R 没有 C，那它是安全的下游；如果一个系统有 U，说明它在改别人的数据，这个就有风险了。
下一页讲这张矩阵到底怎么用。</a:t>
            </a:r>
            <a:endParaRPr/>
          </a:p>
        </p:txBody>
      </p:sp>
    </p:spTree>
  </p:cSld>
  <p:clrMapOvr>
    <a:masterClrMapping/>
  </p:clrMapOvr>
</p:notes>
</file>

<file path=ppt/notesSlides/notesSlide19.xml><?xml version="1.0" encoding="utf-8"?>
<p:notes xmlns:p="http://schemas.openxmlformats.org/presentationml/2006/main" xmlns:a="http://schemas.openxmlformats.org/drawingml/2006/main">
  <p:cSld>
    <p:spTree>
      <p:nvGrpSpPr>
        <p:cNvPr id="37" name=""/>
        <p:cNvGrpSpPr/>
        <p:nvPr/>
      </p:nvGrpSpPr>
      <p:grpSpPr>
        <a:xfrm>
          <a:off x="0" y="0"/>
          <a:ext cx="0" cy="0"/>
          <a:chOff x="0" y="0"/>
          <a:chExt cx="0" cy="0"/>
        </a:xfrm>
      </p:grpSpPr>
      <p:sp>
        <p:nvSpPr>
          <p:cNvPr id="38" name=""/>
          <p:cNvSpPr/>
          <p:nvPr>
            <p:ph type="body"/>
          </p:nvPr>
        </p:nvSpPr>
        <p:spPr>
          <a:xfrm>
            <a:off x="0" y="0"/>
            <a:ext cx="177800" cy="444500"/>
          </a:xfrm>
        </p:spPr>
        <p:txBody>
          <a:bodyPr/>
          <a:p>
            <a:pPr/>
            <a:r>
              <a:rPr lang="en-US"/>
              <a:t>这一页讲数据分布这一层交什么，一共三份：数据分布图、数据源清单、CRUD 矩阵。
左边上面这两块，我请各位分清楚这两个词，因为很多项目里是混着用的。
信息链和数据流的区别在哪？信息链回答的是「谁负责什么操作」——某个数据在流程里被谁创建、谁读取、谁更新、谁删除，这是一份职责划分，偏静态。数据流回答的是「数据怎么流转」——数据从哪来、经过哪些环节、到哪里去，这是一条链路，偏动态。
华为的说法是：前三个组件主要是从静态角度对数据、数据关系进行定义，而数据分布则定义了数据产生的源头及在各流程和 IT 系统间的流动情况。所以它是唯一一个带「流」的组件。
右边三份交付物，我重点说第一份：数据分布图。
这份图和前面那份 CRUD 矩阵看起来很像，但它们不是一回事。矩阵是分析工具，分布图是设计结论。矩阵用来发现问题——我问你，这个对象谁在创建；分布图用来记录答案——这个对象的权威源是 ERP，CRM 从这里取。
这个区别很重要，我下一页会具体讲。
最后上面那块橙红，我强调一句：目录、标准、模型建完基本稳定，但数据流会随系统改造而变化。所以分布必须定期复核。一份一年没更新过的数据分布图，比没有还糟糕——因为它会误导人。</a:t>
            </a:r>
            <a:endParaRPr/>
          </a:p>
        </p:txBody>
      </p:sp>
    </p:spTree>
  </p:cSld>
  <p:clrMapOvr>
    <a:masterClrMapping/>
  </p:clrMapOvr>
</p:notes>
</file>

<file path=ppt/notesSlides/notesSlide20.xml><?xml version="1.0" encoding="utf-8"?>
<p:notes xmlns:p="http://schemas.openxmlformats.org/presentationml/2006/main" xmlns:a="http://schemas.openxmlformats.org/drawingml/2006/main">
  <p:cSld>
    <p:spTree>
      <p:nvGrpSpPr>
        <p:cNvPr id="39" name=""/>
        <p:cNvGrpSpPr/>
        <p:nvPr/>
      </p:nvGrpSpPr>
      <p:grpSpPr>
        <a:xfrm>
          <a:off x="0" y="0"/>
          <a:ext cx="0" cy="0"/>
          <a:chOff x="0" y="0"/>
          <a:chExt cx="0" cy="0"/>
        </a:xfrm>
      </p:grpSpPr>
      <p:sp>
        <p:nvSpPr>
          <p:cNvPr id="40" name=""/>
          <p:cNvSpPr/>
          <p:nvPr>
            <p:ph type="body"/>
          </p:nvPr>
        </p:nvSpPr>
        <p:spPr>
          <a:xfrm>
            <a:off x="0" y="0"/>
            <a:ext cx="177800" cy="444500"/>
          </a:xfrm>
        </p:spPr>
        <p:txBody>
          <a:bodyPr/>
          <a:p>
            <a:pPr/>
            <a:r>
              <a:rPr lang="en-US"/>
              <a:t>这一页是 CRUD 矩阵的使用方法。我这一页想讲的核心观点是：矩阵不是作业模板，是治理工具。
先看上面左边这块。看到什么了吗？「客户」这一行，ERP 和 CRM 都是 C。这就是一个典型的异常。
这个场景各位应该不陌生。ERP 和 CRM 都能建客户记录，两边都有客户信息。结果是什么呢？开会的时候，两个部门各拿一份数据，说是同一批客户，说法不一样。谁也说服不了谁，因为谁都能证明自己那份数据是对的——在他们的系统里，它确实是唯一正确的。
这就是「数出一孔」的反面：多出一孔，最后就是谁的数据都不权威。
右边这块是治理后的状态：指定 ERP 为客户主数据的唯一权威源，CRM 降为只读，历史数据做一次性清洗对齐。这里请各位注意，清洗这一步是最容易被跳过的，也是最容易留雷的。只改了权威源的设计，没有清洗历史数据，那两家系统的数据还是不一致的，下游照样对不上。
中间这块是判定规则，三条。有一条我想请各位特别注意第三条：如果某个对象一个 C 都没有，说明这个对象根本不存在权威源。这种情况很隐蔽，因为矩阵上看起来一片清爽，没有冲突，但它意味着这个数据谁都不负责，结果一定是乱的。
最后是下面这行判断，也请各位记住这个区分：矩阵是过程性工具，数据源才是结论性设计。先用矩阵发现问题，再用治理手段定结论。这是两步，不能混着做。</a:t>
            </a:r>
            <a:endParaRPr/>
          </a:p>
        </p:txBody>
      </p:sp>
    </p:spTree>
  </p:cSld>
  <p:clrMapOvr>
    <a:masterClrMapping/>
  </p:clrMapOvr>
</p:notes>
</file>

<file path=ppt/notesSlides/notesSlide21.xml><?xml version="1.0" encoding="utf-8"?>
<p:notes xmlns:p="http://schemas.openxmlformats.org/presentationml/2006/main" xmlns:a="http://schemas.openxmlformats.org/drawingml/2006/main">
  <p:cSld>
    <p:spTree>
      <p:nvGrpSpPr>
        <p:cNvPr id="41" name=""/>
        <p:cNvGrpSpPr/>
        <p:nvPr/>
      </p:nvGrpSpPr>
      <p:grpSpPr>
        <a:xfrm>
          <a:off x="0" y="0"/>
          <a:ext cx="0" cy="0"/>
          <a:chOff x="0" y="0"/>
          <a:chExt cx="0" cy="0"/>
        </a:xfrm>
      </p:grpSpPr>
      <p:sp>
        <p:nvSpPr>
          <p:cNvPr id="42" name=""/>
          <p:cNvSpPr/>
          <p:nvPr>
            <p:ph type="body"/>
          </p:nvPr>
        </p:nvSpPr>
        <p:spPr>
          <a:xfrm>
            <a:off x="0" y="0"/>
            <a:ext cx="177800" cy="444500"/>
          </a:xfrm>
        </p:spPr>
        <p:txBody>
          <a:bodyPr/>
          <a:p>
            <a:pPr/>
            <a:r>
              <a:rPr lang="en-US"/>
              <a:t>这一页是我们今天跳出信息架构，往数据底座走一步。
先说三句话把四组件和底座的关系接上。前面二十多页讲的都是「治」——怎么把数据定义清楚、归属清楚、来源清楚。这一页开始讲「存」——数据往哪里去，怎么存。
但我要先把一句话放在前面，因为它决定了这一页的意义：先有「治」，才有「存」。没有信息架构这张蓝图，数据底座就是一潭浑水。这句话我在封面说过，现在到了该兑现它的时候。
右边这三项，是华为数据湖的三个特点。逻辑统一、类型多样、原始记录。第三个我请各位特别留意——原始记录的意思是，数据湖不做任何转换、清洗、加工，保留数据最原始的特征。
这个设计决定了很多事情。它意味着数据湖不是一个数据仓库——数据仓库是要加工的、是要建模型的；数据湖是原样存放的，为后续的多种加工提供可能。
上面这六项标准，是这一页真正的重点。数据入湖必须同时满足这六条：明确数据Owner、发布数据标准、定义数据密级、明确数据源、数据质量评估、元数据注册。
我请各位把这六条和前面讲的四组件对一下：数据Owner 对应第一组件，数据标准对应第三组件，数据源对应第四组件，密级和质量是另外两块。
所以这六条标准，本质上就是我这一册讲的那些东西的落地门槛。各位如果前面没做扎实，这一关就过不去——数据根本不该入湖。
这也从另一个角度印证了今天开头的那个判断：顺序不能反。</a:t>
            </a:r>
            <a:endParaRPr/>
          </a:p>
        </p:txBody>
      </p:sp>
    </p:spTree>
  </p:cSld>
  <p:clrMapOvr>
    <a:masterClrMapping/>
  </p:clrMapOvr>
</p:notes>
</file>

<file path=ppt/notesSlides/notesSlide22.xml><?xml version="1.0" encoding="utf-8"?>
<p:notes xmlns:p="http://schemas.openxmlformats.org/presentationml/2006/main" xmlns:a="http://schemas.openxmlformats.org/drawingml/2006/main">
  <p:cSld>
    <p:spTree>
      <p:nvGrpSpPr>
        <p:cNvPr id="43" name=""/>
        <p:cNvGrpSpPr/>
        <p:nvPr/>
      </p:nvGrpSpPr>
      <p:grpSpPr>
        <a:xfrm>
          <a:off x="0" y="0"/>
          <a:ext cx="0" cy="0"/>
          <a:chOff x="0" y="0"/>
          <a:chExt cx="0" cy="0"/>
        </a:xfrm>
      </p:grpSpPr>
      <p:sp>
        <p:nvSpPr>
          <p:cNvPr id="44" name=""/>
          <p:cNvSpPr/>
          <p:nvPr>
            <p:ph type="body"/>
          </p:nvPr>
        </p:nvSpPr>
        <p:spPr>
          <a:xfrm>
            <a:off x="0" y="0"/>
            <a:ext cx="177800" cy="444500"/>
          </a:xfrm>
        </p:spPr>
        <p:txBody>
          <a:bodyPr/>
          <a:p>
            <a:pPr/>
            <a:r>
              <a:rPr lang="en-US"/>
              <a:t>这一页讲数据消费，讲数据服务。我要先把一个现实说在前面。
左边这块说的是传统做法：从一个系统复制到另一个系统。这个做法为什么撑不住了？因为企业规模扩大之后，需要在几十个甚至上百个 IT 系统之间做集成。集成复杂度一上去，一系列数据质量问题就跟着来了。
这里有个反直觉的结论，请各位记住：数据经过多次不同系统之间的搬家之后，源头数据和下游各系统之间的数据差异会变得巨大。
为什么？想一下就知道——每一次搬运都是一次转换，每一次转换都可能损失精度、改变格式、或者干脆被截断。搬的次数越多，失真越严重。而集成次数是随着系统数量指数增长的。
所以右边这个转变是必须的：用数据服务替代原有的数据集成方式。这是在数据获取效率和数据安全之间取得平衡的唯一办法。
数据服务为什么能解决这个问题？因为它把「搬数据」变成了「调接口」。数据在源头那一侧只存一份，消费方通过接口按需取。这样一来，从五份变成一份，中间的五道搬运全部消失了，失真自然也就消失了。
中间这五个价值，我请各位重点看第一个和最后一个。第一个「数出一孔」，这是数据一致性的根本保障。最后一个「兼顾安全」——这一条常被忽视，但很重要：因为服务接口可以控制权限，所以敏感数据的访问是可管控、可审计的。而传统的复制方式，数据一旦复制出去，就失控了。
下面这个「三个一」，我念一下：一，天交付已发布数据服务的新场景响应；一周完成数据需求上线；一个月数据问题闭环。这是服务化的速度指标，也是判断数据服务是否真的建起来了的标尺。
数据消费讲完了。下一页我做个总结。</a:t>
            </a:r>
            <a:endParaRPr/>
          </a:p>
        </p:txBody>
      </p:sp>
    </p:spTree>
  </p:cSld>
  <p:clrMapOvr>
    <a:masterClrMapping/>
  </p:clrMapOvr>
</p:notes>
</file>

<file path=ppt/notesSlides/notesSlide23.xml><?xml version="1.0" encoding="utf-8"?>
<p:notes xmlns:p="http://schemas.openxmlformats.org/presentationml/2006/main" xmlns:a="http://schemas.openxmlformats.org/drawingml/2006/main">
  <p:cSld>
    <p:spTree>
      <p:nvGrpSpPr>
        <p:cNvPr id="45" name=""/>
        <p:cNvGrpSpPr/>
        <p:nvPr/>
      </p:nvGrpSpPr>
      <p:grpSpPr>
        <a:xfrm>
          <a:off x="0" y="0"/>
          <a:ext cx="0" cy="0"/>
          <a:chOff x="0" y="0"/>
          <a:chExt cx="0" cy="0"/>
        </a:xfrm>
      </p:grpSpPr>
      <p:sp>
        <p:nvSpPr>
          <p:cNvPr id="46" name=""/>
          <p:cNvSpPr/>
          <p:nvPr>
            <p:ph type="body"/>
          </p:nvPr>
        </p:nvSpPr>
        <p:spPr>
          <a:xfrm>
            <a:off x="0" y="0"/>
            <a:ext cx="177800" cy="444500"/>
          </a:xfrm>
        </p:spPr>
        <p:txBody>
          <a:bodyPr/>
          <a:p>
            <a:pPr/>
            <a:r>
              <a:rPr lang="en-US"/>
              <a:t>在讲具体方法之前，我需要先用一页把四组件的关系讲明白，因为这是全册的地基。
我想先纠正一个很常见的定位偏差。有些企业做数据架构，做的是面向分析场景的架构——围绕主题建数仓、围绕分析需求建模型。这不是数据架构的全部，甚至可以说不是数据架构的主体。
华为这套信息架构是面向「业务交易」的。这句话很关键，它决定了整册的取向。它的使命是让各类数据在企业各业务单元之间高效、准确地传递，让上下游流程能快速执行。翻译成大白话就是：它回答的不是「分析出什么」，而是「数据怎么产生、怎么定义、怎么关联、存在哪里」。
所以各位看这四个组件，其实是在回答四个递进的问题：有哪些数据、怎么统一、如何关联、存在哪里。这四句话串起来，就是一条完整的链。断一环，整条链都不成立。
右边这个业务对象，是全册的锚心。这四个组件全部围绕它展开——它是目录里的核心层，是标准要描述的对象，是模型的实体来源，也是分布要锁定源头的对象。所以请各位务必抓住这一个词。
下面我们进入总论部分，先把内核和原则讲完，再逐个组件展开。</a:t>
            </a:r>
            <a:endParaRPr/>
          </a:p>
        </p:txBody>
      </p:sp>
    </p:spTree>
  </p:cSld>
  <p:clrMapOvr>
    <a:masterClrMapping/>
  </p:clrMapOvr>
</p:notes>
</file>

<file path=ppt/notesSlides/notesSlide24.xml><?xml version="1.0" encoding="utf-8"?>
<p:notes xmlns:p="http://schemas.openxmlformats.org/presentationml/2006/main" xmlns:a="http://schemas.openxmlformats.org/drawingml/2006/main">
  <p:cSld>
    <p:spTree>
      <p:nvGrpSpPr>
        <p:cNvPr id="47" name=""/>
        <p:cNvGrpSpPr/>
        <p:nvPr/>
      </p:nvGrpSpPr>
      <p:grpSpPr>
        <a:xfrm>
          <a:off x="0" y="0"/>
          <a:ext cx="0" cy="0"/>
          <a:chOff x="0" y="0"/>
          <a:chExt cx="0" cy="0"/>
        </a:xfrm>
      </p:grpSpPr>
      <p:sp>
        <p:nvSpPr>
          <p:cNvPr id="48" name=""/>
          <p:cNvSpPr/>
          <p:nvPr>
            <p:ph type="body"/>
          </p:nvPr>
        </p:nvSpPr>
        <p:spPr>
          <a:xfrm>
            <a:off x="0" y="0"/>
            <a:ext cx="177800" cy="444500"/>
          </a:xfrm>
        </p:spPr>
        <p:txBody>
          <a:bodyPr/>
          <a:p>
            <a:pPr/>
            <a:r>
              <a:rPr lang="en-US"/>
              <a:t>最后，我用这一页把今天讲的东西收一下。
上面这句话我在封面说过，现在再讲一遍，因为它是这一册的结论：先有「治」，才有「存」。
我想请各位把它理解得更实一点。这句话不是理论，它是一个项目的生死线。我见过太多这样的项目：平台建好了，数据灌进去了，报表也出了，看起来很成功。但两年之后要做跨部门数据共享、要做集团数据合并，才发现底层是乱的，那时候的返工代价，是当初好好做治理的十倍。
中间这一行是今天的四个组件，我给每个配了一个动词，各位记住这四个动词就够了——**找得到、看得懂、关联对、信得过**。
目录解决找得到，标准解决看得懂，模型解决关联对，分布解决信得过。四个组件，四件事，一件都不能少。少一件，这个数据就还是半成品。
下面这行是这一册真正的价值所在：数据架构不是 IT 内部的规范，而是企业把业务语言翻译成数据语言的唯一共识。
为什么这么讲？因为数据架构处理的是全企业共同使用的对象和规则，它天然是跨部门的。它一旦建好，业务部门、数据部门、IT 部门讲的是同一套词、看的是同一张图、认的是同一个客户和同一份合同。这才是数据架构真正的产出——不是几张图，是一套共识。
《华为数据之道》这本书里有一句话我印象很深，它大致是这个意思：只有构筑一套企业级的数据综合治理体系，才能确保关键数据资产有清晰的业务管理责任，IT 建设有稳定的原则和依据。责任清晰、原则稳定——这两件事，就是架构的全部意义。
谢谢各位。这一册的内容就讲到这里，接下来是交流时间，各位有任何关于自己企业落地的问题，我们具体讨论。</a:t>
            </a:r>
            <a:endParaRPr/>
          </a:p>
        </p:txBody>
      </p:sp>
    </p:spTree>
  </p:cSld>
  <p:clrMapOvr>
    <a:masterClrMapping/>
  </p:clrMapOvr>
</p:notes>
</file>

<file path=ppt/notesSlides/notesSlide25.xml><?xml version="1.0" encoding="utf-8"?>
<p:notes xmlns:p="http://schemas.openxmlformats.org/presentationml/2006/main" xmlns:a="http://schemas.openxmlformats.org/drawingml/2006/main">
  <p:cSld>
    <p:spTree>
      <p:nvGrpSpPr>
        <p:cNvPr id="49" name=""/>
        <p:cNvGrpSpPr/>
        <p:nvPr/>
      </p:nvGrpSpPr>
      <p:grpSpPr>
        <a:xfrm>
          <a:off x="0" y="0"/>
          <a:ext cx="0" cy="0"/>
          <a:chOff x="0" y="0"/>
          <a:chExt cx="0" cy="0"/>
        </a:xfrm>
      </p:grpSpPr>
      <p:sp>
        <p:nvSpPr>
          <p:cNvPr id="50" name=""/>
          <p:cNvSpPr/>
          <p:nvPr>
            <p:ph type="body"/>
          </p:nvPr>
        </p:nvSpPr>
        <p:spPr>
          <a:xfrm>
            <a:off x="0" y="0"/>
            <a:ext cx="177800" cy="444500"/>
          </a:xfrm>
        </p:spPr>
        <p:txBody>
          <a:bodyPr/>
          <a:p>
            <a:pPr/>
            <a:r>
              <a:rPr lang="en-US"/>
              <a:t>第一部分，数据架构总论。
这一块我讲得快一点，但它是地基。如果总论的认知错了，后面四个组件做得再细，方向也是错的。
我用三页把总论交代完：第一页讲四组件和五层目录的骨架，第二页讲五条原则，第三页讲数字化转型的三个扩展。
这三页里的每一句话，后面四组件都会反复印证，所以请各位留意听。</a:t>
            </a:r>
            <a:endParaRPr/>
          </a:p>
        </p:txBody>
      </p:sp>
    </p:spTree>
  </p:cSld>
  <p:clrMapOvr>
    <a:masterClrMapping/>
  </p:clrMapOvr>
</p:notes>
</file>

<file path=ppt/notesSlides/notesSlide26.xml><?xml version="1.0" encoding="utf-8"?>
<p:notes xmlns:p="http://schemas.openxmlformats.org/presentationml/2006/main" xmlns:a="http://schemas.openxmlformats.org/drawingml/2006/main">
  <p:cSld>
    <p:spTree>
      <p:nvGrpSpPr>
        <p:cNvPr id="51" name=""/>
        <p:cNvGrpSpPr/>
        <p:nvPr/>
      </p:nvGrpSpPr>
      <p:grpSpPr>
        <a:xfrm>
          <a:off x="0" y="0"/>
          <a:ext cx="0" cy="0"/>
          <a:chOff x="0" y="0"/>
          <a:chExt cx="0" cy="0"/>
        </a:xfrm>
      </p:grpSpPr>
      <p:sp>
        <p:nvSpPr>
          <p:cNvPr id="52" name=""/>
          <p:cNvSpPr/>
          <p:nvPr>
            <p:ph type="body"/>
          </p:nvPr>
        </p:nvSpPr>
        <p:spPr>
          <a:xfrm>
            <a:off x="0" y="0"/>
            <a:ext cx="177800" cy="444500"/>
          </a:xfrm>
        </p:spPr>
        <p:txBody>
          <a:bodyPr/>
          <a:p>
            <a:pPr/>
            <a:r>
              <a:rPr lang="en-US"/>
              <a:t>这一页是整个信息架构的骨架图，我请各位重点看两件事：五层怎么分的，以及第三层为什么这么关键。
先说五层的划分依据。业界分数据资产有两种分法：一种是按数据自身的特征边界分，比如按结构化非结构化分、按大小分；一种是按业务管理边界分，比如按业务域分。华为选了后者。这个选择背后是有考究的——按业务管理边界分，才能强化业务部门的数据管理责任。如果按数据特征分，那些数据就变成 IT 部门的事了，业务部门没有理由，也没有动力去认领。
所以各位在做目录设计时，第一件事就是确认一件事：你们公司的目录，是按谁的边界分的？如果是按数据特征分的，那它只是一份技术清单，没有认责功能，价值要打对折。
然后看左边这个五层。越往下越贴近系统实现，最上面是公司级的数据范畴，中间是业务对象，再往下是逻辑实体和属性。这条从上到下的线，其实就是「业务语言」翻译成「数据语言」的路由。
第三层为什么关键？这是这一页最想让大家记住的。业务对象在正中间：往上，它承接业务架构识别出来的对象；往下，它生成逻辑实体和属性。它既是数据架构的管理重心，也是数据架构跟应用架构之间的接口。抓住第三层，就抓住了整条链；抓不住，目录就只是一棵没有主的树。
下面这行小字我也要强调一下：资产目录决定了数据治理的边界和对象。没有目录这张地图，后面的标准、模型、分布都没有地方挂。这一点，后面讲入湖的时候我们会再回来看。</a:t>
            </a:r>
            <a:endParaRPr/>
          </a:p>
        </p:txBody>
      </p:sp>
    </p:spTree>
  </p:cSld>
  <p:clrMapOvr>
    <a:masterClrMapping/>
  </p:clrMapOvr>
</p:notes>
</file>

<file path=ppt/notesSlides/notesSlide27.xml><?xml version="1.0" encoding="utf-8"?>
<p:notes xmlns:p="http://schemas.openxmlformats.org/presentationml/2006/main" xmlns:a="http://schemas.openxmlformats.org/drawingml/2006/main">
  <p:cSld>
    <p:spTree>
      <p:nvGrpSpPr>
        <p:cNvPr id="53" name=""/>
        <p:cNvGrpSpPr/>
        <p:nvPr/>
      </p:nvGrpSpPr>
      <p:grpSpPr>
        <a:xfrm>
          <a:off x="0" y="0"/>
          <a:ext cx="0" cy="0"/>
          <a:chOff x="0" y="0"/>
          <a:chExt cx="0" cy="0"/>
        </a:xfrm>
      </p:grpSpPr>
      <p:sp>
        <p:nvSpPr>
          <p:cNvPr id="54" name=""/>
          <p:cNvSpPr/>
          <p:nvPr>
            <p:ph type="body"/>
          </p:nvPr>
        </p:nvSpPr>
        <p:spPr>
          <a:xfrm>
            <a:off x="0" y="0"/>
            <a:ext cx="177800" cy="444500"/>
          </a:xfrm>
        </p:spPr>
        <p:txBody>
          <a:bodyPr/>
          <a:p>
            <a:pPr/>
            <a:r>
              <a:rPr lang="en-US"/>
              <a:t>这一页是五条信息架构原则。我先说它的性质：这不是建议，是准则。
华为的做法是把原则政策化，由公司级的数据政策承载，总裁签发。这意味着什么？意味着当某个部门想自己定义一套的时候，他不能，因为政策不允许。原则如果只是挂在墙上的口号，遇到具体利益冲突的时候，第一个被牺牲的就是它。
五条里我想请各位重点关注第一条和第五条。
第一条，数据按对象管理，明确数据Owner。为什么这条排第一？因为它解决的是一个很常见的错——用系统的边界去管数据。数据是不认系统的。客户这个对象，在 CRM 里、ERP 里、订单系统里都有，你按系统划分责任，等于把责任切碎了，最后谁都不完整地负责。正确做法是从数据本身出发，按对象做全生命周期管理，一个数据一个 Owner。
第五条，数据服务化，同源共享。这是终局形态，也是最难的一步——一旦数据要跨系统流转，就必须有一个统一的出口，否则每个系统各取一份，差异就越来越大。
右边这块橙红我想请各位特别记住：信息架构管理原则里写得很直接——所有变革项目必须遵从数据管控要求，不遵从的，数据管控组织有一票否决权。这一条是整套原则能不能落地的唯一保障。没有否决权，前面五条原则在强势的业务部门面前全都是纸老虎。
原则讲完了，下一页讲数字化转型对这套架构提出的新要求。</a:t>
            </a:r>
            <a:endParaRPr/>
          </a:p>
        </p:txBody>
      </p:sp>
    </p:spTree>
  </p:cSld>
  <p:clrMapOvr>
    <a:masterClrMapping/>
  </p:clrMapOvr>
</p:notes>
</file>

<file path=ppt/notesSlides/notesSlide28.xml><?xml version="1.0" encoding="utf-8"?>
<p:notes xmlns:p="http://schemas.openxmlformats.org/presentationml/2006/main" xmlns:a="http://schemas.openxmlformats.org/drawingml/2006/main">
  <p:cSld>
    <p:spTree>
      <p:nvGrpSpPr>
        <p:cNvPr id="55" name=""/>
        <p:cNvGrpSpPr/>
        <p:nvPr/>
      </p:nvGrpSpPr>
      <p:grpSpPr>
        <a:xfrm>
          <a:off x="0" y="0"/>
          <a:ext cx="0" cy="0"/>
          <a:chOff x="0" y="0"/>
          <a:chExt cx="0" cy="0"/>
        </a:xfrm>
      </p:grpSpPr>
      <p:sp>
        <p:nvSpPr>
          <p:cNvPr id="56" name=""/>
          <p:cNvSpPr/>
          <p:nvPr>
            <p:ph type="body"/>
          </p:nvPr>
        </p:nvSpPr>
        <p:spPr>
          <a:xfrm>
            <a:off x="0" y="0"/>
            <a:ext cx="177800" cy="444500"/>
          </a:xfrm>
        </p:spPr>
        <p:txBody>
          <a:bodyPr/>
          <a:p>
            <a:pPr/>
            <a:r>
              <a:rPr lang="en-US"/>
              <a:t>这一页讲的是传统信息架构往数字化转型的扩展。
我先说背景。上面这一行痛点不是华为自谦，是行业普遍的现状：大量的业务数据没有被完整管理，大量的业务过程没有形成可视、可管理的数据，大量的业务规则缺乏管理、无法灵活使用。这三个问题背后是同一件事——传统的信息架构只管「结果」，不管「过程」和「规则」。
所以华为提出了三个数字化。我请各位注意，这三个不是并列的三件事，它们是有层次的。
对象数字化是基础。什么叫做对象数字化？传统的做法是「流程需要什么就存什么」——比如订单流程要流转，那我就把订单号、客户号存下来，其余不管。对象数字化要求的是：管理一个对象的全量数据。对象有什么，就管什么。这个转变很大，它意味着数据管理的心智从「支撑流程」变成了「沉淀对象」。
过程数字化是延展。过程数据过去是不管的，只记结果。过程数字化之后，过程本身成了可观测的对象——什么时候开始的、卡在哪一步、耗时多久，都能被监控和分析。
规则数字化是升华。这一条最有价值。把规则从代码里、从人的经验里抽出来，变成可管理、可配置的独立资产。规则数字化之后，业务变化就不必都改代码——这是对业务敏捷性最大的支撑。
总论讲完了。下一页开始，进入第一个组件：业务对象识别。</a:t>
            </a:r>
            <a:endParaRPr/>
          </a:p>
        </p:txBody>
      </p:sp>
    </p:spTree>
  </p:cSld>
  <p:clrMapOvr>
    <a:masterClrMapping/>
  </p:clrMapOvr>
</p:notes>
</file>

<file path=ppt/notesSlides/notesSlide29.xml><?xml version="1.0" encoding="utf-8"?>
<p:notes xmlns:p="http://schemas.openxmlformats.org/presentationml/2006/main" xmlns:a="http://schemas.openxmlformats.org/drawingml/2006/main">
  <p:cSld>
    <p:spTree>
      <p:nvGrpSpPr>
        <p:cNvPr id="57" name=""/>
        <p:cNvGrpSpPr/>
        <p:nvPr/>
      </p:nvGrpSpPr>
      <p:grpSpPr>
        <a:xfrm>
          <a:off x="0" y="0"/>
          <a:ext cx="0" cy="0"/>
          <a:chOff x="0" y="0"/>
          <a:chExt cx="0" cy="0"/>
        </a:xfrm>
      </p:grpSpPr>
      <p:sp>
        <p:nvSpPr>
          <p:cNvPr id="58" name=""/>
          <p:cNvSpPr/>
          <p:nvPr>
            <p:ph type="body"/>
          </p:nvPr>
        </p:nvSpPr>
        <p:spPr>
          <a:xfrm>
            <a:off x="0" y="0"/>
            <a:ext cx="177800" cy="444500"/>
          </a:xfrm>
        </p:spPr>
        <p:txBody>
          <a:bodyPr/>
          <a:p>
            <a:pPr/>
            <a:r>
              <a:rPr lang="en-US"/>
              <a:t>第二部分，业务对象识别。
这是整个信息架构的第一道工序，也是最关键的一道。
我先说一个现实情况：在座各位如果参与过架构或者数据梳理项目，大概率都见过这种场面——架构师说这是一个业务对象，业务代表说这不是，数据 Owner 说那是一个属性。三个人三种判断，项目卡在第一步，两个星期过去了还没结论。
这不是能力问题，是规则缺失的问题。所以华为的做法是制定一套确定性的规则，让判断不再依赖个人经验。这四条规定，就是下一页要讲的。
接下来三页：方法讲怎么判，内容讲判完之后要交什么，模板给一张可以直接用的定义卡。</a:t>
            </a:r>
            <a:endParaRPr/>
          </a:p>
        </p:txBody>
      </p:sp>
    </p:spTree>
  </p:cSld>
  <p:clrMapOvr>
    <a:masterClrMapping/>
  </p:clrMapOvr>
</p:notes>
</file>

<file path=ppt/notesSlides/notesSlide30.xml><?xml version="1.0" encoding="utf-8"?>
<p:notes xmlns:p="http://schemas.openxmlformats.org/presentationml/2006/main" xmlns:a="http://schemas.openxmlformats.org/drawingml/2006/main">
  <p:cSld>
    <p:spTree>
      <p:nvGrpSpPr>
        <p:cNvPr id="59" name=""/>
        <p:cNvGrpSpPr/>
        <p:nvPr/>
      </p:nvGrpSpPr>
      <p:grpSpPr>
        <a:xfrm>
          <a:off x="0" y="0"/>
          <a:ext cx="0" cy="0"/>
          <a:chOff x="0" y="0"/>
          <a:chExt cx="0" cy="0"/>
        </a:xfrm>
      </p:grpSpPr>
      <p:sp>
        <p:nvSpPr>
          <p:cNvPr id="60" name=""/>
          <p:cNvSpPr/>
          <p:nvPr>
            <p:ph type="body"/>
          </p:nvPr>
        </p:nvSpPr>
        <p:spPr>
          <a:xfrm>
            <a:off x="0" y="0"/>
            <a:ext cx="177800" cy="444500"/>
          </a:xfrm>
        </p:spPr>
        <p:txBody>
          <a:bodyPr/>
          <a:p>
            <a:pPr/>
            <a:r>
              <a:rPr lang="en-US"/>
              <a:t>这一页是业务对象的四判定原则。我先讲清楚它解决什么问题。
前面说了，架构师、业务代表、数据 Owner 各自判断会不一样。那怎么统一？办法就是把所有判断都收敛到四条规则上，而且这四条是「全部满足」的关系，不是满足一条就行。
这四条我一条一条讲，但我想先请各位注意最后一条——可实例化。这条是最容易被忽略、也最容易出事的一条。
什么叫可实例化？就是这个对象必须能对应到真实存在的具体个体。「客户」是可实例化的——它能对应到某一家具体的公司。「合同管理」是不可实例化的——它是一个活动，不是一个东西。很多项目里把「订单管理」「库存管理」这类词当业务对象写进目录，这是典型的错误，它们是过程，不是对象。
第三条「相对独立并有属性」，我也要多说一句，因为这条提供了一个非常实用的判断标准：如果一个数据元素只有一个标识名，没有别的描述性信息，那它应该被识别为属性，而不是实体。这条在实践中非常管用，可以直接拿去做模型评审的检查项。
为什么必须用规则，不能靠商量？因为只有确定性规则，才能在不同项目、不同团队之间得出同样的结论。这和我们整套方法论的出发点是一致的——要可复用。
方法讲完了，判完之后该交什么，下一页讲。</a:t>
            </a:r>
            <a:endParaRPr/>
          </a:p>
        </p:txBody>
      </p:sp>
    </p:spTree>
  </p:cSld>
  <p:clrMapOvr>
    <a:masterClrMapping/>
  </p:clrMapOvr>
</p:notes>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 /><Relationship Id="rId0"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1.xml"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12.xml" /></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23.xml" /></Relationships>
</file>

<file path=ppt/slides/_rels/slide4.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25.xml" /></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26.xml" /></Relationships>
</file>

<file path=ppt/slides/_rels/slide6.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27.xml" /></Relationships>
</file>

<file path=ppt/slides/_rels/slide7.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28.xml" /></Relationships>
</file>

<file path=ppt/slides/_rels/slide8.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29.xml" /></Relationships>
</file>

<file path=ppt/slides/_rels/slide9.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30.xml" /></Relationships>
</file>

<file path=ppt/slides/_rels/slide10.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2.xml" /></Relationships>
</file>

<file path=ppt/slides/_rels/slide1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3.xml" /></Relationships>
</file>

<file path=ppt/slides/_rels/slide12.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4.xml" /></Relationships>
</file>

<file path=ppt/slides/_rels/slide13.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5.xml" /></Relationships>
</file>

<file path=ppt/slides/_rels/slide14.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6.xml" /></Relationships>
</file>

<file path=ppt/slides/_rels/slide15.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7.xml" /></Relationships>
</file>

<file path=ppt/slides/_rels/slide16.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8.xml" /></Relationships>
</file>

<file path=ppt/slides/_rels/slide17.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9.xml" /></Relationships>
</file>

<file path=ppt/slides/_rels/slide18.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10.xml" /></Relationships>
</file>

<file path=ppt/slides/_rels/slide19.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11.xml" /></Relationships>
</file>

<file path=ppt/slides/_rels/slide20.xml.rels><?xml version="1.0" encoding="UTF-8" standalone="yes"?><Relationships xmlns="http://schemas.openxmlformats.org/package/2006/relationships"><Relationship Id="rId1" Type="http://schemas.openxmlformats.org/officeDocument/2006/relationships/notesSlide" Target="../notesSlides/notesSlide13.xml" /><Relationship Id="rId0" Type="http://schemas.openxmlformats.org/officeDocument/2006/relationships/slideLayout" Target="../slideLayouts/slideLayout1.xml" /></Relationships>
</file>

<file path=ppt/slides/_rels/slide2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14.xml" /></Relationships>
</file>

<file path=ppt/slides/_rels/slide22.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15.xml" /></Relationships>
</file>

<file path=ppt/slides/_rels/slide23.xml.rels><?xml version="1.0" encoding="UTF-8" standalone="yes"?><Relationships xmlns="http://schemas.openxmlformats.org/package/2006/relationships"><Relationship Id="rId1" Type="http://schemas.openxmlformats.org/officeDocument/2006/relationships/notesSlide" Target="../notesSlides/notesSlide16.xml" /><Relationship Id="rId0" Type="http://schemas.openxmlformats.org/officeDocument/2006/relationships/slideLayout" Target="../slideLayouts/slideLayout1.xml" /></Relationships>
</file>

<file path=ppt/slides/_rels/slide24.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17.xml" /></Relationships>
</file>

<file path=ppt/slides/_rels/slide25.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18.xml" /></Relationships>
</file>

<file path=ppt/slides/_rels/slide26.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19.xml" /></Relationships>
</file>

<file path=ppt/slides/_rels/slide27.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20.xml" /></Relationships>
</file>

<file path=ppt/slides/_rels/slide28.xml.rels><?xml version="1.0" encoding="UTF-8" standalone="yes"?><Relationships xmlns="http://schemas.openxmlformats.org/package/2006/relationships"><Relationship Id="rId1" Type="http://schemas.openxmlformats.org/officeDocument/2006/relationships/notesSlide" Target="../notesSlides/notesSlide21.xml" /><Relationship Id="rId0" Type="http://schemas.openxmlformats.org/officeDocument/2006/relationships/slideLayout" Target="../slideLayouts/slideLayout1.xml" /></Relationships>
</file>

<file path=ppt/slides/_rels/slide29.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22.xml" /></Relationships>
</file>

<file path=ppt/slides/_rels/slide30.xml.rels><?xml version="1.0" encoding="UTF-8" standalone="yes"?><Relationships xmlns="http://schemas.openxmlformats.org/package/2006/relationships"><Relationship Id="rId1" Type="http://schemas.openxmlformats.org/officeDocument/2006/relationships/notesSlide" Target="../notesSlides/notesSlide24.xml" /><Relationship Id="rId0"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FFFFFF"/>
          </a:solidFill>
          <a:ln/>
        </p:spPr>
        <p:txBody>
          <a:bodyPr/>
          <a:p>
            <a:pPr/>
            <a:endParaRPr/>
          </a:p>
        </p:txBody>
      </p:sp>
      <p:sp>
        <p:nvSpPr>
          <p:cNvPr id="3" name=""/>
          <p:cNvSpPr/>
          <p:nvPr/>
        </p:nvSpPr>
        <p:spPr>
          <a:xfrm rot="0" flipH="0" flipV="0">
            <a:off x="0" y="0"/>
            <a:ext cx="4381500" cy="6858000"/>
          </a:xfrm>
          <a:prstGeom prst="rect">
            <a:avLst/>
          </a:prstGeom>
          <a:gradFill>
            <a:gsLst>
              <a:gs pos="0">
                <a:srgbClr val="FA4F24"/>
              </a:gs>
              <a:gs pos="100000">
                <a:srgbClr val="F87D2F"/>
              </a:gs>
            </a:gsLst>
            <a:lin ang="4200000" scaled="1"/>
          </a:gradFill>
          <a:ln/>
        </p:spPr>
        <p:txBody>
          <a:bodyPr/>
          <a:p>
            <a:pPr/>
            <a:endParaRPr/>
          </a:p>
        </p:txBody>
      </p:sp>
      <p:sp>
        <p:nvSpPr>
          <p:cNvPr id="4" name=""/>
          <p:cNvSpPr/>
          <p:nvPr/>
        </p:nvSpPr>
        <p:spPr>
          <a:xfrm rot="0" flipH="0" flipV="0">
            <a:off x="3810000" y="0"/>
            <a:ext cx="1143000" cy="6858000"/>
          </a:xfrm>
          <a:prstGeom prst="rect">
            <a:avLst/>
          </a:prstGeom>
          <a:gradFill>
            <a:gsLst>
              <a:gs pos="0">
                <a:srgbClr val="FA4F24">
                  <a:alpha val="35000"/>
                </a:srgbClr>
              </a:gs>
              <a:gs pos="100000">
                <a:srgbClr val="F87D2F">
                  <a:alpha val="0"/>
                </a:srgbClr>
              </a:gs>
            </a:gsLst>
            <a:lin ang="4200000" scaled="1"/>
          </a:gradFill>
          <a:ln/>
        </p:spPr>
        <p:txBody>
          <a:bodyPr/>
          <a:p>
            <a:pPr/>
            <a:endParaRPr/>
          </a:p>
        </p:txBody>
      </p:sp>
      <p:sp>
        <p:nvSpPr>
          <p:cNvPr id="5" name="" descr="{&quot;isTemplate&quot;:true,&quot;type&quot;:&quot;text&quot;}"/>
          <p:cNvSpPr txBox="1"/>
          <p:nvPr/>
        </p:nvSpPr>
        <p:spPr>
          <a:xfrm rot="0" flipH="0" flipV="0">
            <a:off x="609600" y="609600"/>
            <a:ext cx="2133600" cy="190500"/>
          </a:xfrm>
          <a:prstGeom prst="rect"/>
        </p:spPr>
        <p:txBody>
          <a:bodyPr wrap="none" lIns="0" tIns="0" rIns="0" bIns="0"/>
          <a:p>
            <a:pPr>
              <a:lnSpc>
                <a:spcPct val="100000"/>
              </a:lnSpc>
            </a:pPr>
            <a:r>
              <a:rPr lang="en-US" sz="1200" spc="225">
                <a:solidFill>
                  <a:srgbClr val="FFFFFF">
                    <a:alpha val="85000"/>
                  </a:srgbClr>
                </a:solidFill>
                <a:latin typeface="Microsoft YaHei"/>
                <a:ea typeface="Microsoft YaHei"/>
              </a:rPr>
              <a:t>BOULDERAI</a:t>
            </a:r>
            <a:endParaRPr/>
          </a:p>
        </p:txBody>
      </p:sp>
      <p:sp>
        <p:nvSpPr>
          <p:cNvPr id="6" name="" descr="{&quot;isTemplate&quot;:true,&quot;type&quot;:&quot;text&quot;}"/>
          <p:cNvSpPr txBox="1"/>
          <p:nvPr/>
        </p:nvSpPr>
        <p:spPr>
          <a:xfrm rot="0" flipH="0" flipV="0">
            <a:off x="609600" y="838200"/>
            <a:ext cx="2133600" cy="152400"/>
          </a:xfrm>
          <a:prstGeom prst="rect"/>
        </p:spPr>
        <p:txBody>
          <a:bodyPr wrap="none" lIns="0" tIns="0" rIns="0" bIns="0"/>
          <a:p>
            <a:pPr>
              <a:lnSpc>
                <a:spcPct val="100000"/>
              </a:lnSpc>
            </a:pPr>
            <a:r>
              <a:rPr lang="en-US" sz="975" spc="150">
                <a:solidFill>
                  <a:srgbClr val="FFFFFF">
                    <a:alpha val="65000"/>
                  </a:srgbClr>
                </a:solidFill>
                <a:latin typeface="Microsoft YaHei"/>
                <a:ea typeface="Microsoft YaHei"/>
              </a:rPr>
              <a:t>TECHNOLOGIES · SOLUTION</a:t>
            </a:r>
            <a:endParaRPr/>
          </a:p>
        </p:txBody>
      </p:sp>
      <p:sp>
        <p:nvSpPr>
          <p:cNvPr id="7" name=""/>
          <p:cNvSpPr/>
          <p:nvPr/>
        </p:nvSpPr>
        <p:spPr>
          <a:xfrm rot="0" flipH="0" flipV="0">
            <a:off x="609600" y="5514975"/>
            <a:ext cx="533400" cy="38100"/>
          </a:xfrm>
          <a:prstGeom prst="rect">
            <a:avLst/>
          </a:prstGeom>
          <a:solidFill>
            <a:srgbClr val="FFFFFF">
              <a:alpha val="80000"/>
            </a:srgbClr>
          </a:solidFill>
          <a:ln/>
        </p:spPr>
        <p:txBody>
          <a:bodyPr/>
          <a:p>
            <a:pPr/>
            <a:endParaRPr/>
          </a:p>
        </p:txBody>
      </p:sp>
      <p:sp>
        <p:nvSpPr>
          <p:cNvPr id="8" name="" descr="{&quot;isTemplate&quot;:true,&quot;type&quot;:&quot;text&quot;}"/>
          <p:cNvSpPr txBox="1"/>
          <p:nvPr/>
        </p:nvSpPr>
        <p:spPr>
          <a:xfrm rot="0" flipH="0" flipV="0">
            <a:off x="609600" y="5724525"/>
            <a:ext cx="2152650" cy="228600"/>
          </a:xfrm>
          <a:prstGeom prst="rect"/>
        </p:spPr>
        <p:txBody>
          <a:bodyPr wrap="none" lIns="0" tIns="0" rIns="0" bIns="0"/>
          <a:p>
            <a:pPr>
              <a:lnSpc>
                <a:spcPct val="100000"/>
              </a:lnSpc>
            </a:pPr>
            <a:r>
              <a:rPr lang="zh-CN" sz="1500" b="1">
                <a:solidFill>
                  <a:srgbClr val="FFFFFF"/>
                </a:solidFill>
                <a:latin typeface="Microsoft YaHei"/>
                <a:ea typeface="Microsoft YaHei"/>
              </a:rPr>
              <a:t>硕磐智能</a:t>
            </a:r>
            <a:endParaRPr/>
          </a:p>
        </p:txBody>
      </p:sp>
      <p:sp>
        <p:nvSpPr>
          <p:cNvPr id="9" name="" descr="{&quot;isTemplate&quot;:true,&quot;type&quot;:&quot;text&quot;}"/>
          <p:cNvSpPr txBox="1"/>
          <p:nvPr/>
        </p:nvSpPr>
        <p:spPr>
          <a:xfrm rot="0" flipH="0" flipV="0">
            <a:off x="609600" y="6010275"/>
            <a:ext cx="2152650" cy="161925"/>
          </a:xfrm>
          <a:prstGeom prst="rect"/>
        </p:spPr>
        <p:txBody>
          <a:bodyPr wrap="none" lIns="0" tIns="0" rIns="0" bIns="0"/>
          <a:p>
            <a:pPr>
              <a:lnSpc>
                <a:spcPct val="100000"/>
              </a:lnSpc>
            </a:pPr>
            <a:r>
              <a:rPr lang="zh-CN" sz="1050">
                <a:solidFill>
                  <a:srgbClr val="FFFFFF">
                    <a:alpha val="80000"/>
                  </a:srgbClr>
                </a:solidFill>
                <a:latin typeface="Microsoft YaHei"/>
                <a:ea typeface="Microsoft YaHei"/>
              </a:rPr>
              <a:t>咨询交付版</a:t>
            </a:r>
            <a:r>
              <a:rPr lang="en-US" sz="1050">
                <a:solidFill>
                  <a:srgbClr val="FFFFFF">
                    <a:alpha val="80000"/>
                  </a:srgbClr>
                </a:solidFill>
                <a:latin typeface="Microsoft YaHei"/>
                <a:ea typeface="Microsoft YaHei"/>
              </a:rPr>
              <a:t xml:space="preserve"> · DATA ARCHITECTURE</a:t>
            </a:r>
            <a:endParaRPr/>
          </a:p>
        </p:txBody>
      </p:sp>
      <p:sp>
        <p:nvSpPr>
          <p:cNvPr id="10" name="" descr="{&quot;isTemplate&quot;:true,&quot;type&quot;:&quot;text&quot;}"/>
          <p:cNvSpPr txBox="1"/>
          <p:nvPr/>
        </p:nvSpPr>
        <p:spPr>
          <a:xfrm rot="0" flipH="0" flipV="0">
            <a:off x="5143500" y="1428750"/>
            <a:ext cx="6286500" cy="1009650"/>
          </a:xfrm>
          <a:prstGeom prst="rect"/>
        </p:spPr>
        <p:txBody>
          <a:bodyPr wrap="none" lIns="0" tIns="0" rIns="0" bIns="0"/>
          <a:p>
            <a:pPr>
              <a:lnSpc>
                <a:spcPct val="100000"/>
              </a:lnSpc>
            </a:pPr>
            <a:r>
              <a:rPr lang="en-US" sz="6600" b="1">
                <a:solidFill>
                  <a:srgbClr val="FA4F24"/>
                </a:solidFill>
                <a:latin typeface="Microsoft YaHei"/>
                <a:ea typeface="Microsoft YaHei"/>
              </a:rPr>
              <a:t>DA</a:t>
            </a:r>
            <a:endParaRPr/>
          </a:p>
        </p:txBody>
      </p:sp>
      <p:sp>
        <p:nvSpPr>
          <p:cNvPr id="11" name="" descr="{&quot;isTemplate&quot;:true,&quot;type&quot;:&quot;text&quot;}"/>
          <p:cNvSpPr txBox="1"/>
          <p:nvPr/>
        </p:nvSpPr>
        <p:spPr>
          <a:xfrm rot="0" flipH="0" flipV="0">
            <a:off x="5143500" y="2609850"/>
            <a:ext cx="6286500" cy="638175"/>
          </a:xfrm>
          <a:prstGeom prst="rect"/>
        </p:spPr>
        <p:txBody>
          <a:bodyPr wrap="none" lIns="0" tIns="0" rIns="0" bIns="0"/>
          <a:p>
            <a:pPr>
              <a:lnSpc>
                <a:spcPct val="120000"/>
              </a:lnSpc>
            </a:pPr>
            <a:r>
              <a:rPr lang="zh-CN" sz="3450" b="1">
                <a:solidFill>
                  <a:srgbClr val="0F1423"/>
                </a:solidFill>
                <a:latin typeface="Microsoft YaHei"/>
                <a:ea typeface="Microsoft YaHei"/>
              </a:rPr>
              <a:t>数据架构咨询方法论</a:t>
            </a:r>
            <a:endParaRPr/>
          </a:p>
        </p:txBody>
      </p:sp>
      <p:sp>
        <p:nvSpPr>
          <p:cNvPr id="12" name=""/>
          <p:cNvSpPr/>
          <p:nvPr/>
        </p:nvSpPr>
        <p:spPr>
          <a:xfrm rot="0" flipH="0" flipV="0">
            <a:off x="5143500" y="3495675"/>
            <a:ext cx="838200" cy="47625"/>
          </a:xfrm>
          <a:prstGeom prst="rect">
            <a:avLst/>
          </a:prstGeom>
          <a:solidFill>
            <a:srgbClr val="FA4F24"/>
          </a:solidFill>
          <a:ln/>
        </p:spPr>
        <p:txBody>
          <a:bodyPr/>
          <a:p>
            <a:pPr/>
            <a:endParaRPr/>
          </a:p>
        </p:txBody>
      </p:sp>
      <p:sp>
        <p:nvSpPr>
          <p:cNvPr id="13" name="" descr="{&quot;isTemplate&quot;:true,&quot;type&quot;:&quot;text&quot;}"/>
          <p:cNvSpPr txBox="1"/>
          <p:nvPr/>
        </p:nvSpPr>
        <p:spPr>
          <a:xfrm rot="0" flipH="0" flipV="0">
            <a:off x="5143500" y="3790950"/>
            <a:ext cx="6286500" cy="771525"/>
          </a:xfrm>
          <a:prstGeom prst="rect"/>
        </p:spPr>
        <p:txBody>
          <a:bodyPr wrap="square" lIns="0" tIns="0" rIns="0" bIns="0">
            <a:normAutofit/>
          </a:bodyPr>
          <a:p>
            <a:pPr>
              <a:lnSpc>
                <a:spcPct val="160000"/>
              </a:lnSpc>
            </a:pPr>
            <a:r>
              <a:rPr lang="zh-CN" sz="1575">
                <a:solidFill>
                  <a:srgbClr val="3A4050"/>
                </a:solidFill>
                <a:latin typeface="Microsoft YaHei"/>
                <a:ea typeface="Microsoft YaHei"/>
              </a:rPr>
              <a:t>以「业务对象」为核心，构建数据资产目录、数据标准、数据模型与数据分布四位一体的企业信息架构</a:t>
            </a:r>
            <a:endParaRPr/>
          </a:p>
        </p:txBody>
      </p:sp>
      <p:sp>
        <p:nvSpPr>
          <p:cNvPr id="14" name=""/>
          <p:cNvSpPr/>
          <p:nvPr/>
        </p:nvSpPr>
        <p:spPr>
          <a:xfrm rot="0" flipH="0" flipV="0">
            <a:off x="5143500" y="5334000"/>
            <a:ext cx="952500" cy="342900"/>
          </a:xfrm>
          <a:prstGeom prst="roundRect">
            <a:avLst>
              <a:gd name="adj" fmla="val 8333"/>
            </a:avLst>
          </a:prstGeom>
          <a:solidFill>
            <a:srgbClr val="FA4F24">
              <a:alpha val="8000"/>
            </a:srgbClr>
          </a:solidFill>
          <a:ln/>
        </p:spPr>
        <p:txBody>
          <a:bodyPr/>
          <a:p>
            <a:pPr/>
            <a:endParaRPr/>
          </a:p>
        </p:txBody>
      </p:sp>
      <p:sp>
        <p:nvSpPr>
          <p:cNvPr id="15" name="" descr="{&quot;isTemplate&quot;:true,&quot;type&quot;:&quot;text&quot;}"/>
          <p:cNvSpPr txBox="1"/>
          <p:nvPr/>
        </p:nvSpPr>
        <p:spPr>
          <a:xfrm rot="0" flipH="0" flipV="0">
            <a:off x="5314950" y="5410200"/>
            <a:ext cx="609600" cy="190500"/>
          </a:xfrm>
          <a:prstGeom prst="rect"/>
        </p:spPr>
        <p:txBody>
          <a:bodyPr wrap="none" lIns="0" tIns="0" rIns="0" bIns="0"/>
          <a:p>
            <a:pPr>
              <a:lnSpc>
                <a:spcPct val="100000"/>
              </a:lnSpc>
            </a:pPr>
            <a:r>
              <a:rPr lang="zh-CN" sz="1200" b="1">
                <a:solidFill>
                  <a:srgbClr val="C43A17"/>
                </a:solidFill>
                <a:latin typeface="Microsoft YaHei"/>
                <a:ea typeface="Microsoft YaHei"/>
              </a:rPr>
              <a:t>资产目录</a:t>
            </a:r>
            <a:endParaRPr/>
          </a:p>
        </p:txBody>
      </p:sp>
      <p:sp>
        <p:nvSpPr>
          <p:cNvPr id="16" name=""/>
          <p:cNvSpPr/>
          <p:nvPr/>
        </p:nvSpPr>
        <p:spPr>
          <a:xfrm rot="0" flipH="0" flipV="0">
            <a:off x="6210300" y="5334000"/>
            <a:ext cx="952500" cy="342900"/>
          </a:xfrm>
          <a:prstGeom prst="roundRect">
            <a:avLst>
              <a:gd name="adj" fmla="val 8333"/>
            </a:avLst>
          </a:prstGeom>
          <a:solidFill>
            <a:srgbClr val="FA4F24">
              <a:alpha val="8000"/>
            </a:srgbClr>
          </a:solidFill>
          <a:ln/>
        </p:spPr>
        <p:txBody>
          <a:bodyPr/>
          <a:p>
            <a:pPr/>
            <a:endParaRPr/>
          </a:p>
        </p:txBody>
      </p:sp>
      <p:sp>
        <p:nvSpPr>
          <p:cNvPr id="17" name="" descr="{&quot;isTemplate&quot;:true,&quot;type&quot;:&quot;text&quot;}"/>
          <p:cNvSpPr txBox="1"/>
          <p:nvPr/>
        </p:nvSpPr>
        <p:spPr>
          <a:xfrm rot="0" flipH="0" flipV="0">
            <a:off x="6381750" y="5410200"/>
            <a:ext cx="609600" cy="190500"/>
          </a:xfrm>
          <a:prstGeom prst="rect"/>
        </p:spPr>
        <p:txBody>
          <a:bodyPr wrap="none" lIns="0" tIns="0" rIns="0" bIns="0"/>
          <a:p>
            <a:pPr>
              <a:lnSpc>
                <a:spcPct val="100000"/>
              </a:lnSpc>
            </a:pPr>
            <a:r>
              <a:rPr lang="zh-CN" sz="1200" b="1">
                <a:solidFill>
                  <a:srgbClr val="C43A17"/>
                </a:solidFill>
                <a:latin typeface="Microsoft YaHei"/>
                <a:ea typeface="Microsoft YaHei"/>
              </a:rPr>
              <a:t>数据标准</a:t>
            </a:r>
            <a:endParaRPr/>
          </a:p>
        </p:txBody>
      </p:sp>
      <p:sp>
        <p:nvSpPr>
          <p:cNvPr id="18" name=""/>
          <p:cNvSpPr/>
          <p:nvPr/>
        </p:nvSpPr>
        <p:spPr>
          <a:xfrm rot="0" flipH="0" flipV="0">
            <a:off x="7277100" y="5334000"/>
            <a:ext cx="952500" cy="342900"/>
          </a:xfrm>
          <a:prstGeom prst="roundRect">
            <a:avLst>
              <a:gd name="adj" fmla="val 8333"/>
            </a:avLst>
          </a:prstGeom>
          <a:solidFill>
            <a:srgbClr val="FA4F24">
              <a:alpha val="8000"/>
            </a:srgbClr>
          </a:solidFill>
          <a:ln/>
        </p:spPr>
        <p:txBody>
          <a:bodyPr/>
          <a:p>
            <a:pPr/>
            <a:endParaRPr/>
          </a:p>
        </p:txBody>
      </p:sp>
      <p:sp>
        <p:nvSpPr>
          <p:cNvPr id="19" name="" descr="{&quot;isTemplate&quot;:true,&quot;type&quot;:&quot;text&quot;}"/>
          <p:cNvSpPr txBox="1"/>
          <p:nvPr/>
        </p:nvSpPr>
        <p:spPr>
          <a:xfrm rot="0" flipH="0" flipV="0">
            <a:off x="7448550" y="5410200"/>
            <a:ext cx="609600" cy="190500"/>
          </a:xfrm>
          <a:prstGeom prst="rect"/>
        </p:spPr>
        <p:txBody>
          <a:bodyPr wrap="none" lIns="0" tIns="0" rIns="0" bIns="0"/>
          <a:p>
            <a:pPr>
              <a:lnSpc>
                <a:spcPct val="100000"/>
              </a:lnSpc>
            </a:pPr>
            <a:r>
              <a:rPr lang="zh-CN" sz="1200" b="1">
                <a:solidFill>
                  <a:srgbClr val="C43A17"/>
                </a:solidFill>
                <a:latin typeface="Microsoft YaHei"/>
                <a:ea typeface="Microsoft YaHei"/>
              </a:rPr>
              <a:t>数据模型</a:t>
            </a:r>
            <a:endParaRPr/>
          </a:p>
        </p:txBody>
      </p:sp>
      <p:sp>
        <p:nvSpPr>
          <p:cNvPr id="20" name=""/>
          <p:cNvSpPr/>
          <p:nvPr/>
        </p:nvSpPr>
        <p:spPr>
          <a:xfrm rot="0" flipH="0" flipV="0">
            <a:off x="8343900" y="5334000"/>
            <a:ext cx="952500" cy="342900"/>
          </a:xfrm>
          <a:prstGeom prst="roundRect">
            <a:avLst>
              <a:gd name="adj" fmla="val 8333"/>
            </a:avLst>
          </a:prstGeom>
          <a:solidFill>
            <a:srgbClr val="FA4F24">
              <a:alpha val="8000"/>
            </a:srgbClr>
          </a:solidFill>
          <a:ln/>
        </p:spPr>
        <p:txBody>
          <a:bodyPr/>
          <a:p>
            <a:pPr/>
            <a:endParaRPr/>
          </a:p>
        </p:txBody>
      </p:sp>
      <p:sp>
        <p:nvSpPr>
          <p:cNvPr id="21" name="" descr="{&quot;isTemplate&quot;:true,&quot;type&quot;:&quot;text&quot;}"/>
          <p:cNvSpPr txBox="1"/>
          <p:nvPr/>
        </p:nvSpPr>
        <p:spPr>
          <a:xfrm rot="0" flipH="0" flipV="0">
            <a:off x="8515350" y="5410200"/>
            <a:ext cx="609600" cy="190500"/>
          </a:xfrm>
          <a:prstGeom prst="rect"/>
        </p:spPr>
        <p:txBody>
          <a:bodyPr wrap="none" lIns="0" tIns="0" rIns="0" bIns="0"/>
          <a:p>
            <a:pPr>
              <a:lnSpc>
                <a:spcPct val="100000"/>
              </a:lnSpc>
            </a:pPr>
            <a:r>
              <a:rPr lang="zh-CN" sz="1200" b="1">
                <a:solidFill>
                  <a:srgbClr val="C43A17"/>
                </a:solidFill>
                <a:latin typeface="Microsoft YaHei"/>
                <a:ea typeface="Microsoft YaHei"/>
              </a:rPr>
              <a:t>数据分布</a:t>
            </a:r>
            <a:endParaRPr/>
          </a:p>
        </p:txBody>
      </p:sp>
      <p:sp>
        <p:nvSpPr>
          <p:cNvPr id="22" name=""/>
          <p:cNvSpPr/>
          <p:nvPr/>
        </p:nvSpPr>
        <p:spPr>
          <a:xfrm rot="0" flipH="0" flipV="0">
            <a:off x="5143500" y="5943600"/>
            <a:ext cx="38100" cy="171450"/>
          </a:xfrm>
          <a:prstGeom prst="rect">
            <a:avLst/>
          </a:prstGeom>
          <a:solidFill>
            <a:srgbClr val="F87D2F"/>
          </a:solidFill>
          <a:ln/>
        </p:spPr>
        <p:txBody>
          <a:bodyPr/>
          <a:p>
            <a:pPr/>
            <a:endParaRPr/>
          </a:p>
        </p:txBody>
      </p:sp>
      <p:sp>
        <p:nvSpPr>
          <p:cNvPr id="23" name="" descr="{&quot;isTemplate&quot;:true,&quot;type&quot;:&quot;text&quot;}"/>
          <p:cNvSpPr txBox="1"/>
          <p:nvPr/>
        </p:nvSpPr>
        <p:spPr>
          <a:xfrm rot="0" flipH="0" flipV="0">
            <a:off x="5276850" y="5953125"/>
            <a:ext cx="3514725" cy="161925"/>
          </a:xfrm>
          <a:prstGeom prst="rect"/>
        </p:spPr>
        <p:txBody>
          <a:bodyPr wrap="none" lIns="0" tIns="0" rIns="0" bIns="0"/>
          <a:p>
            <a:pPr>
              <a:lnSpc>
                <a:spcPct val="100000"/>
              </a:lnSpc>
            </a:pPr>
            <a:r>
              <a:rPr lang="zh-CN" sz="1050">
                <a:solidFill>
                  <a:srgbClr val="8A8F99"/>
                </a:solidFill>
                <a:latin typeface="Microsoft YaHei"/>
                <a:ea typeface="Microsoft YaHei"/>
              </a:rPr>
              <a:t>方法论依据：《华为数据之道》（华为公司数据管理部</a:t>
            </a:r>
            <a:r>
              <a:rPr lang="en-US" sz="1050">
                <a:solidFill>
                  <a:srgbClr val="8A8F99"/>
                </a:solidFill>
                <a:latin typeface="Microsoft YaHei"/>
                <a:ea typeface="Microsoft YaHei"/>
              </a:rPr>
              <a:t xml:space="preserve"> </a:t>
            </a:r>
            <a:r>
              <a:rPr lang="zh-CN" sz="1050">
                <a:solidFill>
                  <a:srgbClr val="8A8F99"/>
                </a:solidFill>
                <a:latin typeface="Microsoft YaHei"/>
                <a:ea typeface="Microsoft YaHei"/>
              </a:rPr>
              <a:t>著）</a:t>
            </a:r>
            <a:endParaRPr/>
          </a:p>
        </p:txBody>
      </p:sp>
    </p:spTree>
  </p:cSld>
</p:sld>
</file>

<file path=ppt/slides/slide2.xml><?xml version="1.0" encoding="utf-8"?>
<p:sld xmlns:p="http://schemas.openxmlformats.org/presentationml/2006/main" xmlns:a="http://schemas.openxmlformats.org/drawingml/2006/main">
  <p:cSld>
    <p:spTree>
      <p:nvGrpSpPr>
        <p:cNvPr id="417" name=""/>
        <p:cNvGrpSpPr/>
        <p:nvPr/>
      </p:nvGrpSpPr>
      <p:grpSpPr>
        <a:xfrm>
          <a:off x="0" y="0"/>
          <a:ext cx="0" cy="0"/>
          <a:chOff x="0" y="0"/>
          <a:chExt cx="0" cy="0"/>
        </a:xfrm>
      </p:grpSpPr>
      <p:sp>
        <p:nvSpPr>
          <p:cNvPr id="418" name=""/>
          <p:cNvSpPr/>
          <p:nvPr/>
        </p:nvSpPr>
        <p:spPr>
          <a:xfrm rot="0" flipH="0" flipV="0">
            <a:off x="0" y="0"/>
            <a:ext cx="12192000" cy="6858000"/>
          </a:xfrm>
          <a:prstGeom prst="rect">
            <a:avLst/>
          </a:prstGeom>
          <a:solidFill>
            <a:srgbClr val="FFFFFF"/>
          </a:solidFill>
          <a:ln/>
        </p:spPr>
        <p:txBody>
          <a:bodyPr/>
          <a:p>
            <a:pPr/>
            <a:endParaRPr/>
          </a:p>
        </p:txBody>
      </p:sp>
      <p:sp>
        <p:nvSpPr>
          <p:cNvPr id="419"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本册覆盖</a:t>
            </a:r>
            <a:r>
              <a:rPr lang="zh-CN" sz="2400" b="1">
                <a:solidFill>
                  <a:srgbClr val="FA4F24"/>
                </a:solidFill>
                <a:latin typeface="Microsoft YaHei"/>
                <a:ea typeface="Microsoft YaHei"/>
              </a:rPr>
              <a:t>七个部分</a:t>
            </a:r>
            <a:r>
              <a:rPr lang="zh-CN" sz="2400" b="1">
                <a:solidFill>
                  <a:srgbClr val="0F1423"/>
                </a:solidFill>
                <a:latin typeface="Microsoft YaHei"/>
                <a:ea typeface="Microsoft YaHei"/>
              </a:rPr>
              <a:t>，把信息架构四组件逐一拆到可交付</a:t>
            </a:r>
            <a:endParaRPr/>
          </a:p>
        </p:txBody>
      </p:sp>
      <p:sp>
        <p:nvSpPr>
          <p:cNvPr id="420"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从总论到四组件再到数据底座与消费，每部分均含「方法</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内容</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模板」三段式作业</a:t>
            </a:r>
            <a:endParaRPr/>
          </a:p>
        </p:txBody>
      </p:sp>
      <p:sp>
        <p:nvSpPr>
          <p:cNvPr id="421" name=""/>
          <p:cNvSpPr/>
          <p:nvPr/>
        </p:nvSpPr>
        <p:spPr>
          <a:xfrm rot="0" flipH="0" flipV="0">
            <a:off x="609600" y="1143000"/>
            <a:ext cx="10972800" cy="9525"/>
          </a:xfrm>
          <a:prstGeom prst="rect">
            <a:avLst/>
          </a:prstGeom>
          <a:solidFill>
            <a:srgbClr val="E8E8E8"/>
          </a:solidFill>
          <a:ln/>
        </p:spPr>
        <p:txBody>
          <a:bodyPr/>
          <a:p>
            <a:pPr/>
            <a:endParaRPr/>
          </a:p>
        </p:txBody>
      </p:sp>
      <p:sp>
        <p:nvSpPr>
          <p:cNvPr id="422" name=""/>
          <p:cNvSpPr/>
          <p:nvPr/>
        </p:nvSpPr>
        <p:spPr>
          <a:xfrm rot="0" flipH="0" flipV="0">
            <a:off x="609600" y="1400175"/>
            <a:ext cx="6477000" cy="838200"/>
          </a:xfrm>
          <a:prstGeom prst="roundRect">
            <a:avLst>
              <a:gd name="adj" fmla="val 4545"/>
            </a:avLst>
          </a:prstGeom>
          <a:solidFill>
            <a:srgbClr val="F7F7F8"/>
          </a:solidFill>
          <a:ln/>
        </p:spPr>
        <p:txBody>
          <a:bodyPr/>
          <a:p>
            <a:pPr/>
            <a:endParaRPr/>
          </a:p>
        </p:txBody>
      </p:sp>
      <p:sp>
        <p:nvSpPr>
          <p:cNvPr id="423" name="" descr="{&quot;isTemplate&quot;:true,&quot;type&quot;:&quot;text&quot;}"/>
          <p:cNvSpPr txBox="1"/>
          <p:nvPr/>
        </p:nvSpPr>
        <p:spPr>
          <a:xfrm rot="0" flipH="0" flipV="0">
            <a:off x="800100" y="1657350"/>
            <a:ext cx="457200" cy="323850"/>
          </a:xfrm>
          <a:prstGeom prst="rect"/>
        </p:spPr>
        <p:txBody>
          <a:bodyPr wrap="none" lIns="0" tIns="0" rIns="0" bIns="0"/>
          <a:p>
            <a:pPr>
              <a:lnSpc>
                <a:spcPct val="100000"/>
              </a:lnSpc>
            </a:pPr>
            <a:r>
              <a:rPr lang="en-US" sz="2100" b="1">
                <a:solidFill>
                  <a:srgbClr val="FA4F24"/>
                </a:solidFill>
                <a:latin typeface="Microsoft YaHei"/>
                <a:ea typeface="Microsoft YaHei"/>
              </a:rPr>
              <a:t>01</a:t>
            </a:r>
            <a:endParaRPr/>
          </a:p>
        </p:txBody>
      </p:sp>
      <p:sp>
        <p:nvSpPr>
          <p:cNvPr id="424" name="" descr="{&quot;isTemplate&quot;:true,&quot;type&quot;:&quot;text&quot;}"/>
          <p:cNvSpPr txBox="1"/>
          <p:nvPr/>
        </p:nvSpPr>
        <p:spPr>
          <a:xfrm rot="0" flipH="0" flipV="0">
            <a:off x="1409700" y="1714500"/>
            <a:ext cx="1600200" cy="219075"/>
          </a:xfrm>
          <a:prstGeom prst="rect"/>
        </p:spPr>
        <p:txBody>
          <a:bodyPr wrap="none" lIns="0" tIns="0" rIns="0" bIns="0"/>
          <a:p>
            <a:pPr>
              <a:lnSpc>
                <a:spcPct val="100000"/>
              </a:lnSpc>
            </a:pPr>
            <a:r>
              <a:rPr lang="zh-CN" sz="1425" b="1">
                <a:solidFill>
                  <a:srgbClr val="0F1423"/>
                </a:solidFill>
                <a:latin typeface="Microsoft YaHei"/>
                <a:ea typeface="Microsoft YaHei"/>
              </a:rPr>
              <a:t>数据架构总论</a:t>
            </a:r>
            <a:endParaRPr/>
          </a:p>
        </p:txBody>
      </p:sp>
      <p:sp>
        <p:nvSpPr>
          <p:cNvPr id="425" name="" descr="{&quot;isTemplate&quot;:true,&quot;type&quot;:&quot;text&quot;}"/>
          <p:cNvSpPr txBox="1"/>
          <p:nvPr/>
        </p:nvSpPr>
        <p:spPr>
          <a:xfrm rot="0" flipH="0" flipV="0">
            <a:off x="3162300" y="1581150"/>
            <a:ext cx="2971800" cy="485775"/>
          </a:xfrm>
          <a:prstGeom prst="rect"/>
        </p:spPr>
        <p:txBody>
          <a:bodyPr wrap="square" lIns="0" tIns="0" rIns="0" bIns="0">
            <a:normAutofit/>
          </a:bodyPr>
          <a:p>
            <a:pPr>
              <a:lnSpc>
                <a:spcPct val="140000"/>
              </a:lnSpc>
            </a:pPr>
            <a:r>
              <a:rPr lang="zh-CN" sz="1125">
                <a:solidFill>
                  <a:srgbClr val="3A4050"/>
                </a:solidFill>
                <a:latin typeface="Microsoft YaHei"/>
                <a:ea typeface="Microsoft YaHei"/>
              </a:rPr>
              <a:t>四组件与五层目录骨架、五条架构原则、数字化转型三扩展</a:t>
            </a:r>
            <a:endParaRPr/>
          </a:p>
        </p:txBody>
      </p:sp>
      <p:sp>
        <p:nvSpPr>
          <p:cNvPr id="426" name="" descr="{&quot;isTemplate&quot;:true,&quot;type&quot;:&quot;text&quot;}"/>
          <p:cNvSpPr txBox="1"/>
          <p:nvPr/>
        </p:nvSpPr>
        <p:spPr>
          <a:xfrm rot="0" flipH="0" flipV="0">
            <a:off x="6286500" y="1743075"/>
            <a:ext cx="609600" cy="152400"/>
          </a:xfrm>
          <a:prstGeom prst="rect"/>
        </p:spPr>
        <p:txBody>
          <a:bodyPr wrap="none" lIns="0" tIns="0" rIns="0" bIns="0"/>
          <a:p>
            <a:pPr algn="r">
              <a:lnSpc>
                <a:spcPct val="100000"/>
              </a:lnSpc>
            </a:pPr>
            <a:r>
              <a:rPr lang="en-US" sz="975">
                <a:solidFill>
                  <a:srgbClr val="C43A17"/>
                </a:solidFill>
                <a:latin typeface="Microsoft YaHei"/>
                <a:ea typeface="Microsoft YaHei"/>
              </a:rPr>
              <a:t>P04–07</a:t>
            </a:r>
            <a:endParaRPr/>
          </a:p>
        </p:txBody>
      </p:sp>
      <p:sp>
        <p:nvSpPr>
          <p:cNvPr id="427" name=""/>
          <p:cNvSpPr/>
          <p:nvPr/>
        </p:nvSpPr>
        <p:spPr>
          <a:xfrm rot="0" flipH="0" flipV="0">
            <a:off x="609600" y="2362200"/>
            <a:ext cx="6477000" cy="828675"/>
          </a:xfrm>
          <a:prstGeom prst="roundRect">
            <a:avLst>
              <a:gd name="adj" fmla="val 4598"/>
            </a:avLst>
          </a:prstGeom>
          <a:solidFill>
            <a:srgbClr val="F7F7F8"/>
          </a:solidFill>
          <a:ln/>
        </p:spPr>
        <p:txBody>
          <a:bodyPr/>
          <a:p>
            <a:pPr/>
            <a:endParaRPr/>
          </a:p>
        </p:txBody>
      </p:sp>
      <p:sp>
        <p:nvSpPr>
          <p:cNvPr id="428" name="" descr="{&quot;isTemplate&quot;:true,&quot;type&quot;:&quot;text&quot;}"/>
          <p:cNvSpPr txBox="1"/>
          <p:nvPr/>
        </p:nvSpPr>
        <p:spPr>
          <a:xfrm rot="0" flipH="0" flipV="0">
            <a:off x="800100" y="2619375"/>
            <a:ext cx="457200" cy="323850"/>
          </a:xfrm>
          <a:prstGeom prst="rect"/>
        </p:spPr>
        <p:txBody>
          <a:bodyPr wrap="none" lIns="0" tIns="0" rIns="0" bIns="0"/>
          <a:p>
            <a:pPr>
              <a:lnSpc>
                <a:spcPct val="100000"/>
              </a:lnSpc>
            </a:pPr>
            <a:r>
              <a:rPr lang="en-US" sz="2100" b="1">
                <a:solidFill>
                  <a:srgbClr val="FA4F24"/>
                </a:solidFill>
                <a:latin typeface="Microsoft YaHei"/>
                <a:ea typeface="Microsoft YaHei"/>
              </a:rPr>
              <a:t>02</a:t>
            </a:r>
            <a:endParaRPr/>
          </a:p>
        </p:txBody>
      </p:sp>
      <p:sp>
        <p:nvSpPr>
          <p:cNvPr id="429" name="" descr="{&quot;isTemplate&quot;:true,&quot;type&quot;:&quot;text&quot;}"/>
          <p:cNvSpPr txBox="1"/>
          <p:nvPr/>
        </p:nvSpPr>
        <p:spPr>
          <a:xfrm rot="0" flipH="0" flipV="0">
            <a:off x="1409700" y="2667000"/>
            <a:ext cx="1600200" cy="219075"/>
          </a:xfrm>
          <a:prstGeom prst="rect"/>
        </p:spPr>
        <p:txBody>
          <a:bodyPr wrap="none" lIns="0" tIns="0" rIns="0" bIns="0"/>
          <a:p>
            <a:pPr>
              <a:lnSpc>
                <a:spcPct val="100000"/>
              </a:lnSpc>
            </a:pPr>
            <a:r>
              <a:rPr lang="zh-CN" sz="1425" b="1">
                <a:solidFill>
                  <a:srgbClr val="0F1423"/>
                </a:solidFill>
                <a:latin typeface="Microsoft YaHei"/>
                <a:ea typeface="Microsoft YaHei"/>
              </a:rPr>
              <a:t>业务对象识别</a:t>
            </a:r>
            <a:endParaRPr/>
          </a:p>
        </p:txBody>
      </p:sp>
      <p:sp>
        <p:nvSpPr>
          <p:cNvPr id="430" name="" descr="{&quot;isTemplate&quot;:true,&quot;type&quot;:&quot;text&quot;}"/>
          <p:cNvSpPr txBox="1"/>
          <p:nvPr/>
        </p:nvSpPr>
        <p:spPr>
          <a:xfrm rot="0" flipH="0" flipV="0">
            <a:off x="3162300" y="2533650"/>
            <a:ext cx="2971800" cy="485775"/>
          </a:xfrm>
          <a:prstGeom prst="rect"/>
        </p:spPr>
        <p:txBody>
          <a:bodyPr wrap="square" lIns="0" tIns="0" rIns="0" bIns="0">
            <a:normAutofit/>
          </a:bodyPr>
          <a:p>
            <a:pPr>
              <a:lnSpc>
                <a:spcPct val="140000"/>
              </a:lnSpc>
            </a:pPr>
            <a:r>
              <a:rPr lang="zh-CN" sz="1125">
                <a:solidFill>
                  <a:srgbClr val="3A4050"/>
                </a:solidFill>
                <a:latin typeface="Microsoft YaHei"/>
                <a:ea typeface="Microsoft YaHei"/>
              </a:rPr>
              <a:t>四判定法识别重要人事物，输出业务对象清单与对象关系</a:t>
            </a:r>
            <a:endParaRPr/>
          </a:p>
        </p:txBody>
      </p:sp>
      <p:sp>
        <p:nvSpPr>
          <p:cNvPr id="431" name="" descr="{&quot;isTemplate&quot;:true,&quot;type&quot;:&quot;text&quot;}"/>
          <p:cNvSpPr txBox="1"/>
          <p:nvPr/>
        </p:nvSpPr>
        <p:spPr>
          <a:xfrm rot="0" flipH="0" flipV="0">
            <a:off x="6286500" y="2705100"/>
            <a:ext cx="609600" cy="152400"/>
          </a:xfrm>
          <a:prstGeom prst="rect"/>
        </p:spPr>
        <p:txBody>
          <a:bodyPr wrap="none" lIns="0" tIns="0" rIns="0" bIns="0"/>
          <a:p>
            <a:pPr algn="r">
              <a:lnSpc>
                <a:spcPct val="100000"/>
              </a:lnSpc>
            </a:pPr>
            <a:r>
              <a:rPr lang="en-US" sz="975">
                <a:solidFill>
                  <a:srgbClr val="C43A17"/>
                </a:solidFill>
                <a:latin typeface="Microsoft YaHei"/>
                <a:ea typeface="Microsoft YaHei"/>
              </a:rPr>
              <a:t>P08–11</a:t>
            </a:r>
            <a:endParaRPr/>
          </a:p>
        </p:txBody>
      </p:sp>
      <p:sp>
        <p:nvSpPr>
          <p:cNvPr id="432" name=""/>
          <p:cNvSpPr/>
          <p:nvPr/>
        </p:nvSpPr>
        <p:spPr>
          <a:xfrm rot="0" flipH="0" flipV="0">
            <a:off x="609600" y="3314700"/>
            <a:ext cx="6477000" cy="676275"/>
          </a:xfrm>
          <a:prstGeom prst="roundRect">
            <a:avLst>
              <a:gd name="adj" fmla="val 5634"/>
            </a:avLst>
          </a:prstGeom>
          <a:solidFill>
            <a:srgbClr val="F7F7F8"/>
          </a:solidFill>
          <a:ln/>
        </p:spPr>
        <p:txBody>
          <a:bodyPr/>
          <a:p>
            <a:pPr/>
            <a:endParaRPr/>
          </a:p>
        </p:txBody>
      </p:sp>
      <p:sp>
        <p:nvSpPr>
          <p:cNvPr id="433" name="" descr="{&quot;isTemplate&quot;:true,&quot;type&quot;:&quot;text&quot;}"/>
          <p:cNvSpPr txBox="1"/>
          <p:nvPr/>
        </p:nvSpPr>
        <p:spPr>
          <a:xfrm rot="0" flipH="0" flipV="0">
            <a:off x="800100" y="3495675"/>
            <a:ext cx="457200" cy="323850"/>
          </a:xfrm>
          <a:prstGeom prst="rect"/>
        </p:spPr>
        <p:txBody>
          <a:bodyPr wrap="none" lIns="0" tIns="0" rIns="0" bIns="0"/>
          <a:p>
            <a:pPr>
              <a:lnSpc>
                <a:spcPct val="100000"/>
              </a:lnSpc>
            </a:pPr>
            <a:r>
              <a:rPr lang="en-US" sz="2100" b="1">
                <a:solidFill>
                  <a:srgbClr val="FA4F24"/>
                </a:solidFill>
                <a:latin typeface="Microsoft YaHei"/>
                <a:ea typeface="Microsoft YaHei"/>
              </a:rPr>
              <a:t>03</a:t>
            </a:r>
            <a:endParaRPr/>
          </a:p>
        </p:txBody>
      </p:sp>
      <p:sp>
        <p:nvSpPr>
          <p:cNvPr id="434" name="" descr="{&quot;isTemplate&quot;:true,&quot;type&quot;:&quot;text&quot;}"/>
          <p:cNvSpPr txBox="1"/>
          <p:nvPr/>
        </p:nvSpPr>
        <p:spPr>
          <a:xfrm rot="0" flipH="0" flipV="0">
            <a:off x="1409700" y="3543300"/>
            <a:ext cx="1600200" cy="219075"/>
          </a:xfrm>
          <a:prstGeom prst="rect"/>
        </p:spPr>
        <p:txBody>
          <a:bodyPr wrap="none" lIns="0" tIns="0" rIns="0" bIns="0"/>
          <a:p>
            <a:pPr>
              <a:lnSpc>
                <a:spcPct val="100000"/>
              </a:lnSpc>
            </a:pPr>
            <a:r>
              <a:rPr lang="zh-CN" sz="1425" b="1">
                <a:solidFill>
                  <a:srgbClr val="0F1423"/>
                </a:solidFill>
                <a:latin typeface="Microsoft YaHei"/>
                <a:ea typeface="Microsoft YaHei"/>
              </a:rPr>
              <a:t>数据资产目录</a:t>
            </a:r>
            <a:endParaRPr/>
          </a:p>
        </p:txBody>
      </p:sp>
      <p:sp>
        <p:nvSpPr>
          <p:cNvPr id="435" name="" descr="{&quot;isTemplate&quot;:true,&quot;type&quot;:&quot;text&quot;}"/>
          <p:cNvSpPr txBox="1"/>
          <p:nvPr/>
        </p:nvSpPr>
        <p:spPr>
          <a:xfrm rot="0" flipH="0" flipV="0">
            <a:off x="3162300" y="3533775"/>
            <a:ext cx="2971800" cy="247650"/>
          </a:xfrm>
          <a:prstGeom prst="rect"/>
        </p:spPr>
        <p:txBody>
          <a:bodyPr wrap="none" lIns="0" tIns="0" rIns="0" bIns="0"/>
          <a:p>
            <a:pPr>
              <a:lnSpc>
                <a:spcPct val="140000"/>
              </a:lnSpc>
            </a:pPr>
            <a:r>
              <a:rPr lang="zh-CN" sz="1125">
                <a:solidFill>
                  <a:srgbClr val="3A4050"/>
                </a:solidFill>
                <a:latin typeface="Microsoft YaHei"/>
                <a:ea typeface="Microsoft YaHei"/>
              </a:rPr>
              <a:t>五层分层法，形成企业数据地图与认责落位</a:t>
            </a:r>
            <a:endParaRPr/>
          </a:p>
        </p:txBody>
      </p:sp>
      <p:sp>
        <p:nvSpPr>
          <p:cNvPr id="436" name="" descr="{&quot;isTemplate&quot;:true,&quot;type&quot;:&quot;text&quot;}"/>
          <p:cNvSpPr txBox="1"/>
          <p:nvPr/>
        </p:nvSpPr>
        <p:spPr>
          <a:xfrm rot="0" flipH="0" flipV="0">
            <a:off x="6286500" y="3581400"/>
            <a:ext cx="609600" cy="152400"/>
          </a:xfrm>
          <a:prstGeom prst="rect"/>
        </p:spPr>
        <p:txBody>
          <a:bodyPr wrap="none" lIns="0" tIns="0" rIns="0" bIns="0"/>
          <a:p>
            <a:pPr algn="r">
              <a:lnSpc>
                <a:spcPct val="100000"/>
              </a:lnSpc>
            </a:pPr>
            <a:r>
              <a:rPr lang="en-US" sz="975">
                <a:solidFill>
                  <a:srgbClr val="C43A17"/>
                </a:solidFill>
                <a:latin typeface="Microsoft YaHei"/>
                <a:ea typeface="Microsoft YaHei"/>
              </a:rPr>
              <a:t>P12–15</a:t>
            </a:r>
            <a:endParaRPr/>
          </a:p>
        </p:txBody>
      </p:sp>
      <p:sp>
        <p:nvSpPr>
          <p:cNvPr id="437" name=""/>
          <p:cNvSpPr/>
          <p:nvPr/>
        </p:nvSpPr>
        <p:spPr>
          <a:xfrm rot="0" flipH="0" flipV="0">
            <a:off x="609600" y="4114800"/>
            <a:ext cx="6477000" cy="666750"/>
          </a:xfrm>
          <a:prstGeom prst="roundRect">
            <a:avLst>
              <a:gd name="adj" fmla="val 5714"/>
            </a:avLst>
          </a:prstGeom>
          <a:solidFill>
            <a:srgbClr val="F7F7F8"/>
          </a:solidFill>
          <a:ln/>
        </p:spPr>
        <p:txBody>
          <a:bodyPr/>
          <a:p>
            <a:pPr/>
            <a:endParaRPr/>
          </a:p>
        </p:txBody>
      </p:sp>
      <p:sp>
        <p:nvSpPr>
          <p:cNvPr id="438" name="" descr="{&quot;isTemplate&quot;:true,&quot;type&quot;:&quot;text&quot;}"/>
          <p:cNvSpPr txBox="1"/>
          <p:nvPr/>
        </p:nvSpPr>
        <p:spPr>
          <a:xfrm rot="0" flipH="0" flipV="0">
            <a:off x="800100" y="4286250"/>
            <a:ext cx="457200" cy="323850"/>
          </a:xfrm>
          <a:prstGeom prst="rect"/>
        </p:spPr>
        <p:txBody>
          <a:bodyPr wrap="none" lIns="0" tIns="0" rIns="0" bIns="0"/>
          <a:p>
            <a:pPr>
              <a:lnSpc>
                <a:spcPct val="100000"/>
              </a:lnSpc>
            </a:pPr>
            <a:r>
              <a:rPr lang="en-US" sz="2100" b="1">
                <a:solidFill>
                  <a:srgbClr val="FA4F24"/>
                </a:solidFill>
                <a:latin typeface="Microsoft YaHei"/>
                <a:ea typeface="Microsoft YaHei"/>
              </a:rPr>
              <a:t>04</a:t>
            </a:r>
            <a:endParaRPr/>
          </a:p>
        </p:txBody>
      </p:sp>
      <p:sp>
        <p:nvSpPr>
          <p:cNvPr id="439" name="" descr="{&quot;isTemplate&quot;:true,&quot;type&quot;:&quot;text&quot;}"/>
          <p:cNvSpPr txBox="1"/>
          <p:nvPr/>
        </p:nvSpPr>
        <p:spPr>
          <a:xfrm rot="0" flipH="0" flipV="0">
            <a:off x="1409700" y="4343400"/>
            <a:ext cx="1600200" cy="219075"/>
          </a:xfrm>
          <a:prstGeom prst="rect"/>
        </p:spPr>
        <p:txBody>
          <a:bodyPr wrap="none" lIns="0" tIns="0" rIns="0" bIns="0"/>
          <a:p>
            <a:pPr>
              <a:lnSpc>
                <a:spcPct val="100000"/>
              </a:lnSpc>
            </a:pPr>
            <a:r>
              <a:rPr lang="zh-CN" sz="1425" b="1">
                <a:solidFill>
                  <a:srgbClr val="0F1423"/>
                </a:solidFill>
                <a:latin typeface="Microsoft YaHei"/>
                <a:ea typeface="Microsoft YaHei"/>
              </a:rPr>
              <a:t>数据标准</a:t>
            </a:r>
            <a:endParaRPr/>
          </a:p>
        </p:txBody>
      </p:sp>
      <p:sp>
        <p:nvSpPr>
          <p:cNvPr id="440" name="" descr="{&quot;isTemplate&quot;:true,&quot;type&quot;:&quot;text&quot;}"/>
          <p:cNvSpPr txBox="1"/>
          <p:nvPr/>
        </p:nvSpPr>
        <p:spPr>
          <a:xfrm rot="0" flipH="0" flipV="0">
            <a:off x="3162300" y="4324350"/>
            <a:ext cx="2971800" cy="247650"/>
          </a:xfrm>
          <a:prstGeom prst="rect"/>
        </p:spPr>
        <p:txBody>
          <a:bodyPr wrap="none" lIns="0" tIns="0" rIns="0" bIns="0"/>
          <a:p>
            <a:pPr>
              <a:lnSpc>
                <a:spcPct val="140000"/>
              </a:lnSpc>
            </a:pPr>
            <a:r>
              <a:rPr lang="zh-CN" sz="1125">
                <a:solidFill>
                  <a:srgbClr val="3A4050"/>
                </a:solidFill>
                <a:latin typeface="Microsoft YaHei"/>
                <a:ea typeface="Microsoft YaHei"/>
              </a:rPr>
              <a:t>三视角标准制定法，统一业务语言与数据规则</a:t>
            </a:r>
            <a:endParaRPr/>
          </a:p>
        </p:txBody>
      </p:sp>
      <p:sp>
        <p:nvSpPr>
          <p:cNvPr id="441" name="" descr="{&quot;isTemplate&quot;:true,&quot;type&quot;:&quot;text&quot;}"/>
          <p:cNvSpPr txBox="1"/>
          <p:nvPr/>
        </p:nvSpPr>
        <p:spPr>
          <a:xfrm rot="0" flipH="0" flipV="0">
            <a:off x="6286500" y="4371975"/>
            <a:ext cx="609600" cy="152400"/>
          </a:xfrm>
          <a:prstGeom prst="rect"/>
        </p:spPr>
        <p:txBody>
          <a:bodyPr wrap="none" lIns="0" tIns="0" rIns="0" bIns="0"/>
          <a:p>
            <a:pPr algn="r">
              <a:lnSpc>
                <a:spcPct val="100000"/>
              </a:lnSpc>
            </a:pPr>
            <a:r>
              <a:rPr lang="en-US" sz="975">
                <a:solidFill>
                  <a:srgbClr val="C43A17"/>
                </a:solidFill>
                <a:latin typeface="Microsoft YaHei"/>
                <a:ea typeface="Microsoft YaHei"/>
              </a:rPr>
              <a:t>P16–19</a:t>
            </a:r>
            <a:endParaRPr/>
          </a:p>
        </p:txBody>
      </p:sp>
      <p:sp>
        <p:nvSpPr>
          <p:cNvPr id="442" name=""/>
          <p:cNvSpPr/>
          <p:nvPr/>
        </p:nvSpPr>
        <p:spPr>
          <a:xfrm rot="0" flipH="0" flipV="0">
            <a:off x="609600" y="4905375"/>
            <a:ext cx="6477000" cy="676275"/>
          </a:xfrm>
          <a:prstGeom prst="roundRect">
            <a:avLst>
              <a:gd name="adj" fmla="val 5634"/>
            </a:avLst>
          </a:prstGeom>
          <a:solidFill>
            <a:srgbClr val="F7F7F8"/>
          </a:solidFill>
          <a:ln/>
        </p:spPr>
        <p:txBody>
          <a:bodyPr/>
          <a:p>
            <a:pPr/>
            <a:endParaRPr/>
          </a:p>
        </p:txBody>
      </p:sp>
      <p:sp>
        <p:nvSpPr>
          <p:cNvPr id="443" name="" descr="{&quot;isTemplate&quot;:true,&quot;type&quot;:&quot;text&quot;}"/>
          <p:cNvSpPr txBox="1"/>
          <p:nvPr/>
        </p:nvSpPr>
        <p:spPr>
          <a:xfrm rot="0" flipH="0" flipV="0">
            <a:off x="800100" y="5086350"/>
            <a:ext cx="457200" cy="323850"/>
          </a:xfrm>
          <a:prstGeom prst="rect"/>
        </p:spPr>
        <p:txBody>
          <a:bodyPr wrap="none" lIns="0" tIns="0" rIns="0" bIns="0"/>
          <a:p>
            <a:pPr>
              <a:lnSpc>
                <a:spcPct val="100000"/>
              </a:lnSpc>
            </a:pPr>
            <a:r>
              <a:rPr lang="en-US" sz="2100" b="1">
                <a:solidFill>
                  <a:srgbClr val="FA4F24"/>
                </a:solidFill>
                <a:latin typeface="Microsoft YaHei"/>
                <a:ea typeface="Microsoft YaHei"/>
              </a:rPr>
              <a:t>05</a:t>
            </a:r>
            <a:endParaRPr/>
          </a:p>
        </p:txBody>
      </p:sp>
      <p:sp>
        <p:nvSpPr>
          <p:cNvPr id="444" name="" descr="{&quot;isTemplate&quot;:true,&quot;type&quot;:&quot;text&quot;}"/>
          <p:cNvSpPr txBox="1"/>
          <p:nvPr/>
        </p:nvSpPr>
        <p:spPr>
          <a:xfrm rot="0" flipH="0" flipV="0">
            <a:off x="1409700" y="5133975"/>
            <a:ext cx="1600200" cy="219075"/>
          </a:xfrm>
          <a:prstGeom prst="rect"/>
        </p:spPr>
        <p:txBody>
          <a:bodyPr wrap="none" lIns="0" tIns="0" rIns="0" bIns="0"/>
          <a:p>
            <a:pPr>
              <a:lnSpc>
                <a:spcPct val="100000"/>
              </a:lnSpc>
            </a:pPr>
            <a:r>
              <a:rPr lang="zh-CN" sz="1425" b="1">
                <a:solidFill>
                  <a:srgbClr val="0F1423"/>
                </a:solidFill>
                <a:latin typeface="Microsoft YaHei"/>
                <a:ea typeface="Microsoft YaHei"/>
              </a:rPr>
              <a:t>企业级数据模型</a:t>
            </a:r>
            <a:endParaRPr/>
          </a:p>
        </p:txBody>
      </p:sp>
      <p:sp>
        <p:nvSpPr>
          <p:cNvPr id="445" name="" descr="{&quot;isTemplate&quot;:true,&quot;type&quot;:&quot;text&quot;}"/>
          <p:cNvSpPr txBox="1"/>
          <p:nvPr/>
        </p:nvSpPr>
        <p:spPr>
          <a:xfrm rot="0" flipH="0" flipV="0">
            <a:off x="3162300" y="5124450"/>
            <a:ext cx="2971800" cy="247650"/>
          </a:xfrm>
          <a:prstGeom prst="rect"/>
        </p:spPr>
        <p:txBody>
          <a:bodyPr wrap="none" lIns="0" tIns="0" rIns="0" bIns="0"/>
          <a:p>
            <a:pPr>
              <a:lnSpc>
                <a:spcPct val="140000"/>
              </a:lnSpc>
            </a:pPr>
            <a:r>
              <a:rPr lang="zh-CN" sz="1125">
                <a:solidFill>
                  <a:srgbClr val="3A4050"/>
                </a:solidFill>
                <a:latin typeface="Microsoft YaHei"/>
                <a:ea typeface="Microsoft YaHei"/>
              </a:rPr>
              <a:t>概念→逻辑→物理三层建模，控制两层一致性</a:t>
            </a:r>
            <a:endParaRPr/>
          </a:p>
        </p:txBody>
      </p:sp>
      <p:sp>
        <p:nvSpPr>
          <p:cNvPr id="446" name="" descr="{&quot;isTemplate&quot;:true,&quot;type&quot;:&quot;text&quot;}"/>
          <p:cNvSpPr txBox="1"/>
          <p:nvPr/>
        </p:nvSpPr>
        <p:spPr>
          <a:xfrm rot="0" flipH="0" flipV="0">
            <a:off x="6286500" y="5172075"/>
            <a:ext cx="609600" cy="152400"/>
          </a:xfrm>
          <a:prstGeom prst="rect"/>
        </p:spPr>
        <p:txBody>
          <a:bodyPr wrap="none" lIns="0" tIns="0" rIns="0" bIns="0"/>
          <a:p>
            <a:pPr algn="r">
              <a:lnSpc>
                <a:spcPct val="100000"/>
              </a:lnSpc>
            </a:pPr>
            <a:r>
              <a:rPr lang="en-US" sz="975">
                <a:solidFill>
                  <a:srgbClr val="C43A17"/>
                </a:solidFill>
                <a:latin typeface="Microsoft YaHei"/>
                <a:ea typeface="Microsoft YaHei"/>
              </a:rPr>
              <a:t>P20–23</a:t>
            </a:r>
            <a:endParaRPr/>
          </a:p>
        </p:txBody>
      </p:sp>
      <p:sp>
        <p:nvSpPr>
          <p:cNvPr id="447" name=""/>
          <p:cNvSpPr/>
          <p:nvPr/>
        </p:nvSpPr>
        <p:spPr>
          <a:xfrm rot="0" flipH="0" flipV="0">
            <a:off x="7277100" y="1400175"/>
            <a:ext cx="4305300" cy="1219200"/>
          </a:xfrm>
          <a:prstGeom prst="roundRect">
            <a:avLst>
              <a:gd name="adj" fmla="val 3125"/>
            </a:avLst>
          </a:prstGeom>
          <a:solidFill>
            <a:srgbClr val="F7F7F8"/>
          </a:solidFill>
          <a:ln/>
        </p:spPr>
        <p:txBody>
          <a:bodyPr/>
          <a:p>
            <a:pPr/>
            <a:endParaRPr/>
          </a:p>
        </p:txBody>
      </p:sp>
      <p:sp>
        <p:nvSpPr>
          <p:cNvPr id="448" name="" descr="{&quot;isTemplate&quot;:true,&quot;type&quot;:&quot;text&quot;}"/>
          <p:cNvSpPr txBox="1"/>
          <p:nvPr/>
        </p:nvSpPr>
        <p:spPr>
          <a:xfrm rot="0" flipH="0" flipV="0">
            <a:off x="7467600" y="1581150"/>
            <a:ext cx="333375" cy="323850"/>
          </a:xfrm>
          <a:prstGeom prst="rect"/>
        </p:spPr>
        <p:txBody>
          <a:bodyPr wrap="none" lIns="0" tIns="0" rIns="0" bIns="0"/>
          <a:p>
            <a:pPr>
              <a:lnSpc>
                <a:spcPct val="100000"/>
              </a:lnSpc>
            </a:pPr>
            <a:r>
              <a:rPr lang="en-US" sz="2100" b="1">
                <a:solidFill>
                  <a:srgbClr val="FA4F24"/>
                </a:solidFill>
                <a:latin typeface="Microsoft YaHei"/>
                <a:ea typeface="Microsoft YaHei"/>
              </a:rPr>
              <a:t>06</a:t>
            </a:r>
            <a:endParaRPr/>
          </a:p>
        </p:txBody>
      </p:sp>
      <p:sp>
        <p:nvSpPr>
          <p:cNvPr id="449" name="" descr="{&quot;isTemplate&quot;:true,&quot;type&quot;:&quot;text&quot;}"/>
          <p:cNvSpPr txBox="1"/>
          <p:nvPr/>
        </p:nvSpPr>
        <p:spPr>
          <a:xfrm rot="0" flipH="0" flipV="0">
            <a:off x="7934325" y="1581150"/>
            <a:ext cx="723900" cy="323850"/>
          </a:xfrm>
          <a:prstGeom prst="rect"/>
        </p:spPr>
        <p:txBody>
          <a:bodyPr wrap="none" lIns="0" tIns="0" rIns="0" bIns="0"/>
          <a:p>
            <a:pPr>
              <a:lnSpc>
                <a:spcPct val="100000"/>
              </a:lnSpc>
            </a:pPr>
            <a:r>
              <a:rPr lang="zh-CN" sz="1425" b="1">
                <a:solidFill>
                  <a:srgbClr val="0F1423"/>
                </a:solidFill>
                <a:latin typeface="Microsoft YaHei"/>
                <a:ea typeface="Microsoft YaHei"/>
              </a:rPr>
              <a:t>数据分布</a:t>
            </a:r>
            <a:endParaRPr/>
          </a:p>
        </p:txBody>
      </p:sp>
      <p:sp>
        <p:nvSpPr>
          <p:cNvPr id="450" name="" descr="{&quot;isTemplate&quot;:true,&quot;type&quot;:&quot;text&quot;}"/>
          <p:cNvSpPr txBox="1"/>
          <p:nvPr/>
        </p:nvSpPr>
        <p:spPr>
          <a:xfrm rot="0" flipH="0" flipV="0">
            <a:off x="7467600" y="1981200"/>
            <a:ext cx="3924300" cy="257175"/>
          </a:xfrm>
          <a:prstGeom prst="rect"/>
        </p:spPr>
        <p:txBody>
          <a:bodyPr wrap="none" lIns="0" tIns="0" rIns="0" bIns="0"/>
          <a:p>
            <a:pPr>
              <a:lnSpc>
                <a:spcPct val="145000"/>
              </a:lnSpc>
            </a:pPr>
            <a:r>
              <a:rPr lang="zh-CN" sz="1125">
                <a:solidFill>
                  <a:srgbClr val="3A4050"/>
                </a:solidFill>
                <a:latin typeface="Microsoft YaHei"/>
                <a:ea typeface="Microsoft YaHei"/>
              </a:rPr>
              <a:t>数据源识别与</a:t>
            </a:r>
            <a:r>
              <a:rPr lang="en-US" sz="1125">
                <a:solidFill>
                  <a:srgbClr val="3A4050"/>
                </a:solidFill>
                <a:latin typeface="Microsoft YaHei"/>
                <a:ea typeface="Microsoft YaHei"/>
              </a:rPr>
              <a:t xml:space="preserve"> CRUD </a:t>
            </a:r>
            <a:r>
              <a:rPr lang="zh-CN" sz="1125">
                <a:solidFill>
                  <a:srgbClr val="3A4050"/>
                </a:solidFill>
                <a:latin typeface="Microsoft YaHei"/>
                <a:ea typeface="Microsoft YaHei"/>
              </a:rPr>
              <a:t>矩阵，锁定唯一权威源</a:t>
            </a:r>
            <a:endParaRPr/>
          </a:p>
        </p:txBody>
      </p:sp>
      <p:sp>
        <p:nvSpPr>
          <p:cNvPr id="451" name="" descr="{&quot;isTemplate&quot;:true,&quot;type&quot;:&quot;text&quot;}"/>
          <p:cNvSpPr txBox="1"/>
          <p:nvPr/>
        </p:nvSpPr>
        <p:spPr>
          <a:xfrm rot="0" flipH="0" flipV="0">
            <a:off x="7467600" y="2295525"/>
            <a:ext cx="3924300" cy="152400"/>
          </a:xfrm>
          <a:prstGeom prst="rect"/>
        </p:spPr>
        <p:txBody>
          <a:bodyPr wrap="none" lIns="0" tIns="0" rIns="0" bIns="0"/>
          <a:p>
            <a:pPr>
              <a:lnSpc>
                <a:spcPct val="100000"/>
              </a:lnSpc>
            </a:pPr>
            <a:r>
              <a:rPr lang="en-US" sz="975">
                <a:solidFill>
                  <a:srgbClr val="C43A17"/>
                </a:solidFill>
                <a:latin typeface="Microsoft YaHei"/>
                <a:ea typeface="Microsoft YaHei"/>
              </a:rPr>
              <a:t>P24–27</a:t>
            </a:r>
            <a:endParaRPr/>
          </a:p>
        </p:txBody>
      </p:sp>
      <p:sp>
        <p:nvSpPr>
          <p:cNvPr id="452" name=""/>
          <p:cNvSpPr/>
          <p:nvPr/>
        </p:nvSpPr>
        <p:spPr>
          <a:xfrm rot="0" flipH="0" flipV="0">
            <a:off x="7277100" y="2743200"/>
            <a:ext cx="4305300" cy="1228725"/>
          </a:xfrm>
          <a:prstGeom prst="roundRect">
            <a:avLst>
              <a:gd name="adj" fmla="val 3101"/>
            </a:avLst>
          </a:prstGeom>
          <a:solidFill>
            <a:srgbClr val="F7F7F8"/>
          </a:solidFill>
          <a:ln/>
        </p:spPr>
        <p:txBody>
          <a:bodyPr/>
          <a:p>
            <a:pPr/>
            <a:endParaRPr/>
          </a:p>
        </p:txBody>
      </p:sp>
      <p:sp>
        <p:nvSpPr>
          <p:cNvPr id="453" name="" descr="{&quot;isTemplate&quot;:true,&quot;type&quot;:&quot;text&quot;}"/>
          <p:cNvSpPr txBox="1"/>
          <p:nvPr/>
        </p:nvSpPr>
        <p:spPr>
          <a:xfrm rot="0" flipH="0" flipV="0">
            <a:off x="7467600" y="2924175"/>
            <a:ext cx="333375" cy="323850"/>
          </a:xfrm>
          <a:prstGeom prst="rect"/>
        </p:spPr>
        <p:txBody>
          <a:bodyPr wrap="none" lIns="0" tIns="0" rIns="0" bIns="0"/>
          <a:p>
            <a:pPr>
              <a:lnSpc>
                <a:spcPct val="100000"/>
              </a:lnSpc>
            </a:pPr>
            <a:r>
              <a:rPr lang="en-US" sz="2100" b="1">
                <a:solidFill>
                  <a:srgbClr val="FA4F24"/>
                </a:solidFill>
                <a:latin typeface="Microsoft YaHei"/>
                <a:ea typeface="Microsoft YaHei"/>
              </a:rPr>
              <a:t>07</a:t>
            </a:r>
            <a:endParaRPr/>
          </a:p>
        </p:txBody>
      </p:sp>
      <p:sp>
        <p:nvSpPr>
          <p:cNvPr id="454" name="" descr="{&quot;isTemplate&quot;:true,&quot;type&quot;:&quot;text&quot;}"/>
          <p:cNvSpPr txBox="1"/>
          <p:nvPr/>
        </p:nvSpPr>
        <p:spPr>
          <a:xfrm rot="0" flipH="0" flipV="0">
            <a:off x="7934325" y="2924175"/>
            <a:ext cx="904875" cy="323850"/>
          </a:xfrm>
          <a:prstGeom prst="rect"/>
        </p:spPr>
        <p:txBody>
          <a:bodyPr wrap="none" lIns="0" tIns="0" rIns="0" bIns="0"/>
          <a:p>
            <a:pPr>
              <a:lnSpc>
                <a:spcPct val="100000"/>
              </a:lnSpc>
            </a:pPr>
            <a:r>
              <a:rPr lang="zh-CN" sz="1425" b="1">
                <a:solidFill>
                  <a:srgbClr val="0F1423"/>
                </a:solidFill>
                <a:latin typeface="Microsoft YaHei"/>
                <a:ea typeface="Microsoft YaHei"/>
              </a:rPr>
              <a:t>底座与消费</a:t>
            </a:r>
            <a:endParaRPr/>
          </a:p>
        </p:txBody>
      </p:sp>
      <p:sp>
        <p:nvSpPr>
          <p:cNvPr id="455" name="" descr="{&quot;isTemplate&quot;:true,&quot;type&quot;:&quot;text&quot;}"/>
          <p:cNvSpPr txBox="1"/>
          <p:nvPr/>
        </p:nvSpPr>
        <p:spPr>
          <a:xfrm rot="0" flipH="0" flipV="0">
            <a:off x="7467600" y="3324225"/>
            <a:ext cx="3924300" cy="257175"/>
          </a:xfrm>
          <a:prstGeom prst="rect"/>
        </p:spPr>
        <p:txBody>
          <a:bodyPr wrap="none" lIns="0" tIns="0" rIns="0" bIns="0"/>
          <a:p>
            <a:pPr>
              <a:lnSpc>
                <a:spcPct val="145000"/>
              </a:lnSpc>
            </a:pPr>
            <a:r>
              <a:rPr lang="zh-CN" sz="1125">
                <a:solidFill>
                  <a:srgbClr val="3A4050"/>
                </a:solidFill>
                <a:latin typeface="Microsoft YaHei"/>
                <a:ea typeface="Microsoft YaHei"/>
              </a:rPr>
              <a:t>入湖六标准、五种方式与数据服务化「数出一孔」</a:t>
            </a:r>
            <a:endParaRPr/>
          </a:p>
        </p:txBody>
      </p:sp>
      <p:sp>
        <p:nvSpPr>
          <p:cNvPr id="456" name="" descr="{&quot;isTemplate&quot;:true,&quot;type&quot;:&quot;text&quot;}"/>
          <p:cNvSpPr txBox="1"/>
          <p:nvPr/>
        </p:nvSpPr>
        <p:spPr>
          <a:xfrm rot="0" flipH="0" flipV="0">
            <a:off x="7467600" y="3638550"/>
            <a:ext cx="3924300" cy="152400"/>
          </a:xfrm>
          <a:prstGeom prst="rect"/>
        </p:spPr>
        <p:txBody>
          <a:bodyPr wrap="none" lIns="0" tIns="0" rIns="0" bIns="0"/>
          <a:p>
            <a:pPr>
              <a:lnSpc>
                <a:spcPct val="100000"/>
              </a:lnSpc>
            </a:pPr>
            <a:r>
              <a:rPr lang="en-US" sz="975">
                <a:solidFill>
                  <a:srgbClr val="C43A17"/>
                </a:solidFill>
                <a:latin typeface="Microsoft YaHei"/>
                <a:ea typeface="Microsoft YaHei"/>
              </a:rPr>
              <a:t>P28–29</a:t>
            </a:r>
            <a:endParaRPr/>
          </a:p>
        </p:txBody>
      </p:sp>
      <p:sp>
        <p:nvSpPr>
          <p:cNvPr id="457" name=""/>
          <p:cNvSpPr/>
          <p:nvPr/>
        </p:nvSpPr>
        <p:spPr>
          <a:xfrm rot="0" flipH="0" flipV="0">
            <a:off x="7277100" y="4095750"/>
            <a:ext cx="4305300" cy="1485900"/>
          </a:xfrm>
          <a:prstGeom prst="roundRect">
            <a:avLst>
              <a:gd name="adj" fmla="val 2564"/>
            </a:avLst>
          </a:prstGeom>
          <a:gradFill>
            <a:gsLst>
              <a:gs pos="0">
                <a:srgbClr val="FA4F24"/>
              </a:gs>
              <a:gs pos="100000">
                <a:srgbClr val="F87D2F"/>
              </a:gs>
            </a:gsLst>
            <a:lin ang="4200000" scaled="1"/>
          </a:gradFill>
          <a:ln/>
        </p:spPr>
        <p:txBody>
          <a:bodyPr/>
          <a:p>
            <a:pPr/>
            <a:endParaRPr/>
          </a:p>
        </p:txBody>
      </p:sp>
      <p:sp>
        <p:nvSpPr>
          <p:cNvPr id="458" name="" descr="{&quot;isTemplate&quot;:true,&quot;type&quot;:&quot;text&quot;}"/>
          <p:cNvSpPr txBox="1"/>
          <p:nvPr/>
        </p:nvSpPr>
        <p:spPr>
          <a:xfrm rot="0" flipH="0" flipV="0">
            <a:off x="7467600" y="4448175"/>
            <a:ext cx="3924300" cy="200025"/>
          </a:xfrm>
          <a:prstGeom prst="rect"/>
        </p:spPr>
        <p:txBody>
          <a:bodyPr wrap="none" lIns="0" tIns="0" rIns="0" bIns="0"/>
          <a:p>
            <a:pPr>
              <a:lnSpc>
                <a:spcPct val="100000"/>
              </a:lnSpc>
            </a:pPr>
            <a:r>
              <a:rPr lang="zh-CN" sz="1275" b="1">
                <a:solidFill>
                  <a:srgbClr val="FFFFFF"/>
                </a:solidFill>
                <a:latin typeface="Microsoft YaHei"/>
                <a:ea typeface="Microsoft YaHei"/>
              </a:rPr>
              <a:t>全册一条主线</a:t>
            </a:r>
            <a:endParaRPr/>
          </a:p>
        </p:txBody>
      </p:sp>
      <p:sp>
        <p:nvSpPr>
          <p:cNvPr id="459" name="" descr="{&quot;isTemplate&quot;:true,&quot;type&quot;:&quot;text&quot;}"/>
          <p:cNvSpPr txBox="1"/>
          <p:nvPr/>
        </p:nvSpPr>
        <p:spPr>
          <a:xfrm rot="0" flipH="0" flipV="0">
            <a:off x="7467600" y="4724400"/>
            <a:ext cx="3924300" cy="514350"/>
          </a:xfrm>
          <a:prstGeom prst="rect"/>
        </p:spPr>
        <p:txBody>
          <a:bodyPr wrap="square" lIns="0" tIns="0" rIns="0" bIns="0">
            <a:normAutofit/>
          </a:bodyPr>
          <a:p>
            <a:pPr>
              <a:lnSpc>
                <a:spcPct val="150000"/>
              </a:lnSpc>
            </a:pPr>
            <a:r>
              <a:rPr lang="zh-CN" sz="1125">
                <a:solidFill>
                  <a:srgbClr val="FFFFFF">
                    <a:alpha val="92000"/>
                  </a:srgbClr>
                </a:solidFill>
                <a:latin typeface="Microsoft YaHei"/>
                <a:ea typeface="Microsoft YaHei"/>
              </a:rPr>
              <a:t>先有「治」，才有「存」——</a:t>
            </a:r>
            <a:r>
              <a:rPr lang="en-US" sz="1125">
                <a:solidFill>
                  <a:srgbClr val="FFFFFF">
                    <a:alpha val="92000"/>
                  </a:srgbClr>
                </a:solidFill>
                <a:latin typeface="Microsoft YaHei"/>
                <a:ea typeface="Microsoft YaHei"/>
              </a:rPr>
              <a:t xml:space="preserve"> </a:t>
            </a:r>
            <a:r>
              <a:rPr lang="zh-CN" sz="1125">
                <a:solidFill>
                  <a:srgbClr val="FFFFFF">
                    <a:alpha val="92000"/>
                  </a:srgbClr>
                </a:solidFill>
                <a:latin typeface="Microsoft YaHei"/>
                <a:ea typeface="Microsoft YaHei"/>
              </a:rPr>
              <a:t>四组件设计清楚，数据入湖才有依据</a:t>
            </a:r>
            <a:endParaRPr/>
          </a:p>
        </p:txBody>
      </p:sp>
      <p:sp>
        <p:nvSpPr>
          <p:cNvPr id="460" name=""/>
          <p:cNvSpPr/>
          <p:nvPr/>
        </p:nvSpPr>
        <p:spPr>
          <a:xfrm rot="0" flipH="0" flipV="0">
            <a:off x="609600" y="5943600"/>
            <a:ext cx="133350" cy="133350"/>
          </a:xfrm>
          <a:prstGeom prst="rect">
            <a:avLst/>
          </a:prstGeom>
          <a:solidFill>
            <a:srgbClr val="FA4F24"/>
          </a:solidFill>
          <a:ln/>
        </p:spPr>
        <p:txBody>
          <a:bodyPr/>
          <a:p>
            <a:pPr/>
            <a:endParaRPr/>
          </a:p>
        </p:txBody>
      </p:sp>
      <p:sp>
        <p:nvSpPr>
          <p:cNvPr id="461"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462"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02 / 30</a:t>
            </a:r>
            <a:endParaRPr/>
          </a:p>
        </p:txBody>
      </p:sp>
    </p:spTree>
  </p:cSld>
</p:sld>
</file>

<file path=ppt/slides/slide3.xml><?xml version="1.0" encoding="utf-8"?>
<p:sld xmlns:p="http://schemas.openxmlformats.org/presentationml/2006/main" xmlns:a="http://schemas.openxmlformats.org/drawingml/2006/main">
  <p:cSld>
    <p:spTree>
      <p:nvGrpSpPr>
        <p:cNvPr id="846" name=""/>
        <p:cNvGrpSpPr/>
        <p:nvPr/>
      </p:nvGrpSpPr>
      <p:grpSpPr>
        <a:xfrm>
          <a:off x="0" y="0"/>
          <a:ext cx="0" cy="0"/>
          <a:chOff x="0" y="0"/>
          <a:chExt cx="0" cy="0"/>
        </a:xfrm>
      </p:grpSpPr>
      <p:sp>
        <p:nvSpPr>
          <p:cNvPr id="847" name=""/>
          <p:cNvSpPr/>
          <p:nvPr/>
        </p:nvSpPr>
        <p:spPr>
          <a:xfrm rot="0" flipH="0" flipV="0">
            <a:off x="0" y="0"/>
            <a:ext cx="12192000" cy="6858000"/>
          </a:xfrm>
          <a:prstGeom prst="rect">
            <a:avLst/>
          </a:prstGeom>
          <a:solidFill>
            <a:srgbClr val="FFFFFF"/>
          </a:solidFill>
          <a:ln/>
        </p:spPr>
        <p:txBody>
          <a:bodyPr/>
          <a:p>
            <a:pPr/>
            <a:endParaRPr/>
          </a:p>
        </p:txBody>
      </p:sp>
      <p:sp>
        <p:nvSpPr>
          <p:cNvPr id="848"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数据架构回答「用什么数据支撑业务」——</a:t>
            </a:r>
            <a:r>
              <a:rPr lang="zh-CN" sz="2400" b="1">
                <a:solidFill>
                  <a:srgbClr val="FA4F24"/>
                </a:solidFill>
                <a:latin typeface="Microsoft YaHei"/>
                <a:ea typeface="Microsoft YaHei"/>
              </a:rPr>
              <a:t>四组件缺一不可</a:t>
            </a:r>
            <a:endParaRPr/>
          </a:p>
        </p:txBody>
      </p:sp>
      <p:sp>
        <p:nvSpPr>
          <p:cNvPr id="849"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华为信息架构面向「业务交易」而非分析场景：目录管边界、标准管语言、模型管结构、分布管源头</a:t>
            </a:r>
            <a:endParaRPr/>
          </a:p>
        </p:txBody>
      </p:sp>
      <p:sp>
        <p:nvSpPr>
          <p:cNvPr id="850" name=""/>
          <p:cNvSpPr/>
          <p:nvPr/>
        </p:nvSpPr>
        <p:spPr>
          <a:xfrm rot="0" flipH="0" flipV="0">
            <a:off x="609600" y="1143000"/>
            <a:ext cx="10972800" cy="9525"/>
          </a:xfrm>
          <a:prstGeom prst="rect">
            <a:avLst/>
          </a:prstGeom>
          <a:solidFill>
            <a:srgbClr val="E8E8E8"/>
          </a:solidFill>
          <a:ln/>
        </p:spPr>
        <p:txBody>
          <a:bodyPr/>
          <a:p>
            <a:pPr/>
            <a:endParaRPr/>
          </a:p>
        </p:txBody>
      </p:sp>
      <p:sp>
        <p:nvSpPr>
          <p:cNvPr id="851" name=""/>
          <p:cNvSpPr/>
          <p:nvPr/>
        </p:nvSpPr>
        <p:spPr>
          <a:xfrm rot="0" flipH="0" flipV="0">
            <a:off x="609600" y="1400175"/>
            <a:ext cx="2857500" cy="1600200"/>
          </a:xfrm>
          <a:prstGeom prst="roundRect">
            <a:avLst>
              <a:gd name="adj" fmla="val 2381"/>
            </a:avLst>
          </a:prstGeom>
          <a:gradFill>
            <a:gsLst>
              <a:gs pos="0">
                <a:srgbClr val="FA4F24"/>
              </a:gs>
              <a:gs pos="100000">
                <a:srgbClr val="F87D2F"/>
              </a:gs>
            </a:gsLst>
            <a:lin ang="4200000" scaled="1"/>
          </a:gradFill>
          <a:ln/>
        </p:spPr>
        <p:txBody>
          <a:bodyPr/>
          <a:p>
            <a:pPr/>
            <a:endParaRPr/>
          </a:p>
        </p:txBody>
      </p:sp>
      <p:sp>
        <p:nvSpPr>
          <p:cNvPr id="852" name="" descr="{&quot;isTemplate&quot;:true,&quot;type&quot;:&quot;text&quot;}"/>
          <p:cNvSpPr txBox="1"/>
          <p:nvPr/>
        </p:nvSpPr>
        <p:spPr>
          <a:xfrm rot="0" flipH="0" flipV="0">
            <a:off x="838200" y="1609725"/>
            <a:ext cx="2400300" cy="733425"/>
          </a:xfrm>
          <a:prstGeom prst="rect"/>
        </p:spPr>
        <p:txBody>
          <a:bodyPr wrap="none" lIns="0" tIns="0" rIns="0" bIns="0"/>
          <a:p>
            <a:pPr>
              <a:lnSpc>
                <a:spcPct val="100000"/>
              </a:lnSpc>
            </a:pPr>
            <a:r>
              <a:rPr lang="en-US" sz="4800" b="1">
                <a:solidFill>
                  <a:srgbClr val="FFFFFF"/>
                </a:solidFill>
                <a:latin typeface="Microsoft YaHei"/>
                <a:ea typeface="Microsoft YaHei"/>
              </a:rPr>
              <a:t>4</a:t>
            </a:r>
            <a:endParaRPr/>
          </a:p>
        </p:txBody>
      </p:sp>
      <p:sp>
        <p:nvSpPr>
          <p:cNvPr id="853" name="" descr="{&quot;isTemplate&quot;:true,&quot;type&quot;:&quot;text&quot;}"/>
          <p:cNvSpPr txBox="1"/>
          <p:nvPr/>
        </p:nvSpPr>
        <p:spPr>
          <a:xfrm rot="0" flipH="0" flipV="0">
            <a:off x="838200" y="2400300"/>
            <a:ext cx="2400300" cy="200025"/>
          </a:xfrm>
          <a:prstGeom prst="rect"/>
        </p:spPr>
        <p:txBody>
          <a:bodyPr wrap="none" lIns="0" tIns="0" rIns="0" bIns="0"/>
          <a:p>
            <a:pPr>
              <a:lnSpc>
                <a:spcPct val="100000"/>
              </a:lnSpc>
            </a:pPr>
            <a:r>
              <a:rPr lang="zh-CN" sz="1275" b="1">
                <a:solidFill>
                  <a:srgbClr val="FFFFFF">
                    <a:alpha val="95000"/>
                  </a:srgbClr>
                </a:solidFill>
                <a:latin typeface="Microsoft YaHei"/>
                <a:ea typeface="Microsoft YaHei"/>
              </a:rPr>
              <a:t>信息架构组件</a:t>
            </a:r>
            <a:endParaRPr/>
          </a:p>
        </p:txBody>
      </p:sp>
      <p:sp>
        <p:nvSpPr>
          <p:cNvPr id="854" name="" descr="{&quot;isTemplate&quot;:true,&quot;type&quot;:&quot;text&quot;}"/>
          <p:cNvSpPr txBox="1"/>
          <p:nvPr/>
        </p:nvSpPr>
        <p:spPr>
          <a:xfrm rot="0" flipH="0" flipV="0">
            <a:off x="838200" y="2638425"/>
            <a:ext cx="2400300" cy="152400"/>
          </a:xfrm>
          <a:prstGeom prst="rect"/>
        </p:spPr>
        <p:txBody>
          <a:bodyPr wrap="none" lIns="0" tIns="0" rIns="0" bIns="0"/>
          <a:p>
            <a:pPr>
              <a:lnSpc>
                <a:spcPct val="100000"/>
              </a:lnSpc>
            </a:pPr>
            <a:r>
              <a:rPr lang="en-US" sz="975">
                <a:solidFill>
                  <a:srgbClr val="FFFFFF">
                    <a:alpha val="80000"/>
                  </a:srgbClr>
                </a:solidFill>
                <a:latin typeface="Microsoft YaHei"/>
                <a:ea typeface="Microsoft YaHei"/>
              </a:rPr>
              <a:t>INFORMATION ARCHITECTURE</a:t>
            </a:r>
            <a:endParaRPr/>
          </a:p>
        </p:txBody>
      </p:sp>
      <p:sp>
        <p:nvSpPr>
          <p:cNvPr id="855" name=""/>
          <p:cNvSpPr/>
          <p:nvPr/>
        </p:nvSpPr>
        <p:spPr>
          <a:xfrm rot="0" flipH="0" flipV="0">
            <a:off x="3657600" y="1400175"/>
            <a:ext cx="5448300" cy="1600200"/>
          </a:xfrm>
          <a:prstGeom prst="roundRect">
            <a:avLst>
              <a:gd name="adj" fmla="val 2381"/>
            </a:avLst>
          </a:prstGeom>
          <a:solidFill>
            <a:srgbClr val="F7F7F8"/>
          </a:solidFill>
          <a:ln/>
        </p:spPr>
        <p:txBody>
          <a:bodyPr/>
          <a:p>
            <a:pPr/>
            <a:endParaRPr/>
          </a:p>
        </p:txBody>
      </p:sp>
      <p:sp>
        <p:nvSpPr>
          <p:cNvPr id="856" name="" descr="{&quot;isTemplate&quot;:true,&quot;type&quot;:&quot;text&quot;}"/>
          <p:cNvSpPr txBox="1"/>
          <p:nvPr/>
        </p:nvSpPr>
        <p:spPr>
          <a:xfrm rot="0" flipH="0" flipV="0">
            <a:off x="3886200" y="1609725"/>
            <a:ext cx="4991100" cy="209550"/>
          </a:xfrm>
          <a:prstGeom prst="rect"/>
        </p:spPr>
        <p:txBody>
          <a:bodyPr wrap="none" lIns="0" tIns="0" rIns="0" bIns="0"/>
          <a:p>
            <a:pPr>
              <a:lnSpc>
                <a:spcPct val="100000"/>
              </a:lnSpc>
            </a:pPr>
            <a:r>
              <a:rPr lang="zh-CN" sz="1350" b="1">
                <a:solidFill>
                  <a:srgbClr val="0F1423"/>
                </a:solidFill>
                <a:latin typeface="Microsoft YaHei"/>
                <a:ea typeface="Microsoft YaHei"/>
              </a:rPr>
              <a:t>为什么是「业务交易」视角</a:t>
            </a:r>
            <a:endParaRPr/>
          </a:p>
        </p:txBody>
      </p:sp>
      <p:sp>
        <p:nvSpPr>
          <p:cNvPr id="857" name="" descr="{&quot;isTemplate&quot;:true,&quot;type&quot;:&quot;text&quot;}"/>
          <p:cNvSpPr txBox="1"/>
          <p:nvPr/>
        </p:nvSpPr>
        <p:spPr>
          <a:xfrm rot="0" flipH="0" flipV="0">
            <a:off x="3886200" y="1914525"/>
            <a:ext cx="4991100" cy="885825"/>
          </a:xfrm>
          <a:prstGeom prst="rect"/>
        </p:spPr>
        <p:txBody>
          <a:bodyPr wrap="square" lIns="0" tIns="0" rIns="0" bIns="0">
            <a:normAutofit/>
          </a:bodyPr>
          <a:p>
            <a:pPr>
              <a:lnSpc>
                <a:spcPct val="160000"/>
              </a:lnSpc>
            </a:pPr>
            <a:r>
              <a:rPr lang="zh-CN" sz="1200">
                <a:solidFill>
                  <a:srgbClr val="3A4050"/>
                </a:solidFill>
                <a:latin typeface="Microsoft YaHei"/>
                <a:ea typeface="Microsoft YaHei"/>
              </a:rPr>
              <a:t>数据架构的使命，是让各类数据在企业各业务单元间高效、准确地传递，</a:t>
            </a:r>
            <a:r>
              <a:rPr lang="en-US" sz="1200">
                <a:solidFill>
                  <a:srgbClr val="3A4050"/>
                </a:solidFill>
                <a:latin typeface="Microsoft YaHei"/>
                <a:ea typeface="Microsoft YaHei"/>
              </a:rPr>
              <a:t xml:space="preserve"> </a:t>
            </a:r>
            <a:r>
              <a:rPr lang="zh-CN" sz="1200">
                <a:solidFill>
                  <a:srgbClr val="3A4050"/>
                </a:solidFill>
                <a:latin typeface="Microsoft YaHei"/>
                <a:ea typeface="Microsoft YaHei"/>
              </a:rPr>
              <a:t>使上下游流程快速执行。它回答的不是「分析出什么」，而是「数据怎么产生、怎么定义、怎么关联、存在哪里」。</a:t>
            </a:r>
            <a:endParaRPr/>
          </a:p>
        </p:txBody>
      </p:sp>
      <p:sp>
        <p:nvSpPr>
          <p:cNvPr id="858" name=""/>
          <p:cNvSpPr/>
          <p:nvPr/>
        </p:nvSpPr>
        <p:spPr>
          <a:xfrm rot="0" flipH="0" flipV="0">
            <a:off x="9296400" y="1400175"/>
            <a:ext cx="2286000" cy="1600200"/>
          </a:xfrm>
          <a:prstGeom prst="roundRect">
            <a:avLst>
              <a:gd name="adj" fmla="val 2381"/>
            </a:avLst>
          </a:prstGeom>
          <a:solidFill>
            <a:srgbClr val="FA4F24">
              <a:alpha val="6000"/>
            </a:srgbClr>
          </a:solidFill>
          <a:ln/>
        </p:spPr>
        <p:txBody>
          <a:bodyPr/>
          <a:p>
            <a:pPr/>
            <a:endParaRPr/>
          </a:p>
        </p:txBody>
      </p:sp>
      <p:sp>
        <p:nvSpPr>
          <p:cNvPr id="859" name="" descr="{&quot;isTemplate&quot;:true,&quot;type&quot;:&quot;text&quot;}"/>
          <p:cNvSpPr txBox="1"/>
          <p:nvPr/>
        </p:nvSpPr>
        <p:spPr>
          <a:xfrm rot="0" flipH="0" flipV="0">
            <a:off x="9525000" y="1752600"/>
            <a:ext cx="1828800" cy="171450"/>
          </a:xfrm>
          <a:prstGeom prst="rect"/>
        </p:spPr>
        <p:txBody>
          <a:bodyPr wrap="none" lIns="0" tIns="0" rIns="0" bIns="0"/>
          <a:p>
            <a:pPr>
              <a:lnSpc>
                <a:spcPct val="100000"/>
              </a:lnSpc>
            </a:pPr>
            <a:r>
              <a:rPr lang="zh-CN" sz="1125">
                <a:solidFill>
                  <a:srgbClr val="8A8F99"/>
                </a:solidFill>
                <a:latin typeface="Microsoft YaHei"/>
                <a:ea typeface="Microsoft YaHei"/>
              </a:rPr>
              <a:t>核心锚点</a:t>
            </a:r>
            <a:endParaRPr/>
          </a:p>
        </p:txBody>
      </p:sp>
      <p:sp>
        <p:nvSpPr>
          <p:cNvPr id="860" name="" descr="{&quot;isTemplate&quot;:true,&quot;type&quot;:&quot;text&quot;}"/>
          <p:cNvSpPr txBox="1"/>
          <p:nvPr/>
        </p:nvSpPr>
        <p:spPr>
          <a:xfrm rot="0" flipH="0" flipV="0">
            <a:off x="9525000" y="2000250"/>
            <a:ext cx="1828800" cy="333375"/>
          </a:xfrm>
          <a:prstGeom prst="rect"/>
        </p:spPr>
        <p:txBody>
          <a:bodyPr wrap="none" lIns="0" tIns="0" rIns="0" bIns="0"/>
          <a:p>
            <a:pPr>
              <a:lnSpc>
                <a:spcPct val="130000"/>
              </a:lnSpc>
            </a:pPr>
            <a:r>
              <a:rPr lang="zh-CN" sz="1650" b="1">
                <a:solidFill>
                  <a:srgbClr val="FA4F24"/>
                </a:solidFill>
                <a:latin typeface="Microsoft YaHei"/>
                <a:ea typeface="Microsoft YaHei"/>
              </a:rPr>
              <a:t>业务对象</a:t>
            </a:r>
            <a:endParaRPr/>
          </a:p>
        </p:txBody>
      </p:sp>
      <p:sp>
        <p:nvSpPr>
          <p:cNvPr id="861" name="" descr="{&quot;isTemplate&quot;:true,&quot;type&quot;:&quot;text&quot;}"/>
          <p:cNvSpPr txBox="1"/>
          <p:nvPr/>
        </p:nvSpPr>
        <p:spPr>
          <a:xfrm rot="0" flipH="0" flipV="0">
            <a:off x="9525000" y="2409825"/>
            <a:ext cx="1828800" cy="247650"/>
          </a:xfrm>
          <a:prstGeom prst="rect"/>
        </p:spPr>
        <p:txBody>
          <a:bodyPr wrap="none" lIns="0" tIns="0" rIns="0" bIns="0"/>
          <a:p>
            <a:pPr>
              <a:lnSpc>
                <a:spcPct val="150000"/>
              </a:lnSpc>
            </a:pPr>
            <a:r>
              <a:rPr lang="zh-CN" sz="1050">
                <a:solidFill>
                  <a:srgbClr val="3A4050"/>
                </a:solidFill>
                <a:latin typeface="Microsoft YaHei"/>
                <a:ea typeface="Microsoft YaHei"/>
              </a:rPr>
              <a:t>四组件全部围绕它展开</a:t>
            </a:r>
            <a:endParaRPr/>
          </a:p>
        </p:txBody>
      </p:sp>
      <p:sp>
        <p:nvSpPr>
          <p:cNvPr id="862" name=""/>
          <p:cNvSpPr/>
          <p:nvPr/>
        </p:nvSpPr>
        <p:spPr>
          <a:xfrm rot="0" flipH="0" flipV="0">
            <a:off x="609600" y="3190875"/>
            <a:ext cx="2628900" cy="2428875"/>
          </a:xfrm>
          <a:prstGeom prst="roundRect">
            <a:avLst>
              <a:gd name="adj" fmla="val 1569"/>
            </a:avLst>
          </a:prstGeom>
          <a:ln/>
        </p:spPr>
        <p:txBody>
          <a:bodyPr/>
          <a:p>
            <a:pPr/>
            <a:endParaRPr/>
          </a:p>
        </p:txBody>
      </p:sp>
      <p:sp>
        <p:nvSpPr>
          <p:cNvPr id="863" name=""/>
          <p:cNvSpPr/>
          <p:nvPr/>
        </p:nvSpPr>
        <p:spPr>
          <a:xfrm rot="0" flipH="0" flipV="0">
            <a:off x="609600" y="3190875"/>
            <a:ext cx="2628900" cy="2428875"/>
          </a:xfrm>
          <a:custGeom>
            <a:pathLst>
              <a:path w="276" h="255">
                <a:moveTo>
                  <a:pt x="272" y="0"/>
                </a:moveTo>
                <a:cubicBezTo>
                  <a:pt x="274" y="0"/>
                  <a:pt x="276" y="2"/>
                  <a:pt x="276" y="4"/>
                </a:cubicBezTo>
                <a:lnTo>
                  <a:pt x="0" y="4"/>
                </a:lnTo>
                <a:cubicBezTo>
                  <a:pt x="0" y="2"/>
                  <a:pt x="2" y="0"/>
                  <a:pt x="4" y="0"/>
                </a:cubicBezTo>
                <a:lnTo>
                  <a:pt x="272" y="0"/>
                </a:lnTo>
                <a:close/>
              </a:path>
            </a:pathLst>
          </a:custGeom>
          <a:solidFill>
            <a:srgbClr val="FA4F24"/>
          </a:solidFill>
          <a:ln/>
        </p:spPr>
        <p:txBody>
          <a:bodyPr/>
          <a:p>
            <a:pPr/>
            <a:endParaRPr/>
          </a:p>
        </p:txBody>
      </p:sp>
      <p:sp>
        <p:nvSpPr>
          <p:cNvPr id="864" name="" descr="{&quot;isTemplate&quot;:true,&quot;type&quot;:&quot;text&quot;}"/>
          <p:cNvSpPr txBox="1"/>
          <p:nvPr/>
        </p:nvSpPr>
        <p:spPr>
          <a:xfrm rot="0" flipH="0" flipV="0">
            <a:off x="781050" y="3362325"/>
            <a:ext cx="314325" cy="304800"/>
          </a:xfrm>
          <a:prstGeom prst="rect"/>
        </p:spPr>
        <p:txBody>
          <a:bodyPr wrap="none" lIns="0" tIns="0" rIns="0" bIns="0"/>
          <a:p>
            <a:pPr>
              <a:lnSpc>
                <a:spcPct val="100000"/>
              </a:lnSpc>
            </a:pPr>
            <a:r>
              <a:rPr lang="en-US" sz="1950" b="1">
                <a:solidFill>
                  <a:srgbClr val="FA4F24"/>
                </a:solidFill>
                <a:latin typeface="Microsoft YaHei"/>
                <a:ea typeface="Microsoft YaHei"/>
              </a:rPr>
              <a:t>01</a:t>
            </a:r>
            <a:endParaRPr/>
          </a:p>
        </p:txBody>
      </p:sp>
      <p:sp>
        <p:nvSpPr>
          <p:cNvPr id="865" name="" descr="{&quot;isTemplate&quot;:true,&quot;type&quot;:&quot;text&quot;}"/>
          <p:cNvSpPr txBox="1"/>
          <p:nvPr/>
        </p:nvSpPr>
        <p:spPr>
          <a:xfrm rot="0" flipH="0" flipV="0">
            <a:off x="1190625" y="3362325"/>
            <a:ext cx="962025" cy="304800"/>
          </a:xfrm>
          <a:prstGeom prst="rect"/>
        </p:spPr>
        <p:txBody>
          <a:bodyPr wrap="none" lIns="0" tIns="0" rIns="0" bIns="0"/>
          <a:p>
            <a:pPr>
              <a:lnSpc>
                <a:spcPct val="100000"/>
              </a:lnSpc>
            </a:pPr>
            <a:r>
              <a:rPr lang="en-US" sz="825" spc="75">
                <a:solidFill>
                  <a:srgbClr val="B8BDC7"/>
                </a:solidFill>
                <a:latin typeface="Microsoft YaHei"/>
                <a:ea typeface="Microsoft YaHei"/>
              </a:rPr>
              <a:t>ASSET CATALOG</a:t>
            </a:r>
            <a:endParaRPr/>
          </a:p>
        </p:txBody>
      </p:sp>
      <p:sp>
        <p:nvSpPr>
          <p:cNvPr id="866" name="" descr="{&quot;isTemplate&quot;:true,&quot;type&quot;:&quot;text&quot;}"/>
          <p:cNvSpPr txBox="1"/>
          <p:nvPr/>
        </p:nvSpPr>
        <p:spPr>
          <a:xfrm rot="0" flipH="0" flipV="0">
            <a:off x="781050" y="3762375"/>
            <a:ext cx="2286000" cy="228600"/>
          </a:xfrm>
          <a:prstGeom prst="rect"/>
        </p:spPr>
        <p:txBody>
          <a:bodyPr wrap="none" lIns="0" tIns="0" rIns="0" bIns="0"/>
          <a:p>
            <a:pPr>
              <a:lnSpc>
                <a:spcPct val="100000"/>
              </a:lnSpc>
            </a:pPr>
            <a:r>
              <a:rPr lang="zh-CN" sz="1500" b="1">
                <a:solidFill>
                  <a:srgbClr val="0F1423"/>
                </a:solidFill>
                <a:latin typeface="Microsoft YaHei"/>
                <a:ea typeface="Microsoft YaHei"/>
              </a:rPr>
              <a:t>数据资产目录</a:t>
            </a:r>
            <a:endParaRPr/>
          </a:p>
        </p:txBody>
      </p:sp>
      <p:sp>
        <p:nvSpPr>
          <p:cNvPr id="867" name="" descr="{&quot;isTemplate&quot;:true,&quot;type&quot;:&quot;text&quot;}"/>
          <p:cNvSpPr txBox="1"/>
          <p:nvPr/>
        </p:nvSpPr>
        <p:spPr>
          <a:xfrm rot="0" flipH="0" flipV="0">
            <a:off x="781050" y="4086225"/>
            <a:ext cx="2286000" cy="102870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形成企业数据地图，识别管理责任、解决归属争议、避免重复建设</a:t>
            </a:r>
            <a:endParaRPr/>
          </a:p>
        </p:txBody>
      </p:sp>
      <p:sp>
        <p:nvSpPr>
          <p:cNvPr id="868" name=""/>
          <p:cNvSpPr/>
          <p:nvPr/>
        </p:nvSpPr>
        <p:spPr>
          <a:xfrm rot="0" flipH="0" flipV="0">
            <a:off x="781050" y="5114925"/>
            <a:ext cx="2286000" cy="295275"/>
          </a:xfrm>
          <a:prstGeom prst="roundRect">
            <a:avLst>
              <a:gd name="adj" fmla="val 9677"/>
            </a:avLst>
          </a:prstGeom>
          <a:solidFill>
            <a:srgbClr val="FA4F24">
              <a:alpha val="10000"/>
            </a:srgbClr>
          </a:solidFill>
          <a:ln/>
        </p:spPr>
        <p:txBody>
          <a:bodyPr/>
          <a:p>
            <a:pPr/>
            <a:endParaRPr/>
          </a:p>
        </p:txBody>
      </p:sp>
      <p:sp>
        <p:nvSpPr>
          <p:cNvPr id="869" name="" descr="{&quot;isTemplate&quot;:true,&quot;type&quot;:&quot;text&quot;}"/>
          <p:cNvSpPr txBox="1"/>
          <p:nvPr/>
        </p:nvSpPr>
        <p:spPr>
          <a:xfrm rot="0" flipH="0" flipV="0">
            <a:off x="876300" y="5181600"/>
            <a:ext cx="2095500" cy="161925"/>
          </a:xfrm>
          <a:prstGeom prst="rect"/>
        </p:spPr>
        <p:txBody>
          <a:bodyPr wrap="none" lIns="0" tIns="0" rIns="0" bIns="0"/>
          <a:p>
            <a:pPr algn="ctr">
              <a:lnSpc>
                <a:spcPct val="100000"/>
              </a:lnSpc>
            </a:pPr>
            <a:r>
              <a:rPr lang="zh-CN" sz="1050" b="1">
                <a:solidFill>
                  <a:srgbClr val="C43A17"/>
                </a:solidFill>
                <a:latin typeface="Microsoft YaHei"/>
                <a:ea typeface="Microsoft YaHei"/>
              </a:rPr>
              <a:t>有哪些数据</a:t>
            </a:r>
            <a:endParaRPr/>
          </a:p>
        </p:txBody>
      </p:sp>
      <p:sp>
        <p:nvSpPr>
          <p:cNvPr id="870" name=""/>
          <p:cNvSpPr/>
          <p:nvPr/>
        </p:nvSpPr>
        <p:spPr>
          <a:xfrm rot="0" flipH="0" flipV="0">
            <a:off x="3390900" y="3190875"/>
            <a:ext cx="2628900" cy="2428875"/>
          </a:xfrm>
          <a:prstGeom prst="roundRect">
            <a:avLst>
              <a:gd name="adj" fmla="val 1569"/>
            </a:avLst>
          </a:prstGeom>
          <a:ln/>
        </p:spPr>
        <p:txBody>
          <a:bodyPr/>
          <a:p>
            <a:pPr/>
            <a:endParaRPr/>
          </a:p>
        </p:txBody>
      </p:sp>
      <p:sp>
        <p:nvSpPr>
          <p:cNvPr id="871" name=""/>
          <p:cNvSpPr/>
          <p:nvPr/>
        </p:nvSpPr>
        <p:spPr>
          <a:xfrm rot="0" flipH="0" flipV="0">
            <a:off x="3390900" y="3190875"/>
            <a:ext cx="2628900" cy="2428875"/>
          </a:xfrm>
          <a:custGeom>
            <a:pathLst>
              <a:path w="276" h="255">
                <a:moveTo>
                  <a:pt x="272" y="0"/>
                </a:moveTo>
                <a:cubicBezTo>
                  <a:pt x="274" y="0"/>
                  <a:pt x="276" y="2"/>
                  <a:pt x="276" y="4"/>
                </a:cubicBezTo>
                <a:lnTo>
                  <a:pt x="0" y="4"/>
                </a:lnTo>
                <a:cubicBezTo>
                  <a:pt x="0" y="2"/>
                  <a:pt x="2" y="0"/>
                  <a:pt x="4" y="0"/>
                </a:cubicBezTo>
                <a:lnTo>
                  <a:pt x="272" y="0"/>
                </a:lnTo>
                <a:close/>
              </a:path>
            </a:pathLst>
          </a:custGeom>
          <a:solidFill>
            <a:srgbClr val="FA4F24"/>
          </a:solidFill>
          <a:ln/>
        </p:spPr>
        <p:txBody>
          <a:bodyPr/>
          <a:p>
            <a:pPr/>
            <a:endParaRPr/>
          </a:p>
        </p:txBody>
      </p:sp>
      <p:sp>
        <p:nvSpPr>
          <p:cNvPr id="872" name="" descr="{&quot;isTemplate&quot;:true,&quot;type&quot;:&quot;text&quot;}"/>
          <p:cNvSpPr txBox="1"/>
          <p:nvPr/>
        </p:nvSpPr>
        <p:spPr>
          <a:xfrm rot="0" flipH="0" flipV="0">
            <a:off x="3562350" y="3362325"/>
            <a:ext cx="314325" cy="304800"/>
          </a:xfrm>
          <a:prstGeom prst="rect"/>
        </p:spPr>
        <p:txBody>
          <a:bodyPr wrap="none" lIns="0" tIns="0" rIns="0" bIns="0"/>
          <a:p>
            <a:pPr>
              <a:lnSpc>
                <a:spcPct val="100000"/>
              </a:lnSpc>
            </a:pPr>
            <a:r>
              <a:rPr lang="en-US" sz="1950" b="1">
                <a:solidFill>
                  <a:srgbClr val="FA4F24"/>
                </a:solidFill>
                <a:latin typeface="Microsoft YaHei"/>
                <a:ea typeface="Microsoft YaHei"/>
              </a:rPr>
              <a:t>02</a:t>
            </a:r>
            <a:endParaRPr/>
          </a:p>
        </p:txBody>
      </p:sp>
      <p:sp>
        <p:nvSpPr>
          <p:cNvPr id="873" name="" descr="{&quot;isTemplate&quot;:true,&quot;type&quot;:&quot;text&quot;}"/>
          <p:cNvSpPr txBox="1"/>
          <p:nvPr/>
        </p:nvSpPr>
        <p:spPr>
          <a:xfrm rot="0" flipH="0" flipV="0">
            <a:off x="3971925" y="3362325"/>
            <a:ext cx="1028700" cy="304800"/>
          </a:xfrm>
          <a:prstGeom prst="rect"/>
        </p:spPr>
        <p:txBody>
          <a:bodyPr wrap="none" lIns="0" tIns="0" rIns="0" bIns="0"/>
          <a:p>
            <a:pPr>
              <a:lnSpc>
                <a:spcPct val="100000"/>
              </a:lnSpc>
            </a:pPr>
            <a:r>
              <a:rPr lang="en-US" sz="825" spc="75">
                <a:solidFill>
                  <a:srgbClr val="B8BDC7"/>
                </a:solidFill>
                <a:latin typeface="Microsoft YaHei"/>
                <a:ea typeface="Microsoft YaHei"/>
              </a:rPr>
              <a:t>DATA STANDARD</a:t>
            </a:r>
            <a:endParaRPr/>
          </a:p>
        </p:txBody>
      </p:sp>
      <p:sp>
        <p:nvSpPr>
          <p:cNvPr id="874" name="" descr="{&quot;isTemplate&quot;:true,&quot;type&quot;:&quot;text&quot;}"/>
          <p:cNvSpPr txBox="1"/>
          <p:nvPr/>
        </p:nvSpPr>
        <p:spPr>
          <a:xfrm rot="0" flipH="0" flipV="0">
            <a:off x="3562350" y="3762375"/>
            <a:ext cx="2286000" cy="228600"/>
          </a:xfrm>
          <a:prstGeom prst="rect"/>
        </p:spPr>
        <p:txBody>
          <a:bodyPr wrap="none" lIns="0" tIns="0" rIns="0" bIns="0"/>
          <a:p>
            <a:pPr>
              <a:lnSpc>
                <a:spcPct val="100000"/>
              </a:lnSpc>
            </a:pPr>
            <a:r>
              <a:rPr lang="zh-CN" sz="1500" b="1">
                <a:solidFill>
                  <a:srgbClr val="0F1423"/>
                </a:solidFill>
                <a:latin typeface="Microsoft YaHei"/>
                <a:ea typeface="Microsoft YaHei"/>
              </a:rPr>
              <a:t>数据标准</a:t>
            </a:r>
            <a:endParaRPr/>
          </a:p>
        </p:txBody>
      </p:sp>
      <p:sp>
        <p:nvSpPr>
          <p:cNvPr id="875" name="" descr="{&quot;isTemplate&quot;:true,&quot;type&quot;:&quot;text&quot;}"/>
          <p:cNvSpPr txBox="1"/>
          <p:nvPr/>
        </p:nvSpPr>
        <p:spPr>
          <a:xfrm rot="0" flipH="0" flipV="0">
            <a:off x="3562350" y="4086225"/>
            <a:ext cx="2286000" cy="102870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定义公司层面共同遵守的属性含义与业务规则，统一语言消除歧义</a:t>
            </a:r>
            <a:endParaRPr/>
          </a:p>
        </p:txBody>
      </p:sp>
      <p:sp>
        <p:nvSpPr>
          <p:cNvPr id="876" name=""/>
          <p:cNvSpPr/>
          <p:nvPr/>
        </p:nvSpPr>
        <p:spPr>
          <a:xfrm rot="0" flipH="0" flipV="0">
            <a:off x="3562350" y="5114925"/>
            <a:ext cx="2286000" cy="295275"/>
          </a:xfrm>
          <a:prstGeom prst="roundRect">
            <a:avLst>
              <a:gd name="adj" fmla="val 9677"/>
            </a:avLst>
          </a:prstGeom>
          <a:solidFill>
            <a:srgbClr val="FA4F24">
              <a:alpha val="10000"/>
            </a:srgbClr>
          </a:solidFill>
          <a:ln/>
        </p:spPr>
        <p:txBody>
          <a:bodyPr/>
          <a:p>
            <a:pPr/>
            <a:endParaRPr/>
          </a:p>
        </p:txBody>
      </p:sp>
      <p:sp>
        <p:nvSpPr>
          <p:cNvPr id="877" name="" descr="{&quot;isTemplate&quot;:true,&quot;type&quot;:&quot;text&quot;}"/>
          <p:cNvSpPr txBox="1"/>
          <p:nvPr/>
        </p:nvSpPr>
        <p:spPr>
          <a:xfrm rot="0" flipH="0" flipV="0">
            <a:off x="3657600" y="5181600"/>
            <a:ext cx="2095500" cy="161925"/>
          </a:xfrm>
          <a:prstGeom prst="rect"/>
        </p:spPr>
        <p:txBody>
          <a:bodyPr wrap="none" lIns="0" tIns="0" rIns="0" bIns="0"/>
          <a:p>
            <a:pPr algn="ctr">
              <a:lnSpc>
                <a:spcPct val="100000"/>
              </a:lnSpc>
            </a:pPr>
            <a:r>
              <a:rPr lang="zh-CN" sz="1050" b="1">
                <a:solidFill>
                  <a:srgbClr val="C43A17"/>
                </a:solidFill>
                <a:latin typeface="Microsoft YaHei"/>
                <a:ea typeface="Microsoft YaHei"/>
              </a:rPr>
              <a:t>怎么统一</a:t>
            </a:r>
            <a:endParaRPr/>
          </a:p>
        </p:txBody>
      </p:sp>
      <p:sp>
        <p:nvSpPr>
          <p:cNvPr id="878" name=""/>
          <p:cNvSpPr/>
          <p:nvPr/>
        </p:nvSpPr>
        <p:spPr>
          <a:xfrm rot="0" flipH="0" flipV="0">
            <a:off x="6172200" y="3190875"/>
            <a:ext cx="2628900" cy="2428875"/>
          </a:xfrm>
          <a:prstGeom prst="roundRect">
            <a:avLst>
              <a:gd name="adj" fmla="val 1569"/>
            </a:avLst>
          </a:prstGeom>
          <a:ln/>
        </p:spPr>
        <p:txBody>
          <a:bodyPr/>
          <a:p>
            <a:pPr/>
            <a:endParaRPr/>
          </a:p>
        </p:txBody>
      </p:sp>
      <p:sp>
        <p:nvSpPr>
          <p:cNvPr id="879" name=""/>
          <p:cNvSpPr/>
          <p:nvPr/>
        </p:nvSpPr>
        <p:spPr>
          <a:xfrm rot="0" flipH="0" flipV="0">
            <a:off x="6172200" y="3190875"/>
            <a:ext cx="2628900" cy="2428875"/>
          </a:xfrm>
          <a:custGeom>
            <a:pathLst>
              <a:path w="276" h="255">
                <a:moveTo>
                  <a:pt x="272" y="0"/>
                </a:moveTo>
                <a:cubicBezTo>
                  <a:pt x="274" y="0"/>
                  <a:pt x="276" y="2"/>
                  <a:pt x="276" y="4"/>
                </a:cubicBezTo>
                <a:lnTo>
                  <a:pt x="0" y="4"/>
                </a:lnTo>
                <a:cubicBezTo>
                  <a:pt x="0" y="2"/>
                  <a:pt x="2" y="0"/>
                  <a:pt x="4" y="0"/>
                </a:cubicBezTo>
                <a:lnTo>
                  <a:pt x="272" y="0"/>
                </a:lnTo>
                <a:close/>
              </a:path>
            </a:pathLst>
          </a:custGeom>
          <a:solidFill>
            <a:srgbClr val="FA4F24"/>
          </a:solidFill>
          <a:ln/>
        </p:spPr>
        <p:txBody>
          <a:bodyPr/>
          <a:p>
            <a:pPr/>
            <a:endParaRPr/>
          </a:p>
        </p:txBody>
      </p:sp>
      <p:sp>
        <p:nvSpPr>
          <p:cNvPr id="880" name="" descr="{&quot;isTemplate&quot;:true,&quot;type&quot;:&quot;text&quot;}"/>
          <p:cNvSpPr txBox="1"/>
          <p:nvPr/>
        </p:nvSpPr>
        <p:spPr>
          <a:xfrm rot="0" flipH="0" flipV="0">
            <a:off x="6343650" y="3362325"/>
            <a:ext cx="314325" cy="304800"/>
          </a:xfrm>
          <a:prstGeom prst="rect"/>
        </p:spPr>
        <p:txBody>
          <a:bodyPr wrap="none" lIns="0" tIns="0" rIns="0" bIns="0"/>
          <a:p>
            <a:pPr>
              <a:lnSpc>
                <a:spcPct val="100000"/>
              </a:lnSpc>
            </a:pPr>
            <a:r>
              <a:rPr lang="en-US" sz="1950" b="1">
                <a:solidFill>
                  <a:srgbClr val="FA4F24"/>
                </a:solidFill>
                <a:latin typeface="Microsoft YaHei"/>
                <a:ea typeface="Microsoft YaHei"/>
              </a:rPr>
              <a:t>03</a:t>
            </a:r>
            <a:endParaRPr/>
          </a:p>
        </p:txBody>
      </p:sp>
      <p:sp>
        <p:nvSpPr>
          <p:cNvPr id="881" name="" descr="{&quot;isTemplate&quot;:true,&quot;type&quot;:&quot;text&quot;}"/>
          <p:cNvSpPr txBox="1"/>
          <p:nvPr/>
        </p:nvSpPr>
        <p:spPr>
          <a:xfrm rot="0" flipH="0" flipV="0">
            <a:off x="6753225" y="3362325"/>
            <a:ext cx="800100" cy="304800"/>
          </a:xfrm>
          <a:prstGeom prst="rect"/>
        </p:spPr>
        <p:txBody>
          <a:bodyPr wrap="none" lIns="0" tIns="0" rIns="0" bIns="0"/>
          <a:p>
            <a:pPr>
              <a:lnSpc>
                <a:spcPct val="100000"/>
              </a:lnSpc>
            </a:pPr>
            <a:r>
              <a:rPr lang="en-US" sz="825" spc="75">
                <a:solidFill>
                  <a:srgbClr val="B8BDC7"/>
                </a:solidFill>
                <a:latin typeface="Microsoft YaHei"/>
                <a:ea typeface="Microsoft YaHei"/>
              </a:rPr>
              <a:t>DATA MODEL</a:t>
            </a:r>
            <a:endParaRPr/>
          </a:p>
        </p:txBody>
      </p:sp>
      <p:sp>
        <p:nvSpPr>
          <p:cNvPr id="882" name="" descr="{&quot;isTemplate&quot;:true,&quot;type&quot;:&quot;text&quot;}"/>
          <p:cNvSpPr txBox="1"/>
          <p:nvPr/>
        </p:nvSpPr>
        <p:spPr>
          <a:xfrm rot="0" flipH="0" flipV="0">
            <a:off x="6343650" y="3762375"/>
            <a:ext cx="2286000" cy="228600"/>
          </a:xfrm>
          <a:prstGeom prst="rect"/>
        </p:spPr>
        <p:txBody>
          <a:bodyPr wrap="none" lIns="0" tIns="0" rIns="0" bIns="0"/>
          <a:p>
            <a:pPr>
              <a:lnSpc>
                <a:spcPct val="100000"/>
              </a:lnSpc>
            </a:pPr>
            <a:r>
              <a:rPr lang="zh-CN" sz="1500" b="1">
                <a:solidFill>
                  <a:srgbClr val="0F1423"/>
                </a:solidFill>
                <a:latin typeface="Microsoft YaHei"/>
                <a:ea typeface="Microsoft YaHei"/>
              </a:rPr>
              <a:t>数据模型</a:t>
            </a:r>
            <a:endParaRPr/>
          </a:p>
        </p:txBody>
      </p:sp>
      <p:sp>
        <p:nvSpPr>
          <p:cNvPr id="883" name="" descr="{&quot;isTemplate&quot;:true,&quot;type&quot;:&quot;text&quot;}"/>
          <p:cNvSpPr txBox="1"/>
          <p:nvPr/>
        </p:nvSpPr>
        <p:spPr>
          <a:xfrm rot="0" flipH="0" flipV="0">
            <a:off x="6343650" y="4086225"/>
            <a:ext cx="2286000" cy="102870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从数据视角模拟现实世界，反映业务对象之间的关联关系</a:t>
            </a:r>
            <a:endParaRPr/>
          </a:p>
        </p:txBody>
      </p:sp>
      <p:sp>
        <p:nvSpPr>
          <p:cNvPr id="884" name=""/>
          <p:cNvSpPr/>
          <p:nvPr/>
        </p:nvSpPr>
        <p:spPr>
          <a:xfrm rot="0" flipH="0" flipV="0">
            <a:off x="6343650" y="5114925"/>
            <a:ext cx="2286000" cy="295275"/>
          </a:xfrm>
          <a:prstGeom prst="roundRect">
            <a:avLst>
              <a:gd name="adj" fmla="val 9677"/>
            </a:avLst>
          </a:prstGeom>
          <a:solidFill>
            <a:srgbClr val="FA4F24">
              <a:alpha val="10000"/>
            </a:srgbClr>
          </a:solidFill>
          <a:ln/>
        </p:spPr>
        <p:txBody>
          <a:bodyPr/>
          <a:p>
            <a:pPr/>
            <a:endParaRPr/>
          </a:p>
        </p:txBody>
      </p:sp>
      <p:sp>
        <p:nvSpPr>
          <p:cNvPr id="885" name="" descr="{&quot;isTemplate&quot;:true,&quot;type&quot;:&quot;text&quot;}"/>
          <p:cNvSpPr txBox="1"/>
          <p:nvPr/>
        </p:nvSpPr>
        <p:spPr>
          <a:xfrm rot="0" flipH="0" flipV="0">
            <a:off x="6438900" y="5181600"/>
            <a:ext cx="2095500" cy="161925"/>
          </a:xfrm>
          <a:prstGeom prst="rect"/>
        </p:spPr>
        <p:txBody>
          <a:bodyPr wrap="none" lIns="0" tIns="0" rIns="0" bIns="0"/>
          <a:p>
            <a:pPr algn="ctr">
              <a:lnSpc>
                <a:spcPct val="100000"/>
              </a:lnSpc>
            </a:pPr>
            <a:r>
              <a:rPr lang="zh-CN" sz="1050" b="1">
                <a:solidFill>
                  <a:srgbClr val="C43A17"/>
                </a:solidFill>
                <a:latin typeface="Microsoft YaHei"/>
                <a:ea typeface="Microsoft YaHei"/>
              </a:rPr>
              <a:t>如何关联</a:t>
            </a:r>
            <a:endParaRPr/>
          </a:p>
        </p:txBody>
      </p:sp>
      <p:sp>
        <p:nvSpPr>
          <p:cNvPr id="886" name=""/>
          <p:cNvSpPr/>
          <p:nvPr/>
        </p:nvSpPr>
        <p:spPr>
          <a:xfrm rot="0" flipH="0" flipV="0">
            <a:off x="8953500" y="3190875"/>
            <a:ext cx="2628900" cy="2428875"/>
          </a:xfrm>
          <a:prstGeom prst="roundRect">
            <a:avLst>
              <a:gd name="adj" fmla="val 1569"/>
            </a:avLst>
          </a:prstGeom>
          <a:ln/>
        </p:spPr>
        <p:txBody>
          <a:bodyPr/>
          <a:p>
            <a:pPr/>
            <a:endParaRPr/>
          </a:p>
        </p:txBody>
      </p:sp>
      <p:sp>
        <p:nvSpPr>
          <p:cNvPr id="887" name=""/>
          <p:cNvSpPr/>
          <p:nvPr/>
        </p:nvSpPr>
        <p:spPr>
          <a:xfrm rot="0" flipH="0" flipV="0">
            <a:off x="8953500" y="3190875"/>
            <a:ext cx="2628900" cy="2428875"/>
          </a:xfrm>
          <a:custGeom>
            <a:pathLst>
              <a:path w="276" h="255">
                <a:moveTo>
                  <a:pt x="272" y="0"/>
                </a:moveTo>
                <a:cubicBezTo>
                  <a:pt x="274" y="0"/>
                  <a:pt x="276" y="2"/>
                  <a:pt x="276" y="4"/>
                </a:cubicBezTo>
                <a:lnTo>
                  <a:pt x="0" y="4"/>
                </a:lnTo>
                <a:cubicBezTo>
                  <a:pt x="0" y="2"/>
                  <a:pt x="2" y="0"/>
                  <a:pt x="4" y="0"/>
                </a:cubicBezTo>
                <a:lnTo>
                  <a:pt x="272" y="0"/>
                </a:lnTo>
                <a:close/>
              </a:path>
            </a:pathLst>
          </a:custGeom>
          <a:solidFill>
            <a:srgbClr val="FA4F24"/>
          </a:solidFill>
          <a:ln/>
        </p:spPr>
        <p:txBody>
          <a:bodyPr/>
          <a:p>
            <a:pPr/>
            <a:endParaRPr/>
          </a:p>
        </p:txBody>
      </p:sp>
      <p:sp>
        <p:nvSpPr>
          <p:cNvPr id="888" name="" descr="{&quot;isTemplate&quot;:true,&quot;type&quot;:&quot;text&quot;}"/>
          <p:cNvSpPr txBox="1"/>
          <p:nvPr/>
        </p:nvSpPr>
        <p:spPr>
          <a:xfrm rot="0" flipH="0" flipV="0">
            <a:off x="9124950" y="3362325"/>
            <a:ext cx="314325" cy="304800"/>
          </a:xfrm>
          <a:prstGeom prst="rect"/>
        </p:spPr>
        <p:txBody>
          <a:bodyPr wrap="none" lIns="0" tIns="0" rIns="0" bIns="0"/>
          <a:p>
            <a:pPr>
              <a:lnSpc>
                <a:spcPct val="100000"/>
              </a:lnSpc>
            </a:pPr>
            <a:r>
              <a:rPr lang="en-US" sz="1950" b="1">
                <a:solidFill>
                  <a:srgbClr val="FA4F24"/>
                </a:solidFill>
                <a:latin typeface="Microsoft YaHei"/>
                <a:ea typeface="Microsoft YaHei"/>
              </a:rPr>
              <a:t>04</a:t>
            </a:r>
            <a:endParaRPr/>
          </a:p>
        </p:txBody>
      </p:sp>
      <p:sp>
        <p:nvSpPr>
          <p:cNvPr id="889" name="" descr="{&quot;isTemplate&quot;:true,&quot;type&quot;:&quot;text&quot;}"/>
          <p:cNvSpPr txBox="1"/>
          <p:nvPr/>
        </p:nvSpPr>
        <p:spPr>
          <a:xfrm rot="0" flipH="0" flipV="0">
            <a:off x="9534525" y="3362325"/>
            <a:ext cx="857250" cy="304800"/>
          </a:xfrm>
          <a:prstGeom prst="rect"/>
        </p:spPr>
        <p:txBody>
          <a:bodyPr wrap="none" lIns="0" tIns="0" rIns="0" bIns="0"/>
          <a:p>
            <a:pPr>
              <a:lnSpc>
                <a:spcPct val="100000"/>
              </a:lnSpc>
            </a:pPr>
            <a:r>
              <a:rPr lang="en-US" sz="825" spc="75">
                <a:solidFill>
                  <a:srgbClr val="B8BDC7"/>
                </a:solidFill>
                <a:latin typeface="Microsoft YaHei"/>
                <a:ea typeface="Microsoft YaHei"/>
              </a:rPr>
              <a:t>DISTRIBUTION</a:t>
            </a:r>
            <a:endParaRPr/>
          </a:p>
        </p:txBody>
      </p:sp>
      <p:sp>
        <p:nvSpPr>
          <p:cNvPr id="890" name="" descr="{&quot;isTemplate&quot;:true,&quot;type&quot;:&quot;text&quot;}"/>
          <p:cNvSpPr txBox="1"/>
          <p:nvPr/>
        </p:nvSpPr>
        <p:spPr>
          <a:xfrm rot="0" flipH="0" flipV="0">
            <a:off x="9124950" y="3762375"/>
            <a:ext cx="2286000" cy="228600"/>
          </a:xfrm>
          <a:prstGeom prst="rect"/>
        </p:spPr>
        <p:txBody>
          <a:bodyPr wrap="none" lIns="0" tIns="0" rIns="0" bIns="0"/>
          <a:p>
            <a:pPr>
              <a:lnSpc>
                <a:spcPct val="100000"/>
              </a:lnSpc>
            </a:pPr>
            <a:r>
              <a:rPr lang="zh-CN" sz="1500" b="1">
                <a:solidFill>
                  <a:srgbClr val="0F1423"/>
                </a:solidFill>
                <a:latin typeface="Microsoft YaHei"/>
                <a:ea typeface="Microsoft YaHei"/>
              </a:rPr>
              <a:t>数据分布</a:t>
            </a:r>
            <a:endParaRPr/>
          </a:p>
        </p:txBody>
      </p:sp>
      <p:sp>
        <p:nvSpPr>
          <p:cNvPr id="891" name="" descr="{&quot;isTemplate&quot;:true,&quot;type&quot;:&quot;text&quot;}"/>
          <p:cNvSpPr txBox="1"/>
          <p:nvPr/>
        </p:nvSpPr>
        <p:spPr>
          <a:xfrm rot="0" flipH="0" flipV="0">
            <a:off x="9124950" y="4086225"/>
            <a:ext cx="2286000" cy="102870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定义数据产生的源头及在各流程与系统间的流动，锁定权威源</a:t>
            </a:r>
            <a:endParaRPr/>
          </a:p>
        </p:txBody>
      </p:sp>
      <p:sp>
        <p:nvSpPr>
          <p:cNvPr id="892" name=""/>
          <p:cNvSpPr/>
          <p:nvPr/>
        </p:nvSpPr>
        <p:spPr>
          <a:xfrm rot="0" flipH="0" flipV="0">
            <a:off x="9124950" y="5114925"/>
            <a:ext cx="2286000" cy="295275"/>
          </a:xfrm>
          <a:prstGeom prst="roundRect">
            <a:avLst>
              <a:gd name="adj" fmla="val 9677"/>
            </a:avLst>
          </a:prstGeom>
          <a:solidFill>
            <a:srgbClr val="FA4F24">
              <a:alpha val="10000"/>
            </a:srgbClr>
          </a:solidFill>
          <a:ln/>
        </p:spPr>
        <p:txBody>
          <a:bodyPr/>
          <a:p>
            <a:pPr/>
            <a:endParaRPr/>
          </a:p>
        </p:txBody>
      </p:sp>
      <p:sp>
        <p:nvSpPr>
          <p:cNvPr id="893" name="" descr="{&quot;isTemplate&quot;:true,&quot;type&quot;:&quot;text&quot;}"/>
          <p:cNvSpPr txBox="1"/>
          <p:nvPr/>
        </p:nvSpPr>
        <p:spPr>
          <a:xfrm rot="0" flipH="0" flipV="0">
            <a:off x="9220200" y="5181600"/>
            <a:ext cx="2095500" cy="161925"/>
          </a:xfrm>
          <a:prstGeom prst="rect"/>
        </p:spPr>
        <p:txBody>
          <a:bodyPr wrap="none" lIns="0" tIns="0" rIns="0" bIns="0"/>
          <a:p>
            <a:pPr algn="ctr">
              <a:lnSpc>
                <a:spcPct val="100000"/>
              </a:lnSpc>
            </a:pPr>
            <a:r>
              <a:rPr lang="zh-CN" sz="1050" b="1">
                <a:solidFill>
                  <a:srgbClr val="C43A17"/>
                </a:solidFill>
                <a:latin typeface="Microsoft YaHei"/>
                <a:ea typeface="Microsoft YaHei"/>
              </a:rPr>
              <a:t>存在哪里</a:t>
            </a:r>
            <a:endParaRPr/>
          </a:p>
        </p:txBody>
      </p:sp>
      <p:sp>
        <p:nvSpPr>
          <p:cNvPr id="894" name=""/>
          <p:cNvSpPr/>
          <p:nvPr/>
        </p:nvSpPr>
        <p:spPr>
          <a:xfrm rot="0" flipH="0" flipV="0">
            <a:off x="609600" y="5943600"/>
            <a:ext cx="133350" cy="133350"/>
          </a:xfrm>
          <a:prstGeom prst="rect">
            <a:avLst/>
          </a:prstGeom>
          <a:solidFill>
            <a:srgbClr val="FA4F24"/>
          </a:solidFill>
          <a:ln/>
        </p:spPr>
        <p:txBody>
          <a:bodyPr/>
          <a:p>
            <a:pPr/>
            <a:endParaRPr/>
          </a:p>
        </p:txBody>
      </p:sp>
      <p:sp>
        <p:nvSpPr>
          <p:cNvPr id="895"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896"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03 / 30</a:t>
            </a:r>
            <a:endParaRPr/>
          </a:p>
        </p:txBody>
      </p:sp>
    </p:spTree>
  </p:cSld>
</p:sld>
</file>

<file path=ppt/slides/slide4.xml><?xml version="1.0" encoding="utf-8"?>
<p:sld xmlns:p="http://schemas.openxmlformats.org/presentationml/2006/main" xmlns:a="http://schemas.openxmlformats.org/drawingml/2006/main">
  <p:cSld>
    <p:spTree>
      <p:nvGrpSpPr>
        <p:cNvPr id="921" name=""/>
        <p:cNvGrpSpPr/>
        <p:nvPr/>
      </p:nvGrpSpPr>
      <p:grpSpPr>
        <a:xfrm>
          <a:off x="0" y="0"/>
          <a:ext cx="0" cy="0"/>
          <a:chOff x="0" y="0"/>
          <a:chExt cx="0" cy="0"/>
        </a:xfrm>
      </p:grpSpPr>
      <p:sp>
        <p:nvSpPr>
          <p:cNvPr id="922" name=""/>
          <p:cNvSpPr/>
          <p:nvPr/>
        </p:nvSpPr>
        <p:spPr>
          <a:xfrm rot="0" flipH="0" flipV="0">
            <a:off x="0" y="0"/>
            <a:ext cx="12192000" cy="6858000"/>
          </a:xfrm>
          <a:prstGeom prst="rect">
            <a:avLst/>
          </a:prstGeom>
          <a:solidFill>
            <a:srgbClr val="0F1423"/>
          </a:solidFill>
          <a:ln/>
        </p:spPr>
        <p:txBody>
          <a:bodyPr/>
          <a:p>
            <a:pPr/>
            <a:endParaRPr/>
          </a:p>
        </p:txBody>
      </p:sp>
      <p:sp>
        <p:nvSpPr>
          <p:cNvPr id="923"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a:pPr/>
            <a:endParaRPr/>
          </a:p>
        </p:txBody>
      </p:sp>
      <p:sp>
        <p:nvSpPr>
          <p:cNvPr id="924"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a:pPr/>
            <a:endParaRPr/>
          </a:p>
        </p:txBody>
      </p:sp>
      <p:sp>
        <p:nvSpPr>
          <p:cNvPr id="925" name="" descr="{&quot;isTemplate&quot;:true,&quot;type&quot;:&quot;text&quot;}"/>
          <p:cNvSpPr txBox="1"/>
          <p:nvPr/>
        </p:nvSpPr>
        <p:spPr>
          <a:xfrm rot="0" flipH="0" flipV="0">
            <a:off x="7991475" y="1047750"/>
            <a:ext cx="3533775" cy="3429000"/>
          </a:xfrm>
          <a:prstGeom prst="rect"/>
        </p:spPr>
        <p:txBody>
          <a:bodyPr wrap="none" lIns="0" tIns="0" rIns="0" bIns="0"/>
          <a:p>
            <a:pPr>
              <a:lnSpc>
                <a:spcPct val="100000"/>
              </a:lnSpc>
            </a:pPr>
            <a:r>
              <a:rPr lang="en-US" sz="22500" b="1">
                <a:solidFill>
                  <a:srgbClr val="FFFFFF">
                    <a:alpha val="8000"/>
                  </a:srgbClr>
                </a:solidFill>
                <a:latin typeface="Microsoft YaHei"/>
                <a:ea typeface="Microsoft YaHei"/>
              </a:rPr>
              <a:t>01</a:t>
            </a:r>
            <a:endParaRPr/>
          </a:p>
        </p:txBody>
      </p:sp>
      <p:sp>
        <p:nvSpPr>
          <p:cNvPr id="926" name="" descr="{&quot;isTemplate&quot;:true,&quot;type&quot;:&quot;text&quot;}"/>
          <p:cNvSpPr txBox="1"/>
          <p:nvPr/>
        </p:nvSpPr>
        <p:spPr>
          <a:xfrm rot="0" flipH="0" flipV="0">
            <a:off x="838200" y="2286000"/>
            <a:ext cx="5905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01</a:t>
            </a:r>
            <a:endParaRPr/>
          </a:p>
        </p:txBody>
      </p:sp>
      <p:sp>
        <p:nvSpPr>
          <p:cNvPr id="927" name=""/>
          <p:cNvSpPr/>
          <p:nvPr/>
        </p:nvSpPr>
        <p:spPr>
          <a:xfrm rot="0" flipH="0" flipV="0">
            <a:off x="838200" y="2667000"/>
            <a:ext cx="685800" cy="47625"/>
          </a:xfrm>
          <a:prstGeom prst="rect">
            <a:avLst/>
          </a:prstGeom>
          <a:solidFill>
            <a:srgbClr val="FA4F24"/>
          </a:solidFill>
          <a:ln/>
        </p:spPr>
        <p:txBody>
          <a:bodyPr/>
          <a:p>
            <a:pPr/>
            <a:endParaRPr/>
          </a:p>
        </p:txBody>
      </p:sp>
      <p:sp>
        <p:nvSpPr>
          <p:cNvPr id="928" name="" descr="{&quot;isTemplate&quot;:true,&quot;type&quot;:&quot;text&quot;}"/>
          <p:cNvSpPr txBox="1"/>
          <p:nvPr/>
        </p:nvSpPr>
        <p:spPr>
          <a:xfrm rot="0" flipH="0" flipV="0">
            <a:off x="838200" y="2981325"/>
            <a:ext cx="5905500" cy="790575"/>
          </a:xfrm>
          <a:prstGeom prst="rect"/>
        </p:spPr>
        <p:txBody>
          <a:bodyPr wrap="none" lIns="0" tIns="0" rIns="0" bIns="0"/>
          <a:p>
            <a:pPr>
              <a:lnSpc>
                <a:spcPct val="114999"/>
              </a:lnSpc>
            </a:pPr>
            <a:r>
              <a:rPr lang="zh-CN" sz="4500" b="1">
                <a:solidFill>
                  <a:srgbClr val="FFFFFF"/>
                </a:solidFill>
                <a:latin typeface="Microsoft YaHei"/>
                <a:ea typeface="Microsoft YaHei"/>
              </a:rPr>
              <a:t>数据架构总论</a:t>
            </a:r>
            <a:endParaRPr/>
          </a:p>
        </p:txBody>
      </p:sp>
      <p:sp>
        <p:nvSpPr>
          <p:cNvPr id="929" name="" descr="{&quot;isTemplate&quot;:true,&quot;type&quot;:&quot;text&quot;}"/>
          <p:cNvSpPr txBox="1"/>
          <p:nvPr/>
        </p:nvSpPr>
        <p:spPr>
          <a:xfrm rot="0" flipH="0" flipV="0">
            <a:off x="838200" y="3962400"/>
            <a:ext cx="5905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DATA ARCHITECTURE OVERVIEW</a:t>
            </a:r>
            <a:endParaRPr/>
          </a:p>
        </p:txBody>
      </p:sp>
      <p:sp>
        <p:nvSpPr>
          <p:cNvPr id="930" name="" descr="{&quot;isTemplate&quot;:true,&quot;type&quot;:&quot;text&quot;}"/>
          <p:cNvSpPr txBox="1"/>
          <p:nvPr/>
        </p:nvSpPr>
        <p:spPr>
          <a:xfrm rot="0" flipH="0" flipV="0">
            <a:off x="838200" y="4410075"/>
            <a:ext cx="59055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四组件、五层骨架、五条原则与数字化三扩展</a:t>
            </a:r>
            <a:endParaRPr/>
          </a:p>
        </p:txBody>
      </p:sp>
      <p:sp>
        <p:nvSpPr>
          <p:cNvPr id="931" name=""/>
          <p:cNvSpPr/>
          <p:nvPr/>
        </p:nvSpPr>
        <p:spPr>
          <a:xfrm rot="0" flipH="0" flipV="0">
            <a:off x="8382000" y="6105525"/>
            <a:ext cx="133350" cy="133350"/>
          </a:xfrm>
          <a:prstGeom prst="rect">
            <a:avLst/>
          </a:prstGeom>
          <a:solidFill>
            <a:srgbClr val="FA4F24"/>
          </a:solidFill>
          <a:ln/>
        </p:spPr>
        <p:txBody>
          <a:bodyPr/>
          <a:p>
            <a:pPr/>
            <a:endParaRPr/>
          </a:p>
        </p:txBody>
      </p:sp>
      <p:sp>
        <p:nvSpPr>
          <p:cNvPr id="932" name="" descr="{&quot;isTemplate&quot;:true,&quot;type&quot;:&quot;text&quot;}"/>
          <p:cNvSpPr txBox="1"/>
          <p:nvPr/>
        </p:nvSpPr>
        <p:spPr>
          <a:xfrm rot="0" flipH="0" flipV="0">
            <a:off x="8629650" y="6086475"/>
            <a:ext cx="203835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DA</a:t>
            </a:r>
            <a:r>
              <a:rPr lang="zh-CN" sz="1050">
                <a:solidFill>
                  <a:srgbClr val="FFFFFF">
                    <a:alpha val="50000"/>
                  </a:srgbClr>
                </a:solidFill>
                <a:latin typeface="Microsoft YaHei"/>
                <a:ea typeface="Microsoft YaHei"/>
              </a:rPr>
              <a:t>数据架构咨询方法论</a:t>
            </a:r>
            <a:endParaRPr/>
          </a:p>
        </p:txBody>
      </p:sp>
      <p:sp>
        <p:nvSpPr>
          <p:cNvPr id="933" name="" descr="{&quot;isTemplate&quot;:true,&quot;type&quot;:&quot;text&quot;}"/>
          <p:cNvSpPr txBox="1"/>
          <p:nvPr/>
        </p:nvSpPr>
        <p:spPr>
          <a:xfrm rot="0" flipH="0" flipV="0">
            <a:off x="10896600" y="60864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04 / 30</a:t>
            </a:r>
            <a:endParaRPr/>
          </a:p>
        </p:txBody>
      </p:sp>
    </p:spTree>
  </p:cSld>
</p:sld>
</file>

<file path=ppt/slides/slide5.xml><?xml version="1.0" encoding="utf-8"?>
<p:sld xmlns:p="http://schemas.openxmlformats.org/presentationml/2006/main" xmlns:a="http://schemas.openxmlformats.org/drawingml/2006/main">
  <p:cSld>
    <p:spTree>
      <p:nvGrpSpPr>
        <p:cNvPr id="934" name=""/>
        <p:cNvGrpSpPr/>
        <p:nvPr/>
      </p:nvGrpSpPr>
      <p:grpSpPr>
        <a:xfrm>
          <a:off x="0" y="0"/>
          <a:ext cx="0" cy="0"/>
          <a:chOff x="0" y="0"/>
          <a:chExt cx="0" cy="0"/>
        </a:xfrm>
      </p:grpSpPr>
      <p:sp>
        <p:nvSpPr>
          <p:cNvPr id="935" name=""/>
          <p:cNvSpPr/>
          <p:nvPr/>
        </p:nvSpPr>
        <p:spPr>
          <a:xfrm rot="0" flipH="0" flipV="0">
            <a:off x="0" y="0"/>
            <a:ext cx="12192000" cy="6858000"/>
          </a:xfrm>
          <a:prstGeom prst="rect">
            <a:avLst/>
          </a:prstGeom>
          <a:solidFill>
            <a:srgbClr val="FFFFFF"/>
          </a:solidFill>
          <a:ln/>
        </p:spPr>
        <p:txBody>
          <a:bodyPr/>
          <a:p>
            <a:pPr/>
            <a:endParaRPr/>
          </a:p>
        </p:txBody>
      </p:sp>
      <p:sp>
        <p:nvSpPr>
          <p:cNvPr id="936"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四组件以</a:t>
            </a:r>
            <a:r>
              <a:rPr lang="zh-CN" sz="2400" b="1">
                <a:solidFill>
                  <a:srgbClr val="FA4F24"/>
                </a:solidFill>
                <a:latin typeface="Microsoft YaHei"/>
                <a:ea typeface="Microsoft YaHei"/>
              </a:rPr>
              <a:t>五层目录</a:t>
            </a:r>
            <a:r>
              <a:rPr lang="zh-CN" sz="2400" b="1">
                <a:solidFill>
                  <a:srgbClr val="0F1423"/>
                </a:solidFill>
                <a:latin typeface="Microsoft YaHei"/>
                <a:ea typeface="Microsoft YaHei"/>
              </a:rPr>
              <a:t>为骨架，构成企业信息架构的完整闭环</a:t>
            </a:r>
            <a:endParaRPr/>
          </a:p>
        </p:txBody>
      </p:sp>
      <p:sp>
        <p:nvSpPr>
          <p:cNvPr id="937"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资产目录定边界，数据标准定语言，数据模型定结构，数据分布定源头</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四者互为输入输出</a:t>
            </a:r>
            <a:endParaRPr/>
          </a:p>
        </p:txBody>
      </p:sp>
      <p:sp>
        <p:nvSpPr>
          <p:cNvPr id="938" name=""/>
          <p:cNvSpPr/>
          <p:nvPr/>
        </p:nvSpPr>
        <p:spPr>
          <a:xfrm rot="0" flipH="0" flipV="0">
            <a:off x="609600" y="1143000"/>
            <a:ext cx="10972800" cy="9525"/>
          </a:xfrm>
          <a:prstGeom prst="rect">
            <a:avLst/>
          </a:prstGeom>
          <a:solidFill>
            <a:srgbClr val="E8E8E8"/>
          </a:solidFill>
          <a:ln/>
        </p:spPr>
        <p:txBody>
          <a:bodyPr/>
          <a:p>
            <a:pPr/>
            <a:endParaRPr/>
          </a:p>
        </p:txBody>
      </p:sp>
      <p:sp>
        <p:nvSpPr>
          <p:cNvPr id="939" name="" descr="{&quot;isTemplate&quot;:true,&quot;type&quot;:&quot;text&quot;}"/>
          <p:cNvSpPr txBox="1"/>
          <p:nvPr/>
        </p:nvSpPr>
        <p:spPr>
          <a:xfrm rot="0" flipH="0" flipV="0">
            <a:off x="609600" y="1381125"/>
            <a:ext cx="4762500" cy="228600"/>
          </a:xfrm>
          <a:prstGeom prst="rect"/>
        </p:spPr>
        <p:txBody>
          <a:bodyPr wrap="none" lIns="0" tIns="0" rIns="0" bIns="0"/>
          <a:p>
            <a:pPr>
              <a:lnSpc>
                <a:spcPct val="100000"/>
              </a:lnSpc>
            </a:pPr>
            <a:r>
              <a:rPr lang="zh-CN" sz="1500" b="1">
                <a:solidFill>
                  <a:srgbClr val="0F1423"/>
                </a:solidFill>
                <a:latin typeface="Microsoft YaHei"/>
                <a:ea typeface="Microsoft YaHei"/>
              </a:rPr>
              <a:t>五层数据资产目录骨架</a:t>
            </a:r>
            <a:endParaRPr/>
          </a:p>
        </p:txBody>
      </p:sp>
      <p:sp>
        <p:nvSpPr>
          <p:cNvPr id="940" name=""/>
          <p:cNvSpPr/>
          <p:nvPr/>
        </p:nvSpPr>
        <p:spPr>
          <a:xfrm rot="0" flipH="0" flipV="0">
            <a:off x="609600" y="1714500"/>
            <a:ext cx="4762500" cy="590550"/>
          </a:xfrm>
          <a:prstGeom prst="roundRect">
            <a:avLst>
              <a:gd name="adj" fmla="val 6452"/>
            </a:avLst>
          </a:prstGeom>
          <a:solidFill>
            <a:srgbClr val="FA4F24"/>
          </a:solidFill>
          <a:ln/>
        </p:spPr>
        <p:txBody>
          <a:bodyPr/>
          <a:p>
            <a:pPr/>
            <a:endParaRPr/>
          </a:p>
        </p:txBody>
      </p:sp>
      <p:sp>
        <p:nvSpPr>
          <p:cNvPr id="941" name="" descr="{&quot;isTemplate&quot;:true,&quot;type&quot;:&quot;text&quot;}"/>
          <p:cNvSpPr txBox="1"/>
          <p:nvPr/>
        </p:nvSpPr>
        <p:spPr>
          <a:xfrm rot="0" flipH="0" flipV="0">
            <a:off x="781050" y="1885950"/>
            <a:ext cx="247650" cy="257175"/>
          </a:xfrm>
          <a:prstGeom prst="rect"/>
        </p:spPr>
        <p:txBody>
          <a:bodyPr wrap="none" lIns="0" tIns="0" rIns="0" bIns="0"/>
          <a:p>
            <a:pPr>
              <a:lnSpc>
                <a:spcPct val="100000"/>
              </a:lnSpc>
            </a:pPr>
            <a:r>
              <a:rPr lang="en-US" sz="1650" b="1">
                <a:solidFill>
                  <a:srgbClr val="FFFFFF"/>
                </a:solidFill>
                <a:latin typeface="Microsoft YaHei"/>
                <a:ea typeface="Microsoft YaHei"/>
              </a:rPr>
              <a:t>L1</a:t>
            </a:r>
            <a:endParaRPr/>
          </a:p>
        </p:txBody>
      </p:sp>
      <p:sp>
        <p:nvSpPr>
          <p:cNvPr id="942" name="" descr="{&quot;isTemplate&quot;:true,&quot;type&quot;:&quot;text&quot;}"/>
          <p:cNvSpPr txBox="1"/>
          <p:nvPr/>
        </p:nvSpPr>
        <p:spPr>
          <a:xfrm rot="0" flipH="0" flipV="0">
            <a:off x="1162050" y="1905000"/>
            <a:ext cx="857250" cy="209550"/>
          </a:xfrm>
          <a:prstGeom prst="rect"/>
        </p:spPr>
        <p:txBody>
          <a:bodyPr wrap="none" lIns="0" tIns="0" rIns="0" bIns="0"/>
          <a:p>
            <a:pPr>
              <a:lnSpc>
                <a:spcPct val="100000"/>
              </a:lnSpc>
            </a:pPr>
            <a:r>
              <a:rPr lang="zh-CN" sz="1350" b="1">
                <a:solidFill>
                  <a:srgbClr val="FFFFFF"/>
                </a:solidFill>
                <a:latin typeface="Microsoft YaHei"/>
                <a:ea typeface="Microsoft YaHei"/>
              </a:rPr>
              <a:t>主题域分组</a:t>
            </a:r>
            <a:endParaRPr/>
          </a:p>
        </p:txBody>
      </p:sp>
      <p:sp>
        <p:nvSpPr>
          <p:cNvPr id="943" name=""/>
          <p:cNvSpPr/>
          <p:nvPr/>
        </p:nvSpPr>
        <p:spPr>
          <a:xfrm rot="0" flipH="0" flipV="0">
            <a:off x="609600" y="2390775"/>
            <a:ext cx="4191000" cy="590550"/>
          </a:xfrm>
          <a:prstGeom prst="roundRect">
            <a:avLst>
              <a:gd name="adj" fmla="val 6452"/>
            </a:avLst>
          </a:prstGeom>
          <a:solidFill>
            <a:srgbClr val="F8622F"/>
          </a:solidFill>
          <a:ln/>
        </p:spPr>
        <p:txBody>
          <a:bodyPr/>
          <a:p>
            <a:pPr/>
            <a:endParaRPr/>
          </a:p>
        </p:txBody>
      </p:sp>
      <p:sp>
        <p:nvSpPr>
          <p:cNvPr id="944" name="" descr="{&quot;isTemplate&quot;:true,&quot;type&quot;:&quot;text&quot;}"/>
          <p:cNvSpPr txBox="1"/>
          <p:nvPr/>
        </p:nvSpPr>
        <p:spPr>
          <a:xfrm rot="0" flipH="0" flipV="0">
            <a:off x="781050" y="2562225"/>
            <a:ext cx="247650" cy="257175"/>
          </a:xfrm>
          <a:prstGeom prst="rect"/>
        </p:spPr>
        <p:txBody>
          <a:bodyPr wrap="none" lIns="0" tIns="0" rIns="0" bIns="0"/>
          <a:p>
            <a:pPr>
              <a:lnSpc>
                <a:spcPct val="100000"/>
              </a:lnSpc>
            </a:pPr>
            <a:r>
              <a:rPr lang="en-US" sz="1650" b="1">
                <a:solidFill>
                  <a:srgbClr val="FFFFFF"/>
                </a:solidFill>
                <a:latin typeface="Microsoft YaHei"/>
                <a:ea typeface="Microsoft YaHei"/>
              </a:rPr>
              <a:t>L2</a:t>
            </a:r>
            <a:endParaRPr/>
          </a:p>
        </p:txBody>
      </p:sp>
      <p:sp>
        <p:nvSpPr>
          <p:cNvPr id="945" name="" descr="{&quot;isTemplate&quot;:true,&quot;type&quot;:&quot;text&quot;}"/>
          <p:cNvSpPr txBox="1"/>
          <p:nvPr/>
        </p:nvSpPr>
        <p:spPr>
          <a:xfrm rot="0" flipH="0" flipV="0">
            <a:off x="1162050" y="2581275"/>
            <a:ext cx="514350" cy="209550"/>
          </a:xfrm>
          <a:prstGeom prst="rect"/>
        </p:spPr>
        <p:txBody>
          <a:bodyPr wrap="none" lIns="0" tIns="0" rIns="0" bIns="0"/>
          <a:p>
            <a:pPr>
              <a:lnSpc>
                <a:spcPct val="100000"/>
              </a:lnSpc>
            </a:pPr>
            <a:r>
              <a:rPr lang="zh-CN" sz="1350" b="1">
                <a:solidFill>
                  <a:srgbClr val="FFFFFF"/>
                </a:solidFill>
                <a:latin typeface="Microsoft YaHei"/>
                <a:ea typeface="Microsoft YaHei"/>
              </a:rPr>
              <a:t>主题域</a:t>
            </a:r>
            <a:endParaRPr/>
          </a:p>
        </p:txBody>
      </p:sp>
      <p:sp>
        <p:nvSpPr>
          <p:cNvPr id="946" name=""/>
          <p:cNvSpPr/>
          <p:nvPr/>
        </p:nvSpPr>
        <p:spPr>
          <a:xfrm rot="0" flipH="0" flipV="0">
            <a:off x="609600" y="3067050"/>
            <a:ext cx="3619500" cy="590550"/>
          </a:xfrm>
          <a:prstGeom prst="roundRect">
            <a:avLst>
              <a:gd name="adj" fmla="val 6452"/>
            </a:avLst>
          </a:prstGeom>
          <a:solidFill>
            <a:srgbClr val="F87D2F"/>
          </a:solidFill>
          <a:ln/>
        </p:spPr>
        <p:txBody>
          <a:bodyPr/>
          <a:p>
            <a:pPr/>
            <a:endParaRPr/>
          </a:p>
        </p:txBody>
      </p:sp>
      <p:sp>
        <p:nvSpPr>
          <p:cNvPr id="947" name="" descr="{&quot;isTemplate&quot;:true,&quot;type&quot;:&quot;text&quot;}"/>
          <p:cNvSpPr txBox="1"/>
          <p:nvPr/>
        </p:nvSpPr>
        <p:spPr>
          <a:xfrm rot="0" flipH="0" flipV="0">
            <a:off x="781050" y="3238500"/>
            <a:ext cx="247650" cy="257175"/>
          </a:xfrm>
          <a:prstGeom prst="rect"/>
        </p:spPr>
        <p:txBody>
          <a:bodyPr wrap="none" lIns="0" tIns="0" rIns="0" bIns="0"/>
          <a:p>
            <a:pPr>
              <a:lnSpc>
                <a:spcPct val="100000"/>
              </a:lnSpc>
            </a:pPr>
            <a:r>
              <a:rPr lang="en-US" sz="1650" b="1">
                <a:solidFill>
                  <a:srgbClr val="FFFFFF"/>
                </a:solidFill>
                <a:latin typeface="Microsoft YaHei"/>
                <a:ea typeface="Microsoft YaHei"/>
              </a:rPr>
              <a:t>L3</a:t>
            </a:r>
            <a:endParaRPr/>
          </a:p>
        </p:txBody>
      </p:sp>
      <p:sp>
        <p:nvSpPr>
          <p:cNvPr id="948" name="" descr="{&quot;isTemplate&quot;:true,&quot;type&quot;:&quot;text&quot;}"/>
          <p:cNvSpPr txBox="1"/>
          <p:nvPr/>
        </p:nvSpPr>
        <p:spPr>
          <a:xfrm rot="0" flipH="0" flipV="0">
            <a:off x="1162050" y="3257550"/>
            <a:ext cx="685800" cy="209550"/>
          </a:xfrm>
          <a:prstGeom prst="rect"/>
        </p:spPr>
        <p:txBody>
          <a:bodyPr wrap="none" lIns="0" tIns="0" rIns="0" bIns="0"/>
          <a:p>
            <a:pPr>
              <a:lnSpc>
                <a:spcPct val="100000"/>
              </a:lnSpc>
            </a:pPr>
            <a:r>
              <a:rPr lang="zh-CN" sz="1350" b="1">
                <a:solidFill>
                  <a:srgbClr val="FFFFFF"/>
                </a:solidFill>
                <a:latin typeface="Microsoft YaHei"/>
                <a:ea typeface="Microsoft YaHei"/>
              </a:rPr>
              <a:t>业务对象</a:t>
            </a:r>
            <a:endParaRPr/>
          </a:p>
        </p:txBody>
      </p:sp>
      <p:sp>
        <p:nvSpPr>
          <p:cNvPr id="949" name=""/>
          <p:cNvSpPr/>
          <p:nvPr/>
        </p:nvSpPr>
        <p:spPr>
          <a:xfrm rot="0" flipH="0" flipV="0">
            <a:off x="609600" y="3743325"/>
            <a:ext cx="3048000" cy="590550"/>
          </a:xfrm>
          <a:prstGeom prst="roundRect">
            <a:avLst>
              <a:gd name="adj" fmla="val 6452"/>
            </a:avLst>
          </a:prstGeom>
          <a:solidFill>
            <a:srgbClr val="FBA15C"/>
          </a:solidFill>
          <a:ln/>
        </p:spPr>
        <p:txBody>
          <a:bodyPr/>
          <a:p>
            <a:pPr/>
            <a:endParaRPr/>
          </a:p>
        </p:txBody>
      </p:sp>
      <p:sp>
        <p:nvSpPr>
          <p:cNvPr id="950" name="" descr="{&quot;isTemplate&quot;:true,&quot;type&quot;:&quot;text&quot;}"/>
          <p:cNvSpPr txBox="1"/>
          <p:nvPr/>
        </p:nvSpPr>
        <p:spPr>
          <a:xfrm rot="0" flipH="0" flipV="0">
            <a:off x="781050" y="3914775"/>
            <a:ext cx="228600" cy="257175"/>
          </a:xfrm>
          <a:prstGeom prst="rect"/>
        </p:spPr>
        <p:txBody>
          <a:bodyPr wrap="none" lIns="0" tIns="0" rIns="0" bIns="0"/>
          <a:p>
            <a:pPr>
              <a:lnSpc>
                <a:spcPct val="100000"/>
              </a:lnSpc>
            </a:pPr>
            <a:r>
              <a:rPr lang="en-US" sz="1650" b="1">
                <a:solidFill>
                  <a:srgbClr val="3A2000"/>
                </a:solidFill>
                <a:latin typeface="Microsoft YaHei"/>
                <a:ea typeface="Microsoft YaHei"/>
              </a:rPr>
              <a:t>L4</a:t>
            </a:r>
            <a:endParaRPr/>
          </a:p>
        </p:txBody>
      </p:sp>
      <p:sp>
        <p:nvSpPr>
          <p:cNvPr id="951" name="" descr="{&quot;isTemplate&quot;:true,&quot;type&quot;:&quot;text&quot;}"/>
          <p:cNvSpPr txBox="1"/>
          <p:nvPr/>
        </p:nvSpPr>
        <p:spPr>
          <a:xfrm rot="0" flipH="0" flipV="0">
            <a:off x="1143000" y="3933825"/>
            <a:ext cx="962025" cy="209550"/>
          </a:xfrm>
          <a:prstGeom prst="rect"/>
        </p:spPr>
        <p:txBody>
          <a:bodyPr wrap="none" lIns="0" tIns="0" rIns="0" bIns="0"/>
          <a:p>
            <a:pPr>
              <a:lnSpc>
                <a:spcPct val="100000"/>
              </a:lnSpc>
            </a:pPr>
            <a:r>
              <a:rPr lang="zh-CN" sz="1350" b="1">
                <a:solidFill>
                  <a:srgbClr val="3A2000"/>
                </a:solidFill>
                <a:latin typeface="Microsoft YaHei"/>
                <a:ea typeface="Microsoft YaHei"/>
              </a:rPr>
              <a:t>逻辑数据实体</a:t>
            </a:r>
            <a:endParaRPr/>
          </a:p>
        </p:txBody>
      </p:sp>
      <p:sp>
        <p:nvSpPr>
          <p:cNvPr id="952" name=""/>
          <p:cNvSpPr/>
          <p:nvPr/>
        </p:nvSpPr>
        <p:spPr>
          <a:xfrm rot="0" flipH="0" flipV="0">
            <a:off x="609600" y="4419600"/>
            <a:ext cx="2476500" cy="590550"/>
          </a:xfrm>
          <a:prstGeom prst="roundRect">
            <a:avLst>
              <a:gd name="adj" fmla="val 6452"/>
            </a:avLst>
          </a:prstGeom>
          <a:solidFill>
            <a:srgbClr val="FDC69A"/>
          </a:solidFill>
          <a:ln/>
        </p:spPr>
        <p:txBody>
          <a:bodyPr/>
          <a:p>
            <a:pPr/>
            <a:endParaRPr/>
          </a:p>
        </p:txBody>
      </p:sp>
      <p:sp>
        <p:nvSpPr>
          <p:cNvPr id="953" name="" descr="{&quot;isTemplate&quot;:true,&quot;type&quot;:&quot;text&quot;}"/>
          <p:cNvSpPr txBox="1"/>
          <p:nvPr/>
        </p:nvSpPr>
        <p:spPr>
          <a:xfrm rot="0" flipH="0" flipV="0">
            <a:off x="781050" y="4591050"/>
            <a:ext cx="238125" cy="257175"/>
          </a:xfrm>
          <a:prstGeom prst="rect"/>
        </p:spPr>
        <p:txBody>
          <a:bodyPr wrap="none" lIns="0" tIns="0" rIns="0" bIns="0"/>
          <a:p>
            <a:pPr>
              <a:lnSpc>
                <a:spcPct val="100000"/>
              </a:lnSpc>
            </a:pPr>
            <a:r>
              <a:rPr lang="en-US" sz="1650" b="1">
                <a:solidFill>
                  <a:srgbClr val="3A2000"/>
                </a:solidFill>
                <a:latin typeface="Microsoft YaHei"/>
                <a:ea typeface="Microsoft YaHei"/>
              </a:rPr>
              <a:t>L5</a:t>
            </a:r>
            <a:endParaRPr/>
          </a:p>
        </p:txBody>
      </p:sp>
      <p:sp>
        <p:nvSpPr>
          <p:cNvPr id="954" name="" descr="{&quot;isTemplate&quot;:true,&quot;type&quot;:&quot;text&quot;}"/>
          <p:cNvSpPr txBox="1"/>
          <p:nvPr/>
        </p:nvSpPr>
        <p:spPr>
          <a:xfrm rot="0" flipH="0" flipV="0">
            <a:off x="1152525" y="4610100"/>
            <a:ext cx="333375" cy="209550"/>
          </a:xfrm>
          <a:prstGeom prst="rect"/>
        </p:spPr>
        <p:txBody>
          <a:bodyPr wrap="none" lIns="0" tIns="0" rIns="0" bIns="0"/>
          <a:p>
            <a:pPr>
              <a:lnSpc>
                <a:spcPct val="100000"/>
              </a:lnSpc>
            </a:pPr>
            <a:r>
              <a:rPr lang="zh-CN" sz="1350" b="1">
                <a:solidFill>
                  <a:srgbClr val="3A2000"/>
                </a:solidFill>
                <a:latin typeface="Microsoft YaHei"/>
                <a:ea typeface="Microsoft YaHei"/>
              </a:rPr>
              <a:t>属性</a:t>
            </a:r>
            <a:endParaRPr/>
          </a:p>
        </p:txBody>
      </p:sp>
      <p:sp>
        <p:nvSpPr>
          <p:cNvPr id="955" name=""/>
          <p:cNvSpPr/>
          <p:nvPr/>
        </p:nvSpPr>
        <p:spPr>
          <a:xfrm rot="0" flipH="0" flipV="0">
            <a:off x="5619750" y="1381125"/>
            <a:ext cx="6000750" cy="1390650"/>
          </a:xfrm>
          <a:prstGeom prst="roundRect">
            <a:avLst>
              <a:gd name="adj" fmla="val 2740"/>
            </a:avLst>
          </a:prstGeom>
          <a:solidFill>
            <a:srgbClr val="F7F7F8"/>
          </a:solidFill>
          <a:ln/>
        </p:spPr>
        <p:txBody>
          <a:bodyPr/>
          <a:p>
            <a:pPr/>
            <a:endParaRPr/>
          </a:p>
        </p:txBody>
      </p:sp>
      <p:sp>
        <p:nvSpPr>
          <p:cNvPr id="956" name=""/>
          <p:cNvSpPr/>
          <p:nvPr/>
        </p:nvSpPr>
        <p:spPr>
          <a:xfrm rot="0" flipH="0" flipV="0">
            <a:off x="5619750" y="1381125"/>
            <a:ext cx="6000750" cy="1390650"/>
          </a:xfrm>
          <a:custGeom>
            <a:pathLst>
              <a:path w="630" h="146">
                <a:moveTo>
                  <a:pt x="4" y="146"/>
                </a:moveTo>
                <a:cubicBezTo>
                  <a:pt x="2" y="146"/>
                  <a:pt x="0" y="144"/>
                  <a:pt x="0" y="142"/>
                </a:cubicBezTo>
                <a:lnTo>
                  <a:pt x="0" y="4"/>
                </a:lnTo>
                <a:cubicBezTo>
                  <a:pt x="0" y="2"/>
                  <a:pt x="2" y="0"/>
                  <a:pt x="4" y="0"/>
                </a:cubicBezTo>
                <a:lnTo>
                  <a:pt x="4" y="146"/>
                </a:lnTo>
                <a:close/>
              </a:path>
            </a:pathLst>
          </a:custGeom>
          <a:solidFill>
            <a:srgbClr val="FA4F24"/>
          </a:solidFill>
          <a:ln/>
        </p:spPr>
        <p:txBody>
          <a:bodyPr/>
          <a:p>
            <a:pPr/>
            <a:endParaRPr/>
          </a:p>
        </p:txBody>
      </p:sp>
      <p:sp>
        <p:nvSpPr>
          <p:cNvPr id="957" name="" descr="{&quot;isTemplate&quot;:true,&quot;type&quot;:&quot;text&quot;}"/>
          <p:cNvSpPr txBox="1"/>
          <p:nvPr/>
        </p:nvSpPr>
        <p:spPr>
          <a:xfrm rot="0" flipH="0" flipV="0">
            <a:off x="5829300" y="1533525"/>
            <a:ext cx="5543550" cy="209550"/>
          </a:xfrm>
          <a:prstGeom prst="rect"/>
        </p:spPr>
        <p:txBody>
          <a:bodyPr wrap="none" lIns="0" tIns="0" rIns="0" bIns="0"/>
          <a:p>
            <a:pPr>
              <a:lnSpc>
                <a:spcPct val="100000"/>
              </a:lnSpc>
            </a:pPr>
            <a:r>
              <a:rPr lang="zh-CN" sz="1350" b="1">
                <a:solidFill>
                  <a:srgbClr val="0F1423"/>
                </a:solidFill>
                <a:latin typeface="Microsoft YaHei"/>
                <a:ea typeface="Microsoft YaHei"/>
              </a:rPr>
              <a:t>为什么是五层</a:t>
            </a:r>
            <a:endParaRPr/>
          </a:p>
        </p:txBody>
      </p:sp>
      <p:sp>
        <p:nvSpPr>
          <p:cNvPr id="958" name="" descr="{&quot;isTemplate&quot;:true,&quot;type&quot;:&quot;text&quot;}"/>
          <p:cNvSpPr txBox="1"/>
          <p:nvPr/>
        </p:nvSpPr>
        <p:spPr>
          <a:xfrm rot="0" flipH="0" flipV="0">
            <a:off x="5829300" y="1819275"/>
            <a:ext cx="5543550" cy="8001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华为采用「业务管理边界」划分而非「数据自身特征边界」，目的是强化业务部门的数据管理责任。</a:t>
            </a: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从</a:t>
            </a:r>
            <a:r>
              <a:rPr lang="en-US" sz="1125">
                <a:solidFill>
                  <a:srgbClr val="3A4050"/>
                </a:solidFill>
                <a:latin typeface="Microsoft YaHei"/>
                <a:ea typeface="Microsoft YaHei"/>
              </a:rPr>
              <a:t xml:space="preserve"> L1 </a:t>
            </a:r>
            <a:r>
              <a:rPr lang="zh-CN" sz="1125">
                <a:solidFill>
                  <a:srgbClr val="3A4050"/>
                </a:solidFill>
                <a:latin typeface="Microsoft YaHei"/>
                <a:ea typeface="Microsoft YaHei"/>
              </a:rPr>
              <a:t>到</a:t>
            </a:r>
            <a:r>
              <a:rPr lang="en-US" sz="1125">
                <a:solidFill>
                  <a:srgbClr val="3A4050"/>
                </a:solidFill>
                <a:latin typeface="Microsoft YaHei"/>
                <a:ea typeface="Microsoft YaHei"/>
              </a:rPr>
              <a:t xml:space="preserve"> L5 </a:t>
            </a:r>
            <a:r>
              <a:rPr lang="zh-CN" sz="1125">
                <a:solidFill>
                  <a:srgbClr val="3A4050"/>
                </a:solidFill>
                <a:latin typeface="Microsoft YaHei"/>
                <a:ea typeface="Microsoft YaHei"/>
              </a:rPr>
              <a:t>逐层细化，越往下越贴近系统实现——这条线就是「业务语言」翻译成「数据语言」的路由。</a:t>
            </a:r>
            <a:endParaRPr/>
          </a:p>
        </p:txBody>
      </p:sp>
      <p:sp>
        <p:nvSpPr>
          <p:cNvPr id="959" name=""/>
          <p:cNvSpPr/>
          <p:nvPr/>
        </p:nvSpPr>
        <p:spPr>
          <a:xfrm rot="0" flipH="0" flipV="0">
            <a:off x="5619750" y="2895600"/>
            <a:ext cx="6000750" cy="1390650"/>
          </a:xfrm>
          <a:prstGeom prst="roundRect">
            <a:avLst>
              <a:gd name="adj" fmla="val 2740"/>
            </a:avLst>
          </a:prstGeom>
          <a:solidFill>
            <a:srgbClr val="F7F7F8"/>
          </a:solidFill>
          <a:ln/>
        </p:spPr>
        <p:txBody>
          <a:bodyPr/>
          <a:p>
            <a:pPr/>
            <a:endParaRPr/>
          </a:p>
        </p:txBody>
      </p:sp>
      <p:sp>
        <p:nvSpPr>
          <p:cNvPr id="960" name=""/>
          <p:cNvSpPr/>
          <p:nvPr/>
        </p:nvSpPr>
        <p:spPr>
          <a:xfrm rot="0" flipH="0" flipV="0">
            <a:off x="5619750" y="2895600"/>
            <a:ext cx="6000750" cy="1390650"/>
          </a:xfrm>
          <a:custGeom>
            <a:pathLst>
              <a:path w="630" h="146">
                <a:moveTo>
                  <a:pt x="4" y="146"/>
                </a:moveTo>
                <a:cubicBezTo>
                  <a:pt x="2" y="146"/>
                  <a:pt x="0" y="144"/>
                  <a:pt x="0" y="142"/>
                </a:cubicBezTo>
                <a:lnTo>
                  <a:pt x="0" y="4"/>
                </a:lnTo>
                <a:cubicBezTo>
                  <a:pt x="0" y="2"/>
                  <a:pt x="2" y="0"/>
                  <a:pt x="4" y="0"/>
                </a:cubicBezTo>
                <a:lnTo>
                  <a:pt x="4" y="146"/>
                </a:lnTo>
                <a:close/>
              </a:path>
            </a:pathLst>
          </a:custGeom>
          <a:solidFill>
            <a:srgbClr val="F87D2F"/>
          </a:solidFill>
          <a:ln/>
        </p:spPr>
        <p:txBody>
          <a:bodyPr/>
          <a:p>
            <a:pPr/>
            <a:endParaRPr/>
          </a:p>
        </p:txBody>
      </p:sp>
      <p:sp>
        <p:nvSpPr>
          <p:cNvPr id="961" name="" descr="{&quot;isTemplate&quot;:true,&quot;type&quot;:&quot;text&quot;}"/>
          <p:cNvSpPr txBox="1"/>
          <p:nvPr/>
        </p:nvSpPr>
        <p:spPr>
          <a:xfrm rot="0" flipH="0" flipV="0">
            <a:off x="5829300" y="3048000"/>
            <a:ext cx="5543550" cy="209550"/>
          </a:xfrm>
          <a:prstGeom prst="rect"/>
        </p:spPr>
        <p:txBody>
          <a:bodyPr wrap="none" lIns="0" tIns="0" rIns="0" bIns="0"/>
          <a:p>
            <a:pPr>
              <a:lnSpc>
                <a:spcPct val="100000"/>
              </a:lnSpc>
            </a:pPr>
            <a:r>
              <a:rPr lang="en-US" sz="1350" b="1">
                <a:solidFill>
                  <a:srgbClr val="0F1423"/>
                </a:solidFill>
                <a:latin typeface="Microsoft YaHei"/>
                <a:ea typeface="Microsoft YaHei"/>
              </a:rPr>
              <a:t xml:space="preserve">L3 </a:t>
            </a:r>
            <a:r>
              <a:rPr lang="zh-CN" sz="1350" b="1">
                <a:solidFill>
                  <a:srgbClr val="0F1423"/>
                </a:solidFill>
                <a:latin typeface="Microsoft YaHei"/>
                <a:ea typeface="Microsoft YaHei"/>
              </a:rPr>
              <a:t>为什么是核心</a:t>
            </a:r>
            <a:endParaRPr/>
          </a:p>
        </p:txBody>
      </p:sp>
      <p:sp>
        <p:nvSpPr>
          <p:cNvPr id="962" name="" descr="{&quot;isTemplate&quot;:true,&quot;type&quot;:&quot;text&quot;}"/>
          <p:cNvSpPr txBox="1"/>
          <p:nvPr/>
        </p:nvSpPr>
        <p:spPr>
          <a:xfrm rot="0" flipH="0" flipV="0">
            <a:off x="5829300" y="3333750"/>
            <a:ext cx="5543550" cy="8001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业务对象位于正中间：往上承接业务（业务架构识别的对象），往下生成模型（逻辑实体与属性）。</a:t>
            </a: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它既是信息架构的管理重心，也是数据架构与应用架构的对接面。抓住</a:t>
            </a:r>
            <a:r>
              <a:rPr lang="en-US" sz="1125">
                <a:solidFill>
                  <a:srgbClr val="3A4050"/>
                </a:solidFill>
                <a:latin typeface="Microsoft YaHei"/>
                <a:ea typeface="Microsoft YaHei"/>
              </a:rPr>
              <a:t xml:space="preserve"> L3</a:t>
            </a:r>
            <a:r>
              <a:rPr lang="zh-CN" sz="1125">
                <a:solidFill>
                  <a:srgbClr val="3A4050"/>
                </a:solidFill>
                <a:latin typeface="Microsoft YaHei"/>
                <a:ea typeface="Microsoft YaHei"/>
              </a:rPr>
              <a:t>，就抓住了整条链。</a:t>
            </a:r>
            <a:endParaRPr/>
          </a:p>
        </p:txBody>
      </p:sp>
      <p:sp>
        <p:nvSpPr>
          <p:cNvPr id="963" name=""/>
          <p:cNvSpPr/>
          <p:nvPr/>
        </p:nvSpPr>
        <p:spPr>
          <a:xfrm rot="0" flipH="0" flipV="0">
            <a:off x="5581650" y="4410075"/>
            <a:ext cx="6000750" cy="1171575"/>
          </a:xfrm>
          <a:prstGeom prst="roundRect">
            <a:avLst>
              <a:gd name="adj" fmla="val 3252"/>
            </a:avLst>
          </a:prstGeom>
          <a:solidFill>
            <a:srgbClr val="FA4F24">
              <a:alpha val="6000"/>
            </a:srgbClr>
          </a:solidFill>
          <a:ln/>
        </p:spPr>
        <p:txBody>
          <a:bodyPr/>
          <a:p>
            <a:pPr/>
            <a:endParaRPr/>
          </a:p>
        </p:txBody>
      </p:sp>
      <p:sp>
        <p:nvSpPr>
          <p:cNvPr id="964" name="" descr="{&quot;isTemplate&quot;:true,&quot;type&quot;:&quot;text&quot;}"/>
          <p:cNvSpPr txBox="1"/>
          <p:nvPr/>
        </p:nvSpPr>
        <p:spPr>
          <a:xfrm rot="0" flipH="0" flipV="0">
            <a:off x="5791200" y="4600575"/>
            <a:ext cx="5581650" cy="190500"/>
          </a:xfrm>
          <a:prstGeom prst="rect"/>
        </p:spPr>
        <p:txBody>
          <a:bodyPr wrap="none" lIns="0" tIns="0" rIns="0" bIns="0"/>
          <a:p>
            <a:pPr>
              <a:lnSpc>
                <a:spcPct val="100000"/>
              </a:lnSpc>
            </a:pPr>
            <a:r>
              <a:rPr lang="en-US" sz="1200" b="1">
                <a:solidFill>
                  <a:srgbClr val="C43A17"/>
                </a:solidFill>
                <a:latin typeface="Microsoft YaHei"/>
                <a:ea typeface="Microsoft YaHei"/>
              </a:rPr>
              <a:t xml:space="preserve">★ </a:t>
            </a:r>
            <a:r>
              <a:rPr lang="zh-CN" sz="1200" b="1">
                <a:solidFill>
                  <a:srgbClr val="C43A17"/>
                </a:solidFill>
                <a:latin typeface="Microsoft YaHei"/>
                <a:ea typeface="Microsoft YaHei"/>
              </a:rPr>
              <a:t>全册主线</a:t>
            </a:r>
            <a:endParaRPr/>
          </a:p>
        </p:txBody>
      </p:sp>
      <p:sp>
        <p:nvSpPr>
          <p:cNvPr id="965" name="" descr="{&quot;isTemplate&quot;:true,&quot;type&quot;:&quot;text&quot;}"/>
          <p:cNvSpPr txBox="1"/>
          <p:nvPr/>
        </p:nvSpPr>
        <p:spPr>
          <a:xfrm rot="0" flipH="0" flipV="0">
            <a:off x="5791200" y="4867275"/>
            <a:ext cx="5581650" cy="5334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资产目录决定了数据治理的边界和对象，也让数据模型「归位」。</a:t>
            </a: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先有目录这张地图，后续的标准、模型、分布才有挂载点。</a:t>
            </a:r>
            <a:endParaRPr/>
          </a:p>
        </p:txBody>
      </p:sp>
      <p:sp>
        <p:nvSpPr>
          <p:cNvPr id="966" name=""/>
          <p:cNvSpPr/>
          <p:nvPr/>
        </p:nvSpPr>
        <p:spPr>
          <a:xfrm rot="0" flipH="0" flipV="0">
            <a:off x="609600" y="5943600"/>
            <a:ext cx="133350" cy="133350"/>
          </a:xfrm>
          <a:prstGeom prst="rect">
            <a:avLst/>
          </a:prstGeom>
          <a:solidFill>
            <a:srgbClr val="FA4F24"/>
          </a:solidFill>
          <a:ln/>
        </p:spPr>
        <p:txBody>
          <a:bodyPr/>
          <a:p>
            <a:pPr/>
            <a:endParaRPr/>
          </a:p>
        </p:txBody>
      </p:sp>
      <p:sp>
        <p:nvSpPr>
          <p:cNvPr id="967"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968"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05 / 30</a:t>
            </a:r>
            <a:endParaRPr/>
          </a:p>
        </p:txBody>
      </p:sp>
      <p:sp>
        <p:nvSpPr>
          <p:cNvPr id="969" name="" descr="{&quot;isTemplate&quot;:true,&quot;type&quot;:&quot;text&quot;}"/>
          <p:cNvSpPr txBox="1"/>
          <p:nvPr/>
        </p:nvSpPr>
        <p:spPr>
          <a:xfrm rot="0" flipH="0" flipV="0">
            <a:off x="3857625" y="1933575"/>
            <a:ext cx="1343025" cy="152400"/>
          </a:xfrm>
          <a:prstGeom prst="rect"/>
        </p:spPr>
        <p:txBody>
          <a:bodyPr wrap="none" lIns="0" tIns="0" rIns="0" bIns="0"/>
          <a:p>
            <a:pPr>
              <a:lnSpc>
                <a:spcPct val="100000"/>
              </a:lnSpc>
            </a:pPr>
            <a:r>
              <a:rPr lang="zh-CN" sz="975">
                <a:solidFill>
                  <a:srgbClr val="FFFFFF">
                    <a:alpha val="85000"/>
                  </a:srgbClr>
                </a:solidFill>
                <a:latin typeface="Microsoft YaHei"/>
                <a:ea typeface="Microsoft YaHei"/>
              </a:rPr>
              <a:t>公司数据</a:t>
            </a:r>
            <a:r>
              <a:rPr lang="en-US" sz="975">
                <a:solidFill>
                  <a:srgbClr val="FFFFFF">
                    <a:alpha val="85000"/>
                  </a:srgbClr>
                </a:solidFill>
                <a:latin typeface="Microsoft YaHei"/>
                <a:ea typeface="Microsoft YaHei"/>
              </a:rPr>
              <a:t xml:space="preserve"> · </a:t>
            </a:r>
            <a:r>
              <a:rPr lang="zh-CN" sz="975">
                <a:solidFill>
                  <a:srgbClr val="FFFFFF">
                    <a:alpha val="85000"/>
                  </a:srgbClr>
                </a:solidFill>
                <a:latin typeface="Microsoft YaHei"/>
                <a:ea typeface="Microsoft YaHei"/>
              </a:rPr>
              <a:t>最高层级分类</a:t>
            </a:r>
            <a:endParaRPr/>
          </a:p>
        </p:txBody>
      </p:sp>
      <p:sp>
        <p:nvSpPr>
          <p:cNvPr id="970" name="" descr="{&quot;isTemplate&quot;:true,&quot;type&quot;:&quot;text&quot;}"/>
          <p:cNvSpPr txBox="1"/>
          <p:nvPr/>
        </p:nvSpPr>
        <p:spPr>
          <a:xfrm rot="0" flipH="0" flipV="0">
            <a:off x="3286125" y="2609850"/>
            <a:ext cx="1343025" cy="152400"/>
          </a:xfrm>
          <a:prstGeom prst="rect"/>
        </p:spPr>
        <p:txBody>
          <a:bodyPr wrap="none" lIns="0" tIns="0" rIns="0" bIns="0"/>
          <a:p>
            <a:pPr>
              <a:lnSpc>
                <a:spcPct val="100000"/>
              </a:lnSpc>
            </a:pPr>
            <a:r>
              <a:rPr lang="zh-CN" sz="975">
                <a:solidFill>
                  <a:srgbClr val="FFFFFF">
                    <a:alpha val="85000"/>
                  </a:srgbClr>
                </a:solidFill>
                <a:latin typeface="Microsoft YaHei"/>
                <a:ea typeface="Microsoft YaHei"/>
              </a:rPr>
              <a:t>领域数据</a:t>
            </a:r>
            <a:r>
              <a:rPr lang="en-US" sz="975">
                <a:solidFill>
                  <a:srgbClr val="FFFFFF">
                    <a:alpha val="85000"/>
                  </a:srgbClr>
                </a:solidFill>
                <a:latin typeface="Microsoft YaHei"/>
                <a:ea typeface="Microsoft YaHei"/>
              </a:rPr>
              <a:t xml:space="preserve"> · </a:t>
            </a:r>
            <a:r>
              <a:rPr lang="zh-CN" sz="975">
                <a:solidFill>
                  <a:srgbClr val="FFFFFF">
                    <a:alpha val="85000"/>
                  </a:srgbClr>
                </a:solidFill>
                <a:latin typeface="Microsoft YaHei"/>
                <a:ea typeface="Microsoft YaHei"/>
              </a:rPr>
              <a:t>业务管理边界</a:t>
            </a:r>
            <a:endParaRPr/>
          </a:p>
        </p:txBody>
      </p:sp>
      <p:sp>
        <p:nvSpPr>
          <p:cNvPr id="971" name="" descr="{&quot;isTemplate&quot;:true,&quot;type&quot;:&quot;text&quot;}"/>
          <p:cNvSpPr txBox="1"/>
          <p:nvPr/>
        </p:nvSpPr>
        <p:spPr>
          <a:xfrm rot="0" flipH="0" flipV="0">
            <a:off x="2657475" y="3286125"/>
            <a:ext cx="1400175" cy="152400"/>
          </a:xfrm>
          <a:prstGeom prst="rect"/>
        </p:spPr>
        <p:txBody>
          <a:bodyPr wrap="none" lIns="0" tIns="0" rIns="0" bIns="0"/>
          <a:p>
            <a:pPr>
              <a:lnSpc>
                <a:spcPct val="100000"/>
              </a:lnSpc>
            </a:pPr>
            <a:r>
              <a:rPr lang="zh-CN" sz="975">
                <a:solidFill>
                  <a:srgbClr val="FFFFFF">
                    <a:alpha val="85000"/>
                  </a:srgbClr>
                </a:solidFill>
                <a:latin typeface="Microsoft YaHei"/>
                <a:ea typeface="Microsoft YaHei"/>
              </a:rPr>
              <a:t>核心层</a:t>
            </a:r>
            <a:r>
              <a:rPr lang="en-US" sz="975">
                <a:solidFill>
                  <a:srgbClr val="FFFFFF">
                    <a:alpha val="85000"/>
                  </a:srgbClr>
                </a:solidFill>
                <a:latin typeface="Microsoft YaHei"/>
                <a:ea typeface="Microsoft YaHei"/>
              </a:rPr>
              <a:t xml:space="preserve"> · </a:t>
            </a:r>
            <a:r>
              <a:rPr lang="zh-CN" sz="975">
                <a:solidFill>
                  <a:srgbClr val="FFFFFF">
                    <a:alpha val="85000"/>
                  </a:srgbClr>
                </a:solidFill>
                <a:latin typeface="Microsoft YaHei"/>
                <a:ea typeface="Microsoft YaHei"/>
              </a:rPr>
              <a:t>与</a:t>
            </a:r>
            <a:r>
              <a:rPr lang="en-US" sz="975">
                <a:solidFill>
                  <a:srgbClr val="FFFFFF">
                    <a:alpha val="85000"/>
                  </a:srgbClr>
                </a:solidFill>
                <a:latin typeface="Microsoft YaHei"/>
                <a:ea typeface="Microsoft YaHei"/>
              </a:rPr>
              <a:t xml:space="preserve"> IT </a:t>
            </a:r>
            <a:r>
              <a:rPr lang="zh-CN" sz="975">
                <a:solidFill>
                  <a:srgbClr val="FFFFFF">
                    <a:alpha val="85000"/>
                  </a:srgbClr>
                </a:solidFill>
                <a:latin typeface="Microsoft YaHei"/>
                <a:ea typeface="Microsoft YaHei"/>
              </a:rPr>
              <a:t>集成的接口</a:t>
            </a:r>
            <a:endParaRPr/>
          </a:p>
        </p:txBody>
      </p:sp>
      <p:sp>
        <p:nvSpPr>
          <p:cNvPr id="972" name="" descr="{&quot;isTemplate&quot;:true,&quot;type&quot;:&quot;text&quot;}"/>
          <p:cNvSpPr txBox="1"/>
          <p:nvPr/>
        </p:nvSpPr>
        <p:spPr>
          <a:xfrm rot="0" flipH="0" flipV="0">
            <a:off x="2238375" y="3962400"/>
            <a:ext cx="1247775" cy="152400"/>
          </a:xfrm>
          <a:prstGeom prst="rect"/>
        </p:spPr>
        <p:txBody>
          <a:bodyPr wrap="none" lIns="0" tIns="0" rIns="0" bIns="0"/>
          <a:p>
            <a:pPr>
              <a:lnSpc>
                <a:spcPct val="100000"/>
              </a:lnSpc>
            </a:pPr>
            <a:r>
              <a:rPr lang="zh-CN" sz="975">
                <a:solidFill>
                  <a:srgbClr val="3A2000">
                    <a:alpha val="85000"/>
                  </a:srgbClr>
                </a:solidFill>
                <a:latin typeface="Microsoft YaHei"/>
                <a:ea typeface="Microsoft YaHei"/>
              </a:rPr>
              <a:t>数据管家</a:t>
            </a:r>
            <a:r>
              <a:rPr lang="en-US" sz="975">
                <a:solidFill>
                  <a:srgbClr val="3A2000">
                    <a:alpha val="85000"/>
                  </a:srgbClr>
                </a:solidFill>
                <a:latin typeface="Microsoft YaHei"/>
                <a:ea typeface="Microsoft YaHei"/>
              </a:rPr>
              <a:t xml:space="preserve"> · </a:t>
            </a:r>
            <a:r>
              <a:rPr lang="zh-CN" sz="975">
                <a:solidFill>
                  <a:srgbClr val="3A2000">
                    <a:alpha val="85000"/>
                  </a:srgbClr>
                </a:solidFill>
                <a:latin typeface="Microsoft YaHei"/>
                <a:ea typeface="Microsoft YaHei"/>
              </a:rPr>
              <a:t>业务规则承载</a:t>
            </a:r>
            <a:endParaRPr/>
          </a:p>
        </p:txBody>
      </p:sp>
      <p:sp>
        <p:nvSpPr>
          <p:cNvPr id="973" name="" descr="{&quot;isTemplate&quot;:true,&quot;type&quot;:&quot;text&quot;}"/>
          <p:cNvSpPr txBox="1"/>
          <p:nvPr/>
        </p:nvSpPr>
        <p:spPr>
          <a:xfrm rot="0" flipH="0" flipV="0">
            <a:off x="1619250" y="4638675"/>
            <a:ext cx="1295400" cy="152400"/>
          </a:xfrm>
          <a:prstGeom prst="rect"/>
        </p:spPr>
        <p:txBody>
          <a:bodyPr wrap="none" lIns="0" tIns="0" rIns="0" bIns="0"/>
          <a:p>
            <a:pPr>
              <a:lnSpc>
                <a:spcPct val="100000"/>
              </a:lnSpc>
            </a:pPr>
            <a:r>
              <a:rPr lang="zh-CN" sz="975">
                <a:solidFill>
                  <a:srgbClr val="3A2000">
                    <a:alpha val="85000"/>
                  </a:srgbClr>
                </a:solidFill>
                <a:latin typeface="Microsoft YaHei"/>
                <a:ea typeface="Microsoft YaHei"/>
              </a:rPr>
              <a:t>数据管家</a:t>
            </a:r>
            <a:r>
              <a:rPr lang="en-US" sz="975">
                <a:solidFill>
                  <a:srgbClr val="3A2000">
                    <a:alpha val="85000"/>
                  </a:srgbClr>
                </a:solidFill>
                <a:latin typeface="Microsoft YaHei"/>
                <a:ea typeface="Microsoft YaHei"/>
              </a:rPr>
              <a:t xml:space="preserve"> · </a:t>
            </a:r>
            <a:r>
              <a:rPr lang="zh-CN" sz="975">
                <a:solidFill>
                  <a:srgbClr val="3A2000">
                    <a:alpha val="85000"/>
                  </a:srgbClr>
                </a:solidFill>
                <a:latin typeface="Microsoft YaHei"/>
                <a:ea typeface="Microsoft YaHei"/>
              </a:rPr>
              <a:t>最小管理单元</a:t>
            </a:r>
            <a:endParaRPr/>
          </a:p>
        </p:txBody>
      </p:sp>
    </p:spTree>
  </p:cSld>
</p:sld>
</file>

<file path=ppt/slides/slide6.xml><?xml version="1.0" encoding="utf-8"?>
<p:sld xmlns:p="http://schemas.openxmlformats.org/presentationml/2006/main" xmlns:a="http://schemas.openxmlformats.org/drawingml/2006/main">
  <p:cSld>
    <p:spTree>
      <p:nvGrpSpPr>
        <p:cNvPr id="974" name=""/>
        <p:cNvGrpSpPr/>
        <p:nvPr/>
      </p:nvGrpSpPr>
      <p:grpSpPr>
        <a:xfrm>
          <a:off x="0" y="0"/>
          <a:ext cx="0" cy="0"/>
          <a:chOff x="0" y="0"/>
          <a:chExt cx="0" cy="0"/>
        </a:xfrm>
      </p:grpSpPr>
      <p:sp>
        <p:nvSpPr>
          <p:cNvPr id="975" name=""/>
          <p:cNvSpPr/>
          <p:nvPr/>
        </p:nvSpPr>
        <p:spPr>
          <a:xfrm rot="0" flipH="0" flipV="0">
            <a:off x="0" y="0"/>
            <a:ext cx="12192000" cy="6858000"/>
          </a:xfrm>
          <a:prstGeom prst="rect">
            <a:avLst/>
          </a:prstGeom>
          <a:solidFill>
            <a:srgbClr val="FFFFFF"/>
          </a:solidFill>
          <a:ln/>
        </p:spPr>
        <p:txBody>
          <a:bodyPr/>
          <a:p>
            <a:pPr/>
            <a:endParaRPr/>
          </a:p>
        </p:txBody>
      </p:sp>
      <p:sp>
        <p:nvSpPr>
          <p:cNvPr id="976"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五条信息架构原则，建立企业层面的</a:t>
            </a:r>
            <a:r>
              <a:rPr lang="zh-CN" sz="2400" b="1">
                <a:solidFill>
                  <a:srgbClr val="FA4F24"/>
                </a:solidFill>
                <a:latin typeface="Microsoft YaHei"/>
                <a:ea typeface="Microsoft YaHei"/>
              </a:rPr>
              <a:t>共同行为准则</a:t>
            </a:r>
            <a:endParaRPr/>
          </a:p>
        </p:txBody>
      </p:sp>
      <p:sp>
        <p:nvSpPr>
          <p:cNvPr id="977"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目标是「数据同源一致」——</a:t>
            </a:r>
            <a:r>
              <a:rPr lang="en-US" sz="1500">
                <a:solidFill>
                  <a:srgbClr val="8A8F99"/>
                </a:solidFill>
                <a:latin typeface="Microsoft YaHei"/>
                <a:ea typeface="Microsoft YaHei"/>
              </a:rPr>
              <a:t xml:space="preserve"> </a:t>
            </a:r>
            <a:r>
              <a:rPr lang="zh-CN" sz="1500">
                <a:solidFill>
                  <a:srgbClr val="8A8F99"/>
                </a:solidFill>
                <a:latin typeface="Microsoft YaHei"/>
                <a:ea typeface="Microsoft YaHei"/>
              </a:rPr>
              <a:t>原则一旦确立，就由架构治理组织强制执行，而非部门自行约定</a:t>
            </a:r>
            <a:endParaRPr/>
          </a:p>
        </p:txBody>
      </p:sp>
      <p:sp>
        <p:nvSpPr>
          <p:cNvPr id="978" name=""/>
          <p:cNvSpPr/>
          <p:nvPr/>
        </p:nvSpPr>
        <p:spPr>
          <a:xfrm rot="0" flipH="0" flipV="0">
            <a:off x="609600" y="1143000"/>
            <a:ext cx="10972800" cy="9525"/>
          </a:xfrm>
          <a:prstGeom prst="rect">
            <a:avLst/>
          </a:prstGeom>
          <a:solidFill>
            <a:srgbClr val="E8E8E8"/>
          </a:solidFill>
          <a:ln/>
        </p:spPr>
        <p:txBody>
          <a:bodyPr/>
          <a:p>
            <a:pPr/>
            <a:endParaRPr/>
          </a:p>
        </p:txBody>
      </p:sp>
      <p:sp>
        <p:nvSpPr>
          <p:cNvPr id="979" name=""/>
          <p:cNvSpPr/>
          <p:nvPr/>
        </p:nvSpPr>
        <p:spPr>
          <a:xfrm rot="0" flipH="0" flipV="0">
            <a:off x="609600" y="1438275"/>
            <a:ext cx="3552825" cy="2209800"/>
          </a:xfrm>
          <a:prstGeom prst="roundRect">
            <a:avLst>
              <a:gd name="adj" fmla="val 1724"/>
            </a:avLst>
          </a:prstGeom>
          <a:solidFill>
            <a:srgbClr val="F7F7F8"/>
          </a:solidFill>
          <a:ln/>
        </p:spPr>
        <p:txBody>
          <a:bodyPr/>
          <a:p>
            <a:pPr/>
            <a:endParaRPr/>
          </a:p>
        </p:txBody>
      </p:sp>
      <p:sp>
        <p:nvSpPr>
          <p:cNvPr id="980" name=""/>
          <p:cNvSpPr/>
          <p:nvPr/>
        </p:nvSpPr>
        <p:spPr>
          <a:xfrm rot="0" flipH="0" flipV="0">
            <a:off x="609600" y="1438275"/>
            <a:ext cx="3552825" cy="2209800"/>
          </a:xfrm>
          <a:custGeom>
            <a:pathLst>
              <a:path w="373" h="232">
                <a:moveTo>
                  <a:pt x="369" y="0"/>
                </a:moveTo>
                <a:cubicBezTo>
                  <a:pt x="371" y="0"/>
                  <a:pt x="373" y="2"/>
                  <a:pt x="373" y="4"/>
                </a:cubicBezTo>
                <a:lnTo>
                  <a:pt x="0" y="4"/>
                </a:lnTo>
                <a:cubicBezTo>
                  <a:pt x="0" y="2"/>
                  <a:pt x="2" y="0"/>
                  <a:pt x="4" y="0"/>
                </a:cubicBezTo>
                <a:lnTo>
                  <a:pt x="369" y="0"/>
                </a:lnTo>
                <a:close/>
              </a:path>
            </a:pathLst>
          </a:custGeom>
          <a:solidFill>
            <a:srgbClr val="FA4F24"/>
          </a:solidFill>
          <a:ln/>
        </p:spPr>
        <p:txBody>
          <a:bodyPr/>
          <a:p>
            <a:pPr/>
            <a:endParaRPr/>
          </a:p>
        </p:txBody>
      </p:sp>
      <p:sp>
        <p:nvSpPr>
          <p:cNvPr id="981" name="" descr="{&quot;isTemplate&quot;:true,&quot;type&quot;:&quot;text&quot;}"/>
          <p:cNvSpPr txBox="1"/>
          <p:nvPr/>
        </p:nvSpPr>
        <p:spPr>
          <a:xfrm rot="0" flipH="0" flipV="0">
            <a:off x="819150" y="1628775"/>
            <a:ext cx="457200" cy="190500"/>
          </a:xfrm>
          <a:prstGeom prst="rect"/>
        </p:spPr>
        <p:txBody>
          <a:bodyPr wrap="none" lIns="0" tIns="0" rIns="0" bIns="0"/>
          <a:p>
            <a:pPr>
              <a:lnSpc>
                <a:spcPct val="100000"/>
              </a:lnSpc>
            </a:pPr>
            <a:r>
              <a:rPr lang="zh-CN" sz="1200" b="1">
                <a:solidFill>
                  <a:srgbClr val="FA4F24"/>
                </a:solidFill>
                <a:latin typeface="Microsoft YaHei"/>
                <a:ea typeface="Microsoft YaHei"/>
              </a:rPr>
              <a:t>原则一</a:t>
            </a:r>
            <a:endParaRPr/>
          </a:p>
        </p:txBody>
      </p:sp>
      <p:sp>
        <p:nvSpPr>
          <p:cNvPr id="982" name="" descr="{&quot;isTemplate&quot;:true,&quot;type&quot;:&quot;text&quot;}"/>
          <p:cNvSpPr txBox="1"/>
          <p:nvPr/>
        </p:nvSpPr>
        <p:spPr>
          <a:xfrm rot="0" flipH="0" flipV="0">
            <a:off x="3495675" y="1657350"/>
            <a:ext cx="457200" cy="133350"/>
          </a:xfrm>
          <a:prstGeom prst="rect"/>
        </p:spPr>
        <p:txBody>
          <a:bodyPr wrap="none" lIns="0" tIns="0" rIns="0" bIns="0"/>
          <a:p>
            <a:pPr>
              <a:lnSpc>
                <a:spcPct val="100000"/>
              </a:lnSpc>
            </a:pPr>
            <a:r>
              <a:rPr lang="en-US" sz="825" spc="75">
                <a:solidFill>
                  <a:srgbClr val="B8BDC7"/>
                </a:solidFill>
                <a:latin typeface="Microsoft YaHei"/>
                <a:ea typeface="Microsoft YaHei"/>
              </a:rPr>
              <a:t>OWNER</a:t>
            </a:r>
            <a:endParaRPr/>
          </a:p>
        </p:txBody>
      </p:sp>
      <p:sp>
        <p:nvSpPr>
          <p:cNvPr id="983" name="" descr="{&quot;isTemplate&quot;:true,&quot;type&quot;:&quot;text&quot;}"/>
          <p:cNvSpPr txBox="1"/>
          <p:nvPr/>
        </p:nvSpPr>
        <p:spPr>
          <a:xfrm rot="0" flipH="0" flipV="0">
            <a:off x="819150" y="1933575"/>
            <a:ext cx="3133725" cy="304800"/>
          </a:xfrm>
          <a:prstGeom prst="rect"/>
        </p:spPr>
        <p:txBody>
          <a:bodyPr wrap="none" lIns="0" tIns="0" rIns="0" bIns="0"/>
          <a:p>
            <a:pPr>
              <a:lnSpc>
                <a:spcPct val="140000"/>
              </a:lnSpc>
            </a:pPr>
            <a:r>
              <a:rPr lang="zh-CN" sz="1425" b="1">
                <a:solidFill>
                  <a:srgbClr val="0F1423"/>
                </a:solidFill>
                <a:latin typeface="Microsoft YaHei"/>
                <a:ea typeface="Microsoft YaHei"/>
              </a:rPr>
              <a:t>数据按对象管理，明确数据</a:t>
            </a:r>
            <a:r>
              <a:rPr lang="en-US" sz="1425" b="1">
                <a:solidFill>
                  <a:srgbClr val="0F1423"/>
                </a:solidFill>
                <a:latin typeface="Microsoft YaHei"/>
                <a:ea typeface="Microsoft YaHei"/>
              </a:rPr>
              <a:t>Owner</a:t>
            </a:r>
            <a:endParaRPr/>
          </a:p>
        </p:txBody>
      </p:sp>
      <p:sp>
        <p:nvSpPr>
          <p:cNvPr id="984" name="" descr="{&quot;isTemplate&quot;:true,&quot;type&quot;:&quot;text&quot;}"/>
          <p:cNvSpPr txBox="1"/>
          <p:nvPr/>
        </p:nvSpPr>
        <p:spPr>
          <a:xfrm rot="0" flipH="0" flipV="0">
            <a:off x="819150" y="2352675"/>
            <a:ext cx="3133725" cy="10668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越重要的数据流经环节越多，不应以</a:t>
            </a:r>
            <a:r>
              <a:rPr lang="en-US" sz="1125">
                <a:solidFill>
                  <a:srgbClr val="3A4050"/>
                </a:solidFill>
                <a:latin typeface="Microsoft YaHei"/>
                <a:ea typeface="Microsoft YaHei"/>
              </a:rPr>
              <a:t xml:space="preserve"> IT </a:t>
            </a:r>
            <a:r>
              <a:rPr lang="zh-CN" sz="1125">
                <a:solidFill>
                  <a:srgbClr val="3A4050"/>
                </a:solidFill>
                <a:latin typeface="Microsoft YaHei"/>
                <a:ea typeface="Microsoft YaHei"/>
              </a:rPr>
              <a:t>系统或流程边界管数据，而应从数据本身出发按对象做全生命周期管理。每个数据必须有唯一的业务责任主体。</a:t>
            </a:r>
            <a:endParaRPr/>
          </a:p>
        </p:txBody>
      </p:sp>
      <p:sp>
        <p:nvSpPr>
          <p:cNvPr id="985" name=""/>
          <p:cNvSpPr/>
          <p:nvPr/>
        </p:nvSpPr>
        <p:spPr>
          <a:xfrm rot="0" flipH="0" flipV="0">
            <a:off x="4314825" y="1438275"/>
            <a:ext cx="3562350" cy="2209800"/>
          </a:xfrm>
          <a:prstGeom prst="roundRect">
            <a:avLst>
              <a:gd name="adj" fmla="val 1724"/>
            </a:avLst>
          </a:prstGeom>
          <a:solidFill>
            <a:srgbClr val="F7F7F8"/>
          </a:solidFill>
          <a:ln/>
        </p:spPr>
        <p:txBody>
          <a:bodyPr/>
          <a:p>
            <a:pPr/>
            <a:endParaRPr/>
          </a:p>
        </p:txBody>
      </p:sp>
      <p:sp>
        <p:nvSpPr>
          <p:cNvPr id="986" name=""/>
          <p:cNvSpPr/>
          <p:nvPr/>
        </p:nvSpPr>
        <p:spPr>
          <a:xfrm rot="0" flipH="0" flipV="0">
            <a:off x="4314825" y="1438275"/>
            <a:ext cx="3562350" cy="2209800"/>
          </a:xfrm>
          <a:custGeom>
            <a:pathLst>
              <a:path w="374" h="232">
                <a:moveTo>
                  <a:pt x="370" y="0"/>
                </a:moveTo>
                <a:cubicBezTo>
                  <a:pt x="372" y="0"/>
                  <a:pt x="374" y="2"/>
                  <a:pt x="374" y="4"/>
                </a:cubicBezTo>
                <a:lnTo>
                  <a:pt x="0" y="4"/>
                </a:lnTo>
                <a:cubicBezTo>
                  <a:pt x="0" y="2"/>
                  <a:pt x="2" y="0"/>
                  <a:pt x="4" y="0"/>
                </a:cubicBezTo>
                <a:lnTo>
                  <a:pt x="370" y="0"/>
                </a:lnTo>
                <a:close/>
              </a:path>
            </a:pathLst>
          </a:custGeom>
          <a:solidFill>
            <a:srgbClr val="FA4F24"/>
          </a:solidFill>
          <a:ln/>
        </p:spPr>
        <p:txBody>
          <a:bodyPr/>
          <a:p>
            <a:pPr/>
            <a:endParaRPr/>
          </a:p>
        </p:txBody>
      </p:sp>
      <p:sp>
        <p:nvSpPr>
          <p:cNvPr id="987" name="" descr="{&quot;isTemplate&quot;:true,&quot;type&quot;:&quot;text&quot;}"/>
          <p:cNvSpPr txBox="1"/>
          <p:nvPr/>
        </p:nvSpPr>
        <p:spPr>
          <a:xfrm rot="0" flipH="0" flipV="0">
            <a:off x="4524375" y="1628775"/>
            <a:ext cx="457200" cy="190500"/>
          </a:xfrm>
          <a:prstGeom prst="rect"/>
        </p:spPr>
        <p:txBody>
          <a:bodyPr wrap="none" lIns="0" tIns="0" rIns="0" bIns="0"/>
          <a:p>
            <a:pPr>
              <a:lnSpc>
                <a:spcPct val="100000"/>
              </a:lnSpc>
            </a:pPr>
            <a:r>
              <a:rPr lang="zh-CN" sz="1200" b="1">
                <a:solidFill>
                  <a:srgbClr val="FA4F24"/>
                </a:solidFill>
                <a:latin typeface="Microsoft YaHei"/>
                <a:ea typeface="Microsoft YaHei"/>
              </a:rPr>
              <a:t>原则二</a:t>
            </a:r>
            <a:endParaRPr/>
          </a:p>
        </p:txBody>
      </p:sp>
      <p:sp>
        <p:nvSpPr>
          <p:cNvPr id="988" name="" descr="{&quot;isTemplate&quot;:true,&quot;type&quot;:&quot;text&quot;}"/>
          <p:cNvSpPr txBox="1"/>
          <p:nvPr/>
        </p:nvSpPr>
        <p:spPr>
          <a:xfrm rot="0" flipH="0" flipV="0">
            <a:off x="6953250" y="1657350"/>
            <a:ext cx="714375" cy="133350"/>
          </a:xfrm>
          <a:prstGeom prst="rect"/>
        </p:spPr>
        <p:txBody>
          <a:bodyPr wrap="none" lIns="0" tIns="0" rIns="0" bIns="0"/>
          <a:p>
            <a:pPr>
              <a:lnSpc>
                <a:spcPct val="100000"/>
              </a:lnSpc>
            </a:pPr>
            <a:r>
              <a:rPr lang="en-US" sz="825" spc="75">
                <a:solidFill>
                  <a:srgbClr val="B8BDC7"/>
                </a:solidFill>
                <a:latin typeface="Microsoft YaHei"/>
                <a:ea typeface="Microsoft YaHei"/>
              </a:rPr>
              <a:t>ENTERPRISE</a:t>
            </a:r>
            <a:endParaRPr/>
          </a:p>
        </p:txBody>
      </p:sp>
      <p:sp>
        <p:nvSpPr>
          <p:cNvPr id="989" name="" descr="{&quot;isTemplate&quot;:true,&quot;type&quot;:&quot;text&quot;}"/>
          <p:cNvSpPr txBox="1"/>
          <p:nvPr/>
        </p:nvSpPr>
        <p:spPr>
          <a:xfrm rot="0" flipH="0" flipV="0">
            <a:off x="4524375" y="1933575"/>
            <a:ext cx="3143250" cy="304800"/>
          </a:xfrm>
          <a:prstGeom prst="rect"/>
        </p:spPr>
        <p:txBody>
          <a:bodyPr wrap="none" lIns="0" tIns="0" rIns="0" bIns="0"/>
          <a:p>
            <a:pPr>
              <a:lnSpc>
                <a:spcPct val="140000"/>
              </a:lnSpc>
            </a:pPr>
            <a:r>
              <a:rPr lang="zh-CN" sz="1425" b="1">
                <a:solidFill>
                  <a:srgbClr val="0F1423"/>
                </a:solidFill>
                <a:latin typeface="Microsoft YaHei"/>
                <a:ea typeface="Microsoft YaHei"/>
              </a:rPr>
              <a:t>从企业视角定义信息架构</a:t>
            </a:r>
            <a:endParaRPr/>
          </a:p>
        </p:txBody>
      </p:sp>
      <p:sp>
        <p:nvSpPr>
          <p:cNvPr id="990" name="" descr="{&quot;isTemplate&quot;:true,&quot;type&quot;:&quot;text&quot;}"/>
          <p:cNvSpPr txBox="1"/>
          <p:nvPr/>
        </p:nvSpPr>
        <p:spPr>
          <a:xfrm rot="0" flipH="0" flipV="0">
            <a:off x="4524375" y="2352675"/>
            <a:ext cx="3143250" cy="10668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任何数据</a:t>
            </a:r>
            <a:r>
              <a:rPr lang="en-US" sz="1125">
                <a:solidFill>
                  <a:srgbClr val="3A4050"/>
                </a:solidFill>
                <a:latin typeface="Microsoft YaHei"/>
                <a:ea typeface="Microsoft YaHei"/>
              </a:rPr>
              <a:t xml:space="preserve"> Owner </a:t>
            </a:r>
            <a:r>
              <a:rPr lang="zh-CN" sz="1125">
                <a:solidFill>
                  <a:srgbClr val="3A4050"/>
                </a:solidFill>
                <a:latin typeface="Microsoft YaHei"/>
                <a:ea typeface="Microsoft YaHei"/>
              </a:rPr>
              <a:t>都不是代表自己所辖业务范围，而是代表公司管理数据。业务部门的诉求统一提交给</a:t>
            </a:r>
            <a:r>
              <a:rPr lang="en-US" sz="1125">
                <a:solidFill>
                  <a:srgbClr val="3A4050"/>
                </a:solidFill>
                <a:latin typeface="Microsoft YaHei"/>
                <a:ea typeface="Microsoft YaHei"/>
              </a:rPr>
              <a:t xml:space="preserve"> Owner </a:t>
            </a:r>
            <a:r>
              <a:rPr lang="zh-CN" sz="1125">
                <a:solidFill>
                  <a:srgbClr val="3A4050"/>
                </a:solidFill>
                <a:latin typeface="Microsoft YaHei"/>
                <a:ea typeface="Microsoft YaHei"/>
              </a:rPr>
              <a:t>解决，避免各立山头。</a:t>
            </a:r>
            <a:endParaRPr/>
          </a:p>
        </p:txBody>
      </p:sp>
      <p:sp>
        <p:nvSpPr>
          <p:cNvPr id="991" name=""/>
          <p:cNvSpPr/>
          <p:nvPr/>
        </p:nvSpPr>
        <p:spPr>
          <a:xfrm rot="0" flipH="0" flipV="0">
            <a:off x="8029575" y="1438275"/>
            <a:ext cx="3552825" cy="2209800"/>
          </a:xfrm>
          <a:prstGeom prst="roundRect">
            <a:avLst>
              <a:gd name="adj" fmla="val 1724"/>
            </a:avLst>
          </a:prstGeom>
          <a:solidFill>
            <a:srgbClr val="F7F7F8"/>
          </a:solidFill>
          <a:ln/>
        </p:spPr>
        <p:txBody>
          <a:bodyPr/>
          <a:p>
            <a:pPr/>
            <a:endParaRPr/>
          </a:p>
        </p:txBody>
      </p:sp>
      <p:sp>
        <p:nvSpPr>
          <p:cNvPr id="992" name=""/>
          <p:cNvSpPr/>
          <p:nvPr/>
        </p:nvSpPr>
        <p:spPr>
          <a:xfrm rot="0" flipH="0" flipV="0">
            <a:off x="8029575" y="1438275"/>
            <a:ext cx="3552825" cy="2209800"/>
          </a:xfrm>
          <a:custGeom>
            <a:pathLst>
              <a:path w="373" h="232">
                <a:moveTo>
                  <a:pt x="369" y="0"/>
                </a:moveTo>
                <a:cubicBezTo>
                  <a:pt x="371" y="0"/>
                  <a:pt x="373" y="2"/>
                  <a:pt x="373" y="4"/>
                </a:cubicBezTo>
                <a:lnTo>
                  <a:pt x="0" y="4"/>
                </a:lnTo>
                <a:cubicBezTo>
                  <a:pt x="0" y="2"/>
                  <a:pt x="2" y="0"/>
                  <a:pt x="4" y="0"/>
                </a:cubicBezTo>
                <a:lnTo>
                  <a:pt x="369" y="0"/>
                </a:lnTo>
                <a:close/>
              </a:path>
            </a:pathLst>
          </a:custGeom>
          <a:solidFill>
            <a:srgbClr val="FA4F24"/>
          </a:solidFill>
          <a:ln/>
        </p:spPr>
        <p:txBody>
          <a:bodyPr/>
          <a:p>
            <a:pPr/>
            <a:endParaRPr/>
          </a:p>
        </p:txBody>
      </p:sp>
      <p:sp>
        <p:nvSpPr>
          <p:cNvPr id="993" name="" descr="{&quot;isTemplate&quot;:true,&quot;type&quot;:&quot;text&quot;}"/>
          <p:cNvSpPr txBox="1"/>
          <p:nvPr/>
        </p:nvSpPr>
        <p:spPr>
          <a:xfrm rot="0" flipH="0" flipV="0">
            <a:off x="8239125" y="1628775"/>
            <a:ext cx="457200" cy="190500"/>
          </a:xfrm>
          <a:prstGeom prst="rect"/>
        </p:spPr>
        <p:txBody>
          <a:bodyPr wrap="none" lIns="0" tIns="0" rIns="0" bIns="0"/>
          <a:p>
            <a:pPr>
              <a:lnSpc>
                <a:spcPct val="100000"/>
              </a:lnSpc>
            </a:pPr>
            <a:r>
              <a:rPr lang="zh-CN" sz="1200" b="1">
                <a:solidFill>
                  <a:srgbClr val="FA4F24"/>
                </a:solidFill>
                <a:latin typeface="Microsoft YaHei"/>
                <a:ea typeface="Microsoft YaHei"/>
              </a:rPr>
              <a:t>原则三</a:t>
            </a:r>
            <a:endParaRPr/>
          </a:p>
        </p:txBody>
      </p:sp>
      <p:sp>
        <p:nvSpPr>
          <p:cNvPr id="994" name="" descr="{&quot;isTemplate&quot;:true,&quot;type&quot;:&quot;text&quot;}"/>
          <p:cNvSpPr txBox="1"/>
          <p:nvPr/>
        </p:nvSpPr>
        <p:spPr>
          <a:xfrm rot="0" flipH="0" flipV="0">
            <a:off x="10820400" y="1657350"/>
            <a:ext cx="552450" cy="133350"/>
          </a:xfrm>
          <a:prstGeom prst="rect"/>
        </p:spPr>
        <p:txBody>
          <a:bodyPr wrap="none" lIns="0" tIns="0" rIns="0" bIns="0"/>
          <a:p>
            <a:pPr>
              <a:lnSpc>
                <a:spcPct val="100000"/>
              </a:lnSpc>
            </a:pPr>
            <a:r>
              <a:rPr lang="en-US" sz="825" spc="75">
                <a:solidFill>
                  <a:srgbClr val="B8BDC7"/>
                </a:solidFill>
                <a:latin typeface="Microsoft YaHei"/>
                <a:ea typeface="Microsoft YaHei"/>
              </a:rPr>
              <a:t>CLASSIFY</a:t>
            </a:r>
            <a:endParaRPr/>
          </a:p>
        </p:txBody>
      </p:sp>
      <p:sp>
        <p:nvSpPr>
          <p:cNvPr id="995" name="" descr="{&quot;isTemplate&quot;:true,&quot;type&quot;:&quot;text&quot;}"/>
          <p:cNvSpPr txBox="1"/>
          <p:nvPr/>
        </p:nvSpPr>
        <p:spPr>
          <a:xfrm rot="0" flipH="0" flipV="0">
            <a:off x="8239125" y="1933575"/>
            <a:ext cx="3133725" cy="304800"/>
          </a:xfrm>
          <a:prstGeom prst="rect"/>
        </p:spPr>
        <p:txBody>
          <a:bodyPr wrap="none" lIns="0" tIns="0" rIns="0" bIns="0"/>
          <a:p>
            <a:pPr>
              <a:lnSpc>
                <a:spcPct val="140000"/>
              </a:lnSpc>
            </a:pPr>
            <a:r>
              <a:rPr lang="zh-CN" sz="1425" b="1">
                <a:solidFill>
                  <a:srgbClr val="0F1423"/>
                </a:solidFill>
                <a:latin typeface="Microsoft YaHei"/>
                <a:ea typeface="Microsoft YaHei"/>
              </a:rPr>
              <a:t>遵从公司的数据分类管理框架</a:t>
            </a:r>
            <a:endParaRPr/>
          </a:p>
        </p:txBody>
      </p:sp>
      <p:sp>
        <p:nvSpPr>
          <p:cNvPr id="996" name="" descr="{&quot;isTemplate&quot;:true,&quot;type&quot;:&quot;text&quot;}"/>
          <p:cNvSpPr txBox="1"/>
          <p:nvPr/>
        </p:nvSpPr>
        <p:spPr>
          <a:xfrm rot="0" flipH="0" flipV="0">
            <a:off x="8239125" y="2352675"/>
            <a:ext cx="3133725" cy="10668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按数据特性分类（基础数据</a:t>
            </a:r>
            <a:r>
              <a:rPr lang="en-US" sz="1125">
                <a:solidFill>
                  <a:srgbClr val="3A4050"/>
                </a:solidFill>
                <a:latin typeface="Microsoft YaHei"/>
                <a:ea typeface="Microsoft YaHei"/>
              </a:rPr>
              <a:t>/</a:t>
            </a:r>
            <a:r>
              <a:rPr lang="zh-CN" sz="1125">
                <a:solidFill>
                  <a:srgbClr val="3A4050"/>
                </a:solidFill>
                <a:latin typeface="Microsoft YaHei"/>
                <a:ea typeface="Microsoft YaHei"/>
              </a:rPr>
              <a:t>主数据</a:t>
            </a:r>
            <a:r>
              <a:rPr lang="en-US" sz="1125">
                <a:solidFill>
                  <a:srgbClr val="3A4050"/>
                </a:solidFill>
                <a:latin typeface="Microsoft YaHei"/>
                <a:ea typeface="Microsoft YaHei"/>
              </a:rPr>
              <a:t>/</a:t>
            </a:r>
            <a:r>
              <a:rPr lang="zh-CN" sz="1125">
                <a:solidFill>
                  <a:srgbClr val="3A4050"/>
                </a:solidFill>
                <a:latin typeface="Microsoft YaHei"/>
                <a:ea typeface="Microsoft YaHei"/>
              </a:rPr>
              <a:t>事务数据</a:t>
            </a:r>
            <a:r>
              <a:rPr lang="en-US" sz="1125">
                <a:solidFill>
                  <a:srgbClr val="3A4050"/>
                </a:solidFill>
                <a:latin typeface="Microsoft YaHei"/>
                <a:ea typeface="Microsoft YaHei"/>
              </a:rPr>
              <a:t>/</a:t>
            </a:r>
            <a:r>
              <a:rPr lang="zh-CN" sz="1125">
                <a:solidFill>
                  <a:srgbClr val="3A4050"/>
                </a:solidFill>
                <a:latin typeface="Microsoft YaHei"/>
                <a:ea typeface="Microsoft YaHei"/>
              </a:rPr>
              <a:t>报告数据等），针对不同类别采取不同治理手段，实现最大投入产出比。</a:t>
            </a:r>
            <a:endParaRPr/>
          </a:p>
        </p:txBody>
      </p:sp>
      <p:sp>
        <p:nvSpPr>
          <p:cNvPr id="997" name=""/>
          <p:cNvSpPr/>
          <p:nvPr/>
        </p:nvSpPr>
        <p:spPr>
          <a:xfrm rot="0" flipH="0" flipV="0">
            <a:off x="609600" y="3771900"/>
            <a:ext cx="3552825" cy="1943100"/>
          </a:xfrm>
          <a:prstGeom prst="roundRect">
            <a:avLst>
              <a:gd name="adj" fmla="val 1961"/>
            </a:avLst>
          </a:prstGeom>
          <a:solidFill>
            <a:srgbClr val="F7F7F8"/>
          </a:solidFill>
          <a:ln/>
        </p:spPr>
        <p:txBody>
          <a:bodyPr/>
          <a:p>
            <a:pPr/>
            <a:endParaRPr/>
          </a:p>
        </p:txBody>
      </p:sp>
      <p:sp>
        <p:nvSpPr>
          <p:cNvPr id="998" name=""/>
          <p:cNvSpPr/>
          <p:nvPr/>
        </p:nvSpPr>
        <p:spPr>
          <a:xfrm rot="0" flipH="0" flipV="0">
            <a:off x="609600" y="3771900"/>
            <a:ext cx="3552825" cy="1943100"/>
          </a:xfrm>
          <a:custGeom>
            <a:pathLst>
              <a:path w="373" h="204">
                <a:moveTo>
                  <a:pt x="369" y="0"/>
                </a:moveTo>
                <a:cubicBezTo>
                  <a:pt x="371" y="0"/>
                  <a:pt x="373" y="2"/>
                  <a:pt x="373" y="4"/>
                </a:cubicBezTo>
                <a:lnTo>
                  <a:pt x="0" y="4"/>
                </a:lnTo>
                <a:cubicBezTo>
                  <a:pt x="0" y="2"/>
                  <a:pt x="2" y="0"/>
                  <a:pt x="4" y="0"/>
                </a:cubicBezTo>
                <a:lnTo>
                  <a:pt x="369" y="0"/>
                </a:lnTo>
                <a:close/>
              </a:path>
            </a:pathLst>
          </a:custGeom>
          <a:solidFill>
            <a:srgbClr val="F87D2F"/>
          </a:solidFill>
          <a:ln/>
        </p:spPr>
        <p:txBody>
          <a:bodyPr/>
          <a:p>
            <a:pPr/>
            <a:endParaRPr/>
          </a:p>
        </p:txBody>
      </p:sp>
      <p:sp>
        <p:nvSpPr>
          <p:cNvPr id="999" name="" descr="{&quot;isTemplate&quot;:true,&quot;type&quot;:&quot;text&quot;}"/>
          <p:cNvSpPr txBox="1"/>
          <p:nvPr/>
        </p:nvSpPr>
        <p:spPr>
          <a:xfrm rot="0" flipH="0" flipV="0">
            <a:off x="819150" y="3962400"/>
            <a:ext cx="457200" cy="190500"/>
          </a:xfrm>
          <a:prstGeom prst="rect"/>
        </p:spPr>
        <p:txBody>
          <a:bodyPr wrap="none" lIns="0" tIns="0" rIns="0" bIns="0"/>
          <a:p>
            <a:pPr>
              <a:lnSpc>
                <a:spcPct val="100000"/>
              </a:lnSpc>
            </a:pPr>
            <a:r>
              <a:rPr lang="zh-CN" sz="1200" b="1">
                <a:solidFill>
                  <a:srgbClr val="F87D2F"/>
                </a:solidFill>
                <a:latin typeface="Microsoft YaHei"/>
                <a:ea typeface="Microsoft YaHei"/>
              </a:rPr>
              <a:t>原则四</a:t>
            </a:r>
            <a:endParaRPr/>
          </a:p>
        </p:txBody>
      </p:sp>
      <p:sp>
        <p:nvSpPr>
          <p:cNvPr id="1000" name="" descr="{&quot;isTemplate&quot;:true,&quot;type&quot;:&quot;text&quot;}"/>
          <p:cNvSpPr txBox="1"/>
          <p:nvPr/>
        </p:nvSpPr>
        <p:spPr>
          <a:xfrm rot="0" flipH="0" flipV="0">
            <a:off x="3476625" y="3990975"/>
            <a:ext cx="476250" cy="133350"/>
          </a:xfrm>
          <a:prstGeom prst="rect"/>
        </p:spPr>
        <p:txBody>
          <a:bodyPr wrap="none" lIns="0" tIns="0" rIns="0" bIns="0"/>
          <a:p>
            <a:pPr>
              <a:lnSpc>
                <a:spcPct val="100000"/>
              </a:lnSpc>
            </a:pPr>
            <a:r>
              <a:rPr lang="en-US" sz="825" spc="75">
                <a:solidFill>
                  <a:srgbClr val="B8BDC7"/>
                </a:solidFill>
                <a:latin typeface="Microsoft YaHei"/>
                <a:ea typeface="Microsoft YaHei"/>
              </a:rPr>
              <a:t>DIGITAL</a:t>
            </a:r>
            <a:endParaRPr/>
          </a:p>
        </p:txBody>
      </p:sp>
      <p:sp>
        <p:nvSpPr>
          <p:cNvPr id="1001" name="" descr="{&quot;isTemplate&quot;:true,&quot;type&quot;:&quot;text&quot;}"/>
          <p:cNvSpPr txBox="1"/>
          <p:nvPr/>
        </p:nvSpPr>
        <p:spPr>
          <a:xfrm rot="0" flipH="0" flipV="0">
            <a:off x="819150" y="4267200"/>
            <a:ext cx="3133725" cy="304800"/>
          </a:xfrm>
          <a:prstGeom prst="rect"/>
        </p:spPr>
        <p:txBody>
          <a:bodyPr wrap="none" lIns="0" tIns="0" rIns="0" bIns="0"/>
          <a:p>
            <a:pPr>
              <a:lnSpc>
                <a:spcPct val="140000"/>
              </a:lnSpc>
            </a:pPr>
            <a:r>
              <a:rPr lang="zh-CN" sz="1425" b="1">
                <a:solidFill>
                  <a:srgbClr val="0F1423"/>
                </a:solidFill>
                <a:latin typeface="Microsoft YaHei"/>
                <a:ea typeface="Microsoft YaHei"/>
              </a:rPr>
              <a:t>业务对象结构化、数字化</a:t>
            </a:r>
            <a:endParaRPr/>
          </a:p>
        </p:txBody>
      </p:sp>
      <p:sp>
        <p:nvSpPr>
          <p:cNvPr id="1002" name="" descr="{&quot;isTemplate&quot;:true,&quot;type&quot;:&quot;text&quot;}"/>
          <p:cNvSpPr txBox="1"/>
          <p:nvPr/>
        </p:nvSpPr>
        <p:spPr>
          <a:xfrm rot="0" flipH="0" flipV="0">
            <a:off x="819150" y="4686300"/>
            <a:ext cx="3133725" cy="5334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把业务运作中的对象、过程、规则转化为可管理的数据，为数字化转型奠定结构基础。</a:t>
            </a:r>
            <a:endParaRPr/>
          </a:p>
        </p:txBody>
      </p:sp>
      <p:sp>
        <p:nvSpPr>
          <p:cNvPr id="1003" name=""/>
          <p:cNvSpPr/>
          <p:nvPr/>
        </p:nvSpPr>
        <p:spPr>
          <a:xfrm rot="0" flipH="0" flipV="0">
            <a:off x="4314825" y="3771900"/>
            <a:ext cx="3562350" cy="1943100"/>
          </a:xfrm>
          <a:prstGeom prst="roundRect">
            <a:avLst>
              <a:gd name="adj" fmla="val 1961"/>
            </a:avLst>
          </a:prstGeom>
          <a:solidFill>
            <a:srgbClr val="F7F7F8"/>
          </a:solidFill>
          <a:ln/>
        </p:spPr>
        <p:txBody>
          <a:bodyPr/>
          <a:p>
            <a:pPr/>
            <a:endParaRPr/>
          </a:p>
        </p:txBody>
      </p:sp>
      <p:sp>
        <p:nvSpPr>
          <p:cNvPr id="1004" name=""/>
          <p:cNvSpPr/>
          <p:nvPr/>
        </p:nvSpPr>
        <p:spPr>
          <a:xfrm rot="0" flipH="0" flipV="0">
            <a:off x="4314825" y="3771900"/>
            <a:ext cx="3562350" cy="1943100"/>
          </a:xfrm>
          <a:custGeom>
            <a:pathLst>
              <a:path w="374" h="204">
                <a:moveTo>
                  <a:pt x="370" y="0"/>
                </a:moveTo>
                <a:cubicBezTo>
                  <a:pt x="372" y="0"/>
                  <a:pt x="374" y="2"/>
                  <a:pt x="374" y="4"/>
                </a:cubicBezTo>
                <a:lnTo>
                  <a:pt x="0" y="4"/>
                </a:lnTo>
                <a:cubicBezTo>
                  <a:pt x="0" y="2"/>
                  <a:pt x="2" y="0"/>
                  <a:pt x="4" y="0"/>
                </a:cubicBezTo>
                <a:lnTo>
                  <a:pt x="370" y="0"/>
                </a:lnTo>
                <a:close/>
              </a:path>
            </a:pathLst>
          </a:custGeom>
          <a:solidFill>
            <a:srgbClr val="F87D2F"/>
          </a:solidFill>
          <a:ln/>
        </p:spPr>
        <p:txBody>
          <a:bodyPr/>
          <a:p>
            <a:pPr/>
            <a:endParaRPr/>
          </a:p>
        </p:txBody>
      </p:sp>
      <p:sp>
        <p:nvSpPr>
          <p:cNvPr id="1005" name="" descr="{&quot;isTemplate&quot;:true,&quot;type&quot;:&quot;text&quot;}"/>
          <p:cNvSpPr txBox="1"/>
          <p:nvPr/>
        </p:nvSpPr>
        <p:spPr>
          <a:xfrm rot="0" flipH="0" flipV="0">
            <a:off x="4524375" y="3962400"/>
            <a:ext cx="457200" cy="190500"/>
          </a:xfrm>
          <a:prstGeom prst="rect"/>
        </p:spPr>
        <p:txBody>
          <a:bodyPr wrap="none" lIns="0" tIns="0" rIns="0" bIns="0"/>
          <a:p>
            <a:pPr>
              <a:lnSpc>
                <a:spcPct val="100000"/>
              </a:lnSpc>
            </a:pPr>
            <a:r>
              <a:rPr lang="zh-CN" sz="1200" b="1">
                <a:solidFill>
                  <a:srgbClr val="F87D2F"/>
                </a:solidFill>
                <a:latin typeface="Microsoft YaHei"/>
                <a:ea typeface="Microsoft YaHei"/>
              </a:rPr>
              <a:t>原则五</a:t>
            </a:r>
            <a:endParaRPr/>
          </a:p>
        </p:txBody>
      </p:sp>
      <p:sp>
        <p:nvSpPr>
          <p:cNvPr id="1006" name="" descr="{&quot;isTemplate&quot;:true,&quot;type&quot;:&quot;text&quot;}"/>
          <p:cNvSpPr txBox="1"/>
          <p:nvPr/>
        </p:nvSpPr>
        <p:spPr>
          <a:xfrm rot="0" flipH="0" flipV="0">
            <a:off x="6886575" y="3990975"/>
            <a:ext cx="781050" cy="133350"/>
          </a:xfrm>
          <a:prstGeom prst="rect"/>
        </p:spPr>
        <p:txBody>
          <a:bodyPr wrap="none" lIns="0" tIns="0" rIns="0" bIns="0"/>
          <a:p>
            <a:pPr>
              <a:lnSpc>
                <a:spcPct val="100000"/>
              </a:lnSpc>
            </a:pPr>
            <a:r>
              <a:rPr lang="en-US" sz="825" spc="75">
                <a:solidFill>
                  <a:srgbClr val="B8BDC7"/>
                </a:solidFill>
                <a:latin typeface="Microsoft YaHei"/>
                <a:ea typeface="Microsoft YaHei"/>
              </a:rPr>
              <a:t>ONE SOURCE</a:t>
            </a:r>
            <a:endParaRPr/>
          </a:p>
        </p:txBody>
      </p:sp>
      <p:sp>
        <p:nvSpPr>
          <p:cNvPr id="1007" name="" descr="{&quot;isTemplate&quot;:true,&quot;type&quot;:&quot;text&quot;}"/>
          <p:cNvSpPr txBox="1"/>
          <p:nvPr/>
        </p:nvSpPr>
        <p:spPr>
          <a:xfrm rot="0" flipH="0" flipV="0">
            <a:off x="4524375" y="4267200"/>
            <a:ext cx="3143250" cy="304800"/>
          </a:xfrm>
          <a:prstGeom prst="rect"/>
        </p:spPr>
        <p:txBody>
          <a:bodyPr wrap="none" lIns="0" tIns="0" rIns="0" bIns="0"/>
          <a:p>
            <a:pPr>
              <a:lnSpc>
                <a:spcPct val="140000"/>
              </a:lnSpc>
            </a:pPr>
            <a:r>
              <a:rPr lang="zh-CN" sz="1425" b="1">
                <a:solidFill>
                  <a:srgbClr val="0F1423"/>
                </a:solidFill>
                <a:latin typeface="Microsoft YaHei"/>
                <a:ea typeface="Microsoft YaHei"/>
              </a:rPr>
              <a:t>数据服务化，同源共享</a:t>
            </a:r>
            <a:endParaRPr/>
          </a:p>
        </p:txBody>
      </p:sp>
      <p:sp>
        <p:nvSpPr>
          <p:cNvPr id="1008" name="" descr="{&quot;isTemplate&quot;:true,&quot;type&quot;:&quot;text&quot;}"/>
          <p:cNvSpPr txBox="1"/>
          <p:nvPr/>
        </p:nvSpPr>
        <p:spPr>
          <a:xfrm rot="0" flipH="0" flipV="0">
            <a:off x="4524375" y="4686300"/>
            <a:ext cx="3143250" cy="8001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一个对象一个</a:t>
            </a:r>
            <a:r>
              <a:rPr lang="en-US" sz="1125">
                <a:solidFill>
                  <a:srgbClr val="3A4050"/>
                </a:solidFill>
                <a:latin typeface="Microsoft YaHei"/>
                <a:ea typeface="Microsoft YaHei"/>
              </a:rPr>
              <a:t xml:space="preserve"> Owner</a:t>
            </a:r>
            <a:r>
              <a:rPr lang="zh-CN" sz="1125">
                <a:solidFill>
                  <a:srgbClr val="3A4050"/>
                </a:solidFill>
                <a:latin typeface="Microsoft YaHei"/>
                <a:ea typeface="Microsoft YaHei"/>
              </a:rPr>
              <a:t>，一份数据一个权威源。数据以服务方式提供，避免多次搬家导致的数据失真。</a:t>
            </a:r>
            <a:endParaRPr/>
          </a:p>
        </p:txBody>
      </p:sp>
      <p:sp>
        <p:nvSpPr>
          <p:cNvPr id="1009" name=""/>
          <p:cNvSpPr/>
          <p:nvPr/>
        </p:nvSpPr>
        <p:spPr>
          <a:xfrm rot="0" flipH="0" flipV="0">
            <a:off x="8029575" y="3733800"/>
            <a:ext cx="3552825" cy="1943100"/>
          </a:xfrm>
          <a:prstGeom prst="roundRect">
            <a:avLst>
              <a:gd name="adj" fmla="val 1961"/>
            </a:avLst>
          </a:prstGeom>
          <a:gradFill>
            <a:gsLst>
              <a:gs pos="0">
                <a:srgbClr val="FA4F24"/>
              </a:gs>
              <a:gs pos="100000">
                <a:srgbClr val="F87D2F"/>
              </a:gs>
            </a:gsLst>
            <a:lin ang="4200000" scaled="1"/>
          </a:gradFill>
          <a:ln/>
        </p:spPr>
        <p:txBody>
          <a:bodyPr/>
          <a:p>
            <a:pPr/>
            <a:endParaRPr/>
          </a:p>
        </p:txBody>
      </p:sp>
      <p:sp>
        <p:nvSpPr>
          <p:cNvPr id="1010" name="" descr="{&quot;isTemplate&quot;:true,&quot;type&quot;:&quot;text&quot;}"/>
          <p:cNvSpPr txBox="1"/>
          <p:nvPr/>
        </p:nvSpPr>
        <p:spPr>
          <a:xfrm rot="0" flipH="0" flipV="0">
            <a:off x="8239125" y="4076700"/>
            <a:ext cx="3133725" cy="171450"/>
          </a:xfrm>
          <a:prstGeom prst="rect"/>
        </p:spPr>
        <p:txBody>
          <a:bodyPr wrap="none" lIns="0" tIns="0" rIns="0" bIns="0"/>
          <a:p>
            <a:pPr>
              <a:lnSpc>
                <a:spcPct val="100000"/>
              </a:lnSpc>
            </a:pPr>
            <a:r>
              <a:rPr lang="zh-CN" sz="1125" spc="75">
                <a:solidFill>
                  <a:srgbClr val="FFFFFF">
                    <a:alpha val="85000"/>
                  </a:srgbClr>
                </a:solidFill>
                <a:latin typeface="Microsoft YaHei"/>
                <a:ea typeface="Microsoft YaHei"/>
              </a:rPr>
              <a:t>执行保障</a:t>
            </a:r>
            <a:endParaRPr/>
          </a:p>
        </p:txBody>
      </p:sp>
      <p:sp>
        <p:nvSpPr>
          <p:cNvPr id="1011" name="" descr="{&quot;isTemplate&quot;:true,&quot;type&quot;:&quot;text&quot;}"/>
          <p:cNvSpPr txBox="1"/>
          <p:nvPr/>
        </p:nvSpPr>
        <p:spPr>
          <a:xfrm rot="0" flipH="0" flipV="0">
            <a:off x="8239125" y="4362450"/>
            <a:ext cx="3133725" cy="323850"/>
          </a:xfrm>
          <a:prstGeom prst="rect"/>
        </p:spPr>
        <p:txBody>
          <a:bodyPr wrap="none" lIns="0" tIns="0" rIns="0" bIns="0"/>
          <a:p>
            <a:pPr>
              <a:lnSpc>
                <a:spcPct val="145000"/>
              </a:lnSpc>
            </a:pPr>
            <a:r>
              <a:rPr lang="zh-CN" sz="1425" b="1">
                <a:solidFill>
                  <a:srgbClr val="FFFFFF"/>
                </a:solidFill>
                <a:latin typeface="Microsoft YaHei"/>
                <a:ea typeface="Microsoft YaHei"/>
              </a:rPr>
              <a:t>一票否决权</a:t>
            </a:r>
            <a:endParaRPr/>
          </a:p>
        </p:txBody>
      </p:sp>
      <p:sp>
        <p:nvSpPr>
          <p:cNvPr id="1012" name="" descr="{&quot;isTemplate&quot;:true,&quot;type&quot;:&quot;text&quot;}"/>
          <p:cNvSpPr txBox="1"/>
          <p:nvPr/>
        </p:nvSpPr>
        <p:spPr>
          <a:xfrm rot="0" flipH="0" flipV="0">
            <a:off x="8239125" y="4800600"/>
            <a:ext cx="3133725" cy="533400"/>
          </a:xfrm>
          <a:prstGeom prst="rect"/>
        </p:spPr>
        <p:txBody>
          <a:bodyPr wrap="square" lIns="0" tIns="0" rIns="0" bIns="0">
            <a:normAutofit/>
          </a:bodyPr>
          <a:p>
            <a:pPr>
              <a:lnSpc>
                <a:spcPct val="155000"/>
              </a:lnSpc>
            </a:pPr>
            <a:r>
              <a:rPr lang="zh-CN" sz="1125">
                <a:solidFill>
                  <a:srgbClr val="FFFFFF">
                    <a:alpha val="94000"/>
                  </a:srgbClr>
                </a:solidFill>
                <a:latin typeface="Microsoft YaHei"/>
                <a:ea typeface="Microsoft YaHei"/>
              </a:rPr>
              <a:t>所有变革项目须遵从数据管控要求；对于不遵从的变革项目，数据管控组织拥有一票否决权。</a:t>
            </a:r>
            <a:endParaRPr/>
          </a:p>
        </p:txBody>
      </p:sp>
      <p:sp>
        <p:nvSpPr>
          <p:cNvPr id="1013" name=""/>
          <p:cNvSpPr/>
          <p:nvPr/>
        </p:nvSpPr>
        <p:spPr>
          <a:xfrm rot="0" flipH="0" flipV="0">
            <a:off x="609600" y="5943600"/>
            <a:ext cx="133350" cy="133350"/>
          </a:xfrm>
          <a:prstGeom prst="rect">
            <a:avLst/>
          </a:prstGeom>
          <a:solidFill>
            <a:srgbClr val="FA4F24"/>
          </a:solidFill>
          <a:ln/>
        </p:spPr>
        <p:txBody>
          <a:bodyPr/>
          <a:p>
            <a:pPr/>
            <a:endParaRPr/>
          </a:p>
        </p:txBody>
      </p:sp>
      <p:sp>
        <p:nvSpPr>
          <p:cNvPr id="1014"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1015"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06 / 30</a:t>
            </a:r>
            <a:endParaRPr/>
          </a:p>
        </p:txBody>
      </p:sp>
    </p:spTree>
  </p:cSld>
</p:sld>
</file>

<file path=ppt/slides/slide7.xml><?xml version="1.0" encoding="utf-8"?>
<p:sld xmlns:p="http://schemas.openxmlformats.org/presentationml/2006/main" xmlns:a="http://schemas.openxmlformats.org/drawingml/2006/main">
  <p:cSld>
    <p:spTree>
      <p:nvGrpSpPr>
        <p:cNvPr id="1016" name=""/>
        <p:cNvGrpSpPr/>
        <p:nvPr/>
      </p:nvGrpSpPr>
      <p:grpSpPr>
        <a:xfrm>
          <a:off x="0" y="0"/>
          <a:ext cx="0" cy="0"/>
          <a:chOff x="0" y="0"/>
          <a:chExt cx="0" cy="0"/>
        </a:xfrm>
      </p:grpSpPr>
      <p:sp>
        <p:nvSpPr>
          <p:cNvPr id="1017" name=""/>
          <p:cNvSpPr/>
          <p:nvPr/>
        </p:nvSpPr>
        <p:spPr>
          <a:xfrm rot="0" flipH="0" flipV="0">
            <a:off x="0" y="0"/>
            <a:ext cx="12192000" cy="6858000"/>
          </a:xfrm>
          <a:prstGeom prst="rect">
            <a:avLst/>
          </a:prstGeom>
          <a:solidFill>
            <a:srgbClr val="FFFFFF"/>
          </a:solidFill>
          <a:ln/>
        </p:spPr>
        <p:txBody>
          <a:bodyPr/>
          <a:p>
            <a:pPr/>
            <a:endParaRPr/>
          </a:p>
        </p:txBody>
      </p:sp>
      <p:sp>
        <p:nvSpPr>
          <p:cNvPr id="1018"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传统信息架构向</a:t>
            </a:r>
            <a:r>
              <a:rPr lang="zh-CN" sz="2400" b="1">
                <a:solidFill>
                  <a:srgbClr val="FA4F24"/>
                </a:solidFill>
                <a:latin typeface="Microsoft YaHei"/>
                <a:ea typeface="Microsoft YaHei"/>
              </a:rPr>
              <a:t>数字化转型</a:t>
            </a:r>
            <a:r>
              <a:rPr lang="zh-CN" sz="2400" b="1">
                <a:solidFill>
                  <a:srgbClr val="0F1423"/>
                </a:solidFill>
                <a:latin typeface="Microsoft YaHei"/>
                <a:ea typeface="Microsoft YaHei"/>
              </a:rPr>
              <a:t>扩展：对象、过程、规则三个数字化</a:t>
            </a:r>
            <a:endParaRPr/>
          </a:p>
        </p:txBody>
      </p:sp>
      <p:sp>
        <p:nvSpPr>
          <p:cNvPr id="1019"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传统架构只管「结果数据」，数字化要求把对象全量、过程可视、规则可配</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这是能力的三级跃迁</a:t>
            </a:r>
            <a:endParaRPr/>
          </a:p>
        </p:txBody>
      </p:sp>
      <p:sp>
        <p:nvSpPr>
          <p:cNvPr id="1020" name=""/>
          <p:cNvSpPr/>
          <p:nvPr/>
        </p:nvSpPr>
        <p:spPr>
          <a:xfrm rot="0" flipH="0" flipV="0">
            <a:off x="609600" y="1143000"/>
            <a:ext cx="10972800" cy="9525"/>
          </a:xfrm>
          <a:prstGeom prst="rect">
            <a:avLst/>
          </a:prstGeom>
          <a:solidFill>
            <a:srgbClr val="E8E8E8"/>
          </a:solidFill>
          <a:ln/>
        </p:spPr>
        <p:txBody>
          <a:bodyPr/>
          <a:p>
            <a:pPr/>
            <a:endParaRPr/>
          </a:p>
        </p:txBody>
      </p:sp>
      <p:sp>
        <p:nvSpPr>
          <p:cNvPr id="1021" name=""/>
          <p:cNvSpPr/>
          <p:nvPr/>
        </p:nvSpPr>
        <p:spPr>
          <a:xfrm rot="0" flipH="0" flipV="0">
            <a:off x="609600" y="1400175"/>
            <a:ext cx="10972800" cy="561975"/>
          </a:xfrm>
          <a:prstGeom prst="roundRect">
            <a:avLst>
              <a:gd name="adj" fmla="val 6780"/>
            </a:avLst>
          </a:prstGeom>
          <a:solidFill>
            <a:srgbClr val="F7F7F8"/>
          </a:solidFill>
          <a:ln/>
        </p:spPr>
        <p:txBody>
          <a:bodyPr/>
          <a:p>
            <a:pPr/>
            <a:endParaRPr/>
          </a:p>
        </p:txBody>
      </p:sp>
      <p:sp>
        <p:nvSpPr>
          <p:cNvPr id="1022" name="" descr="{&quot;isTemplate&quot;:true,&quot;type&quot;:&quot;text&quot;}"/>
          <p:cNvSpPr txBox="1"/>
          <p:nvPr/>
        </p:nvSpPr>
        <p:spPr>
          <a:xfrm rot="0" flipH="0" flipV="0">
            <a:off x="819150" y="1581150"/>
            <a:ext cx="647700" cy="200025"/>
          </a:xfrm>
          <a:prstGeom prst="rect"/>
        </p:spPr>
        <p:txBody>
          <a:bodyPr wrap="none" lIns="0" tIns="0" rIns="0" bIns="0"/>
          <a:p>
            <a:pPr>
              <a:lnSpc>
                <a:spcPct val="100000"/>
              </a:lnSpc>
            </a:pPr>
            <a:r>
              <a:rPr lang="zh-CN" sz="1275" b="1">
                <a:solidFill>
                  <a:srgbClr val="C43A17"/>
                </a:solidFill>
                <a:latin typeface="Microsoft YaHei"/>
                <a:ea typeface="Microsoft YaHei"/>
              </a:rPr>
              <a:t>现实痛点</a:t>
            </a:r>
            <a:endParaRPr/>
          </a:p>
        </p:txBody>
      </p:sp>
      <p:sp>
        <p:nvSpPr>
          <p:cNvPr id="1023" name="" descr="{&quot;isTemplate&quot;:true,&quot;type&quot;:&quot;text&quot;}"/>
          <p:cNvSpPr txBox="1"/>
          <p:nvPr/>
        </p:nvSpPr>
        <p:spPr>
          <a:xfrm rot="0" flipH="0" flipV="0">
            <a:off x="1657350" y="1552575"/>
            <a:ext cx="9715500" cy="257175"/>
          </a:xfrm>
          <a:prstGeom prst="rect"/>
        </p:spPr>
        <p:txBody>
          <a:bodyPr wrap="none" lIns="0" tIns="0" rIns="0" bIns="0"/>
          <a:p>
            <a:pPr>
              <a:lnSpc>
                <a:spcPct val="150000"/>
              </a:lnSpc>
            </a:pPr>
            <a:r>
              <a:rPr lang="en-US" sz="1125">
                <a:solidFill>
                  <a:srgbClr val="3A4050"/>
                </a:solidFill>
                <a:latin typeface="Microsoft YaHei"/>
                <a:ea typeface="Microsoft YaHei"/>
              </a:rPr>
              <a:t xml:space="preserve">① </a:t>
            </a:r>
            <a:r>
              <a:rPr lang="zh-CN" sz="1125">
                <a:solidFill>
                  <a:srgbClr val="3A4050"/>
                </a:solidFill>
                <a:latin typeface="Microsoft YaHei"/>
                <a:ea typeface="Microsoft YaHei"/>
              </a:rPr>
              <a:t>大量业务和作业产生的数据没有被完整管理；②</a:t>
            </a: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大量业务过程没有形成可视、可管理的数据；③</a:t>
            </a: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大量业务规则缺乏管理、无法灵活使用。</a:t>
            </a:r>
            <a:endParaRPr/>
          </a:p>
        </p:txBody>
      </p:sp>
      <p:sp>
        <p:nvSpPr>
          <p:cNvPr id="1024" name=""/>
          <p:cNvSpPr/>
          <p:nvPr/>
        </p:nvSpPr>
        <p:spPr>
          <a:xfrm rot="0" flipH="0" flipV="0">
            <a:off x="609600" y="2152650"/>
            <a:ext cx="3552825" cy="2933700"/>
          </a:xfrm>
          <a:prstGeom prst="roundRect">
            <a:avLst>
              <a:gd name="adj" fmla="val 1299"/>
            </a:avLst>
          </a:prstGeom>
          <a:ln/>
        </p:spPr>
        <p:txBody>
          <a:bodyPr/>
          <a:p>
            <a:pPr/>
            <a:endParaRPr/>
          </a:p>
        </p:txBody>
      </p:sp>
      <p:sp>
        <p:nvSpPr>
          <p:cNvPr id="1025" name=""/>
          <p:cNvSpPr/>
          <p:nvPr/>
        </p:nvSpPr>
        <p:spPr>
          <a:xfrm rot="0" flipH="0" flipV="0">
            <a:off x="609600" y="2152650"/>
            <a:ext cx="3552825" cy="2933700"/>
          </a:xfrm>
          <a:custGeom>
            <a:pathLst>
              <a:path w="373" h="308">
                <a:moveTo>
                  <a:pt x="369" y="0"/>
                </a:moveTo>
                <a:cubicBezTo>
                  <a:pt x="371" y="0"/>
                  <a:pt x="373" y="2"/>
                  <a:pt x="373" y="4"/>
                </a:cubicBezTo>
                <a:lnTo>
                  <a:pt x="0" y="4"/>
                </a:lnTo>
                <a:cubicBezTo>
                  <a:pt x="0" y="2"/>
                  <a:pt x="2" y="0"/>
                  <a:pt x="4" y="0"/>
                </a:cubicBezTo>
                <a:lnTo>
                  <a:pt x="369" y="0"/>
                </a:lnTo>
                <a:close/>
              </a:path>
            </a:pathLst>
          </a:custGeom>
          <a:solidFill>
            <a:srgbClr val="FA4F24"/>
          </a:solidFill>
          <a:ln/>
        </p:spPr>
        <p:txBody>
          <a:bodyPr/>
          <a:p>
            <a:pPr/>
            <a:endParaRPr/>
          </a:p>
        </p:txBody>
      </p:sp>
      <p:sp>
        <p:nvSpPr>
          <p:cNvPr id="1026" name="" descr="{&quot;isTemplate&quot;:true,&quot;type&quot;:&quot;text&quot;}"/>
          <p:cNvSpPr txBox="1"/>
          <p:nvPr/>
        </p:nvSpPr>
        <p:spPr>
          <a:xfrm rot="0" flipH="0" flipV="0">
            <a:off x="800100" y="2343150"/>
            <a:ext cx="333375" cy="323850"/>
          </a:xfrm>
          <a:prstGeom prst="rect"/>
        </p:spPr>
        <p:txBody>
          <a:bodyPr wrap="none" lIns="0" tIns="0" rIns="0" bIns="0"/>
          <a:p>
            <a:pPr>
              <a:lnSpc>
                <a:spcPct val="100000"/>
              </a:lnSpc>
            </a:pPr>
            <a:r>
              <a:rPr lang="en-US" sz="2100" b="1">
                <a:solidFill>
                  <a:srgbClr val="FA4F24"/>
                </a:solidFill>
                <a:latin typeface="Microsoft YaHei"/>
                <a:ea typeface="Microsoft YaHei"/>
              </a:rPr>
              <a:t>01</a:t>
            </a:r>
            <a:endParaRPr/>
          </a:p>
        </p:txBody>
      </p:sp>
      <p:sp>
        <p:nvSpPr>
          <p:cNvPr id="1027" name="" descr="{&quot;isTemplate&quot;:true,&quot;type&quot;:&quot;text&quot;}"/>
          <p:cNvSpPr txBox="1"/>
          <p:nvPr/>
        </p:nvSpPr>
        <p:spPr>
          <a:xfrm rot="0" flipH="0" flipV="0">
            <a:off x="1228725" y="2343150"/>
            <a:ext cx="438150" cy="323850"/>
          </a:xfrm>
          <a:prstGeom prst="rect"/>
        </p:spPr>
        <p:txBody>
          <a:bodyPr wrap="none" lIns="0" tIns="0" rIns="0" bIns="0"/>
          <a:p>
            <a:pPr>
              <a:lnSpc>
                <a:spcPct val="100000"/>
              </a:lnSpc>
            </a:pPr>
            <a:r>
              <a:rPr lang="en-US" sz="825" spc="75">
                <a:solidFill>
                  <a:srgbClr val="B8BDC7"/>
                </a:solidFill>
                <a:latin typeface="Microsoft YaHei"/>
                <a:ea typeface="Microsoft YaHei"/>
              </a:rPr>
              <a:t>OBJECT</a:t>
            </a:r>
            <a:endParaRPr/>
          </a:p>
        </p:txBody>
      </p:sp>
      <p:sp>
        <p:nvSpPr>
          <p:cNvPr id="1028" name="" descr="{&quot;isTemplate&quot;:true,&quot;type&quot;:&quot;text&quot;}"/>
          <p:cNvSpPr txBox="1"/>
          <p:nvPr/>
        </p:nvSpPr>
        <p:spPr>
          <a:xfrm rot="0" flipH="0" flipV="0">
            <a:off x="800100" y="2762250"/>
            <a:ext cx="3171825" cy="247650"/>
          </a:xfrm>
          <a:prstGeom prst="rect"/>
        </p:spPr>
        <p:txBody>
          <a:bodyPr wrap="none" lIns="0" tIns="0" rIns="0" bIns="0"/>
          <a:p>
            <a:pPr>
              <a:lnSpc>
                <a:spcPct val="100000"/>
              </a:lnSpc>
            </a:pPr>
            <a:r>
              <a:rPr lang="zh-CN" sz="1575" b="1">
                <a:solidFill>
                  <a:srgbClr val="0F1423"/>
                </a:solidFill>
                <a:latin typeface="Microsoft YaHei"/>
                <a:ea typeface="Microsoft YaHei"/>
              </a:rPr>
              <a:t>对象数字化</a:t>
            </a:r>
            <a:endParaRPr/>
          </a:p>
        </p:txBody>
      </p:sp>
      <p:sp>
        <p:nvSpPr>
          <p:cNvPr id="1029" name="" descr="{&quot;isTemplate&quot;:true,&quot;type&quot;:&quot;text&quot;}"/>
          <p:cNvSpPr txBox="1"/>
          <p:nvPr/>
        </p:nvSpPr>
        <p:spPr>
          <a:xfrm rot="0" flipH="0" flipV="0">
            <a:off x="800100" y="3124200"/>
            <a:ext cx="3171825" cy="1419225"/>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建立对象本体在数字世界的映射。不是传统意义上基于流程要求的少量数据管理，而是管理某个对象的全量数据</a:t>
            </a:r>
            <a:r>
              <a:rPr lang="en-US" sz="1125">
                <a:solidFill>
                  <a:srgbClr val="3A4050"/>
                </a:solidFill>
                <a:latin typeface="Microsoft YaHei"/>
                <a:ea typeface="Microsoft YaHei"/>
              </a:rPr>
              <a:t xml:space="preserve"> —— </a:t>
            </a:r>
            <a:r>
              <a:rPr lang="zh-CN" sz="1125">
                <a:solidFill>
                  <a:srgbClr val="3A4050"/>
                </a:solidFill>
                <a:latin typeface="Microsoft YaHei"/>
                <a:ea typeface="Microsoft YaHei"/>
              </a:rPr>
              <a:t>从「流程需要什么就存什么」转向「对象有什么就管什么」。</a:t>
            </a:r>
            <a:endParaRPr/>
          </a:p>
        </p:txBody>
      </p:sp>
      <p:sp>
        <p:nvSpPr>
          <p:cNvPr id="1030" name=""/>
          <p:cNvSpPr/>
          <p:nvPr/>
        </p:nvSpPr>
        <p:spPr>
          <a:xfrm rot="0" flipH="0" flipV="0">
            <a:off x="800100" y="4543425"/>
            <a:ext cx="3171825" cy="314325"/>
          </a:xfrm>
          <a:prstGeom prst="roundRect">
            <a:avLst>
              <a:gd name="adj" fmla="val 9091"/>
            </a:avLst>
          </a:prstGeom>
          <a:solidFill>
            <a:srgbClr val="FA4F24">
              <a:alpha val="10000"/>
            </a:srgbClr>
          </a:solidFill>
          <a:ln/>
        </p:spPr>
        <p:txBody>
          <a:bodyPr/>
          <a:p>
            <a:pPr/>
            <a:endParaRPr/>
          </a:p>
        </p:txBody>
      </p:sp>
      <p:sp>
        <p:nvSpPr>
          <p:cNvPr id="1031" name="" descr="{&quot;isTemplate&quot;:true,&quot;type&quot;:&quot;text&quot;}"/>
          <p:cNvSpPr txBox="1"/>
          <p:nvPr/>
        </p:nvSpPr>
        <p:spPr>
          <a:xfrm rot="0" flipH="0" flipV="0">
            <a:off x="895350" y="4619625"/>
            <a:ext cx="2981325" cy="161925"/>
          </a:xfrm>
          <a:prstGeom prst="rect"/>
        </p:spPr>
        <p:txBody>
          <a:bodyPr wrap="none" lIns="0" tIns="0" rIns="0" bIns="0"/>
          <a:p>
            <a:pPr algn="ctr">
              <a:lnSpc>
                <a:spcPct val="100000"/>
              </a:lnSpc>
            </a:pPr>
            <a:r>
              <a:rPr lang="zh-CN" sz="1050" b="1">
                <a:solidFill>
                  <a:srgbClr val="C43A17"/>
                </a:solidFill>
                <a:latin typeface="Microsoft YaHei"/>
                <a:ea typeface="Microsoft YaHei"/>
              </a:rPr>
              <a:t>对象本体映射</a:t>
            </a:r>
            <a:endParaRPr/>
          </a:p>
        </p:txBody>
      </p:sp>
      <p:sp>
        <p:nvSpPr>
          <p:cNvPr id="1032" name=""/>
          <p:cNvSpPr/>
          <p:nvPr/>
        </p:nvSpPr>
        <p:spPr>
          <a:xfrm rot="0" flipH="0" flipV="0">
            <a:off x="4314825" y="2152650"/>
            <a:ext cx="3562350" cy="2933700"/>
          </a:xfrm>
          <a:prstGeom prst="roundRect">
            <a:avLst>
              <a:gd name="adj" fmla="val 1299"/>
            </a:avLst>
          </a:prstGeom>
          <a:ln/>
        </p:spPr>
        <p:txBody>
          <a:bodyPr/>
          <a:p>
            <a:pPr/>
            <a:endParaRPr/>
          </a:p>
        </p:txBody>
      </p:sp>
      <p:sp>
        <p:nvSpPr>
          <p:cNvPr id="1033" name=""/>
          <p:cNvSpPr/>
          <p:nvPr/>
        </p:nvSpPr>
        <p:spPr>
          <a:xfrm rot="0" flipH="0" flipV="0">
            <a:off x="4314825" y="2152650"/>
            <a:ext cx="3562350" cy="2933700"/>
          </a:xfrm>
          <a:custGeom>
            <a:pathLst>
              <a:path w="374" h="308">
                <a:moveTo>
                  <a:pt x="370" y="0"/>
                </a:moveTo>
                <a:cubicBezTo>
                  <a:pt x="372" y="0"/>
                  <a:pt x="374" y="2"/>
                  <a:pt x="374" y="4"/>
                </a:cubicBezTo>
                <a:lnTo>
                  <a:pt x="0" y="4"/>
                </a:lnTo>
                <a:cubicBezTo>
                  <a:pt x="0" y="2"/>
                  <a:pt x="2" y="0"/>
                  <a:pt x="4" y="0"/>
                </a:cubicBezTo>
                <a:lnTo>
                  <a:pt x="370" y="0"/>
                </a:lnTo>
                <a:close/>
              </a:path>
            </a:pathLst>
          </a:custGeom>
          <a:solidFill>
            <a:srgbClr val="FA4F24"/>
          </a:solidFill>
          <a:ln/>
        </p:spPr>
        <p:txBody>
          <a:bodyPr/>
          <a:p>
            <a:pPr/>
            <a:endParaRPr/>
          </a:p>
        </p:txBody>
      </p:sp>
      <p:sp>
        <p:nvSpPr>
          <p:cNvPr id="1034" name="" descr="{&quot;isTemplate&quot;:true,&quot;type&quot;:&quot;text&quot;}"/>
          <p:cNvSpPr txBox="1"/>
          <p:nvPr/>
        </p:nvSpPr>
        <p:spPr>
          <a:xfrm rot="0" flipH="0" flipV="0">
            <a:off x="4505325" y="2343150"/>
            <a:ext cx="333375" cy="323850"/>
          </a:xfrm>
          <a:prstGeom prst="rect"/>
        </p:spPr>
        <p:txBody>
          <a:bodyPr wrap="none" lIns="0" tIns="0" rIns="0" bIns="0"/>
          <a:p>
            <a:pPr>
              <a:lnSpc>
                <a:spcPct val="100000"/>
              </a:lnSpc>
            </a:pPr>
            <a:r>
              <a:rPr lang="en-US" sz="2100" b="1">
                <a:solidFill>
                  <a:srgbClr val="FA4F24"/>
                </a:solidFill>
                <a:latin typeface="Microsoft YaHei"/>
                <a:ea typeface="Microsoft YaHei"/>
              </a:rPr>
              <a:t>02</a:t>
            </a:r>
            <a:endParaRPr/>
          </a:p>
        </p:txBody>
      </p:sp>
      <p:sp>
        <p:nvSpPr>
          <p:cNvPr id="1035" name="" descr="{&quot;isTemplate&quot;:true,&quot;type&quot;:&quot;text&quot;}"/>
          <p:cNvSpPr txBox="1"/>
          <p:nvPr/>
        </p:nvSpPr>
        <p:spPr>
          <a:xfrm rot="0" flipH="0" flipV="0">
            <a:off x="4933950" y="2343150"/>
            <a:ext cx="533400" cy="323850"/>
          </a:xfrm>
          <a:prstGeom prst="rect"/>
        </p:spPr>
        <p:txBody>
          <a:bodyPr wrap="none" lIns="0" tIns="0" rIns="0" bIns="0"/>
          <a:p>
            <a:pPr>
              <a:lnSpc>
                <a:spcPct val="100000"/>
              </a:lnSpc>
            </a:pPr>
            <a:r>
              <a:rPr lang="en-US" sz="825" spc="75">
                <a:solidFill>
                  <a:srgbClr val="B8BDC7"/>
                </a:solidFill>
                <a:latin typeface="Microsoft YaHei"/>
                <a:ea typeface="Microsoft YaHei"/>
              </a:rPr>
              <a:t>PROCESS</a:t>
            </a:r>
            <a:endParaRPr/>
          </a:p>
        </p:txBody>
      </p:sp>
      <p:sp>
        <p:nvSpPr>
          <p:cNvPr id="1036" name="" descr="{&quot;isTemplate&quot;:true,&quot;type&quot;:&quot;text&quot;}"/>
          <p:cNvSpPr txBox="1"/>
          <p:nvPr/>
        </p:nvSpPr>
        <p:spPr>
          <a:xfrm rot="0" flipH="0" flipV="0">
            <a:off x="4505325" y="2762250"/>
            <a:ext cx="3181350" cy="247650"/>
          </a:xfrm>
          <a:prstGeom prst="rect"/>
        </p:spPr>
        <p:txBody>
          <a:bodyPr wrap="none" lIns="0" tIns="0" rIns="0" bIns="0"/>
          <a:p>
            <a:pPr>
              <a:lnSpc>
                <a:spcPct val="100000"/>
              </a:lnSpc>
            </a:pPr>
            <a:r>
              <a:rPr lang="zh-CN" sz="1575" b="1">
                <a:solidFill>
                  <a:srgbClr val="0F1423"/>
                </a:solidFill>
                <a:latin typeface="Microsoft YaHei"/>
                <a:ea typeface="Microsoft YaHei"/>
              </a:rPr>
              <a:t>过程数字化</a:t>
            </a:r>
            <a:endParaRPr/>
          </a:p>
        </p:txBody>
      </p:sp>
      <p:sp>
        <p:nvSpPr>
          <p:cNvPr id="1037" name="" descr="{&quot;isTemplate&quot;:true,&quot;type&quot;:&quot;text&quot;}"/>
          <p:cNvSpPr txBox="1"/>
          <p:nvPr/>
        </p:nvSpPr>
        <p:spPr>
          <a:xfrm rot="0" flipH="0" flipV="0">
            <a:off x="4505325" y="3124200"/>
            <a:ext cx="3181350" cy="1419225"/>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把业务过程本身变成可视、可管理的数据。过程数据不仅记录「做了什么」，还支撑过程的监控、分析与优化，让过程从黑箱变成可观测对象。</a:t>
            </a:r>
            <a:endParaRPr/>
          </a:p>
        </p:txBody>
      </p:sp>
      <p:sp>
        <p:nvSpPr>
          <p:cNvPr id="1038" name=""/>
          <p:cNvSpPr/>
          <p:nvPr/>
        </p:nvSpPr>
        <p:spPr>
          <a:xfrm rot="0" flipH="0" flipV="0">
            <a:off x="4505325" y="4543425"/>
            <a:ext cx="3181350" cy="314325"/>
          </a:xfrm>
          <a:prstGeom prst="roundRect">
            <a:avLst>
              <a:gd name="adj" fmla="val 9091"/>
            </a:avLst>
          </a:prstGeom>
          <a:solidFill>
            <a:srgbClr val="FA4F24">
              <a:alpha val="10000"/>
            </a:srgbClr>
          </a:solidFill>
          <a:ln/>
        </p:spPr>
        <p:txBody>
          <a:bodyPr/>
          <a:p>
            <a:pPr/>
            <a:endParaRPr/>
          </a:p>
        </p:txBody>
      </p:sp>
      <p:sp>
        <p:nvSpPr>
          <p:cNvPr id="1039" name="" descr="{&quot;isTemplate&quot;:true,&quot;type&quot;:&quot;text&quot;}"/>
          <p:cNvSpPr txBox="1"/>
          <p:nvPr/>
        </p:nvSpPr>
        <p:spPr>
          <a:xfrm rot="0" flipH="0" flipV="0">
            <a:off x="4600575" y="4619625"/>
            <a:ext cx="2990850" cy="161925"/>
          </a:xfrm>
          <a:prstGeom prst="rect"/>
        </p:spPr>
        <p:txBody>
          <a:bodyPr wrap="none" lIns="0" tIns="0" rIns="0" bIns="0"/>
          <a:p>
            <a:pPr algn="ctr">
              <a:lnSpc>
                <a:spcPct val="100000"/>
              </a:lnSpc>
            </a:pPr>
            <a:r>
              <a:rPr lang="zh-CN" sz="1050" b="1">
                <a:solidFill>
                  <a:srgbClr val="C43A17"/>
                </a:solidFill>
                <a:latin typeface="Microsoft YaHei"/>
                <a:ea typeface="Microsoft YaHei"/>
              </a:rPr>
              <a:t>过程可视可管</a:t>
            </a:r>
            <a:endParaRPr/>
          </a:p>
        </p:txBody>
      </p:sp>
      <p:sp>
        <p:nvSpPr>
          <p:cNvPr id="1040" name=""/>
          <p:cNvSpPr/>
          <p:nvPr/>
        </p:nvSpPr>
        <p:spPr>
          <a:xfrm rot="0" flipH="0" flipV="0">
            <a:off x="8029575" y="2152650"/>
            <a:ext cx="3552825" cy="2933700"/>
          </a:xfrm>
          <a:prstGeom prst="roundRect">
            <a:avLst>
              <a:gd name="adj" fmla="val 1299"/>
            </a:avLst>
          </a:prstGeom>
          <a:ln/>
        </p:spPr>
        <p:txBody>
          <a:bodyPr/>
          <a:p>
            <a:pPr/>
            <a:endParaRPr/>
          </a:p>
        </p:txBody>
      </p:sp>
      <p:sp>
        <p:nvSpPr>
          <p:cNvPr id="1041" name=""/>
          <p:cNvSpPr/>
          <p:nvPr/>
        </p:nvSpPr>
        <p:spPr>
          <a:xfrm rot="0" flipH="0" flipV="0">
            <a:off x="8029575" y="2152650"/>
            <a:ext cx="3552825" cy="2933700"/>
          </a:xfrm>
          <a:custGeom>
            <a:pathLst>
              <a:path w="373" h="308">
                <a:moveTo>
                  <a:pt x="369" y="0"/>
                </a:moveTo>
                <a:cubicBezTo>
                  <a:pt x="371" y="0"/>
                  <a:pt x="373" y="2"/>
                  <a:pt x="373" y="4"/>
                </a:cubicBezTo>
                <a:lnTo>
                  <a:pt x="0" y="4"/>
                </a:lnTo>
                <a:cubicBezTo>
                  <a:pt x="0" y="2"/>
                  <a:pt x="2" y="0"/>
                  <a:pt x="4" y="0"/>
                </a:cubicBezTo>
                <a:lnTo>
                  <a:pt x="369" y="0"/>
                </a:lnTo>
                <a:close/>
              </a:path>
            </a:pathLst>
          </a:custGeom>
          <a:solidFill>
            <a:srgbClr val="FA4F24"/>
          </a:solidFill>
          <a:ln/>
        </p:spPr>
        <p:txBody>
          <a:bodyPr/>
          <a:p>
            <a:pPr/>
            <a:endParaRPr/>
          </a:p>
        </p:txBody>
      </p:sp>
      <p:sp>
        <p:nvSpPr>
          <p:cNvPr id="1042" name="" descr="{&quot;isTemplate&quot;:true,&quot;type&quot;:&quot;text&quot;}"/>
          <p:cNvSpPr txBox="1"/>
          <p:nvPr/>
        </p:nvSpPr>
        <p:spPr>
          <a:xfrm rot="0" flipH="0" flipV="0">
            <a:off x="8220075" y="2343150"/>
            <a:ext cx="333375" cy="323850"/>
          </a:xfrm>
          <a:prstGeom prst="rect"/>
        </p:spPr>
        <p:txBody>
          <a:bodyPr wrap="none" lIns="0" tIns="0" rIns="0" bIns="0"/>
          <a:p>
            <a:pPr>
              <a:lnSpc>
                <a:spcPct val="100000"/>
              </a:lnSpc>
            </a:pPr>
            <a:r>
              <a:rPr lang="en-US" sz="2100" b="1">
                <a:solidFill>
                  <a:srgbClr val="FA4F24"/>
                </a:solidFill>
                <a:latin typeface="Microsoft YaHei"/>
                <a:ea typeface="Microsoft YaHei"/>
              </a:rPr>
              <a:t>03</a:t>
            </a:r>
            <a:endParaRPr/>
          </a:p>
        </p:txBody>
      </p:sp>
      <p:sp>
        <p:nvSpPr>
          <p:cNvPr id="1043" name="" descr="{&quot;isTemplate&quot;:true,&quot;type&quot;:&quot;text&quot;}"/>
          <p:cNvSpPr txBox="1"/>
          <p:nvPr/>
        </p:nvSpPr>
        <p:spPr>
          <a:xfrm rot="0" flipH="0" flipV="0">
            <a:off x="8648700" y="2343150"/>
            <a:ext cx="304800" cy="323850"/>
          </a:xfrm>
          <a:prstGeom prst="rect"/>
        </p:spPr>
        <p:txBody>
          <a:bodyPr wrap="none" lIns="0" tIns="0" rIns="0" bIns="0"/>
          <a:p>
            <a:pPr>
              <a:lnSpc>
                <a:spcPct val="100000"/>
              </a:lnSpc>
            </a:pPr>
            <a:r>
              <a:rPr lang="en-US" sz="825" spc="75">
                <a:solidFill>
                  <a:srgbClr val="B8BDC7"/>
                </a:solidFill>
                <a:latin typeface="Microsoft YaHei"/>
                <a:ea typeface="Microsoft YaHei"/>
              </a:rPr>
              <a:t>RULE</a:t>
            </a:r>
            <a:endParaRPr/>
          </a:p>
        </p:txBody>
      </p:sp>
      <p:sp>
        <p:nvSpPr>
          <p:cNvPr id="1044" name="" descr="{&quot;isTemplate&quot;:true,&quot;type&quot;:&quot;text&quot;}"/>
          <p:cNvSpPr txBox="1"/>
          <p:nvPr/>
        </p:nvSpPr>
        <p:spPr>
          <a:xfrm rot="0" flipH="0" flipV="0">
            <a:off x="8220075" y="2762250"/>
            <a:ext cx="3171825" cy="247650"/>
          </a:xfrm>
          <a:prstGeom prst="rect"/>
        </p:spPr>
        <p:txBody>
          <a:bodyPr wrap="none" lIns="0" tIns="0" rIns="0" bIns="0"/>
          <a:p>
            <a:pPr>
              <a:lnSpc>
                <a:spcPct val="100000"/>
              </a:lnSpc>
            </a:pPr>
            <a:r>
              <a:rPr lang="zh-CN" sz="1575" b="1">
                <a:solidFill>
                  <a:srgbClr val="0F1423"/>
                </a:solidFill>
                <a:latin typeface="Microsoft YaHei"/>
                <a:ea typeface="Microsoft YaHei"/>
              </a:rPr>
              <a:t>规则数字化</a:t>
            </a:r>
            <a:endParaRPr/>
          </a:p>
        </p:txBody>
      </p:sp>
      <p:sp>
        <p:nvSpPr>
          <p:cNvPr id="1045" name="" descr="{&quot;isTemplate&quot;:true,&quot;type&quot;:&quot;text&quot;}"/>
          <p:cNvSpPr txBox="1"/>
          <p:nvPr/>
        </p:nvSpPr>
        <p:spPr>
          <a:xfrm rot="0" flipH="0" flipV="0">
            <a:off x="8220075" y="3124200"/>
            <a:ext cx="3171825" cy="1419225"/>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把业务规则从代码和人的经验里抽取出来，变成可管理、可配置、可灵活使用的资产。规则数字化之后，业务变化不必都改代码，规则可以独立调整。</a:t>
            </a:r>
            <a:endParaRPr/>
          </a:p>
        </p:txBody>
      </p:sp>
      <p:sp>
        <p:nvSpPr>
          <p:cNvPr id="1046" name=""/>
          <p:cNvSpPr/>
          <p:nvPr/>
        </p:nvSpPr>
        <p:spPr>
          <a:xfrm rot="0" flipH="0" flipV="0">
            <a:off x="8220075" y="4543425"/>
            <a:ext cx="3171825" cy="314325"/>
          </a:xfrm>
          <a:prstGeom prst="roundRect">
            <a:avLst>
              <a:gd name="adj" fmla="val 9091"/>
            </a:avLst>
          </a:prstGeom>
          <a:solidFill>
            <a:srgbClr val="FA4F24">
              <a:alpha val="10000"/>
            </a:srgbClr>
          </a:solidFill>
          <a:ln/>
        </p:spPr>
        <p:txBody>
          <a:bodyPr/>
          <a:p>
            <a:pPr/>
            <a:endParaRPr/>
          </a:p>
        </p:txBody>
      </p:sp>
      <p:sp>
        <p:nvSpPr>
          <p:cNvPr id="1047" name="" descr="{&quot;isTemplate&quot;:true,&quot;type&quot;:&quot;text&quot;}"/>
          <p:cNvSpPr txBox="1"/>
          <p:nvPr/>
        </p:nvSpPr>
        <p:spPr>
          <a:xfrm rot="0" flipH="0" flipV="0">
            <a:off x="8315325" y="4619625"/>
            <a:ext cx="2981325" cy="161925"/>
          </a:xfrm>
          <a:prstGeom prst="rect"/>
        </p:spPr>
        <p:txBody>
          <a:bodyPr wrap="none" lIns="0" tIns="0" rIns="0" bIns="0"/>
          <a:p>
            <a:pPr algn="ctr">
              <a:lnSpc>
                <a:spcPct val="100000"/>
              </a:lnSpc>
            </a:pPr>
            <a:r>
              <a:rPr lang="zh-CN" sz="1050" b="1">
                <a:solidFill>
                  <a:srgbClr val="C43A17"/>
                </a:solidFill>
                <a:latin typeface="Microsoft YaHei"/>
                <a:ea typeface="Microsoft YaHei"/>
              </a:rPr>
              <a:t>规则可配置</a:t>
            </a:r>
            <a:endParaRPr/>
          </a:p>
        </p:txBody>
      </p:sp>
      <p:sp>
        <p:nvSpPr>
          <p:cNvPr id="1048" name=""/>
          <p:cNvSpPr/>
          <p:nvPr/>
        </p:nvSpPr>
        <p:spPr>
          <a:xfrm rot="0" flipH="0" flipV="0">
            <a:off x="609600" y="5200650"/>
            <a:ext cx="38100" cy="381000"/>
          </a:xfrm>
          <a:prstGeom prst="rect">
            <a:avLst/>
          </a:prstGeom>
          <a:solidFill>
            <a:srgbClr val="F87D2F"/>
          </a:solidFill>
          <a:ln/>
        </p:spPr>
        <p:txBody>
          <a:bodyPr/>
          <a:p>
            <a:pPr/>
            <a:endParaRPr/>
          </a:p>
        </p:txBody>
      </p:sp>
      <p:sp>
        <p:nvSpPr>
          <p:cNvPr id="1049" name="" descr="{&quot;isTemplate&quot;:true,&quot;type&quot;:&quot;text&quot;}"/>
          <p:cNvSpPr txBox="1"/>
          <p:nvPr/>
        </p:nvSpPr>
        <p:spPr>
          <a:xfrm rot="0" flipH="0" flipV="0">
            <a:off x="781050" y="5267325"/>
            <a:ext cx="9858375" cy="257175"/>
          </a:xfrm>
          <a:prstGeom prst="rect"/>
        </p:spPr>
        <p:txBody>
          <a:bodyPr wrap="none" lIns="0" tIns="0" rIns="0" bIns="0"/>
          <a:p>
            <a:pPr>
              <a:lnSpc>
                <a:spcPct val="150000"/>
              </a:lnSpc>
            </a:pPr>
            <a:r>
              <a:rPr lang="zh-CN" sz="1125">
                <a:solidFill>
                  <a:srgbClr val="3A4050"/>
                </a:solidFill>
                <a:latin typeface="Microsoft YaHei"/>
                <a:ea typeface="Microsoft YaHei"/>
              </a:rPr>
              <a:t>三者不是并列关系：</a:t>
            </a:r>
            <a:r>
              <a:rPr lang="zh-CN" sz="1125">
                <a:solidFill>
                  <a:srgbClr val="3A4050"/>
                </a:solidFill>
                <a:latin typeface="Microsoft YaHei"/>
                <a:ea typeface="Microsoft YaHei"/>
              </a:rPr>
              <a:t>对象数字化是基础</a:t>
            </a:r>
            <a:r>
              <a:rPr lang="zh-CN" sz="1125">
                <a:solidFill>
                  <a:srgbClr val="3A4050"/>
                </a:solidFill>
                <a:latin typeface="Microsoft YaHei"/>
                <a:ea typeface="Microsoft YaHei"/>
              </a:rPr>
              <a:t>（先有对象本体），</a:t>
            </a:r>
            <a:r>
              <a:rPr lang="zh-CN" sz="1125">
                <a:solidFill>
                  <a:srgbClr val="3A4050"/>
                </a:solidFill>
                <a:latin typeface="Microsoft YaHei"/>
                <a:ea typeface="Microsoft YaHei"/>
              </a:rPr>
              <a:t>过程数字化是延展</a:t>
            </a:r>
            <a:r>
              <a:rPr lang="zh-CN" sz="1125">
                <a:solidFill>
                  <a:srgbClr val="3A4050"/>
                </a:solidFill>
                <a:latin typeface="Microsoft YaHei"/>
                <a:ea typeface="Microsoft YaHei"/>
              </a:rPr>
              <a:t>（对象在过程中的流转），</a:t>
            </a:r>
            <a:r>
              <a:rPr lang="zh-CN" sz="1125">
                <a:solidFill>
                  <a:srgbClr val="3A4050"/>
                </a:solidFill>
                <a:latin typeface="Microsoft YaHei"/>
                <a:ea typeface="Microsoft YaHei"/>
              </a:rPr>
              <a:t>规则数字化是升华</a:t>
            </a:r>
            <a:r>
              <a:rPr lang="zh-CN" sz="1125">
                <a:solidFill>
                  <a:srgbClr val="3A4050"/>
                </a:solidFill>
                <a:latin typeface="Microsoft YaHei"/>
                <a:ea typeface="Microsoft YaHei"/>
              </a:rPr>
              <a:t>（约束对象与过程的业务逻辑）。</a:t>
            </a:r>
            <a:endParaRPr/>
          </a:p>
        </p:txBody>
      </p:sp>
      <p:sp>
        <p:nvSpPr>
          <p:cNvPr id="1050" name=""/>
          <p:cNvSpPr/>
          <p:nvPr/>
        </p:nvSpPr>
        <p:spPr>
          <a:xfrm rot="0" flipH="0" flipV="0">
            <a:off x="609600" y="5943600"/>
            <a:ext cx="133350" cy="133350"/>
          </a:xfrm>
          <a:prstGeom prst="rect">
            <a:avLst/>
          </a:prstGeom>
          <a:solidFill>
            <a:srgbClr val="FA4F24"/>
          </a:solidFill>
          <a:ln/>
        </p:spPr>
        <p:txBody>
          <a:bodyPr/>
          <a:p>
            <a:pPr/>
            <a:endParaRPr/>
          </a:p>
        </p:txBody>
      </p:sp>
      <p:sp>
        <p:nvSpPr>
          <p:cNvPr id="1051"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1052"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07 / 30</a:t>
            </a:r>
            <a:endParaRPr/>
          </a:p>
        </p:txBody>
      </p:sp>
    </p:spTree>
  </p:cSld>
</p:sld>
</file>

<file path=ppt/slides/slide8.xml><?xml version="1.0" encoding="utf-8"?>
<p:sld xmlns:p="http://schemas.openxmlformats.org/presentationml/2006/main" xmlns:a="http://schemas.openxmlformats.org/drawingml/2006/main">
  <p:cSld>
    <p:spTree>
      <p:nvGrpSpPr>
        <p:cNvPr id="1053" name=""/>
        <p:cNvGrpSpPr/>
        <p:nvPr/>
      </p:nvGrpSpPr>
      <p:grpSpPr>
        <a:xfrm>
          <a:off x="0" y="0"/>
          <a:ext cx="0" cy="0"/>
          <a:chOff x="0" y="0"/>
          <a:chExt cx="0" cy="0"/>
        </a:xfrm>
      </p:grpSpPr>
      <p:sp>
        <p:nvSpPr>
          <p:cNvPr id="1054" name=""/>
          <p:cNvSpPr/>
          <p:nvPr/>
        </p:nvSpPr>
        <p:spPr>
          <a:xfrm rot="0" flipH="0" flipV="0">
            <a:off x="0" y="0"/>
            <a:ext cx="12192000" cy="6858000"/>
          </a:xfrm>
          <a:prstGeom prst="rect">
            <a:avLst/>
          </a:prstGeom>
          <a:solidFill>
            <a:srgbClr val="0F1423"/>
          </a:solidFill>
          <a:ln/>
        </p:spPr>
        <p:txBody>
          <a:bodyPr/>
          <a:p>
            <a:pPr/>
            <a:endParaRPr/>
          </a:p>
        </p:txBody>
      </p:sp>
      <p:sp>
        <p:nvSpPr>
          <p:cNvPr id="1055"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a:pPr/>
            <a:endParaRPr/>
          </a:p>
        </p:txBody>
      </p:sp>
      <p:sp>
        <p:nvSpPr>
          <p:cNvPr id="1056"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a:pPr/>
            <a:endParaRPr/>
          </a:p>
        </p:txBody>
      </p:sp>
      <p:sp>
        <p:nvSpPr>
          <p:cNvPr id="1057" name="" descr="{&quot;isTemplate&quot;:true,&quot;type&quot;:&quot;text&quot;}"/>
          <p:cNvSpPr txBox="1"/>
          <p:nvPr/>
        </p:nvSpPr>
        <p:spPr>
          <a:xfrm rot="0" flipH="0" flipV="0">
            <a:off x="7991475" y="1047750"/>
            <a:ext cx="3533775" cy="3429000"/>
          </a:xfrm>
          <a:prstGeom prst="rect"/>
        </p:spPr>
        <p:txBody>
          <a:bodyPr wrap="none" lIns="0" tIns="0" rIns="0" bIns="0"/>
          <a:p>
            <a:pPr>
              <a:lnSpc>
                <a:spcPct val="100000"/>
              </a:lnSpc>
            </a:pPr>
            <a:r>
              <a:rPr lang="en-US" sz="22500" b="1">
                <a:solidFill>
                  <a:srgbClr val="FFFFFF">
                    <a:alpha val="8000"/>
                  </a:srgbClr>
                </a:solidFill>
                <a:latin typeface="Microsoft YaHei"/>
                <a:ea typeface="Microsoft YaHei"/>
              </a:rPr>
              <a:t>02</a:t>
            </a:r>
            <a:endParaRPr/>
          </a:p>
        </p:txBody>
      </p:sp>
      <p:sp>
        <p:nvSpPr>
          <p:cNvPr id="1058" name="" descr="{&quot;isTemplate&quot;:true,&quot;type&quot;:&quot;text&quot;}"/>
          <p:cNvSpPr txBox="1"/>
          <p:nvPr/>
        </p:nvSpPr>
        <p:spPr>
          <a:xfrm rot="0" flipH="0" flipV="0">
            <a:off x="838200" y="2286000"/>
            <a:ext cx="5905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02</a:t>
            </a:r>
            <a:endParaRPr/>
          </a:p>
        </p:txBody>
      </p:sp>
      <p:sp>
        <p:nvSpPr>
          <p:cNvPr id="1059" name=""/>
          <p:cNvSpPr/>
          <p:nvPr/>
        </p:nvSpPr>
        <p:spPr>
          <a:xfrm rot="0" flipH="0" flipV="0">
            <a:off x="838200" y="2667000"/>
            <a:ext cx="685800" cy="47625"/>
          </a:xfrm>
          <a:prstGeom prst="rect">
            <a:avLst/>
          </a:prstGeom>
          <a:solidFill>
            <a:srgbClr val="FA4F24"/>
          </a:solidFill>
          <a:ln/>
        </p:spPr>
        <p:txBody>
          <a:bodyPr/>
          <a:p>
            <a:pPr/>
            <a:endParaRPr/>
          </a:p>
        </p:txBody>
      </p:sp>
      <p:sp>
        <p:nvSpPr>
          <p:cNvPr id="1060" name="" descr="{&quot;isTemplate&quot;:true,&quot;type&quot;:&quot;text&quot;}"/>
          <p:cNvSpPr txBox="1"/>
          <p:nvPr/>
        </p:nvSpPr>
        <p:spPr>
          <a:xfrm rot="0" flipH="0" flipV="0">
            <a:off x="838200" y="2981325"/>
            <a:ext cx="5905500" cy="790575"/>
          </a:xfrm>
          <a:prstGeom prst="rect"/>
        </p:spPr>
        <p:txBody>
          <a:bodyPr wrap="none" lIns="0" tIns="0" rIns="0" bIns="0"/>
          <a:p>
            <a:pPr>
              <a:lnSpc>
                <a:spcPct val="114999"/>
              </a:lnSpc>
            </a:pPr>
            <a:r>
              <a:rPr lang="zh-CN" sz="4500" b="1">
                <a:solidFill>
                  <a:srgbClr val="FFFFFF"/>
                </a:solidFill>
                <a:latin typeface="Microsoft YaHei"/>
                <a:ea typeface="Microsoft YaHei"/>
              </a:rPr>
              <a:t>业务对象识别</a:t>
            </a:r>
            <a:endParaRPr/>
          </a:p>
        </p:txBody>
      </p:sp>
      <p:sp>
        <p:nvSpPr>
          <p:cNvPr id="1061" name="" descr="{&quot;isTemplate&quot;:true,&quot;type&quot;:&quot;text&quot;}"/>
          <p:cNvSpPr txBox="1"/>
          <p:nvPr/>
        </p:nvSpPr>
        <p:spPr>
          <a:xfrm rot="0" flipH="0" flipV="0">
            <a:off x="838200" y="3962400"/>
            <a:ext cx="5905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BUSINESS OBJECT</a:t>
            </a:r>
            <a:endParaRPr/>
          </a:p>
        </p:txBody>
      </p:sp>
      <p:sp>
        <p:nvSpPr>
          <p:cNvPr id="1062" name="" descr="{&quot;isTemplate&quot;:true,&quot;type&quot;:&quot;text&quot;}"/>
          <p:cNvSpPr txBox="1"/>
          <p:nvPr/>
        </p:nvSpPr>
        <p:spPr>
          <a:xfrm rot="0" flipH="0" flipV="0">
            <a:off x="838200" y="4410075"/>
            <a:ext cx="59055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识别重要人事物，为四层架构确立共同锚点</a:t>
            </a:r>
            <a:endParaRPr/>
          </a:p>
        </p:txBody>
      </p:sp>
      <p:sp>
        <p:nvSpPr>
          <p:cNvPr id="1063" name=""/>
          <p:cNvSpPr/>
          <p:nvPr/>
        </p:nvSpPr>
        <p:spPr>
          <a:xfrm rot="0" flipH="0" flipV="0">
            <a:off x="8382000" y="6105525"/>
            <a:ext cx="133350" cy="133350"/>
          </a:xfrm>
          <a:prstGeom prst="rect">
            <a:avLst/>
          </a:prstGeom>
          <a:solidFill>
            <a:srgbClr val="FA4F24"/>
          </a:solidFill>
          <a:ln/>
        </p:spPr>
        <p:txBody>
          <a:bodyPr/>
          <a:p>
            <a:pPr/>
            <a:endParaRPr/>
          </a:p>
        </p:txBody>
      </p:sp>
      <p:sp>
        <p:nvSpPr>
          <p:cNvPr id="1064" name="" descr="{&quot;isTemplate&quot;:true,&quot;type&quot;:&quot;text&quot;}"/>
          <p:cNvSpPr txBox="1"/>
          <p:nvPr/>
        </p:nvSpPr>
        <p:spPr>
          <a:xfrm rot="0" flipH="0" flipV="0">
            <a:off x="8629650" y="6086475"/>
            <a:ext cx="203835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DA</a:t>
            </a:r>
            <a:r>
              <a:rPr lang="zh-CN" sz="1050">
                <a:solidFill>
                  <a:srgbClr val="FFFFFF">
                    <a:alpha val="50000"/>
                  </a:srgbClr>
                </a:solidFill>
                <a:latin typeface="Microsoft YaHei"/>
                <a:ea typeface="Microsoft YaHei"/>
              </a:rPr>
              <a:t>数据架构咨询方法论</a:t>
            </a:r>
            <a:endParaRPr/>
          </a:p>
        </p:txBody>
      </p:sp>
      <p:sp>
        <p:nvSpPr>
          <p:cNvPr id="1065" name="" descr="{&quot;isTemplate&quot;:true,&quot;type&quot;:&quot;text&quot;}"/>
          <p:cNvSpPr txBox="1"/>
          <p:nvPr/>
        </p:nvSpPr>
        <p:spPr>
          <a:xfrm rot="0" flipH="0" flipV="0">
            <a:off x="10896600" y="60864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08 / 30</a:t>
            </a:r>
            <a:endParaRPr/>
          </a:p>
        </p:txBody>
      </p:sp>
    </p:spTree>
  </p:cSld>
</p:sld>
</file>

<file path=ppt/slides/slide9.xml><?xml version="1.0" encoding="utf-8"?>
<p:sld xmlns:p="http://schemas.openxmlformats.org/presentationml/2006/main" xmlns:a="http://schemas.openxmlformats.org/drawingml/2006/main">
  <p:cSld>
    <p:spTree>
      <p:nvGrpSpPr>
        <p:cNvPr id="1066" name=""/>
        <p:cNvGrpSpPr/>
        <p:nvPr/>
      </p:nvGrpSpPr>
      <p:grpSpPr>
        <a:xfrm>
          <a:off x="0" y="0"/>
          <a:ext cx="0" cy="0"/>
          <a:chOff x="0" y="0"/>
          <a:chExt cx="0" cy="0"/>
        </a:xfrm>
      </p:grpSpPr>
      <p:sp>
        <p:nvSpPr>
          <p:cNvPr id="1067" name=""/>
          <p:cNvSpPr/>
          <p:nvPr/>
        </p:nvSpPr>
        <p:spPr>
          <a:xfrm rot="0" flipH="0" flipV="0">
            <a:off x="0" y="0"/>
            <a:ext cx="12192000" cy="6858000"/>
          </a:xfrm>
          <a:prstGeom prst="rect">
            <a:avLst/>
          </a:prstGeom>
          <a:solidFill>
            <a:srgbClr val="FFFFFF"/>
          </a:solidFill>
          <a:ln/>
        </p:spPr>
        <p:txBody>
          <a:bodyPr/>
          <a:p>
            <a:pPr/>
            <a:endParaRPr/>
          </a:p>
        </p:txBody>
      </p:sp>
      <p:sp>
        <p:nvSpPr>
          <p:cNvPr id="1068"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之方法：用</a:t>
            </a:r>
            <a:r>
              <a:rPr lang="zh-CN" sz="2400" b="1">
                <a:solidFill>
                  <a:srgbClr val="FA4F24"/>
                </a:solidFill>
                <a:latin typeface="Microsoft YaHei"/>
                <a:ea typeface="Microsoft YaHei"/>
              </a:rPr>
              <a:t>四判定法</a:t>
            </a:r>
            <a:r>
              <a:rPr lang="zh-CN" sz="2400" b="1">
                <a:solidFill>
                  <a:srgbClr val="0F1423"/>
                </a:solidFill>
                <a:latin typeface="Microsoft YaHei"/>
                <a:ea typeface="Microsoft YaHei"/>
              </a:rPr>
              <a:t>识别业务对象，把争议变成确定性规则</a:t>
            </a:r>
            <a:endParaRPr/>
          </a:p>
        </p:txBody>
      </p:sp>
      <p:sp>
        <p:nvSpPr>
          <p:cNvPr id="1069"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业务对象是业务领域重要的人、事、物</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架构师、业务代表、数据</a:t>
            </a:r>
            <a:r>
              <a:rPr lang="en-US" sz="1500">
                <a:solidFill>
                  <a:srgbClr val="8A8F99"/>
                </a:solidFill>
                <a:latin typeface="Microsoft YaHei"/>
                <a:ea typeface="Microsoft YaHei"/>
              </a:rPr>
              <a:t xml:space="preserve">Owner </a:t>
            </a:r>
            <a:r>
              <a:rPr lang="zh-CN" sz="1500">
                <a:solidFill>
                  <a:srgbClr val="8A8F99"/>
                </a:solidFill>
                <a:latin typeface="Microsoft YaHei"/>
                <a:ea typeface="Microsoft YaHei"/>
              </a:rPr>
              <a:t>常对它理解不一，须用规则统一</a:t>
            </a:r>
            <a:endParaRPr/>
          </a:p>
        </p:txBody>
      </p:sp>
      <p:sp>
        <p:nvSpPr>
          <p:cNvPr id="1070" name=""/>
          <p:cNvSpPr/>
          <p:nvPr/>
        </p:nvSpPr>
        <p:spPr>
          <a:xfrm rot="0" flipH="0" flipV="0">
            <a:off x="609600" y="1143000"/>
            <a:ext cx="10972800" cy="9525"/>
          </a:xfrm>
          <a:prstGeom prst="rect">
            <a:avLst/>
          </a:prstGeom>
          <a:solidFill>
            <a:srgbClr val="E8E8E8"/>
          </a:solidFill>
          <a:ln/>
        </p:spPr>
        <p:txBody>
          <a:bodyPr/>
          <a:p>
            <a:pPr/>
            <a:endParaRPr/>
          </a:p>
        </p:txBody>
      </p:sp>
      <p:sp>
        <p:nvSpPr>
          <p:cNvPr id="1071" name=""/>
          <p:cNvSpPr/>
          <p:nvPr/>
        </p:nvSpPr>
        <p:spPr>
          <a:xfrm rot="0" flipH="0" flipV="0">
            <a:off x="609600" y="1381125"/>
            <a:ext cx="3200400" cy="4200525"/>
          </a:xfrm>
          <a:prstGeom prst="roundRect">
            <a:avLst>
              <a:gd name="adj" fmla="val 1190"/>
            </a:avLst>
          </a:prstGeom>
          <a:gradFill>
            <a:gsLst>
              <a:gs pos="0">
                <a:srgbClr val="FA4F24"/>
              </a:gs>
              <a:gs pos="100000">
                <a:srgbClr val="F87D2F"/>
              </a:gs>
            </a:gsLst>
            <a:lin ang="4200000" scaled="1"/>
          </a:gradFill>
          <a:ln/>
        </p:spPr>
        <p:txBody>
          <a:bodyPr/>
          <a:p>
            <a:pPr/>
            <a:endParaRPr/>
          </a:p>
        </p:txBody>
      </p:sp>
      <p:sp>
        <p:nvSpPr>
          <p:cNvPr id="1072" name="" descr="{&quot;isTemplate&quot;:true,&quot;type&quot;:&quot;text&quot;}"/>
          <p:cNvSpPr txBox="1"/>
          <p:nvPr/>
        </p:nvSpPr>
        <p:spPr>
          <a:xfrm rot="0" flipH="0" flipV="0">
            <a:off x="876300" y="1647825"/>
            <a:ext cx="2667000" cy="171450"/>
          </a:xfrm>
          <a:prstGeom prst="rect"/>
        </p:spPr>
        <p:txBody>
          <a:bodyPr wrap="none" lIns="0" tIns="0" rIns="0" bIns="0"/>
          <a:p>
            <a:pPr>
              <a:lnSpc>
                <a:spcPct val="100000"/>
              </a:lnSpc>
            </a:pPr>
            <a:r>
              <a:rPr lang="en-US" sz="1125" spc="150">
                <a:solidFill>
                  <a:srgbClr val="FFFFFF">
                    <a:alpha val="80000"/>
                  </a:srgbClr>
                </a:solidFill>
                <a:latin typeface="Microsoft YaHei"/>
                <a:ea typeface="Microsoft YaHei"/>
              </a:rPr>
              <a:t>STEP 01 · BUSINESS OBJECT</a:t>
            </a:r>
            <a:endParaRPr/>
          </a:p>
        </p:txBody>
      </p:sp>
      <p:sp>
        <p:nvSpPr>
          <p:cNvPr id="1073" name="" descr="{&quot;isTemplate&quot;:true,&quot;type&quot;:&quot;text&quot;}"/>
          <p:cNvSpPr txBox="1"/>
          <p:nvPr/>
        </p:nvSpPr>
        <p:spPr>
          <a:xfrm rot="0" flipH="0" flipV="0">
            <a:off x="876300" y="1952625"/>
            <a:ext cx="2667000" cy="857250"/>
          </a:xfrm>
          <a:prstGeom prst="rect"/>
        </p:spPr>
        <p:txBody>
          <a:bodyPr wrap="none" lIns="0" tIns="0" rIns="0" bIns="0"/>
          <a:p>
            <a:pPr>
              <a:lnSpc>
                <a:spcPct val="125000"/>
              </a:lnSpc>
            </a:pPr>
            <a:r>
              <a:rPr lang="zh-CN" sz="2250" b="1">
                <a:solidFill>
                  <a:srgbClr val="FFFFFF"/>
                </a:solidFill>
                <a:latin typeface="Microsoft YaHei"/>
                <a:ea typeface="Microsoft YaHei"/>
              </a:rPr>
              <a:t>业务对象</a:t>
            </a:r>
            <a:endParaRPr/>
          </a:p>
          <a:p>
            <a:pPr>
              <a:lnSpc>
                <a:spcPct val="125000"/>
              </a:lnSpc>
            </a:pPr>
            <a:r>
              <a:rPr lang="zh-CN" sz="2250" b="1">
                <a:solidFill>
                  <a:srgbClr val="FFFFFF"/>
                </a:solidFill>
                <a:latin typeface="Microsoft YaHei"/>
                <a:ea typeface="Microsoft YaHei"/>
              </a:rPr>
              <a:t>识别法</a:t>
            </a:r>
            <a:endParaRPr/>
          </a:p>
        </p:txBody>
      </p:sp>
      <p:sp>
        <p:nvSpPr>
          <p:cNvPr id="1074" name=""/>
          <p:cNvSpPr/>
          <p:nvPr/>
        </p:nvSpPr>
        <p:spPr>
          <a:xfrm rot="0" flipH="0" flipV="0">
            <a:off x="876300" y="4219575"/>
            <a:ext cx="419100" cy="38100"/>
          </a:xfrm>
          <a:prstGeom prst="rect">
            <a:avLst/>
          </a:prstGeom>
          <a:solidFill>
            <a:srgbClr val="FFFFFF">
              <a:alpha val="70000"/>
            </a:srgbClr>
          </a:solidFill>
          <a:ln/>
        </p:spPr>
        <p:txBody>
          <a:bodyPr/>
          <a:p>
            <a:pPr/>
            <a:endParaRPr/>
          </a:p>
        </p:txBody>
      </p:sp>
      <p:sp>
        <p:nvSpPr>
          <p:cNvPr id="1075" name="" descr="{&quot;isTemplate&quot;:true,&quot;type&quot;:&quot;text&quot;}"/>
          <p:cNvSpPr txBox="1"/>
          <p:nvPr/>
        </p:nvSpPr>
        <p:spPr>
          <a:xfrm rot="0" flipH="0" flipV="0">
            <a:off x="876300" y="4410075"/>
            <a:ext cx="2667000" cy="904875"/>
          </a:xfrm>
          <a:prstGeom prst="rect"/>
        </p:spPr>
        <p:txBody>
          <a:bodyPr wrap="square" lIns="0" tIns="0" rIns="0" bIns="0">
            <a:normAutofit/>
          </a:bodyPr>
          <a:p>
            <a:pPr>
              <a:lnSpc>
                <a:spcPct val="155000"/>
              </a:lnSpc>
            </a:pPr>
            <a:r>
              <a:rPr lang="zh-CN" sz="1275">
                <a:solidFill>
                  <a:srgbClr val="FFFFFF">
                    <a:alpha val="94000"/>
                  </a:srgbClr>
                </a:solidFill>
                <a:latin typeface="Microsoft YaHei"/>
                <a:ea typeface="Microsoft YaHei"/>
              </a:rPr>
              <a:t>稳定性来自规则。四条判定必须</a:t>
            </a:r>
            <a:r>
              <a:rPr lang="zh-CN" sz="1275">
                <a:solidFill>
                  <a:srgbClr val="FFFFFF">
                    <a:alpha val="94000"/>
                  </a:srgbClr>
                </a:solidFill>
                <a:latin typeface="Microsoft YaHei"/>
                <a:ea typeface="Microsoft YaHei"/>
              </a:rPr>
              <a:t>全部满足</a:t>
            </a:r>
            <a:r>
              <a:rPr lang="zh-CN" sz="1275">
                <a:solidFill>
                  <a:srgbClr val="FFFFFF">
                    <a:alpha val="94000"/>
                  </a:srgbClr>
                </a:solidFill>
                <a:latin typeface="Microsoft YaHei"/>
                <a:ea typeface="Microsoft YaHei"/>
              </a:rPr>
              <a:t>，才能成为业务对象</a:t>
            </a:r>
            <a:r>
              <a:rPr lang="en-US" sz="1275">
                <a:solidFill>
                  <a:srgbClr val="FFFFFF">
                    <a:alpha val="94000"/>
                  </a:srgbClr>
                </a:solidFill>
                <a:latin typeface="Microsoft YaHei"/>
                <a:ea typeface="Microsoft YaHei"/>
              </a:rPr>
              <a:t xml:space="preserve"> —— </a:t>
            </a:r>
            <a:r>
              <a:rPr lang="zh-CN" sz="1275">
                <a:solidFill>
                  <a:srgbClr val="FFFFFF">
                    <a:alpha val="94000"/>
                  </a:srgbClr>
                </a:solidFill>
                <a:latin typeface="Microsoft YaHei"/>
                <a:ea typeface="Microsoft YaHei"/>
              </a:rPr>
              <a:t>不是谁说是就是。</a:t>
            </a:r>
            <a:endParaRPr/>
          </a:p>
        </p:txBody>
      </p:sp>
      <p:sp>
        <p:nvSpPr>
          <p:cNvPr id="1076" name="" descr="{&quot;isTemplate&quot;:true,&quot;type&quot;:&quot;text&quot;}"/>
          <p:cNvSpPr txBox="1"/>
          <p:nvPr/>
        </p:nvSpPr>
        <p:spPr>
          <a:xfrm rot="0" flipH="0" flipV="0">
            <a:off x="4038600" y="1381125"/>
            <a:ext cx="7543800" cy="247650"/>
          </a:xfrm>
          <a:prstGeom prst="rect"/>
        </p:spPr>
        <p:txBody>
          <a:bodyPr wrap="none" lIns="0" tIns="0" rIns="0" bIns="0"/>
          <a:p>
            <a:pPr>
              <a:lnSpc>
                <a:spcPct val="100000"/>
              </a:lnSpc>
            </a:pPr>
            <a:r>
              <a:rPr lang="zh-CN" sz="1575" b="1">
                <a:solidFill>
                  <a:srgbClr val="0F1423"/>
                </a:solidFill>
                <a:latin typeface="Microsoft YaHei"/>
                <a:ea typeface="Microsoft YaHei"/>
              </a:rPr>
              <a:t>业务对象四判定原则</a:t>
            </a:r>
            <a:endParaRPr/>
          </a:p>
        </p:txBody>
      </p:sp>
      <p:sp>
        <p:nvSpPr>
          <p:cNvPr id="1077" name=""/>
          <p:cNvSpPr/>
          <p:nvPr/>
        </p:nvSpPr>
        <p:spPr>
          <a:xfrm rot="0" flipH="0" flipV="0">
            <a:off x="4076700" y="1743075"/>
            <a:ext cx="7543800" cy="876300"/>
          </a:xfrm>
          <a:prstGeom prst="roundRect">
            <a:avLst>
              <a:gd name="adj" fmla="val 4348"/>
            </a:avLst>
          </a:prstGeom>
          <a:solidFill>
            <a:srgbClr val="F7F7F8"/>
          </a:solidFill>
          <a:ln/>
        </p:spPr>
        <p:txBody>
          <a:bodyPr/>
          <a:p>
            <a:pPr/>
            <a:endParaRPr/>
          </a:p>
        </p:txBody>
      </p:sp>
      <p:sp>
        <p:nvSpPr>
          <p:cNvPr id="1078" name=""/>
          <p:cNvSpPr/>
          <p:nvPr/>
        </p:nvSpPr>
        <p:spPr>
          <a:xfrm rot="0" flipH="0" flipV="0">
            <a:off x="4076700" y="1743075"/>
            <a:ext cx="7543800" cy="876300"/>
          </a:xfrm>
          <a:custGeom>
            <a:pathLst>
              <a:path w="792" h="92">
                <a:moveTo>
                  <a:pt x="4" y="92"/>
                </a:moveTo>
                <a:cubicBezTo>
                  <a:pt x="2" y="92"/>
                  <a:pt x="0" y="90"/>
                  <a:pt x="0" y="88"/>
                </a:cubicBezTo>
                <a:lnTo>
                  <a:pt x="0" y="4"/>
                </a:lnTo>
                <a:cubicBezTo>
                  <a:pt x="0" y="2"/>
                  <a:pt x="2" y="0"/>
                  <a:pt x="4" y="0"/>
                </a:cubicBezTo>
                <a:lnTo>
                  <a:pt x="4" y="92"/>
                </a:lnTo>
                <a:close/>
              </a:path>
            </a:pathLst>
          </a:custGeom>
          <a:solidFill>
            <a:srgbClr val="FA4F24"/>
          </a:solidFill>
          <a:ln/>
        </p:spPr>
        <p:txBody>
          <a:bodyPr/>
          <a:p>
            <a:pPr/>
            <a:endParaRPr/>
          </a:p>
        </p:txBody>
      </p:sp>
      <p:sp>
        <p:nvSpPr>
          <p:cNvPr id="1079" name="" descr="{&quot;isTemplate&quot;:true,&quot;type&quot;:&quot;text&quot;}"/>
          <p:cNvSpPr txBox="1"/>
          <p:nvPr/>
        </p:nvSpPr>
        <p:spPr>
          <a:xfrm rot="0" flipH="0" flipV="0">
            <a:off x="4267200" y="2095500"/>
            <a:ext cx="495300" cy="171450"/>
          </a:xfrm>
          <a:prstGeom prst="rect"/>
        </p:spPr>
        <p:txBody>
          <a:bodyPr wrap="none" lIns="0" tIns="0" rIns="0" bIns="0"/>
          <a:p>
            <a:pPr>
              <a:lnSpc>
                <a:spcPct val="100000"/>
              </a:lnSpc>
            </a:pPr>
            <a:r>
              <a:rPr lang="zh-CN" sz="1125" b="1">
                <a:solidFill>
                  <a:srgbClr val="FA4F24"/>
                </a:solidFill>
                <a:latin typeface="Microsoft YaHei"/>
                <a:ea typeface="Microsoft YaHei"/>
              </a:rPr>
              <a:t>原则一</a:t>
            </a:r>
            <a:endParaRPr/>
          </a:p>
        </p:txBody>
      </p:sp>
      <p:sp>
        <p:nvSpPr>
          <p:cNvPr id="1080" name="" descr="{&quot;isTemplate&quot;:true,&quot;type&quot;:&quot;text&quot;}"/>
          <p:cNvSpPr txBox="1"/>
          <p:nvPr/>
        </p:nvSpPr>
        <p:spPr>
          <a:xfrm rot="0" flipH="0" flipV="0">
            <a:off x="4914900" y="2066925"/>
            <a:ext cx="1409700" cy="228600"/>
          </a:xfrm>
          <a:prstGeom prst="rect"/>
        </p:spPr>
        <p:txBody>
          <a:bodyPr wrap="none" lIns="0" tIns="0" rIns="0" bIns="0"/>
          <a:p>
            <a:pPr>
              <a:lnSpc>
                <a:spcPct val="100000"/>
              </a:lnSpc>
            </a:pPr>
            <a:r>
              <a:rPr lang="zh-CN" sz="1500" b="1">
                <a:solidFill>
                  <a:srgbClr val="0F1423"/>
                </a:solidFill>
                <a:latin typeface="Microsoft YaHei"/>
                <a:ea typeface="Microsoft YaHei"/>
              </a:rPr>
              <a:t>不可或缺</a:t>
            </a:r>
            <a:endParaRPr/>
          </a:p>
        </p:txBody>
      </p:sp>
      <p:sp>
        <p:nvSpPr>
          <p:cNvPr id="1081" name="" descr="{&quot;isTemplate&quot;:true,&quot;type&quot;:&quot;text&quot;}"/>
          <p:cNvSpPr txBox="1"/>
          <p:nvPr/>
        </p:nvSpPr>
        <p:spPr>
          <a:xfrm rot="0" flipH="0" flipV="0">
            <a:off x="6477000" y="1933575"/>
            <a:ext cx="3162300" cy="504825"/>
          </a:xfrm>
          <a:prstGeom prst="rect"/>
        </p:spPr>
        <p:txBody>
          <a:bodyPr wrap="square" lIns="0" tIns="0" rIns="0" bIns="0">
            <a:normAutofit/>
          </a:bodyPr>
          <a:p>
            <a:pPr>
              <a:lnSpc>
                <a:spcPct val="145000"/>
              </a:lnSpc>
            </a:pPr>
            <a:r>
              <a:rPr lang="zh-CN" sz="1125">
                <a:solidFill>
                  <a:srgbClr val="3A4050"/>
                </a:solidFill>
                <a:latin typeface="Microsoft YaHei"/>
                <a:ea typeface="Microsoft YaHei"/>
              </a:rPr>
              <a:t>指企业运作和管理中不可缺少的重要人、事、物。可有可无的不是业务对象。</a:t>
            </a:r>
            <a:endParaRPr/>
          </a:p>
        </p:txBody>
      </p:sp>
      <p:sp>
        <p:nvSpPr>
          <p:cNvPr id="1082" name=""/>
          <p:cNvSpPr/>
          <p:nvPr/>
        </p:nvSpPr>
        <p:spPr>
          <a:xfrm rot="0" flipH="0" flipV="0">
            <a:off x="9791700" y="1943100"/>
            <a:ext cx="1600200" cy="476250"/>
          </a:xfrm>
          <a:prstGeom prst="roundRect">
            <a:avLst>
              <a:gd name="adj" fmla="val 6000"/>
            </a:avLst>
          </a:prstGeom>
          <a:solidFill>
            <a:srgbClr val="FA4F24">
              <a:alpha val="10000"/>
            </a:srgbClr>
          </a:solidFill>
          <a:ln/>
        </p:spPr>
        <p:txBody>
          <a:bodyPr/>
          <a:p>
            <a:pPr/>
            <a:endParaRPr/>
          </a:p>
        </p:txBody>
      </p:sp>
      <p:sp>
        <p:nvSpPr>
          <p:cNvPr id="1083" name="" descr="{&quot;isTemplate&quot;:true,&quot;type&quot;:&quot;text&quot;}"/>
          <p:cNvSpPr txBox="1"/>
          <p:nvPr/>
        </p:nvSpPr>
        <p:spPr>
          <a:xfrm rot="0" flipH="0" flipV="0">
            <a:off x="9867900" y="2000250"/>
            <a:ext cx="1447800" cy="361950"/>
          </a:xfrm>
          <a:prstGeom prst="rect"/>
        </p:spPr>
        <p:txBody>
          <a:bodyPr wrap="square" lIns="0" tIns="0" rIns="0" bIns="0">
            <a:normAutofit/>
          </a:bodyPr>
          <a:p>
            <a:pPr algn="ctr">
              <a:lnSpc>
                <a:spcPct val="130000"/>
              </a:lnSpc>
            </a:pPr>
            <a:r>
              <a:rPr lang="zh-CN" sz="900">
                <a:solidFill>
                  <a:srgbClr val="C43A17"/>
                </a:solidFill>
                <a:latin typeface="Microsoft YaHei"/>
                <a:ea typeface="Microsoft YaHei"/>
              </a:rPr>
              <a:t>子公司</a:t>
            </a:r>
            <a:r>
              <a:rPr lang="en-US" sz="900">
                <a:solidFill>
                  <a:srgbClr val="C43A17"/>
                </a:solidFill>
                <a:latin typeface="Microsoft YaHei"/>
                <a:ea typeface="Microsoft YaHei"/>
              </a:rPr>
              <a:t xml:space="preserve"> / </a:t>
            </a:r>
            <a:r>
              <a:rPr lang="zh-CN" sz="900">
                <a:solidFill>
                  <a:srgbClr val="C43A17"/>
                </a:solidFill>
                <a:latin typeface="Microsoft YaHei"/>
                <a:ea typeface="Microsoft YaHei"/>
              </a:rPr>
              <a:t>法人客户</a:t>
            </a:r>
            <a:r>
              <a:rPr lang="en-US" sz="900">
                <a:solidFill>
                  <a:srgbClr val="C43A17"/>
                </a:solidFill>
                <a:latin typeface="Microsoft YaHei"/>
                <a:ea typeface="Microsoft YaHei"/>
              </a:rPr>
              <a:t xml:space="preserve"> / </a:t>
            </a:r>
            <a:r>
              <a:rPr lang="zh-CN" sz="900">
                <a:solidFill>
                  <a:srgbClr val="C43A17"/>
                </a:solidFill>
                <a:latin typeface="Microsoft YaHei"/>
                <a:ea typeface="Microsoft YaHei"/>
              </a:rPr>
              <a:t>客户合同</a:t>
            </a:r>
            <a:r>
              <a:rPr lang="en-US" sz="900">
                <a:solidFill>
                  <a:srgbClr val="C43A17"/>
                </a:solidFill>
                <a:latin typeface="Microsoft YaHei"/>
                <a:ea typeface="Microsoft YaHei"/>
              </a:rPr>
              <a:t xml:space="preserve"> / </a:t>
            </a:r>
            <a:r>
              <a:rPr lang="zh-CN" sz="900">
                <a:solidFill>
                  <a:srgbClr val="C43A17"/>
                </a:solidFill>
                <a:latin typeface="Microsoft YaHei"/>
                <a:ea typeface="Microsoft YaHei"/>
              </a:rPr>
              <a:t>产品</a:t>
            </a:r>
            <a:endParaRPr/>
          </a:p>
        </p:txBody>
      </p:sp>
      <p:sp>
        <p:nvSpPr>
          <p:cNvPr id="1084" name=""/>
          <p:cNvSpPr/>
          <p:nvPr/>
        </p:nvSpPr>
        <p:spPr>
          <a:xfrm rot="0" flipH="0" flipV="0">
            <a:off x="4076700" y="2733675"/>
            <a:ext cx="7543800" cy="876300"/>
          </a:xfrm>
          <a:prstGeom prst="roundRect">
            <a:avLst>
              <a:gd name="adj" fmla="val 4348"/>
            </a:avLst>
          </a:prstGeom>
          <a:solidFill>
            <a:srgbClr val="F7F7F8"/>
          </a:solidFill>
          <a:ln/>
        </p:spPr>
        <p:txBody>
          <a:bodyPr/>
          <a:p>
            <a:pPr/>
            <a:endParaRPr/>
          </a:p>
        </p:txBody>
      </p:sp>
      <p:sp>
        <p:nvSpPr>
          <p:cNvPr id="1085" name=""/>
          <p:cNvSpPr/>
          <p:nvPr/>
        </p:nvSpPr>
        <p:spPr>
          <a:xfrm rot="0" flipH="0" flipV="0">
            <a:off x="4076700" y="2733675"/>
            <a:ext cx="7543800" cy="876300"/>
          </a:xfrm>
          <a:custGeom>
            <a:pathLst>
              <a:path w="792" h="92">
                <a:moveTo>
                  <a:pt x="4" y="92"/>
                </a:moveTo>
                <a:cubicBezTo>
                  <a:pt x="2" y="92"/>
                  <a:pt x="0" y="90"/>
                  <a:pt x="0" y="88"/>
                </a:cubicBezTo>
                <a:lnTo>
                  <a:pt x="0" y="4"/>
                </a:lnTo>
                <a:cubicBezTo>
                  <a:pt x="0" y="2"/>
                  <a:pt x="2" y="0"/>
                  <a:pt x="4" y="0"/>
                </a:cubicBezTo>
                <a:lnTo>
                  <a:pt x="4" y="92"/>
                </a:lnTo>
                <a:close/>
              </a:path>
            </a:pathLst>
          </a:custGeom>
          <a:solidFill>
            <a:srgbClr val="FA4F24"/>
          </a:solidFill>
          <a:ln/>
        </p:spPr>
        <p:txBody>
          <a:bodyPr/>
          <a:p>
            <a:pPr/>
            <a:endParaRPr/>
          </a:p>
        </p:txBody>
      </p:sp>
      <p:sp>
        <p:nvSpPr>
          <p:cNvPr id="1086" name="" descr="{&quot;isTemplate&quot;:true,&quot;type&quot;:&quot;text&quot;}"/>
          <p:cNvSpPr txBox="1"/>
          <p:nvPr/>
        </p:nvSpPr>
        <p:spPr>
          <a:xfrm rot="0" flipH="0" flipV="0">
            <a:off x="4267200" y="3086100"/>
            <a:ext cx="495300" cy="171450"/>
          </a:xfrm>
          <a:prstGeom prst="rect"/>
        </p:spPr>
        <p:txBody>
          <a:bodyPr wrap="none" lIns="0" tIns="0" rIns="0" bIns="0"/>
          <a:p>
            <a:pPr>
              <a:lnSpc>
                <a:spcPct val="100000"/>
              </a:lnSpc>
            </a:pPr>
            <a:r>
              <a:rPr lang="zh-CN" sz="1125" b="1">
                <a:solidFill>
                  <a:srgbClr val="FA4F24"/>
                </a:solidFill>
                <a:latin typeface="Microsoft YaHei"/>
                <a:ea typeface="Microsoft YaHei"/>
              </a:rPr>
              <a:t>原则二</a:t>
            </a:r>
            <a:endParaRPr/>
          </a:p>
        </p:txBody>
      </p:sp>
      <p:sp>
        <p:nvSpPr>
          <p:cNvPr id="1087" name="" descr="{&quot;isTemplate&quot;:true,&quot;type&quot;:&quot;text&quot;}"/>
          <p:cNvSpPr txBox="1"/>
          <p:nvPr/>
        </p:nvSpPr>
        <p:spPr>
          <a:xfrm rot="0" flipH="0" flipV="0">
            <a:off x="4914900" y="3057525"/>
            <a:ext cx="1409700" cy="228600"/>
          </a:xfrm>
          <a:prstGeom prst="rect"/>
        </p:spPr>
        <p:txBody>
          <a:bodyPr wrap="none" lIns="0" tIns="0" rIns="0" bIns="0"/>
          <a:p>
            <a:pPr>
              <a:lnSpc>
                <a:spcPct val="100000"/>
              </a:lnSpc>
            </a:pPr>
            <a:r>
              <a:rPr lang="zh-CN" sz="1500" b="1">
                <a:solidFill>
                  <a:srgbClr val="0F1423"/>
                </a:solidFill>
                <a:latin typeface="Microsoft YaHei"/>
                <a:ea typeface="Microsoft YaHei"/>
              </a:rPr>
              <a:t>唯一身份标识</a:t>
            </a:r>
            <a:endParaRPr/>
          </a:p>
        </p:txBody>
      </p:sp>
      <p:sp>
        <p:nvSpPr>
          <p:cNvPr id="1088" name="" descr="{&quot;isTemplate&quot;:true,&quot;type&quot;:&quot;text&quot;}"/>
          <p:cNvSpPr txBox="1"/>
          <p:nvPr/>
        </p:nvSpPr>
        <p:spPr>
          <a:xfrm rot="0" flipH="0" flipV="0">
            <a:off x="6477000" y="2924175"/>
            <a:ext cx="3162300" cy="504825"/>
          </a:xfrm>
          <a:prstGeom prst="rect"/>
        </p:spPr>
        <p:txBody>
          <a:bodyPr wrap="square" lIns="0" tIns="0" rIns="0" bIns="0">
            <a:normAutofit/>
          </a:bodyPr>
          <a:p>
            <a:pPr>
              <a:lnSpc>
                <a:spcPct val="145000"/>
              </a:lnSpc>
            </a:pPr>
            <a:r>
              <a:rPr lang="zh-CN" sz="1125">
                <a:solidFill>
                  <a:srgbClr val="3A4050"/>
                </a:solidFill>
                <a:latin typeface="Microsoft YaHei"/>
                <a:ea typeface="Microsoft YaHei"/>
              </a:rPr>
              <a:t>有唯一的身份标识信息，能在企业范围内被唯一识别，不产生歧义。</a:t>
            </a:r>
            <a:endParaRPr/>
          </a:p>
        </p:txBody>
      </p:sp>
      <p:sp>
        <p:nvSpPr>
          <p:cNvPr id="1089" name=""/>
          <p:cNvSpPr/>
          <p:nvPr/>
        </p:nvSpPr>
        <p:spPr>
          <a:xfrm rot="0" flipH="0" flipV="0">
            <a:off x="9791700" y="2933700"/>
            <a:ext cx="1600200" cy="476250"/>
          </a:xfrm>
          <a:prstGeom prst="roundRect">
            <a:avLst>
              <a:gd name="adj" fmla="val 6000"/>
            </a:avLst>
          </a:prstGeom>
          <a:solidFill>
            <a:srgbClr val="FA4F24">
              <a:alpha val="10000"/>
            </a:srgbClr>
          </a:solidFill>
          <a:ln/>
        </p:spPr>
        <p:txBody>
          <a:bodyPr/>
          <a:p>
            <a:pPr/>
            <a:endParaRPr/>
          </a:p>
        </p:txBody>
      </p:sp>
      <p:sp>
        <p:nvSpPr>
          <p:cNvPr id="1090" name="" descr="{&quot;isTemplate&quot;:true,&quot;type&quot;:&quot;text&quot;}"/>
          <p:cNvSpPr txBox="1"/>
          <p:nvPr/>
        </p:nvSpPr>
        <p:spPr>
          <a:xfrm rot="0" flipH="0" flipV="0">
            <a:off x="9867900" y="2990850"/>
            <a:ext cx="1447800" cy="361950"/>
          </a:xfrm>
          <a:prstGeom prst="rect"/>
        </p:spPr>
        <p:txBody>
          <a:bodyPr wrap="square" lIns="0" tIns="0" rIns="0" bIns="0">
            <a:normAutofit/>
          </a:bodyPr>
          <a:p>
            <a:pPr algn="ctr">
              <a:lnSpc>
                <a:spcPct val="130000"/>
              </a:lnSpc>
            </a:pPr>
            <a:r>
              <a:rPr lang="zh-CN" sz="900">
                <a:solidFill>
                  <a:srgbClr val="C43A17"/>
                </a:solidFill>
                <a:latin typeface="Microsoft YaHei"/>
                <a:ea typeface="Microsoft YaHei"/>
              </a:rPr>
              <a:t>客户编号</a:t>
            </a:r>
            <a:r>
              <a:rPr lang="en-US" sz="900">
                <a:solidFill>
                  <a:srgbClr val="C43A17"/>
                </a:solidFill>
                <a:latin typeface="Microsoft YaHei"/>
                <a:ea typeface="Microsoft YaHei"/>
              </a:rPr>
              <a:t xml:space="preserve"> / </a:t>
            </a:r>
            <a:r>
              <a:rPr lang="zh-CN" sz="900">
                <a:solidFill>
                  <a:srgbClr val="C43A17"/>
                </a:solidFill>
                <a:latin typeface="Microsoft YaHei"/>
                <a:ea typeface="Microsoft YaHei"/>
              </a:rPr>
              <a:t>合同号</a:t>
            </a:r>
            <a:r>
              <a:rPr lang="en-US" sz="900">
                <a:solidFill>
                  <a:srgbClr val="C43A17"/>
                </a:solidFill>
                <a:latin typeface="Microsoft YaHei"/>
                <a:ea typeface="Microsoft YaHei"/>
              </a:rPr>
              <a:t xml:space="preserve"> / </a:t>
            </a:r>
            <a:r>
              <a:rPr lang="zh-CN" sz="900">
                <a:solidFill>
                  <a:srgbClr val="C43A17"/>
                </a:solidFill>
                <a:latin typeface="Microsoft YaHei"/>
                <a:ea typeface="Microsoft YaHei"/>
              </a:rPr>
              <a:t>物料编码</a:t>
            </a:r>
            <a:endParaRPr/>
          </a:p>
        </p:txBody>
      </p:sp>
      <p:sp>
        <p:nvSpPr>
          <p:cNvPr id="1091" name=""/>
          <p:cNvSpPr/>
          <p:nvPr/>
        </p:nvSpPr>
        <p:spPr>
          <a:xfrm rot="0" flipH="0" flipV="0">
            <a:off x="4076700" y="3724275"/>
            <a:ext cx="7543800" cy="866775"/>
          </a:xfrm>
          <a:prstGeom prst="roundRect">
            <a:avLst>
              <a:gd name="adj" fmla="val 4396"/>
            </a:avLst>
          </a:prstGeom>
          <a:solidFill>
            <a:srgbClr val="F7F7F8"/>
          </a:solidFill>
          <a:ln/>
        </p:spPr>
        <p:txBody>
          <a:bodyPr/>
          <a:p>
            <a:pPr/>
            <a:endParaRPr/>
          </a:p>
        </p:txBody>
      </p:sp>
      <p:sp>
        <p:nvSpPr>
          <p:cNvPr id="1092" name=""/>
          <p:cNvSpPr/>
          <p:nvPr/>
        </p:nvSpPr>
        <p:spPr>
          <a:xfrm rot="0" flipH="0" flipV="0">
            <a:off x="4076700" y="3724275"/>
            <a:ext cx="7543800" cy="866775"/>
          </a:xfrm>
          <a:custGeom>
            <a:pathLst>
              <a:path w="792" h="91">
                <a:moveTo>
                  <a:pt x="4" y="91"/>
                </a:moveTo>
                <a:cubicBezTo>
                  <a:pt x="2" y="91"/>
                  <a:pt x="0" y="89"/>
                  <a:pt x="0" y="87"/>
                </a:cubicBezTo>
                <a:lnTo>
                  <a:pt x="0" y="4"/>
                </a:lnTo>
                <a:cubicBezTo>
                  <a:pt x="0" y="2"/>
                  <a:pt x="2" y="0"/>
                  <a:pt x="4" y="0"/>
                </a:cubicBezTo>
                <a:lnTo>
                  <a:pt x="4" y="91"/>
                </a:lnTo>
                <a:close/>
              </a:path>
            </a:pathLst>
          </a:custGeom>
          <a:solidFill>
            <a:srgbClr val="FA4F24"/>
          </a:solidFill>
          <a:ln/>
        </p:spPr>
        <p:txBody>
          <a:bodyPr/>
          <a:p>
            <a:pPr/>
            <a:endParaRPr/>
          </a:p>
        </p:txBody>
      </p:sp>
      <p:sp>
        <p:nvSpPr>
          <p:cNvPr id="1093" name="" descr="{&quot;isTemplate&quot;:true,&quot;type&quot;:&quot;text&quot;}"/>
          <p:cNvSpPr txBox="1"/>
          <p:nvPr/>
        </p:nvSpPr>
        <p:spPr>
          <a:xfrm rot="0" flipH="0" flipV="0">
            <a:off x="4267200" y="4076700"/>
            <a:ext cx="495300" cy="171450"/>
          </a:xfrm>
          <a:prstGeom prst="rect"/>
        </p:spPr>
        <p:txBody>
          <a:bodyPr wrap="none" lIns="0" tIns="0" rIns="0" bIns="0"/>
          <a:p>
            <a:pPr>
              <a:lnSpc>
                <a:spcPct val="100000"/>
              </a:lnSpc>
            </a:pPr>
            <a:r>
              <a:rPr lang="zh-CN" sz="1125" b="1">
                <a:solidFill>
                  <a:srgbClr val="FA4F24"/>
                </a:solidFill>
                <a:latin typeface="Microsoft YaHei"/>
                <a:ea typeface="Microsoft YaHei"/>
              </a:rPr>
              <a:t>原则三</a:t>
            </a:r>
            <a:endParaRPr/>
          </a:p>
        </p:txBody>
      </p:sp>
      <p:sp>
        <p:nvSpPr>
          <p:cNvPr id="1094" name="" descr="{&quot;isTemplate&quot;:true,&quot;type&quot;:&quot;text&quot;}"/>
          <p:cNvSpPr txBox="1"/>
          <p:nvPr/>
        </p:nvSpPr>
        <p:spPr>
          <a:xfrm rot="0" flipH="0" flipV="0">
            <a:off x="4914900" y="3933825"/>
            <a:ext cx="1409700" cy="457200"/>
          </a:xfrm>
          <a:prstGeom prst="rect"/>
        </p:spPr>
        <p:txBody>
          <a:bodyPr wrap="square" lIns="0" tIns="0" rIns="0" bIns="0">
            <a:normAutofit/>
          </a:bodyPr>
          <a:p>
            <a:pPr>
              <a:lnSpc>
                <a:spcPct val="100000"/>
              </a:lnSpc>
            </a:pPr>
            <a:r>
              <a:rPr lang="zh-CN" sz="1500" b="1">
                <a:solidFill>
                  <a:srgbClr val="0F1423"/>
                </a:solidFill>
                <a:latin typeface="Microsoft YaHei"/>
                <a:ea typeface="Microsoft YaHei"/>
              </a:rPr>
              <a:t>相对独立并有属性</a:t>
            </a:r>
            <a:endParaRPr/>
          </a:p>
        </p:txBody>
      </p:sp>
      <p:sp>
        <p:nvSpPr>
          <p:cNvPr id="1095" name="" descr="{&quot;isTemplate&quot;:true,&quot;type&quot;:&quot;text&quot;}"/>
          <p:cNvSpPr txBox="1"/>
          <p:nvPr/>
        </p:nvSpPr>
        <p:spPr>
          <a:xfrm rot="0" flipH="0" flipV="0">
            <a:off x="6477000" y="3905250"/>
            <a:ext cx="3162300" cy="504825"/>
          </a:xfrm>
          <a:prstGeom prst="rect"/>
        </p:spPr>
        <p:txBody>
          <a:bodyPr wrap="square" lIns="0" tIns="0" rIns="0" bIns="0">
            <a:normAutofit/>
          </a:bodyPr>
          <a:p>
            <a:pPr>
              <a:lnSpc>
                <a:spcPct val="145000"/>
              </a:lnSpc>
            </a:pPr>
            <a:r>
              <a:rPr lang="zh-CN" sz="1125">
                <a:solidFill>
                  <a:srgbClr val="3A4050"/>
                </a:solidFill>
                <a:latin typeface="Microsoft YaHei"/>
                <a:ea typeface="Microsoft YaHei"/>
              </a:rPr>
              <a:t>相对独立存在，且有属性描述。只有标识名而无描述信息的，应识别为属性而非实体。</a:t>
            </a:r>
            <a:endParaRPr/>
          </a:p>
        </p:txBody>
      </p:sp>
      <p:sp>
        <p:nvSpPr>
          <p:cNvPr id="1096" name=""/>
          <p:cNvSpPr/>
          <p:nvPr/>
        </p:nvSpPr>
        <p:spPr>
          <a:xfrm rot="0" flipH="0" flipV="0">
            <a:off x="9791700" y="3924300"/>
            <a:ext cx="1600200" cy="476250"/>
          </a:xfrm>
          <a:prstGeom prst="roundRect">
            <a:avLst>
              <a:gd name="adj" fmla="val 6000"/>
            </a:avLst>
          </a:prstGeom>
          <a:solidFill>
            <a:srgbClr val="FA4F24">
              <a:alpha val="10000"/>
            </a:srgbClr>
          </a:solidFill>
          <a:ln/>
        </p:spPr>
        <p:txBody>
          <a:bodyPr/>
          <a:p>
            <a:pPr/>
            <a:endParaRPr/>
          </a:p>
        </p:txBody>
      </p:sp>
      <p:sp>
        <p:nvSpPr>
          <p:cNvPr id="1097" name="" descr="{&quot;isTemplate&quot;:true,&quot;type&quot;:&quot;text&quot;}"/>
          <p:cNvSpPr txBox="1"/>
          <p:nvPr/>
        </p:nvSpPr>
        <p:spPr>
          <a:xfrm rot="0" flipH="0" flipV="0">
            <a:off x="9867900" y="3981450"/>
            <a:ext cx="1447800" cy="361950"/>
          </a:xfrm>
          <a:prstGeom prst="rect"/>
        </p:spPr>
        <p:txBody>
          <a:bodyPr wrap="square" lIns="0" tIns="0" rIns="0" bIns="0">
            <a:normAutofit/>
          </a:bodyPr>
          <a:p>
            <a:pPr algn="ctr">
              <a:lnSpc>
                <a:spcPct val="130000"/>
              </a:lnSpc>
            </a:pPr>
            <a:r>
              <a:rPr lang="zh-CN" sz="900">
                <a:solidFill>
                  <a:srgbClr val="C43A17"/>
                </a:solidFill>
                <a:latin typeface="Microsoft YaHei"/>
                <a:ea typeface="Microsoft YaHei"/>
              </a:rPr>
              <a:t>客户有等级、行业、信用额度等属性</a:t>
            </a:r>
            <a:endParaRPr/>
          </a:p>
        </p:txBody>
      </p:sp>
      <p:sp>
        <p:nvSpPr>
          <p:cNvPr id="1098" name=""/>
          <p:cNvSpPr/>
          <p:nvPr/>
        </p:nvSpPr>
        <p:spPr>
          <a:xfrm rot="0" flipH="0" flipV="0">
            <a:off x="4076700" y="4705350"/>
            <a:ext cx="7543800" cy="876300"/>
          </a:xfrm>
          <a:prstGeom prst="roundRect">
            <a:avLst>
              <a:gd name="adj" fmla="val 4348"/>
            </a:avLst>
          </a:prstGeom>
          <a:solidFill>
            <a:srgbClr val="F7F7F8"/>
          </a:solidFill>
          <a:ln/>
        </p:spPr>
        <p:txBody>
          <a:bodyPr/>
          <a:p>
            <a:pPr/>
            <a:endParaRPr/>
          </a:p>
        </p:txBody>
      </p:sp>
      <p:sp>
        <p:nvSpPr>
          <p:cNvPr id="1099" name=""/>
          <p:cNvSpPr/>
          <p:nvPr/>
        </p:nvSpPr>
        <p:spPr>
          <a:xfrm rot="0" flipH="0" flipV="0">
            <a:off x="4076700" y="4705350"/>
            <a:ext cx="7543800" cy="876300"/>
          </a:xfrm>
          <a:custGeom>
            <a:pathLst>
              <a:path w="792" h="92">
                <a:moveTo>
                  <a:pt x="4" y="92"/>
                </a:moveTo>
                <a:cubicBezTo>
                  <a:pt x="2" y="92"/>
                  <a:pt x="0" y="90"/>
                  <a:pt x="0" y="88"/>
                </a:cubicBezTo>
                <a:lnTo>
                  <a:pt x="0" y="4"/>
                </a:lnTo>
                <a:cubicBezTo>
                  <a:pt x="0" y="2"/>
                  <a:pt x="2" y="0"/>
                  <a:pt x="4" y="0"/>
                </a:cubicBezTo>
                <a:lnTo>
                  <a:pt x="4" y="92"/>
                </a:lnTo>
                <a:close/>
              </a:path>
            </a:pathLst>
          </a:custGeom>
          <a:solidFill>
            <a:srgbClr val="FA4F24"/>
          </a:solidFill>
          <a:ln/>
        </p:spPr>
        <p:txBody>
          <a:bodyPr/>
          <a:p>
            <a:pPr/>
            <a:endParaRPr/>
          </a:p>
        </p:txBody>
      </p:sp>
      <p:sp>
        <p:nvSpPr>
          <p:cNvPr id="1100" name="" descr="{&quot;isTemplate&quot;:true,&quot;type&quot;:&quot;text&quot;}"/>
          <p:cNvSpPr txBox="1"/>
          <p:nvPr/>
        </p:nvSpPr>
        <p:spPr>
          <a:xfrm rot="0" flipH="0" flipV="0">
            <a:off x="4267200" y="5057775"/>
            <a:ext cx="495300" cy="171450"/>
          </a:xfrm>
          <a:prstGeom prst="rect"/>
        </p:spPr>
        <p:txBody>
          <a:bodyPr wrap="none" lIns="0" tIns="0" rIns="0" bIns="0"/>
          <a:p>
            <a:pPr>
              <a:lnSpc>
                <a:spcPct val="100000"/>
              </a:lnSpc>
            </a:pPr>
            <a:r>
              <a:rPr lang="zh-CN" sz="1125" b="1">
                <a:solidFill>
                  <a:srgbClr val="FA4F24"/>
                </a:solidFill>
                <a:latin typeface="Microsoft YaHei"/>
                <a:ea typeface="Microsoft YaHei"/>
              </a:rPr>
              <a:t>原则四</a:t>
            </a:r>
            <a:endParaRPr/>
          </a:p>
        </p:txBody>
      </p:sp>
      <p:sp>
        <p:nvSpPr>
          <p:cNvPr id="1101" name="" descr="{&quot;isTemplate&quot;:true,&quot;type&quot;:&quot;text&quot;}"/>
          <p:cNvSpPr txBox="1"/>
          <p:nvPr/>
        </p:nvSpPr>
        <p:spPr>
          <a:xfrm rot="0" flipH="0" flipV="0">
            <a:off x="4914900" y="5029200"/>
            <a:ext cx="1409700" cy="228600"/>
          </a:xfrm>
          <a:prstGeom prst="rect"/>
        </p:spPr>
        <p:txBody>
          <a:bodyPr wrap="none" lIns="0" tIns="0" rIns="0" bIns="0"/>
          <a:p>
            <a:pPr>
              <a:lnSpc>
                <a:spcPct val="100000"/>
              </a:lnSpc>
            </a:pPr>
            <a:r>
              <a:rPr lang="zh-CN" sz="1500" b="1">
                <a:solidFill>
                  <a:srgbClr val="0F1423"/>
                </a:solidFill>
                <a:latin typeface="Microsoft YaHei"/>
                <a:ea typeface="Microsoft YaHei"/>
              </a:rPr>
              <a:t>可实例化</a:t>
            </a:r>
            <a:endParaRPr/>
          </a:p>
        </p:txBody>
      </p:sp>
      <p:sp>
        <p:nvSpPr>
          <p:cNvPr id="1102" name="" descr="{&quot;isTemplate&quot;:true,&quot;type&quot;:&quot;text&quot;}"/>
          <p:cNvSpPr txBox="1"/>
          <p:nvPr/>
        </p:nvSpPr>
        <p:spPr>
          <a:xfrm rot="0" flipH="0" flipV="0">
            <a:off x="6477000" y="4895850"/>
            <a:ext cx="3162300" cy="504825"/>
          </a:xfrm>
          <a:prstGeom prst="rect"/>
        </p:spPr>
        <p:txBody>
          <a:bodyPr wrap="square" lIns="0" tIns="0" rIns="0" bIns="0">
            <a:normAutofit/>
          </a:bodyPr>
          <a:p>
            <a:pPr>
              <a:lnSpc>
                <a:spcPct val="145000"/>
              </a:lnSpc>
            </a:pPr>
            <a:r>
              <a:rPr lang="zh-CN" sz="1125">
                <a:solidFill>
                  <a:srgbClr val="3A4050"/>
                </a:solidFill>
                <a:latin typeface="Microsoft YaHei"/>
                <a:ea typeface="Microsoft YaHei"/>
              </a:rPr>
              <a:t>可以被实例化，即能对应到真实存在的具体个体，而非抽象概念。</a:t>
            </a:r>
            <a:endParaRPr/>
          </a:p>
        </p:txBody>
      </p:sp>
      <p:sp>
        <p:nvSpPr>
          <p:cNvPr id="1103" name=""/>
          <p:cNvSpPr/>
          <p:nvPr/>
        </p:nvSpPr>
        <p:spPr>
          <a:xfrm rot="0" flipH="0" flipV="0">
            <a:off x="9791700" y="4905375"/>
            <a:ext cx="1600200" cy="476250"/>
          </a:xfrm>
          <a:prstGeom prst="roundRect">
            <a:avLst>
              <a:gd name="adj" fmla="val 6000"/>
            </a:avLst>
          </a:prstGeom>
          <a:solidFill>
            <a:srgbClr val="FA4F24">
              <a:alpha val="10000"/>
            </a:srgbClr>
          </a:solidFill>
          <a:ln/>
        </p:spPr>
        <p:txBody>
          <a:bodyPr/>
          <a:p>
            <a:pPr/>
            <a:endParaRPr/>
          </a:p>
        </p:txBody>
      </p:sp>
      <p:sp>
        <p:nvSpPr>
          <p:cNvPr id="1104" name="" descr="{&quot;isTemplate&quot;:true,&quot;type&quot;:&quot;text&quot;}"/>
          <p:cNvSpPr txBox="1"/>
          <p:nvPr/>
        </p:nvSpPr>
        <p:spPr>
          <a:xfrm rot="0" flipH="0" flipV="0">
            <a:off x="9867900" y="4962525"/>
            <a:ext cx="1447800" cy="361950"/>
          </a:xfrm>
          <a:prstGeom prst="rect"/>
        </p:spPr>
        <p:txBody>
          <a:bodyPr wrap="square" lIns="0" tIns="0" rIns="0" bIns="0">
            <a:normAutofit/>
          </a:bodyPr>
          <a:p>
            <a:pPr algn="ctr">
              <a:lnSpc>
                <a:spcPct val="130000"/>
              </a:lnSpc>
            </a:pPr>
            <a:r>
              <a:rPr lang="zh-CN" sz="900">
                <a:solidFill>
                  <a:srgbClr val="C43A17"/>
                </a:solidFill>
                <a:latin typeface="Microsoft YaHei"/>
                <a:ea typeface="Microsoft YaHei"/>
              </a:rPr>
              <a:t>「客户」可实例化为具体某家公司</a:t>
            </a:r>
            <a:endParaRPr/>
          </a:p>
        </p:txBody>
      </p:sp>
      <p:sp>
        <p:nvSpPr>
          <p:cNvPr id="1105" name=""/>
          <p:cNvSpPr/>
          <p:nvPr/>
        </p:nvSpPr>
        <p:spPr>
          <a:xfrm rot="0" flipH="0" flipV="0">
            <a:off x="609600" y="5943600"/>
            <a:ext cx="133350" cy="133350"/>
          </a:xfrm>
          <a:prstGeom prst="rect">
            <a:avLst/>
          </a:prstGeom>
          <a:solidFill>
            <a:srgbClr val="FA4F24"/>
          </a:solidFill>
          <a:ln/>
        </p:spPr>
        <p:txBody>
          <a:bodyPr/>
          <a:p>
            <a:pPr/>
            <a:endParaRPr/>
          </a:p>
        </p:txBody>
      </p:sp>
      <p:sp>
        <p:nvSpPr>
          <p:cNvPr id="1106"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1107"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09 / 30</a:t>
            </a:r>
            <a:endParaRPr/>
          </a:p>
        </p:txBody>
      </p:sp>
    </p:spTree>
  </p:cSld>
</p:sld>
</file>

<file path=ppt/slides/slide10.xml><?xml version="1.0" encoding="utf-8"?>
<p:sld xmlns:p="http://schemas.openxmlformats.org/presentationml/2006/main" xmlns:a="http://schemas.openxmlformats.org/drawingml/2006/main">
  <p:cSld>
    <p:spTree>
      <p:nvGrpSpPr>
        <p:cNvPr id="24" name=""/>
        <p:cNvGrpSpPr/>
        <p:nvPr/>
      </p:nvGrpSpPr>
      <p:grpSpPr>
        <a:xfrm>
          <a:off x="0" y="0"/>
          <a:ext cx="0" cy="0"/>
          <a:chOff x="0" y="0"/>
          <a:chExt cx="0" cy="0"/>
        </a:xfrm>
      </p:grpSpPr>
      <p:sp>
        <p:nvSpPr>
          <p:cNvPr id="25" name=""/>
          <p:cNvSpPr/>
          <p:nvPr/>
        </p:nvSpPr>
        <p:spPr>
          <a:xfrm rot="0" flipH="0" flipV="0">
            <a:off x="0" y="0"/>
            <a:ext cx="12192000" cy="6858000"/>
          </a:xfrm>
          <a:prstGeom prst="rect">
            <a:avLst/>
          </a:prstGeom>
          <a:solidFill>
            <a:srgbClr val="FFFFFF"/>
          </a:solidFill>
          <a:ln/>
        </p:spPr>
        <p:txBody>
          <a:bodyPr/>
          <a:p>
            <a:pPr/>
            <a:endParaRPr/>
          </a:p>
        </p:txBody>
      </p:sp>
      <p:sp>
        <p:nvSpPr>
          <p:cNvPr id="26"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之内容：输出</a:t>
            </a:r>
            <a:r>
              <a:rPr lang="zh-CN" sz="2400" b="1">
                <a:solidFill>
                  <a:srgbClr val="FA4F24"/>
                </a:solidFill>
                <a:latin typeface="Microsoft YaHei"/>
                <a:ea typeface="Microsoft YaHei"/>
              </a:rPr>
              <a:t>业务对象清单</a:t>
            </a:r>
            <a:r>
              <a:rPr lang="zh-CN" sz="2400" b="1">
                <a:solidFill>
                  <a:srgbClr val="0F1423"/>
                </a:solidFill>
                <a:latin typeface="Microsoft YaHei"/>
                <a:ea typeface="Microsoft YaHei"/>
              </a:rPr>
              <a:t>与对象关系，为四层架构确立共同锚点</a:t>
            </a:r>
            <a:endParaRPr/>
          </a:p>
        </p:txBody>
      </p:sp>
      <p:sp>
        <p:nvSpPr>
          <p:cNvPr id="27"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以「子公司与法人客户签订客户合同」这一交易为例</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识别出的对象将成为全企业共用的语言</a:t>
            </a:r>
            <a:endParaRPr/>
          </a:p>
        </p:txBody>
      </p:sp>
      <p:sp>
        <p:nvSpPr>
          <p:cNvPr id="28" name=""/>
          <p:cNvSpPr/>
          <p:nvPr/>
        </p:nvSpPr>
        <p:spPr>
          <a:xfrm rot="0" flipH="0" flipV="0">
            <a:off x="609600" y="1143000"/>
            <a:ext cx="10972800" cy="9525"/>
          </a:xfrm>
          <a:prstGeom prst="rect">
            <a:avLst/>
          </a:prstGeom>
          <a:solidFill>
            <a:srgbClr val="E8E8E8"/>
          </a:solidFill>
          <a:ln/>
        </p:spPr>
        <p:txBody>
          <a:bodyPr/>
          <a:p>
            <a:pPr/>
            <a:endParaRPr/>
          </a:p>
        </p:txBody>
      </p:sp>
      <p:sp>
        <p:nvSpPr>
          <p:cNvPr id="29" name="" descr="{&quot;isTemplate&quot;:true,&quot;type&quot;:&quot;text&quot;}"/>
          <p:cNvSpPr txBox="1"/>
          <p:nvPr/>
        </p:nvSpPr>
        <p:spPr>
          <a:xfrm rot="0" flipH="0" flipV="0">
            <a:off x="609600" y="1381125"/>
            <a:ext cx="5334000" cy="228600"/>
          </a:xfrm>
          <a:prstGeom prst="rect"/>
        </p:spPr>
        <p:txBody>
          <a:bodyPr wrap="none" lIns="0" tIns="0" rIns="0" bIns="0"/>
          <a:p>
            <a:pPr>
              <a:lnSpc>
                <a:spcPct val="100000"/>
              </a:lnSpc>
            </a:pPr>
            <a:r>
              <a:rPr lang="zh-CN" sz="1500" b="1">
                <a:solidFill>
                  <a:srgbClr val="0F1423"/>
                </a:solidFill>
                <a:latin typeface="Microsoft YaHei"/>
                <a:ea typeface="Microsoft YaHei"/>
              </a:rPr>
              <a:t>场景示例：一笔交易的业务对象</a:t>
            </a:r>
            <a:endParaRPr/>
          </a:p>
        </p:txBody>
      </p:sp>
      <p:sp>
        <p:nvSpPr>
          <p:cNvPr id="30" name=""/>
          <p:cNvSpPr/>
          <p:nvPr/>
        </p:nvSpPr>
        <p:spPr>
          <a:xfrm rot="0" flipH="0" flipV="0">
            <a:off x="609600" y="1743075"/>
            <a:ext cx="5334000" cy="1133475"/>
          </a:xfrm>
          <a:prstGeom prst="roundRect">
            <a:avLst>
              <a:gd name="adj" fmla="val 3361"/>
            </a:avLst>
          </a:prstGeom>
          <a:solidFill>
            <a:srgbClr val="F7F7F8"/>
          </a:solidFill>
          <a:ln/>
        </p:spPr>
        <p:txBody>
          <a:bodyPr/>
          <a:p>
            <a:pPr/>
            <a:endParaRPr/>
          </a:p>
        </p:txBody>
      </p:sp>
      <p:sp>
        <p:nvSpPr>
          <p:cNvPr id="31" name="" descr="{&quot;isTemplate&quot;:true,&quot;type&quot;:&quot;text&quot;}"/>
          <p:cNvSpPr txBox="1"/>
          <p:nvPr/>
        </p:nvSpPr>
        <p:spPr>
          <a:xfrm rot="0" flipH="0" flipV="0">
            <a:off x="800100" y="1895475"/>
            <a:ext cx="4953000" cy="828675"/>
          </a:xfrm>
          <a:prstGeom prst="rect"/>
        </p:spPr>
        <p:txBody>
          <a:bodyPr wrap="square" lIns="0" tIns="0" rIns="0" bIns="0">
            <a:normAutofit/>
          </a:bodyPr>
          <a:p>
            <a:pPr>
              <a:lnSpc>
                <a:spcPct val="160000"/>
              </a:lnSpc>
            </a:pPr>
            <a:r>
              <a:rPr lang="zh-CN" sz="1125">
                <a:solidFill>
                  <a:srgbClr val="3A4050"/>
                </a:solidFill>
                <a:latin typeface="Microsoft YaHei"/>
                <a:ea typeface="Microsoft YaHei"/>
              </a:rPr>
              <a:t>要完成一个交易、实现商业价值的兑现，企业内的某个子公司需与法人客户签订客户合同，</a:t>
            </a: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合同中要明确交易的产品。在这个场景里，</a:t>
            </a:r>
            <a:r>
              <a:rPr lang="zh-CN" sz="1125">
                <a:solidFill>
                  <a:srgbClr val="3A4050"/>
                </a:solidFill>
                <a:latin typeface="Microsoft YaHei"/>
                <a:ea typeface="Microsoft YaHei"/>
              </a:rPr>
              <a:t>子公司、法人客户、客户合同、产品</a:t>
            </a:r>
            <a:r>
              <a:rPr lang="zh-CN" sz="1125">
                <a:solidFill>
                  <a:srgbClr val="3A4050"/>
                </a:solidFill>
                <a:latin typeface="Microsoft YaHei"/>
                <a:ea typeface="Microsoft YaHei"/>
              </a:rPr>
              <a:t>是企业需要管理和控制的核心对象。</a:t>
            </a:r>
            <a:endParaRPr/>
          </a:p>
        </p:txBody>
      </p:sp>
      <p:sp>
        <p:nvSpPr>
          <p:cNvPr id="32" name=""/>
          <p:cNvSpPr/>
          <p:nvPr/>
        </p:nvSpPr>
        <p:spPr>
          <a:xfrm rot="0" flipH="0" flipV="0">
            <a:off x="609600" y="3009900"/>
            <a:ext cx="5334000" cy="2571750"/>
          </a:xfrm>
          <a:prstGeom prst="roundRect">
            <a:avLst>
              <a:gd name="adj" fmla="val 1481"/>
            </a:avLst>
          </a:prstGeom>
          <a:ln w="12700">
            <a:solidFill>
              <a:srgbClr val="E8E8E8"/>
            </a:solidFill>
            <a:prstDash val="solid"/>
          </a:ln>
        </p:spPr>
        <p:txBody>
          <a:bodyPr/>
          <a:p>
            <a:pPr/>
            <a:endParaRPr/>
          </a:p>
        </p:txBody>
      </p:sp>
      <p:sp>
        <p:nvSpPr>
          <p:cNvPr id="33" name="" descr="{&quot;isTemplate&quot;:true,&quot;type&quot;:&quot;text&quot;}"/>
          <p:cNvSpPr txBox="1"/>
          <p:nvPr/>
        </p:nvSpPr>
        <p:spPr>
          <a:xfrm rot="0" flipH="0" flipV="0">
            <a:off x="800100" y="3648075"/>
            <a:ext cx="4953000" cy="190500"/>
          </a:xfrm>
          <a:prstGeom prst="rect"/>
        </p:spPr>
        <p:txBody>
          <a:bodyPr wrap="none" lIns="0" tIns="0" rIns="0" bIns="0"/>
          <a:p>
            <a:pPr>
              <a:lnSpc>
                <a:spcPct val="100000"/>
              </a:lnSpc>
            </a:pPr>
            <a:r>
              <a:rPr lang="zh-CN" sz="1200" b="1">
                <a:solidFill>
                  <a:srgbClr val="8A8F99"/>
                </a:solidFill>
                <a:latin typeface="Microsoft YaHei"/>
                <a:ea typeface="Microsoft YaHei"/>
              </a:rPr>
              <a:t>对象关系（概念层）</a:t>
            </a:r>
            <a:endParaRPr/>
          </a:p>
        </p:txBody>
      </p:sp>
      <p:sp>
        <p:nvSpPr>
          <p:cNvPr id="34" name=""/>
          <p:cNvSpPr/>
          <p:nvPr/>
        </p:nvSpPr>
        <p:spPr>
          <a:xfrm rot="0" flipH="0" flipV="0">
            <a:off x="1476375" y="3971925"/>
            <a:ext cx="800100" cy="419100"/>
          </a:xfrm>
          <a:prstGeom prst="roundRect">
            <a:avLst>
              <a:gd name="adj" fmla="val 9091"/>
            </a:avLst>
          </a:prstGeom>
          <a:solidFill>
            <a:srgbClr val="FA4F24"/>
          </a:solidFill>
          <a:ln/>
        </p:spPr>
        <p:txBody>
          <a:bodyPr/>
          <a:p>
            <a:pPr/>
            <a:endParaRPr/>
          </a:p>
        </p:txBody>
      </p:sp>
      <p:sp>
        <p:nvSpPr>
          <p:cNvPr id="35" name="" descr="{&quot;isTemplate&quot;:true,&quot;type&quot;:&quot;text&quot;}"/>
          <p:cNvSpPr txBox="1"/>
          <p:nvPr/>
        </p:nvSpPr>
        <p:spPr>
          <a:xfrm rot="0" flipH="0" flipV="0">
            <a:off x="1647825" y="4086225"/>
            <a:ext cx="457200" cy="190500"/>
          </a:xfrm>
          <a:prstGeom prst="rect"/>
        </p:spPr>
        <p:txBody>
          <a:bodyPr wrap="none" lIns="0" tIns="0" rIns="0" bIns="0"/>
          <a:p>
            <a:pPr>
              <a:lnSpc>
                <a:spcPct val="100000"/>
              </a:lnSpc>
            </a:pPr>
            <a:r>
              <a:rPr lang="zh-CN" sz="1200" b="1">
                <a:solidFill>
                  <a:srgbClr val="FFFFFF"/>
                </a:solidFill>
                <a:latin typeface="Microsoft YaHei"/>
                <a:ea typeface="Microsoft YaHei"/>
              </a:rPr>
              <a:t>子公司</a:t>
            </a:r>
            <a:endParaRPr/>
          </a:p>
        </p:txBody>
      </p:sp>
      <p:sp>
        <p:nvSpPr>
          <p:cNvPr id="36" name="" descr="{&quot;isTemplate&quot;:true,&quot;type&quot;:&quot;text&quot;}"/>
          <p:cNvSpPr txBox="1"/>
          <p:nvPr/>
        </p:nvSpPr>
        <p:spPr>
          <a:xfrm rot="0" flipH="0" flipV="0">
            <a:off x="2390775" y="4076700"/>
            <a:ext cx="371475" cy="209550"/>
          </a:xfrm>
          <a:prstGeom prst="rect"/>
        </p:spPr>
        <p:txBody>
          <a:bodyPr wrap="none" lIns="0" tIns="0" rIns="0" bIns="0"/>
          <a:p>
            <a:pPr>
              <a:lnSpc>
                <a:spcPct val="100000"/>
              </a:lnSpc>
            </a:pPr>
            <a:r>
              <a:rPr sz="1350">
                <a:solidFill>
                  <a:srgbClr val="FA4F24"/>
                </a:solidFill>
                <a:latin typeface="Microsoft YaHei"/>
                <a:ea typeface="Microsoft YaHei"/>
              </a:rPr>
              <a:t>───</a:t>
            </a:r>
            <a:endParaRPr/>
          </a:p>
        </p:txBody>
      </p:sp>
      <p:sp>
        <p:nvSpPr>
          <p:cNvPr id="37" name=""/>
          <p:cNvSpPr/>
          <p:nvPr/>
        </p:nvSpPr>
        <p:spPr>
          <a:xfrm rot="0" flipH="0" flipV="0">
            <a:off x="2876550" y="3971925"/>
            <a:ext cx="952500" cy="419100"/>
          </a:xfrm>
          <a:prstGeom prst="roundRect">
            <a:avLst>
              <a:gd name="adj" fmla="val 9091"/>
            </a:avLst>
          </a:prstGeom>
          <a:solidFill>
            <a:srgbClr val="FA4F24">
              <a:alpha val="12000"/>
            </a:srgbClr>
          </a:solidFill>
          <a:ln w="12700">
            <a:solidFill>
              <a:srgbClr val="FA4F24"/>
            </a:solidFill>
            <a:prstDash val="solid"/>
          </a:ln>
        </p:spPr>
        <p:txBody>
          <a:bodyPr/>
          <a:p>
            <a:pPr/>
            <a:endParaRPr/>
          </a:p>
        </p:txBody>
      </p:sp>
      <p:sp>
        <p:nvSpPr>
          <p:cNvPr id="38" name="" descr="{&quot;isTemplate&quot;:true,&quot;type&quot;:&quot;text&quot;}"/>
          <p:cNvSpPr txBox="1"/>
          <p:nvPr/>
        </p:nvSpPr>
        <p:spPr>
          <a:xfrm rot="0" flipH="0" flipV="0">
            <a:off x="3048000" y="4086225"/>
            <a:ext cx="609600" cy="190500"/>
          </a:xfrm>
          <a:prstGeom prst="rect"/>
        </p:spPr>
        <p:txBody>
          <a:bodyPr wrap="none" lIns="0" tIns="0" rIns="0" bIns="0"/>
          <a:p>
            <a:pPr>
              <a:lnSpc>
                <a:spcPct val="100000"/>
              </a:lnSpc>
            </a:pPr>
            <a:r>
              <a:rPr lang="zh-CN" sz="1200" b="1">
                <a:solidFill>
                  <a:srgbClr val="C43A17"/>
                </a:solidFill>
                <a:latin typeface="Microsoft YaHei"/>
                <a:ea typeface="Microsoft YaHei"/>
              </a:rPr>
              <a:t>客户合同</a:t>
            </a:r>
            <a:endParaRPr/>
          </a:p>
        </p:txBody>
      </p:sp>
      <p:sp>
        <p:nvSpPr>
          <p:cNvPr id="39" name="" descr="{&quot;isTemplate&quot;:true,&quot;type&quot;:&quot;text&quot;}"/>
          <p:cNvSpPr txBox="1"/>
          <p:nvPr/>
        </p:nvSpPr>
        <p:spPr>
          <a:xfrm rot="0" flipH="0" flipV="0">
            <a:off x="3943350" y="4076700"/>
            <a:ext cx="371475" cy="209550"/>
          </a:xfrm>
          <a:prstGeom prst="rect"/>
        </p:spPr>
        <p:txBody>
          <a:bodyPr wrap="none" lIns="0" tIns="0" rIns="0" bIns="0"/>
          <a:p>
            <a:pPr>
              <a:lnSpc>
                <a:spcPct val="100000"/>
              </a:lnSpc>
            </a:pPr>
            <a:r>
              <a:rPr sz="1350">
                <a:solidFill>
                  <a:srgbClr val="FA4F24"/>
                </a:solidFill>
                <a:latin typeface="Microsoft YaHei"/>
                <a:ea typeface="Microsoft YaHei"/>
              </a:rPr>
              <a:t>───</a:t>
            </a:r>
            <a:endParaRPr/>
          </a:p>
        </p:txBody>
      </p:sp>
      <p:sp>
        <p:nvSpPr>
          <p:cNvPr id="40" name=""/>
          <p:cNvSpPr/>
          <p:nvPr/>
        </p:nvSpPr>
        <p:spPr>
          <a:xfrm rot="0" flipH="0" flipV="0">
            <a:off x="4429125" y="3971925"/>
            <a:ext cx="647700" cy="419100"/>
          </a:xfrm>
          <a:prstGeom prst="roundRect">
            <a:avLst>
              <a:gd name="adj" fmla="val 9091"/>
            </a:avLst>
          </a:prstGeom>
          <a:solidFill>
            <a:srgbClr val="F87D2F"/>
          </a:solidFill>
          <a:ln/>
        </p:spPr>
        <p:txBody>
          <a:bodyPr/>
          <a:p>
            <a:pPr/>
            <a:endParaRPr/>
          </a:p>
        </p:txBody>
      </p:sp>
      <p:sp>
        <p:nvSpPr>
          <p:cNvPr id="41" name="" descr="{&quot;isTemplate&quot;:true,&quot;type&quot;:&quot;text&quot;}"/>
          <p:cNvSpPr txBox="1"/>
          <p:nvPr/>
        </p:nvSpPr>
        <p:spPr>
          <a:xfrm rot="0" flipH="0" flipV="0">
            <a:off x="4600575" y="4086225"/>
            <a:ext cx="304800" cy="190500"/>
          </a:xfrm>
          <a:prstGeom prst="rect"/>
        </p:spPr>
        <p:txBody>
          <a:bodyPr wrap="none" lIns="0" tIns="0" rIns="0" bIns="0"/>
          <a:p>
            <a:pPr>
              <a:lnSpc>
                <a:spcPct val="100000"/>
              </a:lnSpc>
            </a:pPr>
            <a:r>
              <a:rPr lang="zh-CN" sz="1200" b="1">
                <a:solidFill>
                  <a:srgbClr val="FFFFFF"/>
                </a:solidFill>
                <a:latin typeface="Microsoft YaHei"/>
                <a:ea typeface="Microsoft YaHei"/>
              </a:rPr>
              <a:t>产品</a:t>
            </a:r>
            <a:endParaRPr/>
          </a:p>
        </p:txBody>
      </p:sp>
      <p:sp>
        <p:nvSpPr>
          <p:cNvPr id="42" name=""/>
          <p:cNvSpPr/>
          <p:nvPr/>
        </p:nvSpPr>
        <p:spPr>
          <a:xfrm rot="0" flipH="0" flipV="0">
            <a:off x="2476500" y="4524375"/>
            <a:ext cx="952500" cy="419100"/>
          </a:xfrm>
          <a:prstGeom prst="roundRect">
            <a:avLst>
              <a:gd name="adj" fmla="val 9091"/>
            </a:avLst>
          </a:prstGeom>
          <a:solidFill>
            <a:srgbClr val="F87D2F"/>
          </a:solidFill>
          <a:ln/>
        </p:spPr>
        <p:txBody>
          <a:bodyPr/>
          <a:p>
            <a:pPr/>
            <a:endParaRPr/>
          </a:p>
        </p:txBody>
      </p:sp>
      <p:sp>
        <p:nvSpPr>
          <p:cNvPr id="43" name="" descr="{&quot;isTemplate&quot;:true,&quot;type&quot;:&quot;text&quot;}"/>
          <p:cNvSpPr txBox="1"/>
          <p:nvPr/>
        </p:nvSpPr>
        <p:spPr>
          <a:xfrm rot="0" flipH="0" flipV="0">
            <a:off x="2647950" y="4638675"/>
            <a:ext cx="609600" cy="190500"/>
          </a:xfrm>
          <a:prstGeom prst="rect"/>
        </p:spPr>
        <p:txBody>
          <a:bodyPr wrap="none" lIns="0" tIns="0" rIns="0" bIns="0"/>
          <a:p>
            <a:pPr>
              <a:lnSpc>
                <a:spcPct val="100000"/>
              </a:lnSpc>
            </a:pPr>
            <a:r>
              <a:rPr lang="zh-CN" sz="1200" b="1">
                <a:solidFill>
                  <a:srgbClr val="FFFFFF"/>
                </a:solidFill>
                <a:latin typeface="Microsoft YaHei"/>
                <a:ea typeface="Microsoft YaHei"/>
              </a:rPr>
              <a:t>法人客户</a:t>
            </a:r>
            <a:endParaRPr/>
          </a:p>
        </p:txBody>
      </p:sp>
      <p:sp>
        <p:nvSpPr>
          <p:cNvPr id="44" name="" descr="{&quot;isTemplate&quot;:true,&quot;type&quot;:&quot;text&quot;}"/>
          <p:cNvSpPr txBox="1"/>
          <p:nvPr/>
        </p:nvSpPr>
        <p:spPr>
          <a:xfrm rot="0" flipH="0" flipV="0">
            <a:off x="3543300" y="4648200"/>
            <a:ext cx="542925" cy="171450"/>
          </a:xfrm>
          <a:prstGeom prst="rect"/>
        </p:spPr>
        <p:txBody>
          <a:bodyPr wrap="none" lIns="0" tIns="0" rIns="0" bIns="0"/>
          <a:p>
            <a:pPr>
              <a:lnSpc>
                <a:spcPct val="100000"/>
              </a:lnSpc>
            </a:pPr>
            <a:r>
              <a:rPr lang="en-US" sz="1125">
                <a:solidFill>
                  <a:srgbClr val="8A8F99"/>
                </a:solidFill>
                <a:latin typeface="Microsoft YaHei"/>
                <a:ea typeface="Microsoft YaHei"/>
              </a:rPr>
              <a:t xml:space="preserve">↑ </a:t>
            </a:r>
            <a:r>
              <a:rPr lang="zh-CN" sz="1125">
                <a:solidFill>
                  <a:srgbClr val="8A8F99"/>
                </a:solidFill>
                <a:latin typeface="Microsoft YaHei"/>
                <a:ea typeface="Microsoft YaHei"/>
              </a:rPr>
              <a:t>签订方</a:t>
            </a:r>
            <a:endParaRPr/>
          </a:p>
        </p:txBody>
      </p:sp>
      <p:sp>
        <p:nvSpPr>
          <p:cNvPr id="45" name=""/>
          <p:cNvSpPr/>
          <p:nvPr/>
        </p:nvSpPr>
        <p:spPr>
          <a:xfrm rot="0" flipH="0" flipV="0">
            <a:off x="6191250" y="1381125"/>
            <a:ext cx="5429250" cy="1181100"/>
          </a:xfrm>
          <a:prstGeom prst="roundRect">
            <a:avLst>
              <a:gd name="adj" fmla="val 3226"/>
            </a:avLst>
          </a:prstGeom>
          <a:solidFill>
            <a:srgbClr val="F7F7F8"/>
          </a:solidFill>
          <a:ln/>
        </p:spPr>
        <p:txBody>
          <a:bodyPr/>
          <a:p>
            <a:pPr/>
            <a:endParaRPr/>
          </a:p>
        </p:txBody>
      </p:sp>
      <p:sp>
        <p:nvSpPr>
          <p:cNvPr id="46" name=""/>
          <p:cNvSpPr/>
          <p:nvPr/>
        </p:nvSpPr>
        <p:spPr>
          <a:xfrm rot="0" flipH="0" flipV="0">
            <a:off x="6191250" y="1381125"/>
            <a:ext cx="5429250" cy="1181100"/>
          </a:xfrm>
          <a:custGeom>
            <a:pathLst>
              <a:path w="570" h="124">
                <a:moveTo>
                  <a:pt x="4" y="124"/>
                </a:moveTo>
                <a:cubicBezTo>
                  <a:pt x="2" y="124"/>
                  <a:pt x="0" y="122"/>
                  <a:pt x="0" y="120"/>
                </a:cubicBezTo>
                <a:lnTo>
                  <a:pt x="0" y="4"/>
                </a:lnTo>
                <a:cubicBezTo>
                  <a:pt x="0" y="2"/>
                  <a:pt x="2" y="0"/>
                  <a:pt x="4" y="0"/>
                </a:cubicBezTo>
                <a:lnTo>
                  <a:pt x="4" y="124"/>
                </a:lnTo>
                <a:close/>
              </a:path>
            </a:pathLst>
          </a:custGeom>
          <a:solidFill>
            <a:srgbClr val="FA4F24"/>
          </a:solidFill>
          <a:ln/>
        </p:spPr>
        <p:txBody>
          <a:bodyPr/>
          <a:p>
            <a:pPr/>
            <a:endParaRPr/>
          </a:p>
        </p:txBody>
      </p:sp>
      <p:sp>
        <p:nvSpPr>
          <p:cNvPr id="47" name="" descr="{&quot;isTemplate&quot;:true,&quot;type&quot;:&quot;text&quot;}"/>
          <p:cNvSpPr txBox="1"/>
          <p:nvPr/>
        </p:nvSpPr>
        <p:spPr>
          <a:xfrm rot="0" flipH="0" flipV="0">
            <a:off x="6400800" y="1552575"/>
            <a:ext cx="4972050" cy="209550"/>
          </a:xfrm>
          <a:prstGeom prst="rect"/>
        </p:spPr>
        <p:txBody>
          <a:bodyPr wrap="none" lIns="0" tIns="0" rIns="0" bIns="0"/>
          <a:p>
            <a:pPr>
              <a:lnSpc>
                <a:spcPct val="100000"/>
              </a:lnSpc>
            </a:pPr>
            <a:r>
              <a:rPr lang="zh-CN" sz="1350" b="1">
                <a:solidFill>
                  <a:srgbClr val="0F1423"/>
                </a:solidFill>
                <a:latin typeface="Microsoft YaHei"/>
                <a:ea typeface="Microsoft YaHei"/>
              </a:rPr>
              <a:t>交付物一：业务对象清单</a:t>
            </a:r>
            <a:endParaRPr/>
          </a:p>
        </p:txBody>
      </p:sp>
      <p:sp>
        <p:nvSpPr>
          <p:cNvPr id="48" name="" descr="{&quot;isTemplate&quot;:true,&quot;type&quot;:&quot;text&quot;}"/>
          <p:cNvSpPr txBox="1"/>
          <p:nvPr/>
        </p:nvSpPr>
        <p:spPr>
          <a:xfrm rot="0" flipH="0" flipV="0">
            <a:off x="6400800" y="1838325"/>
            <a:ext cx="4972050" cy="552450"/>
          </a:xfrm>
          <a:prstGeom prst="rect"/>
        </p:spPr>
        <p:txBody>
          <a:bodyPr wrap="square" lIns="0" tIns="0" rIns="0" bIns="0">
            <a:normAutofit/>
          </a:bodyPr>
          <a:p>
            <a:pPr>
              <a:lnSpc>
                <a:spcPct val="160000"/>
              </a:lnSpc>
            </a:pPr>
            <a:r>
              <a:rPr lang="zh-CN" sz="1125">
                <a:solidFill>
                  <a:srgbClr val="3A4050"/>
                </a:solidFill>
                <a:latin typeface="Microsoft YaHei"/>
                <a:ea typeface="Microsoft YaHei"/>
              </a:rPr>
              <a:t>按主题域分组，逐条登记业务对象的名称、定义、判定结论。这是后续资产目录</a:t>
            </a:r>
            <a:r>
              <a:rPr lang="en-US" sz="1125">
                <a:solidFill>
                  <a:srgbClr val="3A4050"/>
                </a:solidFill>
                <a:latin typeface="Microsoft YaHei"/>
                <a:ea typeface="Microsoft YaHei"/>
              </a:rPr>
              <a:t xml:space="preserve"> L3 </a:t>
            </a:r>
            <a:r>
              <a:rPr lang="zh-CN" sz="1125">
                <a:solidFill>
                  <a:srgbClr val="3A4050"/>
                </a:solidFill>
                <a:latin typeface="Microsoft YaHei"/>
                <a:ea typeface="Microsoft YaHei"/>
              </a:rPr>
              <a:t>层的直接输入。</a:t>
            </a:r>
            <a:endParaRPr/>
          </a:p>
        </p:txBody>
      </p:sp>
      <p:sp>
        <p:nvSpPr>
          <p:cNvPr id="49" name=""/>
          <p:cNvSpPr/>
          <p:nvPr/>
        </p:nvSpPr>
        <p:spPr>
          <a:xfrm rot="0" flipH="0" flipV="0">
            <a:off x="6191250" y="2695575"/>
            <a:ext cx="5429250" cy="1181100"/>
          </a:xfrm>
          <a:prstGeom prst="roundRect">
            <a:avLst>
              <a:gd name="adj" fmla="val 3226"/>
            </a:avLst>
          </a:prstGeom>
          <a:solidFill>
            <a:srgbClr val="F7F7F8"/>
          </a:solidFill>
          <a:ln/>
        </p:spPr>
        <p:txBody>
          <a:bodyPr/>
          <a:p>
            <a:pPr/>
            <a:endParaRPr/>
          </a:p>
        </p:txBody>
      </p:sp>
      <p:sp>
        <p:nvSpPr>
          <p:cNvPr id="50" name=""/>
          <p:cNvSpPr/>
          <p:nvPr/>
        </p:nvSpPr>
        <p:spPr>
          <a:xfrm rot="0" flipH="0" flipV="0">
            <a:off x="6191250" y="2695575"/>
            <a:ext cx="5429250" cy="1181100"/>
          </a:xfrm>
          <a:custGeom>
            <a:pathLst>
              <a:path w="570" h="124">
                <a:moveTo>
                  <a:pt x="4" y="124"/>
                </a:moveTo>
                <a:cubicBezTo>
                  <a:pt x="2" y="124"/>
                  <a:pt x="0" y="122"/>
                  <a:pt x="0" y="120"/>
                </a:cubicBezTo>
                <a:lnTo>
                  <a:pt x="0" y="4"/>
                </a:lnTo>
                <a:cubicBezTo>
                  <a:pt x="0" y="2"/>
                  <a:pt x="2" y="0"/>
                  <a:pt x="4" y="0"/>
                </a:cubicBezTo>
                <a:lnTo>
                  <a:pt x="4" y="124"/>
                </a:lnTo>
                <a:close/>
              </a:path>
            </a:pathLst>
          </a:custGeom>
          <a:solidFill>
            <a:srgbClr val="F87D2F"/>
          </a:solidFill>
          <a:ln/>
        </p:spPr>
        <p:txBody>
          <a:bodyPr/>
          <a:p>
            <a:pPr/>
            <a:endParaRPr/>
          </a:p>
        </p:txBody>
      </p:sp>
      <p:sp>
        <p:nvSpPr>
          <p:cNvPr id="51" name="" descr="{&quot;isTemplate&quot;:true,&quot;type&quot;:&quot;text&quot;}"/>
          <p:cNvSpPr txBox="1"/>
          <p:nvPr/>
        </p:nvSpPr>
        <p:spPr>
          <a:xfrm rot="0" flipH="0" flipV="0">
            <a:off x="6400800" y="2867025"/>
            <a:ext cx="4972050" cy="209550"/>
          </a:xfrm>
          <a:prstGeom prst="rect"/>
        </p:spPr>
        <p:txBody>
          <a:bodyPr wrap="none" lIns="0" tIns="0" rIns="0" bIns="0"/>
          <a:p>
            <a:pPr>
              <a:lnSpc>
                <a:spcPct val="100000"/>
              </a:lnSpc>
            </a:pPr>
            <a:r>
              <a:rPr lang="zh-CN" sz="1350" b="1">
                <a:solidFill>
                  <a:srgbClr val="0F1423"/>
                </a:solidFill>
                <a:latin typeface="Microsoft YaHei"/>
                <a:ea typeface="Microsoft YaHei"/>
              </a:rPr>
              <a:t>交付物二：对象关系图</a:t>
            </a:r>
            <a:endParaRPr/>
          </a:p>
        </p:txBody>
      </p:sp>
      <p:sp>
        <p:nvSpPr>
          <p:cNvPr id="52" name="" descr="{&quot;isTemplate&quot;:true,&quot;type&quot;:&quot;text&quot;}"/>
          <p:cNvSpPr txBox="1"/>
          <p:nvPr/>
        </p:nvSpPr>
        <p:spPr>
          <a:xfrm rot="0" flipH="0" flipV="0">
            <a:off x="6400800" y="3152775"/>
            <a:ext cx="4972050" cy="552450"/>
          </a:xfrm>
          <a:prstGeom prst="rect"/>
        </p:spPr>
        <p:txBody>
          <a:bodyPr wrap="square" lIns="0" tIns="0" rIns="0" bIns="0">
            <a:normAutofit/>
          </a:bodyPr>
          <a:p>
            <a:pPr>
              <a:lnSpc>
                <a:spcPct val="160000"/>
              </a:lnSpc>
            </a:pPr>
            <a:r>
              <a:rPr lang="zh-CN" sz="1125">
                <a:solidFill>
                  <a:srgbClr val="3A4050"/>
                </a:solidFill>
                <a:latin typeface="Microsoft YaHei"/>
                <a:ea typeface="Microsoft YaHei"/>
              </a:rPr>
              <a:t>描述对象之间的业务关联（谁与谁签约、谁承载什么），是概念数据模型的雏形。</a:t>
            </a:r>
            <a:endParaRPr/>
          </a:p>
        </p:txBody>
      </p:sp>
      <p:sp>
        <p:nvSpPr>
          <p:cNvPr id="53" name=""/>
          <p:cNvSpPr/>
          <p:nvPr/>
        </p:nvSpPr>
        <p:spPr>
          <a:xfrm rot="0" flipH="0" flipV="0">
            <a:off x="6153150" y="4010025"/>
            <a:ext cx="5429250" cy="1571625"/>
          </a:xfrm>
          <a:prstGeom prst="roundRect">
            <a:avLst>
              <a:gd name="adj" fmla="val 2424"/>
            </a:avLst>
          </a:prstGeom>
          <a:solidFill>
            <a:srgbClr val="FA4F24">
              <a:alpha val="6000"/>
            </a:srgbClr>
          </a:solidFill>
          <a:ln/>
        </p:spPr>
        <p:txBody>
          <a:bodyPr/>
          <a:p>
            <a:pPr/>
            <a:endParaRPr/>
          </a:p>
        </p:txBody>
      </p:sp>
      <p:sp>
        <p:nvSpPr>
          <p:cNvPr id="54" name="" descr="{&quot;isTemplate&quot;:true,&quot;type&quot;:&quot;text&quot;}"/>
          <p:cNvSpPr txBox="1"/>
          <p:nvPr/>
        </p:nvSpPr>
        <p:spPr>
          <a:xfrm rot="0" flipH="0" flipV="0">
            <a:off x="6362700" y="4391025"/>
            <a:ext cx="5010150" cy="190500"/>
          </a:xfrm>
          <a:prstGeom prst="rect"/>
        </p:spPr>
        <p:txBody>
          <a:bodyPr wrap="none" lIns="0" tIns="0" rIns="0" bIns="0"/>
          <a:p>
            <a:pPr>
              <a:lnSpc>
                <a:spcPct val="100000"/>
              </a:lnSpc>
            </a:pPr>
            <a:r>
              <a:rPr lang="en-US" sz="1200" b="1">
                <a:solidFill>
                  <a:srgbClr val="C43A17"/>
                </a:solidFill>
                <a:latin typeface="Microsoft YaHei"/>
                <a:ea typeface="Microsoft YaHei"/>
              </a:rPr>
              <a:t xml:space="preserve">★ </a:t>
            </a:r>
            <a:r>
              <a:rPr lang="zh-CN" sz="1200" b="1">
                <a:solidFill>
                  <a:srgbClr val="C43A17"/>
                </a:solidFill>
                <a:latin typeface="Microsoft YaHei"/>
                <a:ea typeface="Microsoft YaHei"/>
              </a:rPr>
              <a:t>判定要点</a:t>
            </a:r>
            <a:endParaRPr/>
          </a:p>
        </p:txBody>
      </p:sp>
      <p:sp>
        <p:nvSpPr>
          <p:cNvPr id="55" name="" descr="{&quot;isTemplate&quot;:true,&quot;type&quot;:&quot;text&quot;}"/>
          <p:cNvSpPr txBox="1"/>
          <p:nvPr/>
        </p:nvSpPr>
        <p:spPr>
          <a:xfrm rot="0" flipH="0" flipV="0">
            <a:off x="6362700" y="4657725"/>
            <a:ext cx="5010150" cy="552450"/>
          </a:xfrm>
          <a:prstGeom prst="rect"/>
        </p:spPr>
        <p:txBody>
          <a:bodyPr wrap="square" lIns="0" tIns="0" rIns="0" bIns="0">
            <a:normAutofit/>
          </a:bodyPr>
          <a:p>
            <a:pPr>
              <a:lnSpc>
                <a:spcPct val="160000"/>
              </a:lnSpc>
            </a:pPr>
            <a:r>
              <a:rPr lang="zh-CN" sz="1125">
                <a:solidFill>
                  <a:srgbClr val="3A4050"/>
                </a:solidFill>
                <a:latin typeface="Microsoft YaHei"/>
                <a:ea typeface="Microsoft YaHei"/>
              </a:rPr>
              <a:t>如果一个数据元素只有一个标识名、没有描述性信息，它应被识别为</a:t>
            </a:r>
            <a:r>
              <a:rPr lang="zh-CN" sz="1125">
                <a:solidFill>
                  <a:srgbClr val="3A4050"/>
                </a:solidFill>
                <a:latin typeface="Microsoft YaHei"/>
                <a:ea typeface="Microsoft YaHei"/>
              </a:rPr>
              <a:t>属性</a:t>
            </a:r>
            <a:r>
              <a:rPr lang="zh-CN" sz="1125">
                <a:solidFill>
                  <a:srgbClr val="3A4050"/>
                </a:solidFill>
                <a:latin typeface="Microsoft YaHei"/>
                <a:ea typeface="Microsoft YaHei"/>
              </a:rPr>
              <a:t>而不是实体。</a:t>
            </a: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这条判断经常被忽略，导致目录层级混乱。</a:t>
            </a:r>
            <a:endParaRPr/>
          </a:p>
        </p:txBody>
      </p:sp>
      <p:sp>
        <p:nvSpPr>
          <p:cNvPr id="56" name=""/>
          <p:cNvSpPr/>
          <p:nvPr/>
        </p:nvSpPr>
        <p:spPr>
          <a:xfrm rot="0" flipH="0" flipV="0">
            <a:off x="609600" y="5943600"/>
            <a:ext cx="133350" cy="133350"/>
          </a:xfrm>
          <a:prstGeom prst="rect">
            <a:avLst/>
          </a:prstGeom>
          <a:solidFill>
            <a:srgbClr val="FA4F24"/>
          </a:solidFill>
          <a:ln/>
        </p:spPr>
        <p:txBody>
          <a:bodyPr/>
          <a:p>
            <a:pPr/>
            <a:endParaRPr/>
          </a:p>
        </p:txBody>
      </p:sp>
      <p:sp>
        <p:nvSpPr>
          <p:cNvPr id="57"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58"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10 / 30</a:t>
            </a:r>
            <a:endParaRPr/>
          </a:p>
        </p:txBody>
      </p:sp>
    </p:spTree>
  </p:cSld>
</p:sld>
</file>

<file path=ppt/slides/slide11.xml><?xml version="1.0" encoding="utf-8"?>
<p:sld xmlns:p="http://schemas.openxmlformats.org/presentationml/2006/main" xmlns:a="http://schemas.openxmlformats.org/drawingml/2006/main">
  <p:cSld>
    <p:spTree>
      <p:nvGrpSpPr>
        <p:cNvPr id="59" name=""/>
        <p:cNvGrpSpPr/>
        <p:nvPr/>
      </p:nvGrpSpPr>
      <p:grpSpPr>
        <a:xfrm>
          <a:off x="0" y="0"/>
          <a:ext cx="0" cy="0"/>
          <a:chOff x="0" y="0"/>
          <a:chExt cx="0" cy="0"/>
        </a:xfrm>
      </p:grpSpPr>
      <p:sp>
        <p:nvSpPr>
          <p:cNvPr id="60" name=""/>
          <p:cNvSpPr/>
          <p:nvPr/>
        </p:nvSpPr>
        <p:spPr>
          <a:xfrm rot="0" flipH="0" flipV="0">
            <a:off x="0" y="0"/>
            <a:ext cx="12192000" cy="6858000"/>
          </a:xfrm>
          <a:prstGeom prst="rect">
            <a:avLst/>
          </a:prstGeom>
          <a:solidFill>
            <a:srgbClr val="FFFFFF"/>
          </a:solidFill>
          <a:ln/>
        </p:spPr>
        <p:txBody>
          <a:bodyPr/>
          <a:p>
            <a:pPr/>
            <a:endParaRPr/>
          </a:p>
        </p:txBody>
      </p:sp>
      <p:sp>
        <p:nvSpPr>
          <p:cNvPr id="61"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之模板：</a:t>
            </a:r>
            <a:r>
              <a:rPr lang="zh-CN" sz="2400" b="1">
                <a:solidFill>
                  <a:srgbClr val="FA4F24"/>
                </a:solidFill>
                <a:latin typeface="Microsoft YaHei"/>
                <a:ea typeface="Microsoft YaHei"/>
              </a:rPr>
              <a:t>业务对象定义卡</a:t>
            </a:r>
            <a:r>
              <a:rPr lang="zh-CN" sz="2400" b="1">
                <a:solidFill>
                  <a:srgbClr val="0F1423"/>
                </a:solidFill>
                <a:latin typeface="Microsoft YaHei"/>
                <a:ea typeface="Microsoft YaHei"/>
              </a:rPr>
              <a:t>——字段即标准，填不出说明还没想清楚</a:t>
            </a:r>
            <a:endParaRPr/>
          </a:p>
        </p:txBody>
      </p:sp>
      <p:sp>
        <p:nvSpPr>
          <p:cNvPr id="62"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一张卡片锁定对象的核心信息，作为资产目录</a:t>
            </a:r>
            <a:r>
              <a:rPr lang="en-US" sz="1500">
                <a:solidFill>
                  <a:srgbClr val="8A8F99"/>
                </a:solidFill>
                <a:latin typeface="Microsoft YaHei"/>
                <a:ea typeface="Microsoft YaHei"/>
              </a:rPr>
              <a:t xml:space="preserve"> L3 </a:t>
            </a:r>
            <a:r>
              <a:rPr lang="zh-CN" sz="1500">
                <a:solidFill>
                  <a:srgbClr val="8A8F99"/>
                </a:solidFill>
                <a:latin typeface="Microsoft YaHei"/>
                <a:ea typeface="Microsoft YaHei"/>
              </a:rPr>
              <a:t>的登记表与四判定结论的载体</a:t>
            </a:r>
            <a:endParaRPr/>
          </a:p>
        </p:txBody>
      </p:sp>
      <p:sp>
        <p:nvSpPr>
          <p:cNvPr id="63" name=""/>
          <p:cNvSpPr/>
          <p:nvPr/>
        </p:nvSpPr>
        <p:spPr>
          <a:xfrm rot="0" flipH="0" flipV="0">
            <a:off x="609600" y="1143000"/>
            <a:ext cx="10972800" cy="9525"/>
          </a:xfrm>
          <a:prstGeom prst="rect">
            <a:avLst/>
          </a:prstGeom>
          <a:solidFill>
            <a:srgbClr val="E8E8E8"/>
          </a:solidFill>
          <a:ln/>
        </p:spPr>
        <p:txBody>
          <a:bodyPr/>
          <a:p>
            <a:pPr/>
            <a:endParaRPr/>
          </a:p>
        </p:txBody>
      </p:sp>
      <p:sp>
        <p:nvSpPr>
          <p:cNvPr id="64" name=""/>
          <p:cNvSpPr/>
          <p:nvPr/>
        </p:nvSpPr>
        <p:spPr>
          <a:xfrm rot="0" flipH="0" flipV="0">
            <a:off x="609600" y="1381125"/>
            <a:ext cx="5905500" cy="4200525"/>
          </a:xfrm>
          <a:prstGeom prst="roundRect">
            <a:avLst>
              <a:gd name="adj" fmla="val 907"/>
            </a:avLst>
          </a:prstGeom>
          <a:ln w="12700">
            <a:solidFill>
              <a:srgbClr val="E8E8E8"/>
            </a:solidFill>
            <a:prstDash val="solid"/>
          </a:ln>
        </p:spPr>
        <p:txBody>
          <a:bodyPr/>
          <a:p>
            <a:pPr/>
            <a:endParaRPr/>
          </a:p>
        </p:txBody>
      </p:sp>
      <p:sp>
        <p:nvSpPr>
          <p:cNvPr id="65" name=""/>
          <p:cNvSpPr/>
          <p:nvPr/>
        </p:nvSpPr>
        <p:spPr>
          <a:xfrm rot="0" flipH="0" flipV="0">
            <a:off x="838200" y="1571625"/>
            <a:ext cx="5448300" cy="381000"/>
          </a:xfrm>
          <a:custGeom>
            <a:pathLst>
              <a:path w="572" h="40">
                <a:moveTo>
                  <a:pt x="0" y="38"/>
                </a:moveTo>
                <a:lnTo>
                  <a:pt x="572" y="38"/>
                </a:lnTo>
                <a:lnTo>
                  <a:pt x="572" y="40"/>
                </a:lnTo>
                <a:lnTo>
                  <a:pt x="0" y="40"/>
                </a:lnTo>
                <a:close/>
              </a:path>
            </a:pathLst>
          </a:custGeom>
          <a:solidFill>
            <a:srgbClr val="FA4F24"/>
          </a:solidFill>
          <a:ln/>
        </p:spPr>
        <p:txBody>
          <a:bodyPr/>
          <a:p>
            <a:pPr/>
            <a:endParaRPr/>
          </a:p>
        </p:txBody>
      </p:sp>
      <p:sp>
        <p:nvSpPr>
          <p:cNvPr id="66" name="" descr="{&quot;isTemplate&quot;:true,&quot;type&quot;:&quot;text&quot;}"/>
          <p:cNvSpPr txBox="1"/>
          <p:nvPr/>
        </p:nvSpPr>
        <p:spPr>
          <a:xfrm rot="0" flipH="0" flipV="0">
            <a:off x="838200" y="1571625"/>
            <a:ext cx="1333500" cy="228600"/>
          </a:xfrm>
          <a:prstGeom prst="rect"/>
        </p:spPr>
        <p:txBody>
          <a:bodyPr wrap="none" lIns="0" tIns="0" rIns="0" bIns="0"/>
          <a:p>
            <a:pPr>
              <a:lnSpc>
                <a:spcPct val="100000"/>
              </a:lnSpc>
            </a:pPr>
            <a:r>
              <a:rPr lang="zh-CN" sz="1500" b="1">
                <a:solidFill>
                  <a:srgbClr val="0F1423"/>
                </a:solidFill>
                <a:latin typeface="Microsoft YaHei"/>
                <a:ea typeface="Microsoft YaHei"/>
              </a:rPr>
              <a:t>业务对象定义卡</a:t>
            </a:r>
            <a:endParaRPr/>
          </a:p>
        </p:txBody>
      </p:sp>
      <p:sp>
        <p:nvSpPr>
          <p:cNvPr id="67" name="" descr="{&quot;isTemplate&quot;:true,&quot;type&quot;:&quot;text&quot;}"/>
          <p:cNvSpPr txBox="1"/>
          <p:nvPr/>
        </p:nvSpPr>
        <p:spPr>
          <a:xfrm rot="0" flipH="0" flipV="0">
            <a:off x="5353050" y="1609725"/>
            <a:ext cx="933450" cy="161925"/>
          </a:xfrm>
          <a:prstGeom prst="rect"/>
        </p:spPr>
        <p:txBody>
          <a:bodyPr wrap="none" lIns="0" tIns="0" rIns="0" bIns="0"/>
          <a:p>
            <a:pPr>
              <a:lnSpc>
                <a:spcPct val="100000"/>
              </a:lnSpc>
            </a:pPr>
            <a:r>
              <a:rPr lang="zh-CN" sz="1050">
                <a:solidFill>
                  <a:srgbClr val="8A8F99"/>
                </a:solidFill>
                <a:latin typeface="Microsoft YaHei"/>
                <a:ea typeface="Microsoft YaHei"/>
              </a:rPr>
              <a:t>示例：客户合同</a:t>
            </a:r>
            <a:endParaRPr/>
          </a:p>
        </p:txBody>
      </p:sp>
      <p:sp>
        <p:nvSpPr>
          <p:cNvPr id="68" name=""/>
          <p:cNvSpPr/>
          <p:nvPr/>
        </p:nvSpPr>
        <p:spPr>
          <a:xfrm rot="0" flipH="0" flipV="0">
            <a:off x="838200" y="2066925"/>
            <a:ext cx="5448300" cy="381000"/>
          </a:xfrm>
          <a:prstGeom prst="roundRect">
            <a:avLst>
              <a:gd name="adj" fmla="val 7500"/>
            </a:avLst>
          </a:prstGeom>
          <a:solidFill>
            <a:srgbClr val="F7F7F8"/>
          </a:solidFill>
          <a:ln/>
        </p:spPr>
        <p:txBody>
          <a:bodyPr/>
          <a:p>
            <a:pPr/>
            <a:endParaRPr/>
          </a:p>
        </p:txBody>
      </p:sp>
      <p:sp>
        <p:nvSpPr>
          <p:cNvPr id="69" name="" descr="{&quot;isTemplate&quot;:true,&quot;type&quot;:&quot;text&quot;}"/>
          <p:cNvSpPr txBox="1"/>
          <p:nvPr/>
        </p:nvSpPr>
        <p:spPr>
          <a:xfrm rot="0" flipH="0" flipV="0">
            <a:off x="952500" y="2181225"/>
            <a:ext cx="819150" cy="161925"/>
          </a:xfrm>
          <a:prstGeom prst="rect"/>
        </p:spPr>
        <p:txBody>
          <a:bodyPr wrap="none" lIns="0" tIns="0" rIns="0" bIns="0"/>
          <a:p>
            <a:pPr>
              <a:lnSpc>
                <a:spcPct val="100000"/>
              </a:lnSpc>
            </a:pPr>
            <a:r>
              <a:rPr lang="zh-CN" sz="1050" b="1">
                <a:solidFill>
                  <a:srgbClr val="0F1423"/>
                </a:solidFill>
                <a:latin typeface="Microsoft YaHei"/>
                <a:ea typeface="Microsoft YaHei"/>
              </a:rPr>
              <a:t>对象编号</a:t>
            </a:r>
            <a:endParaRPr/>
          </a:p>
        </p:txBody>
      </p:sp>
      <p:sp>
        <p:nvSpPr>
          <p:cNvPr id="70" name="" descr="{&quot;isTemplate&quot;:true,&quot;type&quot;:&quot;text&quot;}"/>
          <p:cNvSpPr txBox="1"/>
          <p:nvPr/>
        </p:nvSpPr>
        <p:spPr>
          <a:xfrm rot="0" flipH="0" flipV="0">
            <a:off x="1885950" y="2152650"/>
            <a:ext cx="2914650" cy="209550"/>
          </a:xfrm>
          <a:prstGeom prst="rect"/>
        </p:spPr>
        <p:txBody>
          <a:bodyPr wrap="none" lIns="0" tIns="0" rIns="0" bIns="0"/>
          <a:p>
            <a:pPr>
              <a:lnSpc>
                <a:spcPct val="130000"/>
              </a:lnSpc>
            </a:pPr>
            <a:r>
              <a:rPr lang="en-US" sz="1050">
                <a:solidFill>
                  <a:srgbClr val="3A4050"/>
                </a:solidFill>
                <a:latin typeface="Microsoft YaHei"/>
                <a:ea typeface="Microsoft YaHei"/>
              </a:rPr>
              <a:t>BO-CON-001</a:t>
            </a:r>
            <a:endParaRPr/>
          </a:p>
        </p:txBody>
      </p:sp>
      <p:sp>
        <p:nvSpPr>
          <p:cNvPr id="71" name="" descr="{&quot;isTemplate&quot;:true,&quot;type&quot;:&quot;text&quot;}"/>
          <p:cNvSpPr txBox="1"/>
          <p:nvPr/>
        </p:nvSpPr>
        <p:spPr>
          <a:xfrm rot="0" flipH="0" flipV="0">
            <a:off x="4914900" y="2171700"/>
            <a:ext cx="1257300" cy="171450"/>
          </a:xfrm>
          <a:prstGeom prst="rect"/>
        </p:spPr>
        <p:txBody>
          <a:bodyPr wrap="none" lIns="0" tIns="0" rIns="0" bIns="0"/>
          <a:p>
            <a:pPr algn="r">
              <a:lnSpc>
                <a:spcPct val="130000"/>
              </a:lnSpc>
            </a:pPr>
            <a:r>
              <a:rPr lang="zh-CN" sz="825">
                <a:solidFill>
                  <a:srgbClr val="B8BDC7"/>
                </a:solidFill>
                <a:latin typeface="Microsoft YaHei"/>
                <a:ea typeface="Microsoft YaHei"/>
              </a:rPr>
              <a:t>全局唯一，与资产目录一致</a:t>
            </a:r>
            <a:endParaRPr/>
          </a:p>
        </p:txBody>
      </p:sp>
      <p:sp>
        <p:nvSpPr>
          <p:cNvPr id="72" name=""/>
          <p:cNvSpPr/>
          <p:nvPr/>
        </p:nvSpPr>
        <p:spPr>
          <a:xfrm rot="0" flipH="0" flipV="0">
            <a:off x="838200" y="2543175"/>
            <a:ext cx="5448300" cy="381000"/>
          </a:xfrm>
          <a:prstGeom prst="roundRect">
            <a:avLst>
              <a:gd name="adj" fmla="val 7500"/>
            </a:avLst>
          </a:prstGeom>
          <a:solidFill>
            <a:srgbClr val="FFFFFF"/>
          </a:solidFill>
          <a:ln/>
        </p:spPr>
        <p:txBody>
          <a:bodyPr/>
          <a:p>
            <a:pPr/>
            <a:endParaRPr/>
          </a:p>
        </p:txBody>
      </p:sp>
      <p:sp>
        <p:nvSpPr>
          <p:cNvPr id="73" name="" descr="{&quot;isTemplate&quot;:true,&quot;type&quot;:&quot;text&quot;}"/>
          <p:cNvSpPr txBox="1"/>
          <p:nvPr/>
        </p:nvSpPr>
        <p:spPr>
          <a:xfrm rot="0" flipH="0" flipV="0">
            <a:off x="952500" y="2657475"/>
            <a:ext cx="819150" cy="161925"/>
          </a:xfrm>
          <a:prstGeom prst="rect"/>
        </p:spPr>
        <p:txBody>
          <a:bodyPr wrap="none" lIns="0" tIns="0" rIns="0" bIns="0"/>
          <a:p>
            <a:pPr>
              <a:lnSpc>
                <a:spcPct val="100000"/>
              </a:lnSpc>
            </a:pPr>
            <a:r>
              <a:rPr lang="zh-CN" sz="1050" b="1">
                <a:solidFill>
                  <a:srgbClr val="0F1423"/>
                </a:solidFill>
                <a:latin typeface="Microsoft YaHei"/>
                <a:ea typeface="Microsoft YaHei"/>
              </a:rPr>
              <a:t>对象名称</a:t>
            </a:r>
            <a:endParaRPr/>
          </a:p>
        </p:txBody>
      </p:sp>
      <p:sp>
        <p:nvSpPr>
          <p:cNvPr id="74" name="" descr="{&quot;isTemplate&quot;:true,&quot;type&quot;:&quot;text&quot;}"/>
          <p:cNvSpPr txBox="1"/>
          <p:nvPr/>
        </p:nvSpPr>
        <p:spPr>
          <a:xfrm rot="0" flipH="0" flipV="0">
            <a:off x="1885950" y="2628900"/>
            <a:ext cx="2914650" cy="209550"/>
          </a:xfrm>
          <a:prstGeom prst="rect"/>
        </p:spPr>
        <p:txBody>
          <a:bodyPr wrap="none" lIns="0" tIns="0" rIns="0" bIns="0"/>
          <a:p>
            <a:pPr>
              <a:lnSpc>
                <a:spcPct val="130000"/>
              </a:lnSpc>
            </a:pPr>
            <a:r>
              <a:rPr lang="zh-CN" sz="1050">
                <a:solidFill>
                  <a:srgbClr val="3A4050"/>
                </a:solidFill>
                <a:latin typeface="Microsoft YaHei"/>
                <a:ea typeface="Microsoft YaHei"/>
              </a:rPr>
              <a:t>客户合同</a:t>
            </a:r>
            <a:endParaRPr/>
          </a:p>
        </p:txBody>
      </p:sp>
      <p:sp>
        <p:nvSpPr>
          <p:cNvPr id="75" name="" descr="{&quot;isTemplate&quot;:true,&quot;type&quot;:&quot;text&quot;}"/>
          <p:cNvSpPr txBox="1"/>
          <p:nvPr/>
        </p:nvSpPr>
        <p:spPr>
          <a:xfrm rot="0" flipH="0" flipV="0">
            <a:off x="4914900" y="2647950"/>
            <a:ext cx="1257300" cy="171450"/>
          </a:xfrm>
          <a:prstGeom prst="rect"/>
        </p:spPr>
        <p:txBody>
          <a:bodyPr wrap="none" lIns="0" tIns="0" rIns="0" bIns="0"/>
          <a:p>
            <a:pPr algn="r">
              <a:lnSpc>
                <a:spcPct val="130000"/>
              </a:lnSpc>
            </a:pPr>
            <a:r>
              <a:rPr lang="zh-CN" sz="825">
                <a:solidFill>
                  <a:srgbClr val="B8BDC7"/>
                </a:solidFill>
                <a:latin typeface="Microsoft YaHei"/>
                <a:ea typeface="Microsoft YaHei"/>
              </a:rPr>
              <a:t>业务统一定名，全企业共用</a:t>
            </a:r>
            <a:endParaRPr/>
          </a:p>
        </p:txBody>
      </p:sp>
      <p:sp>
        <p:nvSpPr>
          <p:cNvPr id="76" name=""/>
          <p:cNvSpPr/>
          <p:nvPr/>
        </p:nvSpPr>
        <p:spPr>
          <a:xfrm rot="0" flipH="0" flipV="0">
            <a:off x="838200" y="3019425"/>
            <a:ext cx="5448300" cy="381000"/>
          </a:xfrm>
          <a:prstGeom prst="roundRect">
            <a:avLst>
              <a:gd name="adj" fmla="val 7500"/>
            </a:avLst>
          </a:prstGeom>
          <a:solidFill>
            <a:srgbClr val="F7F7F8"/>
          </a:solidFill>
          <a:ln/>
        </p:spPr>
        <p:txBody>
          <a:bodyPr/>
          <a:p>
            <a:pPr/>
            <a:endParaRPr/>
          </a:p>
        </p:txBody>
      </p:sp>
      <p:sp>
        <p:nvSpPr>
          <p:cNvPr id="77" name="" descr="{&quot;isTemplate&quot;:true,&quot;type&quot;:&quot;text&quot;}"/>
          <p:cNvSpPr txBox="1"/>
          <p:nvPr/>
        </p:nvSpPr>
        <p:spPr>
          <a:xfrm rot="0" flipH="0" flipV="0">
            <a:off x="952500" y="3133725"/>
            <a:ext cx="819150" cy="161925"/>
          </a:xfrm>
          <a:prstGeom prst="rect"/>
        </p:spPr>
        <p:txBody>
          <a:bodyPr wrap="none" lIns="0" tIns="0" rIns="0" bIns="0"/>
          <a:p>
            <a:pPr>
              <a:lnSpc>
                <a:spcPct val="100000"/>
              </a:lnSpc>
            </a:pPr>
            <a:r>
              <a:rPr lang="zh-CN" sz="1050" b="1">
                <a:solidFill>
                  <a:srgbClr val="0F1423"/>
                </a:solidFill>
                <a:latin typeface="Microsoft YaHei"/>
                <a:ea typeface="Microsoft YaHei"/>
              </a:rPr>
              <a:t>所属主题域</a:t>
            </a:r>
            <a:endParaRPr/>
          </a:p>
        </p:txBody>
      </p:sp>
      <p:sp>
        <p:nvSpPr>
          <p:cNvPr id="78" name="" descr="{&quot;isTemplate&quot;:true,&quot;type&quot;:&quot;text&quot;}"/>
          <p:cNvSpPr txBox="1"/>
          <p:nvPr/>
        </p:nvSpPr>
        <p:spPr>
          <a:xfrm rot="0" flipH="0" flipV="0">
            <a:off x="1885950" y="3105150"/>
            <a:ext cx="2914650" cy="209550"/>
          </a:xfrm>
          <a:prstGeom prst="rect"/>
        </p:spPr>
        <p:txBody>
          <a:bodyPr wrap="none" lIns="0" tIns="0" rIns="0" bIns="0"/>
          <a:p>
            <a:pPr>
              <a:lnSpc>
                <a:spcPct val="130000"/>
              </a:lnSpc>
            </a:pPr>
            <a:r>
              <a:rPr lang="zh-CN" sz="1050">
                <a:solidFill>
                  <a:srgbClr val="3A4050"/>
                </a:solidFill>
                <a:latin typeface="Microsoft YaHei"/>
                <a:ea typeface="Microsoft YaHei"/>
              </a:rPr>
              <a:t>客户域（</a:t>
            </a:r>
            <a:r>
              <a:rPr lang="en-US" sz="1050">
                <a:solidFill>
                  <a:srgbClr val="3A4050"/>
                </a:solidFill>
                <a:latin typeface="Microsoft YaHei"/>
                <a:ea typeface="Microsoft YaHei"/>
              </a:rPr>
              <a:t>L1</a:t>
            </a:r>
            <a:r>
              <a:rPr lang="zh-CN" sz="1050">
                <a:solidFill>
                  <a:srgbClr val="3A4050"/>
                </a:solidFill>
                <a:latin typeface="Microsoft YaHei"/>
                <a:ea typeface="Microsoft YaHei"/>
              </a:rPr>
              <a:t>）→</a:t>
            </a:r>
            <a:r>
              <a:rPr lang="en-US" sz="1050">
                <a:solidFill>
                  <a:srgbClr val="3A4050"/>
                </a:solidFill>
                <a:latin typeface="Microsoft YaHei"/>
                <a:ea typeface="Microsoft YaHei"/>
              </a:rPr>
              <a:t xml:space="preserve"> </a:t>
            </a:r>
            <a:r>
              <a:rPr lang="zh-CN" sz="1050">
                <a:solidFill>
                  <a:srgbClr val="3A4050"/>
                </a:solidFill>
                <a:latin typeface="Microsoft YaHei"/>
                <a:ea typeface="Microsoft YaHei"/>
              </a:rPr>
              <a:t>合同管理（</a:t>
            </a:r>
            <a:r>
              <a:rPr lang="en-US" sz="1050">
                <a:solidFill>
                  <a:srgbClr val="3A4050"/>
                </a:solidFill>
                <a:latin typeface="Microsoft YaHei"/>
                <a:ea typeface="Microsoft YaHei"/>
              </a:rPr>
              <a:t>L2</a:t>
            </a:r>
            <a:r>
              <a:rPr lang="zh-CN" sz="1050">
                <a:solidFill>
                  <a:srgbClr val="3A4050"/>
                </a:solidFill>
                <a:latin typeface="Microsoft YaHei"/>
                <a:ea typeface="Microsoft YaHei"/>
              </a:rPr>
              <a:t>）</a:t>
            </a:r>
            <a:endParaRPr/>
          </a:p>
        </p:txBody>
      </p:sp>
      <p:sp>
        <p:nvSpPr>
          <p:cNvPr id="79" name="" descr="{&quot;isTemplate&quot;:true,&quot;type&quot;:&quot;text&quot;}"/>
          <p:cNvSpPr txBox="1"/>
          <p:nvPr/>
        </p:nvSpPr>
        <p:spPr>
          <a:xfrm rot="0" flipH="0" flipV="0">
            <a:off x="4914900" y="3124200"/>
            <a:ext cx="1257300" cy="171450"/>
          </a:xfrm>
          <a:prstGeom prst="rect"/>
        </p:spPr>
        <p:txBody>
          <a:bodyPr wrap="none" lIns="0" tIns="0" rIns="0" bIns="0"/>
          <a:p>
            <a:pPr algn="r">
              <a:lnSpc>
                <a:spcPct val="130000"/>
              </a:lnSpc>
            </a:pPr>
            <a:r>
              <a:rPr lang="en-US" sz="825">
                <a:solidFill>
                  <a:srgbClr val="B8BDC7"/>
                </a:solidFill>
                <a:latin typeface="Microsoft YaHei"/>
                <a:ea typeface="Microsoft YaHei"/>
              </a:rPr>
              <a:t xml:space="preserve">L1/L2 </a:t>
            </a:r>
            <a:r>
              <a:rPr lang="zh-CN" sz="825">
                <a:solidFill>
                  <a:srgbClr val="B8BDC7"/>
                </a:solidFill>
                <a:latin typeface="Microsoft YaHei"/>
                <a:ea typeface="Microsoft YaHei"/>
              </a:rPr>
              <a:t>定位</a:t>
            </a:r>
            <a:endParaRPr/>
          </a:p>
        </p:txBody>
      </p:sp>
      <p:sp>
        <p:nvSpPr>
          <p:cNvPr id="80" name=""/>
          <p:cNvSpPr/>
          <p:nvPr/>
        </p:nvSpPr>
        <p:spPr>
          <a:xfrm rot="0" flipH="0" flipV="0">
            <a:off x="838200" y="3495675"/>
            <a:ext cx="5448300" cy="381000"/>
          </a:xfrm>
          <a:prstGeom prst="roundRect">
            <a:avLst>
              <a:gd name="adj" fmla="val 7500"/>
            </a:avLst>
          </a:prstGeom>
          <a:solidFill>
            <a:srgbClr val="FFFFFF"/>
          </a:solidFill>
          <a:ln/>
        </p:spPr>
        <p:txBody>
          <a:bodyPr/>
          <a:p>
            <a:pPr/>
            <a:endParaRPr/>
          </a:p>
        </p:txBody>
      </p:sp>
      <p:sp>
        <p:nvSpPr>
          <p:cNvPr id="81" name="" descr="{&quot;isTemplate&quot;:true,&quot;type&quot;:&quot;text&quot;}"/>
          <p:cNvSpPr txBox="1"/>
          <p:nvPr/>
        </p:nvSpPr>
        <p:spPr>
          <a:xfrm rot="0" flipH="0" flipV="0">
            <a:off x="952500" y="3609975"/>
            <a:ext cx="819150" cy="161925"/>
          </a:xfrm>
          <a:prstGeom prst="rect"/>
        </p:spPr>
        <p:txBody>
          <a:bodyPr wrap="none" lIns="0" tIns="0" rIns="0" bIns="0"/>
          <a:p>
            <a:pPr>
              <a:lnSpc>
                <a:spcPct val="100000"/>
              </a:lnSpc>
            </a:pPr>
            <a:r>
              <a:rPr lang="zh-CN" sz="1050" b="1">
                <a:solidFill>
                  <a:srgbClr val="0F1423"/>
                </a:solidFill>
                <a:latin typeface="Microsoft YaHei"/>
                <a:ea typeface="Microsoft YaHei"/>
              </a:rPr>
              <a:t>业务定义</a:t>
            </a:r>
            <a:endParaRPr/>
          </a:p>
        </p:txBody>
      </p:sp>
      <p:sp>
        <p:nvSpPr>
          <p:cNvPr id="82" name="" descr="{&quot;isTemplate&quot;:true,&quot;type&quot;:&quot;text&quot;}"/>
          <p:cNvSpPr txBox="1"/>
          <p:nvPr/>
        </p:nvSpPr>
        <p:spPr>
          <a:xfrm rot="0" flipH="0" flipV="0">
            <a:off x="1885950" y="3581400"/>
            <a:ext cx="2914650" cy="209550"/>
          </a:xfrm>
          <a:prstGeom prst="rect"/>
        </p:spPr>
        <p:txBody>
          <a:bodyPr wrap="none" lIns="0" tIns="0" rIns="0" bIns="0"/>
          <a:p>
            <a:pPr>
              <a:lnSpc>
                <a:spcPct val="130000"/>
              </a:lnSpc>
            </a:pPr>
            <a:r>
              <a:rPr lang="zh-CN" sz="1050">
                <a:solidFill>
                  <a:srgbClr val="3A4050"/>
                </a:solidFill>
                <a:latin typeface="Microsoft YaHei"/>
                <a:ea typeface="Microsoft YaHei"/>
              </a:rPr>
              <a:t>企业与法人客户就交易内容达成的法律约定</a:t>
            </a:r>
            <a:endParaRPr/>
          </a:p>
        </p:txBody>
      </p:sp>
      <p:sp>
        <p:nvSpPr>
          <p:cNvPr id="83" name="" descr="{&quot;isTemplate&quot;:true,&quot;type&quot;:&quot;text&quot;}"/>
          <p:cNvSpPr txBox="1"/>
          <p:nvPr/>
        </p:nvSpPr>
        <p:spPr>
          <a:xfrm rot="0" flipH="0" flipV="0">
            <a:off x="4914900" y="3600450"/>
            <a:ext cx="1257300" cy="171450"/>
          </a:xfrm>
          <a:prstGeom prst="rect"/>
        </p:spPr>
        <p:txBody>
          <a:bodyPr wrap="none" lIns="0" tIns="0" rIns="0" bIns="0"/>
          <a:p>
            <a:pPr algn="r">
              <a:lnSpc>
                <a:spcPct val="130000"/>
              </a:lnSpc>
            </a:pPr>
            <a:r>
              <a:rPr lang="zh-CN" sz="825">
                <a:solidFill>
                  <a:srgbClr val="B8BDC7"/>
                </a:solidFill>
                <a:latin typeface="Microsoft YaHei"/>
                <a:ea typeface="Microsoft YaHei"/>
              </a:rPr>
              <a:t>一句话说清是什么</a:t>
            </a:r>
            <a:endParaRPr/>
          </a:p>
        </p:txBody>
      </p:sp>
      <p:sp>
        <p:nvSpPr>
          <p:cNvPr id="84" name=""/>
          <p:cNvSpPr/>
          <p:nvPr/>
        </p:nvSpPr>
        <p:spPr>
          <a:xfrm rot="0" flipH="0" flipV="0">
            <a:off x="838200" y="3971925"/>
            <a:ext cx="5448300" cy="381000"/>
          </a:xfrm>
          <a:prstGeom prst="roundRect">
            <a:avLst>
              <a:gd name="adj" fmla="val 7500"/>
            </a:avLst>
          </a:prstGeom>
          <a:solidFill>
            <a:srgbClr val="F7F7F8"/>
          </a:solidFill>
          <a:ln/>
        </p:spPr>
        <p:txBody>
          <a:bodyPr/>
          <a:p>
            <a:pPr/>
            <a:endParaRPr/>
          </a:p>
        </p:txBody>
      </p:sp>
      <p:sp>
        <p:nvSpPr>
          <p:cNvPr id="85" name="" descr="{&quot;isTemplate&quot;:true,&quot;type&quot;:&quot;text&quot;}"/>
          <p:cNvSpPr txBox="1"/>
          <p:nvPr/>
        </p:nvSpPr>
        <p:spPr>
          <a:xfrm rot="0" flipH="0" flipV="0">
            <a:off x="952500" y="4086225"/>
            <a:ext cx="819150" cy="161925"/>
          </a:xfrm>
          <a:prstGeom prst="rect"/>
        </p:spPr>
        <p:txBody>
          <a:bodyPr wrap="none" lIns="0" tIns="0" rIns="0" bIns="0"/>
          <a:p>
            <a:pPr>
              <a:lnSpc>
                <a:spcPct val="100000"/>
              </a:lnSpc>
            </a:pPr>
            <a:r>
              <a:rPr lang="zh-CN" sz="1050" b="1">
                <a:solidFill>
                  <a:srgbClr val="0F1423"/>
                </a:solidFill>
                <a:latin typeface="Microsoft YaHei"/>
                <a:ea typeface="Microsoft YaHei"/>
              </a:rPr>
              <a:t>判定结论</a:t>
            </a:r>
            <a:endParaRPr/>
          </a:p>
        </p:txBody>
      </p:sp>
      <p:sp>
        <p:nvSpPr>
          <p:cNvPr id="86" name="" descr="{&quot;isTemplate&quot;:true,&quot;type&quot;:&quot;text&quot;}"/>
          <p:cNvSpPr txBox="1"/>
          <p:nvPr/>
        </p:nvSpPr>
        <p:spPr>
          <a:xfrm rot="0" flipH="0" flipV="0">
            <a:off x="1885950" y="4057650"/>
            <a:ext cx="2914650" cy="209550"/>
          </a:xfrm>
          <a:prstGeom prst="rect"/>
        </p:spPr>
        <p:txBody>
          <a:bodyPr wrap="none" lIns="0" tIns="0" rIns="0" bIns="0"/>
          <a:p>
            <a:pPr>
              <a:lnSpc>
                <a:spcPct val="130000"/>
              </a:lnSpc>
            </a:pPr>
            <a:r>
              <a:rPr lang="zh-CN" sz="1050">
                <a:solidFill>
                  <a:srgbClr val="3A4050"/>
                </a:solidFill>
                <a:latin typeface="Microsoft YaHei"/>
                <a:ea typeface="Microsoft YaHei"/>
              </a:rPr>
              <a:t>不可或缺</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唯一标识</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有属性</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可实例化</a:t>
            </a:r>
            <a:r>
              <a:rPr lang="en-US" sz="1050">
                <a:solidFill>
                  <a:srgbClr val="3A4050"/>
                </a:solidFill>
                <a:latin typeface="Microsoft YaHei"/>
                <a:ea typeface="Microsoft YaHei"/>
              </a:rPr>
              <a:t xml:space="preserve"> ✓</a:t>
            </a:r>
            <a:endParaRPr/>
          </a:p>
        </p:txBody>
      </p:sp>
      <p:sp>
        <p:nvSpPr>
          <p:cNvPr id="87" name="" descr="{&quot;isTemplate&quot;:true,&quot;type&quot;:&quot;text&quot;}"/>
          <p:cNvSpPr txBox="1"/>
          <p:nvPr/>
        </p:nvSpPr>
        <p:spPr>
          <a:xfrm rot="0" flipH="0" flipV="0">
            <a:off x="4914900" y="4076700"/>
            <a:ext cx="1257300" cy="171450"/>
          </a:xfrm>
          <a:prstGeom prst="rect"/>
        </p:spPr>
        <p:txBody>
          <a:bodyPr wrap="none" lIns="0" tIns="0" rIns="0" bIns="0"/>
          <a:p>
            <a:pPr algn="r">
              <a:lnSpc>
                <a:spcPct val="130000"/>
              </a:lnSpc>
            </a:pPr>
            <a:r>
              <a:rPr lang="zh-CN" sz="825">
                <a:solidFill>
                  <a:srgbClr val="B8BDC7"/>
                </a:solidFill>
                <a:latin typeface="Microsoft YaHei"/>
                <a:ea typeface="Microsoft YaHei"/>
              </a:rPr>
              <a:t>四判定全过才成立</a:t>
            </a:r>
            <a:endParaRPr/>
          </a:p>
        </p:txBody>
      </p:sp>
      <p:sp>
        <p:nvSpPr>
          <p:cNvPr id="88" name=""/>
          <p:cNvSpPr/>
          <p:nvPr/>
        </p:nvSpPr>
        <p:spPr>
          <a:xfrm rot="0" flipH="0" flipV="0">
            <a:off x="838200" y="4448175"/>
            <a:ext cx="5448300" cy="381000"/>
          </a:xfrm>
          <a:prstGeom prst="roundRect">
            <a:avLst>
              <a:gd name="adj" fmla="val 7500"/>
            </a:avLst>
          </a:prstGeom>
          <a:solidFill>
            <a:srgbClr val="FFFFFF"/>
          </a:solidFill>
          <a:ln/>
        </p:spPr>
        <p:txBody>
          <a:bodyPr/>
          <a:p>
            <a:pPr/>
            <a:endParaRPr/>
          </a:p>
        </p:txBody>
      </p:sp>
      <p:sp>
        <p:nvSpPr>
          <p:cNvPr id="89" name="" descr="{&quot;isTemplate&quot;:true,&quot;type&quot;:&quot;text&quot;}"/>
          <p:cNvSpPr txBox="1"/>
          <p:nvPr/>
        </p:nvSpPr>
        <p:spPr>
          <a:xfrm rot="0" flipH="0" flipV="0">
            <a:off x="952500" y="4562475"/>
            <a:ext cx="819150" cy="161925"/>
          </a:xfrm>
          <a:prstGeom prst="rect"/>
        </p:spPr>
        <p:txBody>
          <a:bodyPr wrap="none" lIns="0" tIns="0" rIns="0" bIns="0"/>
          <a:p>
            <a:pPr>
              <a:lnSpc>
                <a:spcPct val="100000"/>
              </a:lnSpc>
            </a:pPr>
            <a:r>
              <a:rPr lang="zh-CN" sz="1050" b="1">
                <a:solidFill>
                  <a:srgbClr val="0F1423"/>
                </a:solidFill>
                <a:latin typeface="Microsoft YaHei"/>
                <a:ea typeface="Microsoft YaHei"/>
              </a:rPr>
              <a:t>数据</a:t>
            </a:r>
            <a:r>
              <a:rPr lang="en-US" sz="1050" b="1">
                <a:solidFill>
                  <a:srgbClr val="0F1423"/>
                </a:solidFill>
                <a:latin typeface="Microsoft YaHei"/>
                <a:ea typeface="Microsoft YaHei"/>
              </a:rPr>
              <a:t xml:space="preserve"> Owner</a:t>
            </a:r>
            <a:endParaRPr/>
          </a:p>
        </p:txBody>
      </p:sp>
      <p:sp>
        <p:nvSpPr>
          <p:cNvPr id="90" name="" descr="{&quot;isTemplate&quot;:true,&quot;type&quot;:&quot;text&quot;}"/>
          <p:cNvSpPr txBox="1"/>
          <p:nvPr/>
        </p:nvSpPr>
        <p:spPr>
          <a:xfrm rot="0" flipH="0" flipV="0">
            <a:off x="1885950" y="4533900"/>
            <a:ext cx="2914650" cy="209550"/>
          </a:xfrm>
          <a:prstGeom prst="rect"/>
        </p:spPr>
        <p:txBody>
          <a:bodyPr wrap="none" lIns="0" tIns="0" rIns="0" bIns="0"/>
          <a:p>
            <a:pPr>
              <a:lnSpc>
                <a:spcPct val="130000"/>
              </a:lnSpc>
            </a:pPr>
            <a:r>
              <a:rPr lang="zh-CN" sz="1050">
                <a:solidFill>
                  <a:srgbClr val="3A4050"/>
                </a:solidFill>
                <a:latin typeface="Microsoft YaHei"/>
                <a:ea typeface="Microsoft YaHei"/>
              </a:rPr>
              <a:t>合同管理部（业务责任主体）</a:t>
            </a:r>
            <a:endParaRPr/>
          </a:p>
        </p:txBody>
      </p:sp>
      <p:sp>
        <p:nvSpPr>
          <p:cNvPr id="91" name="" descr="{&quot;isTemplate&quot;:true,&quot;type&quot;:&quot;text&quot;}"/>
          <p:cNvSpPr txBox="1"/>
          <p:nvPr/>
        </p:nvSpPr>
        <p:spPr>
          <a:xfrm rot="0" flipH="0" flipV="0">
            <a:off x="4914900" y="4552950"/>
            <a:ext cx="1257300" cy="171450"/>
          </a:xfrm>
          <a:prstGeom prst="rect"/>
        </p:spPr>
        <p:txBody>
          <a:bodyPr wrap="none" lIns="0" tIns="0" rIns="0" bIns="0"/>
          <a:p>
            <a:pPr algn="r">
              <a:lnSpc>
                <a:spcPct val="130000"/>
              </a:lnSpc>
            </a:pPr>
            <a:r>
              <a:rPr lang="zh-CN" sz="825">
                <a:solidFill>
                  <a:srgbClr val="B8BDC7"/>
                </a:solidFill>
                <a:latin typeface="Microsoft YaHei"/>
                <a:ea typeface="Microsoft YaHei"/>
              </a:rPr>
              <a:t>唯一业务责任人</a:t>
            </a:r>
            <a:endParaRPr/>
          </a:p>
        </p:txBody>
      </p:sp>
      <p:sp>
        <p:nvSpPr>
          <p:cNvPr id="92" name=""/>
          <p:cNvSpPr/>
          <p:nvPr/>
        </p:nvSpPr>
        <p:spPr>
          <a:xfrm rot="0" flipH="0" flipV="0">
            <a:off x="838200" y="4924425"/>
            <a:ext cx="5448300" cy="381000"/>
          </a:xfrm>
          <a:prstGeom prst="roundRect">
            <a:avLst>
              <a:gd name="adj" fmla="val 7500"/>
            </a:avLst>
          </a:prstGeom>
          <a:solidFill>
            <a:srgbClr val="F7F7F8"/>
          </a:solidFill>
          <a:ln/>
        </p:spPr>
        <p:txBody>
          <a:bodyPr/>
          <a:p>
            <a:pPr/>
            <a:endParaRPr/>
          </a:p>
        </p:txBody>
      </p:sp>
      <p:sp>
        <p:nvSpPr>
          <p:cNvPr id="93" name="" descr="{&quot;isTemplate&quot;:true,&quot;type&quot;:&quot;text&quot;}"/>
          <p:cNvSpPr txBox="1"/>
          <p:nvPr/>
        </p:nvSpPr>
        <p:spPr>
          <a:xfrm rot="0" flipH="0" flipV="0">
            <a:off x="952500" y="5038725"/>
            <a:ext cx="819150" cy="161925"/>
          </a:xfrm>
          <a:prstGeom prst="rect"/>
        </p:spPr>
        <p:txBody>
          <a:bodyPr wrap="none" lIns="0" tIns="0" rIns="0" bIns="0"/>
          <a:p>
            <a:pPr>
              <a:lnSpc>
                <a:spcPct val="100000"/>
              </a:lnSpc>
            </a:pPr>
            <a:r>
              <a:rPr lang="zh-CN" sz="1050" b="1">
                <a:solidFill>
                  <a:srgbClr val="0F1423"/>
                </a:solidFill>
                <a:latin typeface="Microsoft YaHei"/>
                <a:ea typeface="Microsoft YaHei"/>
              </a:rPr>
              <a:t>关键属性</a:t>
            </a:r>
            <a:endParaRPr/>
          </a:p>
        </p:txBody>
      </p:sp>
      <p:sp>
        <p:nvSpPr>
          <p:cNvPr id="94" name="" descr="{&quot;isTemplate&quot;:true,&quot;type&quot;:&quot;text&quot;}"/>
          <p:cNvSpPr txBox="1"/>
          <p:nvPr/>
        </p:nvSpPr>
        <p:spPr>
          <a:xfrm rot="0" flipH="0" flipV="0">
            <a:off x="1885950" y="5010150"/>
            <a:ext cx="2914650" cy="209550"/>
          </a:xfrm>
          <a:prstGeom prst="rect"/>
        </p:spPr>
        <p:txBody>
          <a:bodyPr wrap="none" lIns="0" tIns="0" rIns="0" bIns="0"/>
          <a:p>
            <a:pPr>
              <a:lnSpc>
                <a:spcPct val="130000"/>
              </a:lnSpc>
            </a:pPr>
            <a:r>
              <a:rPr lang="zh-CN" sz="1050">
                <a:solidFill>
                  <a:srgbClr val="3A4050"/>
                </a:solidFill>
                <a:latin typeface="Microsoft YaHei"/>
                <a:ea typeface="Microsoft YaHei"/>
              </a:rPr>
              <a:t>合同编号、签约方、标的、金额、生效日期</a:t>
            </a:r>
            <a:endParaRPr/>
          </a:p>
        </p:txBody>
      </p:sp>
      <p:sp>
        <p:nvSpPr>
          <p:cNvPr id="95" name="" descr="{&quot;isTemplate&quot;:true,&quot;type&quot;:&quot;text&quot;}"/>
          <p:cNvSpPr txBox="1"/>
          <p:nvPr/>
        </p:nvSpPr>
        <p:spPr>
          <a:xfrm rot="0" flipH="0" flipV="0">
            <a:off x="4914900" y="5029200"/>
            <a:ext cx="1257300" cy="171450"/>
          </a:xfrm>
          <a:prstGeom prst="rect"/>
        </p:spPr>
        <p:txBody>
          <a:bodyPr wrap="none" lIns="0" tIns="0" rIns="0" bIns="0"/>
          <a:p>
            <a:pPr algn="r">
              <a:lnSpc>
                <a:spcPct val="130000"/>
              </a:lnSpc>
            </a:pPr>
            <a:r>
              <a:rPr lang="zh-CN" sz="825">
                <a:solidFill>
                  <a:srgbClr val="B8BDC7"/>
                </a:solidFill>
                <a:latin typeface="Microsoft YaHei"/>
                <a:ea typeface="Microsoft YaHei"/>
              </a:rPr>
              <a:t>主要属性清单</a:t>
            </a:r>
            <a:endParaRPr/>
          </a:p>
        </p:txBody>
      </p:sp>
      <p:sp>
        <p:nvSpPr>
          <p:cNvPr id="96" name=""/>
          <p:cNvSpPr/>
          <p:nvPr/>
        </p:nvSpPr>
        <p:spPr>
          <a:xfrm rot="0" flipH="0" flipV="0">
            <a:off x="6762750" y="1381125"/>
            <a:ext cx="4857750" cy="1457325"/>
          </a:xfrm>
          <a:prstGeom prst="roundRect">
            <a:avLst>
              <a:gd name="adj" fmla="val 2614"/>
            </a:avLst>
          </a:prstGeom>
          <a:solidFill>
            <a:srgbClr val="F7F7F8"/>
          </a:solidFill>
          <a:ln/>
        </p:spPr>
        <p:txBody>
          <a:bodyPr/>
          <a:p>
            <a:pPr/>
            <a:endParaRPr/>
          </a:p>
        </p:txBody>
      </p:sp>
      <p:sp>
        <p:nvSpPr>
          <p:cNvPr id="97" name=""/>
          <p:cNvSpPr/>
          <p:nvPr/>
        </p:nvSpPr>
        <p:spPr>
          <a:xfrm rot="0" flipH="0" flipV="0">
            <a:off x="6762750" y="1381125"/>
            <a:ext cx="4857750" cy="1457325"/>
          </a:xfrm>
          <a:custGeom>
            <a:pathLst>
              <a:path w="510" h="153">
                <a:moveTo>
                  <a:pt x="4" y="153"/>
                </a:moveTo>
                <a:cubicBezTo>
                  <a:pt x="2" y="153"/>
                  <a:pt x="0" y="151"/>
                  <a:pt x="0" y="149"/>
                </a:cubicBezTo>
                <a:lnTo>
                  <a:pt x="0" y="4"/>
                </a:lnTo>
                <a:cubicBezTo>
                  <a:pt x="0" y="2"/>
                  <a:pt x="2" y="0"/>
                  <a:pt x="4" y="0"/>
                </a:cubicBezTo>
                <a:lnTo>
                  <a:pt x="4" y="153"/>
                </a:lnTo>
                <a:close/>
              </a:path>
            </a:pathLst>
          </a:custGeom>
          <a:solidFill>
            <a:srgbClr val="FA4F24"/>
          </a:solidFill>
          <a:ln/>
        </p:spPr>
        <p:txBody>
          <a:bodyPr/>
          <a:p>
            <a:pPr/>
            <a:endParaRPr/>
          </a:p>
        </p:txBody>
      </p:sp>
      <p:sp>
        <p:nvSpPr>
          <p:cNvPr id="98" name="" descr="{&quot;isTemplate&quot;:true,&quot;type&quot;:&quot;text&quot;}"/>
          <p:cNvSpPr txBox="1"/>
          <p:nvPr/>
        </p:nvSpPr>
        <p:spPr>
          <a:xfrm rot="0" flipH="0" flipV="0">
            <a:off x="6972300" y="1552575"/>
            <a:ext cx="4400550" cy="209550"/>
          </a:xfrm>
          <a:prstGeom prst="rect"/>
        </p:spPr>
        <p:txBody>
          <a:bodyPr wrap="none" lIns="0" tIns="0" rIns="0" bIns="0"/>
          <a:p>
            <a:pPr>
              <a:lnSpc>
                <a:spcPct val="100000"/>
              </a:lnSpc>
            </a:pPr>
            <a:r>
              <a:rPr lang="zh-CN" sz="1350" b="1">
                <a:solidFill>
                  <a:srgbClr val="0F1423"/>
                </a:solidFill>
                <a:latin typeface="Microsoft YaHei"/>
                <a:ea typeface="Microsoft YaHei"/>
              </a:rPr>
              <a:t>填写要求</a:t>
            </a:r>
            <a:endParaRPr/>
          </a:p>
        </p:txBody>
      </p:sp>
      <p:sp>
        <p:nvSpPr>
          <p:cNvPr id="99" name="" descr="{&quot;isTemplate&quot;:true,&quot;type&quot;:&quot;text&quot;}"/>
          <p:cNvSpPr txBox="1"/>
          <p:nvPr/>
        </p:nvSpPr>
        <p:spPr>
          <a:xfrm rot="0" flipH="0" flipV="0">
            <a:off x="6972300" y="1838325"/>
            <a:ext cx="4400550" cy="828675"/>
          </a:xfrm>
          <a:prstGeom prst="rect"/>
        </p:spPr>
        <p:txBody>
          <a:bodyPr wrap="none" lIns="0" tIns="0" rIns="0" bIns="0"/>
          <a:p>
            <a:pPr>
              <a:lnSpc>
                <a:spcPct val="160000"/>
              </a:lnSpc>
            </a:pPr>
            <a:r>
              <a:rPr lang="en-US" sz="1125">
                <a:solidFill>
                  <a:srgbClr val="3A4050"/>
                </a:solidFill>
                <a:latin typeface="Microsoft YaHei"/>
                <a:ea typeface="Microsoft YaHei"/>
              </a:rPr>
              <a:t xml:space="preserve">① </a:t>
            </a:r>
            <a:r>
              <a:rPr lang="zh-CN" sz="1125">
                <a:solidFill>
                  <a:srgbClr val="3A4050"/>
                </a:solidFill>
                <a:latin typeface="Microsoft YaHei"/>
                <a:ea typeface="Microsoft YaHei"/>
              </a:rPr>
              <a:t>对象编号必须全局唯一，与资产目录</a:t>
            </a:r>
            <a:r>
              <a:rPr lang="en-US" sz="1125">
                <a:solidFill>
                  <a:srgbClr val="3A4050"/>
                </a:solidFill>
                <a:latin typeface="Microsoft YaHei"/>
                <a:ea typeface="Microsoft YaHei"/>
              </a:rPr>
              <a:t xml:space="preserve"> L3 </a:t>
            </a:r>
            <a:r>
              <a:rPr lang="zh-CN" sz="1125">
                <a:solidFill>
                  <a:srgbClr val="3A4050"/>
                </a:solidFill>
                <a:latin typeface="Microsoft YaHei"/>
                <a:ea typeface="Microsoft YaHei"/>
              </a:rPr>
              <a:t>一致；</a:t>
            </a:r>
            <a:endParaRPr/>
          </a:p>
          <a:p>
            <a:pPr>
              <a:lnSpc>
                <a:spcPct val="160000"/>
              </a:lnSpc>
            </a:pPr>
            <a:r>
              <a:rPr lang="en-US" sz="1125">
                <a:solidFill>
                  <a:srgbClr val="3A4050"/>
                </a:solidFill>
                <a:latin typeface="Microsoft YaHei"/>
                <a:ea typeface="Microsoft YaHei"/>
              </a:rPr>
              <a:t xml:space="preserve">② </a:t>
            </a:r>
            <a:r>
              <a:rPr lang="zh-CN" sz="1125">
                <a:solidFill>
                  <a:srgbClr val="3A4050"/>
                </a:solidFill>
                <a:latin typeface="Microsoft YaHei"/>
                <a:ea typeface="Microsoft YaHei"/>
              </a:rPr>
              <a:t>业务定义必须是完整陈述句，不能只写关键词；</a:t>
            </a:r>
            <a:endParaRPr/>
          </a:p>
          <a:p>
            <a:pPr>
              <a:lnSpc>
                <a:spcPct val="160000"/>
              </a:lnSpc>
            </a:pPr>
            <a:r>
              <a:rPr lang="en-US" sz="1125">
                <a:solidFill>
                  <a:srgbClr val="3A4050"/>
                </a:solidFill>
                <a:latin typeface="Microsoft YaHei"/>
                <a:ea typeface="Microsoft YaHei"/>
              </a:rPr>
              <a:t xml:space="preserve">③ </a:t>
            </a:r>
            <a:r>
              <a:rPr lang="zh-CN" sz="1125">
                <a:solidFill>
                  <a:srgbClr val="3A4050"/>
                </a:solidFill>
                <a:latin typeface="Microsoft YaHei"/>
                <a:ea typeface="Microsoft YaHei"/>
              </a:rPr>
              <a:t>判定结论必须逐条勾选，不允许「部分满足」。</a:t>
            </a:r>
            <a:endParaRPr/>
          </a:p>
        </p:txBody>
      </p:sp>
      <p:sp>
        <p:nvSpPr>
          <p:cNvPr id="100" name=""/>
          <p:cNvSpPr/>
          <p:nvPr/>
        </p:nvSpPr>
        <p:spPr>
          <a:xfrm rot="0" flipH="0" flipV="0">
            <a:off x="6724650" y="2971800"/>
            <a:ext cx="4857750" cy="2609850"/>
          </a:xfrm>
          <a:prstGeom prst="roundRect">
            <a:avLst>
              <a:gd name="adj" fmla="val 1460"/>
            </a:avLst>
          </a:prstGeom>
          <a:gradFill>
            <a:gsLst>
              <a:gs pos="0">
                <a:srgbClr val="FA4F24"/>
              </a:gs>
              <a:gs pos="100000">
                <a:srgbClr val="F87D2F"/>
              </a:gs>
            </a:gsLst>
            <a:lin ang="4200000" scaled="1"/>
          </a:gradFill>
          <a:ln/>
        </p:spPr>
        <p:txBody>
          <a:bodyPr/>
          <a:p>
            <a:pPr/>
            <a:endParaRPr/>
          </a:p>
        </p:txBody>
      </p:sp>
      <p:sp>
        <p:nvSpPr>
          <p:cNvPr id="101" name="" descr="{&quot;isTemplate&quot;:true,&quot;type&quot;:&quot;text&quot;}"/>
          <p:cNvSpPr txBox="1"/>
          <p:nvPr/>
        </p:nvSpPr>
        <p:spPr>
          <a:xfrm rot="0" flipH="0" flipV="0">
            <a:off x="6934200" y="3714750"/>
            <a:ext cx="4438650" cy="200025"/>
          </a:xfrm>
          <a:prstGeom prst="rect"/>
        </p:spPr>
        <p:txBody>
          <a:bodyPr wrap="none" lIns="0" tIns="0" rIns="0" bIns="0"/>
          <a:p>
            <a:pPr>
              <a:lnSpc>
                <a:spcPct val="100000"/>
              </a:lnSpc>
            </a:pPr>
            <a:r>
              <a:rPr lang="en-US" sz="1275" b="1">
                <a:solidFill>
                  <a:srgbClr val="FFFFFF"/>
                </a:solidFill>
                <a:latin typeface="Microsoft YaHei"/>
                <a:ea typeface="Microsoft YaHei"/>
              </a:rPr>
              <a:t xml:space="preserve">★ </a:t>
            </a:r>
            <a:r>
              <a:rPr lang="zh-CN" sz="1275" b="1">
                <a:solidFill>
                  <a:srgbClr val="FFFFFF"/>
                </a:solidFill>
                <a:latin typeface="Microsoft YaHei"/>
                <a:ea typeface="Microsoft YaHei"/>
              </a:rPr>
              <a:t>模板的价值</a:t>
            </a:r>
            <a:endParaRPr/>
          </a:p>
        </p:txBody>
      </p:sp>
      <p:sp>
        <p:nvSpPr>
          <p:cNvPr id="102" name="" descr="{&quot;isTemplate&quot;:true,&quot;type&quot;:&quot;text&quot;}"/>
          <p:cNvSpPr txBox="1"/>
          <p:nvPr/>
        </p:nvSpPr>
        <p:spPr>
          <a:xfrm rot="0" flipH="0" flipV="0">
            <a:off x="6934200" y="4010025"/>
            <a:ext cx="4438650" cy="828675"/>
          </a:xfrm>
          <a:prstGeom prst="rect"/>
        </p:spPr>
        <p:txBody>
          <a:bodyPr wrap="square" lIns="0" tIns="0" rIns="0" bIns="0">
            <a:normAutofit/>
          </a:bodyPr>
          <a:p>
            <a:pPr>
              <a:lnSpc>
                <a:spcPct val="160000"/>
              </a:lnSpc>
            </a:pPr>
            <a:r>
              <a:rPr lang="zh-CN" sz="1125">
                <a:solidFill>
                  <a:srgbClr val="FFFFFF">
                    <a:alpha val="95000"/>
                  </a:srgbClr>
                </a:solidFill>
                <a:latin typeface="Microsoft YaHei"/>
                <a:ea typeface="Microsoft YaHei"/>
              </a:rPr>
              <a:t>卡片的用法不是事后套格式，而是走访时就带着它提问。</a:t>
            </a:r>
            <a:r>
              <a:rPr lang="zh-CN" sz="1125">
                <a:solidFill>
                  <a:srgbClr val="FFFFFF">
                    <a:alpha val="95000"/>
                  </a:srgbClr>
                </a:solidFill>
                <a:latin typeface="Microsoft YaHei"/>
                <a:ea typeface="Microsoft YaHei"/>
              </a:rPr>
              <a:t>填不出的字段，就是接下来要去搞明白的地方</a:t>
            </a:r>
            <a:r>
              <a:rPr lang="en-US" sz="1125">
                <a:solidFill>
                  <a:srgbClr val="FFFFFF">
                    <a:alpha val="95000"/>
                  </a:srgbClr>
                </a:solidFill>
                <a:latin typeface="Microsoft YaHei"/>
                <a:ea typeface="Microsoft YaHei"/>
              </a:rPr>
              <a:t xml:space="preserve"> —— </a:t>
            </a:r>
            <a:r>
              <a:rPr lang="zh-CN" sz="1125">
                <a:solidFill>
                  <a:srgbClr val="FFFFFF">
                    <a:alpha val="95000"/>
                  </a:srgbClr>
                </a:solidFill>
                <a:latin typeface="Microsoft YaHei"/>
                <a:ea typeface="Microsoft YaHei"/>
              </a:rPr>
              <a:t>尤其是「数据</a:t>
            </a:r>
            <a:r>
              <a:rPr lang="en-US" sz="1125">
                <a:solidFill>
                  <a:srgbClr val="FFFFFF">
                    <a:alpha val="95000"/>
                  </a:srgbClr>
                </a:solidFill>
                <a:latin typeface="Microsoft YaHei"/>
                <a:ea typeface="Microsoft YaHei"/>
              </a:rPr>
              <a:t xml:space="preserve"> Owner</a:t>
            </a:r>
            <a:r>
              <a:rPr lang="zh-CN" sz="1125">
                <a:solidFill>
                  <a:srgbClr val="FFFFFF">
                    <a:alpha val="95000"/>
                  </a:srgbClr>
                </a:solidFill>
                <a:latin typeface="Microsoft YaHei"/>
                <a:ea typeface="Microsoft YaHei"/>
              </a:rPr>
              <a:t>」和「业务定义」这两栏。</a:t>
            </a:r>
            <a:endParaRPr/>
          </a:p>
        </p:txBody>
      </p:sp>
      <p:sp>
        <p:nvSpPr>
          <p:cNvPr id="103" name=""/>
          <p:cNvSpPr/>
          <p:nvPr/>
        </p:nvSpPr>
        <p:spPr>
          <a:xfrm rot="0" flipH="0" flipV="0">
            <a:off x="609600" y="5943600"/>
            <a:ext cx="133350" cy="133350"/>
          </a:xfrm>
          <a:prstGeom prst="rect">
            <a:avLst/>
          </a:prstGeom>
          <a:solidFill>
            <a:srgbClr val="FA4F24"/>
          </a:solidFill>
          <a:ln/>
        </p:spPr>
        <p:txBody>
          <a:bodyPr/>
          <a:p>
            <a:pPr/>
            <a:endParaRPr/>
          </a:p>
        </p:txBody>
      </p:sp>
      <p:sp>
        <p:nvSpPr>
          <p:cNvPr id="104"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105"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11 / 30</a:t>
            </a:r>
            <a:endParaRPr/>
          </a:p>
        </p:txBody>
      </p:sp>
    </p:spTree>
  </p:cSld>
</p:sld>
</file>

<file path=ppt/slides/slide12.xml><?xml version="1.0" encoding="utf-8"?>
<p:sld xmlns:p="http://schemas.openxmlformats.org/presentationml/2006/main" xmlns:a="http://schemas.openxmlformats.org/drawingml/2006/main">
  <p:cSld>
    <p:spTree>
      <p:nvGrpSpPr>
        <p:cNvPr id="106" name=""/>
        <p:cNvGrpSpPr/>
        <p:nvPr/>
      </p:nvGrpSpPr>
      <p:grpSpPr>
        <a:xfrm>
          <a:off x="0" y="0"/>
          <a:ext cx="0" cy="0"/>
          <a:chOff x="0" y="0"/>
          <a:chExt cx="0" cy="0"/>
        </a:xfrm>
      </p:grpSpPr>
      <p:sp>
        <p:nvSpPr>
          <p:cNvPr id="107" name=""/>
          <p:cNvSpPr/>
          <p:nvPr/>
        </p:nvSpPr>
        <p:spPr>
          <a:xfrm rot="0" flipH="0" flipV="0">
            <a:off x="0" y="0"/>
            <a:ext cx="12192000" cy="6858000"/>
          </a:xfrm>
          <a:prstGeom prst="rect">
            <a:avLst/>
          </a:prstGeom>
          <a:solidFill>
            <a:srgbClr val="0F1423"/>
          </a:solidFill>
          <a:ln/>
        </p:spPr>
        <p:txBody>
          <a:bodyPr/>
          <a:p>
            <a:pPr/>
            <a:endParaRPr/>
          </a:p>
        </p:txBody>
      </p:sp>
      <p:sp>
        <p:nvSpPr>
          <p:cNvPr id="108"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a:pPr/>
            <a:endParaRPr/>
          </a:p>
        </p:txBody>
      </p:sp>
      <p:sp>
        <p:nvSpPr>
          <p:cNvPr id="109"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a:pPr/>
            <a:endParaRPr/>
          </a:p>
        </p:txBody>
      </p:sp>
      <p:sp>
        <p:nvSpPr>
          <p:cNvPr id="110" name="" descr="{&quot;isTemplate&quot;:true,&quot;type&quot;:&quot;text&quot;}"/>
          <p:cNvSpPr txBox="1"/>
          <p:nvPr/>
        </p:nvSpPr>
        <p:spPr>
          <a:xfrm rot="0" flipH="0" flipV="0">
            <a:off x="7991475" y="1047750"/>
            <a:ext cx="3533775" cy="3429000"/>
          </a:xfrm>
          <a:prstGeom prst="rect"/>
        </p:spPr>
        <p:txBody>
          <a:bodyPr wrap="none" lIns="0" tIns="0" rIns="0" bIns="0"/>
          <a:p>
            <a:pPr>
              <a:lnSpc>
                <a:spcPct val="100000"/>
              </a:lnSpc>
            </a:pPr>
            <a:r>
              <a:rPr lang="en-US" sz="22500" b="1">
                <a:solidFill>
                  <a:srgbClr val="FFFFFF">
                    <a:alpha val="8000"/>
                  </a:srgbClr>
                </a:solidFill>
                <a:latin typeface="Microsoft YaHei"/>
                <a:ea typeface="Microsoft YaHei"/>
              </a:rPr>
              <a:t>03</a:t>
            </a:r>
            <a:endParaRPr/>
          </a:p>
        </p:txBody>
      </p:sp>
      <p:sp>
        <p:nvSpPr>
          <p:cNvPr id="111" name="" descr="{&quot;isTemplate&quot;:true,&quot;type&quot;:&quot;text&quot;}"/>
          <p:cNvSpPr txBox="1"/>
          <p:nvPr/>
        </p:nvSpPr>
        <p:spPr>
          <a:xfrm rot="0" flipH="0" flipV="0">
            <a:off x="838200" y="2286000"/>
            <a:ext cx="5905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03</a:t>
            </a:r>
            <a:endParaRPr/>
          </a:p>
        </p:txBody>
      </p:sp>
      <p:sp>
        <p:nvSpPr>
          <p:cNvPr id="112" name=""/>
          <p:cNvSpPr/>
          <p:nvPr/>
        </p:nvSpPr>
        <p:spPr>
          <a:xfrm rot="0" flipH="0" flipV="0">
            <a:off x="838200" y="2667000"/>
            <a:ext cx="685800" cy="47625"/>
          </a:xfrm>
          <a:prstGeom prst="rect">
            <a:avLst/>
          </a:prstGeom>
          <a:solidFill>
            <a:srgbClr val="FA4F24"/>
          </a:solidFill>
          <a:ln/>
        </p:spPr>
        <p:txBody>
          <a:bodyPr/>
          <a:p>
            <a:pPr/>
            <a:endParaRPr/>
          </a:p>
        </p:txBody>
      </p:sp>
      <p:sp>
        <p:nvSpPr>
          <p:cNvPr id="113" name="" descr="{&quot;isTemplate&quot;:true,&quot;type&quot;:&quot;text&quot;}"/>
          <p:cNvSpPr txBox="1"/>
          <p:nvPr/>
        </p:nvSpPr>
        <p:spPr>
          <a:xfrm rot="0" flipH="0" flipV="0">
            <a:off x="838200" y="2981325"/>
            <a:ext cx="5905500" cy="790575"/>
          </a:xfrm>
          <a:prstGeom prst="rect"/>
        </p:spPr>
        <p:txBody>
          <a:bodyPr wrap="none" lIns="0" tIns="0" rIns="0" bIns="0"/>
          <a:p>
            <a:pPr>
              <a:lnSpc>
                <a:spcPct val="114999"/>
              </a:lnSpc>
            </a:pPr>
            <a:r>
              <a:rPr lang="zh-CN" sz="4500" b="1">
                <a:solidFill>
                  <a:srgbClr val="FFFFFF"/>
                </a:solidFill>
                <a:latin typeface="Microsoft YaHei"/>
                <a:ea typeface="Microsoft YaHei"/>
              </a:rPr>
              <a:t>数据资产目录</a:t>
            </a:r>
            <a:endParaRPr/>
          </a:p>
        </p:txBody>
      </p:sp>
      <p:sp>
        <p:nvSpPr>
          <p:cNvPr id="114" name="" descr="{&quot;isTemplate&quot;:true,&quot;type&quot;:&quot;text&quot;}"/>
          <p:cNvSpPr txBox="1"/>
          <p:nvPr/>
        </p:nvSpPr>
        <p:spPr>
          <a:xfrm rot="0" flipH="0" flipV="0">
            <a:off x="838200" y="3962400"/>
            <a:ext cx="5905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DATA ASSET CATALOG</a:t>
            </a:r>
            <a:endParaRPr/>
          </a:p>
        </p:txBody>
      </p:sp>
      <p:sp>
        <p:nvSpPr>
          <p:cNvPr id="115" name="" descr="{&quot;isTemplate&quot;:true,&quot;type&quot;:&quot;text&quot;}"/>
          <p:cNvSpPr txBox="1"/>
          <p:nvPr/>
        </p:nvSpPr>
        <p:spPr>
          <a:xfrm rot="0" flipH="0" flipV="0">
            <a:off x="838200" y="4410075"/>
            <a:ext cx="59055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五层分层，形成企业数据地图与认责落位</a:t>
            </a:r>
            <a:endParaRPr/>
          </a:p>
        </p:txBody>
      </p:sp>
      <p:sp>
        <p:nvSpPr>
          <p:cNvPr id="116" name=""/>
          <p:cNvSpPr/>
          <p:nvPr/>
        </p:nvSpPr>
        <p:spPr>
          <a:xfrm rot="0" flipH="0" flipV="0">
            <a:off x="8382000" y="6105525"/>
            <a:ext cx="133350" cy="133350"/>
          </a:xfrm>
          <a:prstGeom prst="rect">
            <a:avLst/>
          </a:prstGeom>
          <a:solidFill>
            <a:srgbClr val="FA4F24"/>
          </a:solidFill>
          <a:ln/>
        </p:spPr>
        <p:txBody>
          <a:bodyPr/>
          <a:p>
            <a:pPr/>
            <a:endParaRPr/>
          </a:p>
        </p:txBody>
      </p:sp>
      <p:sp>
        <p:nvSpPr>
          <p:cNvPr id="117" name="" descr="{&quot;isTemplate&quot;:true,&quot;type&quot;:&quot;text&quot;}"/>
          <p:cNvSpPr txBox="1"/>
          <p:nvPr/>
        </p:nvSpPr>
        <p:spPr>
          <a:xfrm rot="0" flipH="0" flipV="0">
            <a:off x="8629650" y="6086475"/>
            <a:ext cx="203835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DA</a:t>
            </a:r>
            <a:r>
              <a:rPr lang="zh-CN" sz="1050">
                <a:solidFill>
                  <a:srgbClr val="FFFFFF">
                    <a:alpha val="50000"/>
                  </a:srgbClr>
                </a:solidFill>
                <a:latin typeface="Microsoft YaHei"/>
                <a:ea typeface="Microsoft YaHei"/>
              </a:rPr>
              <a:t>数据架构咨询方法论</a:t>
            </a:r>
            <a:endParaRPr/>
          </a:p>
        </p:txBody>
      </p:sp>
      <p:sp>
        <p:nvSpPr>
          <p:cNvPr id="118" name="" descr="{&quot;isTemplate&quot;:true,&quot;type&quot;:&quot;text&quot;}"/>
          <p:cNvSpPr txBox="1"/>
          <p:nvPr/>
        </p:nvSpPr>
        <p:spPr>
          <a:xfrm rot="0" flipH="0" flipV="0">
            <a:off x="10896600" y="60864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12 / 30</a:t>
            </a:r>
            <a:endParaRPr/>
          </a:p>
        </p:txBody>
      </p:sp>
    </p:spTree>
  </p:cSld>
</p:sld>
</file>

<file path=ppt/slides/slide13.xml><?xml version="1.0" encoding="utf-8"?>
<p:sld xmlns:p="http://schemas.openxmlformats.org/presentationml/2006/main" xmlns:a="http://schemas.openxmlformats.org/drawingml/2006/main">
  <p:cSld>
    <p:spTree>
      <p:nvGrpSpPr>
        <p:cNvPr id="119" name=""/>
        <p:cNvGrpSpPr/>
        <p:nvPr/>
      </p:nvGrpSpPr>
      <p:grpSpPr>
        <a:xfrm>
          <a:off x="0" y="0"/>
          <a:ext cx="0" cy="0"/>
          <a:chOff x="0" y="0"/>
          <a:chExt cx="0" cy="0"/>
        </a:xfrm>
      </p:grpSpPr>
      <p:sp>
        <p:nvSpPr>
          <p:cNvPr id="120" name=""/>
          <p:cNvSpPr/>
          <p:nvPr/>
        </p:nvSpPr>
        <p:spPr>
          <a:xfrm rot="0" flipH="0" flipV="0">
            <a:off x="0" y="0"/>
            <a:ext cx="12192000" cy="6858000"/>
          </a:xfrm>
          <a:prstGeom prst="rect">
            <a:avLst/>
          </a:prstGeom>
          <a:solidFill>
            <a:srgbClr val="FFFFFF"/>
          </a:solidFill>
          <a:ln/>
        </p:spPr>
        <p:txBody>
          <a:bodyPr/>
          <a:p>
            <a:pPr/>
            <a:endParaRPr/>
          </a:p>
        </p:txBody>
      </p:sp>
      <p:sp>
        <p:nvSpPr>
          <p:cNvPr id="121"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之方法：</a:t>
            </a:r>
            <a:r>
              <a:rPr lang="zh-CN" sz="2400" b="1">
                <a:solidFill>
                  <a:srgbClr val="FA4F24"/>
                </a:solidFill>
                <a:latin typeface="Microsoft YaHei"/>
                <a:ea typeface="Microsoft YaHei"/>
              </a:rPr>
              <a:t>五层分层法</a:t>
            </a:r>
            <a:r>
              <a:rPr lang="zh-CN" sz="2400" b="1">
                <a:solidFill>
                  <a:srgbClr val="0F1423"/>
                </a:solidFill>
                <a:latin typeface="Microsoft YaHei"/>
                <a:ea typeface="Microsoft YaHei"/>
              </a:rPr>
              <a:t>，把企业所有数据资产挂到一棵树上</a:t>
            </a:r>
            <a:endParaRPr/>
          </a:p>
        </p:txBody>
      </p:sp>
      <p:sp>
        <p:nvSpPr>
          <p:cNvPr id="122"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按「业务管理边界」划分而非数据特征边界</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目的是强化业务部门的数据管理责任</a:t>
            </a:r>
            <a:endParaRPr/>
          </a:p>
        </p:txBody>
      </p:sp>
      <p:sp>
        <p:nvSpPr>
          <p:cNvPr id="123" name=""/>
          <p:cNvSpPr/>
          <p:nvPr/>
        </p:nvSpPr>
        <p:spPr>
          <a:xfrm rot="0" flipH="0" flipV="0">
            <a:off x="609600" y="1143000"/>
            <a:ext cx="10972800" cy="9525"/>
          </a:xfrm>
          <a:prstGeom prst="rect">
            <a:avLst/>
          </a:prstGeom>
          <a:solidFill>
            <a:srgbClr val="E8E8E8"/>
          </a:solidFill>
          <a:ln/>
        </p:spPr>
        <p:txBody>
          <a:bodyPr/>
          <a:p>
            <a:pPr/>
            <a:endParaRPr/>
          </a:p>
        </p:txBody>
      </p:sp>
      <p:sp>
        <p:nvSpPr>
          <p:cNvPr id="124" name=""/>
          <p:cNvSpPr/>
          <p:nvPr/>
        </p:nvSpPr>
        <p:spPr>
          <a:xfrm rot="0" flipH="0" flipV="0">
            <a:off x="609600" y="1381125"/>
            <a:ext cx="3200400" cy="4200525"/>
          </a:xfrm>
          <a:prstGeom prst="roundRect">
            <a:avLst>
              <a:gd name="adj" fmla="val 1190"/>
            </a:avLst>
          </a:prstGeom>
          <a:gradFill>
            <a:gsLst>
              <a:gs pos="0">
                <a:srgbClr val="FA4F24"/>
              </a:gs>
              <a:gs pos="100000">
                <a:srgbClr val="F87D2F"/>
              </a:gs>
            </a:gsLst>
            <a:lin ang="4200000" scaled="1"/>
          </a:gradFill>
          <a:ln/>
        </p:spPr>
        <p:txBody>
          <a:bodyPr/>
          <a:p>
            <a:pPr/>
            <a:endParaRPr/>
          </a:p>
        </p:txBody>
      </p:sp>
      <p:sp>
        <p:nvSpPr>
          <p:cNvPr id="125" name="" descr="{&quot;isTemplate&quot;:true,&quot;type&quot;:&quot;text&quot;}"/>
          <p:cNvSpPr txBox="1"/>
          <p:nvPr/>
        </p:nvSpPr>
        <p:spPr>
          <a:xfrm rot="0" flipH="0" flipV="0">
            <a:off x="876300" y="1647825"/>
            <a:ext cx="2667000" cy="171450"/>
          </a:xfrm>
          <a:prstGeom prst="rect"/>
        </p:spPr>
        <p:txBody>
          <a:bodyPr wrap="none" lIns="0" tIns="0" rIns="0" bIns="0"/>
          <a:p>
            <a:pPr>
              <a:lnSpc>
                <a:spcPct val="100000"/>
              </a:lnSpc>
            </a:pPr>
            <a:r>
              <a:rPr lang="en-US" sz="1125" spc="150">
                <a:solidFill>
                  <a:srgbClr val="FFFFFF">
                    <a:alpha val="80000"/>
                  </a:srgbClr>
                </a:solidFill>
                <a:latin typeface="Microsoft YaHei"/>
                <a:ea typeface="Microsoft YaHei"/>
              </a:rPr>
              <a:t>STEP 02 · ASSET CATALOG</a:t>
            </a:r>
            <a:endParaRPr/>
          </a:p>
        </p:txBody>
      </p:sp>
      <p:sp>
        <p:nvSpPr>
          <p:cNvPr id="126" name="" descr="{&quot;isTemplate&quot;:true,&quot;type&quot;:&quot;text&quot;}"/>
          <p:cNvSpPr txBox="1"/>
          <p:nvPr/>
        </p:nvSpPr>
        <p:spPr>
          <a:xfrm rot="0" flipH="0" flipV="0">
            <a:off x="876300" y="1952625"/>
            <a:ext cx="2667000" cy="857250"/>
          </a:xfrm>
          <a:prstGeom prst="rect"/>
        </p:spPr>
        <p:txBody>
          <a:bodyPr wrap="none" lIns="0" tIns="0" rIns="0" bIns="0"/>
          <a:p>
            <a:pPr>
              <a:lnSpc>
                <a:spcPct val="125000"/>
              </a:lnSpc>
            </a:pPr>
            <a:r>
              <a:rPr lang="zh-CN" sz="2250" b="1">
                <a:solidFill>
                  <a:srgbClr val="FFFFFF"/>
                </a:solidFill>
                <a:latin typeface="Microsoft YaHei"/>
                <a:ea typeface="Microsoft YaHei"/>
              </a:rPr>
              <a:t>资产目录</a:t>
            </a:r>
            <a:endParaRPr/>
          </a:p>
          <a:p>
            <a:pPr>
              <a:lnSpc>
                <a:spcPct val="125000"/>
              </a:lnSpc>
            </a:pPr>
            <a:r>
              <a:rPr lang="zh-CN" sz="2250" b="1">
                <a:solidFill>
                  <a:srgbClr val="FFFFFF"/>
                </a:solidFill>
                <a:latin typeface="Microsoft YaHei"/>
                <a:ea typeface="Microsoft YaHei"/>
              </a:rPr>
              <a:t>分层法</a:t>
            </a:r>
            <a:endParaRPr/>
          </a:p>
        </p:txBody>
      </p:sp>
      <p:sp>
        <p:nvSpPr>
          <p:cNvPr id="127" name=""/>
          <p:cNvSpPr/>
          <p:nvPr/>
        </p:nvSpPr>
        <p:spPr>
          <a:xfrm rot="0" flipH="0" flipV="0">
            <a:off x="876300" y="4219575"/>
            <a:ext cx="419100" cy="38100"/>
          </a:xfrm>
          <a:prstGeom prst="rect">
            <a:avLst/>
          </a:prstGeom>
          <a:solidFill>
            <a:srgbClr val="FFFFFF">
              <a:alpha val="70000"/>
            </a:srgbClr>
          </a:solidFill>
          <a:ln/>
        </p:spPr>
        <p:txBody>
          <a:bodyPr/>
          <a:p>
            <a:pPr/>
            <a:endParaRPr/>
          </a:p>
        </p:txBody>
      </p:sp>
      <p:sp>
        <p:nvSpPr>
          <p:cNvPr id="128" name="" descr="{&quot;isTemplate&quot;:true,&quot;type&quot;:&quot;text&quot;}"/>
          <p:cNvSpPr txBox="1"/>
          <p:nvPr/>
        </p:nvSpPr>
        <p:spPr>
          <a:xfrm rot="0" flipH="0" flipV="0">
            <a:off x="876300" y="4410075"/>
            <a:ext cx="2667000" cy="904875"/>
          </a:xfrm>
          <a:prstGeom prst="rect"/>
        </p:spPr>
        <p:txBody>
          <a:bodyPr wrap="square" lIns="0" tIns="0" rIns="0" bIns="0">
            <a:normAutofit/>
          </a:bodyPr>
          <a:p>
            <a:pPr>
              <a:lnSpc>
                <a:spcPct val="155000"/>
              </a:lnSpc>
            </a:pPr>
            <a:r>
              <a:rPr lang="zh-CN" sz="1275">
                <a:solidFill>
                  <a:srgbClr val="FFFFFF">
                    <a:alpha val="94000"/>
                  </a:srgbClr>
                </a:solidFill>
                <a:latin typeface="Microsoft YaHei"/>
                <a:ea typeface="Microsoft YaHei"/>
              </a:rPr>
              <a:t>目录＝企业的</a:t>
            </a:r>
            <a:r>
              <a:rPr lang="zh-CN" sz="1275">
                <a:solidFill>
                  <a:srgbClr val="FFFFFF">
                    <a:alpha val="94000"/>
                  </a:srgbClr>
                </a:solidFill>
                <a:latin typeface="Microsoft YaHei"/>
                <a:ea typeface="Microsoft YaHei"/>
              </a:rPr>
              <a:t>数据地图</a:t>
            </a:r>
            <a:r>
              <a:rPr lang="zh-CN" sz="1275">
                <a:solidFill>
                  <a:srgbClr val="FFFFFF">
                    <a:alpha val="94000"/>
                  </a:srgbClr>
                </a:solidFill>
                <a:latin typeface="Microsoft YaHei"/>
                <a:ea typeface="Microsoft YaHei"/>
              </a:rPr>
              <a:t>。有了它，数据资产才「找得到、看得清、管得住」。</a:t>
            </a:r>
            <a:endParaRPr/>
          </a:p>
        </p:txBody>
      </p:sp>
      <p:sp>
        <p:nvSpPr>
          <p:cNvPr id="129" name="" descr="{&quot;isTemplate&quot;:true,&quot;type&quot;:&quot;text&quot;}"/>
          <p:cNvSpPr txBox="1"/>
          <p:nvPr/>
        </p:nvSpPr>
        <p:spPr>
          <a:xfrm rot="0" flipH="0" flipV="0">
            <a:off x="4038600" y="1381125"/>
            <a:ext cx="7543800" cy="247650"/>
          </a:xfrm>
          <a:prstGeom prst="rect"/>
        </p:spPr>
        <p:txBody>
          <a:bodyPr wrap="none" lIns="0" tIns="0" rIns="0" bIns="0"/>
          <a:p>
            <a:pPr>
              <a:lnSpc>
                <a:spcPct val="100000"/>
              </a:lnSpc>
            </a:pPr>
            <a:r>
              <a:rPr lang="zh-CN" sz="1575" b="1">
                <a:solidFill>
                  <a:srgbClr val="0F1423"/>
                </a:solidFill>
                <a:latin typeface="Microsoft YaHei"/>
                <a:ea typeface="Microsoft YaHei"/>
              </a:rPr>
              <a:t>五层分类体系</a:t>
            </a:r>
            <a:endParaRPr/>
          </a:p>
        </p:txBody>
      </p:sp>
      <p:sp>
        <p:nvSpPr>
          <p:cNvPr id="130" name=""/>
          <p:cNvSpPr/>
          <p:nvPr/>
        </p:nvSpPr>
        <p:spPr>
          <a:xfrm rot="0" flipH="0" flipV="0">
            <a:off x="4038600" y="1724025"/>
            <a:ext cx="7543800" cy="695325"/>
          </a:xfrm>
          <a:prstGeom prst="roundRect">
            <a:avLst>
              <a:gd name="adj" fmla="val 5479"/>
            </a:avLst>
          </a:prstGeom>
          <a:solidFill>
            <a:srgbClr val="F7F7F8"/>
          </a:solidFill>
          <a:ln/>
        </p:spPr>
        <p:txBody>
          <a:bodyPr/>
          <a:p>
            <a:pPr/>
            <a:endParaRPr/>
          </a:p>
        </p:txBody>
      </p:sp>
      <p:sp>
        <p:nvSpPr>
          <p:cNvPr id="131" name=""/>
          <p:cNvSpPr/>
          <p:nvPr/>
        </p:nvSpPr>
        <p:spPr>
          <a:xfrm rot="0" flipH="0" flipV="0">
            <a:off x="4210050" y="1914525"/>
            <a:ext cx="438150" cy="323850"/>
          </a:xfrm>
          <a:prstGeom prst="roundRect">
            <a:avLst>
              <a:gd name="adj" fmla="val 8824"/>
            </a:avLst>
          </a:prstGeom>
          <a:solidFill>
            <a:srgbClr val="FA4F24"/>
          </a:solidFill>
          <a:ln/>
        </p:spPr>
        <p:txBody>
          <a:bodyPr/>
          <a:p>
            <a:pPr/>
            <a:endParaRPr/>
          </a:p>
        </p:txBody>
      </p:sp>
      <p:sp>
        <p:nvSpPr>
          <p:cNvPr id="132" name="" descr="{&quot;isTemplate&quot;:true,&quot;type&quot;:&quot;text&quot;}"/>
          <p:cNvSpPr txBox="1"/>
          <p:nvPr/>
        </p:nvSpPr>
        <p:spPr>
          <a:xfrm rot="0" flipH="0" flipV="0">
            <a:off x="4333875" y="1981200"/>
            <a:ext cx="190500" cy="200025"/>
          </a:xfrm>
          <a:prstGeom prst="rect"/>
        </p:spPr>
        <p:txBody>
          <a:bodyPr wrap="none" lIns="0" tIns="0" rIns="0" bIns="0"/>
          <a:p>
            <a:pPr>
              <a:lnSpc>
                <a:spcPct val="100000"/>
              </a:lnSpc>
            </a:pPr>
            <a:r>
              <a:rPr lang="en-US" sz="1275" b="1">
                <a:solidFill>
                  <a:srgbClr val="FFFFFF"/>
                </a:solidFill>
                <a:latin typeface="Microsoft YaHei"/>
                <a:ea typeface="Microsoft YaHei"/>
              </a:rPr>
              <a:t>L1</a:t>
            </a:r>
            <a:endParaRPr/>
          </a:p>
        </p:txBody>
      </p:sp>
      <p:sp>
        <p:nvSpPr>
          <p:cNvPr id="133" name="" descr="{&quot;isTemplate&quot;:true,&quot;type&quot;:&quot;text&quot;}"/>
          <p:cNvSpPr txBox="1"/>
          <p:nvPr/>
        </p:nvSpPr>
        <p:spPr>
          <a:xfrm rot="0" flipH="0" flipV="0">
            <a:off x="4800600" y="1962150"/>
            <a:ext cx="1409700" cy="219075"/>
          </a:xfrm>
          <a:prstGeom prst="rect"/>
        </p:spPr>
        <p:txBody>
          <a:bodyPr wrap="none" lIns="0" tIns="0" rIns="0" bIns="0"/>
          <a:p>
            <a:pPr>
              <a:lnSpc>
                <a:spcPct val="100000"/>
              </a:lnSpc>
            </a:pPr>
            <a:r>
              <a:rPr lang="zh-CN" sz="1425" b="1">
                <a:solidFill>
                  <a:srgbClr val="0F1423"/>
                </a:solidFill>
                <a:latin typeface="Microsoft YaHei"/>
                <a:ea typeface="Microsoft YaHei"/>
              </a:rPr>
              <a:t>主题域分组</a:t>
            </a:r>
            <a:endParaRPr/>
          </a:p>
        </p:txBody>
      </p:sp>
      <p:sp>
        <p:nvSpPr>
          <p:cNvPr id="134" name="" descr="{&quot;isTemplate&quot;:true,&quot;type&quot;:&quot;text&quot;}"/>
          <p:cNvSpPr txBox="1"/>
          <p:nvPr/>
        </p:nvSpPr>
        <p:spPr>
          <a:xfrm rot="0" flipH="0" flipV="0">
            <a:off x="6362700" y="1962150"/>
            <a:ext cx="4305300" cy="228600"/>
          </a:xfrm>
          <a:prstGeom prst="rect"/>
        </p:spPr>
        <p:txBody>
          <a:bodyPr wrap="none" lIns="0" tIns="0" rIns="0" bIns="0"/>
          <a:p>
            <a:pPr>
              <a:lnSpc>
                <a:spcPct val="140000"/>
              </a:lnSpc>
            </a:pPr>
            <a:r>
              <a:rPr lang="zh-CN" sz="1050">
                <a:solidFill>
                  <a:srgbClr val="3A4050"/>
                </a:solidFill>
                <a:latin typeface="Microsoft YaHei"/>
                <a:ea typeface="Microsoft YaHei"/>
              </a:rPr>
              <a:t>最高层级分类，对应公司级数据范畴，如「客户」「产品」「供应链」</a:t>
            </a:r>
            <a:endParaRPr/>
          </a:p>
        </p:txBody>
      </p:sp>
      <p:sp>
        <p:nvSpPr>
          <p:cNvPr id="135" name="" descr="{&quot;isTemplate&quot;:true,&quot;type&quot;:&quot;text&quot;}"/>
          <p:cNvSpPr txBox="1"/>
          <p:nvPr/>
        </p:nvSpPr>
        <p:spPr>
          <a:xfrm rot="0" flipH="0" flipV="0">
            <a:off x="10820400" y="2000250"/>
            <a:ext cx="590550" cy="142875"/>
          </a:xfrm>
          <a:prstGeom prst="rect"/>
        </p:spPr>
        <p:txBody>
          <a:bodyPr wrap="none" lIns="0" tIns="0" rIns="0" bIns="0"/>
          <a:p>
            <a:pPr algn="r">
              <a:lnSpc>
                <a:spcPct val="100000"/>
              </a:lnSpc>
            </a:pPr>
            <a:r>
              <a:rPr lang="zh-CN" sz="900">
                <a:solidFill>
                  <a:srgbClr val="8A8F99"/>
                </a:solidFill>
                <a:latin typeface="Microsoft YaHei"/>
                <a:ea typeface="Microsoft YaHei"/>
              </a:rPr>
              <a:t>公司数据</a:t>
            </a:r>
            <a:endParaRPr/>
          </a:p>
        </p:txBody>
      </p:sp>
      <p:sp>
        <p:nvSpPr>
          <p:cNvPr id="136" name=""/>
          <p:cNvSpPr/>
          <p:nvPr/>
        </p:nvSpPr>
        <p:spPr>
          <a:xfrm rot="0" flipH="0" flipV="0">
            <a:off x="4038600" y="2514600"/>
            <a:ext cx="7543800" cy="695325"/>
          </a:xfrm>
          <a:prstGeom prst="roundRect">
            <a:avLst>
              <a:gd name="adj" fmla="val 5479"/>
            </a:avLst>
          </a:prstGeom>
          <a:solidFill>
            <a:srgbClr val="F7F7F8"/>
          </a:solidFill>
          <a:ln/>
        </p:spPr>
        <p:txBody>
          <a:bodyPr/>
          <a:p>
            <a:pPr/>
            <a:endParaRPr/>
          </a:p>
        </p:txBody>
      </p:sp>
      <p:sp>
        <p:nvSpPr>
          <p:cNvPr id="137" name=""/>
          <p:cNvSpPr/>
          <p:nvPr/>
        </p:nvSpPr>
        <p:spPr>
          <a:xfrm rot="0" flipH="0" flipV="0">
            <a:off x="4210050" y="2705100"/>
            <a:ext cx="438150" cy="323850"/>
          </a:xfrm>
          <a:prstGeom prst="roundRect">
            <a:avLst>
              <a:gd name="adj" fmla="val 8824"/>
            </a:avLst>
          </a:prstGeom>
          <a:solidFill>
            <a:srgbClr val="FA4F24"/>
          </a:solidFill>
          <a:ln/>
        </p:spPr>
        <p:txBody>
          <a:bodyPr/>
          <a:p>
            <a:pPr/>
            <a:endParaRPr/>
          </a:p>
        </p:txBody>
      </p:sp>
      <p:sp>
        <p:nvSpPr>
          <p:cNvPr id="138" name="" descr="{&quot;isTemplate&quot;:true,&quot;type&quot;:&quot;text&quot;}"/>
          <p:cNvSpPr txBox="1"/>
          <p:nvPr/>
        </p:nvSpPr>
        <p:spPr>
          <a:xfrm rot="0" flipH="0" flipV="0">
            <a:off x="4333875" y="2771775"/>
            <a:ext cx="190500" cy="200025"/>
          </a:xfrm>
          <a:prstGeom prst="rect"/>
        </p:spPr>
        <p:txBody>
          <a:bodyPr wrap="none" lIns="0" tIns="0" rIns="0" bIns="0"/>
          <a:p>
            <a:pPr>
              <a:lnSpc>
                <a:spcPct val="100000"/>
              </a:lnSpc>
            </a:pPr>
            <a:r>
              <a:rPr lang="en-US" sz="1275" b="1">
                <a:solidFill>
                  <a:srgbClr val="FFFFFF"/>
                </a:solidFill>
                <a:latin typeface="Microsoft YaHei"/>
                <a:ea typeface="Microsoft YaHei"/>
              </a:rPr>
              <a:t>L2</a:t>
            </a:r>
            <a:endParaRPr/>
          </a:p>
        </p:txBody>
      </p:sp>
      <p:sp>
        <p:nvSpPr>
          <p:cNvPr id="139" name="" descr="{&quot;isTemplate&quot;:true,&quot;type&quot;:&quot;text&quot;}"/>
          <p:cNvSpPr txBox="1"/>
          <p:nvPr/>
        </p:nvSpPr>
        <p:spPr>
          <a:xfrm rot="0" flipH="0" flipV="0">
            <a:off x="4800600" y="2752725"/>
            <a:ext cx="1409700" cy="219075"/>
          </a:xfrm>
          <a:prstGeom prst="rect"/>
        </p:spPr>
        <p:txBody>
          <a:bodyPr wrap="none" lIns="0" tIns="0" rIns="0" bIns="0"/>
          <a:p>
            <a:pPr>
              <a:lnSpc>
                <a:spcPct val="100000"/>
              </a:lnSpc>
            </a:pPr>
            <a:r>
              <a:rPr lang="zh-CN" sz="1425" b="1">
                <a:solidFill>
                  <a:srgbClr val="0F1423"/>
                </a:solidFill>
                <a:latin typeface="Microsoft YaHei"/>
                <a:ea typeface="Microsoft YaHei"/>
              </a:rPr>
              <a:t>主题域</a:t>
            </a:r>
            <a:endParaRPr/>
          </a:p>
        </p:txBody>
      </p:sp>
      <p:sp>
        <p:nvSpPr>
          <p:cNvPr id="140" name="" descr="{&quot;isTemplate&quot;:true,&quot;type&quot;:&quot;text&quot;}"/>
          <p:cNvSpPr txBox="1"/>
          <p:nvPr/>
        </p:nvSpPr>
        <p:spPr>
          <a:xfrm rot="0" flipH="0" flipV="0">
            <a:off x="6362700" y="2752725"/>
            <a:ext cx="4305300" cy="228600"/>
          </a:xfrm>
          <a:prstGeom prst="rect"/>
        </p:spPr>
        <p:txBody>
          <a:bodyPr wrap="none" lIns="0" tIns="0" rIns="0" bIns="0"/>
          <a:p>
            <a:pPr>
              <a:lnSpc>
                <a:spcPct val="140000"/>
              </a:lnSpc>
            </a:pPr>
            <a:r>
              <a:rPr lang="zh-CN" sz="1050">
                <a:solidFill>
                  <a:srgbClr val="3A4050"/>
                </a:solidFill>
                <a:latin typeface="Microsoft YaHei"/>
                <a:ea typeface="Microsoft YaHei"/>
              </a:rPr>
              <a:t>按业务管理边界划分的中层分类，如「客户主数据」「合同管理」</a:t>
            </a:r>
            <a:endParaRPr/>
          </a:p>
        </p:txBody>
      </p:sp>
      <p:sp>
        <p:nvSpPr>
          <p:cNvPr id="141" name="" descr="{&quot;isTemplate&quot;:true,&quot;type&quot;:&quot;text&quot;}"/>
          <p:cNvSpPr txBox="1"/>
          <p:nvPr/>
        </p:nvSpPr>
        <p:spPr>
          <a:xfrm rot="0" flipH="0" flipV="0">
            <a:off x="10820400" y="2790825"/>
            <a:ext cx="590550" cy="142875"/>
          </a:xfrm>
          <a:prstGeom prst="rect"/>
        </p:spPr>
        <p:txBody>
          <a:bodyPr wrap="none" lIns="0" tIns="0" rIns="0" bIns="0"/>
          <a:p>
            <a:pPr algn="r">
              <a:lnSpc>
                <a:spcPct val="100000"/>
              </a:lnSpc>
            </a:pPr>
            <a:r>
              <a:rPr lang="zh-CN" sz="900">
                <a:solidFill>
                  <a:srgbClr val="8A8F99"/>
                </a:solidFill>
                <a:latin typeface="Microsoft YaHei"/>
                <a:ea typeface="Microsoft YaHei"/>
              </a:rPr>
              <a:t>领域数据</a:t>
            </a:r>
            <a:endParaRPr/>
          </a:p>
        </p:txBody>
      </p:sp>
      <p:sp>
        <p:nvSpPr>
          <p:cNvPr id="142" name=""/>
          <p:cNvSpPr/>
          <p:nvPr/>
        </p:nvSpPr>
        <p:spPr>
          <a:xfrm rot="0" flipH="0" flipV="0">
            <a:off x="4038600" y="3305175"/>
            <a:ext cx="7543800" cy="695325"/>
          </a:xfrm>
          <a:prstGeom prst="roundRect">
            <a:avLst>
              <a:gd name="adj" fmla="val 5479"/>
            </a:avLst>
          </a:prstGeom>
          <a:solidFill>
            <a:srgbClr val="F7F7F8"/>
          </a:solidFill>
          <a:ln/>
        </p:spPr>
        <p:txBody>
          <a:bodyPr/>
          <a:p>
            <a:pPr/>
            <a:endParaRPr/>
          </a:p>
        </p:txBody>
      </p:sp>
      <p:sp>
        <p:nvSpPr>
          <p:cNvPr id="143" name=""/>
          <p:cNvSpPr/>
          <p:nvPr/>
        </p:nvSpPr>
        <p:spPr>
          <a:xfrm rot="0" flipH="0" flipV="0">
            <a:off x="4210050" y="3495675"/>
            <a:ext cx="438150" cy="323850"/>
          </a:xfrm>
          <a:prstGeom prst="roundRect">
            <a:avLst>
              <a:gd name="adj" fmla="val 8824"/>
            </a:avLst>
          </a:prstGeom>
          <a:solidFill>
            <a:srgbClr val="FA4F24"/>
          </a:solidFill>
          <a:ln/>
        </p:spPr>
        <p:txBody>
          <a:bodyPr/>
          <a:p>
            <a:pPr/>
            <a:endParaRPr/>
          </a:p>
        </p:txBody>
      </p:sp>
      <p:sp>
        <p:nvSpPr>
          <p:cNvPr id="144" name="" descr="{&quot;isTemplate&quot;:true,&quot;type&quot;:&quot;text&quot;}"/>
          <p:cNvSpPr txBox="1"/>
          <p:nvPr/>
        </p:nvSpPr>
        <p:spPr>
          <a:xfrm rot="0" flipH="0" flipV="0">
            <a:off x="4333875" y="3562350"/>
            <a:ext cx="190500" cy="200025"/>
          </a:xfrm>
          <a:prstGeom prst="rect"/>
        </p:spPr>
        <p:txBody>
          <a:bodyPr wrap="none" lIns="0" tIns="0" rIns="0" bIns="0"/>
          <a:p>
            <a:pPr>
              <a:lnSpc>
                <a:spcPct val="100000"/>
              </a:lnSpc>
            </a:pPr>
            <a:r>
              <a:rPr lang="en-US" sz="1275" b="1">
                <a:solidFill>
                  <a:srgbClr val="FFFFFF"/>
                </a:solidFill>
                <a:latin typeface="Microsoft YaHei"/>
                <a:ea typeface="Microsoft YaHei"/>
              </a:rPr>
              <a:t>L3</a:t>
            </a:r>
            <a:endParaRPr/>
          </a:p>
        </p:txBody>
      </p:sp>
      <p:sp>
        <p:nvSpPr>
          <p:cNvPr id="145" name="" descr="{&quot;isTemplate&quot;:true,&quot;type&quot;:&quot;text&quot;}"/>
          <p:cNvSpPr txBox="1"/>
          <p:nvPr/>
        </p:nvSpPr>
        <p:spPr>
          <a:xfrm rot="0" flipH="0" flipV="0">
            <a:off x="4800600" y="3543300"/>
            <a:ext cx="1409700" cy="219075"/>
          </a:xfrm>
          <a:prstGeom prst="rect"/>
        </p:spPr>
        <p:txBody>
          <a:bodyPr wrap="none" lIns="0" tIns="0" rIns="0" bIns="0"/>
          <a:p>
            <a:pPr>
              <a:lnSpc>
                <a:spcPct val="100000"/>
              </a:lnSpc>
            </a:pPr>
            <a:r>
              <a:rPr lang="zh-CN" sz="1425" b="1">
                <a:solidFill>
                  <a:srgbClr val="0F1423"/>
                </a:solidFill>
                <a:latin typeface="Microsoft YaHei"/>
                <a:ea typeface="Microsoft YaHei"/>
              </a:rPr>
              <a:t>业务对象</a:t>
            </a:r>
            <a:endParaRPr/>
          </a:p>
        </p:txBody>
      </p:sp>
      <p:sp>
        <p:nvSpPr>
          <p:cNvPr id="146" name="" descr="{&quot;isTemplate&quot;:true,&quot;type&quot;:&quot;text&quot;}"/>
          <p:cNvSpPr txBox="1"/>
          <p:nvPr/>
        </p:nvSpPr>
        <p:spPr>
          <a:xfrm rot="0" flipH="0" flipV="0">
            <a:off x="6362700" y="3543300"/>
            <a:ext cx="4305300" cy="228600"/>
          </a:xfrm>
          <a:prstGeom prst="rect"/>
        </p:spPr>
        <p:txBody>
          <a:bodyPr wrap="none" lIns="0" tIns="0" rIns="0" bIns="0"/>
          <a:p>
            <a:pPr>
              <a:lnSpc>
                <a:spcPct val="140000"/>
              </a:lnSpc>
            </a:pPr>
            <a:r>
              <a:rPr lang="zh-CN" sz="1050">
                <a:solidFill>
                  <a:srgbClr val="3A4050"/>
                </a:solidFill>
                <a:latin typeface="Microsoft YaHei"/>
                <a:ea typeface="Microsoft YaHei"/>
              </a:rPr>
              <a:t>核心层，与上一环节识别的业务对象一一对应，是</a:t>
            </a:r>
            <a:r>
              <a:rPr lang="en-US" sz="1050">
                <a:solidFill>
                  <a:srgbClr val="3A4050"/>
                </a:solidFill>
                <a:latin typeface="Microsoft YaHei"/>
                <a:ea typeface="Microsoft YaHei"/>
              </a:rPr>
              <a:t xml:space="preserve"> IT </a:t>
            </a:r>
            <a:r>
              <a:rPr lang="zh-CN" sz="1050">
                <a:solidFill>
                  <a:srgbClr val="3A4050"/>
                </a:solidFill>
                <a:latin typeface="Microsoft YaHei"/>
                <a:ea typeface="Microsoft YaHei"/>
              </a:rPr>
              <a:t>集成的接口</a:t>
            </a:r>
            <a:endParaRPr/>
          </a:p>
        </p:txBody>
      </p:sp>
      <p:sp>
        <p:nvSpPr>
          <p:cNvPr id="147" name="" descr="{&quot;isTemplate&quot;:true,&quot;type&quot;:&quot;text&quot;}"/>
          <p:cNvSpPr txBox="1"/>
          <p:nvPr/>
        </p:nvSpPr>
        <p:spPr>
          <a:xfrm rot="0" flipH="0" flipV="0">
            <a:off x="10820400" y="3581400"/>
            <a:ext cx="590550" cy="142875"/>
          </a:xfrm>
          <a:prstGeom prst="rect"/>
        </p:spPr>
        <p:txBody>
          <a:bodyPr wrap="none" lIns="0" tIns="0" rIns="0" bIns="0"/>
          <a:p>
            <a:pPr algn="r">
              <a:lnSpc>
                <a:spcPct val="100000"/>
              </a:lnSpc>
            </a:pPr>
            <a:r>
              <a:rPr lang="zh-CN" sz="900">
                <a:solidFill>
                  <a:srgbClr val="8A8F99"/>
                </a:solidFill>
                <a:latin typeface="Microsoft YaHei"/>
                <a:ea typeface="Microsoft YaHei"/>
              </a:rPr>
              <a:t>核心层</a:t>
            </a:r>
            <a:endParaRPr/>
          </a:p>
        </p:txBody>
      </p:sp>
      <p:sp>
        <p:nvSpPr>
          <p:cNvPr id="148" name=""/>
          <p:cNvSpPr/>
          <p:nvPr/>
        </p:nvSpPr>
        <p:spPr>
          <a:xfrm rot="0" flipH="0" flipV="0">
            <a:off x="4038600" y="4095750"/>
            <a:ext cx="7543800" cy="695325"/>
          </a:xfrm>
          <a:prstGeom prst="roundRect">
            <a:avLst>
              <a:gd name="adj" fmla="val 5479"/>
            </a:avLst>
          </a:prstGeom>
          <a:solidFill>
            <a:srgbClr val="F7F7F8"/>
          </a:solidFill>
          <a:ln/>
        </p:spPr>
        <p:txBody>
          <a:bodyPr/>
          <a:p>
            <a:pPr/>
            <a:endParaRPr/>
          </a:p>
        </p:txBody>
      </p:sp>
      <p:sp>
        <p:nvSpPr>
          <p:cNvPr id="149" name=""/>
          <p:cNvSpPr/>
          <p:nvPr/>
        </p:nvSpPr>
        <p:spPr>
          <a:xfrm rot="0" flipH="0" flipV="0">
            <a:off x="4210050" y="4286250"/>
            <a:ext cx="438150" cy="323850"/>
          </a:xfrm>
          <a:prstGeom prst="roundRect">
            <a:avLst>
              <a:gd name="adj" fmla="val 8824"/>
            </a:avLst>
          </a:prstGeom>
          <a:solidFill>
            <a:srgbClr val="FDC69A"/>
          </a:solidFill>
          <a:ln/>
        </p:spPr>
        <p:txBody>
          <a:bodyPr/>
          <a:p>
            <a:pPr/>
            <a:endParaRPr/>
          </a:p>
        </p:txBody>
      </p:sp>
      <p:sp>
        <p:nvSpPr>
          <p:cNvPr id="150" name="" descr="{&quot;isTemplate&quot;:true,&quot;type&quot;:&quot;text&quot;}"/>
          <p:cNvSpPr txBox="1"/>
          <p:nvPr/>
        </p:nvSpPr>
        <p:spPr>
          <a:xfrm rot="0" flipH="0" flipV="0">
            <a:off x="4333875" y="4352925"/>
            <a:ext cx="190500" cy="200025"/>
          </a:xfrm>
          <a:prstGeom prst="rect"/>
        </p:spPr>
        <p:txBody>
          <a:bodyPr wrap="none" lIns="0" tIns="0" rIns="0" bIns="0"/>
          <a:p>
            <a:pPr>
              <a:lnSpc>
                <a:spcPct val="100000"/>
              </a:lnSpc>
            </a:pPr>
            <a:r>
              <a:rPr lang="en-US" sz="1275" b="1">
                <a:solidFill>
                  <a:srgbClr val="3A2000"/>
                </a:solidFill>
                <a:latin typeface="Microsoft YaHei"/>
                <a:ea typeface="Microsoft YaHei"/>
              </a:rPr>
              <a:t>L4</a:t>
            </a:r>
            <a:endParaRPr/>
          </a:p>
        </p:txBody>
      </p:sp>
      <p:sp>
        <p:nvSpPr>
          <p:cNvPr id="151" name="" descr="{&quot;isTemplate&quot;:true,&quot;type&quot;:&quot;text&quot;}"/>
          <p:cNvSpPr txBox="1"/>
          <p:nvPr/>
        </p:nvSpPr>
        <p:spPr>
          <a:xfrm rot="0" flipH="0" flipV="0">
            <a:off x="4800600" y="4333875"/>
            <a:ext cx="1409700" cy="219075"/>
          </a:xfrm>
          <a:prstGeom prst="rect"/>
        </p:spPr>
        <p:txBody>
          <a:bodyPr wrap="none" lIns="0" tIns="0" rIns="0" bIns="0"/>
          <a:p>
            <a:pPr>
              <a:lnSpc>
                <a:spcPct val="100000"/>
              </a:lnSpc>
            </a:pPr>
            <a:r>
              <a:rPr lang="zh-CN" sz="1425" b="1">
                <a:solidFill>
                  <a:srgbClr val="0F1423"/>
                </a:solidFill>
                <a:latin typeface="Microsoft YaHei"/>
                <a:ea typeface="Microsoft YaHei"/>
              </a:rPr>
              <a:t>逻辑数据实体</a:t>
            </a:r>
            <a:endParaRPr/>
          </a:p>
        </p:txBody>
      </p:sp>
      <p:sp>
        <p:nvSpPr>
          <p:cNvPr id="152" name="" descr="{&quot;isTemplate&quot;:true,&quot;type&quot;:&quot;text&quot;}"/>
          <p:cNvSpPr txBox="1"/>
          <p:nvPr/>
        </p:nvSpPr>
        <p:spPr>
          <a:xfrm rot="0" flipH="0" flipV="0">
            <a:off x="6362700" y="4333875"/>
            <a:ext cx="4305300" cy="228600"/>
          </a:xfrm>
          <a:prstGeom prst="rect"/>
        </p:spPr>
        <p:txBody>
          <a:bodyPr wrap="none" lIns="0" tIns="0" rIns="0" bIns="0"/>
          <a:p>
            <a:pPr>
              <a:lnSpc>
                <a:spcPct val="140000"/>
              </a:lnSpc>
            </a:pPr>
            <a:r>
              <a:rPr lang="zh-CN" sz="1050">
                <a:solidFill>
                  <a:srgbClr val="3A4050"/>
                </a:solidFill>
                <a:latin typeface="Microsoft YaHei"/>
                <a:ea typeface="Microsoft YaHei"/>
              </a:rPr>
              <a:t>业务对象的组成部分，承载具体业务规则，如「客户基本信息」</a:t>
            </a:r>
            <a:endParaRPr/>
          </a:p>
        </p:txBody>
      </p:sp>
      <p:sp>
        <p:nvSpPr>
          <p:cNvPr id="153" name="" descr="{&quot;isTemplate&quot;:true,&quot;type&quot;:&quot;text&quot;}"/>
          <p:cNvSpPr txBox="1"/>
          <p:nvPr/>
        </p:nvSpPr>
        <p:spPr>
          <a:xfrm rot="0" flipH="0" flipV="0">
            <a:off x="10820400" y="4371975"/>
            <a:ext cx="590550" cy="142875"/>
          </a:xfrm>
          <a:prstGeom prst="rect"/>
        </p:spPr>
        <p:txBody>
          <a:bodyPr wrap="none" lIns="0" tIns="0" rIns="0" bIns="0"/>
          <a:p>
            <a:pPr algn="r">
              <a:lnSpc>
                <a:spcPct val="100000"/>
              </a:lnSpc>
            </a:pPr>
            <a:r>
              <a:rPr lang="zh-CN" sz="900">
                <a:solidFill>
                  <a:srgbClr val="8A8F99"/>
                </a:solidFill>
                <a:latin typeface="Microsoft YaHei"/>
                <a:ea typeface="Microsoft YaHei"/>
              </a:rPr>
              <a:t>数据管家</a:t>
            </a:r>
            <a:endParaRPr/>
          </a:p>
        </p:txBody>
      </p:sp>
      <p:sp>
        <p:nvSpPr>
          <p:cNvPr id="154" name=""/>
          <p:cNvSpPr/>
          <p:nvPr/>
        </p:nvSpPr>
        <p:spPr>
          <a:xfrm rot="0" flipH="0" flipV="0">
            <a:off x="4038600" y="4886325"/>
            <a:ext cx="7543800" cy="695325"/>
          </a:xfrm>
          <a:prstGeom prst="roundRect">
            <a:avLst>
              <a:gd name="adj" fmla="val 5479"/>
            </a:avLst>
          </a:prstGeom>
          <a:solidFill>
            <a:srgbClr val="F7F7F8"/>
          </a:solidFill>
          <a:ln/>
        </p:spPr>
        <p:txBody>
          <a:bodyPr/>
          <a:p>
            <a:pPr/>
            <a:endParaRPr/>
          </a:p>
        </p:txBody>
      </p:sp>
      <p:sp>
        <p:nvSpPr>
          <p:cNvPr id="155" name=""/>
          <p:cNvSpPr/>
          <p:nvPr/>
        </p:nvSpPr>
        <p:spPr>
          <a:xfrm rot="0" flipH="0" flipV="0">
            <a:off x="4210050" y="5076825"/>
            <a:ext cx="438150" cy="323850"/>
          </a:xfrm>
          <a:prstGeom prst="roundRect">
            <a:avLst>
              <a:gd name="adj" fmla="val 8824"/>
            </a:avLst>
          </a:prstGeom>
          <a:solidFill>
            <a:srgbClr val="FDC69A"/>
          </a:solidFill>
          <a:ln/>
        </p:spPr>
        <p:txBody>
          <a:bodyPr/>
          <a:p>
            <a:pPr/>
            <a:endParaRPr/>
          </a:p>
        </p:txBody>
      </p:sp>
      <p:sp>
        <p:nvSpPr>
          <p:cNvPr id="156" name="" descr="{&quot;isTemplate&quot;:true,&quot;type&quot;:&quot;text&quot;}"/>
          <p:cNvSpPr txBox="1"/>
          <p:nvPr/>
        </p:nvSpPr>
        <p:spPr>
          <a:xfrm rot="0" flipH="0" flipV="0">
            <a:off x="4333875" y="5143500"/>
            <a:ext cx="190500" cy="200025"/>
          </a:xfrm>
          <a:prstGeom prst="rect"/>
        </p:spPr>
        <p:txBody>
          <a:bodyPr wrap="none" lIns="0" tIns="0" rIns="0" bIns="0"/>
          <a:p>
            <a:pPr>
              <a:lnSpc>
                <a:spcPct val="100000"/>
              </a:lnSpc>
            </a:pPr>
            <a:r>
              <a:rPr lang="en-US" sz="1275" b="1">
                <a:solidFill>
                  <a:srgbClr val="3A2000"/>
                </a:solidFill>
                <a:latin typeface="Microsoft YaHei"/>
                <a:ea typeface="Microsoft YaHei"/>
              </a:rPr>
              <a:t>L5</a:t>
            </a:r>
            <a:endParaRPr/>
          </a:p>
        </p:txBody>
      </p:sp>
      <p:sp>
        <p:nvSpPr>
          <p:cNvPr id="157" name="" descr="{&quot;isTemplate&quot;:true,&quot;type&quot;:&quot;text&quot;}"/>
          <p:cNvSpPr txBox="1"/>
          <p:nvPr/>
        </p:nvSpPr>
        <p:spPr>
          <a:xfrm rot="0" flipH="0" flipV="0">
            <a:off x="4800600" y="5124450"/>
            <a:ext cx="1409700" cy="219075"/>
          </a:xfrm>
          <a:prstGeom prst="rect"/>
        </p:spPr>
        <p:txBody>
          <a:bodyPr wrap="none" lIns="0" tIns="0" rIns="0" bIns="0"/>
          <a:p>
            <a:pPr>
              <a:lnSpc>
                <a:spcPct val="100000"/>
              </a:lnSpc>
            </a:pPr>
            <a:r>
              <a:rPr lang="zh-CN" sz="1425" b="1">
                <a:solidFill>
                  <a:srgbClr val="0F1423"/>
                </a:solidFill>
                <a:latin typeface="Microsoft YaHei"/>
                <a:ea typeface="Microsoft YaHei"/>
              </a:rPr>
              <a:t>属性</a:t>
            </a:r>
            <a:endParaRPr/>
          </a:p>
        </p:txBody>
      </p:sp>
      <p:sp>
        <p:nvSpPr>
          <p:cNvPr id="158" name="" descr="{&quot;isTemplate&quot;:true,&quot;type&quot;:&quot;text&quot;}"/>
          <p:cNvSpPr txBox="1"/>
          <p:nvPr/>
        </p:nvSpPr>
        <p:spPr>
          <a:xfrm rot="0" flipH="0" flipV="0">
            <a:off x="6362700" y="5124450"/>
            <a:ext cx="4305300" cy="228600"/>
          </a:xfrm>
          <a:prstGeom prst="rect"/>
        </p:spPr>
        <p:txBody>
          <a:bodyPr wrap="none" lIns="0" tIns="0" rIns="0" bIns="0"/>
          <a:p>
            <a:pPr>
              <a:lnSpc>
                <a:spcPct val="140000"/>
              </a:lnSpc>
            </a:pPr>
            <a:r>
              <a:rPr lang="zh-CN" sz="1050">
                <a:solidFill>
                  <a:srgbClr val="3A4050"/>
                </a:solidFill>
                <a:latin typeface="Microsoft YaHei"/>
                <a:ea typeface="Microsoft YaHei"/>
              </a:rPr>
              <a:t>最小管理单元，如「客户名称」「客户等级」，须有数据标准约束</a:t>
            </a:r>
            <a:endParaRPr/>
          </a:p>
        </p:txBody>
      </p:sp>
      <p:sp>
        <p:nvSpPr>
          <p:cNvPr id="159" name="" descr="{&quot;isTemplate&quot;:true,&quot;type&quot;:&quot;text&quot;}"/>
          <p:cNvSpPr txBox="1"/>
          <p:nvPr/>
        </p:nvSpPr>
        <p:spPr>
          <a:xfrm rot="0" flipH="0" flipV="0">
            <a:off x="10820400" y="5162550"/>
            <a:ext cx="590550" cy="142875"/>
          </a:xfrm>
          <a:prstGeom prst="rect"/>
        </p:spPr>
        <p:txBody>
          <a:bodyPr wrap="none" lIns="0" tIns="0" rIns="0" bIns="0"/>
          <a:p>
            <a:pPr algn="r">
              <a:lnSpc>
                <a:spcPct val="100000"/>
              </a:lnSpc>
            </a:pPr>
            <a:r>
              <a:rPr lang="zh-CN" sz="900">
                <a:solidFill>
                  <a:srgbClr val="8A8F99"/>
                </a:solidFill>
                <a:latin typeface="Microsoft YaHei"/>
                <a:ea typeface="Microsoft YaHei"/>
              </a:rPr>
              <a:t>数据管家</a:t>
            </a:r>
            <a:endParaRPr/>
          </a:p>
        </p:txBody>
      </p:sp>
      <p:sp>
        <p:nvSpPr>
          <p:cNvPr id="160" name=""/>
          <p:cNvSpPr/>
          <p:nvPr/>
        </p:nvSpPr>
        <p:spPr>
          <a:xfrm rot="0" flipH="0" flipV="0">
            <a:off x="609600" y="5943600"/>
            <a:ext cx="133350" cy="133350"/>
          </a:xfrm>
          <a:prstGeom prst="rect">
            <a:avLst/>
          </a:prstGeom>
          <a:solidFill>
            <a:srgbClr val="FA4F24"/>
          </a:solidFill>
          <a:ln/>
        </p:spPr>
        <p:txBody>
          <a:bodyPr/>
          <a:p>
            <a:pPr/>
            <a:endParaRPr/>
          </a:p>
        </p:txBody>
      </p:sp>
      <p:sp>
        <p:nvSpPr>
          <p:cNvPr id="161"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162"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13 / 30</a:t>
            </a:r>
            <a:endParaRPr/>
          </a:p>
        </p:txBody>
      </p:sp>
    </p:spTree>
  </p:cSld>
</p:sld>
</file>

<file path=ppt/slides/slide14.xml><?xml version="1.0" encoding="utf-8"?>
<p:sld xmlns:p="http://schemas.openxmlformats.org/presentationml/2006/main" xmlns:a="http://schemas.openxmlformats.org/drawingml/2006/main">
  <p:cSld>
    <p:spTree>
      <p:nvGrpSpPr>
        <p:cNvPr id="163" name=""/>
        <p:cNvGrpSpPr/>
        <p:nvPr/>
      </p:nvGrpSpPr>
      <p:grpSpPr>
        <a:xfrm>
          <a:off x="0" y="0"/>
          <a:ext cx="0" cy="0"/>
          <a:chOff x="0" y="0"/>
          <a:chExt cx="0" cy="0"/>
        </a:xfrm>
      </p:grpSpPr>
      <p:sp>
        <p:nvSpPr>
          <p:cNvPr id="164" name=""/>
          <p:cNvSpPr/>
          <p:nvPr/>
        </p:nvSpPr>
        <p:spPr>
          <a:xfrm rot="0" flipH="0" flipV="0">
            <a:off x="0" y="0"/>
            <a:ext cx="12192000" cy="6858000"/>
          </a:xfrm>
          <a:prstGeom prst="rect">
            <a:avLst/>
          </a:prstGeom>
          <a:solidFill>
            <a:srgbClr val="FFFFFF"/>
          </a:solidFill>
          <a:ln/>
        </p:spPr>
        <p:txBody>
          <a:bodyPr/>
          <a:p>
            <a:pPr/>
            <a:endParaRPr/>
          </a:p>
        </p:txBody>
      </p:sp>
      <p:sp>
        <p:nvSpPr>
          <p:cNvPr id="165"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之内容：</a:t>
            </a:r>
            <a:r>
              <a:rPr lang="zh-CN" sz="2400" b="1">
                <a:solidFill>
                  <a:srgbClr val="FA4F24"/>
                </a:solidFill>
                <a:latin typeface="Microsoft YaHei"/>
                <a:ea typeface="Microsoft YaHei"/>
              </a:rPr>
              <a:t>目录全集</a:t>
            </a:r>
            <a:r>
              <a:rPr lang="zh-CN" sz="2400" b="1">
                <a:solidFill>
                  <a:srgbClr val="0F1423"/>
                </a:solidFill>
                <a:latin typeface="Microsoft YaHei"/>
                <a:ea typeface="Microsoft YaHei"/>
              </a:rPr>
              <a:t>与认责落位，回答「企业数据有哪些、在哪里」</a:t>
            </a:r>
            <a:endParaRPr/>
          </a:p>
        </p:txBody>
      </p:sp>
      <p:sp>
        <p:nvSpPr>
          <p:cNvPr id="166"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目录不只是分类，更是认责的载体</a:t>
            </a:r>
            <a:r>
              <a:rPr lang="en-US" sz="1500">
                <a:solidFill>
                  <a:srgbClr val="8A8F99"/>
                </a:solidFill>
                <a:latin typeface="Microsoft YaHei"/>
                <a:ea typeface="Microsoft YaHei"/>
              </a:rPr>
              <a:t xml:space="preserve"> —— L3 </a:t>
            </a:r>
            <a:r>
              <a:rPr lang="zh-CN" sz="1500">
                <a:solidFill>
                  <a:srgbClr val="8A8F99"/>
                </a:solidFill>
                <a:latin typeface="Microsoft YaHei"/>
                <a:ea typeface="Microsoft YaHei"/>
              </a:rPr>
              <a:t>归业务</a:t>
            </a:r>
            <a:r>
              <a:rPr lang="en-US" sz="1500">
                <a:solidFill>
                  <a:srgbClr val="8A8F99"/>
                </a:solidFill>
                <a:latin typeface="Microsoft YaHei"/>
                <a:ea typeface="Microsoft YaHei"/>
              </a:rPr>
              <a:t xml:space="preserve"> Owner</a:t>
            </a:r>
            <a:r>
              <a:rPr lang="zh-CN" sz="1500">
                <a:solidFill>
                  <a:srgbClr val="8A8F99"/>
                </a:solidFill>
                <a:latin typeface="Microsoft YaHei"/>
                <a:ea typeface="Microsoft YaHei"/>
              </a:rPr>
              <a:t>，</a:t>
            </a:r>
            <a:r>
              <a:rPr lang="en-US" sz="1500">
                <a:solidFill>
                  <a:srgbClr val="8A8F99"/>
                </a:solidFill>
                <a:latin typeface="Microsoft YaHei"/>
                <a:ea typeface="Microsoft YaHei"/>
              </a:rPr>
              <a:t xml:space="preserve">L4/L5 </a:t>
            </a:r>
            <a:r>
              <a:rPr lang="zh-CN" sz="1500">
                <a:solidFill>
                  <a:srgbClr val="8A8F99"/>
                </a:solidFill>
                <a:latin typeface="Microsoft YaHei"/>
                <a:ea typeface="Microsoft YaHei"/>
              </a:rPr>
              <a:t>归数据管家</a:t>
            </a:r>
            <a:endParaRPr/>
          </a:p>
        </p:txBody>
      </p:sp>
      <p:sp>
        <p:nvSpPr>
          <p:cNvPr id="167" name=""/>
          <p:cNvSpPr/>
          <p:nvPr/>
        </p:nvSpPr>
        <p:spPr>
          <a:xfrm rot="0" flipH="0" flipV="0">
            <a:off x="609600" y="1143000"/>
            <a:ext cx="10972800" cy="9525"/>
          </a:xfrm>
          <a:prstGeom prst="rect">
            <a:avLst/>
          </a:prstGeom>
          <a:solidFill>
            <a:srgbClr val="E8E8E8"/>
          </a:solidFill>
          <a:ln/>
        </p:spPr>
        <p:txBody>
          <a:bodyPr/>
          <a:p>
            <a:pPr/>
            <a:endParaRPr/>
          </a:p>
        </p:txBody>
      </p:sp>
      <p:sp>
        <p:nvSpPr>
          <p:cNvPr id="168" name=""/>
          <p:cNvSpPr/>
          <p:nvPr/>
        </p:nvSpPr>
        <p:spPr>
          <a:xfrm rot="0" flipH="0" flipV="0">
            <a:off x="609600" y="1381125"/>
            <a:ext cx="10972800" cy="1885950"/>
          </a:xfrm>
          <a:prstGeom prst="roundRect">
            <a:avLst>
              <a:gd name="adj" fmla="val 2020"/>
            </a:avLst>
          </a:prstGeom>
          <a:solidFill>
            <a:srgbClr val="F7F7F8"/>
          </a:solidFill>
          <a:ln/>
        </p:spPr>
        <p:txBody>
          <a:bodyPr/>
          <a:p>
            <a:pPr/>
            <a:endParaRPr/>
          </a:p>
        </p:txBody>
      </p:sp>
      <p:sp>
        <p:nvSpPr>
          <p:cNvPr id="169" name="" descr="{&quot;isTemplate&quot;:true,&quot;type&quot;:&quot;text&quot;}"/>
          <p:cNvSpPr txBox="1"/>
          <p:nvPr/>
        </p:nvSpPr>
        <p:spPr>
          <a:xfrm rot="0" flipH="0" flipV="0">
            <a:off x="819150" y="1552575"/>
            <a:ext cx="10553700" cy="219075"/>
          </a:xfrm>
          <a:prstGeom prst="rect"/>
        </p:spPr>
        <p:txBody>
          <a:bodyPr wrap="none" lIns="0" tIns="0" rIns="0" bIns="0"/>
          <a:p>
            <a:pPr>
              <a:lnSpc>
                <a:spcPct val="100000"/>
              </a:lnSpc>
            </a:pPr>
            <a:r>
              <a:rPr lang="zh-CN" sz="1425" b="1">
                <a:solidFill>
                  <a:srgbClr val="0F1423"/>
                </a:solidFill>
                <a:latin typeface="Microsoft YaHei"/>
                <a:ea typeface="Microsoft YaHei"/>
              </a:rPr>
              <a:t>示例：以「生产制造」为例的五层落位</a:t>
            </a:r>
            <a:endParaRPr/>
          </a:p>
        </p:txBody>
      </p:sp>
      <p:sp>
        <p:nvSpPr>
          <p:cNvPr id="170" name=""/>
          <p:cNvSpPr/>
          <p:nvPr/>
        </p:nvSpPr>
        <p:spPr>
          <a:xfrm rot="0" flipH="0" flipV="0">
            <a:off x="819150" y="1990725"/>
            <a:ext cx="2038350" cy="1028700"/>
          </a:xfrm>
          <a:prstGeom prst="roundRect">
            <a:avLst>
              <a:gd name="adj" fmla="val 3704"/>
            </a:avLst>
          </a:prstGeom>
          <a:solidFill>
            <a:srgbClr val="FFFFFF"/>
          </a:solidFill>
          <a:ln w="12700">
            <a:solidFill>
              <a:srgbClr val="E8E8E8"/>
            </a:solidFill>
            <a:prstDash val="solid"/>
          </a:ln>
        </p:spPr>
        <p:txBody>
          <a:bodyPr/>
          <a:p>
            <a:pPr/>
            <a:endParaRPr/>
          </a:p>
        </p:txBody>
      </p:sp>
      <p:sp>
        <p:nvSpPr>
          <p:cNvPr id="171" name="" descr="{&quot;isTemplate&quot;:true,&quot;type&quot;:&quot;text&quot;}"/>
          <p:cNvSpPr txBox="1"/>
          <p:nvPr/>
        </p:nvSpPr>
        <p:spPr>
          <a:xfrm rot="0" flipH="0" flipV="0">
            <a:off x="952500" y="2105025"/>
            <a:ext cx="1771650" cy="190500"/>
          </a:xfrm>
          <a:prstGeom prst="rect"/>
        </p:spPr>
        <p:txBody>
          <a:bodyPr wrap="none" lIns="0" tIns="0" rIns="0" bIns="0"/>
          <a:p>
            <a:pPr>
              <a:lnSpc>
                <a:spcPct val="100000"/>
              </a:lnSpc>
            </a:pPr>
            <a:r>
              <a:rPr lang="en-US" sz="1200" b="1">
                <a:solidFill>
                  <a:srgbClr val="FA4F24"/>
                </a:solidFill>
                <a:latin typeface="Microsoft YaHei"/>
                <a:ea typeface="Microsoft YaHei"/>
              </a:rPr>
              <a:t>L1</a:t>
            </a:r>
            <a:endParaRPr/>
          </a:p>
        </p:txBody>
      </p:sp>
      <p:sp>
        <p:nvSpPr>
          <p:cNvPr id="172" name="" descr="{&quot;isTemplate&quot;:true,&quot;type&quot;:&quot;text&quot;}"/>
          <p:cNvSpPr txBox="1"/>
          <p:nvPr/>
        </p:nvSpPr>
        <p:spPr>
          <a:xfrm rot="0" flipH="0" flipV="0">
            <a:off x="952500" y="2371725"/>
            <a:ext cx="1771650" cy="209550"/>
          </a:xfrm>
          <a:prstGeom prst="rect"/>
        </p:spPr>
        <p:txBody>
          <a:bodyPr wrap="none" lIns="0" tIns="0" rIns="0" bIns="0"/>
          <a:p>
            <a:pPr>
              <a:lnSpc>
                <a:spcPct val="140000"/>
              </a:lnSpc>
            </a:pPr>
            <a:r>
              <a:rPr lang="zh-CN" sz="975">
                <a:solidFill>
                  <a:srgbClr val="3A4050"/>
                </a:solidFill>
                <a:latin typeface="Microsoft YaHei"/>
                <a:ea typeface="Microsoft YaHei"/>
              </a:rPr>
              <a:t>生产制造管理域</a:t>
            </a:r>
            <a:endParaRPr/>
          </a:p>
        </p:txBody>
      </p:sp>
      <p:sp>
        <p:nvSpPr>
          <p:cNvPr id="173" name=""/>
          <p:cNvSpPr/>
          <p:nvPr/>
        </p:nvSpPr>
        <p:spPr>
          <a:xfrm rot="0" flipH="0" flipV="0">
            <a:off x="2952750" y="1990725"/>
            <a:ext cx="2028825" cy="1028700"/>
          </a:xfrm>
          <a:prstGeom prst="roundRect">
            <a:avLst>
              <a:gd name="adj" fmla="val 3704"/>
            </a:avLst>
          </a:prstGeom>
          <a:solidFill>
            <a:srgbClr val="FFFFFF"/>
          </a:solidFill>
          <a:ln w="12700">
            <a:solidFill>
              <a:srgbClr val="E8E8E8"/>
            </a:solidFill>
            <a:prstDash val="solid"/>
          </a:ln>
        </p:spPr>
        <p:txBody>
          <a:bodyPr/>
          <a:p>
            <a:pPr/>
            <a:endParaRPr/>
          </a:p>
        </p:txBody>
      </p:sp>
      <p:sp>
        <p:nvSpPr>
          <p:cNvPr id="174" name="" descr="{&quot;isTemplate&quot;:true,&quot;type&quot;:&quot;text&quot;}"/>
          <p:cNvSpPr txBox="1"/>
          <p:nvPr/>
        </p:nvSpPr>
        <p:spPr>
          <a:xfrm rot="0" flipH="0" flipV="0">
            <a:off x="3086100" y="2105025"/>
            <a:ext cx="1762125" cy="190500"/>
          </a:xfrm>
          <a:prstGeom prst="rect"/>
        </p:spPr>
        <p:txBody>
          <a:bodyPr wrap="none" lIns="0" tIns="0" rIns="0" bIns="0"/>
          <a:p>
            <a:pPr>
              <a:lnSpc>
                <a:spcPct val="100000"/>
              </a:lnSpc>
            </a:pPr>
            <a:r>
              <a:rPr lang="en-US" sz="1200" b="1">
                <a:solidFill>
                  <a:srgbClr val="FA4F24"/>
                </a:solidFill>
                <a:latin typeface="Microsoft YaHei"/>
                <a:ea typeface="Microsoft YaHei"/>
              </a:rPr>
              <a:t>L2</a:t>
            </a:r>
            <a:endParaRPr/>
          </a:p>
        </p:txBody>
      </p:sp>
      <p:sp>
        <p:nvSpPr>
          <p:cNvPr id="175" name="" descr="{&quot;isTemplate&quot;:true,&quot;type&quot;:&quot;text&quot;}"/>
          <p:cNvSpPr txBox="1"/>
          <p:nvPr/>
        </p:nvSpPr>
        <p:spPr>
          <a:xfrm rot="0" flipH="0" flipV="0">
            <a:off x="3086100" y="2371725"/>
            <a:ext cx="1762125" cy="419100"/>
          </a:xfrm>
          <a:prstGeom prst="rect"/>
        </p:spPr>
        <p:txBody>
          <a:bodyPr wrap="square" lIns="0" tIns="0" rIns="0" bIns="0">
            <a:normAutofit/>
          </a:bodyPr>
          <a:p>
            <a:pPr>
              <a:lnSpc>
                <a:spcPct val="140000"/>
              </a:lnSpc>
            </a:pPr>
            <a:r>
              <a:rPr lang="zh-CN" sz="975">
                <a:solidFill>
                  <a:srgbClr val="3A4050"/>
                </a:solidFill>
                <a:latin typeface="Microsoft YaHei"/>
                <a:ea typeface="Microsoft YaHei"/>
              </a:rPr>
              <a:t>生产计划</a:t>
            </a:r>
            <a:r>
              <a:rPr lang="en-US" sz="975">
                <a:solidFill>
                  <a:srgbClr val="3A4050"/>
                </a:solidFill>
                <a:latin typeface="Microsoft YaHei"/>
                <a:ea typeface="Microsoft YaHei"/>
              </a:rPr>
              <a:t xml:space="preserve"> / </a:t>
            </a:r>
            <a:r>
              <a:rPr lang="zh-CN" sz="975">
                <a:solidFill>
                  <a:srgbClr val="3A4050"/>
                </a:solidFill>
                <a:latin typeface="Microsoft YaHei"/>
                <a:ea typeface="Microsoft YaHei"/>
              </a:rPr>
              <a:t>制造执行</a:t>
            </a:r>
            <a:r>
              <a:rPr lang="en-US" sz="975">
                <a:solidFill>
                  <a:srgbClr val="3A4050"/>
                </a:solidFill>
                <a:latin typeface="Microsoft YaHei"/>
                <a:ea typeface="Microsoft YaHei"/>
              </a:rPr>
              <a:t xml:space="preserve"> / </a:t>
            </a:r>
            <a:r>
              <a:rPr lang="zh-CN" sz="975">
                <a:solidFill>
                  <a:srgbClr val="3A4050"/>
                </a:solidFill>
                <a:latin typeface="Microsoft YaHei"/>
                <a:ea typeface="Microsoft YaHei"/>
              </a:rPr>
              <a:t>外协</a:t>
            </a:r>
            <a:r>
              <a:rPr lang="en-US" sz="975">
                <a:solidFill>
                  <a:srgbClr val="3A4050"/>
                </a:solidFill>
                <a:latin typeface="Microsoft YaHei"/>
                <a:ea typeface="Microsoft YaHei"/>
              </a:rPr>
              <a:t xml:space="preserve"> / </a:t>
            </a:r>
            <a:r>
              <a:rPr lang="zh-CN" sz="975">
                <a:solidFill>
                  <a:srgbClr val="3A4050"/>
                </a:solidFill>
                <a:latin typeface="Microsoft YaHei"/>
                <a:ea typeface="Microsoft YaHei"/>
              </a:rPr>
              <a:t>设备管理</a:t>
            </a:r>
            <a:endParaRPr/>
          </a:p>
        </p:txBody>
      </p:sp>
      <p:sp>
        <p:nvSpPr>
          <p:cNvPr id="176" name=""/>
          <p:cNvSpPr/>
          <p:nvPr/>
        </p:nvSpPr>
        <p:spPr>
          <a:xfrm rot="0" flipH="0" flipV="0">
            <a:off x="5076825" y="1990725"/>
            <a:ext cx="2038350" cy="1028700"/>
          </a:xfrm>
          <a:prstGeom prst="roundRect">
            <a:avLst>
              <a:gd name="adj" fmla="val 3704"/>
            </a:avLst>
          </a:prstGeom>
          <a:solidFill>
            <a:srgbClr val="FA4F24"/>
          </a:solidFill>
          <a:ln/>
        </p:spPr>
        <p:txBody>
          <a:bodyPr/>
          <a:p>
            <a:pPr/>
            <a:endParaRPr/>
          </a:p>
        </p:txBody>
      </p:sp>
      <p:sp>
        <p:nvSpPr>
          <p:cNvPr id="177" name="" descr="{&quot;isTemplate&quot;:true,&quot;type&quot;:&quot;text&quot;}"/>
          <p:cNvSpPr txBox="1"/>
          <p:nvPr/>
        </p:nvSpPr>
        <p:spPr>
          <a:xfrm rot="0" flipH="0" flipV="0">
            <a:off x="5210175" y="2105025"/>
            <a:ext cx="1771650" cy="190500"/>
          </a:xfrm>
          <a:prstGeom prst="rect"/>
        </p:spPr>
        <p:txBody>
          <a:bodyPr wrap="none" lIns="0" tIns="0" rIns="0" bIns="0"/>
          <a:p>
            <a:pPr>
              <a:lnSpc>
                <a:spcPct val="100000"/>
              </a:lnSpc>
            </a:pPr>
            <a:r>
              <a:rPr lang="en-US" sz="1200" b="1">
                <a:solidFill>
                  <a:srgbClr val="FFFFFF"/>
                </a:solidFill>
                <a:latin typeface="Microsoft YaHei"/>
                <a:ea typeface="Microsoft YaHei"/>
              </a:rPr>
              <a:t>L3</a:t>
            </a:r>
            <a:endParaRPr/>
          </a:p>
        </p:txBody>
      </p:sp>
      <p:sp>
        <p:nvSpPr>
          <p:cNvPr id="178" name="" descr="{&quot;isTemplate&quot;:true,&quot;type&quot;:&quot;text&quot;}"/>
          <p:cNvSpPr txBox="1"/>
          <p:nvPr/>
        </p:nvSpPr>
        <p:spPr>
          <a:xfrm rot="0" flipH="0" flipV="0">
            <a:off x="5210175" y="2371725"/>
            <a:ext cx="1771650" cy="419100"/>
          </a:xfrm>
          <a:prstGeom prst="rect"/>
        </p:spPr>
        <p:txBody>
          <a:bodyPr wrap="square" lIns="0" tIns="0" rIns="0" bIns="0">
            <a:normAutofit/>
          </a:bodyPr>
          <a:p>
            <a:pPr>
              <a:lnSpc>
                <a:spcPct val="140000"/>
              </a:lnSpc>
            </a:pPr>
            <a:r>
              <a:rPr lang="zh-CN" sz="975">
                <a:solidFill>
                  <a:srgbClr val="FFFFFF"/>
                </a:solidFill>
                <a:latin typeface="Microsoft YaHei"/>
                <a:ea typeface="Microsoft YaHei"/>
              </a:rPr>
              <a:t>物料需求计划</a:t>
            </a:r>
            <a:r>
              <a:rPr lang="en-US" sz="975">
                <a:solidFill>
                  <a:srgbClr val="FFFFFF"/>
                </a:solidFill>
                <a:latin typeface="Microsoft YaHei"/>
                <a:ea typeface="Microsoft YaHei"/>
              </a:rPr>
              <a:t xml:space="preserve"> / </a:t>
            </a:r>
            <a:r>
              <a:rPr lang="zh-CN" sz="975">
                <a:solidFill>
                  <a:srgbClr val="FFFFFF"/>
                </a:solidFill>
                <a:latin typeface="Microsoft YaHei"/>
                <a:ea typeface="Microsoft YaHei"/>
              </a:rPr>
              <a:t>领料单</a:t>
            </a:r>
            <a:r>
              <a:rPr lang="en-US" sz="975">
                <a:solidFill>
                  <a:srgbClr val="FFFFFF"/>
                </a:solidFill>
                <a:latin typeface="Microsoft YaHei"/>
                <a:ea typeface="Microsoft YaHei"/>
              </a:rPr>
              <a:t xml:space="preserve"> / </a:t>
            </a:r>
            <a:r>
              <a:rPr lang="zh-CN" sz="975">
                <a:solidFill>
                  <a:srgbClr val="FFFFFF"/>
                </a:solidFill>
                <a:latin typeface="Microsoft YaHei"/>
                <a:ea typeface="Microsoft YaHei"/>
              </a:rPr>
              <a:t>产品</a:t>
            </a:r>
            <a:r>
              <a:rPr lang="en-US" sz="975">
                <a:solidFill>
                  <a:srgbClr val="FFFFFF"/>
                </a:solidFill>
                <a:latin typeface="Microsoft YaHei"/>
                <a:ea typeface="Microsoft YaHei"/>
              </a:rPr>
              <a:t xml:space="preserve"> </a:t>
            </a:r>
            <a:r>
              <a:rPr lang="zh-CN" sz="975">
                <a:solidFill>
                  <a:srgbClr val="FFFFFF"/>
                </a:solidFill>
                <a:latin typeface="Microsoft YaHei"/>
                <a:ea typeface="Microsoft YaHei"/>
              </a:rPr>
              <a:t>等</a:t>
            </a:r>
            <a:endParaRPr/>
          </a:p>
        </p:txBody>
      </p:sp>
      <p:sp>
        <p:nvSpPr>
          <p:cNvPr id="179" name=""/>
          <p:cNvSpPr/>
          <p:nvPr/>
        </p:nvSpPr>
        <p:spPr>
          <a:xfrm rot="0" flipH="0" flipV="0">
            <a:off x="7210425" y="1990725"/>
            <a:ext cx="2028825" cy="1028700"/>
          </a:xfrm>
          <a:prstGeom prst="roundRect">
            <a:avLst>
              <a:gd name="adj" fmla="val 3704"/>
            </a:avLst>
          </a:prstGeom>
          <a:solidFill>
            <a:srgbClr val="FFFFFF"/>
          </a:solidFill>
          <a:ln w="12700">
            <a:solidFill>
              <a:srgbClr val="E8E8E8"/>
            </a:solidFill>
            <a:prstDash val="solid"/>
          </a:ln>
        </p:spPr>
        <p:txBody>
          <a:bodyPr/>
          <a:p>
            <a:pPr/>
            <a:endParaRPr/>
          </a:p>
        </p:txBody>
      </p:sp>
      <p:sp>
        <p:nvSpPr>
          <p:cNvPr id="180" name="" descr="{&quot;isTemplate&quot;:true,&quot;type&quot;:&quot;text&quot;}"/>
          <p:cNvSpPr txBox="1"/>
          <p:nvPr/>
        </p:nvSpPr>
        <p:spPr>
          <a:xfrm rot="0" flipH="0" flipV="0">
            <a:off x="7343775" y="2105025"/>
            <a:ext cx="1762125" cy="190500"/>
          </a:xfrm>
          <a:prstGeom prst="rect"/>
        </p:spPr>
        <p:txBody>
          <a:bodyPr wrap="none" lIns="0" tIns="0" rIns="0" bIns="0"/>
          <a:p>
            <a:pPr>
              <a:lnSpc>
                <a:spcPct val="100000"/>
              </a:lnSpc>
            </a:pPr>
            <a:r>
              <a:rPr lang="en-US" sz="1200" b="1">
                <a:solidFill>
                  <a:srgbClr val="FA4F24"/>
                </a:solidFill>
                <a:latin typeface="Microsoft YaHei"/>
                <a:ea typeface="Microsoft YaHei"/>
              </a:rPr>
              <a:t>L4</a:t>
            </a:r>
            <a:endParaRPr/>
          </a:p>
        </p:txBody>
      </p:sp>
      <p:sp>
        <p:nvSpPr>
          <p:cNvPr id="181" name="" descr="{&quot;isTemplate&quot;:true,&quot;type&quot;:&quot;text&quot;}"/>
          <p:cNvSpPr txBox="1"/>
          <p:nvPr/>
        </p:nvSpPr>
        <p:spPr>
          <a:xfrm rot="0" flipH="0" flipV="0">
            <a:off x="7343775" y="2371725"/>
            <a:ext cx="1762125" cy="419100"/>
          </a:xfrm>
          <a:prstGeom prst="rect"/>
        </p:spPr>
        <p:txBody>
          <a:bodyPr wrap="square" lIns="0" tIns="0" rIns="0" bIns="0">
            <a:normAutofit/>
          </a:bodyPr>
          <a:p>
            <a:pPr>
              <a:lnSpc>
                <a:spcPct val="140000"/>
              </a:lnSpc>
            </a:pPr>
            <a:r>
              <a:rPr lang="zh-CN" sz="975">
                <a:solidFill>
                  <a:srgbClr val="3A4050"/>
                </a:solidFill>
                <a:latin typeface="Microsoft YaHei"/>
                <a:ea typeface="Microsoft YaHei"/>
              </a:rPr>
              <a:t>产品基本信息</a:t>
            </a:r>
            <a:r>
              <a:rPr lang="en-US" sz="975">
                <a:solidFill>
                  <a:srgbClr val="3A4050"/>
                </a:solidFill>
                <a:latin typeface="Microsoft YaHei"/>
                <a:ea typeface="Microsoft YaHei"/>
              </a:rPr>
              <a:t xml:space="preserve"> / </a:t>
            </a:r>
            <a:r>
              <a:rPr lang="zh-CN" sz="975">
                <a:solidFill>
                  <a:srgbClr val="3A4050"/>
                </a:solidFill>
                <a:latin typeface="Microsoft YaHei"/>
                <a:ea typeface="Microsoft YaHei"/>
              </a:rPr>
              <a:t>生产信息</a:t>
            </a:r>
            <a:r>
              <a:rPr lang="en-US" sz="975">
                <a:solidFill>
                  <a:srgbClr val="3A4050"/>
                </a:solidFill>
                <a:latin typeface="Microsoft YaHei"/>
                <a:ea typeface="Microsoft YaHei"/>
              </a:rPr>
              <a:t xml:space="preserve"> / </a:t>
            </a:r>
            <a:r>
              <a:rPr lang="zh-CN" sz="975">
                <a:solidFill>
                  <a:srgbClr val="3A4050"/>
                </a:solidFill>
                <a:latin typeface="Microsoft YaHei"/>
                <a:ea typeface="Microsoft YaHei"/>
              </a:rPr>
              <a:t>质量信息</a:t>
            </a:r>
            <a:endParaRPr/>
          </a:p>
        </p:txBody>
      </p:sp>
      <p:sp>
        <p:nvSpPr>
          <p:cNvPr id="182" name=""/>
          <p:cNvSpPr/>
          <p:nvPr/>
        </p:nvSpPr>
        <p:spPr>
          <a:xfrm rot="0" flipH="0" flipV="0">
            <a:off x="9334500" y="1990725"/>
            <a:ext cx="2038350" cy="1028700"/>
          </a:xfrm>
          <a:prstGeom prst="roundRect">
            <a:avLst>
              <a:gd name="adj" fmla="val 3704"/>
            </a:avLst>
          </a:prstGeom>
          <a:solidFill>
            <a:srgbClr val="FFFFFF"/>
          </a:solidFill>
          <a:ln w="12700">
            <a:solidFill>
              <a:srgbClr val="E8E8E8"/>
            </a:solidFill>
            <a:prstDash val="solid"/>
          </a:ln>
        </p:spPr>
        <p:txBody>
          <a:bodyPr/>
          <a:p>
            <a:pPr/>
            <a:endParaRPr/>
          </a:p>
        </p:txBody>
      </p:sp>
      <p:sp>
        <p:nvSpPr>
          <p:cNvPr id="183" name="" descr="{&quot;isTemplate&quot;:true,&quot;type&quot;:&quot;text&quot;}"/>
          <p:cNvSpPr txBox="1"/>
          <p:nvPr/>
        </p:nvSpPr>
        <p:spPr>
          <a:xfrm rot="0" flipH="0" flipV="0">
            <a:off x="9467850" y="2105025"/>
            <a:ext cx="1771650" cy="190500"/>
          </a:xfrm>
          <a:prstGeom prst="rect"/>
        </p:spPr>
        <p:txBody>
          <a:bodyPr wrap="none" lIns="0" tIns="0" rIns="0" bIns="0"/>
          <a:p>
            <a:pPr>
              <a:lnSpc>
                <a:spcPct val="100000"/>
              </a:lnSpc>
            </a:pPr>
            <a:r>
              <a:rPr lang="en-US" sz="1200" b="1">
                <a:solidFill>
                  <a:srgbClr val="FA4F24"/>
                </a:solidFill>
                <a:latin typeface="Microsoft YaHei"/>
                <a:ea typeface="Microsoft YaHei"/>
              </a:rPr>
              <a:t>L5</a:t>
            </a:r>
            <a:endParaRPr/>
          </a:p>
        </p:txBody>
      </p:sp>
      <p:sp>
        <p:nvSpPr>
          <p:cNvPr id="184" name="" descr="{&quot;isTemplate&quot;:true,&quot;type&quot;:&quot;text&quot;}"/>
          <p:cNvSpPr txBox="1"/>
          <p:nvPr/>
        </p:nvSpPr>
        <p:spPr>
          <a:xfrm rot="0" flipH="0" flipV="0">
            <a:off x="9467850" y="2371725"/>
            <a:ext cx="1771650" cy="209550"/>
          </a:xfrm>
          <a:prstGeom prst="rect"/>
        </p:spPr>
        <p:txBody>
          <a:bodyPr wrap="none" lIns="0" tIns="0" rIns="0" bIns="0"/>
          <a:p>
            <a:pPr>
              <a:lnSpc>
                <a:spcPct val="140000"/>
              </a:lnSpc>
            </a:pPr>
            <a:r>
              <a:rPr lang="zh-CN" sz="975">
                <a:solidFill>
                  <a:srgbClr val="3A4050"/>
                </a:solidFill>
                <a:latin typeface="Microsoft YaHei"/>
                <a:ea typeface="Microsoft YaHei"/>
              </a:rPr>
              <a:t>产品代码</a:t>
            </a:r>
            <a:r>
              <a:rPr lang="en-US" sz="975">
                <a:solidFill>
                  <a:srgbClr val="3A4050"/>
                </a:solidFill>
                <a:latin typeface="Microsoft YaHei"/>
                <a:ea typeface="Microsoft YaHei"/>
              </a:rPr>
              <a:t xml:space="preserve"> / </a:t>
            </a:r>
            <a:r>
              <a:rPr lang="zh-CN" sz="975">
                <a:solidFill>
                  <a:srgbClr val="3A4050"/>
                </a:solidFill>
                <a:latin typeface="Microsoft YaHei"/>
                <a:ea typeface="Microsoft YaHei"/>
              </a:rPr>
              <a:t>产品名称</a:t>
            </a:r>
            <a:r>
              <a:rPr lang="en-US" sz="975">
                <a:solidFill>
                  <a:srgbClr val="3A4050"/>
                </a:solidFill>
                <a:latin typeface="Microsoft YaHei"/>
                <a:ea typeface="Microsoft YaHei"/>
              </a:rPr>
              <a:t xml:space="preserve"> </a:t>
            </a:r>
            <a:r>
              <a:rPr lang="zh-CN" sz="975">
                <a:solidFill>
                  <a:srgbClr val="3A4050"/>
                </a:solidFill>
                <a:latin typeface="Microsoft YaHei"/>
                <a:ea typeface="Microsoft YaHei"/>
              </a:rPr>
              <a:t>等属性</a:t>
            </a:r>
            <a:endParaRPr/>
          </a:p>
        </p:txBody>
      </p:sp>
      <p:sp>
        <p:nvSpPr>
          <p:cNvPr id="185" name=""/>
          <p:cNvSpPr/>
          <p:nvPr/>
        </p:nvSpPr>
        <p:spPr>
          <a:xfrm rot="0" flipH="0" flipV="0">
            <a:off x="609600" y="3457575"/>
            <a:ext cx="3552825" cy="2162175"/>
          </a:xfrm>
          <a:prstGeom prst="roundRect">
            <a:avLst>
              <a:gd name="adj" fmla="val 1762"/>
            </a:avLst>
          </a:prstGeom>
          <a:solidFill>
            <a:srgbClr val="F7F7F8"/>
          </a:solidFill>
          <a:ln/>
        </p:spPr>
        <p:txBody>
          <a:bodyPr/>
          <a:p>
            <a:pPr/>
            <a:endParaRPr/>
          </a:p>
        </p:txBody>
      </p:sp>
      <p:sp>
        <p:nvSpPr>
          <p:cNvPr id="186" name=""/>
          <p:cNvSpPr/>
          <p:nvPr/>
        </p:nvSpPr>
        <p:spPr>
          <a:xfrm rot="0" flipH="0" flipV="0">
            <a:off x="609600" y="3457575"/>
            <a:ext cx="3552825" cy="2162175"/>
          </a:xfrm>
          <a:custGeom>
            <a:pathLst>
              <a:path w="373" h="227">
                <a:moveTo>
                  <a:pt x="369" y="0"/>
                </a:moveTo>
                <a:cubicBezTo>
                  <a:pt x="371" y="0"/>
                  <a:pt x="373" y="2"/>
                  <a:pt x="373" y="4"/>
                </a:cubicBezTo>
                <a:lnTo>
                  <a:pt x="0" y="4"/>
                </a:lnTo>
                <a:cubicBezTo>
                  <a:pt x="0" y="2"/>
                  <a:pt x="2" y="0"/>
                  <a:pt x="4" y="0"/>
                </a:cubicBezTo>
                <a:lnTo>
                  <a:pt x="369" y="0"/>
                </a:lnTo>
                <a:close/>
              </a:path>
            </a:pathLst>
          </a:custGeom>
          <a:solidFill>
            <a:srgbClr val="F87D2F"/>
          </a:solidFill>
          <a:ln/>
        </p:spPr>
        <p:txBody>
          <a:bodyPr/>
          <a:p>
            <a:pPr/>
            <a:endParaRPr/>
          </a:p>
        </p:txBody>
      </p:sp>
      <p:sp>
        <p:nvSpPr>
          <p:cNvPr id="187" name="" descr="{&quot;isTemplate&quot;:true,&quot;type&quot;:&quot;text&quot;}"/>
          <p:cNvSpPr txBox="1"/>
          <p:nvPr/>
        </p:nvSpPr>
        <p:spPr>
          <a:xfrm rot="0" flipH="0" flipV="0">
            <a:off x="800100" y="3629025"/>
            <a:ext cx="3171825" cy="161925"/>
          </a:xfrm>
          <a:prstGeom prst="rect"/>
        </p:spPr>
        <p:txBody>
          <a:bodyPr wrap="none" lIns="0" tIns="0" rIns="0" bIns="0"/>
          <a:p>
            <a:pPr>
              <a:lnSpc>
                <a:spcPct val="100000"/>
              </a:lnSpc>
            </a:pPr>
            <a:r>
              <a:rPr lang="zh-CN" sz="1050" b="1">
                <a:solidFill>
                  <a:srgbClr val="F87D2F"/>
                </a:solidFill>
                <a:latin typeface="Microsoft YaHei"/>
                <a:ea typeface="Microsoft YaHei"/>
              </a:rPr>
              <a:t>交付物一</a:t>
            </a:r>
            <a:endParaRPr/>
          </a:p>
        </p:txBody>
      </p:sp>
      <p:sp>
        <p:nvSpPr>
          <p:cNvPr id="188" name="" descr="{&quot;isTemplate&quot;:true,&quot;type&quot;:&quot;text&quot;}"/>
          <p:cNvSpPr txBox="1"/>
          <p:nvPr/>
        </p:nvSpPr>
        <p:spPr>
          <a:xfrm rot="0" flipH="0" flipV="0">
            <a:off x="800100" y="3886200"/>
            <a:ext cx="3171825" cy="219075"/>
          </a:xfrm>
          <a:prstGeom prst="rect"/>
        </p:spPr>
        <p:txBody>
          <a:bodyPr wrap="none" lIns="0" tIns="0" rIns="0" bIns="0"/>
          <a:p>
            <a:pPr>
              <a:lnSpc>
                <a:spcPct val="100000"/>
              </a:lnSpc>
            </a:pPr>
            <a:r>
              <a:rPr lang="zh-CN" sz="1425" b="1">
                <a:solidFill>
                  <a:srgbClr val="0F1423"/>
                </a:solidFill>
                <a:latin typeface="Microsoft YaHei"/>
                <a:ea typeface="Microsoft YaHei"/>
              </a:rPr>
              <a:t>数据资产目录全集</a:t>
            </a:r>
            <a:endParaRPr/>
          </a:p>
        </p:txBody>
      </p:sp>
      <p:sp>
        <p:nvSpPr>
          <p:cNvPr id="189" name="" descr="{&quot;isTemplate&quot;:true,&quot;type&quot;:&quot;text&quot;}"/>
          <p:cNvSpPr txBox="1"/>
          <p:nvPr/>
        </p:nvSpPr>
        <p:spPr>
          <a:xfrm rot="0" flipH="0" flipV="0">
            <a:off x="800100" y="4200525"/>
            <a:ext cx="3171825" cy="923925"/>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完整的五层清单，覆盖企业全部业务数据资产，可按主题域检索与导航。</a:t>
            </a:r>
            <a:endParaRPr/>
          </a:p>
        </p:txBody>
      </p:sp>
      <p:sp>
        <p:nvSpPr>
          <p:cNvPr id="190" name=""/>
          <p:cNvSpPr/>
          <p:nvPr/>
        </p:nvSpPr>
        <p:spPr>
          <a:xfrm rot="0" flipH="0" flipV="0">
            <a:off x="800100" y="5124450"/>
            <a:ext cx="3171825" cy="285750"/>
          </a:xfrm>
          <a:prstGeom prst="roundRect">
            <a:avLst>
              <a:gd name="adj" fmla="val 10000"/>
            </a:avLst>
          </a:prstGeom>
          <a:solidFill>
            <a:srgbClr val="FA4F24">
              <a:alpha val="10000"/>
            </a:srgbClr>
          </a:solidFill>
          <a:ln/>
        </p:spPr>
        <p:txBody>
          <a:bodyPr/>
          <a:p>
            <a:pPr/>
            <a:endParaRPr/>
          </a:p>
        </p:txBody>
      </p:sp>
      <p:sp>
        <p:nvSpPr>
          <p:cNvPr id="191" name="" descr="{&quot;isTemplate&quot;:true,&quot;type&quot;:&quot;text&quot;}"/>
          <p:cNvSpPr txBox="1"/>
          <p:nvPr/>
        </p:nvSpPr>
        <p:spPr>
          <a:xfrm rot="0" flipH="0" flipV="0">
            <a:off x="895350" y="5191125"/>
            <a:ext cx="2981325" cy="152400"/>
          </a:xfrm>
          <a:prstGeom prst="rect"/>
        </p:spPr>
        <p:txBody>
          <a:bodyPr wrap="none" lIns="0" tIns="0" rIns="0" bIns="0"/>
          <a:p>
            <a:pPr algn="ctr">
              <a:lnSpc>
                <a:spcPct val="100000"/>
              </a:lnSpc>
            </a:pPr>
            <a:r>
              <a:rPr lang="zh-CN" sz="975" b="1">
                <a:solidFill>
                  <a:srgbClr val="C43A17"/>
                </a:solidFill>
                <a:latin typeface="Microsoft YaHei"/>
                <a:ea typeface="Microsoft YaHei"/>
              </a:rPr>
              <a:t>数据地图</a:t>
            </a:r>
            <a:endParaRPr/>
          </a:p>
        </p:txBody>
      </p:sp>
      <p:sp>
        <p:nvSpPr>
          <p:cNvPr id="192" name=""/>
          <p:cNvSpPr/>
          <p:nvPr/>
        </p:nvSpPr>
        <p:spPr>
          <a:xfrm rot="0" flipH="0" flipV="0">
            <a:off x="4314825" y="3457575"/>
            <a:ext cx="3562350" cy="2162175"/>
          </a:xfrm>
          <a:prstGeom prst="roundRect">
            <a:avLst>
              <a:gd name="adj" fmla="val 1762"/>
            </a:avLst>
          </a:prstGeom>
          <a:solidFill>
            <a:srgbClr val="F7F7F8"/>
          </a:solidFill>
          <a:ln/>
        </p:spPr>
        <p:txBody>
          <a:bodyPr/>
          <a:p>
            <a:pPr/>
            <a:endParaRPr/>
          </a:p>
        </p:txBody>
      </p:sp>
      <p:sp>
        <p:nvSpPr>
          <p:cNvPr id="193" name=""/>
          <p:cNvSpPr/>
          <p:nvPr/>
        </p:nvSpPr>
        <p:spPr>
          <a:xfrm rot="0" flipH="0" flipV="0">
            <a:off x="4314825" y="3457575"/>
            <a:ext cx="3562350" cy="2162175"/>
          </a:xfrm>
          <a:custGeom>
            <a:pathLst>
              <a:path w="374" h="227">
                <a:moveTo>
                  <a:pt x="370" y="0"/>
                </a:moveTo>
                <a:cubicBezTo>
                  <a:pt x="372" y="0"/>
                  <a:pt x="374" y="2"/>
                  <a:pt x="374" y="4"/>
                </a:cubicBezTo>
                <a:lnTo>
                  <a:pt x="0" y="4"/>
                </a:lnTo>
                <a:cubicBezTo>
                  <a:pt x="0" y="2"/>
                  <a:pt x="2" y="0"/>
                  <a:pt x="4" y="0"/>
                </a:cubicBezTo>
                <a:lnTo>
                  <a:pt x="370" y="0"/>
                </a:lnTo>
                <a:close/>
              </a:path>
            </a:pathLst>
          </a:custGeom>
          <a:solidFill>
            <a:srgbClr val="F87D2F"/>
          </a:solidFill>
          <a:ln/>
        </p:spPr>
        <p:txBody>
          <a:bodyPr/>
          <a:p>
            <a:pPr/>
            <a:endParaRPr/>
          </a:p>
        </p:txBody>
      </p:sp>
      <p:sp>
        <p:nvSpPr>
          <p:cNvPr id="194" name="" descr="{&quot;isTemplate&quot;:true,&quot;type&quot;:&quot;text&quot;}"/>
          <p:cNvSpPr txBox="1"/>
          <p:nvPr/>
        </p:nvSpPr>
        <p:spPr>
          <a:xfrm rot="0" flipH="0" flipV="0">
            <a:off x="4505325" y="3629025"/>
            <a:ext cx="3181350" cy="161925"/>
          </a:xfrm>
          <a:prstGeom prst="rect"/>
        </p:spPr>
        <p:txBody>
          <a:bodyPr wrap="none" lIns="0" tIns="0" rIns="0" bIns="0"/>
          <a:p>
            <a:pPr>
              <a:lnSpc>
                <a:spcPct val="100000"/>
              </a:lnSpc>
            </a:pPr>
            <a:r>
              <a:rPr lang="zh-CN" sz="1050" b="1">
                <a:solidFill>
                  <a:srgbClr val="F87D2F"/>
                </a:solidFill>
                <a:latin typeface="Microsoft YaHei"/>
                <a:ea typeface="Microsoft YaHei"/>
              </a:rPr>
              <a:t>交付物二</a:t>
            </a:r>
            <a:endParaRPr/>
          </a:p>
        </p:txBody>
      </p:sp>
      <p:sp>
        <p:nvSpPr>
          <p:cNvPr id="195" name="" descr="{&quot;isTemplate&quot;:true,&quot;type&quot;:&quot;text&quot;}"/>
          <p:cNvSpPr txBox="1"/>
          <p:nvPr/>
        </p:nvSpPr>
        <p:spPr>
          <a:xfrm rot="0" flipH="0" flipV="0">
            <a:off x="4505325" y="3886200"/>
            <a:ext cx="3181350" cy="219075"/>
          </a:xfrm>
          <a:prstGeom prst="rect"/>
        </p:spPr>
        <p:txBody>
          <a:bodyPr wrap="none" lIns="0" tIns="0" rIns="0" bIns="0"/>
          <a:p>
            <a:pPr>
              <a:lnSpc>
                <a:spcPct val="100000"/>
              </a:lnSpc>
            </a:pPr>
            <a:r>
              <a:rPr lang="zh-CN" sz="1425" b="1">
                <a:solidFill>
                  <a:srgbClr val="0F1423"/>
                </a:solidFill>
                <a:latin typeface="Microsoft YaHei"/>
                <a:ea typeface="Microsoft YaHei"/>
              </a:rPr>
              <a:t>认责落位表</a:t>
            </a:r>
            <a:endParaRPr/>
          </a:p>
        </p:txBody>
      </p:sp>
      <p:sp>
        <p:nvSpPr>
          <p:cNvPr id="196" name="" descr="{&quot;isTemplate&quot;:true,&quot;type&quot;:&quot;text&quot;}"/>
          <p:cNvSpPr txBox="1"/>
          <p:nvPr/>
        </p:nvSpPr>
        <p:spPr>
          <a:xfrm rot="0" flipH="0" flipV="0">
            <a:off x="4505325" y="4200525"/>
            <a:ext cx="3181350" cy="923925"/>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每层对应的责任主体：</a:t>
            </a:r>
            <a:r>
              <a:rPr lang="en-US" sz="1125">
                <a:solidFill>
                  <a:srgbClr val="3A4050"/>
                </a:solidFill>
                <a:latin typeface="Microsoft YaHei"/>
                <a:ea typeface="Microsoft YaHei"/>
              </a:rPr>
              <a:t xml:space="preserve">L1/L2 </a:t>
            </a:r>
            <a:r>
              <a:rPr lang="zh-CN" sz="1125">
                <a:solidFill>
                  <a:srgbClr val="3A4050"/>
                </a:solidFill>
                <a:latin typeface="Microsoft YaHei"/>
                <a:ea typeface="Microsoft YaHei"/>
              </a:rPr>
              <a:t>由数据专业组织担当，</a:t>
            </a:r>
            <a:r>
              <a:rPr lang="en-US" sz="1125">
                <a:solidFill>
                  <a:srgbClr val="3A4050"/>
                </a:solidFill>
                <a:latin typeface="Microsoft YaHei"/>
                <a:ea typeface="Microsoft YaHei"/>
              </a:rPr>
              <a:t xml:space="preserve">L3 </a:t>
            </a:r>
            <a:r>
              <a:rPr lang="zh-CN" sz="1125">
                <a:solidFill>
                  <a:srgbClr val="3A4050"/>
                </a:solidFill>
                <a:latin typeface="Microsoft YaHei"/>
                <a:ea typeface="Microsoft YaHei"/>
              </a:rPr>
              <a:t>由业务</a:t>
            </a:r>
            <a:r>
              <a:rPr lang="en-US" sz="1125">
                <a:solidFill>
                  <a:srgbClr val="3A4050"/>
                </a:solidFill>
                <a:latin typeface="Microsoft YaHei"/>
                <a:ea typeface="Microsoft YaHei"/>
              </a:rPr>
              <a:t xml:space="preserve"> Owner </a:t>
            </a:r>
            <a:r>
              <a:rPr lang="zh-CN" sz="1125">
                <a:solidFill>
                  <a:srgbClr val="3A4050"/>
                </a:solidFill>
                <a:latin typeface="Microsoft YaHei"/>
                <a:ea typeface="Microsoft YaHei"/>
              </a:rPr>
              <a:t>担当，</a:t>
            </a:r>
            <a:r>
              <a:rPr lang="en-US" sz="1125">
                <a:solidFill>
                  <a:srgbClr val="3A4050"/>
                </a:solidFill>
                <a:latin typeface="Microsoft YaHei"/>
                <a:ea typeface="Microsoft YaHei"/>
              </a:rPr>
              <a:t xml:space="preserve">L4/L5 </a:t>
            </a:r>
            <a:r>
              <a:rPr lang="zh-CN" sz="1125">
                <a:solidFill>
                  <a:srgbClr val="3A4050"/>
                </a:solidFill>
                <a:latin typeface="Microsoft YaHei"/>
                <a:ea typeface="Microsoft YaHei"/>
              </a:rPr>
              <a:t>由数据管家担当。</a:t>
            </a:r>
            <a:endParaRPr/>
          </a:p>
        </p:txBody>
      </p:sp>
      <p:sp>
        <p:nvSpPr>
          <p:cNvPr id="197" name=""/>
          <p:cNvSpPr/>
          <p:nvPr/>
        </p:nvSpPr>
        <p:spPr>
          <a:xfrm rot="0" flipH="0" flipV="0">
            <a:off x="4505325" y="5124450"/>
            <a:ext cx="3181350" cy="285750"/>
          </a:xfrm>
          <a:prstGeom prst="roundRect">
            <a:avLst>
              <a:gd name="adj" fmla="val 10000"/>
            </a:avLst>
          </a:prstGeom>
          <a:solidFill>
            <a:srgbClr val="FA4F24">
              <a:alpha val="10000"/>
            </a:srgbClr>
          </a:solidFill>
          <a:ln/>
        </p:spPr>
        <p:txBody>
          <a:bodyPr/>
          <a:p>
            <a:pPr/>
            <a:endParaRPr/>
          </a:p>
        </p:txBody>
      </p:sp>
      <p:sp>
        <p:nvSpPr>
          <p:cNvPr id="198" name="" descr="{&quot;isTemplate&quot;:true,&quot;type&quot;:&quot;text&quot;}"/>
          <p:cNvSpPr txBox="1"/>
          <p:nvPr/>
        </p:nvSpPr>
        <p:spPr>
          <a:xfrm rot="0" flipH="0" flipV="0">
            <a:off x="4600575" y="5191125"/>
            <a:ext cx="2990850" cy="152400"/>
          </a:xfrm>
          <a:prstGeom prst="rect"/>
        </p:spPr>
        <p:txBody>
          <a:bodyPr wrap="none" lIns="0" tIns="0" rIns="0" bIns="0"/>
          <a:p>
            <a:pPr algn="ctr">
              <a:lnSpc>
                <a:spcPct val="100000"/>
              </a:lnSpc>
            </a:pPr>
            <a:r>
              <a:rPr lang="zh-CN" sz="975" b="1">
                <a:solidFill>
                  <a:srgbClr val="C43A17"/>
                </a:solidFill>
                <a:latin typeface="Microsoft YaHei"/>
                <a:ea typeface="Microsoft YaHei"/>
              </a:rPr>
              <a:t>责任到人</a:t>
            </a:r>
            <a:endParaRPr/>
          </a:p>
        </p:txBody>
      </p:sp>
      <p:sp>
        <p:nvSpPr>
          <p:cNvPr id="199" name=""/>
          <p:cNvSpPr/>
          <p:nvPr/>
        </p:nvSpPr>
        <p:spPr>
          <a:xfrm rot="0" flipH="0" flipV="0">
            <a:off x="8029575" y="3457575"/>
            <a:ext cx="3552825" cy="2162175"/>
          </a:xfrm>
          <a:prstGeom prst="roundRect">
            <a:avLst>
              <a:gd name="adj" fmla="val 1762"/>
            </a:avLst>
          </a:prstGeom>
          <a:solidFill>
            <a:srgbClr val="F7F7F8"/>
          </a:solidFill>
          <a:ln/>
        </p:spPr>
        <p:txBody>
          <a:bodyPr/>
          <a:p>
            <a:pPr/>
            <a:endParaRPr/>
          </a:p>
        </p:txBody>
      </p:sp>
      <p:sp>
        <p:nvSpPr>
          <p:cNvPr id="200" name=""/>
          <p:cNvSpPr/>
          <p:nvPr/>
        </p:nvSpPr>
        <p:spPr>
          <a:xfrm rot="0" flipH="0" flipV="0">
            <a:off x="8029575" y="3457575"/>
            <a:ext cx="3552825" cy="2162175"/>
          </a:xfrm>
          <a:custGeom>
            <a:pathLst>
              <a:path w="373" h="227">
                <a:moveTo>
                  <a:pt x="369" y="0"/>
                </a:moveTo>
                <a:cubicBezTo>
                  <a:pt x="371" y="0"/>
                  <a:pt x="373" y="2"/>
                  <a:pt x="373" y="4"/>
                </a:cubicBezTo>
                <a:lnTo>
                  <a:pt x="0" y="4"/>
                </a:lnTo>
                <a:cubicBezTo>
                  <a:pt x="0" y="2"/>
                  <a:pt x="2" y="0"/>
                  <a:pt x="4" y="0"/>
                </a:cubicBezTo>
                <a:lnTo>
                  <a:pt x="369" y="0"/>
                </a:lnTo>
                <a:close/>
              </a:path>
            </a:pathLst>
          </a:custGeom>
          <a:solidFill>
            <a:srgbClr val="F87D2F"/>
          </a:solidFill>
          <a:ln/>
        </p:spPr>
        <p:txBody>
          <a:bodyPr/>
          <a:p>
            <a:pPr/>
            <a:endParaRPr/>
          </a:p>
        </p:txBody>
      </p:sp>
      <p:sp>
        <p:nvSpPr>
          <p:cNvPr id="201" name="" descr="{&quot;isTemplate&quot;:true,&quot;type&quot;:&quot;text&quot;}"/>
          <p:cNvSpPr txBox="1"/>
          <p:nvPr/>
        </p:nvSpPr>
        <p:spPr>
          <a:xfrm rot="0" flipH="0" flipV="0">
            <a:off x="8220075" y="3629025"/>
            <a:ext cx="3171825" cy="161925"/>
          </a:xfrm>
          <a:prstGeom prst="rect"/>
        </p:spPr>
        <p:txBody>
          <a:bodyPr wrap="none" lIns="0" tIns="0" rIns="0" bIns="0"/>
          <a:p>
            <a:pPr>
              <a:lnSpc>
                <a:spcPct val="100000"/>
              </a:lnSpc>
            </a:pPr>
            <a:r>
              <a:rPr lang="zh-CN" sz="1050" b="1">
                <a:solidFill>
                  <a:srgbClr val="F87D2F"/>
                </a:solidFill>
                <a:latin typeface="Microsoft YaHei"/>
                <a:ea typeface="Microsoft YaHei"/>
              </a:rPr>
              <a:t>交付物三</a:t>
            </a:r>
            <a:endParaRPr/>
          </a:p>
        </p:txBody>
      </p:sp>
      <p:sp>
        <p:nvSpPr>
          <p:cNvPr id="202" name="" descr="{&quot;isTemplate&quot;:true,&quot;type&quot;:&quot;text&quot;}"/>
          <p:cNvSpPr txBox="1"/>
          <p:nvPr/>
        </p:nvSpPr>
        <p:spPr>
          <a:xfrm rot="0" flipH="0" flipV="0">
            <a:off x="8220075" y="3886200"/>
            <a:ext cx="3171825" cy="219075"/>
          </a:xfrm>
          <a:prstGeom prst="rect"/>
        </p:spPr>
        <p:txBody>
          <a:bodyPr wrap="none" lIns="0" tIns="0" rIns="0" bIns="0"/>
          <a:p>
            <a:pPr>
              <a:lnSpc>
                <a:spcPct val="100000"/>
              </a:lnSpc>
            </a:pPr>
            <a:r>
              <a:rPr lang="zh-CN" sz="1425" b="1">
                <a:solidFill>
                  <a:srgbClr val="0F1423"/>
                </a:solidFill>
                <a:latin typeface="Microsoft YaHei"/>
                <a:ea typeface="Microsoft YaHei"/>
              </a:rPr>
              <a:t>目录变更规程</a:t>
            </a:r>
            <a:endParaRPr/>
          </a:p>
        </p:txBody>
      </p:sp>
      <p:sp>
        <p:nvSpPr>
          <p:cNvPr id="203" name="" descr="{&quot;isTemplate&quot;:true,&quot;type&quot;:&quot;text&quot;}"/>
          <p:cNvSpPr txBox="1"/>
          <p:nvPr/>
        </p:nvSpPr>
        <p:spPr>
          <a:xfrm rot="0" flipH="0" flipV="0">
            <a:off x="8220075" y="4200525"/>
            <a:ext cx="3171825" cy="923925"/>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新增、合并、废止业务对象的申请与审批流程，保证目录长年可用而不腐化。</a:t>
            </a:r>
            <a:endParaRPr/>
          </a:p>
        </p:txBody>
      </p:sp>
      <p:sp>
        <p:nvSpPr>
          <p:cNvPr id="204" name=""/>
          <p:cNvSpPr/>
          <p:nvPr/>
        </p:nvSpPr>
        <p:spPr>
          <a:xfrm rot="0" flipH="0" flipV="0">
            <a:off x="8220075" y="5124450"/>
            <a:ext cx="3171825" cy="285750"/>
          </a:xfrm>
          <a:prstGeom prst="roundRect">
            <a:avLst>
              <a:gd name="adj" fmla="val 10000"/>
            </a:avLst>
          </a:prstGeom>
          <a:solidFill>
            <a:srgbClr val="FA4F24">
              <a:alpha val="10000"/>
            </a:srgbClr>
          </a:solidFill>
          <a:ln/>
        </p:spPr>
        <p:txBody>
          <a:bodyPr/>
          <a:p>
            <a:pPr/>
            <a:endParaRPr/>
          </a:p>
        </p:txBody>
      </p:sp>
      <p:sp>
        <p:nvSpPr>
          <p:cNvPr id="205" name="" descr="{&quot;isTemplate&quot;:true,&quot;type&quot;:&quot;text&quot;}"/>
          <p:cNvSpPr txBox="1"/>
          <p:nvPr/>
        </p:nvSpPr>
        <p:spPr>
          <a:xfrm rot="0" flipH="0" flipV="0">
            <a:off x="8315325" y="5191125"/>
            <a:ext cx="2981325" cy="152400"/>
          </a:xfrm>
          <a:prstGeom prst="rect"/>
        </p:spPr>
        <p:txBody>
          <a:bodyPr wrap="none" lIns="0" tIns="0" rIns="0" bIns="0"/>
          <a:p>
            <a:pPr algn="ctr">
              <a:lnSpc>
                <a:spcPct val="100000"/>
              </a:lnSpc>
            </a:pPr>
            <a:r>
              <a:rPr lang="zh-CN" sz="975" b="1">
                <a:solidFill>
                  <a:srgbClr val="C43A17"/>
                </a:solidFill>
                <a:latin typeface="Microsoft YaHei"/>
                <a:ea typeface="Microsoft YaHei"/>
              </a:rPr>
              <a:t>持续维护</a:t>
            </a:r>
            <a:endParaRPr/>
          </a:p>
        </p:txBody>
      </p:sp>
      <p:sp>
        <p:nvSpPr>
          <p:cNvPr id="206" name=""/>
          <p:cNvSpPr/>
          <p:nvPr/>
        </p:nvSpPr>
        <p:spPr>
          <a:xfrm rot="0" flipH="0" flipV="0">
            <a:off x="609600" y="5943600"/>
            <a:ext cx="133350" cy="133350"/>
          </a:xfrm>
          <a:prstGeom prst="rect">
            <a:avLst/>
          </a:prstGeom>
          <a:solidFill>
            <a:srgbClr val="FA4F24"/>
          </a:solidFill>
          <a:ln/>
        </p:spPr>
        <p:txBody>
          <a:bodyPr/>
          <a:p>
            <a:pPr/>
            <a:endParaRPr/>
          </a:p>
        </p:txBody>
      </p:sp>
      <p:sp>
        <p:nvSpPr>
          <p:cNvPr id="207"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208"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14 / 30</a:t>
            </a:r>
            <a:endParaRPr/>
          </a:p>
        </p:txBody>
      </p:sp>
    </p:spTree>
  </p:cSld>
</p:sld>
</file>

<file path=ppt/slides/slide15.xml><?xml version="1.0" encoding="utf-8"?>
<p:sld xmlns:p="http://schemas.openxmlformats.org/presentationml/2006/main" xmlns:a="http://schemas.openxmlformats.org/drawingml/2006/main">
  <p:cSld>
    <p:spTree>
      <p:nvGrpSpPr>
        <p:cNvPr id="209" name=""/>
        <p:cNvGrpSpPr/>
        <p:nvPr/>
      </p:nvGrpSpPr>
      <p:grpSpPr>
        <a:xfrm>
          <a:off x="0" y="0"/>
          <a:ext cx="0" cy="0"/>
          <a:chOff x="0" y="0"/>
          <a:chExt cx="0" cy="0"/>
        </a:xfrm>
      </p:grpSpPr>
      <p:sp>
        <p:nvSpPr>
          <p:cNvPr id="210" name=""/>
          <p:cNvSpPr/>
          <p:nvPr/>
        </p:nvSpPr>
        <p:spPr>
          <a:xfrm rot="0" flipH="0" flipV="0">
            <a:off x="0" y="0"/>
            <a:ext cx="12192000" cy="6858000"/>
          </a:xfrm>
          <a:prstGeom prst="rect">
            <a:avLst/>
          </a:prstGeom>
          <a:solidFill>
            <a:srgbClr val="FFFFFF"/>
          </a:solidFill>
          <a:ln/>
        </p:spPr>
        <p:txBody>
          <a:bodyPr/>
          <a:p>
            <a:pPr/>
            <a:endParaRPr/>
          </a:p>
        </p:txBody>
      </p:sp>
      <p:sp>
        <p:nvSpPr>
          <p:cNvPr id="211"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之模板：</a:t>
            </a:r>
            <a:r>
              <a:rPr lang="zh-CN" sz="2400" b="1">
                <a:solidFill>
                  <a:srgbClr val="FA4F24"/>
                </a:solidFill>
                <a:latin typeface="Microsoft YaHei"/>
                <a:ea typeface="Microsoft YaHei"/>
              </a:rPr>
              <a:t>五层目录表</a:t>
            </a:r>
            <a:r>
              <a:rPr lang="zh-CN" sz="2400" b="1">
                <a:solidFill>
                  <a:srgbClr val="0F1423"/>
                </a:solidFill>
                <a:latin typeface="Microsoft YaHei"/>
                <a:ea typeface="Microsoft YaHei"/>
              </a:rPr>
              <a:t>与命名规范，让目录可检索、可交接</a:t>
            </a:r>
            <a:endParaRPr/>
          </a:p>
        </p:txBody>
      </p:sp>
      <p:sp>
        <p:nvSpPr>
          <p:cNvPr id="212"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字段即标准：层级、编码、名称、定义、责任主体、状态</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六列锁定一条目录记录</a:t>
            </a:r>
            <a:endParaRPr/>
          </a:p>
        </p:txBody>
      </p:sp>
      <p:sp>
        <p:nvSpPr>
          <p:cNvPr id="213" name=""/>
          <p:cNvSpPr/>
          <p:nvPr/>
        </p:nvSpPr>
        <p:spPr>
          <a:xfrm rot="0" flipH="0" flipV="0">
            <a:off x="609600" y="1143000"/>
            <a:ext cx="10972800" cy="9525"/>
          </a:xfrm>
          <a:prstGeom prst="rect">
            <a:avLst/>
          </a:prstGeom>
          <a:solidFill>
            <a:srgbClr val="E8E8E8"/>
          </a:solidFill>
          <a:ln/>
        </p:spPr>
        <p:txBody>
          <a:bodyPr/>
          <a:p>
            <a:pPr/>
            <a:endParaRPr/>
          </a:p>
        </p:txBody>
      </p:sp>
      <p:sp>
        <p:nvSpPr>
          <p:cNvPr id="214" name="" descr="{&quot;isTemplate&quot;:true,&quot;type&quot;:&quot;text&quot;}"/>
          <p:cNvSpPr txBox="1"/>
          <p:nvPr/>
        </p:nvSpPr>
        <p:spPr>
          <a:xfrm rot="0" flipH="0" flipV="0">
            <a:off x="609600" y="1362075"/>
            <a:ext cx="6781800" cy="219075"/>
          </a:xfrm>
          <a:prstGeom prst="rect"/>
        </p:spPr>
        <p:txBody>
          <a:bodyPr wrap="none" lIns="0" tIns="0" rIns="0" bIns="0"/>
          <a:p>
            <a:pPr>
              <a:lnSpc>
                <a:spcPct val="100000"/>
              </a:lnSpc>
            </a:pPr>
            <a:r>
              <a:rPr lang="zh-CN" sz="1425" b="1">
                <a:solidFill>
                  <a:srgbClr val="0F1423"/>
                </a:solidFill>
                <a:latin typeface="Microsoft YaHei"/>
                <a:ea typeface="Microsoft YaHei"/>
              </a:rPr>
              <a:t>五层目录登记表（示例）</a:t>
            </a:r>
            <a:endParaRPr/>
          </a:p>
        </p:txBody>
      </p:sp>
      <p:sp>
        <p:nvSpPr>
          <p:cNvPr id="215" name=""/>
          <p:cNvSpPr/>
          <p:nvPr/>
        </p:nvSpPr>
        <p:spPr>
          <a:xfrm rot="0" flipH="0" flipV="0">
            <a:off x="609600" y="1676400"/>
            <a:ext cx="6781800" cy="3905250"/>
          </a:xfrm>
          <a:prstGeom prst="roundRect">
            <a:avLst>
              <a:gd name="adj" fmla="val 976"/>
            </a:avLst>
          </a:prstGeom>
          <a:ln w="12700">
            <a:solidFill>
              <a:srgbClr val="E8E8E8"/>
            </a:solidFill>
            <a:prstDash val="solid"/>
          </a:ln>
        </p:spPr>
        <p:txBody>
          <a:bodyPr/>
          <a:p>
            <a:pPr/>
            <a:endParaRPr/>
          </a:p>
        </p:txBody>
      </p:sp>
      <p:sp>
        <p:nvSpPr>
          <p:cNvPr id="216" name=""/>
          <p:cNvSpPr/>
          <p:nvPr/>
        </p:nvSpPr>
        <p:spPr>
          <a:xfrm rot="0" flipH="0" flipV="0">
            <a:off x="609600" y="1676400"/>
            <a:ext cx="6781800" cy="342900"/>
          </a:xfrm>
          <a:prstGeom prst="rect">
            <a:avLst/>
          </a:prstGeom>
          <a:solidFill>
            <a:srgbClr val="FA4F24"/>
          </a:solidFill>
          <a:ln/>
        </p:spPr>
        <p:txBody>
          <a:bodyPr/>
          <a:p>
            <a:pPr/>
            <a:endParaRPr/>
          </a:p>
        </p:txBody>
      </p:sp>
      <p:sp>
        <p:nvSpPr>
          <p:cNvPr id="217" name="" descr="{&quot;isTemplate&quot;:true,&quot;type&quot;:&quot;text&quot;}"/>
          <p:cNvSpPr txBox="1"/>
          <p:nvPr/>
        </p:nvSpPr>
        <p:spPr>
          <a:xfrm rot="0" flipH="0" flipV="0">
            <a:off x="742950" y="1771650"/>
            <a:ext cx="1181100" cy="152400"/>
          </a:xfrm>
          <a:prstGeom prst="rect"/>
        </p:spPr>
        <p:txBody>
          <a:bodyPr wrap="none" lIns="0" tIns="0" rIns="0" bIns="0"/>
          <a:p>
            <a:pPr>
              <a:lnSpc>
                <a:spcPct val="100000"/>
              </a:lnSpc>
            </a:pPr>
            <a:r>
              <a:rPr lang="zh-CN" sz="975" b="1">
                <a:solidFill>
                  <a:srgbClr val="FFFFFF"/>
                </a:solidFill>
                <a:latin typeface="Microsoft YaHei"/>
                <a:ea typeface="Microsoft YaHei"/>
              </a:rPr>
              <a:t>层级</a:t>
            </a:r>
            <a:endParaRPr/>
          </a:p>
        </p:txBody>
      </p:sp>
      <p:sp>
        <p:nvSpPr>
          <p:cNvPr id="218" name="" descr="{&quot;isTemplate&quot;:true,&quot;type&quot;:&quot;text&quot;}"/>
          <p:cNvSpPr txBox="1"/>
          <p:nvPr/>
        </p:nvSpPr>
        <p:spPr>
          <a:xfrm rot="0" flipH="0" flipV="0">
            <a:off x="1924050" y="1771650"/>
            <a:ext cx="1190625" cy="152400"/>
          </a:xfrm>
          <a:prstGeom prst="rect"/>
        </p:spPr>
        <p:txBody>
          <a:bodyPr wrap="none" lIns="0" tIns="0" rIns="0" bIns="0"/>
          <a:p>
            <a:pPr>
              <a:lnSpc>
                <a:spcPct val="100000"/>
              </a:lnSpc>
            </a:pPr>
            <a:r>
              <a:rPr lang="zh-CN" sz="975" b="1">
                <a:solidFill>
                  <a:srgbClr val="FFFFFF"/>
                </a:solidFill>
                <a:latin typeface="Microsoft YaHei"/>
                <a:ea typeface="Microsoft YaHei"/>
              </a:rPr>
              <a:t>目录编码</a:t>
            </a:r>
            <a:endParaRPr/>
          </a:p>
        </p:txBody>
      </p:sp>
      <p:sp>
        <p:nvSpPr>
          <p:cNvPr id="219" name="" descr="{&quot;isTemplate&quot;:true,&quot;type&quot;:&quot;text&quot;}"/>
          <p:cNvSpPr txBox="1"/>
          <p:nvPr/>
        </p:nvSpPr>
        <p:spPr>
          <a:xfrm rot="0" flipH="0" flipV="0">
            <a:off x="3114675" y="1771650"/>
            <a:ext cx="1771650" cy="152400"/>
          </a:xfrm>
          <a:prstGeom prst="rect"/>
        </p:spPr>
        <p:txBody>
          <a:bodyPr wrap="none" lIns="0" tIns="0" rIns="0" bIns="0"/>
          <a:p>
            <a:pPr>
              <a:lnSpc>
                <a:spcPct val="100000"/>
              </a:lnSpc>
            </a:pPr>
            <a:r>
              <a:rPr lang="zh-CN" sz="975" b="1">
                <a:solidFill>
                  <a:srgbClr val="FFFFFF"/>
                </a:solidFill>
                <a:latin typeface="Microsoft YaHei"/>
                <a:ea typeface="Microsoft YaHei"/>
              </a:rPr>
              <a:t>名称</a:t>
            </a:r>
            <a:endParaRPr/>
          </a:p>
        </p:txBody>
      </p:sp>
      <p:sp>
        <p:nvSpPr>
          <p:cNvPr id="220" name="" descr="{&quot;isTemplate&quot;:true,&quot;type&quot;:&quot;text&quot;}"/>
          <p:cNvSpPr txBox="1"/>
          <p:nvPr/>
        </p:nvSpPr>
        <p:spPr>
          <a:xfrm rot="0" flipH="0" flipV="0">
            <a:off x="4886325" y="1771650"/>
            <a:ext cx="1190625" cy="152400"/>
          </a:xfrm>
          <a:prstGeom prst="rect"/>
        </p:spPr>
        <p:txBody>
          <a:bodyPr wrap="none" lIns="0" tIns="0" rIns="0" bIns="0"/>
          <a:p>
            <a:pPr>
              <a:lnSpc>
                <a:spcPct val="100000"/>
              </a:lnSpc>
            </a:pPr>
            <a:r>
              <a:rPr lang="zh-CN" sz="975" b="1">
                <a:solidFill>
                  <a:srgbClr val="FFFFFF"/>
                </a:solidFill>
                <a:latin typeface="Microsoft YaHei"/>
                <a:ea typeface="Microsoft YaHei"/>
              </a:rPr>
              <a:t>责任主体</a:t>
            </a:r>
            <a:endParaRPr/>
          </a:p>
        </p:txBody>
      </p:sp>
      <p:sp>
        <p:nvSpPr>
          <p:cNvPr id="221" name="" descr="{&quot;isTemplate&quot;:true,&quot;type&quot;:&quot;text&quot;}"/>
          <p:cNvSpPr txBox="1"/>
          <p:nvPr/>
        </p:nvSpPr>
        <p:spPr>
          <a:xfrm rot="0" flipH="0" flipV="0">
            <a:off x="6076950" y="1771650"/>
            <a:ext cx="1181100" cy="152400"/>
          </a:xfrm>
          <a:prstGeom prst="rect"/>
        </p:spPr>
        <p:txBody>
          <a:bodyPr wrap="none" lIns="0" tIns="0" rIns="0" bIns="0"/>
          <a:p>
            <a:pPr>
              <a:lnSpc>
                <a:spcPct val="100000"/>
              </a:lnSpc>
            </a:pPr>
            <a:r>
              <a:rPr lang="zh-CN" sz="975" b="1">
                <a:solidFill>
                  <a:srgbClr val="FFFFFF"/>
                </a:solidFill>
                <a:latin typeface="Microsoft YaHei"/>
                <a:ea typeface="Microsoft YaHei"/>
              </a:rPr>
              <a:t>状态</a:t>
            </a:r>
            <a:endParaRPr/>
          </a:p>
        </p:txBody>
      </p:sp>
      <p:sp>
        <p:nvSpPr>
          <p:cNvPr id="222" name=""/>
          <p:cNvSpPr/>
          <p:nvPr/>
        </p:nvSpPr>
        <p:spPr>
          <a:xfrm rot="0" flipH="0" flipV="0">
            <a:off x="609600" y="2019300"/>
            <a:ext cx="6781800" cy="371475"/>
          </a:xfrm>
          <a:prstGeom prst="rect">
            <a:avLst/>
          </a:prstGeom>
          <a:solidFill>
            <a:srgbClr val="FFFFFF"/>
          </a:solidFill>
          <a:ln/>
        </p:spPr>
        <p:txBody>
          <a:bodyPr/>
          <a:p>
            <a:pPr/>
            <a:endParaRPr/>
          </a:p>
        </p:txBody>
      </p:sp>
      <p:sp>
        <p:nvSpPr>
          <p:cNvPr id="223" name="" descr="{&quot;isTemplate&quot;:true,&quot;type&quot;:&quot;text&quot;}"/>
          <p:cNvSpPr txBox="1"/>
          <p:nvPr/>
        </p:nvSpPr>
        <p:spPr>
          <a:xfrm rot="0" flipH="0" flipV="0">
            <a:off x="742950" y="2105025"/>
            <a:ext cx="1181100" cy="200025"/>
          </a:xfrm>
          <a:prstGeom prst="rect"/>
        </p:spPr>
        <p:txBody>
          <a:bodyPr wrap="none" lIns="0" tIns="0" rIns="0" bIns="0"/>
          <a:p>
            <a:pPr>
              <a:lnSpc>
                <a:spcPct val="130000"/>
              </a:lnSpc>
            </a:pPr>
            <a:r>
              <a:rPr lang="en-US" sz="975" b="1">
                <a:solidFill>
                  <a:srgbClr val="FA4F24"/>
                </a:solidFill>
                <a:latin typeface="Microsoft YaHei"/>
                <a:ea typeface="Microsoft YaHei"/>
              </a:rPr>
              <a:t>L1</a:t>
            </a:r>
            <a:endParaRPr/>
          </a:p>
        </p:txBody>
      </p:sp>
      <p:sp>
        <p:nvSpPr>
          <p:cNvPr id="224" name="" descr="{&quot;isTemplate&quot;:true,&quot;type&quot;:&quot;text&quot;}"/>
          <p:cNvSpPr txBox="1"/>
          <p:nvPr/>
        </p:nvSpPr>
        <p:spPr>
          <a:xfrm rot="0" flipH="0" flipV="0">
            <a:off x="1924050" y="2105025"/>
            <a:ext cx="1190625" cy="200025"/>
          </a:xfrm>
          <a:prstGeom prst="rect"/>
        </p:spPr>
        <p:txBody>
          <a:bodyPr wrap="none" lIns="0" tIns="0" rIns="0" bIns="0"/>
          <a:p>
            <a:pPr>
              <a:lnSpc>
                <a:spcPct val="130000"/>
              </a:lnSpc>
            </a:pPr>
            <a:r>
              <a:rPr lang="en-US" sz="975">
                <a:solidFill>
                  <a:srgbClr val="3A4050"/>
                </a:solidFill>
                <a:latin typeface="Microsoft YaHei"/>
                <a:ea typeface="Microsoft YaHei"/>
              </a:rPr>
              <a:t>D-CUST</a:t>
            </a:r>
            <a:endParaRPr/>
          </a:p>
        </p:txBody>
      </p:sp>
      <p:sp>
        <p:nvSpPr>
          <p:cNvPr id="225" name="" descr="{&quot;isTemplate&quot;:true,&quot;type&quot;:&quot;text&quot;}"/>
          <p:cNvSpPr txBox="1"/>
          <p:nvPr/>
        </p:nvSpPr>
        <p:spPr>
          <a:xfrm rot="0" flipH="0" flipV="0">
            <a:off x="3114675" y="2105025"/>
            <a:ext cx="1771650" cy="200025"/>
          </a:xfrm>
          <a:prstGeom prst="rect"/>
        </p:spPr>
        <p:txBody>
          <a:bodyPr wrap="none" lIns="0" tIns="0" rIns="0" bIns="0"/>
          <a:p>
            <a:pPr>
              <a:lnSpc>
                <a:spcPct val="130000"/>
              </a:lnSpc>
            </a:pPr>
            <a:r>
              <a:rPr lang="zh-CN" sz="975" b="1">
                <a:solidFill>
                  <a:srgbClr val="3A4050"/>
                </a:solidFill>
                <a:latin typeface="Microsoft YaHei"/>
                <a:ea typeface="Microsoft YaHei"/>
              </a:rPr>
              <a:t>客户域</a:t>
            </a:r>
            <a:endParaRPr/>
          </a:p>
        </p:txBody>
      </p:sp>
      <p:sp>
        <p:nvSpPr>
          <p:cNvPr id="226" name="" descr="{&quot;isTemplate&quot;:true,&quot;type&quot;:&quot;text&quot;}"/>
          <p:cNvSpPr txBox="1"/>
          <p:nvPr/>
        </p:nvSpPr>
        <p:spPr>
          <a:xfrm rot="0" flipH="0" flipV="0">
            <a:off x="4886325" y="2105025"/>
            <a:ext cx="1190625" cy="200025"/>
          </a:xfrm>
          <a:prstGeom prst="rect"/>
        </p:spPr>
        <p:txBody>
          <a:bodyPr wrap="none" lIns="0" tIns="0" rIns="0" bIns="0"/>
          <a:p>
            <a:pPr>
              <a:lnSpc>
                <a:spcPct val="130000"/>
              </a:lnSpc>
            </a:pPr>
            <a:r>
              <a:rPr lang="zh-CN" sz="975">
                <a:solidFill>
                  <a:srgbClr val="3A4050"/>
                </a:solidFill>
                <a:latin typeface="Microsoft YaHei"/>
                <a:ea typeface="Microsoft YaHei"/>
              </a:rPr>
              <a:t>数据管理部</a:t>
            </a:r>
            <a:endParaRPr/>
          </a:p>
        </p:txBody>
      </p:sp>
      <p:sp>
        <p:nvSpPr>
          <p:cNvPr id="227" name="" descr="{&quot;isTemplate&quot;:true,&quot;type&quot;:&quot;text&quot;}"/>
          <p:cNvSpPr txBox="1"/>
          <p:nvPr/>
        </p:nvSpPr>
        <p:spPr>
          <a:xfrm rot="0" flipH="0" flipV="0">
            <a:off x="6076950" y="2105025"/>
            <a:ext cx="1181100" cy="200025"/>
          </a:xfrm>
          <a:prstGeom prst="rect"/>
        </p:spPr>
        <p:txBody>
          <a:bodyPr wrap="none" lIns="0" tIns="0" rIns="0" bIns="0"/>
          <a:p>
            <a:pPr>
              <a:lnSpc>
                <a:spcPct val="130000"/>
              </a:lnSpc>
            </a:pPr>
            <a:r>
              <a:rPr lang="zh-CN" sz="975">
                <a:solidFill>
                  <a:srgbClr val="3A4050"/>
                </a:solidFill>
                <a:latin typeface="Microsoft YaHei"/>
                <a:ea typeface="Microsoft YaHei"/>
              </a:rPr>
              <a:t>生效</a:t>
            </a:r>
            <a:endParaRPr/>
          </a:p>
        </p:txBody>
      </p:sp>
      <p:sp>
        <p:nvSpPr>
          <p:cNvPr id="228" name=""/>
          <p:cNvSpPr/>
          <p:nvPr/>
        </p:nvSpPr>
        <p:spPr>
          <a:xfrm rot="0" flipH="0" flipV="0">
            <a:off x="609600" y="2390775"/>
            <a:ext cx="6781800" cy="371475"/>
          </a:xfrm>
          <a:prstGeom prst="rect">
            <a:avLst/>
          </a:prstGeom>
          <a:solidFill>
            <a:srgbClr val="F7F7F8"/>
          </a:solidFill>
          <a:ln/>
        </p:spPr>
        <p:txBody>
          <a:bodyPr/>
          <a:p>
            <a:pPr/>
            <a:endParaRPr/>
          </a:p>
        </p:txBody>
      </p:sp>
      <p:sp>
        <p:nvSpPr>
          <p:cNvPr id="229" name="" descr="{&quot;isTemplate&quot;:true,&quot;type&quot;:&quot;text&quot;}"/>
          <p:cNvSpPr txBox="1"/>
          <p:nvPr/>
        </p:nvSpPr>
        <p:spPr>
          <a:xfrm rot="0" flipH="0" flipV="0">
            <a:off x="742950" y="2476500"/>
            <a:ext cx="1181100" cy="200025"/>
          </a:xfrm>
          <a:prstGeom prst="rect"/>
        </p:spPr>
        <p:txBody>
          <a:bodyPr wrap="none" lIns="0" tIns="0" rIns="0" bIns="0"/>
          <a:p>
            <a:pPr>
              <a:lnSpc>
                <a:spcPct val="130000"/>
              </a:lnSpc>
            </a:pPr>
            <a:r>
              <a:rPr lang="en-US" sz="975" b="1">
                <a:solidFill>
                  <a:srgbClr val="FA4F24"/>
                </a:solidFill>
                <a:latin typeface="Microsoft YaHei"/>
                <a:ea typeface="Microsoft YaHei"/>
              </a:rPr>
              <a:t>L2</a:t>
            </a:r>
            <a:endParaRPr/>
          </a:p>
        </p:txBody>
      </p:sp>
      <p:sp>
        <p:nvSpPr>
          <p:cNvPr id="230" name="" descr="{&quot;isTemplate&quot;:true,&quot;type&quot;:&quot;text&quot;}"/>
          <p:cNvSpPr txBox="1"/>
          <p:nvPr/>
        </p:nvSpPr>
        <p:spPr>
          <a:xfrm rot="0" flipH="0" flipV="0">
            <a:off x="1924050" y="2476500"/>
            <a:ext cx="1190625" cy="200025"/>
          </a:xfrm>
          <a:prstGeom prst="rect"/>
        </p:spPr>
        <p:txBody>
          <a:bodyPr wrap="none" lIns="0" tIns="0" rIns="0" bIns="0"/>
          <a:p>
            <a:pPr>
              <a:lnSpc>
                <a:spcPct val="130000"/>
              </a:lnSpc>
            </a:pPr>
            <a:r>
              <a:rPr lang="en-US" sz="975">
                <a:solidFill>
                  <a:srgbClr val="3A4050"/>
                </a:solidFill>
                <a:latin typeface="Microsoft YaHei"/>
                <a:ea typeface="Microsoft YaHei"/>
              </a:rPr>
              <a:t>D-CUST-CON</a:t>
            </a:r>
            <a:endParaRPr/>
          </a:p>
        </p:txBody>
      </p:sp>
      <p:sp>
        <p:nvSpPr>
          <p:cNvPr id="231" name="" descr="{&quot;isTemplate&quot;:true,&quot;type&quot;:&quot;text&quot;}"/>
          <p:cNvSpPr txBox="1"/>
          <p:nvPr/>
        </p:nvSpPr>
        <p:spPr>
          <a:xfrm rot="0" flipH="0" flipV="0">
            <a:off x="3114675" y="2476500"/>
            <a:ext cx="1771650" cy="200025"/>
          </a:xfrm>
          <a:prstGeom prst="rect"/>
        </p:spPr>
        <p:txBody>
          <a:bodyPr wrap="none" lIns="0" tIns="0" rIns="0" bIns="0"/>
          <a:p>
            <a:pPr>
              <a:lnSpc>
                <a:spcPct val="130000"/>
              </a:lnSpc>
            </a:pPr>
            <a:r>
              <a:rPr lang="zh-CN" sz="975" b="1">
                <a:solidFill>
                  <a:srgbClr val="3A4050"/>
                </a:solidFill>
                <a:latin typeface="Microsoft YaHei"/>
                <a:ea typeface="Microsoft YaHei"/>
              </a:rPr>
              <a:t>合同管理</a:t>
            </a:r>
            <a:endParaRPr/>
          </a:p>
        </p:txBody>
      </p:sp>
      <p:sp>
        <p:nvSpPr>
          <p:cNvPr id="232" name="" descr="{&quot;isTemplate&quot;:true,&quot;type&quot;:&quot;text&quot;}"/>
          <p:cNvSpPr txBox="1"/>
          <p:nvPr/>
        </p:nvSpPr>
        <p:spPr>
          <a:xfrm rot="0" flipH="0" flipV="0">
            <a:off x="4886325" y="2476500"/>
            <a:ext cx="1190625" cy="200025"/>
          </a:xfrm>
          <a:prstGeom prst="rect"/>
        </p:spPr>
        <p:txBody>
          <a:bodyPr wrap="none" lIns="0" tIns="0" rIns="0" bIns="0"/>
          <a:p>
            <a:pPr>
              <a:lnSpc>
                <a:spcPct val="130000"/>
              </a:lnSpc>
            </a:pPr>
            <a:r>
              <a:rPr lang="zh-CN" sz="975">
                <a:solidFill>
                  <a:srgbClr val="3A4050"/>
                </a:solidFill>
                <a:latin typeface="Microsoft YaHei"/>
                <a:ea typeface="Microsoft YaHei"/>
              </a:rPr>
              <a:t>合同管理部</a:t>
            </a:r>
            <a:endParaRPr/>
          </a:p>
        </p:txBody>
      </p:sp>
      <p:sp>
        <p:nvSpPr>
          <p:cNvPr id="233" name="" descr="{&quot;isTemplate&quot;:true,&quot;type&quot;:&quot;text&quot;}"/>
          <p:cNvSpPr txBox="1"/>
          <p:nvPr/>
        </p:nvSpPr>
        <p:spPr>
          <a:xfrm rot="0" flipH="0" flipV="0">
            <a:off x="6076950" y="2476500"/>
            <a:ext cx="1181100" cy="200025"/>
          </a:xfrm>
          <a:prstGeom prst="rect"/>
        </p:spPr>
        <p:txBody>
          <a:bodyPr wrap="none" lIns="0" tIns="0" rIns="0" bIns="0"/>
          <a:p>
            <a:pPr>
              <a:lnSpc>
                <a:spcPct val="130000"/>
              </a:lnSpc>
            </a:pPr>
            <a:r>
              <a:rPr lang="zh-CN" sz="975">
                <a:solidFill>
                  <a:srgbClr val="3A4050"/>
                </a:solidFill>
                <a:latin typeface="Microsoft YaHei"/>
                <a:ea typeface="Microsoft YaHei"/>
              </a:rPr>
              <a:t>生效</a:t>
            </a:r>
            <a:endParaRPr/>
          </a:p>
        </p:txBody>
      </p:sp>
      <p:sp>
        <p:nvSpPr>
          <p:cNvPr id="234" name=""/>
          <p:cNvSpPr/>
          <p:nvPr/>
        </p:nvSpPr>
        <p:spPr>
          <a:xfrm rot="0" flipH="0" flipV="0">
            <a:off x="609600" y="2762250"/>
            <a:ext cx="6781800" cy="561975"/>
          </a:xfrm>
          <a:prstGeom prst="rect">
            <a:avLst/>
          </a:prstGeom>
          <a:solidFill>
            <a:srgbClr val="FFFFFF"/>
          </a:solidFill>
          <a:ln/>
        </p:spPr>
        <p:txBody>
          <a:bodyPr/>
          <a:p>
            <a:pPr/>
            <a:endParaRPr/>
          </a:p>
        </p:txBody>
      </p:sp>
      <p:sp>
        <p:nvSpPr>
          <p:cNvPr id="235" name="" descr="{&quot;isTemplate&quot;:true,&quot;type&quot;:&quot;text&quot;}"/>
          <p:cNvSpPr txBox="1"/>
          <p:nvPr/>
        </p:nvSpPr>
        <p:spPr>
          <a:xfrm rot="0" flipH="0" flipV="0">
            <a:off x="742950" y="2943225"/>
            <a:ext cx="1181100" cy="200025"/>
          </a:xfrm>
          <a:prstGeom prst="rect"/>
        </p:spPr>
        <p:txBody>
          <a:bodyPr wrap="none" lIns="0" tIns="0" rIns="0" bIns="0"/>
          <a:p>
            <a:pPr>
              <a:lnSpc>
                <a:spcPct val="130000"/>
              </a:lnSpc>
            </a:pPr>
            <a:r>
              <a:rPr lang="en-US" sz="975" b="1">
                <a:solidFill>
                  <a:srgbClr val="FA4F24"/>
                </a:solidFill>
                <a:latin typeface="Microsoft YaHei"/>
                <a:ea typeface="Microsoft YaHei"/>
              </a:rPr>
              <a:t>L3</a:t>
            </a:r>
            <a:endParaRPr/>
          </a:p>
        </p:txBody>
      </p:sp>
      <p:sp>
        <p:nvSpPr>
          <p:cNvPr id="236" name="" descr="{&quot;isTemplate&quot;:true,&quot;type&quot;:&quot;text&quot;}"/>
          <p:cNvSpPr txBox="1"/>
          <p:nvPr/>
        </p:nvSpPr>
        <p:spPr>
          <a:xfrm rot="0" flipH="0" flipV="0">
            <a:off x="1924050" y="2943225"/>
            <a:ext cx="1190625" cy="200025"/>
          </a:xfrm>
          <a:prstGeom prst="rect"/>
        </p:spPr>
        <p:txBody>
          <a:bodyPr wrap="none" lIns="0" tIns="0" rIns="0" bIns="0"/>
          <a:p>
            <a:pPr>
              <a:lnSpc>
                <a:spcPct val="130000"/>
              </a:lnSpc>
            </a:pPr>
            <a:r>
              <a:rPr lang="en-US" sz="975">
                <a:solidFill>
                  <a:srgbClr val="3A4050"/>
                </a:solidFill>
                <a:latin typeface="Microsoft YaHei"/>
                <a:ea typeface="Microsoft YaHei"/>
              </a:rPr>
              <a:t>BO-CON-001</a:t>
            </a:r>
            <a:endParaRPr/>
          </a:p>
        </p:txBody>
      </p:sp>
      <p:sp>
        <p:nvSpPr>
          <p:cNvPr id="237" name="" descr="{&quot;isTemplate&quot;:true,&quot;type&quot;:&quot;text&quot;}"/>
          <p:cNvSpPr txBox="1"/>
          <p:nvPr/>
        </p:nvSpPr>
        <p:spPr>
          <a:xfrm rot="0" flipH="0" flipV="0">
            <a:off x="3114675" y="2943225"/>
            <a:ext cx="1771650" cy="200025"/>
          </a:xfrm>
          <a:prstGeom prst="rect"/>
        </p:spPr>
        <p:txBody>
          <a:bodyPr wrap="none" lIns="0" tIns="0" rIns="0" bIns="0"/>
          <a:p>
            <a:pPr>
              <a:lnSpc>
                <a:spcPct val="130000"/>
              </a:lnSpc>
            </a:pPr>
            <a:r>
              <a:rPr lang="zh-CN" sz="975" b="1">
                <a:solidFill>
                  <a:srgbClr val="3A4050"/>
                </a:solidFill>
                <a:latin typeface="Microsoft YaHei"/>
                <a:ea typeface="Microsoft YaHei"/>
              </a:rPr>
              <a:t>客户合同</a:t>
            </a:r>
            <a:endParaRPr/>
          </a:p>
        </p:txBody>
      </p:sp>
      <p:sp>
        <p:nvSpPr>
          <p:cNvPr id="238" name="" descr="{&quot;isTemplate&quot;:true,&quot;type&quot;:&quot;text&quot;}"/>
          <p:cNvSpPr txBox="1"/>
          <p:nvPr/>
        </p:nvSpPr>
        <p:spPr>
          <a:xfrm rot="0" flipH="0" flipV="0">
            <a:off x="4886325" y="2847975"/>
            <a:ext cx="1190625" cy="390525"/>
          </a:xfrm>
          <a:prstGeom prst="rect"/>
        </p:spPr>
        <p:txBody>
          <a:bodyPr wrap="square" lIns="0" tIns="0" rIns="0" bIns="0">
            <a:normAutofit/>
          </a:bodyPr>
          <a:p>
            <a:pPr>
              <a:lnSpc>
                <a:spcPct val="130000"/>
              </a:lnSpc>
            </a:pPr>
            <a:r>
              <a:rPr lang="zh-CN" sz="975">
                <a:solidFill>
                  <a:srgbClr val="3A4050"/>
                </a:solidFill>
                <a:latin typeface="Microsoft YaHei"/>
                <a:ea typeface="Microsoft YaHei"/>
              </a:rPr>
              <a:t>合同管理部（</a:t>
            </a:r>
            <a:r>
              <a:rPr lang="en-US" sz="975">
                <a:solidFill>
                  <a:srgbClr val="3A4050"/>
                </a:solidFill>
                <a:latin typeface="Microsoft YaHei"/>
                <a:ea typeface="Microsoft YaHei"/>
              </a:rPr>
              <a:t>Owner</a:t>
            </a:r>
            <a:r>
              <a:rPr lang="zh-CN" sz="975">
                <a:solidFill>
                  <a:srgbClr val="3A4050"/>
                </a:solidFill>
                <a:latin typeface="Microsoft YaHei"/>
                <a:ea typeface="Microsoft YaHei"/>
              </a:rPr>
              <a:t>）</a:t>
            </a:r>
            <a:endParaRPr/>
          </a:p>
        </p:txBody>
      </p:sp>
      <p:sp>
        <p:nvSpPr>
          <p:cNvPr id="239" name="" descr="{&quot;isTemplate&quot;:true,&quot;type&quot;:&quot;text&quot;}"/>
          <p:cNvSpPr txBox="1"/>
          <p:nvPr/>
        </p:nvSpPr>
        <p:spPr>
          <a:xfrm rot="0" flipH="0" flipV="0">
            <a:off x="6076950" y="2943225"/>
            <a:ext cx="1181100" cy="200025"/>
          </a:xfrm>
          <a:prstGeom prst="rect"/>
        </p:spPr>
        <p:txBody>
          <a:bodyPr wrap="none" lIns="0" tIns="0" rIns="0" bIns="0"/>
          <a:p>
            <a:pPr>
              <a:lnSpc>
                <a:spcPct val="130000"/>
              </a:lnSpc>
            </a:pPr>
            <a:r>
              <a:rPr lang="zh-CN" sz="975">
                <a:solidFill>
                  <a:srgbClr val="3A4050"/>
                </a:solidFill>
                <a:latin typeface="Microsoft YaHei"/>
                <a:ea typeface="Microsoft YaHei"/>
              </a:rPr>
              <a:t>生效</a:t>
            </a:r>
            <a:endParaRPr/>
          </a:p>
        </p:txBody>
      </p:sp>
      <p:sp>
        <p:nvSpPr>
          <p:cNvPr id="240" name=""/>
          <p:cNvSpPr/>
          <p:nvPr/>
        </p:nvSpPr>
        <p:spPr>
          <a:xfrm rot="0" flipH="0" flipV="0">
            <a:off x="609600" y="3324225"/>
            <a:ext cx="6781800" cy="561975"/>
          </a:xfrm>
          <a:prstGeom prst="rect">
            <a:avLst/>
          </a:prstGeom>
          <a:solidFill>
            <a:srgbClr val="F7F7F8"/>
          </a:solidFill>
          <a:ln/>
        </p:spPr>
        <p:txBody>
          <a:bodyPr/>
          <a:p>
            <a:pPr/>
            <a:endParaRPr/>
          </a:p>
        </p:txBody>
      </p:sp>
      <p:sp>
        <p:nvSpPr>
          <p:cNvPr id="241" name="" descr="{&quot;isTemplate&quot;:true,&quot;type&quot;:&quot;text&quot;}"/>
          <p:cNvSpPr txBox="1"/>
          <p:nvPr/>
        </p:nvSpPr>
        <p:spPr>
          <a:xfrm rot="0" flipH="0" flipV="0">
            <a:off x="742950" y="3505200"/>
            <a:ext cx="1181100" cy="200025"/>
          </a:xfrm>
          <a:prstGeom prst="rect"/>
        </p:spPr>
        <p:txBody>
          <a:bodyPr wrap="none" lIns="0" tIns="0" rIns="0" bIns="0"/>
          <a:p>
            <a:pPr>
              <a:lnSpc>
                <a:spcPct val="130000"/>
              </a:lnSpc>
            </a:pPr>
            <a:r>
              <a:rPr lang="en-US" sz="975" b="1">
                <a:solidFill>
                  <a:srgbClr val="FA4F24"/>
                </a:solidFill>
                <a:latin typeface="Microsoft YaHei"/>
                <a:ea typeface="Microsoft YaHei"/>
              </a:rPr>
              <a:t>L3</a:t>
            </a:r>
            <a:endParaRPr/>
          </a:p>
        </p:txBody>
      </p:sp>
      <p:sp>
        <p:nvSpPr>
          <p:cNvPr id="242" name="" descr="{&quot;isTemplate&quot;:true,&quot;type&quot;:&quot;text&quot;}"/>
          <p:cNvSpPr txBox="1"/>
          <p:nvPr/>
        </p:nvSpPr>
        <p:spPr>
          <a:xfrm rot="0" flipH="0" flipV="0">
            <a:off x="1924050" y="3505200"/>
            <a:ext cx="1190625" cy="200025"/>
          </a:xfrm>
          <a:prstGeom prst="rect"/>
        </p:spPr>
        <p:txBody>
          <a:bodyPr wrap="none" lIns="0" tIns="0" rIns="0" bIns="0"/>
          <a:p>
            <a:pPr>
              <a:lnSpc>
                <a:spcPct val="130000"/>
              </a:lnSpc>
            </a:pPr>
            <a:r>
              <a:rPr lang="en-US" sz="975">
                <a:solidFill>
                  <a:srgbClr val="3A4050"/>
                </a:solidFill>
                <a:latin typeface="Microsoft YaHei"/>
                <a:ea typeface="Microsoft YaHei"/>
              </a:rPr>
              <a:t>BO-CUST-002</a:t>
            </a:r>
            <a:endParaRPr/>
          </a:p>
        </p:txBody>
      </p:sp>
      <p:sp>
        <p:nvSpPr>
          <p:cNvPr id="243" name="" descr="{&quot;isTemplate&quot;:true,&quot;type&quot;:&quot;text&quot;}"/>
          <p:cNvSpPr txBox="1"/>
          <p:nvPr/>
        </p:nvSpPr>
        <p:spPr>
          <a:xfrm rot="0" flipH="0" flipV="0">
            <a:off x="3114675" y="3505200"/>
            <a:ext cx="1771650" cy="200025"/>
          </a:xfrm>
          <a:prstGeom prst="rect"/>
        </p:spPr>
        <p:txBody>
          <a:bodyPr wrap="none" lIns="0" tIns="0" rIns="0" bIns="0"/>
          <a:p>
            <a:pPr>
              <a:lnSpc>
                <a:spcPct val="130000"/>
              </a:lnSpc>
            </a:pPr>
            <a:r>
              <a:rPr lang="zh-CN" sz="975" b="1">
                <a:solidFill>
                  <a:srgbClr val="3A4050"/>
                </a:solidFill>
                <a:latin typeface="Microsoft YaHei"/>
                <a:ea typeface="Microsoft YaHei"/>
              </a:rPr>
              <a:t>法人客户</a:t>
            </a:r>
            <a:endParaRPr/>
          </a:p>
        </p:txBody>
      </p:sp>
      <p:sp>
        <p:nvSpPr>
          <p:cNvPr id="244" name="" descr="{&quot;isTemplate&quot;:true,&quot;type&quot;:&quot;text&quot;}"/>
          <p:cNvSpPr txBox="1"/>
          <p:nvPr/>
        </p:nvSpPr>
        <p:spPr>
          <a:xfrm rot="0" flipH="0" flipV="0">
            <a:off x="4886325" y="3409950"/>
            <a:ext cx="1190625" cy="390525"/>
          </a:xfrm>
          <a:prstGeom prst="rect"/>
        </p:spPr>
        <p:txBody>
          <a:bodyPr wrap="square" lIns="0" tIns="0" rIns="0" bIns="0">
            <a:normAutofit/>
          </a:bodyPr>
          <a:p>
            <a:pPr>
              <a:lnSpc>
                <a:spcPct val="130000"/>
              </a:lnSpc>
            </a:pPr>
            <a:r>
              <a:rPr lang="zh-CN" sz="975">
                <a:solidFill>
                  <a:srgbClr val="3A4050"/>
                </a:solidFill>
                <a:latin typeface="Microsoft YaHei"/>
                <a:ea typeface="Microsoft YaHei"/>
              </a:rPr>
              <a:t>客户管理部（</a:t>
            </a:r>
            <a:r>
              <a:rPr lang="en-US" sz="975">
                <a:solidFill>
                  <a:srgbClr val="3A4050"/>
                </a:solidFill>
                <a:latin typeface="Microsoft YaHei"/>
                <a:ea typeface="Microsoft YaHei"/>
              </a:rPr>
              <a:t>Owner</a:t>
            </a:r>
            <a:r>
              <a:rPr lang="zh-CN" sz="975">
                <a:solidFill>
                  <a:srgbClr val="3A4050"/>
                </a:solidFill>
                <a:latin typeface="Microsoft YaHei"/>
                <a:ea typeface="Microsoft YaHei"/>
              </a:rPr>
              <a:t>）</a:t>
            </a:r>
            <a:endParaRPr/>
          </a:p>
        </p:txBody>
      </p:sp>
      <p:sp>
        <p:nvSpPr>
          <p:cNvPr id="245" name="" descr="{&quot;isTemplate&quot;:true,&quot;type&quot;:&quot;text&quot;}"/>
          <p:cNvSpPr txBox="1"/>
          <p:nvPr/>
        </p:nvSpPr>
        <p:spPr>
          <a:xfrm rot="0" flipH="0" flipV="0">
            <a:off x="6076950" y="3505200"/>
            <a:ext cx="1181100" cy="200025"/>
          </a:xfrm>
          <a:prstGeom prst="rect"/>
        </p:spPr>
        <p:txBody>
          <a:bodyPr wrap="none" lIns="0" tIns="0" rIns="0" bIns="0"/>
          <a:p>
            <a:pPr>
              <a:lnSpc>
                <a:spcPct val="130000"/>
              </a:lnSpc>
            </a:pPr>
            <a:r>
              <a:rPr lang="zh-CN" sz="975">
                <a:solidFill>
                  <a:srgbClr val="3A4050"/>
                </a:solidFill>
                <a:latin typeface="Microsoft YaHei"/>
                <a:ea typeface="Microsoft YaHei"/>
              </a:rPr>
              <a:t>生效</a:t>
            </a:r>
            <a:endParaRPr/>
          </a:p>
        </p:txBody>
      </p:sp>
      <p:sp>
        <p:nvSpPr>
          <p:cNvPr id="246" name=""/>
          <p:cNvSpPr/>
          <p:nvPr/>
        </p:nvSpPr>
        <p:spPr>
          <a:xfrm rot="0" flipH="0" flipV="0">
            <a:off x="609600" y="3886200"/>
            <a:ext cx="6781800" cy="371475"/>
          </a:xfrm>
          <a:prstGeom prst="rect">
            <a:avLst/>
          </a:prstGeom>
          <a:solidFill>
            <a:srgbClr val="FFFFFF"/>
          </a:solidFill>
          <a:ln/>
        </p:spPr>
        <p:txBody>
          <a:bodyPr/>
          <a:p>
            <a:pPr/>
            <a:endParaRPr/>
          </a:p>
        </p:txBody>
      </p:sp>
      <p:sp>
        <p:nvSpPr>
          <p:cNvPr id="247" name="" descr="{&quot;isTemplate&quot;:true,&quot;type&quot;:&quot;text&quot;}"/>
          <p:cNvSpPr txBox="1"/>
          <p:nvPr/>
        </p:nvSpPr>
        <p:spPr>
          <a:xfrm rot="0" flipH="0" flipV="0">
            <a:off x="742950" y="3971925"/>
            <a:ext cx="1181100" cy="200025"/>
          </a:xfrm>
          <a:prstGeom prst="rect"/>
        </p:spPr>
        <p:txBody>
          <a:bodyPr wrap="none" lIns="0" tIns="0" rIns="0" bIns="0"/>
          <a:p>
            <a:pPr>
              <a:lnSpc>
                <a:spcPct val="130000"/>
              </a:lnSpc>
            </a:pPr>
            <a:r>
              <a:rPr lang="en-US" sz="975" b="1">
                <a:solidFill>
                  <a:srgbClr val="FA4F24"/>
                </a:solidFill>
                <a:latin typeface="Microsoft YaHei"/>
                <a:ea typeface="Microsoft YaHei"/>
              </a:rPr>
              <a:t>L4</a:t>
            </a:r>
            <a:endParaRPr/>
          </a:p>
        </p:txBody>
      </p:sp>
      <p:sp>
        <p:nvSpPr>
          <p:cNvPr id="248" name="" descr="{&quot;isTemplate&quot;:true,&quot;type&quot;:&quot;text&quot;}"/>
          <p:cNvSpPr txBox="1"/>
          <p:nvPr/>
        </p:nvSpPr>
        <p:spPr>
          <a:xfrm rot="0" flipH="0" flipV="0">
            <a:off x="1924050" y="3971925"/>
            <a:ext cx="1190625" cy="200025"/>
          </a:xfrm>
          <a:prstGeom prst="rect"/>
        </p:spPr>
        <p:txBody>
          <a:bodyPr wrap="none" lIns="0" tIns="0" rIns="0" bIns="0"/>
          <a:p>
            <a:pPr>
              <a:lnSpc>
                <a:spcPct val="130000"/>
              </a:lnSpc>
            </a:pPr>
            <a:r>
              <a:rPr lang="en-US" sz="975">
                <a:solidFill>
                  <a:srgbClr val="3A4050"/>
                </a:solidFill>
                <a:latin typeface="Microsoft YaHei"/>
                <a:ea typeface="Microsoft YaHei"/>
              </a:rPr>
              <a:t>LE-CON-BASE</a:t>
            </a:r>
            <a:endParaRPr/>
          </a:p>
        </p:txBody>
      </p:sp>
      <p:sp>
        <p:nvSpPr>
          <p:cNvPr id="249" name="" descr="{&quot;isTemplate&quot;:true,&quot;type&quot;:&quot;text&quot;}"/>
          <p:cNvSpPr txBox="1"/>
          <p:nvPr/>
        </p:nvSpPr>
        <p:spPr>
          <a:xfrm rot="0" flipH="0" flipV="0">
            <a:off x="3114675" y="3971925"/>
            <a:ext cx="1771650" cy="200025"/>
          </a:xfrm>
          <a:prstGeom prst="rect"/>
        </p:spPr>
        <p:txBody>
          <a:bodyPr wrap="none" lIns="0" tIns="0" rIns="0" bIns="0"/>
          <a:p>
            <a:pPr>
              <a:lnSpc>
                <a:spcPct val="130000"/>
              </a:lnSpc>
            </a:pPr>
            <a:r>
              <a:rPr lang="zh-CN" sz="975" b="1">
                <a:solidFill>
                  <a:srgbClr val="3A4050"/>
                </a:solidFill>
                <a:latin typeface="Microsoft YaHei"/>
                <a:ea typeface="Microsoft YaHei"/>
              </a:rPr>
              <a:t>合同基本信息</a:t>
            </a:r>
            <a:endParaRPr/>
          </a:p>
        </p:txBody>
      </p:sp>
      <p:sp>
        <p:nvSpPr>
          <p:cNvPr id="250" name="" descr="{&quot;isTemplate&quot;:true,&quot;type&quot;:&quot;text&quot;}"/>
          <p:cNvSpPr txBox="1"/>
          <p:nvPr/>
        </p:nvSpPr>
        <p:spPr>
          <a:xfrm rot="0" flipH="0" flipV="0">
            <a:off x="4886325" y="3971925"/>
            <a:ext cx="1190625" cy="200025"/>
          </a:xfrm>
          <a:prstGeom prst="rect"/>
        </p:spPr>
        <p:txBody>
          <a:bodyPr wrap="none" lIns="0" tIns="0" rIns="0" bIns="0"/>
          <a:p>
            <a:pPr>
              <a:lnSpc>
                <a:spcPct val="130000"/>
              </a:lnSpc>
            </a:pPr>
            <a:r>
              <a:rPr lang="zh-CN" sz="975">
                <a:solidFill>
                  <a:srgbClr val="3A4050"/>
                </a:solidFill>
                <a:latin typeface="Microsoft YaHei"/>
                <a:ea typeface="Microsoft YaHei"/>
              </a:rPr>
              <a:t>数据管家</a:t>
            </a:r>
            <a:endParaRPr/>
          </a:p>
        </p:txBody>
      </p:sp>
      <p:sp>
        <p:nvSpPr>
          <p:cNvPr id="251" name="" descr="{&quot;isTemplate&quot;:true,&quot;type&quot;:&quot;text&quot;}"/>
          <p:cNvSpPr txBox="1"/>
          <p:nvPr/>
        </p:nvSpPr>
        <p:spPr>
          <a:xfrm rot="0" flipH="0" flipV="0">
            <a:off x="6076950" y="3971925"/>
            <a:ext cx="1181100" cy="200025"/>
          </a:xfrm>
          <a:prstGeom prst="rect"/>
        </p:spPr>
        <p:txBody>
          <a:bodyPr wrap="none" lIns="0" tIns="0" rIns="0" bIns="0"/>
          <a:p>
            <a:pPr>
              <a:lnSpc>
                <a:spcPct val="130000"/>
              </a:lnSpc>
            </a:pPr>
            <a:r>
              <a:rPr lang="zh-CN" sz="975">
                <a:solidFill>
                  <a:srgbClr val="3A4050"/>
                </a:solidFill>
                <a:latin typeface="Microsoft YaHei"/>
                <a:ea typeface="Microsoft YaHei"/>
              </a:rPr>
              <a:t>生效</a:t>
            </a:r>
            <a:endParaRPr/>
          </a:p>
        </p:txBody>
      </p:sp>
      <p:sp>
        <p:nvSpPr>
          <p:cNvPr id="252" name=""/>
          <p:cNvSpPr/>
          <p:nvPr/>
        </p:nvSpPr>
        <p:spPr>
          <a:xfrm rot="0" flipH="0" flipV="0">
            <a:off x="609600" y="4257675"/>
            <a:ext cx="6781800" cy="371475"/>
          </a:xfrm>
          <a:prstGeom prst="rect">
            <a:avLst/>
          </a:prstGeom>
          <a:solidFill>
            <a:srgbClr val="F7F7F8"/>
          </a:solidFill>
          <a:ln/>
        </p:spPr>
        <p:txBody>
          <a:bodyPr/>
          <a:p>
            <a:pPr/>
            <a:endParaRPr/>
          </a:p>
        </p:txBody>
      </p:sp>
      <p:sp>
        <p:nvSpPr>
          <p:cNvPr id="253" name="" descr="{&quot;isTemplate&quot;:true,&quot;type&quot;:&quot;text&quot;}"/>
          <p:cNvSpPr txBox="1"/>
          <p:nvPr/>
        </p:nvSpPr>
        <p:spPr>
          <a:xfrm rot="0" flipH="0" flipV="0">
            <a:off x="742950" y="4343400"/>
            <a:ext cx="1181100" cy="200025"/>
          </a:xfrm>
          <a:prstGeom prst="rect"/>
        </p:spPr>
        <p:txBody>
          <a:bodyPr wrap="none" lIns="0" tIns="0" rIns="0" bIns="0"/>
          <a:p>
            <a:pPr>
              <a:lnSpc>
                <a:spcPct val="130000"/>
              </a:lnSpc>
            </a:pPr>
            <a:r>
              <a:rPr lang="en-US" sz="975" b="1">
                <a:solidFill>
                  <a:srgbClr val="FA4F24"/>
                </a:solidFill>
                <a:latin typeface="Microsoft YaHei"/>
                <a:ea typeface="Microsoft YaHei"/>
              </a:rPr>
              <a:t>L4</a:t>
            </a:r>
            <a:endParaRPr/>
          </a:p>
        </p:txBody>
      </p:sp>
      <p:sp>
        <p:nvSpPr>
          <p:cNvPr id="254" name="" descr="{&quot;isTemplate&quot;:true,&quot;type&quot;:&quot;text&quot;}"/>
          <p:cNvSpPr txBox="1"/>
          <p:nvPr/>
        </p:nvSpPr>
        <p:spPr>
          <a:xfrm rot="0" flipH="0" flipV="0">
            <a:off x="1924050" y="4343400"/>
            <a:ext cx="1190625" cy="200025"/>
          </a:xfrm>
          <a:prstGeom prst="rect"/>
        </p:spPr>
        <p:txBody>
          <a:bodyPr wrap="none" lIns="0" tIns="0" rIns="0" bIns="0"/>
          <a:p>
            <a:pPr>
              <a:lnSpc>
                <a:spcPct val="130000"/>
              </a:lnSpc>
            </a:pPr>
            <a:r>
              <a:rPr lang="en-US" sz="975">
                <a:solidFill>
                  <a:srgbClr val="3A4050"/>
                </a:solidFill>
                <a:latin typeface="Microsoft YaHei"/>
                <a:ea typeface="Microsoft YaHei"/>
              </a:rPr>
              <a:t>LE-CON-TERM</a:t>
            </a:r>
            <a:endParaRPr/>
          </a:p>
        </p:txBody>
      </p:sp>
      <p:sp>
        <p:nvSpPr>
          <p:cNvPr id="255" name="" descr="{&quot;isTemplate&quot;:true,&quot;type&quot;:&quot;text&quot;}"/>
          <p:cNvSpPr txBox="1"/>
          <p:nvPr/>
        </p:nvSpPr>
        <p:spPr>
          <a:xfrm rot="0" flipH="0" flipV="0">
            <a:off x="3114675" y="4343400"/>
            <a:ext cx="1771650" cy="200025"/>
          </a:xfrm>
          <a:prstGeom prst="rect"/>
        </p:spPr>
        <p:txBody>
          <a:bodyPr wrap="none" lIns="0" tIns="0" rIns="0" bIns="0"/>
          <a:p>
            <a:pPr>
              <a:lnSpc>
                <a:spcPct val="130000"/>
              </a:lnSpc>
            </a:pPr>
            <a:r>
              <a:rPr lang="zh-CN" sz="975" b="1">
                <a:solidFill>
                  <a:srgbClr val="3A4050"/>
                </a:solidFill>
                <a:latin typeface="Microsoft YaHei"/>
                <a:ea typeface="Microsoft YaHei"/>
              </a:rPr>
              <a:t>合同条款</a:t>
            </a:r>
            <a:endParaRPr/>
          </a:p>
        </p:txBody>
      </p:sp>
      <p:sp>
        <p:nvSpPr>
          <p:cNvPr id="256" name="" descr="{&quot;isTemplate&quot;:true,&quot;type&quot;:&quot;text&quot;}"/>
          <p:cNvSpPr txBox="1"/>
          <p:nvPr/>
        </p:nvSpPr>
        <p:spPr>
          <a:xfrm rot="0" flipH="0" flipV="0">
            <a:off x="4886325" y="4343400"/>
            <a:ext cx="1190625" cy="200025"/>
          </a:xfrm>
          <a:prstGeom prst="rect"/>
        </p:spPr>
        <p:txBody>
          <a:bodyPr wrap="none" lIns="0" tIns="0" rIns="0" bIns="0"/>
          <a:p>
            <a:pPr>
              <a:lnSpc>
                <a:spcPct val="130000"/>
              </a:lnSpc>
            </a:pPr>
            <a:r>
              <a:rPr lang="zh-CN" sz="975">
                <a:solidFill>
                  <a:srgbClr val="3A4050"/>
                </a:solidFill>
                <a:latin typeface="Microsoft YaHei"/>
                <a:ea typeface="Microsoft YaHei"/>
              </a:rPr>
              <a:t>数据管家</a:t>
            </a:r>
            <a:endParaRPr/>
          </a:p>
        </p:txBody>
      </p:sp>
      <p:sp>
        <p:nvSpPr>
          <p:cNvPr id="257" name="" descr="{&quot;isTemplate&quot;:true,&quot;type&quot;:&quot;text&quot;}"/>
          <p:cNvSpPr txBox="1"/>
          <p:nvPr/>
        </p:nvSpPr>
        <p:spPr>
          <a:xfrm rot="0" flipH="0" flipV="0">
            <a:off x="6076950" y="4343400"/>
            <a:ext cx="1181100" cy="200025"/>
          </a:xfrm>
          <a:prstGeom prst="rect"/>
        </p:spPr>
        <p:txBody>
          <a:bodyPr wrap="none" lIns="0" tIns="0" rIns="0" bIns="0"/>
          <a:p>
            <a:pPr>
              <a:lnSpc>
                <a:spcPct val="130000"/>
              </a:lnSpc>
            </a:pPr>
            <a:r>
              <a:rPr lang="zh-CN" sz="975">
                <a:solidFill>
                  <a:srgbClr val="3A4050"/>
                </a:solidFill>
                <a:latin typeface="Microsoft YaHei"/>
                <a:ea typeface="Microsoft YaHei"/>
              </a:rPr>
              <a:t>生效</a:t>
            </a:r>
            <a:endParaRPr/>
          </a:p>
        </p:txBody>
      </p:sp>
      <p:sp>
        <p:nvSpPr>
          <p:cNvPr id="258" name=""/>
          <p:cNvSpPr/>
          <p:nvPr/>
        </p:nvSpPr>
        <p:spPr>
          <a:xfrm rot="0" flipH="0" flipV="0">
            <a:off x="609600" y="4629150"/>
            <a:ext cx="6781800" cy="371475"/>
          </a:xfrm>
          <a:prstGeom prst="rect">
            <a:avLst/>
          </a:prstGeom>
          <a:solidFill>
            <a:srgbClr val="FFFFFF"/>
          </a:solidFill>
          <a:ln/>
        </p:spPr>
        <p:txBody>
          <a:bodyPr/>
          <a:p>
            <a:pPr/>
            <a:endParaRPr/>
          </a:p>
        </p:txBody>
      </p:sp>
      <p:sp>
        <p:nvSpPr>
          <p:cNvPr id="259" name="" descr="{&quot;isTemplate&quot;:true,&quot;type&quot;:&quot;text&quot;}"/>
          <p:cNvSpPr txBox="1"/>
          <p:nvPr/>
        </p:nvSpPr>
        <p:spPr>
          <a:xfrm rot="0" flipH="0" flipV="0">
            <a:off x="742950" y="4714875"/>
            <a:ext cx="1181100" cy="200025"/>
          </a:xfrm>
          <a:prstGeom prst="rect"/>
        </p:spPr>
        <p:txBody>
          <a:bodyPr wrap="none" lIns="0" tIns="0" rIns="0" bIns="0"/>
          <a:p>
            <a:pPr>
              <a:lnSpc>
                <a:spcPct val="130000"/>
              </a:lnSpc>
            </a:pPr>
            <a:r>
              <a:rPr lang="en-US" sz="975" b="1">
                <a:solidFill>
                  <a:srgbClr val="FA4F24"/>
                </a:solidFill>
                <a:latin typeface="Microsoft YaHei"/>
                <a:ea typeface="Microsoft YaHei"/>
              </a:rPr>
              <a:t>L5</a:t>
            </a:r>
            <a:endParaRPr/>
          </a:p>
        </p:txBody>
      </p:sp>
      <p:sp>
        <p:nvSpPr>
          <p:cNvPr id="260" name="" descr="{&quot;isTemplate&quot;:true,&quot;type&quot;:&quot;text&quot;}"/>
          <p:cNvSpPr txBox="1"/>
          <p:nvPr/>
        </p:nvSpPr>
        <p:spPr>
          <a:xfrm rot="0" flipH="0" flipV="0">
            <a:off x="1924050" y="4714875"/>
            <a:ext cx="1190625" cy="200025"/>
          </a:xfrm>
          <a:prstGeom prst="rect"/>
        </p:spPr>
        <p:txBody>
          <a:bodyPr wrap="none" lIns="0" tIns="0" rIns="0" bIns="0"/>
          <a:p>
            <a:pPr>
              <a:lnSpc>
                <a:spcPct val="130000"/>
              </a:lnSpc>
            </a:pPr>
            <a:r>
              <a:rPr lang="en-US" sz="975">
                <a:solidFill>
                  <a:srgbClr val="3A4050"/>
                </a:solidFill>
                <a:latin typeface="Microsoft YaHei"/>
                <a:ea typeface="Microsoft YaHei"/>
              </a:rPr>
              <a:t>AT-CON-CODE</a:t>
            </a:r>
            <a:endParaRPr/>
          </a:p>
        </p:txBody>
      </p:sp>
      <p:sp>
        <p:nvSpPr>
          <p:cNvPr id="261" name="" descr="{&quot;isTemplate&quot;:true,&quot;type&quot;:&quot;text&quot;}"/>
          <p:cNvSpPr txBox="1"/>
          <p:nvPr/>
        </p:nvSpPr>
        <p:spPr>
          <a:xfrm rot="0" flipH="0" flipV="0">
            <a:off x="3114675" y="4714875"/>
            <a:ext cx="1771650" cy="200025"/>
          </a:xfrm>
          <a:prstGeom prst="rect"/>
        </p:spPr>
        <p:txBody>
          <a:bodyPr wrap="none" lIns="0" tIns="0" rIns="0" bIns="0"/>
          <a:p>
            <a:pPr>
              <a:lnSpc>
                <a:spcPct val="130000"/>
              </a:lnSpc>
            </a:pPr>
            <a:r>
              <a:rPr lang="zh-CN" sz="975" b="1">
                <a:solidFill>
                  <a:srgbClr val="3A4050"/>
                </a:solidFill>
                <a:latin typeface="Microsoft YaHei"/>
                <a:ea typeface="Microsoft YaHei"/>
              </a:rPr>
              <a:t>合同编号</a:t>
            </a:r>
            <a:endParaRPr/>
          </a:p>
        </p:txBody>
      </p:sp>
      <p:sp>
        <p:nvSpPr>
          <p:cNvPr id="262" name="" descr="{&quot;isTemplate&quot;:true,&quot;type&quot;:&quot;text&quot;}"/>
          <p:cNvSpPr txBox="1"/>
          <p:nvPr/>
        </p:nvSpPr>
        <p:spPr>
          <a:xfrm rot="0" flipH="0" flipV="0">
            <a:off x="4886325" y="4714875"/>
            <a:ext cx="1190625" cy="200025"/>
          </a:xfrm>
          <a:prstGeom prst="rect"/>
        </p:spPr>
        <p:txBody>
          <a:bodyPr wrap="none" lIns="0" tIns="0" rIns="0" bIns="0"/>
          <a:p>
            <a:pPr>
              <a:lnSpc>
                <a:spcPct val="130000"/>
              </a:lnSpc>
            </a:pPr>
            <a:r>
              <a:rPr lang="zh-CN" sz="975">
                <a:solidFill>
                  <a:srgbClr val="3A4050"/>
                </a:solidFill>
                <a:latin typeface="Microsoft YaHei"/>
                <a:ea typeface="Microsoft YaHei"/>
              </a:rPr>
              <a:t>数据管家</a:t>
            </a:r>
            <a:endParaRPr/>
          </a:p>
        </p:txBody>
      </p:sp>
      <p:sp>
        <p:nvSpPr>
          <p:cNvPr id="263" name="" descr="{&quot;isTemplate&quot;:true,&quot;type&quot;:&quot;text&quot;}"/>
          <p:cNvSpPr txBox="1"/>
          <p:nvPr/>
        </p:nvSpPr>
        <p:spPr>
          <a:xfrm rot="0" flipH="0" flipV="0">
            <a:off x="6076950" y="4714875"/>
            <a:ext cx="1181100" cy="200025"/>
          </a:xfrm>
          <a:prstGeom prst="rect"/>
        </p:spPr>
        <p:txBody>
          <a:bodyPr wrap="none" lIns="0" tIns="0" rIns="0" bIns="0"/>
          <a:p>
            <a:pPr>
              <a:lnSpc>
                <a:spcPct val="130000"/>
              </a:lnSpc>
            </a:pPr>
            <a:r>
              <a:rPr lang="zh-CN" sz="975">
                <a:solidFill>
                  <a:srgbClr val="3A4050"/>
                </a:solidFill>
                <a:latin typeface="Microsoft YaHei"/>
                <a:ea typeface="Microsoft YaHei"/>
              </a:rPr>
              <a:t>生效</a:t>
            </a:r>
            <a:endParaRPr/>
          </a:p>
        </p:txBody>
      </p:sp>
      <p:sp>
        <p:nvSpPr>
          <p:cNvPr id="264" name=""/>
          <p:cNvSpPr/>
          <p:nvPr/>
        </p:nvSpPr>
        <p:spPr>
          <a:xfrm rot="0" flipH="0" flipV="0">
            <a:off x="609600" y="5000625"/>
            <a:ext cx="6781800" cy="371475"/>
          </a:xfrm>
          <a:prstGeom prst="rect">
            <a:avLst/>
          </a:prstGeom>
          <a:solidFill>
            <a:srgbClr val="F7F7F8"/>
          </a:solidFill>
          <a:ln/>
        </p:spPr>
        <p:txBody>
          <a:bodyPr/>
          <a:p>
            <a:pPr/>
            <a:endParaRPr/>
          </a:p>
        </p:txBody>
      </p:sp>
      <p:sp>
        <p:nvSpPr>
          <p:cNvPr id="265" name="" descr="{&quot;isTemplate&quot;:true,&quot;type&quot;:&quot;text&quot;}"/>
          <p:cNvSpPr txBox="1"/>
          <p:nvPr/>
        </p:nvSpPr>
        <p:spPr>
          <a:xfrm rot="0" flipH="0" flipV="0">
            <a:off x="742950" y="5086350"/>
            <a:ext cx="1181100" cy="200025"/>
          </a:xfrm>
          <a:prstGeom prst="rect"/>
        </p:spPr>
        <p:txBody>
          <a:bodyPr wrap="none" lIns="0" tIns="0" rIns="0" bIns="0"/>
          <a:p>
            <a:pPr>
              <a:lnSpc>
                <a:spcPct val="130000"/>
              </a:lnSpc>
            </a:pPr>
            <a:r>
              <a:rPr lang="en-US" sz="975" b="1">
                <a:solidFill>
                  <a:srgbClr val="FA4F24"/>
                </a:solidFill>
                <a:latin typeface="Microsoft YaHei"/>
                <a:ea typeface="Microsoft YaHei"/>
              </a:rPr>
              <a:t>L5</a:t>
            </a:r>
            <a:endParaRPr/>
          </a:p>
        </p:txBody>
      </p:sp>
      <p:sp>
        <p:nvSpPr>
          <p:cNvPr id="266" name="" descr="{&quot;isTemplate&quot;:true,&quot;type&quot;:&quot;text&quot;}"/>
          <p:cNvSpPr txBox="1"/>
          <p:nvPr/>
        </p:nvSpPr>
        <p:spPr>
          <a:xfrm rot="0" flipH="0" flipV="0">
            <a:off x="1924050" y="5086350"/>
            <a:ext cx="1190625" cy="200025"/>
          </a:xfrm>
          <a:prstGeom prst="rect"/>
        </p:spPr>
        <p:txBody>
          <a:bodyPr wrap="none" lIns="0" tIns="0" rIns="0" bIns="0"/>
          <a:p>
            <a:pPr>
              <a:lnSpc>
                <a:spcPct val="130000"/>
              </a:lnSpc>
            </a:pPr>
            <a:r>
              <a:rPr lang="en-US" sz="975">
                <a:solidFill>
                  <a:srgbClr val="3A4050"/>
                </a:solidFill>
                <a:latin typeface="Microsoft YaHei"/>
                <a:ea typeface="Microsoft YaHei"/>
              </a:rPr>
              <a:t>AT-CON-AMT</a:t>
            </a:r>
            <a:endParaRPr/>
          </a:p>
        </p:txBody>
      </p:sp>
      <p:sp>
        <p:nvSpPr>
          <p:cNvPr id="267" name="" descr="{&quot;isTemplate&quot;:true,&quot;type&quot;:&quot;text&quot;}"/>
          <p:cNvSpPr txBox="1"/>
          <p:nvPr/>
        </p:nvSpPr>
        <p:spPr>
          <a:xfrm rot="0" flipH="0" flipV="0">
            <a:off x="3114675" y="5086350"/>
            <a:ext cx="1771650" cy="200025"/>
          </a:xfrm>
          <a:prstGeom prst="rect"/>
        </p:spPr>
        <p:txBody>
          <a:bodyPr wrap="none" lIns="0" tIns="0" rIns="0" bIns="0"/>
          <a:p>
            <a:pPr>
              <a:lnSpc>
                <a:spcPct val="130000"/>
              </a:lnSpc>
            </a:pPr>
            <a:r>
              <a:rPr lang="zh-CN" sz="975" b="1">
                <a:solidFill>
                  <a:srgbClr val="3A4050"/>
                </a:solidFill>
                <a:latin typeface="Microsoft YaHei"/>
                <a:ea typeface="Microsoft YaHei"/>
              </a:rPr>
              <a:t>合同金额</a:t>
            </a:r>
            <a:endParaRPr/>
          </a:p>
        </p:txBody>
      </p:sp>
      <p:sp>
        <p:nvSpPr>
          <p:cNvPr id="268" name="" descr="{&quot;isTemplate&quot;:true,&quot;type&quot;:&quot;text&quot;}"/>
          <p:cNvSpPr txBox="1"/>
          <p:nvPr/>
        </p:nvSpPr>
        <p:spPr>
          <a:xfrm rot="0" flipH="0" flipV="0">
            <a:off x="4886325" y="5086350"/>
            <a:ext cx="1190625" cy="200025"/>
          </a:xfrm>
          <a:prstGeom prst="rect"/>
        </p:spPr>
        <p:txBody>
          <a:bodyPr wrap="none" lIns="0" tIns="0" rIns="0" bIns="0"/>
          <a:p>
            <a:pPr>
              <a:lnSpc>
                <a:spcPct val="130000"/>
              </a:lnSpc>
            </a:pPr>
            <a:r>
              <a:rPr lang="zh-CN" sz="975">
                <a:solidFill>
                  <a:srgbClr val="3A4050"/>
                </a:solidFill>
                <a:latin typeface="Microsoft YaHei"/>
                <a:ea typeface="Microsoft YaHei"/>
              </a:rPr>
              <a:t>数据管家</a:t>
            </a:r>
            <a:endParaRPr/>
          </a:p>
        </p:txBody>
      </p:sp>
      <p:sp>
        <p:nvSpPr>
          <p:cNvPr id="269" name="" descr="{&quot;isTemplate&quot;:true,&quot;type&quot;:&quot;text&quot;}"/>
          <p:cNvSpPr txBox="1"/>
          <p:nvPr/>
        </p:nvSpPr>
        <p:spPr>
          <a:xfrm rot="0" flipH="0" flipV="0">
            <a:off x="6076950" y="5086350"/>
            <a:ext cx="1181100" cy="200025"/>
          </a:xfrm>
          <a:prstGeom prst="rect"/>
        </p:spPr>
        <p:txBody>
          <a:bodyPr wrap="none" lIns="0" tIns="0" rIns="0" bIns="0"/>
          <a:p>
            <a:pPr>
              <a:lnSpc>
                <a:spcPct val="130000"/>
              </a:lnSpc>
            </a:pPr>
            <a:r>
              <a:rPr lang="zh-CN" sz="975">
                <a:solidFill>
                  <a:srgbClr val="3A4050"/>
                </a:solidFill>
                <a:latin typeface="Microsoft YaHei"/>
                <a:ea typeface="Microsoft YaHei"/>
              </a:rPr>
              <a:t>生效</a:t>
            </a:r>
            <a:endParaRPr/>
          </a:p>
        </p:txBody>
      </p:sp>
      <p:sp>
        <p:nvSpPr>
          <p:cNvPr id="270" name=""/>
          <p:cNvSpPr/>
          <p:nvPr/>
        </p:nvSpPr>
        <p:spPr>
          <a:xfrm rot="0" flipH="0" flipV="0">
            <a:off x="7620000" y="1362075"/>
            <a:ext cx="4000500" cy="838200"/>
          </a:xfrm>
          <a:prstGeom prst="roundRect">
            <a:avLst>
              <a:gd name="adj" fmla="val 4545"/>
            </a:avLst>
          </a:prstGeom>
          <a:solidFill>
            <a:srgbClr val="F7F7F8"/>
          </a:solidFill>
          <a:ln/>
        </p:spPr>
        <p:txBody>
          <a:bodyPr/>
          <a:p>
            <a:pPr/>
            <a:endParaRPr/>
          </a:p>
        </p:txBody>
      </p:sp>
      <p:sp>
        <p:nvSpPr>
          <p:cNvPr id="271" name=""/>
          <p:cNvSpPr/>
          <p:nvPr/>
        </p:nvSpPr>
        <p:spPr>
          <a:xfrm rot="0" flipH="0" flipV="0">
            <a:off x="7620000" y="1362075"/>
            <a:ext cx="4000500" cy="838200"/>
          </a:xfrm>
          <a:custGeom>
            <a:pathLst>
              <a:path w="420" h="88">
                <a:moveTo>
                  <a:pt x="4" y="88"/>
                </a:moveTo>
                <a:cubicBezTo>
                  <a:pt x="2" y="88"/>
                  <a:pt x="0" y="86"/>
                  <a:pt x="0" y="84"/>
                </a:cubicBezTo>
                <a:lnTo>
                  <a:pt x="0" y="4"/>
                </a:lnTo>
                <a:cubicBezTo>
                  <a:pt x="0" y="2"/>
                  <a:pt x="2" y="0"/>
                  <a:pt x="4" y="0"/>
                </a:cubicBezTo>
                <a:lnTo>
                  <a:pt x="4" y="88"/>
                </a:lnTo>
                <a:close/>
              </a:path>
            </a:pathLst>
          </a:custGeom>
          <a:solidFill>
            <a:srgbClr val="FA4F24"/>
          </a:solidFill>
          <a:ln/>
        </p:spPr>
        <p:txBody>
          <a:bodyPr/>
          <a:p>
            <a:pPr/>
            <a:endParaRPr/>
          </a:p>
        </p:txBody>
      </p:sp>
      <p:sp>
        <p:nvSpPr>
          <p:cNvPr id="272" name="" descr="{&quot;isTemplate&quot;:true,&quot;type&quot;:&quot;text&quot;}"/>
          <p:cNvSpPr txBox="1"/>
          <p:nvPr/>
        </p:nvSpPr>
        <p:spPr>
          <a:xfrm rot="0" flipH="0" flipV="0">
            <a:off x="7810500" y="1514475"/>
            <a:ext cx="3581400" cy="200025"/>
          </a:xfrm>
          <a:prstGeom prst="rect"/>
        </p:spPr>
        <p:txBody>
          <a:bodyPr wrap="none" lIns="0" tIns="0" rIns="0" bIns="0"/>
          <a:p>
            <a:pPr>
              <a:lnSpc>
                <a:spcPct val="100000"/>
              </a:lnSpc>
            </a:pPr>
            <a:r>
              <a:rPr lang="zh-CN" sz="1275" b="1">
                <a:solidFill>
                  <a:srgbClr val="0F1423"/>
                </a:solidFill>
                <a:latin typeface="Microsoft YaHei"/>
                <a:ea typeface="Microsoft YaHei"/>
              </a:rPr>
              <a:t>编码规范</a:t>
            </a:r>
            <a:endParaRPr/>
          </a:p>
        </p:txBody>
      </p:sp>
      <p:sp>
        <p:nvSpPr>
          <p:cNvPr id="273" name="" descr="{&quot;isTemplate&quot;:true,&quot;type&quot;:&quot;text&quot;}"/>
          <p:cNvSpPr txBox="1"/>
          <p:nvPr/>
        </p:nvSpPr>
        <p:spPr>
          <a:xfrm rot="0" flipH="0" flipV="0">
            <a:off x="7810500" y="1790700"/>
            <a:ext cx="3581400" cy="257175"/>
          </a:xfrm>
          <a:prstGeom prst="rect"/>
        </p:spPr>
        <p:txBody>
          <a:bodyPr wrap="none" lIns="0" tIns="0" rIns="0" bIns="0"/>
          <a:p>
            <a:pPr>
              <a:lnSpc>
                <a:spcPct val="155000"/>
              </a:lnSpc>
            </a:pPr>
            <a:r>
              <a:rPr lang="zh-CN" sz="1050">
                <a:solidFill>
                  <a:srgbClr val="3A4050"/>
                </a:solidFill>
                <a:latin typeface="Microsoft YaHei"/>
                <a:ea typeface="Microsoft YaHei"/>
              </a:rPr>
              <a:t>主题域</a:t>
            </a:r>
            <a:r>
              <a:rPr lang="en-US" sz="1050">
                <a:solidFill>
                  <a:srgbClr val="3A4050"/>
                </a:solidFill>
                <a:latin typeface="Microsoft YaHei"/>
                <a:ea typeface="Microsoft YaHei"/>
              </a:rPr>
              <a:t xml:space="preserve"> </a:t>
            </a:r>
            <a:r>
              <a:rPr lang="en-US" sz="1050">
                <a:solidFill>
                  <a:srgbClr val="3A4050"/>
                </a:solidFill>
                <a:latin typeface="Microsoft YaHei"/>
                <a:ea typeface="Microsoft YaHei"/>
              </a:rPr>
              <a:t>D-</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业务对象</a:t>
            </a:r>
            <a:r>
              <a:rPr lang="en-US" sz="1050">
                <a:solidFill>
                  <a:srgbClr val="3A4050"/>
                </a:solidFill>
                <a:latin typeface="Microsoft YaHei"/>
                <a:ea typeface="Microsoft YaHei"/>
              </a:rPr>
              <a:t xml:space="preserve"> </a:t>
            </a:r>
            <a:r>
              <a:rPr lang="en-US" sz="1050">
                <a:solidFill>
                  <a:srgbClr val="3A4050"/>
                </a:solidFill>
                <a:latin typeface="Microsoft YaHei"/>
                <a:ea typeface="Microsoft YaHei"/>
              </a:rPr>
              <a:t>BO-</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逻辑实体</a:t>
            </a:r>
            <a:r>
              <a:rPr lang="en-US" sz="1050">
                <a:solidFill>
                  <a:srgbClr val="3A4050"/>
                </a:solidFill>
                <a:latin typeface="Microsoft YaHei"/>
                <a:ea typeface="Microsoft YaHei"/>
              </a:rPr>
              <a:t xml:space="preserve"> </a:t>
            </a:r>
            <a:r>
              <a:rPr lang="en-US" sz="1050">
                <a:solidFill>
                  <a:srgbClr val="3A4050"/>
                </a:solidFill>
                <a:latin typeface="Microsoft YaHei"/>
                <a:ea typeface="Microsoft YaHei"/>
              </a:rPr>
              <a:t>LE-</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属性</a:t>
            </a:r>
            <a:r>
              <a:rPr lang="en-US" sz="1050">
                <a:solidFill>
                  <a:srgbClr val="3A4050"/>
                </a:solidFill>
                <a:latin typeface="Microsoft YaHei"/>
                <a:ea typeface="Microsoft YaHei"/>
              </a:rPr>
              <a:t xml:space="preserve"> </a:t>
            </a:r>
            <a:r>
              <a:rPr lang="en-US" sz="1050">
                <a:solidFill>
                  <a:srgbClr val="3A4050"/>
                </a:solidFill>
                <a:latin typeface="Microsoft YaHei"/>
                <a:ea typeface="Microsoft YaHei"/>
              </a:rPr>
              <a:t>AT-</a:t>
            </a:r>
            <a:endParaRPr/>
          </a:p>
        </p:txBody>
      </p:sp>
      <p:sp>
        <p:nvSpPr>
          <p:cNvPr id="274" name=""/>
          <p:cNvSpPr/>
          <p:nvPr/>
        </p:nvSpPr>
        <p:spPr>
          <a:xfrm rot="0" flipH="0" flipV="0">
            <a:off x="7620000" y="2324100"/>
            <a:ext cx="4000500" cy="1333500"/>
          </a:xfrm>
          <a:prstGeom prst="roundRect">
            <a:avLst>
              <a:gd name="adj" fmla="val 2857"/>
            </a:avLst>
          </a:prstGeom>
          <a:solidFill>
            <a:srgbClr val="F7F7F8"/>
          </a:solidFill>
          <a:ln/>
        </p:spPr>
        <p:txBody>
          <a:bodyPr/>
          <a:p>
            <a:pPr/>
            <a:endParaRPr/>
          </a:p>
        </p:txBody>
      </p:sp>
      <p:sp>
        <p:nvSpPr>
          <p:cNvPr id="275" name=""/>
          <p:cNvSpPr/>
          <p:nvPr/>
        </p:nvSpPr>
        <p:spPr>
          <a:xfrm rot="0" flipH="0" flipV="0">
            <a:off x="7620000" y="2324100"/>
            <a:ext cx="4000500" cy="1333500"/>
          </a:xfrm>
          <a:custGeom>
            <a:pathLst>
              <a:path w="420" h="140">
                <a:moveTo>
                  <a:pt x="4" y="140"/>
                </a:moveTo>
                <a:cubicBezTo>
                  <a:pt x="2" y="140"/>
                  <a:pt x="0" y="138"/>
                  <a:pt x="0" y="136"/>
                </a:cubicBezTo>
                <a:lnTo>
                  <a:pt x="0" y="4"/>
                </a:lnTo>
                <a:cubicBezTo>
                  <a:pt x="0" y="2"/>
                  <a:pt x="2" y="0"/>
                  <a:pt x="4" y="0"/>
                </a:cubicBezTo>
                <a:lnTo>
                  <a:pt x="4" y="140"/>
                </a:lnTo>
                <a:close/>
              </a:path>
            </a:pathLst>
          </a:custGeom>
          <a:solidFill>
            <a:srgbClr val="F87D2F"/>
          </a:solidFill>
          <a:ln/>
        </p:spPr>
        <p:txBody>
          <a:bodyPr/>
          <a:p>
            <a:pPr/>
            <a:endParaRPr/>
          </a:p>
        </p:txBody>
      </p:sp>
      <p:sp>
        <p:nvSpPr>
          <p:cNvPr id="276" name="" descr="{&quot;isTemplate&quot;:true,&quot;type&quot;:&quot;text&quot;}"/>
          <p:cNvSpPr txBox="1"/>
          <p:nvPr/>
        </p:nvSpPr>
        <p:spPr>
          <a:xfrm rot="0" flipH="0" flipV="0">
            <a:off x="7810500" y="2476500"/>
            <a:ext cx="3581400" cy="200025"/>
          </a:xfrm>
          <a:prstGeom prst="rect"/>
        </p:spPr>
        <p:txBody>
          <a:bodyPr wrap="none" lIns="0" tIns="0" rIns="0" bIns="0"/>
          <a:p>
            <a:pPr>
              <a:lnSpc>
                <a:spcPct val="100000"/>
              </a:lnSpc>
            </a:pPr>
            <a:r>
              <a:rPr lang="zh-CN" sz="1275" b="1">
                <a:solidFill>
                  <a:srgbClr val="0F1423"/>
                </a:solidFill>
                <a:latin typeface="Microsoft YaHei"/>
                <a:ea typeface="Microsoft YaHei"/>
              </a:rPr>
              <a:t>填写要求</a:t>
            </a:r>
            <a:endParaRPr/>
          </a:p>
        </p:txBody>
      </p:sp>
      <p:sp>
        <p:nvSpPr>
          <p:cNvPr id="277" name="" descr="{&quot;isTemplate&quot;:true,&quot;type&quot;:&quot;text&quot;}"/>
          <p:cNvSpPr txBox="1"/>
          <p:nvPr/>
        </p:nvSpPr>
        <p:spPr>
          <a:xfrm rot="0" flipH="0" flipV="0">
            <a:off x="7810500" y="2752725"/>
            <a:ext cx="3581400" cy="752475"/>
          </a:xfrm>
          <a:prstGeom prst="rect"/>
        </p:spPr>
        <p:txBody>
          <a:bodyPr wrap="none" lIns="0" tIns="0" rIns="0" bIns="0"/>
          <a:p>
            <a:pPr>
              <a:lnSpc>
                <a:spcPct val="155000"/>
              </a:lnSpc>
            </a:pPr>
            <a:r>
              <a:rPr lang="en-US" sz="1050">
                <a:solidFill>
                  <a:srgbClr val="3A4050"/>
                </a:solidFill>
                <a:latin typeface="Microsoft YaHei"/>
                <a:ea typeface="Microsoft YaHei"/>
              </a:rPr>
              <a:t xml:space="preserve">① </a:t>
            </a:r>
            <a:r>
              <a:rPr lang="zh-CN" sz="1050">
                <a:solidFill>
                  <a:srgbClr val="3A4050"/>
                </a:solidFill>
                <a:latin typeface="Microsoft YaHei"/>
                <a:ea typeface="Microsoft YaHei"/>
              </a:rPr>
              <a:t>编码全局唯一、终身不变；</a:t>
            </a:r>
            <a:endParaRPr/>
          </a:p>
          <a:p>
            <a:pPr>
              <a:lnSpc>
                <a:spcPct val="155000"/>
              </a:lnSpc>
            </a:pPr>
            <a:r>
              <a:rPr lang="en-US" sz="1050">
                <a:solidFill>
                  <a:srgbClr val="3A4050"/>
                </a:solidFill>
                <a:latin typeface="Microsoft YaHei"/>
                <a:ea typeface="Microsoft YaHei"/>
              </a:rPr>
              <a:t xml:space="preserve">② </a:t>
            </a:r>
            <a:r>
              <a:rPr lang="zh-CN" sz="1050">
                <a:solidFill>
                  <a:srgbClr val="3A4050"/>
                </a:solidFill>
                <a:latin typeface="Microsoft YaHei"/>
                <a:ea typeface="Microsoft YaHei"/>
              </a:rPr>
              <a:t>名称用业务统一定名，不用缩写；</a:t>
            </a:r>
            <a:endParaRPr/>
          </a:p>
          <a:p>
            <a:pPr>
              <a:lnSpc>
                <a:spcPct val="155000"/>
              </a:lnSpc>
            </a:pPr>
            <a:r>
              <a:rPr lang="en-US" sz="1050">
                <a:solidFill>
                  <a:srgbClr val="3A4050"/>
                </a:solidFill>
                <a:latin typeface="Microsoft YaHei"/>
                <a:ea typeface="Microsoft YaHei"/>
              </a:rPr>
              <a:t xml:space="preserve">③ </a:t>
            </a:r>
            <a:r>
              <a:rPr lang="zh-CN" sz="1050">
                <a:solidFill>
                  <a:srgbClr val="3A4050"/>
                </a:solidFill>
                <a:latin typeface="Microsoft YaHei"/>
                <a:ea typeface="Microsoft YaHei"/>
              </a:rPr>
              <a:t>责任主体须具体到部门，不能写「业务部门」。</a:t>
            </a:r>
            <a:endParaRPr/>
          </a:p>
        </p:txBody>
      </p:sp>
      <p:sp>
        <p:nvSpPr>
          <p:cNvPr id="278" name=""/>
          <p:cNvSpPr/>
          <p:nvPr/>
        </p:nvSpPr>
        <p:spPr>
          <a:xfrm rot="0" flipH="0" flipV="0">
            <a:off x="7581900" y="3781425"/>
            <a:ext cx="4000500" cy="1800225"/>
          </a:xfrm>
          <a:prstGeom prst="roundRect">
            <a:avLst>
              <a:gd name="adj" fmla="val 2116"/>
            </a:avLst>
          </a:prstGeom>
          <a:gradFill>
            <a:gsLst>
              <a:gs pos="0">
                <a:srgbClr val="FA4F24"/>
              </a:gs>
              <a:gs pos="100000">
                <a:srgbClr val="F87D2F"/>
              </a:gs>
            </a:gsLst>
            <a:lin ang="4200000" scaled="1"/>
          </a:gradFill>
          <a:ln/>
        </p:spPr>
        <p:txBody>
          <a:bodyPr/>
          <a:p>
            <a:pPr/>
            <a:endParaRPr/>
          </a:p>
        </p:txBody>
      </p:sp>
      <p:sp>
        <p:nvSpPr>
          <p:cNvPr id="279" name="" descr="{&quot;isTemplate&quot;:true,&quot;type&quot;:&quot;text&quot;}"/>
          <p:cNvSpPr txBox="1"/>
          <p:nvPr/>
        </p:nvSpPr>
        <p:spPr>
          <a:xfrm rot="0" flipH="0" flipV="0">
            <a:off x="7772400" y="4295775"/>
            <a:ext cx="3619500" cy="190500"/>
          </a:xfrm>
          <a:prstGeom prst="rect"/>
        </p:spPr>
        <p:txBody>
          <a:bodyPr wrap="none" lIns="0" tIns="0" rIns="0" bIns="0"/>
          <a:p>
            <a:pPr>
              <a:lnSpc>
                <a:spcPct val="100000"/>
              </a:lnSpc>
            </a:pPr>
            <a:r>
              <a:rPr lang="en-US" sz="1200" b="1">
                <a:solidFill>
                  <a:srgbClr val="FFFFFF"/>
                </a:solidFill>
                <a:latin typeface="Microsoft YaHei"/>
                <a:ea typeface="Microsoft YaHei"/>
              </a:rPr>
              <a:t xml:space="preserve">★ </a:t>
            </a:r>
            <a:r>
              <a:rPr lang="zh-CN" sz="1200" b="1">
                <a:solidFill>
                  <a:srgbClr val="FFFFFF"/>
                </a:solidFill>
                <a:latin typeface="Microsoft YaHei"/>
                <a:ea typeface="Microsoft YaHei"/>
              </a:rPr>
              <a:t>从目录到模型</a:t>
            </a:r>
            <a:endParaRPr/>
          </a:p>
        </p:txBody>
      </p:sp>
      <p:sp>
        <p:nvSpPr>
          <p:cNvPr id="280" name="" descr="{&quot;isTemplate&quot;:true,&quot;type&quot;:&quot;text&quot;}"/>
          <p:cNvSpPr txBox="1"/>
          <p:nvPr/>
        </p:nvSpPr>
        <p:spPr>
          <a:xfrm rot="0" flipH="0" flipV="0">
            <a:off x="7772400" y="4562475"/>
            <a:ext cx="3619500" cy="504825"/>
          </a:xfrm>
          <a:prstGeom prst="rect"/>
        </p:spPr>
        <p:txBody>
          <a:bodyPr wrap="square" lIns="0" tIns="0" rIns="0" bIns="0">
            <a:normAutofit/>
          </a:bodyPr>
          <a:p>
            <a:pPr>
              <a:lnSpc>
                <a:spcPct val="155000"/>
              </a:lnSpc>
            </a:pPr>
            <a:r>
              <a:rPr lang="en-US" sz="1050">
                <a:solidFill>
                  <a:srgbClr val="FFFFFF">
                    <a:alpha val="95000"/>
                  </a:srgbClr>
                </a:solidFill>
                <a:latin typeface="Microsoft YaHei"/>
                <a:ea typeface="Microsoft YaHei"/>
              </a:rPr>
              <a:t xml:space="preserve">L1/L2 </a:t>
            </a:r>
            <a:r>
              <a:rPr lang="zh-CN" sz="1050">
                <a:solidFill>
                  <a:srgbClr val="FFFFFF">
                    <a:alpha val="95000"/>
                  </a:srgbClr>
                </a:solidFill>
                <a:latin typeface="Microsoft YaHei"/>
                <a:ea typeface="Microsoft YaHei"/>
              </a:rPr>
              <a:t>沿用主题域模型，</a:t>
            </a:r>
            <a:r>
              <a:rPr lang="en-US" sz="1050">
                <a:solidFill>
                  <a:srgbClr val="FFFFFF">
                    <a:alpha val="95000"/>
                  </a:srgbClr>
                </a:solidFill>
                <a:latin typeface="Microsoft YaHei"/>
                <a:ea typeface="Microsoft YaHei"/>
              </a:rPr>
              <a:t xml:space="preserve">L3/L4 </a:t>
            </a:r>
            <a:r>
              <a:rPr lang="zh-CN" sz="1050">
                <a:solidFill>
                  <a:srgbClr val="FFFFFF">
                    <a:alpha val="95000"/>
                  </a:srgbClr>
                </a:solidFill>
                <a:latin typeface="Microsoft YaHei"/>
                <a:ea typeface="Microsoft YaHei"/>
              </a:rPr>
              <a:t>引用概念模型阶段识别的实体。</a:t>
            </a:r>
            <a:r>
              <a:rPr lang="en-US" sz="1050">
                <a:solidFill>
                  <a:srgbClr val="FFFFFF">
                    <a:alpha val="95000"/>
                  </a:srgbClr>
                </a:solidFill>
                <a:latin typeface="Microsoft YaHei"/>
                <a:ea typeface="Microsoft YaHei"/>
              </a:rPr>
              <a:t xml:space="preserve"> </a:t>
            </a:r>
            <a:r>
              <a:rPr lang="zh-CN" sz="1050">
                <a:solidFill>
                  <a:srgbClr val="FFFFFF">
                    <a:alpha val="95000"/>
                  </a:srgbClr>
                </a:solidFill>
                <a:latin typeface="Microsoft YaHei"/>
                <a:ea typeface="Microsoft YaHei"/>
              </a:rPr>
              <a:t>目录与模型共用同一套层级，才不会出现两张皮。</a:t>
            </a:r>
            <a:endParaRPr/>
          </a:p>
        </p:txBody>
      </p:sp>
      <p:sp>
        <p:nvSpPr>
          <p:cNvPr id="281" name=""/>
          <p:cNvSpPr/>
          <p:nvPr/>
        </p:nvSpPr>
        <p:spPr>
          <a:xfrm rot="0" flipH="0" flipV="0">
            <a:off x="609600" y="5943600"/>
            <a:ext cx="133350" cy="133350"/>
          </a:xfrm>
          <a:prstGeom prst="rect">
            <a:avLst/>
          </a:prstGeom>
          <a:solidFill>
            <a:srgbClr val="FA4F24"/>
          </a:solidFill>
          <a:ln/>
        </p:spPr>
        <p:txBody>
          <a:bodyPr/>
          <a:p>
            <a:pPr/>
            <a:endParaRPr/>
          </a:p>
        </p:txBody>
      </p:sp>
      <p:sp>
        <p:nvSpPr>
          <p:cNvPr id="282"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283"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15 / 30</a:t>
            </a:r>
            <a:endParaRPr/>
          </a:p>
        </p:txBody>
      </p:sp>
    </p:spTree>
  </p:cSld>
</p:sld>
</file>

<file path=ppt/slides/slide16.xml><?xml version="1.0" encoding="utf-8"?>
<p:sld xmlns:p="http://schemas.openxmlformats.org/presentationml/2006/main" xmlns:a="http://schemas.openxmlformats.org/drawingml/2006/main">
  <p:cSld>
    <p:spTree>
      <p:nvGrpSpPr>
        <p:cNvPr id="284" name=""/>
        <p:cNvGrpSpPr/>
        <p:nvPr/>
      </p:nvGrpSpPr>
      <p:grpSpPr>
        <a:xfrm>
          <a:off x="0" y="0"/>
          <a:ext cx="0" cy="0"/>
          <a:chOff x="0" y="0"/>
          <a:chExt cx="0" cy="0"/>
        </a:xfrm>
      </p:grpSpPr>
      <p:sp>
        <p:nvSpPr>
          <p:cNvPr id="285" name=""/>
          <p:cNvSpPr/>
          <p:nvPr/>
        </p:nvSpPr>
        <p:spPr>
          <a:xfrm rot="0" flipH="0" flipV="0">
            <a:off x="0" y="0"/>
            <a:ext cx="12192000" cy="6858000"/>
          </a:xfrm>
          <a:prstGeom prst="rect">
            <a:avLst/>
          </a:prstGeom>
          <a:solidFill>
            <a:srgbClr val="0F1423"/>
          </a:solidFill>
          <a:ln/>
        </p:spPr>
        <p:txBody>
          <a:bodyPr/>
          <a:p>
            <a:pPr/>
            <a:endParaRPr/>
          </a:p>
        </p:txBody>
      </p:sp>
      <p:sp>
        <p:nvSpPr>
          <p:cNvPr id="286"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a:pPr/>
            <a:endParaRPr/>
          </a:p>
        </p:txBody>
      </p:sp>
      <p:sp>
        <p:nvSpPr>
          <p:cNvPr id="287"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a:pPr/>
            <a:endParaRPr/>
          </a:p>
        </p:txBody>
      </p:sp>
      <p:sp>
        <p:nvSpPr>
          <p:cNvPr id="288" name="" descr="{&quot;isTemplate&quot;:true,&quot;type&quot;:&quot;text&quot;}"/>
          <p:cNvSpPr txBox="1"/>
          <p:nvPr/>
        </p:nvSpPr>
        <p:spPr>
          <a:xfrm rot="0" flipH="0" flipV="0">
            <a:off x="7991475" y="1047750"/>
            <a:ext cx="3533775" cy="3429000"/>
          </a:xfrm>
          <a:prstGeom prst="rect"/>
        </p:spPr>
        <p:txBody>
          <a:bodyPr wrap="none" lIns="0" tIns="0" rIns="0" bIns="0"/>
          <a:p>
            <a:pPr>
              <a:lnSpc>
                <a:spcPct val="100000"/>
              </a:lnSpc>
            </a:pPr>
            <a:r>
              <a:rPr lang="en-US" sz="22500" b="1">
                <a:solidFill>
                  <a:srgbClr val="FFFFFF">
                    <a:alpha val="8000"/>
                  </a:srgbClr>
                </a:solidFill>
                <a:latin typeface="Microsoft YaHei"/>
                <a:ea typeface="Microsoft YaHei"/>
              </a:rPr>
              <a:t>04</a:t>
            </a:r>
            <a:endParaRPr/>
          </a:p>
        </p:txBody>
      </p:sp>
      <p:sp>
        <p:nvSpPr>
          <p:cNvPr id="289" name="" descr="{&quot;isTemplate&quot;:true,&quot;type&quot;:&quot;text&quot;}"/>
          <p:cNvSpPr txBox="1"/>
          <p:nvPr/>
        </p:nvSpPr>
        <p:spPr>
          <a:xfrm rot="0" flipH="0" flipV="0">
            <a:off x="838200" y="2286000"/>
            <a:ext cx="5905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04</a:t>
            </a:r>
            <a:endParaRPr/>
          </a:p>
        </p:txBody>
      </p:sp>
      <p:sp>
        <p:nvSpPr>
          <p:cNvPr id="290" name=""/>
          <p:cNvSpPr/>
          <p:nvPr/>
        </p:nvSpPr>
        <p:spPr>
          <a:xfrm rot="0" flipH="0" flipV="0">
            <a:off x="838200" y="2667000"/>
            <a:ext cx="685800" cy="47625"/>
          </a:xfrm>
          <a:prstGeom prst="rect">
            <a:avLst/>
          </a:prstGeom>
          <a:solidFill>
            <a:srgbClr val="FA4F24"/>
          </a:solidFill>
          <a:ln/>
        </p:spPr>
        <p:txBody>
          <a:bodyPr/>
          <a:p>
            <a:pPr/>
            <a:endParaRPr/>
          </a:p>
        </p:txBody>
      </p:sp>
      <p:sp>
        <p:nvSpPr>
          <p:cNvPr id="291" name="" descr="{&quot;isTemplate&quot;:true,&quot;type&quot;:&quot;text&quot;}"/>
          <p:cNvSpPr txBox="1"/>
          <p:nvPr/>
        </p:nvSpPr>
        <p:spPr>
          <a:xfrm rot="0" flipH="0" flipV="0">
            <a:off x="838200" y="2981325"/>
            <a:ext cx="5905500" cy="790575"/>
          </a:xfrm>
          <a:prstGeom prst="rect"/>
        </p:spPr>
        <p:txBody>
          <a:bodyPr wrap="none" lIns="0" tIns="0" rIns="0" bIns="0"/>
          <a:p>
            <a:pPr>
              <a:lnSpc>
                <a:spcPct val="114999"/>
              </a:lnSpc>
            </a:pPr>
            <a:r>
              <a:rPr lang="zh-CN" sz="4500" b="1">
                <a:solidFill>
                  <a:srgbClr val="FFFFFF"/>
                </a:solidFill>
                <a:latin typeface="Microsoft YaHei"/>
                <a:ea typeface="Microsoft YaHei"/>
              </a:rPr>
              <a:t>数据标准</a:t>
            </a:r>
            <a:endParaRPr/>
          </a:p>
        </p:txBody>
      </p:sp>
      <p:sp>
        <p:nvSpPr>
          <p:cNvPr id="292" name="" descr="{&quot;isTemplate&quot;:true,&quot;type&quot;:&quot;text&quot;}"/>
          <p:cNvSpPr txBox="1"/>
          <p:nvPr/>
        </p:nvSpPr>
        <p:spPr>
          <a:xfrm rot="0" flipH="0" flipV="0">
            <a:off x="838200" y="3962400"/>
            <a:ext cx="5905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DATA STANDARD</a:t>
            </a:r>
            <a:endParaRPr/>
          </a:p>
        </p:txBody>
      </p:sp>
      <p:sp>
        <p:nvSpPr>
          <p:cNvPr id="293" name="" descr="{&quot;isTemplate&quot;:true,&quot;type&quot;:&quot;text&quot;}"/>
          <p:cNvSpPr txBox="1"/>
          <p:nvPr/>
        </p:nvSpPr>
        <p:spPr>
          <a:xfrm rot="0" flipH="0" flipV="0">
            <a:off x="838200" y="4410075"/>
            <a:ext cx="59055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三视角标准，统一业务语言与数据规则</a:t>
            </a:r>
            <a:endParaRPr/>
          </a:p>
        </p:txBody>
      </p:sp>
      <p:sp>
        <p:nvSpPr>
          <p:cNvPr id="294" name=""/>
          <p:cNvSpPr/>
          <p:nvPr/>
        </p:nvSpPr>
        <p:spPr>
          <a:xfrm rot="0" flipH="0" flipV="0">
            <a:off x="8382000" y="6105525"/>
            <a:ext cx="133350" cy="133350"/>
          </a:xfrm>
          <a:prstGeom prst="rect">
            <a:avLst/>
          </a:prstGeom>
          <a:solidFill>
            <a:srgbClr val="FA4F24"/>
          </a:solidFill>
          <a:ln/>
        </p:spPr>
        <p:txBody>
          <a:bodyPr/>
          <a:p>
            <a:pPr/>
            <a:endParaRPr/>
          </a:p>
        </p:txBody>
      </p:sp>
      <p:sp>
        <p:nvSpPr>
          <p:cNvPr id="295" name="" descr="{&quot;isTemplate&quot;:true,&quot;type&quot;:&quot;text&quot;}"/>
          <p:cNvSpPr txBox="1"/>
          <p:nvPr/>
        </p:nvSpPr>
        <p:spPr>
          <a:xfrm rot="0" flipH="0" flipV="0">
            <a:off x="8629650" y="6086475"/>
            <a:ext cx="203835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DA</a:t>
            </a:r>
            <a:r>
              <a:rPr lang="zh-CN" sz="1050">
                <a:solidFill>
                  <a:srgbClr val="FFFFFF">
                    <a:alpha val="50000"/>
                  </a:srgbClr>
                </a:solidFill>
                <a:latin typeface="Microsoft YaHei"/>
                <a:ea typeface="Microsoft YaHei"/>
              </a:rPr>
              <a:t>数据架构咨询方法论</a:t>
            </a:r>
            <a:endParaRPr/>
          </a:p>
        </p:txBody>
      </p:sp>
      <p:sp>
        <p:nvSpPr>
          <p:cNvPr id="296" name="" descr="{&quot;isTemplate&quot;:true,&quot;type&quot;:&quot;text&quot;}"/>
          <p:cNvSpPr txBox="1"/>
          <p:nvPr/>
        </p:nvSpPr>
        <p:spPr>
          <a:xfrm rot="0" flipH="0" flipV="0">
            <a:off x="10896600" y="60864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16 / 30</a:t>
            </a:r>
            <a:endParaRPr/>
          </a:p>
        </p:txBody>
      </p:sp>
    </p:spTree>
  </p:cSld>
</p:sld>
</file>

<file path=ppt/slides/slide17.xml><?xml version="1.0" encoding="utf-8"?>
<p:sld xmlns:p="http://schemas.openxmlformats.org/presentationml/2006/main" xmlns:a="http://schemas.openxmlformats.org/drawingml/2006/main">
  <p:cSld>
    <p:spTree>
      <p:nvGrpSpPr>
        <p:cNvPr id="297" name=""/>
        <p:cNvGrpSpPr/>
        <p:nvPr/>
      </p:nvGrpSpPr>
      <p:grpSpPr>
        <a:xfrm>
          <a:off x="0" y="0"/>
          <a:ext cx="0" cy="0"/>
          <a:chOff x="0" y="0"/>
          <a:chExt cx="0" cy="0"/>
        </a:xfrm>
      </p:grpSpPr>
      <p:sp>
        <p:nvSpPr>
          <p:cNvPr id="298" name=""/>
          <p:cNvSpPr/>
          <p:nvPr/>
        </p:nvSpPr>
        <p:spPr>
          <a:xfrm rot="0" flipH="0" flipV="0">
            <a:off x="0" y="0"/>
            <a:ext cx="12192000" cy="6858000"/>
          </a:xfrm>
          <a:prstGeom prst="rect">
            <a:avLst/>
          </a:prstGeom>
          <a:solidFill>
            <a:srgbClr val="FFFFFF"/>
          </a:solidFill>
          <a:ln/>
        </p:spPr>
        <p:txBody>
          <a:bodyPr/>
          <a:p>
            <a:pPr/>
            <a:endParaRPr/>
          </a:p>
        </p:txBody>
      </p:sp>
      <p:sp>
        <p:nvSpPr>
          <p:cNvPr id="299"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之方法：</a:t>
            </a:r>
            <a:r>
              <a:rPr lang="zh-CN" sz="2400" b="1">
                <a:solidFill>
                  <a:srgbClr val="FA4F24"/>
                </a:solidFill>
                <a:latin typeface="Microsoft YaHei"/>
                <a:ea typeface="Microsoft YaHei"/>
              </a:rPr>
              <a:t>三视角标准制定法</a:t>
            </a:r>
            <a:r>
              <a:rPr lang="zh-CN" sz="2400" b="1">
                <a:solidFill>
                  <a:srgbClr val="0F1423"/>
                </a:solidFill>
                <a:latin typeface="Microsoft YaHei"/>
                <a:ea typeface="Microsoft YaHei"/>
              </a:rPr>
              <a:t>，一个属性三面看</a:t>
            </a:r>
            <a:endParaRPr/>
          </a:p>
        </p:txBody>
      </p:sp>
      <p:sp>
        <p:nvSpPr>
          <p:cNvPr id="300"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数据标准是对某个数据的公司级共同理解</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一旦确定，全企业共同遵守，除</a:t>
            </a:r>
            <a:r>
              <a:rPr lang="en-US" sz="1500">
                <a:solidFill>
                  <a:srgbClr val="8A8F99"/>
                </a:solidFill>
                <a:latin typeface="Microsoft YaHei"/>
                <a:ea typeface="Microsoft YaHei"/>
              </a:rPr>
              <a:t xml:space="preserve"> Owner </a:t>
            </a:r>
            <a:r>
              <a:rPr lang="zh-CN" sz="1500">
                <a:solidFill>
                  <a:srgbClr val="8A8F99"/>
                </a:solidFill>
                <a:latin typeface="Microsoft YaHei"/>
                <a:ea typeface="Microsoft YaHei"/>
              </a:rPr>
              <a:t>外不得自定义</a:t>
            </a:r>
            <a:endParaRPr/>
          </a:p>
        </p:txBody>
      </p:sp>
      <p:sp>
        <p:nvSpPr>
          <p:cNvPr id="301" name=""/>
          <p:cNvSpPr/>
          <p:nvPr/>
        </p:nvSpPr>
        <p:spPr>
          <a:xfrm rot="0" flipH="0" flipV="0">
            <a:off x="609600" y="1143000"/>
            <a:ext cx="10972800" cy="9525"/>
          </a:xfrm>
          <a:prstGeom prst="rect">
            <a:avLst/>
          </a:prstGeom>
          <a:solidFill>
            <a:srgbClr val="E8E8E8"/>
          </a:solidFill>
          <a:ln/>
        </p:spPr>
        <p:txBody>
          <a:bodyPr/>
          <a:p>
            <a:pPr/>
            <a:endParaRPr/>
          </a:p>
        </p:txBody>
      </p:sp>
      <p:sp>
        <p:nvSpPr>
          <p:cNvPr id="302" name=""/>
          <p:cNvSpPr/>
          <p:nvPr/>
        </p:nvSpPr>
        <p:spPr>
          <a:xfrm rot="0" flipH="0" flipV="0">
            <a:off x="609600" y="1381125"/>
            <a:ext cx="3048000" cy="4200525"/>
          </a:xfrm>
          <a:prstGeom prst="roundRect">
            <a:avLst>
              <a:gd name="adj" fmla="val 1250"/>
            </a:avLst>
          </a:prstGeom>
          <a:gradFill>
            <a:gsLst>
              <a:gs pos="0">
                <a:srgbClr val="FA4F24"/>
              </a:gs>
              <a:gs pos="100000">
                <a:srgbClr val="F87D2F"/>
              </a:gs>
            </a:gsLst>
            <a:lin ang="4200000" scaled="1"/>
          </a:gradFill>
          <a:ln/>
        </p:spPr>
        <p:txBody>
          <a:bodyPr/>
          <a:p>
            <a:pPr/>
            <a:endParaRPr/>
          </a:p>
        </p:txBody>
      </p:sp>
      <p:sp>
        <p:nvSpPr>
          <p:cNvPr id="303" name="" descr="{&quot;isTemplate&quot;:true,&quot;type&quot;:&quot;text&quot;}"/>
          <p:cNvSpPr txBox="1"/>
          <p:nvPr/>
        </p:nvSpPr>
        <p:spPr>
          <a:xfrm rot="0" flipH="0" flipV="0">
            <a:off x="857250" y="1628775"/>
            <a:ext cx="2552700" cy="171450"/>
          </a:xfrm>
          <a:prstGeom prst="rect"/>
        </p:spPr>
        <p:txBody>
          <a:bodyPr wrap="none" lIns="0" tIns="0" rIns="0" bIns="0"/>
          <a:p>
            <a:pPr>
              <a:lnSpc>
                <a:spcPct val="100000"/>
              </a:lnSpc>
            </a:pPr>
            <a:r>
              <a:rPr lang="en-US" sz="1125" spc="150">
                <a:solidFill>
                  <a:srgbClr val="FFFFFF">
                    <a:alpha val="80000"/>
                  </a:srgbClr>
                </a:solidFill>
                <a:latin typeface="Microsoft YaHei"/>
                <a:ea typeface="Microsoft YaHei"/>
              </a:rPr>
              <a:t>STEP 03 · DATA STANDARD</a:t>
            </a:r>
            <a:endParaRPr/>
          </a:p>
        </p:txBody>
      </p:sp>
      <p:sp>
        <p:nvSpPr>
          <p:cNvPr id="304" name="" descr="{&quot;isTemplate&quot;:true,&quot;type&quot;:&quot;text&quot;}"/>
          <p:cNvSpPr txBox="1"/>
          <p:nvPr/>
        </p:nvSpPr>
        <p:spPr>
          <a:xfrm rot="0" flipH="0" flipV="0">
            <a:off x="857250" y="1933575"/>
            <a:ext cx="2552700" cy="857250"/>
          </a:xfrm>
          <a:prstGeom prst="rect"/>
        </p:spPr>
        <p:txBody>
          <a:bodyPr wrap="none" lIns="0" tIns="0" rIns="0" bIns="0"/>
          <a:p>
            <a:pPr>
              <a:lnSpc>
                <a:spcPct val="125000"/>
              </a:lnSpc>
            </a:pPr>
            <a:r>
              <a:rPr lang="zh-CN" sz="2250" b="1">
                <a:solidFill>
                  <a:srgbClr val="FFFFFF"/>
                </a:solidFill>
                <a:latin typeface="Microsoft YaHei"/>
                <a:ea typeface="Microsoft YaHei"/>
              </a:rPr>
              <a:t>三视角</a:t>
            </a:r>
            <a:endParaRPr/>
          </a:p>
          <a:p>
            <a:pPr>
              <a:lnSpc>
                <a:spcPct val="125000"/>
              </a:lnSpc>
            </a:pPr>
            <a:r>
              <a:rPr lang="zh-CN" sz="2250" b="1">
                <a:solidFill>
                  <a:srgbClr val="FFFFFF"/>
                </a:solidFill>
                <a:latin typeface="Microsoft YaHei"/>
                <a:ea typeface="Microsoft YaHei"/>
              </a:rPr>
              <a:t>标准法</a:t>
            </a:r>
            <a:endParaRPr/>
          </a:p>
        </p:txBody>
      </p:sp>
      <p:sp>
        <p:nvSpPr>
          <p:cNvPr id="305" name=""/>
          <p:cNvSpPr/>
          <p:nvPr/>
        </p:nvSpPr>
        <p:spPr>
          <a:xfrm rot="0" flipH="0" flipV="0">
            <a:off x="857250" y="3933825"/>
            <a:ext cx="419100" cy="38100"/>
          </a:xfrm>
          <a:prstGeom prst="rect">
            <a:avLst/>
          </a:prstGeom>
          <a:solidFill>
            <a:srgbClr val="FFFFFF">
              <a:alpha val="70000"/>
            </a:srgbClr>
          </a:solidFill>
          <a:ln/>
        </p:spPr>
        <p:txBody>
          <a:bodyPr/>
          <a:p>
            <a:pPr/>
            <a:endParaRPr/>
          </a:p>
        </p:txBody>
      </p:sp>
      <p:sp>
        <p:nvSpPr>
          <p:cNvPr id="306" name="" descr="{&quot;isTemplate&quot;:true,&quot;type&quot;:&quot;text&quot;}"/>
          <p:cNvSpPr txBox="1"/>
          <p:nvPr/>
        </p:nvSpPr>
        <p:spPr>
          <a:xfrm rot="0" flipH="0" flipV="0">
            <a:off x="857250" y="4124325"/>
            <a:ext cx="2552700" cy="1209675"/>
          </a:xfrm>
          <a:prstGeom prst="rect"/>
        </p:spPr>
        <p:txBody>
          <a:bodyPr wrap="square" lIns="0" tIns="0" rIns="0" bIns="0">
            <a:normAutofit/>
          </a:bodyPr>
          <a:p>
            <a:pPr>
              <a:lnSpc>
                <a:spcPct val="155000"/>
              </a:lnSpc>
            </a:pPr>
            <a:r>
              <a:rPr lang="zh-CN" sz="1275">
                <a:solidFill>
                  <a:srgbClr val="FFFFFF">
                    <a:alpha val="94000"/>
                  </a:srgbClr>
                </a:solidFill>
                <a:latin typeface="Microsoft YaHei"/>
                <a:ea typeface="Microsoft YaHei"/>
              </a:rPr>
              <a:t>以「合同编号」为例：一旦标准定下位数与规则，</a:t>
            </a:r>
            <a:r>
              <a:rPr lang="zh-CN" sz="1275">
                <a:solidFill>
                  <a:srgbClr val="FFFFFF">
                    <a:alpha val="94000"/>
                  </a:srgbClr>
                </a:solidFill>
                <a:latin typeface="Microsoft YaHei"/>
                <a:ea typeface="Microsoft YaHei"/>
              </a:rPr>
              <a:t>全公司所有部门必须共同遵守</a:t>
            </a:r>
            <a:r>
              <a:rPr lang="zh-CN" sz="1275">
                <a:solidFill>
                  <a:srgbClr val="FFFFFF">
                    <a:alpha val="94000"/>
                  </a:srgbClr>
                </a:solidFill>
                <a:latin typeface="Microsoft YaHei"/>
                <a:ea typeface="Microsoft YaHei"/>
              </a:rPr>
              <a:t>，否则数据无法在上下游快速流转。</a:t>
            </a:r>
            <a:endParaRPr/>
          </a:p>
        </p:txBody>
      </p:sp>
      <p:sp>
        <p:nvSpPr>
          <p:cNvPr id="307" name="" descr="{&quot;isTemplate&quot;:true,&quot;type&quot;:&quot;text&quot;}"/>
          <p:cNvSpPr txBox="1"/>
          <p:nvPr/>
        </p:nvSpPr>
        <p:spPr>
          <a:xfrm rot="0" flipH="0" flipV="0">
            <a:off x="3848100" y="1381125"/>
            <a:ext cx="7734300" cy="247650"/>
          </a:xfrm>
          <a:prstGeom prst="rect"/>
        </p:spPr>
        <p:txBody>
          <a:bodyPr wrap="none" lIns="0" tIns="0" rIns="0" bIns="0"/>
          <a:p>
            <a:pPr>
              <a:lnSpc>
                <a:spcPct val="100000"/>
              </a:lnSpc>
            </a:pPr>
            <a:r>
              <a:rPr lang="zh-CN" sz="1575" b="1">
                <a:solidFill>
                  <a:srgbClr val="0F1423"/>
                </a:solidFill>
                <a:latin typeface="Microsoft YaHei"/>
                <a:ea typeface="Microsoft YaHei"/>
              </a:rPr>
              <a:t>每个数据标准须覆盖三方面要求</a:t>
            </a:r>
            <a:endParaRPr/>
          </a:p>
        </p:txBody>
      </p:sp>
      <p:sp>
        <p:nvSpPr>
          <p:cNvPr id="308" name=""/>
          <p:cNvSpPr/>
          <p:nvPr/>
        </p:nvSpPr>
        <p:spPr>
          <a:xfrm rot="0" flipH="0" flipV="0">
            <a:off x="3886200" y="1762125"/>
            <a:ext cx="7734300" cy="1181100"/>
          </a:xfrm>
          <a:prstGeom prst="roundRect">
            <a:avLst>
              <a:gd name="adj" fmla="val 3226"/>
            </a:avLst>
          </a:prstGeom>
          <a:solidFill>
            <a:srgbClr val="F7F7F8"/>
          </a:solidFill>
          <a:ln/>
        </p:spPr>
        <p:txBody>
          <a:bodyPr/>
          <a:p>
            <a:pPr/>
            <a:endParaRPr/>
          </a:p>
        </p:txBody>
      </p:sp>
      <p:sp>
        <p:nvSpPr>
          <p:cNvPr id="309" name=""/>
          <p:cNvSpPr/>
          <p:nvPr/>
        </p:nvSpPr>
        <p:spPr>
          <a:xfrm rot="0" flipH="0" flipV="0">
            <a:off x="3886200" y="1762125"/>
            <a:ext cx="7734300" cy="1181100"/>
          </a:xfrm>
          <a:custGeom>
            <a:pathLst>
              <a:path w="812" h="124">
                <a:moveTo>
                  <a:pt x="4" y="124"/>
                </a:moveTo>
                <a:cubicBezTo>
                  <a:pt x="2" y="124"/>
                  <a:pt x="0" y="122"/>
                  <a:pt x="0" y="120"/>
                </a:cubicBezTo>
                <a:lnTo>
                  <a:pt x="0" y="4"/>
                </a:lnTo>
                <a:cubicBezTo>
                  <a:pt x="0" y="2"/>
                  <a:pt x="2" y="0"/>
                  <a:pt x="4" y="0"/>
                </a:cubicBezTo>
                <a:lnTo>
                  <a:pt x="4" y="124"/>
                </a:lnTo>
                <a:close/>
              </a:path>
            </a:pathLst>
          </a:custGeom>
          <a:solidFill>
            <a:srgbClr val="FA4F24"/>
          </a:solidFill>
          <a:ln/>
        </p:spPr>
        <p:txBody>
          <a:bodyPr/>
          <a:p>
            <a:pPr/>
            <a:endParaRPr/>
          </a:p>
        </p:txBody>
      </p:sp>
      <p:sp>
        <p:nvSpPr>
          <p:cNvPr id="310" name="" descr="{&quot;isTemplate&quot;:true,&quot;type&quot;:&quot;text&quot;}"/>
          <p:cNvSpPr txBox="1"/>
          <p:nvPr/>
        </p:nvSpPr>
        <p:spPr>
          <a:xfrm rot="0" flipH="0" flipV="0">
            <a:off x="4057650" y="2171700"/>
            <a:ext cx="552450" cy="276225"/>
          </a:xfrm>
          <a:prstGeom prst="rect"/>
        </p:spPr>
        <p:txBody>
          <a:bodyPr wrap="none" lIns="0" tIns="0" rIns="0" bIns="0"/>
          <a:p>
            <a:pPr>
              <a:lnSpc>
                <a:spcPct val="100000"/>
              </a:lnSpc>
            </a:pPr>
            <a:r>
              <a:rPr lang="en-US" sz="1800" b="1">
                <a:solidFill>
                  <a:srgbClr val="FA4F24"/>
                </a:solidFill>
                <a:latin typeface="Microsoft YaHei"/>
                <a:ea typeface="Microsoft YaHei"/>
              </a:rPr>
              <a:t>01</a:t>
            </a:r>
            <a:endParaRPr/>
          </a:p>
        </p:txBody>
      </p:sp>
      <p:sp>
        <p:nvSpPr>
          <p:cNvPr id="311" name="" descr="{&quot;isTemplate&quot;:true,&quot;type&quot;:&quot;text&quot;}"/>
          <p:cNvSpPr txBox="1"/>
          <p:nvPr/>
        </p:nvSpPr>
        <p:spPr>
          <a:xfrm rot="0" flipH="0" flipV="0">
            <a:off x="4057650" y="2447925"/>
            <a:ext cx="552450" cy="95250"/>
          </a:xfrm>
          <a:prstGeom prst="rect"/>
        </p:spPr>
        <p:txBody>
          <a:bodyPr wrap="none" lIns="0" tIns="0" rIns="0" bIns="0"/>
          <a:p>
            <a:pPr>
              <a:lnSpc>
                <a:spcPct val="100000"/>
              </a:lnSpc>
            </a:pPr>
            <a:r>
              <a:rPr lang="en-US" sz="600">
                <a:solidFill>
                  <a:srgbClr val="B8BDC7"/>
                </a:solidFill>
                <a:latin typeface="Microsoft YaHei"/>
                <a:ea typeface="Microsoft YaHei"/>
              </a:rPr>
              <a:t>BUSINESS</a:t>
            </a:r>
            <a:endParaRPr/>
          </a:p>
        </p:txBody>
      </p:sp>
      <p:sp>
        <p:nvSpPr>
          <p:cNvPr id="312" name="" descr="{&quot;isTemplate&quot;:true,&quot;type&quot;:&quot;text&quot;}"/>
          <p:cNvSpPr txBox="1"/>
          <p:nvPr/>
        </p:nvSpPr>
        <p:spPr>
          <a:xfrm rot="0" flipH="0" flipV="0">
            <a:off x="4743450" y="2247900"/>
            <a:ext cx="1181100" cy="219075"/>
          </a:xfrm>
          <a:prstGeom prst="rect"/>
        </p:spPr>
        <p:txBody>
          <a:bodyPr wrap="none" lIns="0" tIns="0" rIns="0" bIns="0"/>
          <a:p>
            <a:pPr>
              <a:lnSpc>
                <a:spcPct val="100000"/>
              </a:lnSpc>
            </a:pPr>
            <a:r>
              <a:rPr lang="zh-CN" sz="1425" b="1">
                <a:solidFill>
                  <a:srgbClr val="0F1423"/>
                </a:solidFill>
                <a:latin typeface="Microsoft YaHei"/>
                <a:ea typeface="Microsoft YaHei"/>
              </a:rPr>
              <a:t>业务视角要求</a:t>
            </a:r>
            <a:endParaRPr/>
          </a:p>
        </p:txBody>
      </p:sp>
      <p:sp>
        <p:nvSpPr>
          <p:cNvPr id="313" name="" descr="{&quot;isTemplate&quot;:true,&quot;type&quot;:&quot;text&quot;}"/>
          <p:cNvSpPr txBox="1"/>
          <p:nvPr/>
        </p:nvSpPr>
        <p:spPr>
          <a:xfrm rot="0" flipH="0" flipV="0">
            <a:off x="6057900" y="2124075"/>
            <a:ext cx="4152900" cy="466725"/>
          </a:xfrm>
          <a:prstGeom prst="rect"/>
        </p:spPr>
        <p:txBody>
          <a:bodyPr wrap="square" lIns="0" tIns="0" rIns="0" bIns="0">
            <a:normAutofit/>
          </a:bodyPr>
          <a:p>
            <a:pPr>
              <a:lnSpc>
                <a:spcPct val="145000"/>
              </a:lnSpc>
            </a:pPr>
            <a:r>
              <a:rPr lang="zh-CN" sz="1050">
                <a:solidFill>
                  <a:srgbClr val="3A4050"/>
                </a:solidFill>
                <a:latin typeface="Microsoft YaHei"/>
                <a:ea typeface="Microsoft YaHei"/>
              </a:rPr>
              <a:t>用于统一业务侧语言和理解：明确定义每个属性所遵从的业务定义和用途、业务规则、同义词，并对名称统一定义，避免重复。</a:t>
            </a:r>
            <a:endParaRPr/>
          </a:p>
        </p:txBody>
      </p:sp>
      <p:sp>
        <p:nvSpPr>
          <p:cNvPr id="314" name=""/>
          <p:cNvSpPr/>
          <p:nvPr/>
        </p:nvSpPr>
        <p:spPr>
          <a:xfrm rot="0" flipH="0" flipV="0">
            <a:off x="10344150" y="2209800"/>
            <a:ext cx="1066800" cy="285750"/>
          </a:xfrm>
          <a:prstGeom prst="roundRect">
            <a:avLst>
              <a:gd name="adj" fmla="val 10000"/>
            </a:avLst>
          </a:prstGeom>
          <a:solidFill>
            <a:srgbClr val="FA4F24">
              <a:alpha val="10000"/>
            </a:srgbClr>
          </a:solidFill>
          <a:ln/>
        </p:spPr>
        <p:txBody>
          <a:bodyPr/>
          <a:p>
            <a:pPr/>
            <a:endParaRPr/>
          </a:p>
        </p:txBody>
      </p:sp>
      <p:sp>
        <p:nvSpPr>
          <p:cNvPr id="315" name="" descr="{&quot;isTemplate&quot;:true,&quot;type&quot;:&quot;text&quot;}"/>
          <p:cNvSpPr txBox="1"/>
          <p:nvPr/>
        </p:nvSpPr>
        <p:spPr>
          <a:xfrm rot="0" flipH="0" flipV="0">
            <a:off x="10382250" y="2266950"/>
            <a:ext cx="990600" cy="171450"/>
          </a:xfrm>
          <a:prstGeom prst="rect"/>
        </p:spPr>
        <p:txBody>
          <a:bodyPr wrap="none" lIns="0" tIns="0" rIns="0" bIns="0"/>
          <a:p>
            <a:pPr algn="ctr">
              <a:lnSpc>
                <a:spcPct val="130000"/>
              </a:lnSpc>
            </a:pPr>
            <a:r>
              <a:rPr lang="zh-CN" sz="825">
                <a:solidFill>
                  <a:srgbClr val="C43A17"/>
                </a:solidFill>
                <a:latin typeface="Microsoft YaHei"/>
                <a:ea typeface="Microsoft YaHei"/>
              </a:rPr>
              <a:t>统一语言</a:t>
            </a:r>
            <a:r>
              <a:rPr lang="en-US" sz="825">
                <a:solidFill>
                  <a:srgbClr val="C43A17"/>
                </a:solidFill>
                <a:latin typeface="Microsoft YaHei"/>
                <a:ea typeface="Microsoft YaHei"/>
              </a:rPr>
              <a:t xml:space="preserve"> · </a:t>
            </a:r>
            <a:r>
              <a:rPr lang="zh-CN" sz="825">
                <a:solidFill>
                  <a:srgbClr val="C43A17"/>
                </a:solidFill>
                <a:latin typeface="Microsoft YaHei"/>
                <a:ea typeface="Microsoft YaHei"/>
              </a:rPr>
              <a:t>消除歧义</a:t>
            </a:r>
            <a:endParaRPr/>
          </a:p>
        </p:txBody>
      </p:sp>
      <p:sp>
        <p:nvSpPr>
          <p:cNvPr id="316" name=""/>
          <p:cNvSpPr/>
          <p:nvPr/>
        </p:nvSpPr>
        <p:spPr>
          <a:xfrm rot="0" flipH="0" flipV="0">
            <a:off x="3886200" y="3076575"/>
            <a:ext cx="7734300" cy="1190625"/>
          </a:xfrm>
          <a:prstGeom prst="roundRect">
            <a:avLst>
              <a:gd name="adj" fmla="val 3200"/>
            </a:avLst>
          </a:prstGeom>
          <a:solidFill>
            <a:srgbClr val="F7F7F8"/>
          </a:solidFill>
          <a:ln/>
        </p:spPr>
        <p:txBody>
          <a:bodyPr/>
          <a:p>
            <a:pPr/>
            <a:endParaRPr/>
          </a:p>
        </p:txBody>
      </p:sp>
      <p:sp>
        <p:nvSpPr>
          <p:cNvPr id="317" name=""/>
          <p:cNvSpPr/>
          <p:nvPr/>
        </p:nvSpPr>
        <p:spPr>
          <a:xfrm rot="0" flipH="0" flipV="0">
            <a:off x="3886200" y="3076575"/>
            <a:ext cx="7734300" cy="1190625"/>
          </a:xfrm>
          <a:custGeom>
            <a:pathLst>
              <a:path w="812" h="125">
                <a:moveTo>
                  <a:pt x="4" y="125"/>
                </a:moveTo>
                <a:cubicBezTo>
                  <a:pt x="2" y="125"/>
                  <a:pt x="0" y="123"/>
                  <a:pt x="0" y="121"/>
                </a:cubicBezTo>
                <a:lnTo>
                  <a:pt x="0" y="4"/>
                </a:lnTo>
                <a:cubicBezTo>
                  <a:pt x="0" y="2"/>
                  <a:pt x="2" y="0"/>
                  <a:pt x="4" y="0"/>
                </a:cubicBezTo>
                <a:lnTo>
                  <a:pt x="4" y="125"/>
                </a:lnTo>
                <a:close/>
              </a:path>
            </a:pathLst>
          </a:custGeom>
          <a:solidFill>
            <a:srgbClr val="FA4F24"/>
          </a:solidFill>
          <a:ln/>
        </p:spPr>
        <p:txBody>
          <a:bodyPr/>
          <a:p>
            <a:pPr/>
            <a:endParaRPr/>
          </a:p>
        </p:txBody>
      </p:sp>
      <p:sp>
        <p:nvSpPr>
          <p:cNvPr id="318" name="" descr="{&quot;isTemplate&quot;:true,&quot;type&quot;:&quot;text&quot;}"/>
          <p:cNvSpPr txBox="1"/>
          <p:nvPr/>
        </p:nvSpPr>
        <p:spPr>
          <a:xfrm rot="0" flipH="0" flipV="0">
            <a:off x="4057650" y="3486150"/>
            <a:ext cx="552450" cy="276225"/>
          </a:xfrm>
          <a:prstGeom prst="rect"/>
        </p:spPr>
        <p:txBody>
          <a:bodyPr wrap="none" lIns="0" tIns="0" rIns="0" bIns="0"/>
          <a:p>
            <a:pPr>
              <a:lnSpc>
                <a:spcPct val="100000"/>
              </a:lnSpc>
            </a:pPr>
            <a:r>
              <a:rPr lang="en-US" sz="1800" b="1">
                <a:solidFill>
                  <a:srgbClr val="FA4F24"/>
                </a:solidFill>
                <a:latin typeface="Microsoft YaHei"/>
                <a:ea typeface="Microsoft YaHei"/>
              </a:rPr>
              <a:t>02</a:t>
            </a:r>
            <a:endParaRPr/>
          </a:p>
        </p:txBody>
      </p:sp>
      <p:sp>
        <p:nvSpPr>
          <p:cNvPr id="319" name="" descr="{&quot;isTemplate&quot;:true,&quot;type&quot;:&quot;text&quot;}"/>
          <p:cNvSpPr txBox="1"/>
          <p:nvPr/>
        </p:nvSpPr>
        <p:spPr>
          <a:xfrm rot="0" flipH="0" flipV="0">
            <a:off x="4057650" y="3762375"/>
            <a:ext cx="552450" cy="95250"/>
          </a:xfrm>
          <a:prstGeom prst="rect"/>
        </p:spPr>
        <p:txBody>
          <a:bodyPr wrap="none" lIns="0" tIns="0" rIns="0" bIns="0"/>
          <a:p>
            <a:pPr>
              <a:lnSpc>
                <a:spcPct val="100000"/>
              </a:lnSpc>
            </a:pPr>
            <a:r>
              <a:rPr lang="en-US" sz="600">
                <a:solidFill>
                  <a:srgbClr val="B8BDC7"/>
                </a:solidFill>
                <a:latin typeface="Microsoft YaHei"/>
                <a:ea typeface="Microsoft YaHei"/>
              </a:rPr>
              <a:t>TECHNICAL</a:t>
            </a:r>
            <a:endParaRPr/>
          </a:p>
        </p:txBody>
      </p:sp>
      <p:sp>
        <p:nvSpPr>
          <p:cNvPr id="320" name="" descr="{&quot;isTemplate&quot;:true,&quot;type&quot;:&quot;text&quot;}"/>
          <p:cNvSpPr txBox="1"/>
          <p:nvPr/>
        </p:nvSpPr>
        <p:spPr>
          <a:xfrm rot="0" flipH="0" flipV="0">
            <a:off x="4743450" y="3562350"/>
            <a:ext cx="1181100" cy="219075"/>
          </a:xfrm>
          <a:prstGeom prst="rect"/>
        </p:spPr>
        <p:txBody>
          <a:bodyPr wrap="none" lIns="0" tIns="0" rIns="0" bIns="0"/>
          <a:p>
            <a:pPr>
              <a:lnSpc>
                <a:spcPct val="100000"/>
              </a:lnSpc>
            </a:pPr>
            <a:r>
              <a:rPr lang="zh-CN" sz="1425" b="1">
                <a:solidFill>
                  <a:srgbClr val="0F1423"/>
                </a:solidFill>
                <a:latin typeface="Microsoft YaHei"/>
                <a:ea typeface="Microsoft YaHei"/>
              </a:rPr>
              <a:t>技术视角要求</a:t>
            </a:r>
            <a:endParaRPr/>
          </a:p>
        </p:txBody>
      </p:sp>
      <p:sp>
        <p:nvSpPr>
          <p:cNvPr id="321" name="" descr="{&quot;isTemplate&quot;:true,&quot;type&quot;:&quot;text&quot;}"/>
          <p:cNvSpPr txBox="1"/>
          <p:nvPr/>
        </p:nvSpPr>
        <p:spPr>
          <a:xfrm rot="0" flipH="0" flipV="0">
            <a:off x="6057900" y="3438525"/>
            <a:ext cx="4152900" cy="466725"/>
          </a:xfrm>
          <a:prstGeom prst="rect"/>
        </p:spPr>
        <p:txBody>
          <a:bodyPr wrap="square" lIns="0" tIns="0" rIns="0" bIns="0">
            <a:normAutofit/>
          </a:bodyPr>
          <a:p>
            <a:pPr>
              <a:lnSpc>
                <a:spcPct val="145000"/>
              </a:lnSpc>
            </a:pPr>
            <a:r>
              <a:rPr lang="zh-CN" sz="1050">
                <a:solidFill>
                  <a:srgbClr val="3A4050"/>
                </a:solidFill>
                <a:latin typeface="Microsoft YaHei"/>
                <a:ea typeface="Microsoft YaHei"/>
              </a:rPr>
              <a:t>对</a:t>
            </a:r>
            <a:r>
              <a:rPr lang="en-US" sz="1050">
                <a:solidFill>
                  <a:srgbClr val="3A4050"/>
                </a:solidFill>
                <a:latin typeface="Microsoft YaHei"/>
                <a:ea typeface="Microsoft YaHei"/>
              </a:rPr>
              <a:t xml:space="preserve"> IT </a:t>
            </a:r>
            <a:r>
              <a:rPr lang="zh-CN" sz="1050">
                <a:solidFill>
                  <a:srgbClr val="3A4050"/>
                </a:solidFill>
                <a:latin typeface="Microsoft YaHei"/>
                <a:ea typeface="Microsoft YaHei"/>
              </a:rPr>
              <a:t>实施形成必要的指引和约束：包括数据类型、长度；如果存在多个允许值，则应对每个允许值进行明确限定。</a:t>
            </a:r>
            <a:endParaRPr/>
          </a:p>
        </p:txBody>
      </p:sp>
      <p:sp>
        <p:nvSpPr>
          <p:cNvPr id="322" name=""/>
          <p:cNvSpPr/>
          <p:nvPr/>
        </p:nvSpPr>
        <p:spPr>
          <a:xfrm rot="0" flipH="0" flipV="0">
            <a:off x="10344150" y="3533775"/>
            <a:ext cx="1066800" cy="285750"/>
          </a:xfrm>
          <a:prstGeom prst="roundRect">
            <a:avLst>
              <a:gd name="adj" fmla="val 10000"/>
            </a:avLst>
          </a:prstGeom>
          <a:solidFill>
            <a:srgbClr val="FA4F24">
              <a:alpha val="10000"/>
            </a:srgbClr>
          </a:solidFill>
          <a:ln/>
        </p:spPr>
        <p:txBody>
          <a:bodyPr/>
          <a:p>
            <a:pPr/>
            <a:endParaRPr/>
          </a:p>
        </p:txBody>
      </p:sp>
      <p:sp>
        <p:nvSpPr>
          <p:cNvPr id="323" name="" descr="{&quot;isTemplate&quot;:true,&quot;type&quot;:&quot;text&quot;}"/>
          <p:cNvSpPr txBox="1"/>
          <p:nvPr/>
        </p:nvSpPr>
        <p:spPr>
          <a:xfrm rot="0" flipH="0" flipV="0">
            <a:off x="10382250" y="3590925"/>
            <a:ext cx="990600" cy="171450"/>
          </a:xfrm>
          <a:prstGeom prst="rect"/>
        </p:spPr>
        <p:txBody>
          <a:bodyPr wrap="none" lIns="0" tIns="0" rIns="0" bIns="0"/>
          <a:p>
            <a:pPr algn="ctr">
              <a:lnSpc>
                <a:spcPct val="130000"/>
              </a:lnSpc>
            </a:pPr>
            <a:r>
              <a:rPr lang="zh-CN" sz="825">
                <a:solidFill>
                  <a:srgbClr val="C43A17"/>
                </a:solidFill>
                <a:latin typeface="Microsoft YaHei"/>
                <a:ea typeface="Microsoft YaHei"/>
              </a:rPr>
              <a:t>约束实施</a:t>
            </a:r>
            <a:r>
              <a:rPr lang="en-US" sz="825">
                <a:solidFill>
                  <a:srgbClr val="C43A17"/>
                </a:solidFill>
                <a:latin typeface="Microsoft YaHei"/>
                <a:ea typeface="Microsoft YaHei"/>
              </a:rPr>
              <a:t xml:space="preserve"> · </a:t>
            </a:r>
            <a:r>
              <a:rPr lang="zh-CN" sz="825">
                <a:solidFill>
                  <a:srgbClr val="C43A17"/>
                </a:solidFill>
                <a:latin typeface="Microsoft YaHei"/>
                <a:ea typeface="Microsoft YaHei"/>
              </a:rPr>
              <a:t>可落地</a:t>
            </a:r>
            <a:endParaRPr/>
          </a:p>
        </p:txBody>
      </p:sp>
      <p:sp>
        <p:nvSpPr>
          <p:cNvPr id="324" name=""/>
          <p:cNvSpPr/>
          <p:nvPr/>
        </p:nvSpPr>
        <p:spPr>
          <a:xfrm rot="0" flipH="0" flipV="0">
            <a:off x="3886200" y="4400550"/>
            <a:ext cx="7734300" cy="1181100"/>
          </a:xfrm>
          <a:prstGeom prst="roundRect">
            <a:avLst>
              <a:gd name="adj" fmla="val 3226"/>
            </a:avLst>
          </a:prstGeom>
          <a:solidFill>
            <a:srgbClr val="F7F7F8"/>
          </a:solidFill>
          <a:ln/>
        </p:spPr>
        <p:txBody>
          <a:bodyPr/>
          <a:p>
            <a:pPr/>
            <a:endParaRPr/>
          </a:p>
        </p:txBody>
      </p:sp>
      <p:sp>
        <p:nvSpPr>
          <p:cNvPr id="325" name=""/>
          <p:cNvSpPr/>
          <p:nvPr/>
        </p:nvSpPr>
        <p:spPr>
          <a:xfrm rot="0" flipH="0" flipV="0">
            <a:off x="3886200" y="4400550"/>
            <a:ext cx="7734300" cy="1181100"/>
          </a:xfrm>
          <a:custGeom>
            <a:pathLst>
              <a:path w="812" h="124">
                <a:moveTo>
                  <a:pt x="4" y="124"/>
                </a:moveTo>
                <a:cubicBezTo>
                  <a:pt x="2" y="124"/>
                  <a:pt x="0" y="122"/>
                  <a:pt x="0" y="120"/>
                </a:cubicBezTo>
                <a:lnTo>
                  <a:pt x="0" y="4"/>
                </a:lnTo>
                <a:cubicBezTo>
                  <a:pt x="0" y="2"/>
                  <a:pt x="2" y="0"/>
                  <a:pt x="4" y="0"/>
                </a:cubicBezTo>
                <a:lnTo>
                  <a:pt x="4" y="124"/>
                </a:lnTo>
                <a:close/>
              </a:path>
            </a:pathLst>
          </a:custGeom>
          <a:solidFill>
            <a:srgbClr val="FA4F24"/>
          </a:solidFill>
          <a:ln/>
        </p:spPr>
        <p:txBody>
          <a:bodyPr/>
          <a:p>
            <a:pPr/>
            <a:endParaRPr/>
          </a:p>
        </p:txBody>
      </p:sp>
      <p:sp>
        <p:nvSpPr>
          <p:cNvPr id="326" name="" descr="{&quot;isTemplate&quot;:true,&quot;type&quot;:&quot;text&quot;}"/>
          <p:cNvSpPr txBox="1"/>
          <p:nvPr/>
        </p:nvSpPr>
        <p:spPr>
          <a:xfrm rot="0" flipH="0" flipV="0">
            <a:off x="4057650" y="4810125"/>
            <a:ext cx="552450" cy="276225"/>
          </a:xfrm>
          <a:prstGeom prst="rect"/>
        </p:spPr>
        <p:txBody>
          <a:bodyPr wrap="none" lIns="0" tIns="0" rIns="0" bIns="0"/>
          <a:p>
            <a:pPr>
              <a:lnSpc>
                <a:spcPct val="100000"/>
              </a:lnSpc>
            </a:pPr>
            <a:r>
              <a:rPr lang="en-US" sz="1800" b="1">
                <a:solidFill>
                  <a:srgbClr val="FA4F24"/>
                </a:solidFill>
                <a:latin typeface="Microsoft YaHei"/>
                <a:ea typeface="Microsoft YaHei"/>
              </a:rPr>
              <a:t>03</a:t>
            </a:r>
            <a:endParaRPr/>
          </a:p>
        </p:txBody>
      </p:sp>
      <p:sp>
        <p:nvSpPr>
          <p:cNvPr id="327" name="" descr="{&quot;isTemplate&quot;:true,&quot;type&quot;:&quot;text&quot;}"/>
          <p:cNvSpPr txBox="1"/>
          <p:nvPr/>
        </p:nvSpPr>
        <p:spPr>
          <a:xfrm rot="0" flipH="0" flipV="0">
            <a:off x="4057650" y="5086350"/>
            <a:ext cx="571500" cy="95250"/>
          </a:xfrm>
          <a:prstGeom prst="rect"/>
        </p:spPr>
        <p:txBody>
          <a:bodyPr wrap="none" lIns="0" tIns="0" rIns="0" bIns="0"/>
          <a:p>
            <a:pPr>
              <a:lnSpc>
                <a:spcPct val="100000"/>
              </a:lnSpc>
            </a:pPr>
            <a:r>
              <a:rPr lang="en-US" sz="600">
                <a:solidFill>
                  <a:srgbClr val="B8BDC7"/>
                </a:solidFill>
                <a:latin typeface="Microsoft YaHei"/>
                <a:ea typeface="Microsoft YaHei"/>
              </a:rPr>
              <a:t>MANAGEMENT</a:t>
            </a:r>
            <a:endParaRPr/>
          </a:p>
        </p:txBody>
      </p:sp>
      <p:sp>
        <p:nvSpPr>
          <p:cNvPr id="328" name="" descr="{&quot;isTemplate&quot;:true,&quot;type&quot;:&quot;text&quot;}"/>
          <p:cNvSpPr txBox="1"/>
          <p:nvPr/>
        </p:nvSpPr>
        <p:spPr>
          <a:xfrm rot="0" flipH="0" flipV="0">
            <a:off x="4743450" y="4886325"/>
            <a:ext cx="1181100" cy="219075"/>
          </a:xfrm>
          <a:prstGeom prst="rect"/>
        </p:spPr>
        <p:txBody>
          <a:bodyPr wrap="none" lIns="0" tIns="0" rIns="0" bIns="0"/>
          <a:p>
            <a:pPr>
              <a:lnSpc>
                <a:spcPct val="100000"/>
              </a:lnSpc>
            </a:pPr>
            <a:r>
              <a:rPr lang="zh-CN" sz="1425" b="1">
                <a:solidFill>
                  <a:srgbClr val="0F1423"/>
                </a:solidFill>
                <a:latin typeface="Microsoft YaHei"/>
                <a:ea typeface="Microsoft YaHei"/>
              </a:rPr>
              <a:t>管理视角要求</a:t>
            </a:r>
            <a:endParaRPr/>
          </a:p>
        </p:txBody>
      </p:sp>
      <p:sp>
        <p:nvSpPr>
          <p:cNvPr id="329" name="" descr="{&quot;isTemplate&quot;:true,&quot;type&quot;:&quot;text&quot;}"/>
          <p:cNvSpPr txBox="1"/>
          <p:nvPr/>
        </p:nvSpPr>
        <p:spPr>
          <a:xfrm rot="0" flipH="0" flipV="0">
            <a:off x="6057900" y="4762500"/>
            <a:ext cx="4152900" cy="466725"/>
          </a:xfrm>
          <a:prstGeom prst="rect"/>
        </p:spPr>
        <p:txBody>
          <a:bodyPr wrap="square" lIns="0" tIns="0" rIns="0" bIns="0">
            <a:normAutofit/>
          </a:bodyPr>
          <a:p>
            <a:pPr>
              <a:lnSpc>
                <a:spcPct val="145000"/>
              </a:lnSpc>
            </a:pPr>
            <a:r>
              <a:rPr lang="zh-CN" sz="1050">
                <a:solidFill>
                  <a:srgbClr val="3A4050"/>
                </a:solidFill>
                <a:latin typeface="Microsoft YaHei"/>
                <a:ea typeface="Microsoft YaHei"/>
              </a:rPr>
              <a:t>明确各业务部门在数据标准管理方面应承担的责任：业务规则责任主体、数据维护责任主体、数据监控责任主体。</a:t>
            </a:r>
            <a:endParaRPr/>
          </a:p>
        </p:txBody>
      </p:sp>
      <p:sp>
        <p:nvSpPr>
          <p:cNvPr id="330" name=""/>
          <p:cNvSpPr/>
          <p:nvPr/>
        </p:nvSpPr>
        <p:spPr>
          <a:xfrm rot="0" flipH="0" flipV="0">
            <a:off x="10344150" y="4848225"/>
            <a:ext cx="1066800" cy="285750"/>
          </a:xfrm>
          <a:prstGeom prst="roundRect">
            <a:avLst>
              <a:gd name="adj" fmla="val 10000"/>
            </a:avLst>
          </a:prstGeom>
          <a:solidFill>
            <a:srgbClr val="FA4F24">
              <a:alpha val="10000"/>
            </a:srgbClr>
          </a:solidFill>
          <a:ln/>
        </p:spPr>
        <p:txBody>
          <a:bodyPr/>
          <a:p>
            <a:pPr/>
            <a:endParaRPr/>
          </a:p>
        </p:txBody>
      </p:sp>
      <p:sp>
        <p:nvSpPr>
          <p:cNvPr id="331" name="" descr="{&quot;isTemplate&quot;:true,&quot;type&quot;:&quot;text&quot;}"/>
          <p:cNvSpPr txBox="1"/>
          <p:nvPr/>
        </p:nvSpPr>
        <p:spPr>
          <a:xfrm rot="0" flipH="0" flipV="0">
            <a:off x="10382250" y="4905375"/>
            <a:ext cx="990600" cy="171450"/>
          </a:xfrm>
          <a:prstGeom prst="rect"/>
        </p:spPr>
        <p:txBody>
          <a:bodyPr wrap="none" lIns="0" tIns="0" rIns="0" bIns="0"/>
          <a:p>
            <a:pPr algn="ctr">
              <a:lnSpc>
                <a:spcPct val="130000"/>
              </a:lnSpc>
            </a:pPr>
            <a:r>
              <a:rPr lang="zh-CN" sz="825">
                <a:solidFill>
                  <a:srgbClr val="C43A17"/>
                </a:solidFill>
                <a:latin typeface="Microsoft YaHei"/>
                <a:ea typeface="Microsoft YaHei"/>
              </a:rPr>
              <a:t>责任三分</a:t>
            </a:r>
            <a:r>
              <a:rPr lang="en-US" sz="825">
                <a:solidFill>
                  <a:srgbClr val="C43A17"/>
                </a:solidFill>
                <a:latin typeface="Microsoft YaHei"/>
                <a:ea typeface="Microsoft YaHei"/>
              </a:rPr>
              <a:t xml:space="preserve"> · </a:t>
            </a:r>
            <a:r>
              <a:rPr lang="zh-CN" sz="825">
                <a:solidFill>
                  <a:srgbClr val="C43A17"/>
                </a:solidFill>
                <a:latin typeface="Microsoft YaHei"/>
                <a:ea typeface="Microsoft YaHei"/>
              </a:rPr>
              <a:t>事先约定</a:t>
            </a:r>
            <a:endParaRPr/>
          </a:p>
        </p:txBody>
      </p:sp>
      <p:sp>
        <p:nvSpPr>
          <p:cNvPr id="332" name=""/>
          <p:cNvSpPr/>
          <p:nvPr/>
        </p:nvSpPr>
        <p:spPr>
          <a:xfrm rot="0" flipH="0" flipV="0">
            <a:off x="609600" y="5943600"/>
            <a:ext cx="133350" cy="133350"/>
          </a:xfrm>
          <a:prstGeom prst="rect">
            <a:avLst/>
          </a:prstGeom>
          <a:solidFill>
            <a:srgbClr val="FA4F24"/>
          </a:solidFill>
          <a:ln/>
        </p:spPr>
        <p:txBody>
          <a:bodyPr/>
          <a:p>
            <a:pPr/>
            <a:endParaRPr/>
          </a:p>
        </p:txBody>
      </p:sp>
      <p:sp>
        <p:nvSpPr>
          <p:cNvPr id="333"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334"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17 / 30</a:t>
            </a:r>
            <a:endParaRPr/>
          </a:p>
        </p:txBody>
      </p:sp>
    </p:spTree>
  </p:cSld>
</p:sld>
</file>

<file path=ppt/slides/slide18.xml><?xml version="1.0" encoding="utf-8"?>
<p:sld xmlns:p="http://schemas.openxmlformats.org/presentationml/2006/main" xmlns:a="http://schemas.openxmlformats.org/drawingml/2006/main">
  <p:cSld>
    <p:spTree>
      <p:nvGrpSpPr>
        <p:cNvPr id="335" name=""/>
        <p:cNvGrpSpPr/>
        <p:nvPr/>
      </p:nvGrpSpPr>
      <p:grpSpPr>
        <a:xfrm>
          <a:off x="0" y="0"/>
          <a:ext cx="0" cy="0"/>
          <a:chOff x="0" y="0"/>
          <a:chExt cx="0" cy="0"/>
        </a:xfrm>
      </p:grpSpPr>
      <p:sp>
        <p:nvSpPr>
          <p:cNvPr id="336" name=""/>
          <p:cNvSpPr/>
          <p:nvPr/>
        </p:nvSpPr>
        <p:spPr>
          <a:xfrm rot="0" flipH="0" flipV="0">
            <a:off x="0" y="0"/>
            <a:ext cx="12192000" cy="6858000"/>
          </a:xfrm>
          <a:prstGeom prst="rect">
            <a:avLst/>
          </a:prstGeom>
          <a:solidFill>
            <a:srgbClr val="FFFFFF"/>
          </a:solidFill>
          <a:ln/>
        </p:spPr>
        <p:txBody>
          <a:bodyPr/>
          <a:p>
            <a:pPr/>
            <a:endParaRPr/>
          </a:p>
        </p:txBody>
      </p:sp>
      <p:sp>
        <p:nvSpPr>
          <p:cNvPr id="337"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之内容：</a:t>
            </a:r>
            <a:r>
              <a:rPr lang="zh-CN" sz="2400" b="1">
                <a:solidFill>
                  <a:srgbClr val="FA4F24"/>
                </a:solidFill>
                <a:latin typeface="Microsoft YaHei"/>
                <a:ea typeface="Microsoft YaHei"/>
              </a:rPr>
              <a:t>业务术语、同义词与数据标准</a:t>
            </a:r>
            <a:r>
              <a:rPr lang="zh-CN" sz="2400" b="1">
                <a:solidFill>
                  <a:srgbClr val="0F1423"/>
                </a:solidFill>
                <a:latin typeface="Microsoft YaHei"/>
                <a:ea typeface="Microsoft YaHei"/>
              </a:rPr>
              <a:t>，把「各说各的」变成「共同语言」</a:t>
            </a:r>
            <a:endParaRPr/>
          </a:p>
        </p:txBody>
      </p:sp>
      <p:sp>
        <p:nvSpPr>
          <p:cNvPr id="338"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数据标准落到属性层：定义公司层面需共同遵守的属性含义与业务规则，防止上下游各自定义、反复翻译</a:t>
            </a:r>
            <a:endParaRPr/>
          </a:p>
        </p:txBody>
      </p:sp>
      <p:sp>
        <p:nvSpPr>
          <p:cNvPr id="339" name=""/>
          <p:cNvSpPr/>
          <p:nvPr/>
        </p:nvSpPr>
        <p:spPr>
          <a:xfrm rot="0" flipH="0" flipV="0">
            <a:off x="609600" y="1143000"/>
            <a:ext cx="10972800" cy="9525"/>
          </a:xfrm>
          <a:prstGeom prst="rect">
            <a:avLst/>
          </a:prstGeom>
          <a:solidFill>
            <a:srgbClr val="E8E8E8"/>
          </a:solidFill>
          <a:ln/>
        </p:spPr>
        <p:txBody>
          <a:bodyPr/>
          <a:p>
            <a:pPr/>
            <a:endParaRPr/>
          </a:p>
        </p:txBody>
      </p:sp>
      <p:sp>
        <p:nvSpPr>
          <p:cNvPr id="340" name="" descr="{&quot;isTemplate&quot;:true,&quot;type&quot;:&quot;text&quot;}"/>
          <p:cNvSpPr txBox="1"/>
          <p:nvPr/>
        </p:nvSpPr>
        <p:spPr>
          <a:xfrm rot="0" flipH="0" flipV="0">
            <a:off x="609600" y="1381125"/>
            <a:ext cx="5715000" cy="228600"/>
          </a:xfrm>
          <a:prstGeom prst="rect"/>
        </p:spPr>
        <p:txBody>
          <a:bodyPr wrap="none" lIns="0" tIns="0" rIns="0" bIns="0"/>
          <a:p>
            <a:pPr>
              <a:lnSpc>
                <a:spcPct val="100000"/>
              </a:lnSpc>
            </a:pPr>
            <a:r>
              <a:rPr lang="zh-CN" sz="1500" b="1">
                <a:solidFill>
                  <a:srgbClr val="0F1423"/>
                </a:solidFill>
                <a:latin typeface="Microsoft YaHei"/>
                <a:ea typeface="Microsoft YaHei"/>
              </a:rPr>
              <a:t>示例：同义词收敛（业务视角）</a:t>
            </a:r>
            <a:endParaRPr/>
          </a:p>
        </p:txBody>
      </p:sp>
      <p:sp>
        <p:nvSpPr>
          <p:cNvPr id="341" name=""/>
          <p:cNvSpPr/>
          <p:nvPr/>
        </p:nvSpPr>
        <p:spPr>
          <a:xfrm rot="0" flipH="0" flipV="0">
            <a:off x="609600" y="1743075"/>
            <a:ext cx="5715000" cy="2905125"/>
          </a:xfrm>
          <a:prstGeom prst="roundRect">
            <a:avLst>
              <a:gd name="adj" fmla="val 1311"/>
            </a:avLst>
          </a:prstGeom>
          <a:solidFill>
            <a:srgbClr val="F7F7F8"/>
          </a:solidFill>
          <a:ln/>
        </p:spPr>
        <p:txBody>
          <a:bodyPr/>
          <a:p>
            <a:pPr/>
            <a:endParaRPr/>
          </a:p>
        </p:txBody>
      </p:sp>
      <p:sp>
        <p:nvSpPr>
          <p:cNvPr id="342" name=""/>
          <p:cNvSpPr/>
          <p:nvPr/>
        </p:nvSpPr>
        <p:spPr>
          <a:xfrm rot="0" flipH="0" flipV="0">
            <a:off x="800100" y="1914525"/>
            <a:ext cx="5334000" cy="704850"/>
          </a:xfrm>
          <a:prstGeom prst="roundRect">
            <a:avLst>
              <a:gd name="adj" fmla="val 4054"/>
            </a:avLst>
          </a:prstGeom>
          <a:solidFill>
            <a:srgbClr val="FFFFFF"/>
          </a:solidFill>
          <a:ln/>
        </p:spPr>
        <p:txBody>
          <a:bodyPr/>
          <a:p>
            <a:pPr/>
            <a:endParaRPr/>
          </a:p>
        </p:txBody>
      </p:sp>
      <p:sp>
        <p:nvSpPr>
          <p:cNvPr id="343" name="" descr="{&quot;isTemplate&quot;:true,&quot;type&quot;:&quot;text&quot;}"/>
          <p:cNvSpPr txBox="1"/>
          <p:nvPr/>
        </p:nvSpPr>
        <p:spPr>
          <a:xfrm rot="0" flipH="0" flipV="0">
            <a:off x="952500" y="2038350"/>
            <a:ext cx="5029200" cy="228600"/>
          </a:xfrm>
          <a:prstGeom prst="rect"/>
        </p:spPr>
        <p:txBody>
          <a:bodyPr wrap="none" lIns="0" tIns="0" rIns="0" bIns="0"/>
          <a:p>
            <a:pPr>
              <a:lnSpc>
                <a:spcPct val="140000"/>
              </a:lnSpc>
            </a:pPr>
            <a:r>
              <a:rPr lang="zh-CN" sz="1050">
                <a:solidFill>
                  <a:srgbClr val="3A4050"/>
                </a:solidFill>
                <a:latin typeface="Microsoft YaHei"/>
                <a:ea typeface="Microsoft YaHei"/>
              </a:rPr>
              <a:t>客户名称</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客户名</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客商名称</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买方名称</a:t>
            </a:r>
            <a:endParaRPr/>
          </a:p>
        </p:txBody>
      </p:sp>
      <p:sp>
        <p:nvSpPr>
          <p:cNvPr id="344" name="" descr="{&quot;isTemplate&quot;:true,&quot;type&quot;:&quot;text&quot;}"/>
          <p:cNvSpPr txBox="1"/>
          <p:nvPr/>
        </p:nvSpPr>
        <p:spPr>
          <a:xfrm rot="0" flipH="0" flipV="0">
            <a:off x="952500" y="2324100"/>
            <a:ext cx="5029200" cy="171450"/>
          </a:xfrm>
          <a:prstGeom prst="rect"/>
        </p:spPr>
        <p:txBody>
          <a:bodyPr wrap="none" lIns="0" tIns="0" rIns="0" bIns="0"/>
          <a:p>
            <a:pPr>
              <a:lnSpc>
                <a:spcPct val="100000"/>
              </a:lnSpc>
            </a:pPr>
            <a:r>
              <a:rPr lang="zh-CN" sz="1125" b="1">
                <a:solidFill>
                  <a:srgbClr val="C43A17"/>
                </a:solidFill>
                <a:latin typeface="Microsoft YaHei"/>
                <a:ea typeface="Microsoft YaHei"/>
              </a:rPr>
              <a:t>统一为</a:t>
            </a:r>
            <a:r>
              <a:rPr lang="en-US" sz="1125" b="1">
                <a:solidFill>
                  <a:srgbClr val="C43A17"/>
                </a:solidFill>
                <a:latin typeface="Microsoft YaHei"/>
                <a:ea typeface="Microsoft YaHei"/>
              </a:rPr>
              <a:t xml:space="preserve"> → </a:t>
            </a:r>
            <a:r>
              <a:rPr lang="zh-CN" sz="1125" b="1">
                <a:solidFill>
                  <a:srgbClr val="C43A17"/>
                </a:solidFill>
                <a:latin typeface="Microsoft YaHei"/>
                <a:ea typeface="Microsoft YaHei"/>
              </a:rPr>
              <a:t>客户名称</a:t>
            </a:r>
            <a:endParaRPr/>
          </a:p>
        </p:txBody>
      </p:sp>
      <p:sp>
        <p:nvSpPr>
          <p:cNvPr id="345" name=""/>
          <p:cNvSpPr/>
          <p:nvPr/>
        </p:nvSpPr>
        <p:spPr>
          <a:xfrm rot="0" flipH="0" flipV="0">
            <a:off x="800100" y="2724150"/>
            <a:ext cx="5334000" cy="704850"/>
          </a:xfrm>
          <a:prstGeom prst="roundRect">
            <a:avLst>
              <a:gd name="adj" fmla="val 4054"/>
            </a:avLst>
          </a:prstGeom>
          <a:solidFill>
            <a:srgbClr val="FFFFFF"/>
          </a:solidFill>
          <a:ln/>
        </p:spPr>
        <p:txBody>
          <a:bodyPr/>
          <a:p>
            <a:pPr/>
            <a:endParaRPr/>
          </a:p>
        </p:txBody>
      </p:sp>
      <p:sp>
        <p:nvSpPr>
          <p:cNvPr id="346" name="" descr="{&quot;isTemplate&quot;:true,&quot;type&quot;:&quot;text&quot;}"/>
          <p:cNvSpPr txBox="1"/>
          <p:nvPr/>
        </p:nvSpPr>
        <p:spPr>
          <a:xfrm rot="0" flipH="0" flipV="0">
            <a:off x="952500" y="2847975"/>
            <a:ext cx="5029200" cy="228600"/>
          </a:xfrm>
          <a:prstGeom prst="rect"/>
        </p:spPr>
        <p:txBody>
          <a:bodyPr wrap="none" lIns="0" tIns="0" rIns="0" bIns="0"/>
          <a:p>
            <a:pPr>
              <a:lnSpc>
                <a:spcPct val="140000"/>
              </a:lnSpc>
            </a:pPr>
            <a:r>
              <a:rPr lang="zh-CN" sz="1050">
                <a:solidFill>
                  <a:srgbClr val="3A4050"/>
                </a:solidFill>
                <a:latin typeface="Microsoft YaHei"/>
                <a:ea typeface="Microsoft YaHei"/>
              </a:rPr>
              <a:t>合同号</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合同编号</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协议编号</a:t>
            </a:r>
            <a:endParaRPr/>
          </a:p>
        </p:txBody>
      </p:sp>
      <p:sp>
        <p:nvSpPr>
          <p:cNvPr id="347" name="" descr="{&quot;isTemplate&quot;:true,&quot;type&quot;:&quot;text&quot;}"/>
          <p:cNvSpPr txBox="1"/>
          <p:nvPr/>
        </p:nvSpPr>
        <p:spPr>
          <a:xfrm rot="0" flipH="0" flipV="0">
            <a:off x="952500" y="3133725"/>
            <a:ext cx="5029200" cy="171450"/>
          </a:xfrm>
          <a:prstGeom prst="rect"/>
        </p:spPr>
        <p:txBody>
          <a:bodyPr wrap="none" lIns="0" tIns="0" rIns="0" bIns="0"/>
          <a:p>
            <a:pPr>
              <a:lnSpc>
                <a:spcPct val="100000"/>
              </a:lnSpc>
            </a:pPr>
            <a:r>
              <a:rPr lang="zh-CN" sz="1125" b="1">
                <a:solidFill>
                  <a:srgbClr val="C43A17"/>
                </a:solidFill>
                <a:latin typeface="Microsoft YaHei"/>
                <a:ea typeface="Microsoft YaHei"/>
              </a:rPr>
              <a:t>统一为</a:t>
            </a:r>
            <a:r>
              <a:rPr lang="en-US" sz="1125" b="1">
                <a:solidFill>
                  <a:srgbClr val="C43A17"/>
                </a:solidFill>
                <a:latin typeface="Microsoft YaHei"/>
                <a:ea typeface="Microsoft YaHei"/>
              </a:rPr>
              <a:t xml:space="preserve"> → </a:t>
            </a:r>
            <a:r>
              <a:rPr lang="zh-CN" sz="1125" b="1">
                <a:solidFill>
                  <a:srgbClr val="C43A17"/>
                </a:solidFill>
                <a:latin typeface="Microsoft YaHei"/>
                <a:ea typeface="Microsoft YaHei"/>
              </a:rPr>
              <a:t>合同编号</a:t>
            </a:r>
            <a:endParaRPr/>
          </a:p>
        </p:txBody>
      </p:sp>
      <p:sp>
        <p:nvSpPr>
          <p:cNvPr id="348" name=""/>
          <p:cNvSpPr/>
          <p:nvPr/>
        </p:nvSpPr>
        <p:spPr>
          <a:xfrm rot="0" flipH="0" flipV="0">
            <a:off x="800100" y="3533775"/>
            <a:ext cx="5334000" cy="704850"/>
          </a:xfrm>
          <a:prstGeom prst="roundRect">
            <a:avLst>
              <a:gd name="adj" fmla="val 4054"/>
            </a:avLst>
          </a:prstGeom>
          <a:solidFill>
            <a:srgbClr val="FFFFFF"/>
          </a:solidFill>
          <a:ln/>
        </p:spPr>
        <p:txBody>
          <a:bodyPr/>
          <a:p>
            <a:pPr/>
            <a:endParaRPr/>
          </a:p>
        </p:txBody>
      </p:sp>
      <p:sp>
        <p:nvSpPr>
          <p:cNvPr id="349" name="" descr="{&quot;isTemplate&quot;:true,&quot;type&quot;:&quot;text&quot;}"/>
          <p:cNvSpPr txBox="1"/>
          <p:nvPr/>
        </p:nvSpPr>
        <p:spPr>
          <a:xfrm rot="0" flipH="0" flipV="0">
            <a:off x="952500" y="3657600"/>
            <a:ext cx="5029200" cy="228600"/>
          </a:xfrm>
          <a:prstGeom prst="rect"/>
        </p:spPr>
        <p:txBody>
          <a:bodyPr wrap="none" lIns="0" tIns="0" rIns="0" bIns="0"/>
          <a:p>
            <a:pPr>
              <a:lnSpc>
                <a:spcPct val="140000"/>
              </a:lnSpc>
            </a:pPr>
            <a:r>
              <a:rPr lang="zh-CN" sz="1050">
                <a:solidFill>
                  <a:srgbClr val="3A4050"/>
                </a:solidFill>
                <a:latin typeface="Microsoft YaHei"/>
                <a:ea typeface="Microsoft YaHei"/>
              </a:rPr>
              <a:t>物料编码</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物料号</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产品编码</a:t>
            </a:r>
            <a:r>
              <a:rPr lang="en-US" sz="1050">
                <a:solidFill>
                  <a:srgbClr val="3A4050"/>
                </a:solidFill>
                <a:latin typeface="Microsoft YaHei"/>
                <a:ea typeface="Microsoft YaHei"/>
              </a:rPr>
              <a:t xml:space="preserve"> / SKU</a:t>
            </a:r>
            <a:endParaRPr/>
          </a:p>
        </p:txBody>
      </p:sp>
      <p:sp>
        <p:nvSpPr>
          <p:cNvPr id="350" name="" descr="{&quot;isTemplate&quot;:true,&quot;type&quot;:&quot;text&quot;}"/>
          <p:cNvSpPr txBox="1"/>
          <p:nvPr/>
        </p:nvSpPr>
        <p:spPr>
          <a:xfrm rot="0" flipH="0" flipV="0">
            <a:off x="952500" y="3943350"/>
            <a:ext cx="5029200" cy="171450"/>
          </a:xfrm>
          <a:prstGeom prst="rect"/>
        </p:spPr>
        <p:txBody>
          <a:bodyPr wrap="none" lIns="0" tIns="0" rIns="0" bIns="0"/>
          <a:p>
            <a:pPr>
              <a:lnSpc>
                <a:spcPct val="100000"/>
              </a:lnSpc>
            </a:pPr>
            <a:r>
              <a:rPr lang="zh-CN" sz="1125" b="1">
                <a:solidFill>
                  <a:srgbClr val="C43A17"/>
                </a:solidFill>
                <a:latin typeface="Microsoft YaHei"/>
                <a:ea typeface="Microsoft YaHei"/>
              </a:rPr>
              <a:t>统一为</a:t>
            </a:r>
            <a:r>
              <a:rPr lang="en-US" sz="1125" b="1">
                <a:solidFill>
                  <a:srgbClr val="C43A17"/>
                </a:solidFill>
                <a:latin typeface="Microsoft YaHei"/>
                <a:ea typeface="Microsoft YaHei"/>
              </a:rPr>
              <a:t xml:space="preserve"> → </a:t>
            </a:r>
            <a:r>
              <a:rPr lang="zh-CN" sz="1125" b="1">
                <a:solidFill>
                  <a:srgbClr val="C43A17"/>
                </a:solidFill>
                <a:latin typeface="Microsoft YaHei"/>
                <a:ea typeface="Microsoft YaHei"/>
              </a:rPr>
              <a:t>物料编码</a:t>
            </a:r>
            <a:endParaRPr/>
          </a:p>
        </p:txBody>
      </p:sp>
      <p:sp>
        <p:nvSpPr>
          <p:cNvPr id="351" name=""/>
          <p:cNvSpPr/>
          <p:nvPr/>
        </p:nvSpPr>
        <p:spPr>
          <a:xfrm rot="0" flipH="0" flipV="0">
            <a:off x="609600" y="4781550"/>
            <a:ext cx="5715000" cy="800100"/>
          </a:xfrm>
          <a:prstGeom prst="roundRect">
            <a:avLst>
              <a:gd name="adj" fmla="val 4762"/>
            </a:avLst>
          </a:prstGeom>
          <a:solidFill>
            <a:srgbClr val="FA4F24">
              <a:alpha val="6000"/>
            </a:srgbClr>
          </a:solidFill>
          <a:ln/>
        </p:spPr>
        <p:txBody>
          <a:bodyPr/>
          <a:p>
            <a:pPr/>
            <a:endParaRPr/>
          </a:p>
        </p:txBody>
      </p:sp>
      <p:sp>
        <p:nvSpPr>
          <p:cNvPr id="352" name="" descr="{&quot;isTemplate&quot;:true,&quot;type&quot;:&quot;text&quot;}"/>
          <p:cNvSpPr txBox="1"/>
          <p:nvPr/>
        </p:nvSpPr>
        <p:spPr>
          <a:xfrm rot="0" flipH="0" flipV="0">
            <a:off x="781050" y="4914900"/>
            <a:ext cx="5372100" cy="5334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不统一会怎样：</a:t>
            </a:r>
            <a:r>
              <a:rPr lang="zh-CN" sz="1125">
                <a:solidFill>
                  <a:srgbClr val="3A4050"/>
                </a:solidFill>
                <a:latin typeface="Microsoft YaHei"/>
                <a:ea typeface="Microsoft YaHei"/>
              </a:rPr>
              <a:t>同一份数据在不同环节叫不同名字，下游系统就必须额外做人工转换和翻译，极大增加人工成本、延长业务执行周期。</a:t>
            </a:r>
            <a:endParaRPr/>
          </a:p>
        </p:txBody>
      </p:sp>
      <p:sp>
        <p:nvSpPr>
          <p:cNvPr id="353" name=""/>
          <p:cNvSpPr/>
          <p:nvPr/>
        </p:nvSpPr>
        <p:spPr>
          <a:xfrm rot="0" flipH="0" flipV="0">
            <a:off x="6534150" y="1419225"/>
            <a:ext cx="5048250" cy="1400175"/>
          </a:xfrm>
          <a:prstGeom prst="roundRect">
            <a:avLst>
              <a:gd name="adj" fmla="val 2721"/>
            </a:avLst>
          </a:prstGeom>
          <a:solidFill>
            <a:srgbClr val="F7F7F8"/>
          </a:solidFill>
          <a:ln/>
        </p:spPr>
        <p:txBody>
          <a:bodyPr/>
          <a:p>
            <a:pPr/>
            <a:endParaRPr/>
          </a:p>
        </p:txBody>
      </p:sp>
      <p:sp>
        <p:nvSpPr>
          <p:cNvPr id="354" name=""/>
          <p:cNvSpPr/>
          <p:nvPr/>
        </p:nvSpPr>
        <p:spPr>
          <a:xfrm rot="0" flipH="0" flipV="0">
            <a:off x="6534150" y="1419225"/>
            <a:ext cx="5048250" cy="1400175"/>
          </a:xfrm>
          <a:custGeom>
            <a:pathLst>
              <a:path w="530" h="147">
                <a:moveTo>
                  <a:pt x="526" y="0"/>
                </a:moveTo>
                <a:cubicBezTo>
                  <a:pt x="528" y="0"/>
                  <a:pt x="530" y="2"/>
                  <a:pt x="530" y="4"/>
                </a:cubicBezTo>
                <a:lnTo>
                  <a:pt x="0" y="4"/>
                </a:lnTo>
                <a:cubicBezTo>
                  <a:pt x="0" y="2"/>
                  <a:pt x="2" y="0"/>
                  <a:pt x="4" y="0"/>
                </a:cubicBezTo>
                <a:lnTo>
                  <a:pt x="526" y="0"/>
                </a:lnTo>
                <a:close/>
              </a:path>
            </a:pathLst>
          </a:custGeom>
          <a:solidFill>
            <a:srgbClr val="F87D2F"/>
          </a:solidFill>
          <a:ln/>
        </p:spPr>
        <p:txBody>
          <a:bodyPr/>
          <a:p>
            <a:pPr/>
            <a:endParaRPr/>
          </a:p>
        </p:txBody>
      </p:sp>
      <p:sp>
        <p:nvSpPr>
          <p:cNvPr id="355" name="" descr="{&quot;isTemplate&quot;:true,&quot;type&quot;:&quot;text&quot;}"/>
          <p:cNvSpPr txBox="1"/>
          <p:nvPr/>
        </p:nvSpPr>
        <p:spPr>
          <a:xfrm rot="0" flipH="0" flipV="0">
            <a:off x="6724650" y="1581150"/>
            <a:ext cx="4667250" cy="161925"/>
          </a:xfrm>
          <a:prstGeom prst="rect"/>
        </p:spPr>
        <p:txBody>
          <a:bodyPr wrap="none" lIns="0" tIns="0" rIns="0" bIns="0"/>
          <a:p>
            <a:pPr>
              <a:lnSpc>
                <a:spcPct val="100000"/>
              </a:lnSpc>
            </a:pPr>
            <a:r>
              <a:rPr lang="zh-CN" sz="1050" b="1">
                <a:solidFill>
                  <a:srgbClr val="F87D2F"/>
                </a:solidFill>
                <a:latin typeface="Microsoft YaHei"/>
                <a:ea typeface="Microsoft YaHei"/>
              </a:rPr>
              <a:t>交付物一</a:t>
            </a:r>
            <a:endParaRPr/>
          </a:p>
        </p:txBody>
      </p:sp>
      <p:sp>
        <p:nvSpPr>
          <p:cNvPr id="356" name="" descr="{&quot;isTemplate&quot;:true,&quot;type&quot;:&quot;text&quot;}"/>
          <p:cNvSpPr txBox="1"/>
          <p:nvPr/>
        </p:nvSpPr>
        <p:spPr>
          <a:xfrm rot="0" flipH="0" flipV="0">
            <a:off x="6724650" y="1819275"/>
            <a:ext cx="4667250" cy="219075"/>
          </a:xfrm>
          <a:prstGeom prst="rect"/>
        </p:spPr>
        <p:txBody>
          <a:bodyPr wrap="none" lIns="0" tIns="0" rIns="0" bIns="0"/>
          <a:p>
            <a:pPr>
              <a:lnSpc>
                <a:spcPct val="100000"/>
              </a:lnSpc>
            </a:pPr>
            <a:r>
              <a:rPr lang="zh-CN" sz="1425" b="1">
                <a:solidFill>
                  <a:srgbClr val="0F1423"/>
                </a:solidFill>
                <a:latin typeface="Microsoft YaHei"/>
                <a:ea typeface="Microsoft YaHei"/>
              </a:rPr>
              <a:t>业务术语表</a:t>
            </a:r>
            <a:endParaRPr/>
          </a:p>
        </p:txBody>
      </p:sp>
      <p:sp>
        <p:nvSpPr>
          <p:cNvPr id="357" name="" descr="{&quot;isTemplate&quot;:true,&quot;type&quot;:&quot;text&quot;}"/>
          <p:cNvSpPr txBox="1"/>
          <p:nvPr/>
        </p:nvSpPr>
        <p:spPr>
          <a:xfrm rot="0" flipH="0" flipV="0">
            <a:off x="6724650" y="2114550"/>
            <a:ext cx="4667250" cy="51435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统一的企业级业务词汇定义，是数据标准的业务侧基础，也是业务人员与技术人员的翻译表。</a:t>
            </a:r>
            <a:endParaRPr/>
          </a:p>
        </p:txBody>
      </p:sp>
      <p:sp>
        <p:nvSpPr>
          <p:cNvPr id="358" name=""/>
          <p:cNvSpPr/>
          <p:nvPr/>
        </p:nvSpPr>
        <p:spPr>
          <a:xfrm rot="0" flipH="0" flipV="0">
            <a:off x="6534150" y="2943225"/>
            <a:ext cx="5048250" cy="1409700"/>
          </a:xfrm>
          <a:prstGeom prst="roundRect">
            <a:avLst>
              <a:gd name="adj" fmla="val 2703"/>
            </a:avLst>
          </a:prstGeom>
          <a:solidFill>
            <a:srgbClr val="F7F7F8"/>
          </a:solidFill>
          <a:ln/>
        </p:spPr>
        <p:txBody>
          <a:bodyPr/>
          <a:p>
            <a:pPr/>
            <a:endParaRPr/>
          </a:p>
        </p:txBody>
      </p:sp>
      <p:sp>
        <p:nvSpPr>
          <p:cNvPr id="359" name=""/>
          <p:cNvSpPr/>
          <p:nvPr/>
        </p:nvSpPr>
        <p:spPr>
          <a:xfrm rot="0" flipH="0" flipV="0">
            <a:off x="6534150" y="2943225"/>
            <a:ext cx="5048250" cy="1409700"/>
          </a:xfrm>
          <a:custGeom>
            <a:pathLst>
              <a:path w="530" h="148">
                <a:moveTo>
                  <a:pt x="526" y="0"/>
                </a:moveTo>
                <a:cubicBezTo>
                  <a:pt x="528" y="0"/>
                  <a:pt x="530" y="2"/>
                  <a:pt x="530" y="4"/>
                </a:cubicBezTo>
                <a:lnTo>
                  <a:pt x="0" y="4"/>
                </a:lnTo>
                <a:cubicBezTo>
                  <a:pt x="0" y="2"/>
                  <a:pt x="2" y="0"/>
                  <a:pt x="4" y="0"/>
                </a:cubicBezTo>
                <a:lnTo>
                  <a:pt x="526" y="0"/>
                </a:lnTo>
                <a:close/>
              </a:path>
            </a:pathLst>
          </a:custGeom>
          <a:solidFill>
            <a:srgbClr val="F87D2F"/>
          </a:solidFill>
          <a:ln/>
        </p:spPr>
        <p:txBody>
          <a:bodyPr/>
          <a:p>
            <a:pPr/>
            <a:endParaRPr/>
          </a:p>
        </p:txBody>
      </p:sp>
      <p:sp>
        <p:nvSpPr>
          <p:cNvPr id="360" name="" descr="{&quot;isTemplate&quot;:true,&quot;type&quot;:&quot;text&quot;}"/>
          <p:cNvSpPr txBox="1"/>
          <p:nvPr/>
        </p:nvSpPr>
        <p:spPr>
          <a:xfrm rot="0" flipH="0" flipV="0">
            <a:off x="6724650" y="3105150"/>
            <a:ext cx="4667250" cy="161925"/>
          </a:xfrm>
          <a:prstGeom prst="rect"/>
        </p:spPr>
        <p:txBody>
          <a:bodyPr wrap="none" lIns="0" tIns="0" rIns="0" bIns="0"/>
          <a:p>
            <a:pPr>
              <a:lnSpc>
                <a:spcPct val="100000"/>
              </a:lnSpc>
            </a:pPr>
            <a:r>
              <a:rPr lang="zh-CN" sz="1050" b="1">
                <a:solidFill>
                  <a:srgbClr val="F87D2F"/>
                </a:solidFill>
                <a:latin typeface="Microsoft YaHei"/>
                <a:ea typeface="Microsoft YaHei"/>
              </a:rPr>
              <a:t>交付物二</a:t>
            </a:r>
            <a:endParaRPr/>
          </a:p>
        </p:txBody>
      </p:sp>
      <p:sp>
        <p:nvSpPr>
          <p:cNvPr id="361" name="" descr="{&quot;isTemplate&quot;:true,&quot;type&quot;:&quot;text&quot;}"/>
          <p:cNvSpPr txBox="1"/>
          <p:nvPr/>
        </p:nvSpPr>
        <p:spPr>
          <a:xfrm rot="0" flipH="0" flipV="0">
            <a:off x="6724650" y="3343275"/>
            <a:ext cx="4667250" cy="219075"/>
          </a:xfrm>
          <a:prstGeom prst="rect"/>
        </p:spPr>
        <p:txBody>
          <a:bodyPr wrap="none" lIns="0" tIns="0" rIns="0" bIns="0"/>
          <a:p>
            <a:pPr>
              <a:lnSpc>
                <a:spcPct val="100000"/>
              </a:lnSpc>
            </a:pPr>
            <a:r>
              <a:rPr lang="zh-CN" sz="1425" b="1">
                <a:solidFill>
                  <a:srgbClr val="0F1423"/>
                </a:solidFill>
                <a:latin typeface="Microsoft YaHei"/>
                <a:ea typeface="Microsoft YaHei"/>
              </a:rPr>
              <a:t>数据标准集</a:t>
            </a:r>
            <a:endParaRPr/>
          </a:p>
        </p:txBody>
      </p:sp>
      <p:sp>
        <p:nvSpPr>
          <p:cNvPr id="362" name="" descr="{&quot;isTemplate&quot;:true,&quot;type&quot;:&quot;text&quot;}"/>
          <p:cNvSpPr txBox="1"/>
          <p:nvPr/>
        </p:nvSpPr>
        <p:spPr>
          <a:xfrm rot="0" flipH="0" flipV="0">
            <a:off x="6724650" y="3638550"/>
            <a:ext cx="4667250" cy="51435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按</a:t>
            </a:r>
            <a:r>
              <a:rPr lang="en-US" sz="1125">
                <a:solidFill>
                  <a:srgbClr val="3A4050"/>
                </a:solidFill>
                <a:latin typeface="Microsoft YaHei"/>
                <a:ea typeface="Microsoft YaHei"/>
              </a:rPr>
              <a:t xml:space="preserve"> L5 </a:t>
            </a:r>
            <a:r>
              <a:rPr lang="zh-CN" sz="1125">
                <a:solidFill>
                  <a:srgbClr val="3A4050"/>
                </a:solidFill>
                <a:latin typeface="Microsoft YaHei"/>
                <a:ea typeface="Microsoft YaHei"/>
              </a:rPr>
              <a:t>属性逐条定义业务定义与用途、业务规则、同义词、数据类型长度、允许值。</a:t>
            </a:r>
            <a:endParaRPr/>
          </a:p>
        </p:txBody>
      </p:sp>
      <p:sp>
        <p:nvSpPr>
          <p:cNvPr id="363" name=""/>
          <p:cNvSpPr/>
          <p:nvPr/>
        </p:nvSpPr>
        <p:spPr>
          <a:xfrm rot="0" flipH="0" flipV="0">
            <a:off x="6534150" y="4476750"/>
            <a:ext cx="5048250" cy="1143000"/>
          </a:xfrm>
          <a:prstGeom prst="roundRect">
            <a:avLst>
              <a:gd name="adj" fmla="val 3333"/>
            </a:avLst>
          </a:prstGeom>
          <a:solidFill>
            <a:srgbClr val="F7F7F8"/>
          </a:solidFill>
          <a:ln/>
        </p:spPr>
        <p:txBody>
          <a:bodyPr/>
          <a:p>
            <a:pPr/>
            <a:endParaRPr/>
          </a:p>
        </p:txBody>
      </p:sp>
      <p:sp>
        <p:nvSpPr>
          <p:cNvPr id="364" name=""/>
          <p:cNvSpPr/>
          <p:nvPr/>
        </p:nvSpPr>
        <p:spPr>
          <a:xfrm rot="0" flipH="0" flipV="0">
            <a:off x="6534150" y="4476750"/>
            <a:ext cx="5048250" cy="1143000"/>
          </a:xfrm>
          <a:custGeom>
            <a:pathLst>
              <a:path w="530" h="120">
                <a:moveTo>
                  <a:pt x="526" y="0"/>
                </a:moveTo>
                <a:cubicBezTo>
                  <a:pt x="528" y="0"/>
                  <a:pt x="530" y="2"/>
                  <a:pt x="530" y="4"/>
                </a:cubicBezTo>
                <a:lnTo>
                  <a:pt x="0" y="4"/>
                </a:lnTo>
                <a:cubicBezTo>
                  <a:pt x="0" y="2"/>
                  <a:pt x="2" y="0"/>
                  <a:pt x="4" y="0"/>
                </a:cubicBezTo>
                <a:lnTo>
                  <a:pt x="526" y="0"/>
                </a:lnTo>
                <a:close/>
              </a:path>
            </a:pathLst>
          </a:custGeom>
          <a:solidFill>
            <a:srgbClr val="F87D2F"/>
          </a:solidFill>
          <a:ln/>
        </p:spPr>
        <p:txBody>
          <a:bodyPr/>
          <a:p>
            <a:pPr/>
            <a:endParaRPr/>
          </a:p>
        </p:txBody>
      </p:sp>
      <p:sp>
        <p:nvSpPr>
          <p:cNvPr id="365" name="" descr="{&quot;isTemplate&quot;:true,&quot;type&quot;:&quot;text&quot;}"/>
          <p:cNvSpPr txBox="1"/>
          <p:nvPr/>
        </p:nvSpPr>
        <p:spPr>
          <a:xfrm rot="0" flipH="0" flipV="0">
            <a:off x="6724650" y="4638675"/>
            <a:ext cx="4667250" cy="161925"/>
          </a:xfrm>
          <a:prstGeom prst="rect"/>
        </p:spPr>
        <p:txBody>
          <a:bodyPr wrap="none" lIns="0" tIns="0" rIns="0" bIns="0"/>
          <a:p>
            <a:pPr>
              <a:lnSpc>
                <a:spcPct val="100000"/>
              </a:lnSpc>
            </a:pPr>
            <a:r>
              <a:rPr lang="zh-CN" sz="1050" b="1">
                <a:solidFill>
                  <a:srgbClr val="F87D2F"/>
                </a:solidFill>
                <a:latin typeface="Microsoft YaHei"/>
                <a:ea typeface="Microsoft YaHei"/>
              </a:rPr>
              <a:t>交付物三</a:t>
            </a:r>
            <a:endParaRPr/>
          </a:p>
        </p:txBody>
      </p:sp>
      <p:sp>
        <p:nvSpPr>
          <p:cNvPr id="366" name="" descr="{&quot;isTemplate&quot;:true,&quot;type&quot;:&quot;text&quot;}"/>
          <p:cNvSpPr txBox="1"/>
          <p:nvPr/>
        </p:nvSpPr>
        <p:spPr>
          <a:xfrm rot="0" flipH="0" flipV="0">
            <a:off x="6724650" y="4876800"/>
            <a:ext cx="4667250" cy="219075"/>
          </a:xfrm>
          <a:prstGeom prst="rect"/>
        </p:spPr>
        <p:txBody>
          <a:bodyPr wrap="none" lIns="0" tIns="0" rIns="0" bIns="0"/>
          <a:p>
            <a:pPr>
              <a:lnSpc>
                <a:spcPct val="100000"/>
              </a:lnSpc>
            </a:pPr>
            <a:r>
              <a:rPr lang="zh-CN" sz="1425" b="1">
                <a:solidFill>
                  <a:srgbClr val="0F1423"/>
                </a:solidFill>
                <a:latin typeface="Microsoft YaHei"/>
                <a:ea typeface="Microsoft YaHei"/>
              </a:rPr>
              <a:t>标准变更流程</a:t>
            </a:r>
            <a:endParaRPr/>
          </a:p>
        </p:txBody>
      </p:sp>
      <p:sp>
        <p:nvSpPr>
          <p:cNvPr id="367" name="" descr="{&quot;isTemplate&quot;:true,&quot;type&quot;:&quot;text&quot;}"/>
          <p:cNvSpPr txBox="1"/>
          <p:nvPr/>
        </p:nvSpPr>
        <p:spPr>
          <a:xfrm rot="0" flipH="0" flipV="0">
            <a:off x="6724650" y="5172075"/>
            <a:ext cx="4667250" cy="257175"/>
          </a:xfrm>
          <a:prstGeom prst="rect"/>
        </p:spPr>
        <p:txBody>
          <a:bodyPr wrap="none" lIns="0" tIns="0" rIns="0" bIns="0"/>
          <a:p>
            <a:pPr>
              <a:lnSpc>
                <a:spcPct val="150000"/>
              </a:lnSpc>
            </a:pPr>
            <a:r>
              <a:rPr lang="zh-CN" sz="1125">
                <a:solidFill>
                  <a:srgbClr val="3A4050"/>
                </a:solidFill>
                <a:latin typeface="Microsoft YaHei"/>
                <a:ea typeface="Microsoft YaHei"/>
              </a:rPr>
              <a:t>标准的申请、评审、发布、废止流程，保证标准能随业务演进而非僵化。</a:t>
            </a:r>
            <a:endParaRPr/>
          </a:p>
        </p:txBody>
      </p:sp>
      <p:sp>
        <p:nvSpPr>
          <p:cNvPr id="368" name=""/>
          <p:cNvSpPr/>
          <p:nvPr/>
        </p:nvSpPr>
        <p:spPr>
          <a:xfrm rot="0" flipH="0" flipV="0">
            <a:off x="609600" y="5943600"/>
            <a:ext cx="133350" cy="133350"/>
          </a:xfrm>
          <a:prstGeom prst="rect">
            <a:avLst/>
          </a:prstGeom>
          <a:solidFill>
            <a:srgbClr val="FA4F24"/>
          </a:solidFill>
          <a:ln/>
        </p:spPr>
        <p:txBody>
          <a:bodyPr/>
          <a:p>
            <a:pPr/>
            <a:endParaRPr/>
          </a:p>
        </p:txBody>
      </p:sp>
      <p:sp>
        <p:nvSpPr>
          <p:cNvPr id="369"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370"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18 / 30</a:t>
            </a:r>
            <a:endParaRPr/>
          </a:p>
        </p:txBody>
      </p:sp>
    </p:spTree>
  </p:cSld>
</p:sld>
</file>

<file path=ppt/slides/slide19.xml><?xml version="1.0" encoding="utf-8"?>
<p:sld xmlns:p="http://schemas.openxmlformats.org/presentationml/2006/main" xmlns:a="http://schemas.openxmlformats.org/drawingml/2006/main">
  <p:cSld>
    <p:spTree>
      <p:nvGrpSpPr>
        <p:cNvPr id="371" name=""/>
        <p:cNvGrpSpPr/>
        <p:nvPr/>
      </p:nvGrpSpPr>
      <p:grpSpPr>
        <a:xfrm>
          <a:off x="0" y="0"/>
          <a:ext cx="0" cy="0"/>
          <a:chOff x="0" y="0"/>
          <a:chExt cx="0" cy="0"/>
        </a:xfrm>
      </p:grpSpPr>
      <p:sp>
        <p:nvSpPr>
          <p:cNvPr id="372" name=""/>
          <p:cNvSpPr/>
          <p:nvPr/>
        </p:nvSpPr>
        <p:spPr>
          <a:xfrm rot="0" flipH="0" flipV="0">
            <a:off x="0" y="0"/>
            <a:ext cx="12192000" cy="6858000"/>
          </a:xfrm>
          <a:prstGeom prst="rect">
            <a:avLst/>
          </a:prstGeom>
          <a:solidFill>
            <a:srgbClr val="FFFFFF"/>
          </a:solidFill>
          <a:ln/>
        </p:spPr>
        <p:txBody>
          <a:bodyPr/>
          <a:p>
            <a:pPr/>
            <a:endParaRPr/>
          </a:p>
        </p:txBody>
      </p:sp>
      <p:sp>
        <p:nvSpPr>
          <p:cNvPr id="373"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之模板：</a:t>
            </a:r>
            <a:r>
              <a:rPr lang="zh-CN" sz="2400" b="1">
                <a:solidFill>
                  <a:srgbClr val="FA4F24"/>
                </a:solidFill>
                <a:latin typeface="Microsoft YaHei"/>
                <a:ea typeface="Microsoft YaHei"/>
              </a:rPr>
              <a:t>数据标准卡</a:t>
            </a:r>
            <a:r>
              <a:rPr lang="zh-CN" sz="2400" b="1">
                <a:solidFill>
                  <a:srgbClr val="0F1423"/>
                </a:solidFill>
                <a:latin typeface="Microsoft YaHei"/>
                <a:ea typeface="Microsoft YaHei"/>
              </a:rPr>
              <a:t>——三视角一卡，规则与责任一次写清</a:t>
            </a:r>
            <a:endParaRPr/>
          </a:p>
        </p:txBody>
      </p:sp>
      <p:sp>
        <p:nvSpPr>
          <p:cNvPr id="374"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管理视角必须「三责分立」：规则制订者、数据维护者、质量监控者往往不是同一个部门</a:t>
            </a:r>
            <a:endParaRPr/>
          </a:p>
        </p:txBody>
      </p:sp>
      <p:sp>
        <p:nvSpPr>
          <p:cNvPr id="375" name=""/>
          <p:cNvSpPr/>
          <p:nvPr/>
        </p:nvSpPr>
        <p:spPr>
          <a:xfrm rot="0" flipH="0" flipV="0">
            <a:off x="609600" y="1143000"/>
            <a:ext cx="10972800" cy="9525"/>
          </a:xfrm>
          <a:prstGeom prst="rect">
            <a:avLst/>
          </a:prstGeom>
          <a:solidFill>
            <a:srgbClr val="E8E8E8"/>
          </a:solidFill>
          <a:ln/>
        </p:spPr>
        <p:txBody>
          <a:bodyPr/>
          <a:p>
            <a:pPr/>
            <a:endParaRPr/>
          </a:p>
        </p:txBody>
      </p:sp>
      <p:sp>
        <p:nvSpPr>
          <p:cNvPr id="376" name=""/>
          <p:cNvSpPr/>
          <p:nvPr/>
        </p:nvSpPr>
        <p:spPr>
          <a:xfrm rot="0" flipH="0" flipV="0">
            <a:off x="609600" y="1362075"/>
            <a:ext cx="6286500" cy="4219575"/>
          </a:xfrm>
          <a:prstGeom prst="roundRect">
            <a:avLst>
              <a:gd name="adj" fmla="val 903"/>
            </a:avLst>
          </a:prstGeom>
          <a:ln w="12700">
            <a:solidFill>
              <a:srgbClr val="E8E8E8"/>
            </a:solidFill>
            <a:prstDash val="solid"/>
          </a:ln>
        </p:spPr>
        <p:txBody>
          <a:bodyPr/>
          <a:p>
            <a:pPr/>
            <a:endParaRPr/>
          </a:p>
        </p:txBody>
      </p:sp>
      <p:sp>
        <p:nvSpPr>
          <p:cNvPr id="377" name=""/>
          <p:cNvSpPr/>
          <p:nvPr/>
        </p:nvSpPr>
        <p:spPr>
          <a:xfrm rot="0" flipH="0" flipV="0">
            <a:off x="819150" y="1533525"/>
            <a:ext cx="5867400" cy="352425"/>
          </a:xfrm>
          <a:custGeom>
            <a:pathLst>
              <a:path w="616" h="37">
                <a:moveTo>
                  <a:pt x="0" y="35"/>
                </a:moveTo>
                <a:lnTo>
                  <a:pt x="616" y="35"/>
                </a:lnTo>
                <a:lnTo>
                  <a:pt x="616" y="37"/>
                </a:lnTo>
                <a:lnTo>
                  <a:pt x="0" y="37"/>
                </a:lnTo>
                <a:close/>
              </a:path>
            </a:pathLst>
          </a:custGeom>
          <a:solidFill>
            <a:srgbClr val="FA4F24"/>
          </a:solidFill>
          <a:ln/>
        </p:spPr>
        <p:txBody>
          <a:bodyPr/>
          <a:p>
            <a:pPr/>
            <a:endParaRPr/>
          </a:p>
        </p:txBody>
      </p:sp>
      <p:sp>
        <p:nvSpPr>
          <p:cNvPr id="378" name="" descr="{&quot;isTemplate&quot;:true,&quot;type&quot;:&quot;text&quot;}"/>
          <p:cNvSpPr txBox="1"/>
          <p:nvPr/>
        </p:nvSpPr>
        <p:spPr>
          <a:xfrm rot="0" flipH="0" flipV="0">
            <a:off x="819150" y="1533525"/>
            <a:ext cx="904875" cy="219075"/>
          </a:xfrm>
          <a:prstGeom prst="rect"/>
        </p:spPr>
        <p:txBody>
          <a:bodyPr wrap="none" lIns="0" tIns="0" rIns="0" bIns="0"/>
          <a:p>
            <a:pPr>
              <a:lnSpc>
                <a:spcPct val="100000"/>
              </a:lnSpc>
            </a:pPr>
            <a:r>
              <a:rPr lang="zh-CN" sz="1425" b="1">
                <a:solidFill>
                  <a:srgbClr val="0F1423"/>
                </a:solidFill>
                <a:latin typeface="Microsoft YaHei"/>
                <a:ea typeface="Microsoft YaHei"/>
              </a:rPr>
              <a:t>数据标准卡</a:t>
            </a:r>
            <a:endParaRPr/>
          </a:p>
        </p:txBody>
      </p:sp>
      <p:sp>
        <p:nvSpPr>
          <p:cNvPr id="379" name="" descr="{&quot;isTemplate&quot;:true,&quot;type&quot;:&quot;text&quot;}"/>
          <p:cNvSpPr txBox="1"/>
          <p:nvPr/>
        </p:nvSpPr>
        <p:spPr>
          <a:xfrm rot="0" flipH="0" flipV="0">
            <a:off x="5219700" y="1571625"/>
            <a:ext cx="1466850" cy="152400"/>
          </a:xfrm>
          <a:prstGeom prst="rect"/>
        </p:spPr>
        <p:txBody>
          <a:bodyPr wrap="none" lIns="0" tIns="0" rIns="0" bIns="0"/>
          <a:p>
            <a:pPr>
              <a:lnSpc>
                <a:spcPct val="100000"/>
              </a:lnSpc>
            </a:pPr>
            <a:r>
              <a:rPr lang="zh-CN" sz="975">
                <a:solidFill>
                  <a:srgbClr val="8A8F99"/>
                </a:solidFill>
                <a:latin typeface="Microsoft YaHei"/>
                <a:ea typeface="Microsoft YaHei"/>
              </a:rPr>
              <a:t>示例：客户合同</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合同编号</a:t>
            </a:r>
            <a:endParaRPr/>
          </a:p>
        </p:txBody>
      </p:sp>
      <p:sp>
        <p:nvSpPr>
          <p:cNvPr id="380" name="" descr="{&quot;isTemplate&quot;:true,&quot;type&quot;:&quot;text&quot;}"/>
          <p:cNvSpPr txBox="1"/>
          <p:nvPr/>
        </p:nvSpPr>
        <p:spPr>
          <a:xfrm rot="0" flipH="0" flipV="0">
            <a:off x="819150" y="1981200"/>
            <a:ext cx="5867400" cy="171450"/>
          </a:xfrm>
          <a:prstGeom prst="rect"/>
        </p:spPr>
        <p:txBody>
          <a:bodyPr wrap="none" lIns="0" tIns="0" rIns="0" bIns="0"/>
          <a:p>
            <a:pPr>
              <a:lnSpc>
                <a:spcPct val="100000"/>
              </a:lnSpc>
            </a:pPr>
            <a:r>
              <a:rPr lang="zh-CN" sz="1125" b="1">
                <a:solidFill>
                  <a:srgbClr val="FA4F24"/>
                </a:solidFill>
                <a:latin typeface="Microsoft YaHei"/>
                <a:ea typeface="Microsoft YaHei"/>
              </a:rPr>
              <a:t>业务视角</a:t>
            </a:r>
            <a:endParaRPr/>
          </a:p>
        </p:txBody>
      </p:sp>
      <p:sp>
        <p:nvSpPr>
          <p:cNvPr id="381" name=""/>
          <p:cNvSpPr/>
          <p:nvPr/>
        </p:nvSpPr>
        <p:spPr>
          <a:xfrm rot="0" flipH="0" flipV="0">
            <a:off x="819150" y="2209800"/>
            <a:ext cx="5867400" cy="333375"/>
          </a:xfrm>
          <a:prstGeom prst="roundRect">
            <a:avLst>
              <a:gd name="adj" fmla="val 8571"/>
            </a:avLst>
          </a:prstGeom>
          <a:solidFill>
            <a:srgbClr val="F7F7F8"/>
          </a:solidFill>
          <a:ln/>
        </p:spPr>
        <p:txBody>
          <a:bodyPr/>
          <a:p>
            <a:pPr/>
            <a:endParaRPr/>
          </a:p>
        </p:txBody>
      </p:sp>
      <p:sp>
        <p:nvSpPr>
          <p:cNvPr id="382" name="" descr="{&quot;isTemplate&quot;:true,&quot;type&quot;:&quot;text&quot;}"/>
          <p:cNvSpPr txBox="1"/>
          <p:nvPr/>
        </p:nvSpPr>
        <p:spPr>
          <a:xfrm rot="0" flipH="0" flipV="0">
            <a:off x="933450" y="2276475"/>
            <a:ext cx="742950" cy="200025"/>
          </a:xfrm>
          <a:prstGeom prst="rect"/>
        </p:spPr>
        <p:txBody>
          <a:bodyPr wrap="none" lIns="0" tIns="0" rIns="0" bIns="0"/>
          <a:p>
            <a:pPr>
              <a:lnSpc>
                <a:spcPct val="100000"/>
              </a:lnSpc>
            </a:pPr>
            <a:r>
              <a:rPr lang="zh-CN" sz="975">
                <a:solidFill>
                  <a:srgbClr val="0F1423"/>
                </a:solidFill>
                <a:latin typeface="Microsoft YaHei"/>
                <a:ea typeface="Microsoft YaHei"/>
              </a:rPr>
              <a:t>业务定义</a:t>
            </a:r>
            <a:endParaRPr/>
          </a:p>
        </p:txBody>
      </p:sp>
      <p:sp>
        <p:nvSpPr>
          <p:cNvPr id="383" name="" descr="{&quot;isTemplate&quot;:true,&quot;type&quot;:&quot;text&quot;}"/>
          <p:cNvSpPr txBox="1"/>
          <p:nvPr/>
        </p:nvSpPr>
        <p:spPr>
          <a:xfrm rot="0" flipH="0" flipV="0">
            <a:off x="1790700" y="2276475"/>
            <a:ext cx="4781550" cy="200025"/>
          </a:xfrm>
          <a:prstGeom prst="rect"/>
        </p:spPr>
        <p:txBody>
          <a:bodyPr wrap="none" lIns="0" tIns="0" rIns="0" bIns="0"/>
          <a:p>
            <a:pPr>
              <a:lnSpc>
                <a:spcPct val="130000"/>
              </a:lnSpc>
            </a:pPr>
            <a:r>
              <a:rPr lang="zh-CN" sz="975">
                <a:solidFill>
                  <a:srgbClr val="3A4050"/>
                </a:solidFill>
                <a:latin typeface="Microsoft YaHei"/>
                <a:ea typeface="Microsoft YaHei"/>
              </a:rPr>
              <a:t>企业与客户签约的唯一合同标识</a:t>
            </a:r>
            <a:endParaRPr/>
          </a:p>
        </p:txBody>
      </p:sp>
      <p:sp>
        <p:nvSpPr>
          <p:cNvPr id="384" name=""/>
          <p:cNvSpPr/>
          <p:nvPr/>
        </p:nvSpPr>
        <p:spPr>
          <a:xfrm rot="0" flipH="0" flipV="0">
            <a:off x="819150" y="2600325"/>
            <a:ext cx="5867400" cy="333375"/>
          </a:xfrm>
          <a:prstGeom prst="roundRect">
            <a:avLst>
              <a:gd name="adj" fmla="val 8571"/>
            </a:avLst>
          </a:prstGeom>
          <a:solidFill>
            <a:srgbClr val="F7F7F8"/>
          </a:solidFill>
          <a:ln/>
        </p:spPr>
        <p:txBody>
          <a:bodyPr/>
          <a:p>
            <a:pPr/>
            <a:endParaRPr/>
          </a:p>
        </p:txBody>
      </p:sp>
      <p:sp>
        <p:nvSpPr>
          <p:cNvPr id="385" name="" descr="{&quot;isTemplate&quot;:true,&quot;type&quot;:&quot;text&quot;}"/>
          <p:cNvSpPr txBox="1"/>
          <p:nvPr/>
        </p:nvSpPr>
        <p:spPr>
          <a:xfrm rot="0" flipH="0" flipV="0">
            <a:off x="933450" y="2667000"/>
            <a:ext cx="742950" cy="200025"/>
          </a:xfrm>
          <a:prstGeom prst="rect"/>
        </p:spPr>
        <p:txBody>
          <a:bodyPr wrap="none" lIns="0" tIns="0" rIns="0" bIns="0"/>
          <a:p>
            <a:pPr>
              <a:lnSpc>
                <a:spcPct val="100000"/>
              </a:lnSpc>
            </a:pPr>
            <a:r>
              <a:rPr lang="zh-CN" sz="975">
                <a:solidFill>
                  <a:srgbClr val="0F1423"/>
                </a:solidFill>
                <a:latin typeface="Microsoft YaHei"/>
                <a:ea typeface="Microsoft YaHei"/>
              </a:rPr>
              <a:t>业务规则</a:t>
            </a:r>
            <a:endParaRPr/>
          </a:p>
        </p:txBody>
      </p:sp>
      <p:sp>
        <p:nvSpPr>
          <p:cNvPr id="386" name="" descr="{&quot;isTemplate&quot;:true,&quot;type&quot;:&quot;text&quot;}"/>
          <p:cNvSpPr txBox="1"/>
          <p:nvPr/>
        </p:nvSpPr>
        <p:spPr>
          <a:xfrm rot="0" flipH="0" flipV="0">
            <a:off x="1790700" y="2667000"/>
            <a:ext cx="4781550" cy="200025"/>
          </a:xfrm>
          <a:prstGeom prst="rect"/>
        </p:spPr>
        <p:txBody>
          <a:bodyPr wrap="none" lIns="0" tIns="0" rIns="0" bIns="0"/>
          <a:p>
            <a:pPr>
              <a:lnSpc>
                <a:spcPct val="130000"/>
              </a:lnSpc>
            </a:pPr>
            <a:r>
              <a:rPr lang="zh-CN" sz="975">
                <a:solidFill>
                  <a:srgbClr val="3A4050"/>
                </a:solidFill>
                <a:latin typeface="Microsoft YaHei"/>
                <a:ea typeface="Microsoft YaHei"/>
              </a:rPr>
              <a:t>签约时由系统自动生成，人工不得修改</a:t>
            </a:r>
            <a:endParaRPr/>
          </a:p>
        </p:txBody>
      </p:sp>
      <p:sp>
        <p:nvSpPr>
          <p:cNvPr id="387" name=""/>
          <p:cNvSpPr/>
          <p:nvPr/>
        </p:nvSpPr>
        <p:spPr>
          <a:xfrm rot="0" flipH="0" flipV="0">
            <a:off x="819150" y="2990850"/>
            <a:ext cx="5867400" cy="333375"/>
          </a:xfrm>
          <a:prstGeom prst="roundRect">
            <a:avLst>
              <a:gd name="adj" fmla="val 8571"/>
            </a:avLst>
          </a:prstGeom>
          <a:solidFill>
            <a:srgbClr val="F7F7F8"/>
          </a:solidFill>
          <a:ln/>
        </p:spPr>
        <p:txBody>
          <a:bodyPr/>
          <a:p>
            <a:pPr/>
            <a:endParaRPr/>
          </a:p>
        </p:txBody>
      </p:sp>
      <p:sp>
        <p:nvSpPr>
          <p:cNvPr id="388" name="" descr="{&quot;isTemplate&quot;:true,&quot;type&quot;:&quot;text&quot;}"/>
          <p:cNvSpPr txBox="1"/>
          <p:nvPr/>
        </p:nvSpPr>
        <p:spPr>
          <a:xfrm rot="0" flipH="0" flipV="0">
            <a:off x="933450" y="3057525"/>
            <a:ext cx="742950" cy="200025"/>
          </a:xfrm>
          <a:prstGeom prst="rect"/>
        </p:spPr>
        <p:txBody>
          <a:bodyPr wrap="none" lIns="0" tIns="0" rIns="0" bIns="0"/>
          <a:p>
            <a:pPr>
              <a:lnSpc>
                <a:spcPct val="100000"/>
              </a:lnSpc>
            </a:pPr>
            <a:r>
              <a:rPr lang="zh-CN" sz="975">
                <a:solidFill>
                  <a:srgbClr val="0F1423"/>
                </a:solidFill>
                <a:latin typeface="Microsoft YaHei"/>
                <a:ea typeface="Microsoft YaHei"/>
              </a:rPr>
              <a:t>同义词</a:t>
            </a:r>
            <a:endParaRPr/>
          </a:p>
        </p:txBody>
      </p:sp>
      <p:sp>
        <p:nvSpPr>
          <p:cNvPr id="389" name="" descr="{&quot;isTemplate&quot;:true,&quot;type&quot;:&quot;text&quot;}"/>
          <p:cNvSpPr txBox="1"/>
          <p:nvPr/>
        </p:nvSpPr>
        <p:spPr>
          <a:xfrm rot="0" flipH="0" flipV="0">
            <a:off x="1790700" y="3057525"/>
            <a:ext cx="4781550" cy="200025"/>
          </a:xfrm>
          <a:prstGeom prst="rect"/>
        </p:spPr>
        <p:txBody>
          <a:bodyPr wrap="none" lIns="0" tIns="0" rIns="0" bIns="0"/>
          <a:p>
            <a:pPr>
              <a:lnSpc>
                <a:spcPct val="130000"/>
              </a:lnSpc>
            </a:pPr>
            <a:r>
              <a:rPr lang="zh-CN" sz="975">
                <a:solidFill>
                  <a:srgbClr val="3A4050"/>
                </a:solidFill>
                <a:latin typeface="Microsoft YaHei"/>
                <a:ea typeface="Microsoft YaHei"/>
              </a:rPr>
              <a:t>合同号</a:t>
            </a:r>
            <a:r>
              <a:rPr lang="en-US" sz="975">
                <a:solidFill>
                  <a:srgbClr val="3A4050"/>
                </a:solidFill>
                <a:latin typeface="Microsoft YaHei"/>
                <a:ea typeface="Microsoft YaHei"/>
              </a:rPr>
              <a:t xml:space="preserve"> / </a:t>
            </a:r>
            <a:r>
              <a:rPr lang="zh-CN" sz="975">
                <a:solidFill>
                  <a:srgbClr val="3A4050"/>
                </a:solidFill>
                <a:latin typeface="Microsoft YaHei"/>
                <a:ea typeface="Microsoft YaHei"/>
              </a:rPr>
              <a:t>协议编号（须统一收敛）</a:t>
            </a:r>
            <a:endParaRPr/>
          </a:p>
        </p:txBody>
      </p:sp>
      <p:sp>
        <p:nvSpPr>
          <p:cNvPr id="390" name="" descr="{&quot;isTemplate&quot;:true,&quot;type&quot;:&quot;text&quot;}"/>
          <p:cNvSpPr txBox="1"/>
          <p:nvPr/>
        </p:nvSpPr>
        <p:spPr>
          <a:xfrm rot="0" flipH="0" flipV="0">
            <a:off x="819150" y="3438525"/>
            <a:ext cx="5867400" cy="171450"/>
          </a:xfrm>
          <a:prstGeom prst="rect"/>
        </p:spPr>
        <p:txBody>
          <a:bodyPr wrap="none" lIns="0" tIns="0" rIns="0" bIns="0"/>
          <a:p>
            <a:pPr>
              <a:lnSpc>
                <a:spcPct val="100000"/>
              </a:lnSpc>
            </a:pPr>
            <a:r>
              <a:rPr lang="zh-CN" sz="1125" b="1">
                <a:solidFill>
                  <a:srgbClr val="F87D2F"/>
                </a:solidFill>
                <a:latin typeface="Microsoft YaHei"/>
                <a:ea typeface="Microsoft YaHei"/>
              </a:rPr>
              <a:t>技术视角</a:t>
            </a:r>
            <a:endParaRPr/>
          </a:p>
        </p:txBody>
      </p:sp>
      <p:sp>
        <p:nvSpPr>
          <p:cNvPr id="391" name=""/>
          <p:cNvSpPr/>
          <p:nvPr/>
        </p:nvSpPr>
        <p:spPr>
          <a:xfrm rot="0" flipH="0" flipV="0">
            <a:off x="819150" y="3667125"/>
            <a:ext cx="5867400" cy="333375"/>
          </a:xfrm>
          <a:prstGeom prst="roundRect">
            <a:avLst>
              <a:gd name="adj" fmla="val 8571"/>
            </a:avLst>
          </a:prstGeom>
          <a:solidFill>
            <a:srgbClr val="F7F7F8"/>
          </a:solidFill>
          <a:ln/>
        </p:spPr>
        <p:txBody>
          <a:bodyPr/>
          <a:p>
            <a:pPr/>
            <a:endParaRPr/>
          </a:p>
        </p:txBody>
      </p:sp>
      <p:sp>
        <p:nvSpPr>
          <p:cNvPr id="392" name="" descr="{&quot;isTemplate&quot;:true,&quot;type&quot;:&quot;text&quot;}"/>
          <p:cNvSpPr txBox="1"/>
          <p:nvPr/>
        </p:nvSpPr>
        <p:spPr>
          <a:xfrm rot="0" flipH="0" flipV="0">
            <a:off x="933450" y="3733800"/>
            <a:ext cx="1123950" cy="200025"/>
          </a:xfrm>
          <a:prstGeom prst="rect"/>
        </p:spPr>
        <p:txBody>
          <a:bodyPr wrap="none" lIns="0" tIns="0" rIns="0" bIns="0"/>
          <a:p>
            <a:pPr>
              <a:lnSpc>
                <a:spcPct val="100000"/>
              </a:lnSpc>
            </a:pPr>
            <a:r>
              <a:rPr lang="zh-CN" sz="975">
                <a:solidFill>
                  <a:srgbClr val="0F1423"/>
                </a:solidFill>
                <a:latin typeface="Microsoft YaHei"/>
                <a:ea typeface="Microsoft YaHei"/>
              </a:rPr>
              <a:t>数据类型</a:t>
            </a:r>
            <a:r>
              <a:rPr lang="en-US" sz="975">
                <a:solidFill>
                  <a:srgbClr val="0F1423"/>
                </a:solidFill>
                <a:latin typeface="Microsoft YaHei"/>
                <a:ea typeface="Microsoft YaHei"/>
              </a:rPr>
              <a:t xml:space="preserve"> / </a:t>
            </a:r>
            <a:r>
              <a:rPr lang="zh-CN" sz="975">
                <a:solidFill>
                  <a:srgbClr val="0F1423"/>
                </a:solidFill>
                <a:latin typeface="Microsoft YaHei"/>
                <a:ea typeface="Microsoft YaHei"/>
              </a:rPr>
              <a:t>长度</a:t>
            </a:r>
            <a:endParaRPr/>
          </a:p>
        </p:txBody>
      </p:sp>
      <p:sp>
        <p:nvSpPr>
          <p:cNvPr id="393" name="" descr="{&quot;isTemplate&quot;:true,&quot;type&quot;:&quot;text&quot;}"/>
          <p:cNvSpPr txBox="1"/>
          <p:nvPr/>
        </p:nvSpPr>
        <p:spPr>
          <a:xfrm rot="0" flipH="0" flipV="0">
            <a:off x="2171700" y="3733800"/>
            <a:ext cx="4400550" cy="200025"/>
          </a:xfrm>
          <a:prstGeom prst="rect"/>
        </p:spPr>
        <p:txBody>
          <a:bodyPr wrap="none" lIns="0" tIns="0" rIns="0" bIns="0"/>
          <a:p>
            <a:pPr>
              <a:lnSpc>
                <a:spcPct val="130000"/>
              </a:lnSpc>
            </a:pPr>
            <a:r>
              <a:rPr lang="en-US" sz="975">
                <a:solidFill>
                  <a:srgbClr val="3A4050"/>
                </a:solidFill>
                <a:latin typeface="Microsoft YaHei"/>
                <a:ea typeface="Microsoft YaHei"/>
              </a:rPr>
              <a:t>VARCHAR(32)</a:t>
            </a:r>
            <a:endParaRPr/>
          </a:p>
        </p:txBody>
      </p:sp>
      <p:sp>
        <p:nvSpPr>
          <p:cNvPr id="394" name=""/>
          <p:cNvSpPr/>
          <p:nvPr/>
        </p:nvSpPr>
        <p:spPr>
          <a:xfrm rot="0" flipH="0" flipV="0">
            <a:off x="819150" y="4057650"/>
            <a:ext cx="5867400" cy="333375"/>
          </a:xfrm>
          <a:prstGeom prst="roundRect">
            <a:avLst>
              <a:gd name="adj" fmla="val 8571"/>
            </a:avLst>
          </a:prstGeom>
          <a:solidFill>
            <a:srgbClr val="F7F7F8"/>
          </a:solidFill>
          <a:ln/>
        </p:spPr>
        <p:txBody>
          <a:bodyPr/>
          <a:p>
            <a:pPr/>
            <a:endParaRPr/>
          </a:p>
        </p:txBody>
      </p:sp>
      <p:sp>
        <p:nvSpPr>
          <p:cNvPr id="395" name="" descr="{&quot;isTemplate&quot;:true,&quot;type&quot;:&quot;text&quot;}"/>
          <p:cNvSpPr txBox="1"/>
          <p:nvPr/>
        </p:nvSpPr>
        <p:spPr>
          <a:xfrm rot="0" flipH="0" flipV="0">
            <a:off x="933450" y="4124325"/>
            <a:ext cx="1123950" cy="200025"/>
          </a:xfrm>
          <a:prstGeom prst="rect"/>
        </p:spPr>
        <p:txBody>
          <a:bodyPr wrap="none" lIns="0" tIns="0" rIns="0" bIns="0"/>
          <a:p>
            <a:pPr>
              <a:lnSpc>
                <a:spcPct val="100000"/>
              </a:lnSpc>
            </a:pPr>
            <a:r>
              <a:rPr lang="zh-CN" sz="975">
                <a:solidFill>
                  <a:srgbClr val="0F1423"/>
                </a:solidFill>
                <a:latin typeface="Microsoft YaHei"/>
                <a:ea typeface="Microsoft YaHei"/>
              </a:rPr>
              <a:t>允许值</a:t>
            </a:r>
            <a:r>
              <a:rPr lang="en-US" sz="975">
                <a:solidFill>
                  <a:srgbClr val="0F1423"/>
                </a:solidFill>
                <a:latin typeface="Microsoft YaHei"/>
                <a:ea typeface="Microsoft YaHei"/>
              </a:rPr>
              <a:t xml:space="preserve"> / </a:t>
            </a:r>
            <a:r>
              <a:rPr lang="zh-CN" sz="975">
                <a:solidFill>
                  <a:srgbClr val="0F1423"/>
                </a:solidFill>
                <a:latin typeface="Microsoft YaHei"/>
                <a:ea typeface="Microsoft YaHei"/>
              </a:rPr>
              <a:t>取值范围</a:t>
            </a:r>
            <a:endParaRPr/>
          </a:p>
        </p:txBody>
      </p:sp>
      <p:sp>
        <p:nvSpPr>
          <p:cNvPr id="396" name="" descr="{&quot;isTemplate&quot;:true,&quot;type&quot;:&quot;text&quot;}"/>
          <p:cNvSpPr txBox="1"/>
          <p:nvPr/>
        </p:nvSpPr>
        <p:spPr>
          <a:xfrm rot="0" flipH="0" flipV="0">
            <a:off x="2171700" y="4124325"/>
            <a:ext cx="4400550" cy="200025"/>
          </a:xfrm>
          <a:prstGeom prst="rect"/>
        </p:spPr>
        <p:txBody>
          <a:bodyPr wrap="none" lIns="0" tIns="0" rIns="0" bIns="0"/>
          <a:p>
            <a:pPr>
              <a:lnSpc>
                <a:spcPct val="130000"/>
              </a:lnSpc>
            </a:pPr>
            <a:r>
              <a:rPr lang="zh-CN" sz="975">
                <a:solidFill>
                  <a:srgbClr val="3A4050"/>
                </a:solidFill>
                <a:latin typeface="Microsoft YaHei"/>
                <a:ea typeface="Microsoft YaHei"/>
              </a:rPr>
              <a:t>大写字母</a:t>
            </a:r>
            <a:r>
              <a:rPr lang="en-US" sz="975">
                <a:solidFill>
                  <a:srgbClr val="3A4050"/>
                </a:solidFill>
                <a:latin typeface="Microsoft YaHei"/>
                <a:ea typeface="Microsoft YaHei"/>
              </a:rPr>
              <a:t>+</a:t>
            </a:r>
            <a:r>
              <a:rPr lang="zh-CN" sz="975">
                <a:solidFill>
                  <a:srgbClr val="3A4050"/>
                </a:solidFill>
                <a:latin typeface="Microsoft YaHei"/>
                <a:ea typeface="Microsoft YaHei"/>
              </a:rPr>
              <a:t>数字，前缀</a:t>
            </a:r>
            <a:r>
              <a:rPr lang="en-US" sz="975">
                <a:solidFill>
                  <a:srgbClr val="3A4050"/>
                </a:solidFill>
                <a:latin typeface="Microsoft YaHei"/>
                <a:ea typeface="Microsoft YaHei"/>
              </a:rPr>
              <a:t xml:space="preserve"> CT</a:t>
            </a:r>
            <a:r>
              <a:rPr lang="zh-CN" sz="975">
                <a:solidFill>
                  <a:srgbClr val="3A4050"/>
                </a:solidFill>
                <a:latin typeface="Microsoft YaHei"/>
                <a:ea typeface="Microsoft YaHei"/>
              </a:rPr>
              <a:t>，不允许特殊字符</a:t>
            </a:r>
            <a:endParaRPr/>
          </a:p>
        </p:txBody>
      </p:sp>
      <p:sp>
        <p:nvSpPr>
          <p:cNvPr id="397" name="" descr="{&quot;isTemplate&quot;:true,&quot;type&quot;:&quot;text&quot;}"/>
          <p:cNvSpPr txBox="1"/>
          <p:nvPr/>
        </p:nvSpPr>
        <p:spPr>
          <a:xfrm rot="0" flipH="0" flipV="0">
            <a:off x="819150" y="4505325"/>
            <a:ext cx="5867400" cy="171450"/>
          </a:xfrm>
          <a:prstGeom prst="rect"/>
        </p:spPr>
        <p:txBody>
          <a:bodyPr wrap="none" lIns="0" tIns="0" rIns="0" bIns="0"/>
          <a:p>
            <a:pPr>
              <a:lnSpc>
                <a:spcPct val="100000"/>
              </a:lnSpc>
            </a:pPr>
            <a:r>
              <a:rPr lang="zh-CN" sz="1125" b="1">
                <a:solidFill>
                  <a:srgbClr val="FA4F24"/>
                </a:solidFill>
                <a:latin typeface="Microsoft YaHei"/>
                <a:ea typeface="Microsoft YaHei"/>
              </a:rPr>
              <a:t>管理视角（三责分立）</a:t>
            </a:r>
            <a:endParaRPr/>
          </a:p>
        </p:txBody>
      </p:sp>
      <p:sp>
        <p:nvSpPr>
          <p:cNvPr id="398" name=""/>
          <p:cNvSpPr/>
          <p:nvPr/>
        </p:nvSpPr>
        <p:spPr>
          <a:xfrm rot="0" flipH="0" flipV="0">
            <a:off x="819150" y="4733925"/>
            <a:ext cx="1895475" cy="676275"/>
          </a:xfrm>
          <a:prstGeom prst="roundRect">
            <a:avLst>
              <a:gd name="adj" fmla="val 4225"/>
            </a:avLst>
          </a:prstGeom>
          <a:solidFill>
            <a:srgbClr val="F7F7F8"/>
          </a:solidFill>
          <a:ln/>
        </p:spPr>
        <p:txBody>
          <a:bodyPr/>
          <a:p>
            <a:pPr/>
            <a:endParaRPr/>
          </a:p>
        </p:txBody>
      </p:sp>
      <p:sp>
        <p:nvSpPr>
          <p:cNvPr id="399" name="" descr="{&quot;isTemplate&quot;:true,&quot;type&quot;:&quot;text&quot;}"/>
          <p:cNvSpPr txBox="1"/>
          <p:nvPr/>
        </p:nvSpPr>
        <p:spPr>
          <a:xfrm rot="0" flipH="0" flipV="0">
            <a:off x="933450" y="4876800"/>
            <a:ext cx="1666875" cy="142875"/>
          </a:xfrm>
          <a:prstGeom prst="rect"/>
        </p:spPr>
        <p:txBody>
          <a:bodyPr wrap="none" lIns="0" tIns="0" rIns="0" bIns="0"/>
          <a:p>
            <a:pPr>
              <a:lnSpc>
                <a:spcPct val="100000"/>
              </a:lnSpc>
            </a:pPr>
            <a:r>
              <a:rPr lang="zh-CN" sz="900">
                <a:solidFill>
                  <a:srgbClr val="8A8F99"/>
                </a:solidFill>
                <a:latin typeface="Microsoft YaHei"/>
                <a:ea typeface="Microsoft YaHei"/>
              </a:rPr>
              <a:t>规则责任主体</a:t>
            </a:r>
            <a:endParaRPr/>
          </a:p>
        </p:txBody>
      </p:sp>
      <p:sp>
        <p:nvSpPr>
          <p:cNvPr id="400" name="" descr="{&quot;isTemplate&quot;:true,&quot;type&quot;:&quot;text&quot;}"/>
          <p:cNvSpPr txBox="1"/>
          <p:nvPr/>
        </p:nvSpPr>
        <p:spPr>
          <a:xfrm rot="0" flipH="0" flipV="0">
            <a:off x="933450" y="5067300"/>
            <a:ext cx="1666875" cy="200025"/>
          </a:xfrm>
          <a:prstGeom prst="rect"/>
        </p:spPr>
        <p:txBody>
          <a:bodyPr wrap="none" lIns="0" tIns="0" rIns="0" bIns="0"/>
          <a:p>
            <a:pPr>
              <a:lnSpc>
                <a:spcPct val="130000"/>
              </a:lnSpc>
            </a:pPr>
            <a:r>
              <a:rPr lang="zh-CN" sz="975" b="1">
                <a:solidFill>
                  <a:srgbClr val="0F1423"/>
                </a:solidFill>
                <a:latin typeface="Microsoft YaHei"/>
                <a:ea typeface="Microsoft YaHei"/>
              </a:rPr>
              <a:t>财经部（制订合同条款规则）</a:t>
            </a:r>
            <a:endParaRPr/>
          </a:p>
        </p:txBody>
      </p:sp>
      <p:sp>
        <p:nvSpPr>
          <p:cNvPr id="401" name=""/>
          <p:cNvSpPr/>
          <p:nvPr/>
        </p:nvSpPr>
        <p:spPr>
          <a:xfrm rot="0" flipH="0" flipV="0">
            <a:off x="2809875" y="4733925"/>
            <a:ext cx="1885950" cy="676275"/>
          </a:xfrm>
          <a:prstGeom prst="roundRect">
            <a:avLst>
              <a:gd name="adj" fmla="val 4225"/>
            </a:avLst>
          </a:prstGeom>
          <a:solidFill>
            <a:srgbClr val="F7F7F8"/>
          </a:solidFill>
          <a:ln/>
        </p:spPr>
        <p:txBody>
          <a:bodyPr/>
          <a:p>
            <a:pPr/>
            <a:endParaRPr/>
          </a:p>
        </p:txBody>
      </p:sp>
      <p:sp>
        <p:nvSpPr>
          <p:cNvPr id="402" name="" descr="{&quot;isTemplate&quot;:true,&quot;type&quot;:&quot;text&quot;}"/>
          <p:cNvSpPr txBox="1"/>
          <p:nvPr/>
        </p:nvSpPr>
        <p:spPr>
          <a:xfrm rot="0" flipH="0" flipV="0">
            <a:off x="2924175" y="4876800"/>
            <a:ext cx="1657350" cy="142875"/>
          </a:xfrm>
          <a:prstGeom prst="rect"/>
        </p:spPr>
        <p:txBody>
          <a:bodyPr wrap="none" lIns="0" tIns="0" rIns="0" bIns="0"/>
          <a:p>
            <a:pPr>
              <a:lnSpc>
                <a:spcPct val="100000"/>
              </a:lnSpc>
            </a:pPr>
            <a:r>
              <a:rPr lang="zh-CN" sz="900">
                <a:solidFill>
                  <a:srgbClr val="8A8F99"/>
                </a:solidFill>
                <a:latin typeface="Microsoft YaHei"/>
                <a:ea typeface="Microsoft YaHei"/>
              </a:rPr>
              <a:t>数据维护主体</a:t>
            </a:r>
            <a:endParaRPr/>
          </a:p>
        </p:txBody>
      </p:sp>
      <p:sp>
        <p:nvSpPr>
          <p:cNvPr id="403" name="" descr="{&quot;isTemplate&quot;:true,&quot;type&quot;:&quot;text&quot;}"/>
          <p:cNvSpPr txBox="1"/>
          <p:nvPr/>
        </p:nvSpPr>
        <p:spPr>
          <a:xfrm rot="0" flipH="0" flipV="0">
            <a:off x="2924175" y="5067300"/>
            <a:ext cx="1657350" cy="200025"/>
          </a:xfrm>
          <a:prstGeom prst="rect"/>
        </p:spPr>
        <p:txBody>
          <a:bodyPr wrap="none" lIns="0" tIns="0" rIns="0" bIns="0"/>
          <a:p>
            <a:pPr>
              <a:lnSpc>
                <a:spcPct val="130000"/>
              </a:lnSpc>
            </a:pPr>
            <a:r>
              <a:rPr lang="zh-CN" sz="975" b="1">
                <a:solidFill>
                  <a:srgbClr val="0F1423"/>
                </a:solidFill>
                <a:latin typeface="Microsoft YaHei"/>
                <a:ea typeface="Microsoft YaHei"/>
              </a:rPr>
              <a:t>销售部（录入系统）</a:t>
            </a:r>
            <a:endParaRPr/>
          </a:p>
        </p:txBody>
      </p:sp>
      <p:sp>
        <p:nvSpPr>
          <p:cNvPr id="404" name=""/>
          <p:cNvSpPr/>
          <p:nvPr/>
        </p:nvSpPr>
        <p:spPr>
          <a:xfrm rot="0" flipH="0" flipV="0">
            <a:off x="4791075" y="4733925"/>
            <a:ext cx="1895475" cy="676275"/>
          </a:xfrm>
          <a:prstGeom prst="roundRect">
            <a:avLst>
              <a:gd name="adj" fmla="val 4225"/>
            </a:avLst>
          </a:prstGeom>
          <a:solidFill>
            <a:srgbClr val="F7F7F8"/>
          </a:solidFill>
          <a:ln/>
        </p:spPr>
        <p:txBody>
          <a:bodyPr/>
          <a:p>
            <a:pPr/>
            <a:endParaRPr/>
          </a:p>
        </p:txBody>
      </p:sp>
      <p:sp>
        <p:nvSpPr>
          <p:cNvPr id="405" name="" descr="{&quot;isTemplate&quot;:true,&quot;type&quot;:&quot;text&quot;}"/>
          <p:cNvSpPr txBox="1"/>
          <p:nvPr/>
        </p:nvSpPr>
        <p:spPr>
          <a:xfrm rot="0" flipH="0" flipV="0">
            <a:off x="4905375" y="4876800"/>
            <a:ext cx="1666875" cy="142875"/>
          </a:xfrm>
          <a:prstGeom prst="rect"/>
        </p:spPr>
        <p:txBody>
          <a:bodyPr wrap="none" lIns="0" tIns="0" rIns="0" bIns="0"/>
          <a:p>
            <a:pPr>
              <a:lnSpc>
                <a:spcPct val="100000"/>
              </a:lnSpc>
            </a:pPr>
            <a:r>
              <a:rPr lang="zh-CN" sz="900">
                <a:solidFill>
                  <a:srgbClr val="8A8F99"/>
                </a:solidFill>
                <a:latin typeface="Microsoft YaHei"/>
                <a:ea typeface="Microsoft YaHei"/>
              </a:rPr>
              <a:t>数据监控主体</a:t>
            </a:r>
            <a:endParaRPr/>
          </a:p>
        </p:txBody>
      </p:sp>
      <p:sp>
        <p:nvSpPr>
          <p:cNvPr id="406" name="" descr="{&quot;isTemplate&quot;:true,&quot;type&quot;:&quot;text&quot;}"/>
          <p:cNvSpPr txBox="1"/>
          <p:nvPr/>
        </p:nvSpPr>
        <p:spPr>
          <a:xfrm rot="0" flipH="0" flipV="0">
            <a:off x="4905375" y="5067300"/>
            <a:ext cx="1666875" cy="200025"/>
          </a:xfrm>
          <a:prstGeom prst="rect"/>
        </p:spPr>
        <p:txBody>
          <a:bodyPr wrap="none" lIns="0" tIns="0" rIns="0" bIns="0"/>
          <a:p>
            <a:pPr>
              <a:lnSpc>
                <a:spcPct val="130000"/>
              </a:lnSpc>
            </a:pPr>
            <a:r>
              <a:rPr lang="zh-CN" sz="975" b="1">
                <a:solidFill>
                  <a:srgbClr val="0F1423"/>
                </a:solidFill>
                <a:latin typeface="Microsoft YaHei"/>
                <a:ea typeface="Microsoft YaHei"/>
              </a:rPr>
              <a:t>数据管理部（跟踪质量）</a:t>
            </a:r>
            <a:endParaRPr/>
          </a:p>
        </p:txBody>
      </p:sp>
      <p:sp>
        <p:nvSpPr>
          <p:cNvPr id="407" name=""/>
          <p:cNvSpPr/>
          <p:nvPr/>
        </p:nvSpPr>
        <p:spPr>
          <a:xfrm rot="0" flipH="0" flipV="0">
            <a:off x="7124700" y="1362075"/>
            <a:ext cx="4495800" cy="1333500"/>
          </a:xfrm>
          <a:prstGeom prst="roundRect">
            <a:avLst>
              <a:gd name="adj" fmla="val 2857"/>
            </a:avLst>
          </a:prstGeom>
          <a:solidFill>
            <a:srgbClr val="F7F7F8"/>
          </a:solidFill>
          <a:ln/>
        </p:spPr>
        <p:txBody>
          <a:bodyPr/>
          <a:p>
            <a:pPr/>
            <a:endParaRPr/>
          </a:p>
        </p:txBody>
      </p:sp>
      <p:sp>
        <p:nvSpPr>
          <p:cNvPr id="408" name=""/>
          <p:cNvSpPr/>
          <p:nvPr/>
        </p:nvSpPr>
        <p:spPr>
          <a:xfrm rot="0" flipH="0" flipV="0">
            <a:off x="7124700" y="1362075"/>
            <a:ext cx="4495800" cy="1333500"/>
          </a:xfrm>
          <a:custGeom>
            <a:pathLst>
              <a:path w="472" h="140">
                <a:moveTo>
                  <a:pt x="4" y="140"/>
                </a:moveTo>
                <a:cubicBezTo>
                  <a:pt x="2" y="140"/>
                  <a:pt x="0" y="138"/>
                  <a:pt x="0" y="136"/>
                </a:cubicBezTo>
                <a:lnTo>
                  <a:pt x="0" y="4"/>
                </a:lnTo>
                <a:cubicBezTo>
                  <a:pt x="0" y="2"/>
                  <a:pt x="2" y="0"/>
                  <a:pt x="4" y="0"/>
                </a:cubicBezTo>
                <a:lnTo>
                  <a:pt x="4" y="140"/>
                </a:lnTo>
                <a:close/>
              </a:path>
            </a:pathLst>
          </a:custGeom>
          <a:solidFill>
            <a:srgbClr val="FA4F24"/>
          </a:solidFill>
          <a:ln/>
        </p:spPr>
        <p:txBody>
          <a:bodyPr/>
          <a:p>
            <a:pPr/>
            <a:endParaRPr/>
          </a:p>
        </p:txBody>
      </p:sp>
      <p:sp>
        <p:nvSpPr>
          <p:cNvPr id="409" name="" descr="{&quot;isTemplate&quot;:true,&quot;type&quot;:&quot;text&quot;}"/>
          <p:cNvSpPr txBox="1"/>
          <p:nvPr/>
        </p:nvSpPr>
        <p:spPr>
          <a:xfrm rot="0" flipH="0" flipV="0">
            <a:off x="7315200" y="1514475"/>
            <a:ext cx="4076700" cy="200025"/>
          </a:xfrm>
          <a:prstGeom prst="rect"/>
        </p:spPr>
        <p:txBody>
          <a:bodyPr wrap="none" lIns="0" tIns="0" rIns="0" bIns="0"/>
          <a:p>
            <a:pPr>
              <a:lnSpc>
                <a:spcPct val="100000"/>
              </a:lnSpc>
            </a:pPr>
            <a:r>
              <a:rPr lang="zh-CN" sz="1275" b="1">
                <a:solidFill>
                  <a:srgbClr val="0F1423"/>
                </a:solidFill>
                <a:latin typeface="Microsoft YaHei"/>
                <a:ea typeface="Microsoft YaHei"/>
              </a:rPr>
              <a:t>为什么要三责分立</a:t>
            </a:r>
            <a:endParaRPr/>
          </a:p>
        </p:txBody>
      </p:sp>
      <p:sp>
        <p:nvSpPr>
          <p:cNvPr id="410" name="" descr="{&quot;isTemplate&quot;:true,&quot;type&quot;:&quot;text&quot;}"/>
          <p:cNvSpPr txBox="1"/>
          <p:nvPr/>
        </p:nvSpPr>
        <p:spPr>
          <a:xfrm rot="0" flipH="0" flipV="0">
            <a:off x="7315200" y="1790700"/>
            <a:ext cx="4076700" cy="752475"/>
          </a:xfrm>
          <a:prstGeom prst="rect"/>
        </p:spPr>
        <p:txBody>
          <a:bodyPr wrap="square" lIns="0" tIns="0" rIns="0" bIns="0">
            <a:normAutofit/>
          </a:bodyPr>
          <a:p>
            <a:pPr>
              <a:lnSpc>
                <a:spcPct val="155000"/>
              </a:lnSpc>
            </a:pPr>
            <a:r>
              <a:rPr lang="zh-CN" sz="1050">
                <a:solidFill>
                  <a:srgbClr val="3A4050"/>
                </a:solidFill>
                <a:latin typeface="Microsoft YaHei"/>
                <a:ea typeface="Microsoft YaHei"/>
              </a:rPr>
              <a:t>「客户合同」中某些条款的规则制订者可能是</a:t>
            </a:r>
            <a:r>
              <a:rPr lang="zh-CN" sz="1050">
                <a:solidFill>
                  <a:srgbClr val="3A4050"/>
                </a:solidFill>
                <a:latin typeface="Microsoft YaHei"/>
                <a:ea typeface="Microsoft YaHei"/>
              </a:rPr>
              <a:t>财经部门</a:t>
            </a:r>
            <a:r>
              <a:rPr lang="zh-CN" sz="1050">
                <a:solidFill>
                  <a:srgbClr val="3A4050"/>
                </a:solidFill>
                <a:latin typeface="Microsoft YaHei"/>
                <a:ea typeface="Microsoft YaHei"/>
              </a:rPr>
              <a:t>，负责与客户达成约定并录入系统的可能是</a:t>
            </a:r>
            <a:r>
              <a:rPr lang="zh-CN" sz="1050">
                <a:solidFill>
                  <a:srgbClr val="3A4050"/>
                </a:solidFill>
                <a:latin typeface="Microsoft YaHei"/>
                <a:ea typeface="Microsoft YaHei"/>
              </a:rPr>
              <a:t>销售部门</a:t>
            </a:r>
            <a:r>
              <a:rPr lang="zh-CN" sz="1050">
                <a:solidFill>
                  <a:srgbClr val="3A4050"/>
                </a:solidFill>
                <a:latin typeface="Microsoft YaHei"/>
                <a:ea typeface="Microsoft YaHei"/>
              </a:rPr>
              <a:t>，</a:t>
            </a:r>
            <a:r>
              <a:rPr lang="en-US" sz="1050">
                <a:solidFill>
                  <a:srgbClr val="3A4050"/>
                </a:solidFill>
                <a:latin typeface="Microsoft YaHei"/>
                <a:ea typeface="Microsoft YaHei"/>
              </a:rPr>
              <a:t xml:space="preserve"> </a:t>
            </a:r>
            <a:r>
              <a:rPr lang="zh-CN" sz="1050">
                <a:solidFill>
                  <a:srgbClr val="3A4050"/>
                </a:solidFill>
                <a:latin typeface="Microsoft YaHei"/>
                <a:ea typeface="Microsoft YaHei"/>
              </a:rPr>
              <a:t>而跟踪监控数据质量的可能是</a:t>
            </a:r>
            <a:r>
              <a:rPr lang="zh-CN" sz="1050">
                <a:solidFill>
                  <a:srgbClr val="3A4050"/>
                </a:solidFill>
                <a:latin typeface="Microsoft YaHei"/>
                <a:ea typeface="Microsoft YaHei"/>
              </a:rPr>
              <a:t>数据专业部门</a:t>
            </a:r>
            <a:r>
              <a:rPr lang="zh-CN" sz="1050">
                <a:solidFill>
                  <a:srgbClr val="3A4050"/>
                </a:solidFill>
                <a:latin typeface="Microsoft YaHei"/>
                <a:ea typeface="Microsoft YaHei"/>
              </a:rPr>
              <a:t>。必须在标准制订时就约定清楚，不能默认。</a:t>
            </a:r>
            <a:endParaRPr/>
          </a:p>
        </p:txBody>
      </p:sp>
      <p:sp>
        <p:nvSpPr>
          <p:cNvPr id="411" name=""/>
          <p:cNvSpPr/>
          <p:nvPr/>
        </p:nvSpPr>
        <p:spPr>
          <a:xfrm rot="0" flipH="0" flipV="0">
            <a:off x="7086600" y="2819400"/>
            <a:ext cx="4495800" cy="2762250"/>
          </a:xfrm>
          <a:prstGeom prst="roundRect">
            <a:avLst>
              <a:gd name="adj" fmla="val 1379"/>
            </a:avLst>
          </a:prstGeom>
          <a:gradFill>
            <a:gsLst>
              <a:gs pos="0">
                <a:srgbClr val="FA4F24"/>
              </a:gs>
              <a:gs pos="100000">
                <a:srgbClr val="F87D2F"/>
              </a:gs>
            </a:gsLst>
            <a:lin ang="4200000" scaled="1"/>
          </a:gradFill>
          <a:ln/>
        </p:spPr>
        <p:txBody>
          <a:bodyPr/>
          <a:p>
            <a:pPr/>
            <a:endParaRPr/>
          </a:p>
        </p:txBody>
      </p:sp>
      <p:sp>
        <p:nvSpPr>
          <p:cNvPr id="412" name="" descr="{&quot;isTemplate&quot;:true,&quot;type&quot;:&quot;text&quot;}"/>
          <p:cNvSpPr txBox="1"/>
          <p:nvPr/>
        </p:nvSpPr>
        <p:spPr>
          <a:xfrm rot="0" flipH="0" flipV="0">
            <a:off x="7277100" y="3695700"/>
            <a:ext cx="4114800" cy="190500"/>
          </a:xfrm>
          <a:prstGeom prst="rect"/>
        </p:spPr>
        <p:txBody>
          <a:bodyPr wrap="none" lIns="0" tIns="0" rIns="0" bIns="0"/>
          <a:p>
            <a:pPr>
              <a:lnSpc>
                <a:spcPct val="100000"/>
              </a:lnSpc>
            </a:pPr>
            <a:r>
              <a:rPr lang="en-US" sz="1200" b="1">
                <a:solidFill>
                  <a:srgbClr val="FFFFFF"/>
                </a:solidFill>
                <a:latin typeface="Microsoft YaHei"/>
                <a:ea typeface="Microsoft YaHei"/>
              </a:rPr>
              <a:t xml:space="preserve">★ </a:t>
            </a:r>
            <a:r>
              <a:rPr lang="zh-CN" sz="1200" b="1">
                <a:solidFill>
                  <a:srgbClr val="FFFFFF"/>
                </a:solidFill>
                <a:latin typeface="Microsoft YaHei"/>
                <a:ea typeface="Microsoft YaHei"/>
              </a:rPr>
              <a:t>一票否决权</a:t>
            </a:r>
            <a:endParaRPr/>
          </a:p>
        </p:txBody>
      </p:sp>
      <p:sp>
        <p:nvSpPr>
          <p:cNvPr id="413" name="" descr="{&quot;isTemplate&quot;:true,&quot;type&quot;:&quot;text&quot;}"/>
          <p:cNvSpPr txBox="1"/>
          <p:nvPr/>
        </p:nvSpPr>
        <p:spPr>
          <a:xfrm rot="0" flipH="0" flipV="0">
            <a:off x="7277100" y="3962400"/>
            <a:ext cx="4114800" cy="752475"/>
          </a:xfrm>
          <a:prstGeom prst="rect"/>
        </p:spPr>
        <p:txBody>
          <a:bodyPr wrap="square" lIns="0" tIns="0" rIns="0" bIns="0">
            <a:normAutofit/>
          </a:bodyPr>
          <a:p>
            <a:pPr>
              <a:lnSpc>
                <a:spcPct val="155000"/>
              </a:lnSpc>
            </a:pPr>
            <a:r>
              <a:rPr lang="zh-CN" sz="1050">
                <a:solidFill>
                  <a:srgbClr val="FFFFFF">
                    <a:alpha val="95000"/>
                  </a:srgbClr>
                </a:solidFill>
                <a:latin typeface="Microsoft YaHei"/>
                <a:ea typeface="Microsoft YaHei"/>
              </a:rPr>
              <a:t>信息架构管理原则规定：所有变革项目须遵从数据管控要求，</a:t>
            </a:r>
            <a:r>
              <a:rPr lang="en-US" sz="1050">
                <a:solidFill>
                  <a:srgbClr val="FFFFFF">
                    <a:alpha val="95000"/>
                  </a:srgbClr>
                </a:solidFill>
                <a:latin typeface="Microsoft YaHei"/>
                <a:ea typeface="Microsoft YaHei"/>
              </a:rPr>
              <a:t xml:space="preserve"> </a:t>
            </a:r>
            <a:r>
              <a:rPr lang="zh-CN" sz="1050">
                <a:solidFill>
                  <a:srgbClr val="FFFFFF">
                    <a:alpha val="95000"/>
                  </a:srgbClr>
                </a:solidFill>
                <a:latin typeface="Microsoft YaHei"/>
                <a:ea typeface="Microsoft YaHei"/>
              </a:rPr>
              <a:t>对于不遵从的变革项目，数据管控组织</a:t>
            </a:r>
            <a:r>
              <a:rPr lang="zh-CN" sz="1050">
                <a:solidFill>
                  <a:srgbClr val="FFFFFF">
                    <a:alpha val="95000"/>
                  </a:srgbClr>
                </a:solidFill>
                <a:latin typeface="Microsoft YaHei"/>
                <a:ea typeface="Microsoft YaHei"/>
              </a:rPr>
              <a:t>拥有一票否决权</a:t>
            </a:r>
            <a:r>
              <a:rPr lang="zh-CN" sz="1050">
                <a:solidFill>
                  <a:srgbClr val="FFFFFF">
                    <a:alpha val="95000"/>
                  </a:srgbClr>
                </a:solidFill>
                <a:latin typeface="Microsoft YaHei"/>
                <a:ea typeface="Microsoft YaHei"/>
              </a:rPr>
              <a:t>。这是标准能落地的唯一保障。</a:t>
            </a:r>
            <a:endParaRPr/>
          </a:p>
        </p:txBody>
      </p:sp>
      <p:sp>
        <p:nvSpPr>
          <p:cNvPr id="414" name=""/>
          <p:cNvSpPr/>
          <p:nvPr/>
        </p:nvSpPr>
        <p:spPr>
          <a:xfrm rot="0" flipH="0" flipV="0">
            <a:off x="609600" y="5943600"/>
            <a:ext cx="133350" cy="133350"/>
          </a:xfrm>
          <a:prstGeom prst="rect">
            <a:avLst/>
          </a:prstGeom>
          <a:solidFill>
            <a:srgbClr val="FA4F24"/>
          </a:solidFill>
          <a:ln/>
        </p:spPr>
        <p:txBody>
          <a:bodyPr/>
          <a:p>
            <a:pPr/>
            <a:endParaRPr/>
          </a:p>
        </p:txBody>
      </p:sp>
      <p:sp>
        <p:nvSpPr>
          <p:cNvPr id="415"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416"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19 / 30</a:t>
            </a:r>
            <a:endParaRPr/>
          </a:p>
        </p:txBody>
      </p:sp>
    </p:spTree>
  </p:cSld>
</p:sld>
</file>

<file path=ppt/slides/slide20.xml><?xml version="1.0" encoding="utf-8"?>
<p:sld xmlns:p="http://schemas.openxmlformats.org/presentationml/2006/main" xmlns:a="http://schemas.openxmlformats.org/drawingml/2006/main">
  <p:cSld>
    <p:spTree>
      <p:nvGrpSpPr>
        <p:cNvPr id="463" name=""/>
        <p:cNvGrpSpPr/>
        <p:nvPr/>
      </p:nvGrpSpPr>
      <p:grpSpPr>
        <a:xfrm>
          <a:off x="0" y="0"/>
          <a:ext cx="0" cy="0"/>
          <a:chOff x="0" y="0"/>
          <a:chExt cx="0" cy="0"/>
        </a:xfrm>
      </p:grpSpPr>
      <p:sp>
        <p:nvSpPr>
          <p:cNvPr id="464" name=""/>
          <p:cNvSpPr/>
          <p:nvPr/>
        </p:nvSpPr>
        <p:spPr>
          <a:xfrm rot="0" flipH="0" flipV="0">
            <a:off x="0" y="0"/>
            <a:ext cx="12192000" cy="6858000"/>
          </a:xfrm>
          <a:prstGeom prst="rect">
            <a:avLst/>
          </a:prstGeom>
          <a:solidFill>
            <a:srgbClr val="0F1423"/>
          </a:solidFill>
          <a:ln/>
        </p:spPr>
        <p:txBody>
          <a:bodyPr/>
          <a:p>
            <a:pPr/>
            <a:endParaRPr/>
          </a:p>
        </p:txBody>
      </p:sp>
      <p:sp>
        <p:nvSpPr>
          <p:cNvPr id="465"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a:pPr/>
            <a:endParaRPr/>
          </a:p>
        </p:txBody>
      </p:sp>
      <p:sp>
        <p:nvSpPr>
          <p:cNvPr id="466"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a:pPr/>
            <a:endParaRPr/>
          </a:p>
        </p:txBody>
      </p:sp>
      <p:sp>
        <p:nvSpPr>
          <p:cNvPr id="467" name="" descr="{&quot;isTemplate&quot;:true,&quot;type&quot;:&quot;text&quot;}"/>
          <p:cNvSpPr txBox="1"/>
          <p:nvPr/>
        </p:nvSpPr>
        <p:spPr>
          <a:xfrm rot="0" flipH="0" flipV="0">
            <a:off x="7991475" y="1047750"/>
            <a:ext cx="3533775" cy="3429000"/>
          </a:xfrm>
          <a:prstGeom prst="rect"/>
        </p:spPr>
        <p:txBody>
          <a:bodyPr wrap="none" lIns="0" tIns="0" rIns="0" bIns="0"/>
          <a:p>
            <a:pPr>
              <a:lnSpc>
                <a:spcPct val="100000"/>
              </a:lnSpc>
            </a:pPr>
            <a:r>
              <a:rPr lang="en-US" sz="22500" b="1">
                <a:solidFill>
                  <a:srgbClr val="FFFFFF">
                    <a:alpha val="8000"/>
                  </a:srgbClr>
                </a:solidFill>
                <a:latin typeface="Microsoft YaHei"/>
                <a:ea typeface="Microsoft YaHei"/>
              </a:rPr>
              <a:t>05</a:t>
            </a:r>
            <a:endParaRPr/>
          </a:p>
        </p:txBody>
      </p:sp>
      <p:sp>
        <p:nvSpPr>
          <p:cNvPr id="468" name="" descr="{&quot;isTemplate&quot;:true,&quot;type&quot;:&quot;text&quot;}"/>
          <p:cNvSpPr txBox="1"/>
          <p:nvPr/>
        </p:nvSpPr>
        <p:spPr>
          <a:xfrm rot="0" flipH="0" flipV="0">
            <a:off x="838200" y="2286000"/>
            <a:ext cx="5905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05</a:t>
            </a:r>
            <a:endParaRPr/>
          </a:p>
        </p:txBody>
      </p:sp>
      <p:sp>
        <p:nvSpPr>
          <p:cNvPr id="469" name=""/>
          <p:cNvSpPr/>
          <p:nvPr/>
        </p:nvSpPr>
        <p:spPr>
          <a:xfrm rot="0" flipH="0" flipV="0">
            <a:off x="838200" y="2667000"/>
            <a:ext cx="685800" cy="47625"/>
          </a:xfrm>
          <a:prstGeom prst="rect">
            <a:avLst/>
          </a:prstGeom>
          <a:solidFill>
            <a:srgbClr val="FA4F24"/>
          </a:solidFill>
          <a:ln/>
        </p:spPr>
        <p:txBody>
          <a:bodyPr/>
          <a:p>
            <a:pPr/>
            <a:endParaRPr/>
          </a:p>
        </p:txBody>
      </p:sp>
      <p:sp>
        <p:nvSpPr>
          <p:cNvPr id="470" name="" descr="{&quot;isTemplate&quot;:true,&quot;type&quot;:&quot;text&quot;}"/>
          <p:cNvSpPr txBox="1"/>
          <p:nvPr/>
        </p:nvSpPr>
        <p:spPr>
          <a:xfrm rot="0" flipH="0" flipV="0">
            <a:off x="838200" y="2981325"/>
            <a:ext cx="5905500" cy="790575"/>
          </a:xfrm>
          <a:prstGeom prst="rect"/>
        </p:spPr>
        <p:txBody>
          <a:bodyPr wrap="none" lIns="0" tIns="0" rIns="0" bIns="0"/>
          <a:p>
            <a:pPr>
              <a:lnSpc>
                <a:spcPct val="114999"/>
              </a:lnSpc>
            </a:pPr>
            <a:r>
              <a:rPr lang="zh-CN" sz="4500" b="1">
                <a:solidFill>
                  <a:srgbClr val="FFFFFF"/>
                </a:solidFill>
                <a:latin typeface="Microsoft YaHei"/>
                <a:ea typeface="Microsoft YaHei"/>
              </a:rPr>
              <a:t>企业级数据模型</a:t>
            </a:r>
            <a:endParaRPr/>
          </a:p>
        </p:txBody>
      </p:sp>
      <p:sp>
        <p:nvSpPr>
          <p:cNvPr id="471" name="" descr="{&quot;isTemplate&quot;:true,&quot;type&quot;:&quot;text&quot;}"/>
          <p:cNvSpPr txBox="1"/>
          <p:nvPr/>
        </p:nvSpPr>
        <p:spPr>
          <a:xfrm rot="0" flipH="0" flipV="0">
            <a:off x="838200" y="3962400"/>
            <a:ext cx="5905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ENTERPRISE DATA MODEL</a:t>
            </a:r>
            <a:endParaRPr/>
          </a:p>
        </p:txBody>
      </p:sp>
      <p:sp>
        <p:nvSpPr>
          <p:cNvPr id="472" name="" descr="{&quot;isTemplate&quot;:true,&quot;type&quot;:&quot;text&quot;}"/>
          <p:cNvSpPr txBox="1"/>
          <p:nvPr/>
        </p:nvSpPr>
        <p:spPr>
          <a:xfrm rot="0" flipH="0" flipV="0">
            <a:off x="838200" y="4410075"/>
            <a:ext cx="59055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概念→逻辑→物理，控制两层一致性</a:t>
            </a:r>
            <a:endParaRPr/>
          </a:p>
        </p:txBody>
      </p:sp>
      <p:sp>
        <p:nvSpPr>
          <p:cNvPr id="473" name=""/>
          <p:cNvSpPr/>
          <p:nvPr/>
        </p:nvSpPr>
        <p:spPr>
          <a:xfrm rot="0" flipH="0" flipV="0">
            <a:off x="8382000" y="6105525"/>
            <a:ext cx="133350" cy="133350"/>
          </a:xfrm>
          <a:prstGeom prst="rect">
            <a:avLst/>
          </a:prstGeom>
          <a:solidFill>
            <a:srgbClr val="FA4F24"/>
          </a:solidFill>
          <a:ln/>
        </p:spPr>
        <p:txBody>
          <a:bodyPr/>
          <a:p>
            <a:pPr/>
            <a:endParaRPr/>
          </a:p>
        </p:txBody>
      </p:sp>
      <p:sp>
        <p:nvSpPr>
          <p:cNvPr id="474" name="" descr="{&quot;isTemplate&quot;:true,&quot;type&quot;:&quot;text&quot;}"/>
          <p:cNvSpPr txBox="1"/>
          <p:nvPr/>
        </p:nvSpPr>
        <p:spPr>
          <a:xfrm rot="0" flipH="0" flipV="0">
            <a:off x="8629650" y="6086475"/>
            <a:ext cx="203835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DA</a:t>
            </a:r>
            <a:r>
              <a:rPr lang="zh-CN" sz="1050">
                <a:solidFill>
                  <a:srgbClr val="FFFFFF">
                    <a:alpha val="50000"/>
                  </a:srgbClr>
                </a:solidFill>
                <a:latin typeface="Microsoft YaHei"/>
                <a:ea typeface="Microsoft YaHei"/>
              </a:rPr>
              <a:t>数据架构咨询方法论</a:t>
            </a:r>
            <a:endParaRPr/>
          </a:p>
        </p:txBody>
      </p:sp>
      <p:sp>
        <p:nvSpPr>
          <p:cNvPr id="475" name="" descr="{&quot;isTemplate&quot;:true,&quot;type&quot;:&quot;text&quot;}"/>
          <p:cNvSpPr txBox="1"/>
          <p:nvPr/>
        </p:nvSpPr>
        <p:spPr>
          <a:xfrm rot="0" flipH="0" flipV="0">
            <a:off x="10896600" y="60864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20 / 30</a:t>
            </a:r>
            <a:endParaRPr/>
          </a:p>
        </p:txBody>
      </p:sp>
    </p:spTree>
  </p:cSld>
</p:sld>
</file>

<file path=ppt/slides/slide21.xml><?xml version="1.0" encoding="utf-8"?>
<p:sld xmlns:p="http://schemas.openxmlformats.org/presentationml/2006/main" xmlns:a="http://schemas.openxmlformats.org/drawingml/2006/main">
  <p:cSld>
    <p:spTree>
      <p:nvGrpSpPr>
        <p:cNvPr id="476" name=""/>
        <p:cNvGrpSpPr/>
        <p:nvPr/>
      </p:nvGrpSpPr>
      <p:grpSpPr>
        <a:xfrm>
          <a:off x="0" y="0"/>
          <a:ext cx="0" cy="0"/>
          <a:chOff x="0" y="0"/>
          <a:chExt cx="0" cy="0"/>
        </a:xfrm>
      </p:grpSpPr>
      <p:sp>
        <p:nvSpPr>
          <p:cNvPr id="477" name=""/>
          <p:cNvSpPr/>
          <p:nvPr/>
        </p:nvSpPr>
        <p:spPr>
          <a:xfrm rot="0" flipH="0" flipV="0">
            <a:off x="0" y="0"/>
            <a:ext cx="12192000" cy="6858000"/>
          </a:xfrm>
          <a:prstGeom prst="rect">
            <a:avLst/>
          </a:prstGeom>
          <a:solidFill>
            <a:srgbClr val="FFFFFF"/>
          </a:solidFill>
          <a:ln/>
        </p:spPr>
        <p:txBody>
          <a:bodyPr/>
          <a:p>
            <a:pPr/>
            <a:endParaRPr/>
          </a:p>
        </p:txBody>
      </p:sp>
      <p:sp>
        <p:nvSpPr>
          <p:cNvPr id="478"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之方法：</a:t>
            </a:r>
            <a:r>
              <a:rPr lang="zh-CN" sz="2400" b="1">
                <a:solidFill>
                  <a:srgbClr val="FA4F24"/>
                </a:solidFill>
                <a:latin typeface="Microsoft YaHei"/>
                <a:ea typeface="Microsoft YaHei"/>
              </a:rPr>
              <a:t>三层建模法</a:t>
            </a:r>
            <a:r>
              <a:rPr lang="zh-CN" sz="2400" b="1">
                <a:solidFill>
                  <a:srgbClr val="0F1423"/>
                </a:solidFill>
                <a:latin typeface="Microsoft YaHei"/>
                <a:ea typeface="Microsoft YaHei"/>
              </a:rPr>
              <a:t>，概念→逻辑→物理逐级落地</a:t>
            </a:r>
            <a:endParaRPr/>
          </a:p>
        </p:txBody>
      </p:sp>
      <p:sp>
        <p:nvSpPr>
          <p:cNvPr id="479"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数据模型是从数据视角对现实世界特征的模拟和抽象，反映业务信息（对象）之间的关联关系</a:t>
            </a:r>
            <a:endParaRPr/>
          </a:p>
        </p:txBody>
      </p:sp>
      <p:sp>
        <p:nvSpPr>
          <p:cNvPr id="480" name=""/>
          <p:cNvSpPr/>
          <p:nvPr/>
        </p:nvSpPr>
        <p:spPr>
          <a:xfrm rot="0" flipH="0" flipV="0">
            <a:off x="609600" y="1143000"/>
            <a:ext cx="10972800" cy="9525"/>
          </a:xfrm>
          <a:prstGeom prst="rect">
            <a:avLst/>
          </a:prstGeom>
          <a:solidFill>
            <a:srgbClr val="E8E8E8"/>
          </a:solidFill>
          <a:ln/>
        </p:spPr>
        <p:txBody>
          <a:bodyPr/>
          <a:p>
            <a:pPr/>
            <a:endParaRPr/>
          </a:p>
        </p:txBody>
      </p:sp>
      <p:sp>
        <p:nvSpPr>
          <p:cNvPr id="481" name=""/>
          <p:cNvSpPr/>
          <p:nvPr/>
        </p:nvSpPr>
        <p:spPr>
          <a:xfrm rot="0" flipH="0" flipV="0">
            <a:off x="609600" y="1381125"/>
            <a:ext cx="3200400" cy="4200525"/>
          </a:xfrm>
          <a:prstGeom prst="roundRect">
            <a:avLst>
              <a:gd name="adj" fmla="val 1190"/>
            </a:avLst>
          </a:prstGeom>
          <a:gradFill>
            <a:gsLst>
              <a:gs pos="0">
                <a:srgbClr val="FA4F24"/>
              </a:gs>
              <a:gs pos="100000">
                <a:srgbClr val="F87D2F"/>
              </a:gs>
            </a:gsLst>
            <a:lin ang="4200000" scaled="1"/>
          </a:gradFill>
          <a:ln/>
        </p:spPr>
        <p:txBody>
          <a:bodyPr/>
          <a:p>
            <a:pPr/>
            <a:endParaRPr/>
          </a:p>
        </p:txBody>
      </p:sp>
      <p:sp>
        <p:nvSpPr>
          <p:cNvPr id="482" name="" descr="{&quot;isTemplate&quot;:true,&quot;type&quot;:&quot;text&quot;}"/>
          <p:cNvSpPr txBox="1"/>
          <p:nvPr/>
        </p:nvSpPr>
        <p:spPr>
          <a:xfrm rot="0" flipH="0" flipV="0">
            <a:off x="876300" y="1647825"/>
            <a:ext cx="2667000" cy="171450"/>
          </a:xfrm>
          <a:prstGeom prst="rect"/>
        </p:spPr>
        <p:txBody>
          <a:bodyPr wrap="none" lIns="0" tIns="0" rIns="0" bIns="0"/>
          <a:p>
            <a:pPr>
              <a:lnSpc>
                <a:spcPct val="100000"/>
              </a:lnSpc>
            </a:pPr>
            <a:r>
              <a:rPr lang="en-US" sz="1125" spc="150">
                <a:solidFill>
                  <a:srgbClr val="FFFFFF">
                    <a:alpha val="80000"/>
                  </a:srgbClr>
                </a:solidFill>
                <a:latin typeface="Microsoft YaHei"/>
                <a:ea typeface="Microsoft YaHei"/>
              </a:rPr>
              <a:t>STEP 04 · DATA MODEL</a:t>
            </a:r>
            <a:endParaRPr/>
          </a:p>
        </p:txBody>
      </p:sp>
      <p:sp>
        <p:nvSpPr>
          <p:cNvPr id="483" name="" descr="{&quot;isTemplate&quot;:true,&quot;type&quot;:&quot;text&quot;}"/>
          <p:cNvSpPr txBox="1"/>
          <p:nvPr/>
        </p:nvSpPr>
        <p:spPr>
          <a:xfrm rot="0" flipH="0" flipV="0">
            <a:off x="876300" y="1952625"/>
            <a:ext cx="2667000" cy="857250"/>
          </a:xfrm>
          <a:prstGeom prst="rect"/>
        </p:spPr>
        <p:txBody>
          <a:bodyPr wrap="none" lIns="0" tIns="0" rIns="0" bIns="0"/>
          <a:p>
            <a:pPr>
              <a:lnSpc>
                <a:spcPct val="125000"/>
              </a:lnSpc>
            </a:pPr>
            <a:r>
              <a:rPr lang="zh-CN" sz="2250" b="1">
                <a:solidFill>
                  <a:srgbClr val="FFFFFF"/>
                </a:solidFill>
                <a:latin typeface="Microsoft YaHei"/>
                <a:ea typeface="Microsoft YaHei"/>
              </a:rPr>
              <a:t>三层</a:t>
            </a:r>
            <a:endParaRPr/>
          </a:p>
          <a:p>
            <a:pPr>
              <a:lnSpc>
                <a:spcPct val="125000"/>
              </a:lnSpc>
            </a:pPr>
            <a:r>
              <a:rPr lang="zh-CN" sz="2250" b="1">
                <a:solidFill>
                  <a:srgbClr val="FFFFFF"/>
                </a:solidFill>
                <a:latin typeface="Microsoft YaHei"/>
                <a:ea typeface="Microsoft YaHei"/>
              </a:rPr>
              <a:t>建模法</a:t>
            </a:r>
            <a:endParaRPr/>
          </a:p>
        </p:txBody>
      </p:sp>
      <p:sp>
        <p:nvSpPr>
          <p:cNvPr id="484" name=""/>
          <p:cNvSpPr/>
          <p:nvPr/>
        </p:nvSpPr>
        <p:spPr>
          <a:xfrm rot="0" flipH="0" flipV="0">
            <a:off x="876300" y="4219575"/>
            <a:ext cx="419100" cy="38100"/>
          </a:xfrm>
          <a:prstGeom prst="rect">
            <a:avLst/>
          </a:prstGeom>
          <a:solidFill>
            <a:srgbClr val="FFFFFF">
              <a:alpha val="70000"/>
            </a:srgbClr>
          </a:solidFill>
          <a:ln/>
        </p:spPr>
        <p:txBody>
          <a:bodyPr/>
          <a:p>
            <a:pPr/>
            <a:endParaRPr/>
          </a:p>
        </p:txBody>
      </p:sp>
      <p:sp>
        <p:nvSpPr>
          <p:cNvPr id="485" name="" descr="{&quot;isTemplate&quot;:true,&quot;type&quot;:&quot;text&quot;}"/>
          <p:cNvSpPr txBox="1"/>
          <p:nvPr/>
        </p:nvSpPr>
        <p:spPr>
          <a:xfrm rot="0" flipH="0" flipV="0">
            <a:off x="876300" y="4410075"/>
            <a:ext cx="2667000" cy="904875"/>
          </a:xfrm>
          <a:prstGeom prst="rect"/>
        </p:spPr>
        <p:txBody>
          <a:bodyPr wrap="square" lIns="0" tIns="0" rIns="0" bIns="0">
            <a:normAutofit/>
          </a:bodyPr>
          <a:p>
            <a:pPr>
              <a:lnSpc>
                <a:spcPct val="155000"/>
              </a:lnSpc>
            </a:pPr>
            <a:r>
              <a:rPr lang="zh-CN" sz="1275">
                <a:solidFill>
                  <a:srgbClr val="FFFFFF">
                    <a:alpha val="94000"/>
                  </a:srgbClr>
                </a:solidFill>
                <a:latin typeface="Microsoft YaHei"/>
                <a:ea typeface="Microsoft YaHei"/>
              </a:rPr>
              <a:t>三层不是三份文档，而是</a:t>
            </a:r>
            <a:r>
              <a:rPr lang="zh-CN" sz="1275">
                <a:solidFill>
                  <a:srgbClr val="FFFFFF">
                    <a:alpha val="94000"/>
                  </a:srgbClr>
                </a:solidFill>
                <a:latin typeface="Microsoft YaHei"/>
                <a:ea typeface="Microsoft YaHei"/>
              </a:rPr>
              <a:t>同一现实</a:t>
            </a:r>
            <a:r>
              <a:rPr lang="zh-CN" sz="1275">
                <a:solidFill>
                  <a:srgbClr val="FFFFFF">
                    <a:alpha val="94000"/>
                  </a:srgbClr>
                </a:solidFill>
                <a:latin typeface="Microsoft YaHei"/>
                <a:ea typeface="Microsoft YaHei"/>
              </a:rPr>
              <a:t>在三个抽象层次上的投影。每层回答的问题不同，粒度不同。</a:t>
            </a:r>
            <a:endParaRPr/>
          </a:p>
        </p:txBody>
      </p:sp>
      <p:sp>
        <p:nvSpPr>
          <p:cNvPr id="486" name="" descr="{&quot;isTemplate&quot;:true,&quot;type&quot;:&quot;text&quot;}"/>
          <p:cNvSpPr txBox="1"/>
          <p:nvPr/>
        </p:nvSpPr>
        <p:spPr>
          <a:xfrm rot="0" flipH="0" flipV="0">
            <a:off x="4038600" y="1381125"/>
            <a:ext cx="7543800" cy="247650"/>
          </a:xfrm>
          <a:prstGeom prst="rect"/>
        </p:spPr>
        <p:txBody>
          <a:bodyPr wrap="none" lIns="0" tIns="0" rIns="0" bIns="0"/>
          <a:p>
            <a:pPr>
              <a:lnSpc>
                <a:spcPct val="100000"/>
              </a:lnSpc>
            </a:pPr>
            <a:r>
              <a:rPr lang="zh-CN" sz="1575" b="1">
                <a:solidFill>
                  <a:srgbClr val="0F1423"/>
                </a:solidFill>
                <a:latin typeface="Microsoft YaHei"/>
                <a:ea typeface="Microsoft YaHei"/>
              </a:rPr>
              <a:t>三层的分工</a:t>
            </a:r>
            <a:endParaRPr/>
          </a:p>
        </p:txBody>
      </p:sp>
      <p:sp>
        <p:nvSpPr>
          <p:cNvPr id="487" name=""/>
          <p:cNvSpPr/>
          <p:nvPr/>
        </p:nvSpPr>
        <p:spPr>
          <a:xfrm rot="0" flipH="0" flipV="0">
            <a:off x="4076700" y="1743075"/>
            <a:ext cx="7543800" cy="1285875"/>
          </a:xfrm>
          <a:prstGeom prst="roundRect">
            <a:avLst>
              <a:gd name="adj" fmla="val 2963"/>
            </a:avLst>
          </a:prstGeom>
          <a:solidFill>
            <a:srgbClr val="F7F7F8"/>
          </a:solidFill>
          <a:ln/>
        </p:spPr>
        <p:txBody>
          <a:bodyPr/>
          <a:p>
            <a:pPr/>
            <a:endParaRPr/>
          </a:p>
        </p:txBody>
      </p:sp>
      <p:sp>
        <p:nvSpPr>
          <p:cNvPr id="488" name=""/>
          <p:cNvSpPr/>
          <p:nvPr/>
        </p:nvSpPr>
        <p:spPr>
          <a:xfrm rot="0" flipH="0" flipV="0">
            <a:off x="4076700" y="1743075"/>
            <a:ext cx="7543800" cy="1285875"/>
          </a:xfrm>
          <a:custGeom>
            <a:pathLst>
              <a:path w="792" h="135">
                <a:moveTo>
                  <a:pt x="4" y="135"/>
                </a:moveTo>
                <a:cubicBezTo>
                  <a:pt x="2" y="135"/>
                  <a:pt x="0" y="133"/>
                  <a:pt x="0" y="131"/>
                </a:cubicBezTo>
                <a:lnTo>
                  <a:pt x="0" y="4"/>
                </a:lnTo>
                <a:cubicBezTo>
                  <a:pt x="0" y="2"/>
                  <a:pt x="2" y="0"/>
                  <a:pt x="4" y="0"/>
                </a:cubicBezTo>
                <a:lnTo>
                  <a:pt x="4" y="135"/>
                </a:lnTo>
                <a:close/>
              </a:path>
            </a:pathLst>
          </a:custGeom>
          <a:solidFill>
            <a:srgbClr val="FA4F24"/>
          </a:solidFill>
          <a:ln/>
        </p:spPr>
        <p:txBody>
          <a:bodyPr/>
          <a:p>
            <a:pPr/>
            <a:endParaRPr/>
          </a:p>
        </p:txBody>
      </p:sp>
      <p:sp>
        <p:nvSpPr>
          <p:cNvPr id="489" name=""/>
          <p:cNvSpPr/>
          <p:nvPr/>
        </p:nvSpPr>
        <p:spPr>
          <a:xfrm rot="0" flipH="0" flipV="0">
            <a:off x="4267200" y="2181225"/>
            <a:ext cx="552450" cy="419100"/>
          </a:xfrm>
          <a:prstGeom prst="roundRect">
            <a:avLst>
              <a:gd name="adj" fmla="val 6818"/>
            </a:avLst>
          </a:prstGeom>
          <a:solidFill>
            <a:srgbClr val="FA4F24"/>
          </a:solidFill>
          <a:ln/>
        </p:spPr>
        <p:txBody>
          <a:bodyPr/>
          <a:p>
            <a:pPr/>
            <a:endParaRPr/>
          </a:p>
        </p:txBody>
      </p:sp>
      <p:sp>
        <p:nvSpPr>
          <p:cNvPr id="490" name="" descr="{&quot;isTemplate&quot;:true,&quot;type&quot;:&quot;text&quot;}"/>
          <p:cNvSpPr txBox="1"/>
          <p:nvPr/>
        </p:nvSpPr>
        <p:spPr>
          <a:xfrm rot="0" flipH="0" flipV="0">
            <a:off x="4381500" y="2295525"/>
            <a:ext cx="323850" cy="200025"/>
          </a:xfrm>
          <a:prstGeom prst="rect"/>
        </p:spPr>
        <p:txBody>
          <a:bodyPr wrap="none" lIns="0" tIns="0" rIns="0" bIns="0"/>
          <a:p>
            <a:pPr>
              <a:lnSpc>
                <a:spcPct val="100000"/>
              </a:lnSpc>
            </a:pPr>
            <a:r>
              <a:rPr lang="zh-CN" sz="1275" b="1">
                <a:solidFill>
                  <a:srgbClr val="FFFFFF"/>
                </a:solidFill>
                <a:latin typeface="Microsoft YaHei"/>
                <a:ea typeface="Microsoft YaHei"/>
              </a:rPr>
              <a:t>概念</a:t>
            </a:r>
            <a:endParaRPr/>
          </a:p>
        </p:txBody>
      </p:sp>
      <p:sp>
        <p:nvSpPr>
          <p:cNvPr id="491" name="" descr="{&quot;isTemplate&quot;:true,&quot;type&quot;:&quot;text&quot;}"/>
          <p:cNvSpPr txBox="1"/>
          <p:nvPr/>
        </p:nvSpPr>
        <p:spPr>
          <a:xfrm rot="0" flipH="0" flipV="0">
            <a:off x="4991100" y="2276475"/>
            <a:ext cx="1409700" cy="228600"/>
          </a:xfrm>
          <a:prstGeom prst="rect"/>
        </p:spPr>
        <p:txBody>
          <a:bodyPr wrap="none" lIns="0" tIns="0" rIns="0" bIns="0"/>
          <a:p>
            <a:pPr>
              <a:lnSpc>
                <a:spcPct val="100000"/>
              </a:lnSpc>
            </a:pPr>
            <a:r>
              <a:rPr lang="zh-CN" sz="1500" b="1">
                <a:solidFill>
                  <a:srgbClr val="0F1423"/>
                </a:solidFill>
                <a:latin typeface="Microsoft YaHei"/>
                <a:ea typeface="Microsoft YaHei"/>
              </a:rPr>
              <a:t>概念数据模型</a:t>
            </a:r>
            <a:endParaRPr/>
          </a:p>
        </p:txBody>
      </p:sp>
      <p:sp>
        <p:nvSpPr>
          <p:cNvPr id="492" name="" descr="{&quot;isTemplate&quot;:true,&quot;type&quot;:&quot;text&quot;}"/>
          <p:cNvSpPr txBox="1"/>
          <p:nvPr/>
        </p:nvSpPr>
        <p:spPr>
          <a:xfrm rot="0" flipH="0" flipV="0">
            <a:off x="6572250" y="2000250"/>
            <a:ext cx="3390900" cy="771525"/>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通过业务对象及其之间的关系，从宏观角度分析和设计企业的核心数据结构。描述「有哪些实体、彼此什么关系」，不涉及具体属性。</a:t>
            </a:r>
            <a:endParaRPr/>
          </a:p>
        </p:txBody>
      </p:sp>
      <p:sp>
        <p:nvSpPr>
          <p:cNvPr id="493" name=""/>
          <p:cNvSpPr/>
          <p:nvPr/>
        </p:nvSpPr>
        <p:spPr>
          <a:xfrm rot="0" flipH="0" flipV="0">
            <a:off x="10134600" y="2257425"/>
            <a:ext cx="1257300" cy="257175"/>
          </a:xfrm>
          <a:prstGeom prst="roundRect">
            <a:avLst>
              <a:gd name="adj" fmla="val 11111"/>
            </a:avLst>
          </a:prstGeom>
          <a:solidFill>
            <a:srgbClr val="FA4F24">
              <a:alpha val="10000"/>
            </a:srgbClr>
          </a:solidFill>
          <a:ln/>
        </p:spPr>
        <p:txBody>
          <a:bodyPr/>
          <a:p>
            <a:pPr/>
            <a:endParaRPr/>
          </a:p>
        </p:txBody>
      </p:sp>
      <p:sp>
        <p:nvSpPr>
          <p:cNvPr id="494" name="" descr="{&quot;isTemplate&quot;:true,&quot;type&quot;:&quot;text&quot;}"/>
          <p:cNvSpPr txBox="1"/>
          <p:nvPr/>
        </p:nvSpPr>
        <p:spPr>
          <a:xfrm rot="0" flipH="0" flipV="0">
            <a:off x="10210800" y="2314575"/>
            <a:ext cx="1104900" cy="142875"/>
          </a:xfrm>
          <a:prstGeom prst="rect"/>
        </p:spPr>
        <p:txBody>
          <a:bodyPr wrap="none" lIns="0" tIns="0" rIns="0" bIns="0"/>
          <a:p>
            <a:pPr algn="ctr">
              <a:lnSpc>
                <a:spcPct val="100000"/>
              </a:lnSpc>
            </a:pPr>
            <a:r>
              <a:rPr lang="zh-CN" sz="900">
                <a:solidFill>
                  <a:srgbClr val="C43A17"/>
                </a:solidFill>
                <a:latin typeface="Microsoft YaHei"/>
                <a:ea typeface="Microsoft YaHei"/>
              </a:rPr>
              <a:t>对齐业务对象</a:t>
            </a:r>
            <a:endParaRPr/>
          </a:p>
        </p:txBody>
      </p:sp>
      <p:sp>
        <p:nvSpPr>
          <p:cNvPr id="495" name=""/>
          <p:cNvSpPr/>
          <p:nvPr/>
        </p:nvSpPr>
        <p:spPr>
          <a:xfrm rot="0" flipH="0" flipV="0">
            <a:off x="4076700" y="3143250"/>
            <a:ext cx="7543800" cy="1295400"/>
          </a:xfrm>
          <a:prstGeom prst="roundRect">
            <a:avLst>
              <a:gd name="adj" fmla="val 2941"/>
            </a:avLst>
          </a:prstGeom>
          <a:solidFill>
            <a:srgbClr val="F7F7F8"/>
          </a:solidFill>
          <a:ln/>
        </p:spPr>
        <p:txBody>
          <a:bodyPr/>
          <a:p>
            <a:pPr/>
            <a:endParaRPr/>
          </a:p>
        </p:txBody>
      </p:sp>
      <p:sp>
        <p:nvSpPr>
          <p:cNvPr id="496" name=""/>
          <p:cNvSpPr/>
          <p:nvPr/>
        </p:nvSpPr>
        <p:spPr>
          <a:xfrm rot="0" flipH="0" flipV="0">
            <a:off x="4076700" y="3143250"/>
            <a:ext cx="7543800" cy="1295400"/>
          </a:xfrm>
          <a:custGeom>
            <a:pathLst>
              <a:path w="792" h="136">
                <a:moveTo>
                  <a:pt x="4" y="136"/>
                </a:moveTo>
                <a:cubicBezTo>
                  <a:pt x="2" y="136"/>
                  <a:pt x="0" y="134"/>
                  <a:pt x="0" y="132"/>
                </a:cubicBezTo>
                <a:lnTo>
                  <a:pt x="0" y="4"/>
                </a:lnTo>
                <a:cubicBezTo>
                  <a:pt x="0" y="2"/>
                  <a:pt x="2" y="0"/>
                  <a:pt x="4" y="0"/>
                </a:cubicBezTo>
                <a:lnTo>
                  <a:pt x="4" y="136"/>
                </a:lnTo>
                <a:close/>
              </a:path>
            </a:pathLst>
          </a:custGeom>
          <a:solidFill>
            <a:srgbClr val="FA4F24"/>
          </a:solidFill>
          <a:ln/>
        </p:spPr>
        <p:txBody>
          <a:bodyPr/>
          <a:p>
            <a:pPr/>
            <a:endParaRPr/>
          </a:p>
        </p:txBody>
      </p:sp>
      <p:sp>
        <p:nvSpPr>
          <p:cNvPr id="497" name=""/>
          <p:cNvSpPr/>
          <p:nvPr/>
        </p:nvSpPr>
        <p:spPr>
          <a:xfrm rot="0" flipH="0" flipV="0">
            <a:off x="4267200" y="3581400"/>
            <a:ext cx="552450" cy="419100"/>
          </a:xfrm>
          <a:prstGeom prst="roundRect">
            <a:avLst>
              <a:gd name="adj" fmla="val 6818"/>
            </a:avLst>
          </a:prstGeom>
          <a:solidFill>
            <a:srgbClr val="F87D2F"/>
          </a:solidFill>
          <a:ln/>
        </p:spPr>
        <p:txBody>
          <a:bodyPr/>
          <a:p>
            <a:pPr/>
            <a:endParaRPr/>
          </a:p>
        </p:txBody>
      </p:sp>
      <p:sp>
        <p:nvSpPr>
          <p:cNvPr id="498" name="" descr="{&quot;isTemplate&quot;:true,&quot;type&quot;:&quot;text&quot;}"/>
          <p:cNvSpPr txBox="1"/>
          <p:nvPr/>
        </p:nvSpPr>
        <p:spPr>
          <a:xfrm rot="0" flipH="0" flipV="0">
            <a:off x="4381500" y="3695700"/>
            <a:ext cx="323850" cy="200025"/>
          </a:xfrm>
          <a:prstGeom prst="rect"/>
        </p:spPr>
        <p:txBody>
          <a:bodyPr wrap="none" lIns="0" tIns="0" rIns="0" bIns="0"/>
          <a:p>
            <a:pPr>
              <a:lnSpc>
                <a:spcPct val="100000"/>
              </a:lnSpc>
            </a:pPr>
            <a:r>
              <a:rPr lang="zh-CN" sz="1275" b="1">
                <a:solidFill>
                  <a:srgbClr val="FFFFFF"/>
                </a:solidFill>
                <a:latin typeface="Microsoft YaHei"/>
                <a:ea typeface="Microsoft YaHei"/>
              </a:rPr>
              <a:t>逻辑</a:t>
            </a:r>
            <a:endParaRPr/>
          </a:p>
        </p:txBody>
      </p:sp>
      <p:sp>
        <p:nvSpPr>
          <p:cNvPr id="499" name="" descr="{&quot;isTemplate&quot;:true,&quot;type&quot;:&quot;text&quot;}"/>
          <p:cNvSpPr txBox="1"/>
          <p:nvPr/>
        </p:nvSpPr>
        <p:spPr>
          <a:xfrm rot="0" flipH="0" flipV="0">
            <a:off x="4991100" y="3676650"/>
            <a:ext cx="1409700" cy="228600"/>
          </a:xfrm>
          <a:prstGeom prst="rect"/>
        </p:spPr>
        <p:txBody>
          <a:bodyPr wrap="none" lIns="0" tIns="0" rIns="0" bIns="0"/>
          <a:p>
            <a:pPr>
              <a:lnSpc>
                <a:spcPct val="100000"/>
              </a:lnSpc>
            </a:pPr>
            <a:r>
              <a:rPr lang="zh-CN" sz="1500" b="1">
                <a:solidFill>
                  <a:srgbClr val="0F1423"/>
                </a:solidFill>
                <a:latin typeface="Microsoft YaHei"/>
                <a:ea typeface="Microsoft YaHei"/>
              </a:rPr>
              <a:t>逻辑数据模型</a:t>
            </a:r>
            <a:endParaRPr/>
          </a:p>
        </p:txBody>
      </p:sp>
      <p:sp>
        <p:nvSpPr>
          <p:cNvPr id="500" name="" descr="{&quot;isTemplate&quot;:true,&quot;type&quot;:&quot;text&quot;}"/>
          <p:cNvSpPr txBox="1"/>
          <p:nvPr/>
        </p:nvSpPr>
        <p:spPr>
          <a:xfrm rot="0" flipH="0" flipV="0">
            <a:off x="6572250" y="3409950"/>
            <a:ext cx="3390900" cy="771525"/>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利用逻辑数据实体及实体之间的关系，准确描述业务规则。引入关键数据属性，回答「实体有哪些关键属性、规则是什么」。</a:t>
            </a:r>
            <a:endParaRPr/>
          </a:p>
        </p:txBody>
      </p:sp>
      <p:sp>
        <p:nvSpPr>
          <p:cNvPr id="501" name=""/>
          <p:cNvSpPr/>
          <p:nvPr/>
        </p:nvSpPr>
        <p:spPr>
          <a:xfrm rot="0" flipH="0" flipV="0">
            <a:off x="10134600" y="3667125"/>
            <a:ext cx="1257300" cy="257175"/>
          </a:xfrm>
          <a:prstGeom prst="roundRect">
            <a:avLst>
              <a:gd name="adj" fmla="val 11111"/>
            </a:avLst>
          </a:prstGeom>
          <a:solidFill>
            <a:srgbClr val="FA4F24">
              <a:alpha val="10000"/>
            </a:srgbClr>
          </a:solidFill>
          <a:ln/>
        </p:spPr>
        <p:txBody>
          <a:bodyPr/>
          <a:p>
            <a:pPr/>
            <a:endParaRPr/>
          </a:p>
        </p:txBody>
      </p:sp>
      <p:sp>
        <p:nvSpPr>
          <p:cNvPr id="502" name="" descr="{&quot;isTemplate&quot;:true,&quot;type&quot;:&quot;text&quot;}"/>
          <p:cNvSpPr txBox="1"/>
          <p:nvPr/>
        </p:nvSpPr>
        <p:spPr>
          <a:xfrm rot="0" flipH="0" flipV="0">
            <a:off x="10210800" y="3724275"/>
            <a:ext cx="1104900" cy="142875"/>
          </a:xfrm>
          <a:prstGeom prst="rect"/>
        </p:spPr>
        <p:txBody>
          <a:bodyPr wrap="none" lIns="0" tIns="0" rIns="0" bIns="0"/>
          <a:p>
            <a:pPr algn="ctr">
              <a:lnSpc>
                <a:spcPct val="100000"/>
              </a:lnSpc>
            </a:pPr>
            <a:r>
              <a:rPr lang="zh-CN" sz="900">
                <a:solidFill>
                  <a:srgbClr val="C43A17"/>
                </a:solidFill>
                <a:latin typeface="Microsoft YaHei"/>
                <a:ea typeface="Microsoft YaHei"/>
              </a:rPr>
              <a:t>固化业务规则</a:t>
            </a:r>
            <a:endParaRPr/>
          </a:p>
        </p:txBody>
      </p:sp>
      <p:sp>
        <p:nvSpPr>
          <p:cNvPr id="503" name=""/>
          <p:cNvSpPr/>
          <p:nvPr/>
        </p:nvSpPr>
        <p:spPr>
          <a:xfrm rot="0" flipH="0" flipV="0">
            <a:off x="4076700" y="4552950"/>
            <a:ext cx="7543800" cy="1028700"/>
          </a:xfrm>
          <a:prstGeom prst="roundRect">
            <a:avLst>
              <a:gd name="adj" fmla="val 3704"/>
            </a:avLst>
          </a:prstGeom>
          <a:solidFill>
            <a:srgbClr val="F7F7F8"/>
          </a:solidFill>
          <a:ln/>
        </p:spPr>
        <p:txBody>
          <a:bodyPr/>
          <a:p>
            <a:pPr/>
            <a:endParaRPr/>
          </a:p>
        </p:txBody>
      </p:sp>
      <p:sp>
        <p:nvSpPr>
          <p:cNvPr id="504" name=""/>
          <p:cNvSpPr/>
          <p:nvPr/>
        </p:nvSpPr>
        <p:spPr>
          <a:xfrm rot="0" flipH="0" flipV="0">
            <a:off x="4076700" y="4552950"/>
            <a:ext cx="7543800" cy="1028700"/>
          </a:xfrm>
          <a:custGeom>
            <a:pathLst>
              <a:path w="792" h="108">
                <a:moveTo>
                  <a:pt x="4" y="108"/>
                </a:moveTo>
                <a:cubicBezTo>
                  <a:pt x="2" y="108"/>
                  <a:pt x="0" y="106"/>
                  <a:pt x="0" y="104"/>
                </a:cubicBezTo>
                <a:lnTo>
                  <a:pt x="0" y="4"/>
                </a:lnTo>
                <a:cubicBezTo>
                  <a:pt x="0" y="2"/>
                  <a:pt x="2" y="0"/>
                  <a:pt x="4" y="0"/>
                </a:cubicBezTo>
                <a:lnTo>
                  <a:pt x="4" y="108"/>
                </a:lnTo>
                <a:close/>
              </a:path>
            </a:pathLst>
          </a:custGeom>
          <a:solidFill>
            <a:srgbClr val="FA4F24"/>
          </a:solidFill>
          <a:ln/>
        </p:spPr>
        <p:txBody>
          <a:bodyPr/>
          <a:p>
            <a:pPr/>
            <a:endParaRPr/>
          </a:p>
        </p:txBody>
      </p:sp>
      <p:sp>
        <p:nvSpPr>
          <p:cNvPr id="505" name=""/>
          <p:cNvSpPr/>
          <p:nvPr/>
        </p:nvSpPr>
        <p:spPr>
          <a:xfrm rot="0" flipH="0" flipV="0">
            <a:off x="4267200" y="4857750"/>
            <a:ext cx="552450" cy="419100"/>
          </a:xfrm>
          <a:prstGeom prst="roundRect">
            <a:avLst>
              <a:gd name="adj" fmla="val 6818"/>
            </a:avLst>
          </a:prstGeom>
          <a:solidFill>
            <a:srgbClr val="FBA15C"/>
          </a:solidFill>
          <a:ln/>
        </p:spPr>
        <p:txBody>
          <a:bodyPr/>
          <a:p>
            <a:pPr/>
            <a:endParaRPr/>
          </a:p>
        </p:txBody>
      </p:sp>
      <p:sp>
        <p:nvSpPr>
          <p:cNvPr id="506" name="" descr="{&quot;isTemplate&quot;:true,&quot;type&quot;:&quot;text&quot;}"/>
          <p:cNvSpPr txBox="1"/>
          <p:nvPr/>
        </p:nvSpPr>
        <p:spPr>
          <a:xfrm rot="0" flipH="0" flipV="0">
            <a:off x="4381500" y="4972050"/>
            <a:ext cx="323850" cy="200025"/>
          </a:xfrm>
          <a:prstGeom prst="rect"/>
        </p:spPr>
        <p:txBody>
          <a:bodyPr wrap="none" lIns="0" tIns="0" rIns="0" bIns="0"/>
          <a:p>
            <a:pPr>
              <a:lnSpc>
                <a:spcPct val="100000"/>
              </a:lnSpc>
            </a:pPr>
            <a:r>
              <a:rPr lang="zh-CN" sz="1275" b="1">
                <a:solidFill>
                  <a:srgbClr val="3A2000"/>
                </a:solidFill>
                <a:latin typeface="Microsoft YaHei"/>
                <a:ea typeface="Microsoft YaHei"/>
              </a:rPr>
              <a:t>物理</a:t>
            </a:r>
            <a:endParaRPr/>
          </a:p>
        </p:txBody>
      </p:sp>
      <p:sp>
        <p:nvSpPr>
          <p:cNvPr id="507" name="" descr="{&quot;isTemplate&quot;:true,&quot;type&quot;:&quot;text&quot;}"/>
          <p:cNvSpPr txBox="1"/>
          <p:nvPr/>
        </p:nvSpPr>
        <p:spPr>
          <a:xfrm rot="0" flipH="0" flipV="0">
            <a:off x="4991100" y="4953000"/>
            <a:ext cx="1409700" cy="228600"/>
          </a:xfrm>
          <a:prstGeom prst="rect"/>
        </p:spPr>
        <p:txBody>
          <a:bodyPr wrap="none" lIns="0" tIns="0" rIns="0" bIns="0"/>
          <a:p>
            <a:pPr>
              <a:lnSpc>
                <a:spcPct val="100000"/>
              </a:lnSpc>
            </a:pPr>
            <a:r>
              <a:rPr lang="zh-CN" sz="1500" b="1">
                <a:solidFill>
                  <a:srgbClr val="0F1423"/>
                </a:solidFill>
                <a:latin typeface="Microsoft YaHei"/>
                <a:ea typeface="Microsoft YaHei"/>
              </a:rPr>
              <a:t>物理数据模型</a:t>
            </a:r>
            <a:endParaRPr/>
          </a:p>
        </p:txBody>
      </p:sp>
      <p:sp>
        <p:nvSpPr>
          <p:cNvPr id="508" name="" descr="{&quot;isTemplate&quot;:true,&quot;type&quot;:&quot;text&quot;}"/>
          <p:cNvSpPr txBox="1"/>
          <p:nvPr/>
        </p:nvSpPr>
        <p:spPr>
          <a:xfrm rot="0" flipH="0" flipV="0">
            <a:off x="6572250" y="4810125"/>
            <a:ext cx="3390900" cy="51435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将逻辑模型中的实体、属性、属性约束、关系，如实转换为数据库软件能识别的物理实体关系。</a:t>
            </a:r>
            <a:endParaRPr/>
          </a:p>
        </p:txBody>
      </p:sp>
      <p:sp>
        <p:nvSpPr>
          <p:cNvPr id="509" name=""/>
          <p:cNvSpPr/>
          <p:nvPr/>
        </p:nvSpPr>
        <p:spPr>
          <a:xfrm rot="0" flipH="0" flipV="0">
            <a:off x="10134600" y="4943475"/>
            <a:ext cx="1257300" cy="257175"/>
          </a:xfrm>
          <a:prstGeom prst="roundRect">
            <a:avLst>
              <a:gd name="adj" fmla="val 11111"/>
            </a:avLst>
          </a:prstGeom>
          <a:solidFill>
            <a:srgbClr val="FA4F24">
              <a:alpha val="10000"/>
            </a:srgbClr>
          </a:solidFill>
          <a:ln/>
        </p:spPr>
        <p:txBody>
          <a:bodyPr/>
          <a:p>
            <a:pPr/>
            <a:endParaRPr/>
          </a:p>
        </p:txBody>
      </p:sp>
      <p:sp>
        <p:nvSpPr>
          <p:cNvPr id="510" name="" descr="{&quot;isTemplate&quot;:true,&quot;type&quot;:&quot;text&quot;}"/>
          <p:cNvSpPr txBox="1"/>
          <p:nvPr/>
        </p:nvSpPr>
        <p:spPr>
          <a:xfrm rot="0" flipH="0" flipV="0">
            <a:off x="10210800" y="5000625"/>
            <a:ext cx="1104900" cy="142875"/>
          </a:xfrm>
          <a:prstGeom prst="rect"/>
        </p:spPr>
        <p:txBody>
          <a:bodyPr wrap="none" lIns="0" tIns="0" rIns="0" bIns="0"/>
          <a:p>
            <a:pPr algn="ctr">
              <a:lnSpc>
                <a:spcPct val="100000"/>
              </a:lnSpc>
            </a:pPr>
            <a:r>
              <a:rPr lang="zh-CN" sz="900">
                <a:solidFill>
                  <a:srgbClr val="C43A17"/>
                </a:solidFill>
                <a:latin typeface="Microsoft YaHei"/>
                <a:ea typeface="Microsoft YaHei"/>
              </a:rPr>
              <a:t>落到表结构</a:t>
            </a:r>
            <a:endParaRPr/>
          </a:p>
        </p:txBody>
      </p:sp>
      <p:sp>
        <p:nvSpPr>
          <p:cNvPr id="511" name=""/>
          <p:cNvSpPr/>
          <p:nvPr/>
        </p:nvSpPr>
        <p:spPr>
          <a:xfrm rot="0" flipH="0" flipV="0">
            <a:off x="609600" y="5943600"/>
            <a:ext cx="133350" cy="133350"/>
          </a:xfrm>
          <a:prstGeom prst="rect">
            <a:avLst/>
          </a:prstGeom>
          <a:solidFill>
            <a:srgbClr val="FA4F24"/>
          </a:solidFill>
          <a:ln/>
        </p:spPr>
        <p:txBody>
          <a:bodyPr/>
          <a:p>
            <a:pPr/>
            <a:endParaRPr/>
          </a:p>
        </p:txBody>
      </p:sp>
      <p:sp>
        <p:nvSpPr>
          <p:cNvPr id="512"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513"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21 / 30</a:t>
            </a:r>
            <a:endParaRPr/>
          </a:p>
        </p:txBody>
      </p:sp>
    </p:spTree>
  </p:cSld>
</p:sld>
</file>

<file path=ppt/slides/slide22.xml><?xml version="1.0" encoding="utf-8"?>
<p:sld xmlns:p="http://schemas.openxmlformats.org/presentationml/2006/main" xmlns:a="http://schemas.openxmlformats.org/drawingml/2006/main">
  <p:cSld>
    <p:spTree>
      <p:nvGrpSpPr>
        <p:cNvPr id="514" name=""/>
        <p:cNvGrpSpPr/>
        <p:nvPr/>
      </p:nvGrpSpPr>
      <p:grpSpPr>
        <a:xfrm>
          <a:off x="0" y="0"/>
          <a:ext cx="0" cy="0"/>
          <a:chOff x="0" y="0"/>
          <a:chExt cx="0" cy="0"/>
        </a:xfrm>
      </p:grpSpPr>
      <p:sp>
        <p:nvSpPr>
          <p:cNvPr id="515" name=""/>
          <p:cNvSpPr/>
          <p:nvPr/>
        </p:nvSpPr>
        <p:spPr>
          <a:xfrm rot="0" flipH="0" flipV="0">
            <a:off x="0" y="0"/>
            <a:ext cx="12192000" cy="6858000"/>
          </a:xfrm>
          <a:prstGeom prst="rect">
            <a:avLst/>
          </a:prstGeom>
          <a:solidFill>
            <a:srgbClr val="FFFFFF"/>
          </a:solidFill>
          <a:ln/>
        </p:spPr>
        <p:txBody>
          <a:bodyPr/>
          <a:p>
            <a:pPr/>
            <a:endParaRPr/>
          </a:p>
        </p:txBody>
      </p:sp>
      <p:sp>
        <p:nvSpPr>
          <p:cNvPr id="516"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之内容：三层模型交付与</a:t>
            </a:r>
            <a:r>
              <a:rPr lang="zh-CN" sz="2400" b="1">
                <a:solidFill>
                  <a:srgbClr val="FA4F24"/>
                </a:solidFill>
                <a:latin typeface="Microsoft YaHei"/>
                <a:ea typeface="Microsoft YaHei"/>
              </a:rPr>
              <a:t>一致性控制</a:t>
            </a:r>
            <a:r>
              <a:rPr lang="zh-CN" sz="2400" b="1">
                <a:solidFill>
                  <a:srgbClr val="0F1423"/>
                </a:solidFill>
                <a:latin typeface="Microsoft YaHei"/>
                <a:ea typeface="Microsoft YaHei"/>
              </a:rPr>
              <a:t>，不让架构在落地中走形</a:t>
            </a:r>
            <a:endParaRPr/>
          </a:p>
        </p:txBody>
      </p:sp>
      <p:sp>
        <p:nvSpPr>
          <p:cNvPr id="517"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华为长期存在信息架构与</a:t>
            </a:r>
            <a:r>
              <a:rPr lang="en-US" sz="1500">
                <a:solidFill>
                  <a:srgbClr val="8A8F99"/>
                </a:solidFill>
                <a:latin typeface="Microsoft YaHei"/>
                <a:ea typeface="Microsoft YaHei"/>
              </a:rPr>
              <a:t xml:space="preserve"> IT </a:t>
            </a:r>
            <a:r>
              <a:rPr lang="zh-CN" sz="1500">
                <a:solidFill>
                  <a:srgbClr val="8A8F99"/>
                </a:solidFill>
                <a:latin typeface="Microsoft YaHei"/>
                <a:ea typeface="Microsoft YaHei"/>
              </a:rPr>
              <a:t>开发「两张皮」——</a:t>
            </a:r>
            <a:r>
              <a:rPr lang="en-US" sz="1500">
                <a:solidFill>
                  <a:srgbClr val="8A8F99"/>
                </a:solidFill>
                <a:latin typeface="Microsoft YaHei"/>
                <a:ea typeface="Microsoft YaHei"/>
              </a:rPr>
              <a:t xml:space="preserve"> </a:t>
            </a:r>
            <a:r>
              <a:rPr lang="zh-CN" sz="1500">
                <a:solidFill>
                  <a:srgbClr val="8A8F99"/>
                </a:solidFill>
                <a:latin typeface="Microsoft YaHei"/>
                <a:ea typeface="Microsoft YaHei"/>
              </a:rPr>
              <a:t>靠一体化模型设计</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元数据验证发布来根治</a:t>
            </a:r>
            <a:endParaRPr/>
          </a:p>
        </p:txBody>
      </p:sp>
      <p:sp>
        <p:nvSpPr>
          <p:cNvPr id="518" name=""/>
          <p:cNvSpPr/>
          <p:nvPr/>
        </p:nvSpPr>
        <p:spPr>
          <a:xfrm rot="0" flipH="0" flipV="0">
            <a:off x="609600" y="1143000"/>
            <a:ext cx="10972800" cy="9525"/>
          </a:xfrm>
          <a:prstGeom prst="rect">
            <a:avLst/>
          </a:prstGeom>
          <a:solidFill>
            <a:srgbClr val="E8E8E8"/>
          </a:solidFill>
          <a:ln/>
        </p:spPr>
        <p:txBody>
          <a:bodyPr/>
          <a:p>
            <a:pPr/>
            <a:endParaRPr/>
          </a:p>
        </p:txBody>
      </p:sp>
      <p:sp>
        <p:nvSpPr>
          <p:cNvPr id="519" name=""/>
          <p:cNvSpPr/>
          <p:nvPr/>
        </p:nvSpPr>
        <p:spPr>
          <a:xfrm rot="0" flipH="0" flipV="0">
            <a:off x="609600" y="1400175"/>
            <a:ext cx="3552825" cy="1752600"/>
          </a:xfrm>
          <a:prstGeom prst="roundRect">
            <a:avLst>
              <a:gd name="adj" fmla="val 2174"/>
            </a:avLst>
          </a:prstGeom>
          <a:solidFill>
            <a:srgbClr val="F7F7F8"/>
          </a:solidFill>
          <a:ln/>
        </p:spPr>
        <p:txBody>
          <a:bodyPr/>
          <a:p>
            <a:pPr/>
            <a:endParaRPr/>
          </a:p>
        </p:txBody>
      </p:sp>
      <p:sp>
        <p:nvSpPr>
          <p:cNvPr id="520" name=""/>
          <p:cNvSpPr/>
          <p:nvPr/>
        </p:nvSpPr>
        <p:spPr>
          <a:xfrm rot="0" flipH="0" flipV="0">
            <a:off x="609600" y="1400175"/>
            <a:ext cx="3552825" cy="1752600"/>
          </a:xfrm>
          <a:custGeom>
            <a:pathLst>
              <a:path w="373" h="184">
                <a:moveTo>
                  <a:pt x="369" y="0"/>
                </a:moveTo>
                <a:cubicBezTo>
                  <a:pt x="371" y="0"/>
                  <a:pt x="373" y="2"/>
                  <a:pt x="373" y="4"/>
                </a:cubicBezTo>
                <a:lnTo>
                  <a:pt x="0" y="4"/>
                </a:lnTo>
                <a:cubicBezTo>
                  <a:pt x="0" y="2"/>
                  <a:pt x="2" y="0"/>
                  <a:pt x="4" y="0"/>
                </a:cubicBezTo>
                <a:lnTo>
                  <a:pt x="369" y="0"/>
                </a:lnTo>
                <a:close/>
              </a:path>
            </a:pathLst>
          </a:custGeom>
          <a:solidFill>
            <a:srgbClr val="FA4F24"/>
          </a:solidFill>
          <a:ln/>
        </p:spPr>
        <p:txBody>
          <a:bodyPr/>
          <a:p>
            <a:pPr/>
            <a:endParaRPr/>
          </a:p>
        </p:txBody>
      </p:sp>
      <p:sp>
        <p:nvSpPr>
          <p:cNvPr id="521" name="" descr="{&quot;isTemplate&quot;:true,&quot;type&quot;:&quot;text&quot;}"/>
          <p:cNvSpPr txBox="1"/>
          <p:nvPr/>
        </p:nvSpPr>
        <p:spPr>
          <a:xfrm rot="0" flipH="0" flipV="0">
            <a:off x="800100" y="1571625"/>
            <a:ext cx="3171825" cy="161925"/>
          </a:xfrm>
          <a:prstGeom prst="rect"/>
        </p:spPr>
        <p:txBody>
          <a:bodyPr wrap="none" lIns="0" tIns="0" rIns="0" bIns="0"/>
          <a:p>
            <a:pPr>
              <a:lnSpc>
                <a:spcPct val="100000"/>
              </a:lnSpc>
            </a:pPr>
            <a:r>
              <a:rPr lang="zh-CN" sz="1050" b="1">
                <a:solidFill>
                  <a:srgbClr val="FA4F24"/>
                </a:solidFill>
                <a:latin typeface="Microsoft YaHei"/>
                <a:ea typeface="Microsoft YaHei"/>
              </a:rPr>
              <a:t>交付物一</a:t>
            </a:r>
            <a:endParaRPr/>
          </a:p>
        </p:txBody>
      </p:sp>
      <p:sp>
        <p:nvSpPr>
          <p:cNvPr id="522" name="" descr="{&quot;isTemplate&quot;:true,&quot;type&quot;:&quot;text&quot;}"/>
          <p:cNvSpPr txBox="1"/>
          <p:nvPr/>
        </p:nvSpPr>
        <p:spPr>
          <a:xfrm rot="0" flipH="0" flipV="0">
            <a:off x="800100" y="1828800"/>
            <a:ext cx="3171825" cy="219075"/>
          </a:xfrm>
          <a:prstGeom prst="rect"/>
        </p:spPr>
        <p:txBody>
          <a:bodyPr wrap="none" lIns="0" tIns="0" rIns="0" bIns="0"/>
          <a:p>
            <a:pPr>
              <a:lnSpc>
                <a:spcPct val="100000"/>
              </a:lnSpc>
            </a:pPr>
            <a:r>
              <a:rPr lang="zh-CN" sz="1425" b="1">
                <a:solidFill>
                  <a:srgbClr val="0F1423"/>
                </a:solidFill>
                <a:latin typeface="Microsoft YaHei"/>
                <a:ea typeface="Microsoft YaHei"/>
              </a:rPr>
              <a:t>概念数据模型</a:t>
            </a:r>
            <a:endParaRPr/>
          </a:p>
        </p:txBody>
      </p:sp>
      <p:sp>
        <p:nvSpPr>
          <p:cNvPr id="523" name="" descr="{&quot;isTemplate&quot;:true,&quot;type&quot;:&quot;text&quot;}"/>
          <p:cNvSpPr txBox="1"/>
          <p:nvPr/>
        </p:nvSpPr>
        <p:spPr>
          <a:xfrm rot="0" flipH="0" flipV="0">
            <a:off x="800100" y="2143125"/>
            <a:ext cx="3171825" cy="51435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以</a:t>
            </a:r>
            <a:r>
              <a:rPr lang="en-US" sz="1125">
                <a:solidFill>
                  <a:srgbClr val="3A4050"/>
                </a:solidFill>
                <a:latin typeface="Microsoft YaHei"/>
                <a:ea typeface="Microsoft YaHei"/>
              </a:rPr>
              <a:t xml:space="preserve"> E-R </a:t>
            </a:r>
            <a:r>
              <a:rPr lang="zh-CN" sz="1125">
                <a:solidFill>
                  <a:srgbClr val="3A4050"/>
                </a:solidFill>
                <a:latin typeface="Microsoft YaHei"/>
                <a:ea typeface="Microsoft YaHei"/>
              </a:rPr>
              <a:t>图表达企业核心业务实体及业务关系，实体名称采用标准业务术语。</a:t>
            </a:r>
            <a:endParaRPr/>
          </a:p>
        </p:txBody>
      </p:sp>
      <p:sp>
        <p:nvSpPr>
          <p:cNvPr id="524" name=""/>
          <p:cNvSpPr/>
          <p:nvPr/>
        </p:nvSpPr>
        <p:spPr>
          <a:xfrm rot="0" flipH="0" flipV="0">
            <a:off x="800100" y="2657475"/>
            <a:ext cx="3171825" cy="285750"/>
          </a:xfrm>
          <a:prstGeom prst="roundRect">
            <a:avLst>
              <a:gd name="adj" fmla="val 10000"/>
            </a:avLst>
          </a:prstGeom>
          <a:solidFill>
            <a:srgbClr val="FA4F24">
              <a:alpha val="10000"/>
            </a:srgbClr>
          </a:solidFill>
          <a:ln/>
        </p:spPr>
        <p:txBody>
          <a:bodyPr/>
          <a:p>
            <a:pPr/>
            <a:endParaRPr/>
          </a:p>
        </p:txBody>
      </p:sp>
      <p:sp>
        <p:nvSpPr>
          <p:cNvPr id="525" name="" descr="{&quot;isTemplate&quot;:true,&quot;type&quot;:&quot;text&quot;}"/>
          <p:cNvSpPr txBox="1"/>
          <p:nvPr/>
        </p:nvSpPr>
        <p:spPr>
          <a:xfrm rot="0" flipH="0" flipV="0">
            <a:off x="895350" y="2724150"/>
            <a:ext cx="2981325" cy="152400"/>
          </a:xfrm>
          <a:prstGeom prst="rect"/>
        </p:spPr>
        <p:txBody>
          <a:bodyPr wrap="none" lIns="0" tIns="0" rIns="0" bIns="0"/>
          <a:p>
            <a:pPr algn="ctr">
              <a:lnSpc>
                <a:spcPct val="100000"/>
              </a:lnSpc>
            </a:pPr>
            <a:r>
              <a:rPr lang="zh-CN" sz="975" b="1">
                <a:solidFill>
                  <a:srgbClr val="C43A17"/>
                </a:solidFill>
                <a:latin typeface="Microsoft YaHei"/>
                <a:ea typeface="Microsoft YaHei"/>
              </a:rPr>
              <a:t>宏观全景</a:t>
            </a:r>
            <a:endParaRPr/>
          </a:p>
        </p:txBody>
      </p:sp>
      <p:sp>
        <p:nvSpPr>
          <p:cNvPr id="526" name=""/>
          <p:cNvSpPr/>
          <p:nvPr/>
        </p:nvSpPr>
        <p:spPr>
          <a:xfrm rot="0" flipH="0" flipV="0">
            <a:off x="4314825" y="1400175"/>
            <a:ext cx="3562350" cy="1752600"/>
          </a:xfrm>
          <a:prstGeom prst="roundRect">
            <a:avLst>
              <a:gd name="adj" fmla="val 2174"/>
            </a:avLst>
          </a:prstGeom>
          <a:solidFill>
            <a:srgbClr val="F7F7F8"/>
          </a:solidFill>
          <a:ln/>
        </p:spPr>
        <p:txBody>
          <a:bodyPr/>
          <a:p>
            <a:pPr/>
            <a:endParaRPr/>
          </a:p>
        </p:txBody>
      </p:sp>
      <p:sp>
        <p:nvSpPr>
          <p:cNvPr id="527" name=""/>
          <p:cNvSpPr/>
          <p:nvPr/>
        </p:nvSpPr>
        <p:spPr>
          <a:xfrm rot="0" flipH="0" flipV="0">
            <a:off x="4314825" y="1400175"/>
            <a:ext cx="3562350" cy="1752600"/>
          </a:xfrm>
          <a:custGeom>
            <a:pathLst>
              <a:path w="374" h="184">
                <a:moveTo>
                  <a:pt x="370" y="0"/>
                </a:moveTo>
                <a:cubicBezTo>
                  <a:pt x="372" y="0"/>
                  <a:pt x="374" y="2"/>
                  <a:pt x="374" y="4"/>
                </a:cubicBezTo>
                <a:lnTo>
                  <a:pt x="0" y="4"/>
                </a:lnTo>
                <a:cubicBezTo>
                  <a:pt x="0" y="2"/>
                  <a:pt x="2" y="0"/>
                  <a:pt x="4" y="0"/>
                </a:cubicBezTo>
                <a:lnTo>
                  <a:pt x="370" y="0"/>
                </a:lnTo>
                <a:close/>
              </a:path>
            </a:pathLst>
          </a:custGeom>
          <a:solidFill>
            <a:srgbClr val="FA4F24"/>
          </a:solidFill>
          <a:ln/>
        </p:spPr>
        <p:txBody>
          <a:bodyPr/>
          <a:p>
            <a:pPr/>
            <a:endParaRPr/>
          </a:p>
        </p:txBody>
      </p:sp>
      <p:sp>
        <p:nvSpPr>
          <p:cNvPr id="528" name="" descr="{&quot;isTemplate&quot;:true,&quot;type&quot;:&quot;text&quot;}"/>
          <p:cNvSpPr txBox="1"/>
          <p:nvPr/>
        </p:nvSpPr>
        <p:spPr>
          <a:xfrm rot="0" flipH="0" flipV="0">
            <a:off x="4505325" y="1571625"/>
            <a:ext cx="3181350" cy="161925"/>
          </a:xfrm>
          <a:prstGeom prst="rect"/>
        </p:spPr>
        <p:txBody>
          <a:bodyPr wrap="none" lIns="0" tIns="0" rIns="0" bIns="0"/>
          <a:p>
            <a:pPr>
              <a:lnSpc>
                <a:spcPct val="100000"/>
              </a:lnSpc>
            </a:pPr>
            <a:r>
              <a:rPr lang="zh-CN" sz="1050" b="1">
                <a:solidFill>
                  <a:srgbClr val="FA4F24"/>
                </a:solidFill>
                <a:latin typeface="Microsoft YaHei"/>
                <a:ea typeface="Microsoft YaHei"/>
              </a:rPr>
              <a:t>交付物二</a:t>
            </a:r>
            <a:endParaRPr/>
          </a:p>
        </p:txBody>
      </p:sp>
      <p:sp>
        <p:nvSpPr>
          <p:cNvPr id="529" name="" descr="{&quot;isTemplate&quot;:true,&quot;type&quot;:&quot;text&quot;}"/>
          <p:cNvSpPr txBox="1"/>
          <p:nvPr/>
        </p:nvSpPr>
        <p:spPr>
          <a:xfrm rot="0" flipH="0" flipV="0">
            <a:off x="4505325" y="1828800"/>
            <a:ext cx="3181350" cy="219075"/>
          </a:xfrm>
          <a:prstGeom prst="rect"/>
        </p:spPr>
        <p:txBody>
          <a:bodyPr wrap="none" lIns="0" tIns="0" rIns="0" bIns="0"/>
          <a:p>
            <a:pPr>
              <a:lnSpc>
                <a:spcPct val="100000"/>
              </a:lnSpc>
            </a:pPr>
            <a:r>
              <a:rPr lang="zh-CN" sz="1425" b="1">
                <a:solidFill>
                  <a:srgbClr val="0F1423"/>
                </a:solidFill>
                <a:latin typeface="Microsoft YaHei"/>
                <a:ea typeface="Microsoft YaHei"/>
              </a:rPr>
              <a:t>逻辑数据模型</a:t>
            </a:r>
            <a:endParaRPr/>
          </a:p>
        </p:txBody>
      </p:sp>
      <p:sp>
        <p:nvSpPr>
          <p:cNvPr id="530" name="" descr="{&quot;isTemplate&quot;:true,&quot;type&quot;:&quot;text&quot;}"/>
          <p:cNvSpPr txBox="1"/>
          <p:nvPr/>
        </p:nvSpPr>
        <p:spPr>
          <a:xfrm rot="0" flipH="0" flipV="0">
            <a:off x="4505325" y="2143125"/>
            <a:ext cx="3181350" cy="51435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在概念模型基础上细化，引入关键数据属性与关系约束，固化业务规则。</a:t>
            </a:r>
            <a:endParaRPr/>
          </a:p>
        </p:txBody>
      </p:sp>
      <p:sp>
        <p:nvSpPr>
          <p:cNvPr id="531" name=""/>
          <p:cNvSpPr/>
          <p:nvPr/>
        </p:nvSpPr>
        <p:spPr>
          <a:xfrm rot="0" flipH="0" flipV="0">
            <a:off x="4505325" y="2657475"/>
            <a:ext cx="3181350" cy="285750"/>
          </a:xfrm>
          <a:prstGeom prst="roundRect">
            <a:avLst>
              <a:gd name="adj" fmla="val 10000"/>
            </a:avLst>
          </a:prstGeom>
          <a:solidFill>
            <a:srgbClr val="FA4F24">
              <a:alpha val="10000"/>
            </a:srgbClr>
          </a:solidFill>
          <a:ln/>
        </p:spPr>
        <p:txBody>
          <a:bodyPr/>
          <a:p>
            <a:pPr/>
            <a:endParaRPr/>
          </a:p>
        </p:txBody>
      </p:sp>
      <p:sp>
        <p:nvSpPr>
          <p:cNvPr id="532" name="" descr="{&quot;isTemplate&quot;:true,&quot;type&quot;:&quot;text&quot;}"/>
          <p:cNvSpPr txBox="1"/>
          <p:nvPr/>
        </p:nvSpPr>
        <p:spPr>
          <a:xfrm rot="0" flipH="0" flipV="0">
            <a:off x="4600575" y="2724150"/>
            <a:ext cx="2990850" cy="152400"/>
          </a:xfrm>
          <a:prstGeom prst="rect"/>
        </p:spPr>
        <p:txBody>
          <a:bodyPr wrap="none" lIns="0" tIns="0" rIns="0" bIns="0"/>
          <a:p>
            <a:pPr algn="ctr">
              <a:lnSpc>
                <a:spcPct val="100000"/>
              </a:lnSpc>
            </a:pPr>
            <a:r>
              <a:rPr lang="zh-CN" sz="975" b="1">
                <a:solidFill>
                  <a:srgbClr val="C43A17"/>
                </a:solidFill>
                <a:latin typeface="Microsoft YaHei"/>
                <a:ea typeface="Microsoft YaHei"/>
              </a:rPr>
              <a:t>规则载体</a:t>
            </a:r>
            <a:endParaRPr/>
          </a:p>
        </p:txBody>
      </p:sp>
      <p:sp>
        <p:nvSpPr>
          <p:cNvPr id="533" name=""/>
          <p:cNvSpPr/>
          <p:nvPr/>
        </p:nvSpPr>
        <p:spPr>
          <a:xfrm rot="0" flipH="0" flipV="0">
            <a:off x="8029575" y="1400175"/>
            <a:ext cx="3552825" cy="1752600"/>
          </a:xfrm>
          <a:prstGeom prst="roundRect">
            <a:avLst>
              <a:gd name="adj" fmla="val 2174"/>
            </a:avLst>
          </a:prstGeom>
          <a:solidFill>
            <a:srgbClr val="F7F7F8"/>
          </a:solidFill>
          <a:ln/>
        </p:spPr>
        <p:txBody>
          <a:bodyPr/>
          <a:p>
            <a:pPr/>
            <a:endParaRPr/>
          </a:p>
        </p:txBody>
      </p:sp>
      <p:sp>
        <p:nvSpPr>
          <p:cNvPr id="534" name=""/>
          <p:cNvSpPr/>
          <p:nvPr/>
        </p:nvSpPr>
        <p:spPr>
          <a:xfrm rot="0" flipH="0" flipV="0">
            <a:off x="8029575" y="1400175"/>
            <a:ext cx="3552825" cy="1752600"/>
          </a:xfrm>
          <a:custGeom>
            <a:pathLst>
              <a:path w="373" h="184">
                <a:moveTo>
                  <a:pt x="369" y="0"/>
                </a:moveTo>
                <a:cubicBezTo>
                  <a:pt x="371" y="0"/>
                  <a:pt x="373" y="2"/>
                  <a:pt x="373" y="4"/>
                </a:cubicBezTo>
                <a:lnTo>
                  <a:pt x="0" y="4"/>
                </a:lnTo>
                <a:cubicBezTo>
                  <a:pt x="0" y="2"/>
                  <a:pt x="2" y="0"/>
                  <a:pt x="4" y="0"/>
                </a:cubicBezTo>
                <a:lnTo>
                  <a:pt x="369" y="0"/>
                </a:lnTo>
                <a:close/>
              </a:path>
            </a:pathLst>
          </a:custGeom>
          <a:solidFill>
            <a:srgbClr val="FA4F24"/>
          </a:solidFill>
          <a:ln/>
        </p:spPr>
        <p:txBody>
          <a:bodyPr/>
          <a:p>
            <a:pPr/>
            <a:endParaRPr/>
          </a:p>
        </p:txBody>
      </p:sp>
      <p:sp>
        <p:nvSpPr>
          <p:cNvPr id="535" name="" descr="{&quot;isTemplate&quot;:true,&quot;type&quot;:&quot;text&quot;}"/>
          <p:cNvSpPr txBox="1"/>
          <p:nvPr/>
        </p:nvSpPr>
        <p:spPr>
          <a:xfrm rot="0" flipH="0" flipV="0">
            <a:off x="8220075" y="1571625"/>
            <a:ext cx="3171825" cy="161925"/>
          </a:xfrm>
          <a:prstGeom prst="rect"/>
        </p:spPr>
        <p:txBody>
          <a:bodyPr wrap="none" lIns="0" tIns="0" rIns="0" bIns="0"/>
          <a:p>
            <a:pPr>
              <a:lnSpc>
                <a:spcPct val="100000"/>
              </a:lnSpc>
            </a:pPr>
            <a:r>
              <a:rPr lang="zh-CN" sz="1050" b="1">
                <a:solidFill>
                  <a:srgbClr val="FA4F24"/>
                </a:solidFill>
                <a:latin typeface="Microsoft YaHei"/>
                <a:ea typeface="Microsoft YaHei"/>
              </a:rPr>
              <a:t>交付物三</a:t>
            </a:r>
            <a:endParaRPr/>
          </a:p>
        </p:txBody>
      </p:sp>
      <p:sp>
        <p:nvSpPr>
          <p:cNvPr id="536" name="" descr="{&quot;isTemplate&quot;:true,&quot;type&quot;:&quot;text&quot;}"/>
          <p:cNvSpPr txBox="1"/>
          <p:nvPr/>
        </p:nvSpPr>
        <p:spPr>
          <a:xfrm rot="0" flipH="0" flipV="0">
            <a:off x="8220075" y="1828800"/>
            <a:ext cx="3171825" cy="219075"/>
          </a:xfrm>
          <a:prstGeom prst="rect"/>
        </p:spPr>
        <p:txBody>
          <a:bodyPr wrap="none" lIns="0" tIns="0" rIns="0" bIns="0"/>
          <a:p>
            <a:pPr>
              <a:lnSpc>
                <a:spcPct val="100000"/>
              </a:lnSpc>
            </a:pPr>
            <a:r>
              <a:rPr lang="zh-CN" sz="1425" b="1">
                <a:solidFill>
                  <a:srgbClr val="0F1423"/>
                </a:solidFill>
                <a:latin typeface="Microsoft YaHei"/>
                <a:ea typeface="Microsoft YaHei"/>
              </a:rPr>
              <a:t>物理数据模型</a:t>
            </a:r>
            <a:endParaRPr/>
          </a:p>
        </p:txBody>
      </p:sp>
      <p:sp>
        <p:nvSpPr>
          <p:cNvPr id="537" name="" descr="{&quot;isTemplate&quot;:true,&quot;type&quot;:&quot;text&quot;}"/>
          <p:cNvSpPr txBox="1"/>
          <p:nvPr/>
        </p:nvSpPr>
        <p:spPr>
          <a:xfrm rot="0" flipH="0" flipV="0">
            <a:off x="8220075" y="2143125"/>
            <a:ext cx="3171825" cy="51435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逻辑模型向数据库实现的转换产物，含表结构、索引、分区等物理设计。</a:t>
            </a:r>
            <a:endParaRPr/>
          </a:p>
        </p:txBody>
      </p:sp>
      <p:sp>
        <p:nvSpPr>
          <p:cNvPr id="538" name=""/>
          <p:cNvSpPr/>
          <p:nvPr/>
        </p:nvSpPr>
        <p:spPr>
          <a:xfrm rot="0" flipH="0" flipV="0">
            <a:off x="8220075" y="2657475"/>
            <a:ext cx="3171825" cy="285750"/>
          </a:xfrm>
          <a:prstGeom prst="roundRect">
            <a:avLst>
              <a:gd name="adj" fmla="val 10000"/>
            </a:avLst>
          </a:prstGeom>
          <a:solidFill>
            <a:srgbClr val="FA4F24">
              <a:alpha val="10000"/>
            </a:srgbClr>
          </a:solidFill>
          <a:ln/>
        </p:spPr>
        <p:txBody>
          <a:bodyPr/>
          <a:p>
            <a:pPr/>
            <a:endParaRPr/>
          </a:p>
        </p:txBody>
      </p:sp>
      <p:sp>
        <p:nvSpPr>
          <p:cNvPr id="539" name="" descr="{&quot;isTemplate&quot;:true,&quot;type&quot;:&quot;text&quot;}"/>
          <p:cNvSpPr txBox="1"/>
          <p:nvPr/>
        </p:nvSpPr>
        <p:spPr>
          <a:xfrm rot="0" flipH="0" flipV="0">
            <a:off x="8315325" y="2724150"/>
            <a:ext cx="2981325" cy="152400"/>
          </a:xfrm>
          <a:prstGeom prst="rect"/>
        </p:spPr>
        <p:txBody>
          <a:bodyPr wrap="none" lIns="0" tIns="0" rIns="0" bIns="0"/>
          <a:p>
            <a:pPr algn="ctr">
              <a:lnSpc>
                <a:spcPct val="100000"/>
              </a:lnSpc>
            </a:pPr>
            <a:r>
              <a:rPr lang="zh-CN" sz="975" b="1">
                <a:solidFill>
                  <a:srgbClr val="C43A17"/>
                </a:solidFill>
                <a:latin typeface="Microsoft YaHei"/>
                <a:ea typeface="Microsoft YaHei"/>
              </a:rPr>
              <a:t>可建库</a:t>
            </a:r>
            <a:endParaRPr/>
          </a:p>
        </p:txBody>
      </p:sp>
      <p:sp>
        <p:nvSpPr>
          <p:cNvPr id="540" name=""/>
          <p:cNvSpPr/>
          <p:nvPr/>
        </p:nvSpPr>
        <p:spPr>
          <a:xfrm rot="0" flipH="0" flipV="0">
            <a:off x="609600" y="3248025"/>
            <a:ext cx="10972800" cy="1743075"/>
          </a:xfrm>
          <a:prstGeom prst="roundRect">
            <a:avLst>
              <a:gd name="adj" fmla="val 2186"/>
            </a:avLst>
          </a:prstGeom>
          <a:solidFill>
            <a:srgbClr val="F7F7F8"/>
          </a:solidFill>
          <a:ln/>
        </p:spPr>
        <p:txBody>
          <a:bodyPr/>
          <a:p>
            <a:pPr/>
            <a:endParaRPr/>
          </a:p>
        </p:txBody>
      </p:sp>
      <p:sp>
        <p:nvSpPr>
          <p:cNvPr id="541" name="" descr="{&quot;isTemplate&quot;:true,&quot;type&quot;:&quot;text&quot;}"/>
          <p:cNvSpPr txBox="1"/>
          <p:nvPr/>
        </p:nvSpPr>
        <p:spPr>
          <a:xfrm rot="0" flipH="0" flipV="0">
            <a:off x="819150" y="3419475"/>
            <a:ext cx="10553700" cy="219075"/>
          </a:xfrm>
          <a:prstGeom prst="rect"/>
        </p:spPr>
        <p:txBody>
          <a:bodyPr wrap="none" lIns="0" tIns="0" rIns="0" bIns="0"/>
          <a:p>
            <a:pPr>
              <a:lnSpc>
                <a:spcPct val="100000"/>
              </a:lnSpc>
            </a:pPr>
            <a:r>
              <a:rPr lang="zh-CN" sz="1425" b="1">
                <a:solidFill>
                  <a:srgbClr val="0F1423"/>
                </a:solidFill>
                <a:latin typeface="Microsoft YaHei"/>
                <a:ea typeface="Microsoft YaHei"/>
              </a:rPr>
              <a:t>一致性控制：两个关键点</a:t>
            </a:r>
            <a:endParaRPr/>
          </a:p>
        </p:txBody>
      </p:sp>
      <p:sp>
        <p:nvSpPr>
          <p:cNvPr id="542" name=""/>
          <p:cNvSpPr/>
          <p:nvPr/>
        </p:nvSpPr>
        <p:spPr>
          <a:xfrm rot="0" flipH="0" flipV="0">
            <a:off x="819150" y="3771900"/>
            <a:ext cx="5200650" cy="1047750"/>
          </a:xfrm>
          <a:prstGeom prst="roundRect">
            <a:avLst>
              <a:gd name="adj" fmla="val 3636"/>
            </a:avLst>
          </a:prstGeom>
          <a:solidFill>
            <a:srgbClr val="FFFFFF"/>
          </a:solidFill>
          <a:ln/>
        </p:spPr>
        <p:txBody>
          <a:bodyPr/>
          <a:p>
            <a:pPr/>
            <a:endParaRPr/>
          </a:p>
        </p:txBody>
      </p:sp>
      <p:sp>
        <p:nvSpPr>
          <p:cNvPr id="543" name="" descr="{&quot;isTemplate&quot;:true,&quot;type&quot;:&quot;text&quot;}"/>
          <p:cNvSpPr txBox="1"/>
          <p:nvPr/>
        </p:nvSpPr>
        <p:spPr>
          <a:xfrm rot="0" flipH="0" flipV="0">
            <a:off x="990600" y="3905250"/>
            <a:ext cx="4857750" cy="190500"/>
          </a:xfrm>
          <a:prstGeom prst="rect"/>
        </p:spPr>
        <p:txBody>
          <a:bodyPr wrap="none" lIns="0" tIns="0" rIns="0" bIns="0"/>
          <a:p>
            <a:pPr>
              <a:lnSpc>
                <a:spcPct val="100000"/>
              </a:lnSpc>
            </a:pPr>
            <a:r>
              <a:rPr lang="zh-CN" sz="1200" b="1">
                <a:solidFill>
                  <a:srgbClr val="C43A17"/>
                </a:solidFill>
                <a:latin typeface="Microsoft YaHei"/>
                <a:ea typeface="Microsoft YaHei"/>
              </a:rPr>
              <a:t>概念</a:t>
            </a:r>
            <a:r>
              <a:rPr lang="en-US" sz="1200" b="1">
                <a:solidFill>
                  <a:srgbClr val="C43A17"/>
                </a:solidFill>
                <a:latin typeface="Microsoft YaHei"/>
                <a:ea typeface="Microsoft YaHei"/>
              </a:rPr>
              <a:t xml:space="preserve"> ↔ </a:t>
            </a:r>
            <a:r>
              <a:rPr lang="zh-CN" sz="1200" b="1">
                <a:solidFill>
                  <a:srgbClr val="C43A17"/>
                </a:solidFill>
                <a:latin typeface="Microsoft YaHei"/>
                <a:ea typeface="Microsoft YaHei"/>
              </a:rPr>
              <a:t>逻辑</a:t>
            </a:r>
            <a:r>
              <a:rPr lang="en-US" sz="1200" b="1">
                <a:solidFill>
                  <a:srgbClr val="C43A17"/>
                </a:solidFill>
                <a:latin typeface="Microsoft YaHei"/>
                <a:ea typeface="Microsoft YaHei"/>
              </a:rPr>
              <a:t xml:space="preserve"> </a:t>
            </a:r>
            <a:r>
              <a:rPr lang="zh-CN" sz="1200" b="1">
                <a:solidFill>
                  <a:srgbClr val="C43A17"/>
                </a:solidFill>
                <a:latin typeface="Microsoft YaHei"/>
                <a:ea typeface="Microsoft YaHei"/>
              </a:rPr>
              <a:t>一致</a:t>
            </a:r>
            <a:endParaRPr/>
          </a:p>
        </p:txBody>
      </p:sp>
      <p:sp>
        <p:nvSpPr>
          <p:cNvPr id="544" name="" descr="{&quot;isTemplate&quot;:true,&quot;type&quot;:&quot;text&quot;}"/>
          <p:cNvSpPr txBox="1"/>
          <p:nvPr/>
        </p:nvSpPr>
        <p:spPr>
          <a:xfrm rot="0" flipH="0" flipV="0">
            <a:off x="990600" y="4171950"/>
            <a:ext cx="4857750" cy="51435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通过</a:t>
            </a:r>
            <a:r>
              <a:rPr lang="zh-CN" sz="1125">
                <a:solidFill>
                  <a:srgbClr val="3A4050"/>
                </a:solidFill>
                <a:latin typeface="Microsoft YaHei"/>
                <a:ea typeface="Microsoft YaHei"/>
              </a:rPr>
              <a:t>逻辑数据实体的设计管理</a:t>
            </a:r>
            <a:r>
              <a:rPr lang="zh-CN" sz="1125">
                <a:solidFill>
                  <a:srgbClr val="3A4050"/>
                </a:solidFill>
                <a:latin typeface="Microsoft YaHei"/>
                <a:ea typeface="Microsoft YaHei"/>
              </a:rPr>
              <a:t>来实现。逻辑模型里的实体必须能逐个追溯回概念模型，不允许凭空多出实体。</a:t>
            </a:r>
            <a:endParaRPr/>
          </a:p>
        </p:txBody>
      </p:sp>
      <p:sp>
        <p:nvSpPr>
          <p:cNvPr id="545" name=""/>
          <p:cNvSpPr/>
          <p:nvPr/>
        </p:nvSpPr>
        <p:spPr>
          <a:xfrm rot="0" flipH="0" flipV="0">
            <a:off x="6172200" y="3771900"/>
            <a:ext cx="5200650" cy="1047750"/>
          </a:xfrm>
          <a:prstGeom prst="roundRect">
            <a:avLst>
              <a:gd name="adj" fmla="val 3636"/>
            </a:avLst>
          </a:prstGeom>
          <a:solidFill>
            <a:srgbClr val="FFFFFF"/>
          </a:solidFill>
          <a:ln/>
        </p:spPr>
        <p:txBody>
          <a:bodyPr/>
          <a:p>
            <a:pPr/>
            <a:endParaRPr/>
          </a:p>
        </p:txBody>
      </p:sp>
      <p:sp>
        <p:nvSpPr>
          <p:cNvPr id="546" name="" descr="{&quot;isTemplate&quot;:true,&quot;type&quot;:&quot;text&quot;}"/>
          <p:cNvSpPr txBox="1"/>
          <p:nvPr/>
        </p:nvSpPr>
        <p:spPr>
          <a:xfrm rot="0" flipH="0" flipV="0">
            <a:off x="6343650" y="3905250"/>
            <a:ext cx="4857750" cy="190500"/>
          </a:xfrm>
          <a:prstGeom prst="rect"/>
        </p:spPr>
        <p:txBody>
          <a:bodyPr wrap="none" lIns="0" tIns="0" rIns="0" bIns="0"/>
          <a:p>
            <a:pPr>
              <a:lnSpc>
                <a:spcPct val="100000"/>
              </a:lnSpc>
            </a:pPr>
            <a:r>
              <a:rPr lang="zh-CN" sz="1200" b="1">
                <a:solidFill>
                  <a:srgbClr val="C43A17"/>
                </a:solidFill>
                <a:latin typeface="Microsoft YaHei"/>
                <a:ea typeface="Microsoft YaHei"/>
              </a:rPr>
              <a:t>逻辑</a:t>
            </a:r>
            <a:r>
              <a:rPr lang="en-US" sz="1200" b="1">
                <a:solidFill>
                  <a:srgbClr val="C43A17"/>
                </a:solidFill>
                <a:latin typeface="Microsoft YaHei"/>
                <a:ea typeface="Microsoft YaHei"/>
              </a:rPr>
              <a:t xml:space="preserve"> ↔ </a:t>
            </a:r>
            <a:r>
              <a:rPr lang="zh-CN" sz="1200" b="1">
                <a:solidFill>
                  <a:srgbClr val="C43A17"/>
                </a:solidFill>
                <a:latin typeface="Microsoft YaHei"/>
                <a:ea typeface="Microsoft YaHei"/>
              </a:rPr>
              <a:t>物理</a:t>
            </a:r>
            <a:r>
              <a:rPr lang="en-US" sz="1200" b="1">
                <a:solidFill>
                  <a:srgbClr val="C43A17"/>
                </a:solidFill>
                <a:latin typeface="Microsoft YaHei"/>
                <a:ea typeface="Microsoft YaHei"/>
              </a:rPr>
              <a:t xml:space="preserve"> </a:t>
            </a:r>
            <a:r>
              <a:rPr lang="zh-CN" sz="1200" b="1">
                <a:solidFill>
                  <a:srgbClr val="C43A17"/>
                </a:solidFill>
                <a:latin typeface="Microsoft YaHei"/>
                <a:ea typeface="Microsoft YaHei"/>
              </a:rPr>
              <a:t>一致</a:t>
            </a:r>
            <a:endParaRPr/>
          </a:p>
        </p:txBody>
      </p:sp>
      <p:sp>
        <p:nvSpPr>
          <p:cNvPr id="547" name="" descr="{&quot;isTemplate&quot;:true,&quot;type&quot;:&quot;text&quot;}"/>
          <p:cNvSpPr txBox="1"/>
          <p:nvPr/>
        </p:nvSpPr>
        <p:spPr>
          <a:xfrm rot="0" flipH="0" flipV="0">
            <a:off x="6343650" y="4171950"/>
            <a:ext cx="4857750" cy="51435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通过</a:t>
            </a:r>
            <a:r>
              <a:rPr lang="zh-CN" sz="1125">
                <a:solidFill>
                  <a:srgbClr val="3A4050"/>
                </a:solidFill>
                <a:latin typeface="Microsoft YaHei"/>
                <a:ea typeface="Microsoft YaHei"/>
              </a:rPr>
              <a:t>一体化建模管理</a:t>
            </a:r>
            <a:r>
              <a:rPr lang="zh-CN" sz="1125">
                <a:solidFill>
                  <a:srgbClr val="3A4050"/>
                </a:solidFill>
                <a:latin typeface="Microsoft YaHei"/>
                <a:ea typeface="Microsoft YaHei"/>
              </a:rPr>
              <a:t>来实现：构建数据标准池、实体属性只能从标准池选择、产品元数据与数据库自动比对验证。</a:t>
            </a:r>
            <a:endParaRPr/>
          </a:p>
        </p:txBody>
      </p:sp>
      <p:sp>
        <p:nvSpPr>
          <p:cNvPr id="548" name=""/>
          <p:cNvSpPr/>
          <p:nvPr/>
        </p:nvSpPr>
        <p:spPr>
          <a:xfrm rot="0" flipH="0" flipV="0">
            <a:off x="609600" y="5124450"/>
            <a:ext cx="10972800" cy="552450"/>
          </a:xfrm>
          <a:prstGeom prst="roundRect">
            <a:avLst>
              <a:gd name="adj" fmla="val 6897"/>
            </a:avLst>
          </a:prstGeom>
          <a:solidFill>
            <a:srgbClr val="FA4F24">
              <a:alpha val="6000"/>
            </a:srgbClr>
          </a:solidFill>
          <a:ln/>
        </p:spPr>
        <p:txBody>
          <a:bodyPr/>
          <a:p>
            <a:pPr/>
            <a:endParaRPr/>
          </a:p>
        </p:txBody>
      </p:sp>
      <p:sp>
        <p:nvSpPr>
          <p:cNvPr id="549" name=""/>
          <p:cNvSpPr/>
          <p:nvPr/>
        </p:nvSpPr>
        <p:spPr>
          <a:xfrm rot="0" flipH="0" flipV="0">
            <a:off x="800100" y="5238750"/>
            <a:ext cx="38100" cy="323850"/>
          </a:xfrm>
          <a:prstGeom prst="rect">
            <a:avLst/>
          </a:prstGeom>
          <a:solidFill>
            <a:srgbClr val="F87D2F"/>
          </a:solidFill>
          <a:ln/>
        </p:spPr>
        <p:txBody>
          <a:bodyPr/>
          <a:p>
            <a:pPr/>
            <a:endParaRPr/>
          </a:p>
        </p:txBody>
      </p:sp>
      <p:sp>
        <p:nvSpPr>
          <p:cNvPr id="550" name="" descr="{&quot;isTemplate&quot;:true,&quot;type&quot;:&quot;text&quot;}"/>
          <p:cNvSpPr txBox="1"/>
          <p:nvPr/>
        </p:nvSpPr>
        <p:spPr>
          <a:xfrm rot="0" flipH="0" flipV="0">
            <a:off x="971550" y="5276850"/>
            <a:ext cx="9877425" cy="257175"/>
          </a:xfrm>
          <a:prstGeom prst="rect"/>
        </p:spPr>
        <p:txBody>
          <a:bodyPr wrap="none" lIns="0" tIns="0" rIns="0" bIns="0"/>
          <a:p>
            <a:pPr>
              <a:lnSpc>
                <a:spcPct val="150000"/>
              </a:lnSpc>
            </a:pP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关键判断：</a:t>
            </a:r>
            <a:r>
              <a:rPr lang="zh-CN" sz="1125">
                <a:solidFill>
                  <a:srgbClr val="3A4050"/>
                </a:solidFill>
                <a:latin typeface="Microsoft YaHei"/>
                <a:ea typeface="Microsoft YaHei"/>
              </a:rPr>
              <a:t>各项目里说的「数据架构设计」通常指主题域模型、概念模型、逻辑模型三层设计；</a:t>
            </a:r>
            <a:r>
              <a:rPr lang="zh-CN" sz="1125">
                <a:solidFill>
                  <a:srgbClr val="3A4050"/>
                </a:solidFill>
                <a:latin typeface="Microsoft YaHei"/>
                <a:ea typeface="Microsoft YaHei"/>
              </a:rPr>
              <a:t>物理模型通常是数据建模的产出物</a:t>
            </a:r>
            <a:r>
              <a:rPr lang="zh-CN" sz="1125">
                <a:solidFill>
                  <a:srgbClr val="3A4050"/>
                </a:solidFill>
                <a:latin typeface="Microsoft YaHei"/>
                <a:ea typeface="Microsoft YaHei"/>
              </a:rPr>
              <a:t>，不是架构设计的输入。</a:t>
            </a:r>
            <a:endParaRPr/>
          </a:p>
        </p:txBody>
      </p:sp>
      <p:sp>
        <p:nvSpPr>
          <p:cNvPr id="551" name=""/>
          <p:cNvSpPr/>
          <p:nvPr/>
        </p:nvSpPr>
        <p:spPr>
          <a:xfrm rot="0" flipH="0" flipV="0">
            <a:off x="609600" y="5943600"/>
            <a:ext cx="133350" cy="133350"/>
          </a:xfrm>
          <a:prstGeom prst="rect">
            <a:avLst/>
          </a:prstGeom>
          <a:solidFill>
            <a:srgbClr val="FA4F24"/>
          </a:solidFill>
          <a:ln/>
        </p:spPr>
        <p:txBody>
          <a:bodyPr/>
          <a:p>
            <a:pPr/>
            <a:endParaRPr/>
          </a:p>
        </p:txBody>
      </p:sp>
      <p:sp>
        <p:nvSpPr>
          <p:cNvPr id="552"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553"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22 / 30</a:t>
            </a:r>
            <a:endParaRPr/>
          </a:p>
        </p:txBody>
      </p:sp>
    </p:spTree>
  </p:cSld>
</p:sld>
</file>

<file path=ppt/slides/slide23.xml><?xml version="1.0" encoding="utf-8"?>
<p:sld xmlns:p="http://schemas.openxmlformats.org/presentationml/2006/main" xmlns:a="http://schemas.openxmlformats.org/drawingml/2006/main">
  <p:cSld>
    <p:spTree>
      <p:nvGrpSpPr>
        <p:cNvPr id="554" name=""/>
        <p:cNvGrpSpPr/>
        <p:nvPr/>
      </p:nvGrpSpPr>
      <p:grpSpPr>
        <a:xfrm>
          <a:off x="0" y="0"/>
          <a:ext cx="0" cy="0"/>
          <a:chOff x="0" y="0"/>
          <a:chExt cx="0" cy="0"/>
        </a:xfrm>
      </p:grpSpPr>
      <p:sp>
        <p:nvSpPr>
          <p:cNvPr id="555" name=""/>
          <p:cNvSpPr/>
          <p:nvPr/>
        </p:nvSpPr>
        <p:spPr>
          <a:xfrm rot="0" flipH="0" flipV="0">
            <a:off x="0" y="0"/>
            <a:ext cx="12192000" cy="6858000"/>
          </a:xfrm>
          <a:prstGeom prst="rect">
            <a:avLst/>
          </a:prstGeom>
          <a:solidFill>
            <a:srgbClr val="FFFFFF"/>
          </a:solidFill>
          <a:ln/>
        </p:spPr>
        <p:txBody>
          <a:bodyPr/>
          <a:p>
            <a:pPr/>
            <a:endParaRPr/>
          </a:p>
        </p:txBody>
      </p:sp>
      <p:sp>
        <p:nvSpPr>
          <p:cNvPr id="556"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之模板：</a:t>
            </a:r>
            <a:r>
              <a:rPr lang="zh-CN" sz="2400" b="1">
                <a:solidFill>
                  <a:srgbClr val="FA4F24"/>
                </a:solidFill>
                <a:latin typeface="Microsoft YaHei"/>
                <a:ea typeface="Microsoft YaHei"/>
              </a:rPr>
              <a:t>实体关系图</a:t>
            </a:r>
            <a:r>
              <a:rPr lang="zh-CN" sz="2400" b="1">
                <a:solidFill>
                  <a:srgbClr val="0F1423"/>
                </a:solidFill>
                <a:latin typeface="Microsoft YaHei"/>
                <a:ea typeface="Microsoft YaHei"/>
              </a:rPr>
              <a:t>与逻辑实体表，让模型可评审、可追溯</a:t>
            </a:r>
            <a:endParaRPr/>
          </a:p>
        </p:txBody>
      </p:sp>
      <p:sp>
        <p:nvSpPr>
          <p:cNvPr id="557"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概念层用</a:t>
            </a:r>
            <a:r>
              <a:rPr lang="en-US" sz="1500">
                <a:solidFill>
                  <a:srgbClr val="8A8F99"/>
                </a:solidFill>
                <a:latin typeface="Microsoft YaHei"/>
                <a:ea typeface="Microsoft YaHei"/>
              </a:rPr>
              <a:t xml:space="preserve"> E-R </a:t>
            </a:r>
            <a:r>
              <a:rPr lang="zh-CN" sz="1500">
                <a:solidFill>
                  <a:srgbClr val="8A8F99"/>
                </a:solidFill>
                <a:latin typeface="Microsoft YaHei"/>
                <a:ea typeface="Microsoft YaHei"/>
              </a:rPr>
              <a:t>图表达关系，逻辑层用实体表固化规则</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两张图合起来就是模型的全部依据</a:t>
            </a:r>
            <a:endParaRPr/>
          </a:p>
        </p:txBody>
      </p:sp>
      <p:sp>
        <p:nvSpPr>
          <p:cNvPr id="558" name=""/>
          <p:cNvSpPr/>
          <p:nvPr/>
        </p:nvSpPr>
        <p:spPr>
          <a:xfrm rot="0" flipH="0" flipV="0">
            <a:off x="609600" y="1143000"/>
            <a:ext cx="10972800" cy="9525"/>
          </a:xfrm>
          <a:prstGeom prst="rect">
            <a:avLst/>
          </a:prstGeom>
          <a:solidFill>
            <a:srgbClr val="E8E8E8"/>
          </a:solidFill>
          <a:ln/>
        </p:spPr>
        <p:txBody>
          <a:bodyPr/>
          <a:p>
            <a:pPr/>
            <a:endParaRPr/>
          </a:p>
        </p:txBody>
      </p:sp>
      <p:sp>
        <p:nvSpPr>
          <p:cNvPr id="559" name=""/>
          <p:cNvSpPr/>
          <p:nvPr/>
        </p:nvSpPr>
        <p:spPr>
          <a:xfrm rot="0" flipH="0" flipV="0">
            <a:off x="609600" y="1362075"/>
            <a:ext cx="5334000" cy="4219575"/>
          </a:xfrm>
          <a:prstGeom prst="roundRect">
            <a:avLst>
              <a:gd name="adj" fmla="val 903"/>
            </a:avLst>
          </a:prstGeom>
          <a:ln w="12700">
            <a:solidFill>
              <a:srgbClr val="E8E8E8"/>
            </a:solidFill>
            <a:prstDash val="solid"/>
          </a:ln>
        </p:spPr>
        <p:txBody>
          <a:bodyPr/>
          <a:p>
            <a:pPr/>
            <a:endParaRPr/>
          </a:p>
        </p:txBody>
      </p:sp>
      <p:sp>
        <p:nvSpPr>
          <p:cNvPr id="560" name="" descr="{&quot;isTemplate&quot;:true,&quot;type&quot;:&quot;text&quot;}"/>
          <p:cNvSpPr txBox="1"/>
          <p:nvPr/>
        </p:nvSpPr>
        <p:spPr>
          <a:xfrm rot="0" flipH="0" flipV="0">
            <a:off x="781050" y="1514475"/>
            <a:ext cx="4991100" cy="209550"/>
          </a:xfrm>
          <a:prstGeom prst="rect"/>
        </p:spPr>
        <p:txBody>
          <a:bodyPr wrap="none" lIns="0" tIns="0" rIns="0" bIns="0"/>
          <a:p>
            <a:pPr>
              <a:lnSpc>
                <a:spcPct val="100000"/>
              </a:lnSpc>
            </a:pPr>
            <a:r>
              <a:rPr lang="zh-CN" sz="1350" b="1">
                <a:solidFill>
                  <a:srgbClr val="0F1423"/>
                </a:solidFill>
                <a:latin typeface="Microsoft YaHei"/>
                <a:ea typeface="Microsoft YaHei"/>
              </a:rPr>
              <a:t>概念数据模型</a:t>
            </a:r>
            <a:r>
              <a:rPr lang="en-US" sz="1350" b="1">
                <a:solidFill>
                  <a:srgbClr val="0F1423"/>
                </a:solidFill>
                <a:latin typeface="Microsoft YaHei"/>
                <a:ea typeface="Microsoft YaHei"/>
              </a:rPr>
              <a:t xml:space="preserve"> · E-R </a:t>
            </a:r>
            <a:r>
              <a:rPr lang="zh-CN" sz="1350" b="1">
                <a:solidFill>
                  <a:srgbClr val="0F1423"/>
                </a:solidFill>
                <a:latin typeface="Microsoft YaHei"/>
                <a:ea typeface="Microsoft YaHei"/>
              </a:rPr>
              <a:t>图（示例）</a:t>
            </a:r>
            <a:endParaRPr/>
          </a:p>
        </p:txBody>
      </p:sp>
      <p:sp>
        <p:nvSpPr>
          <p:cNvPr id="561" name=""/>
          <p:cNvSpPr/>
          <p:nvPr/>
        </p:nvSpPr>
        <p:spPr>
          <a:xfrm rot="0" flipH="0" flipV="0">
            <a:off x="781050" y="2781300"/>
            <a:ext cx="1123950" cy="400050"/>
          </a:xfrm>
          <a:prstGeom prst="roundRect">
            <a:avLst>
              <a:gd name="adj" fmla="val 7143"/>
            </a:avLst>
          </a:prstGeom>
          <a:solidFill>
            <a:srgbClr val="FA4F24"/>
          </a:solidFill>
          <a:ln/>
        </p:spPr>
        <p:txBody>
          <a:bodyPr/>
          <a:p>
            <a:pPr/>
            <a:endParaRPr/>
          </a:p>
        </p:txBody>
      </p:sp>
      <p:sp>
        <p:nvSpPr>
          <p:cNvPr id="562" name="" descr="{&quot;isTemplate&quot;:true,&quot;type&quot;:&quot;text&quot;}"/>
          <p:cNvSpPr txBox="1"/>
          <p:nvPr/>
        </p:nvSpPr>
        <p:spPr>
          <a:xfrm rot="0" flipH="0" flipV="0">
            <a:off x="1057275" y="2895600"/>
            <a:ext cx="571500" cy="171450"/>
          </a:xfrm>
          <a:prstGeom prst="rect"/>
        </p:spPr>
        <p:txBody>
          <a:bodyPr wrap="none" lIns="0" tIns="0" rIns="0" bIns="0"/>
          <a:p>
            <a:pPr>
              <a:lnSpc>
                <a:spcPct val="100000"/>
              </a:lnSpc>
            </a:pPr>
            <a:r>
              <a:rPr lang="zh-CN" sz="1125" b="1">
                <a:solidFill>
                  <a:srgbClr val="FFFFFF"/>
                </a:solidFill>
                <a:latin typeface="Microsoft YaHei"/>
                <a:ea typeface="Microsoft YaHei"/>
              </a:rPr>
              <a:t>法人客户</a:t>
            </a:r>
            <a:endParaRPr/>
          </a:p>
        </p:txBody>
      </p:sp>
      <p:sp>
        <p:nvSpPr>
          <p:cNvPr id="563" name="" descr="{&quot;isTemplate&quot;:true,&quot;type&quot;:&quot;text&quot;}"/>
          <p:cNvSpPr txBox="1"/>
          <p:nvPr/>
        </p:nvSpPr>
        <p:spPr>
          <a:xfrm rot="0" flipH="0" flipV="0">
            <a:off x="1981200" y="2905125"/>
            <a:ext cx="381000" cy="161925"/>
          </a:xfrm>
          <a:prstGeom prst="rect"/>
        </p:spPr>
        <p:txBody>
          <a:bodyPr wrap="none" lIns="0" tIns="0" rIns="0" bIns="0"/>
          <a:p>
            <a:pPr>
              <a:lnSpc>
                <a:spcPct val="100000"/>
              </a:lnSpc>
            </a:pPr>
            <a:r>
              <a:rPr lang="en-US" sz="1050">
                <a:solidFill>
                  <a:srgbClr val="FA4F24"/>
                </a:solidFill>
                <a:latin typeface="Microsoft YaHei"/>
                <a:ea typeface="Microsoft YaHei"/>
              </a:rPr>
              <a:t>1──N</a:t>
            </a:r>
            <a:endParaRPr/>
          </a:p>
        </p:txBody>
      </p:sp>
      <p:sp>
        <p:nvSpPr>
          <p:cNvPr id="564" name=""/>
          <p:cNvSpPr/>
          <p:nvPr/>
        </p:nvSpPr>
        <p:spPr>
          <a:xfrm rot="0" flipH="0" flipV="0">
            <a:off x="2438400" y="2781300"/>
            <a:ext cx="1257300" cy="400050"/>
          </a:xfrm>
          <a:prstGeom prst="roundRect">
            <a:avLst>
              <a:gd name="adj" fmla="val 7143"/>
            </a:avLst>
          </a:prstGeom>
          <a:solidFill>
            <a:srgbClr val="FA4F24">
              <a:alpha val="12000"/>
            </a:srgbClr>
          </a:solidFill>
          <a:ln w="12700">
            <a:solidFill>
              <a:srgbClr val="FA4F24"/>
            </a:solidFill>
            <a:prstDash val="solid"/>
          </a:ln>
        </p:spPr>
        <p:txBody>
          <a:bodyPr/>
          <a:p>
            <a:pPr/>
            <a:endParaRPr/>
          </a:p>
        </p:txBody>
      </p:sp>
      <p:sp>
        <p:nvSpPr>
          <p:cNvPr id="565" name="" descr="{&quot;isTemplate&quot;:true,&quot;type&quot;:&quot;text&quot;}"/>
          <p:cNvSpPr txBox="1"/>
          <p:nvPr/>
        </p:nvSpPr>
        <p:spPr>
          <a:xfrm rot="0" flipH="0" flipV="0">
            <a:off x="2781300" y="2895600"/>
            <a:ext cx="571500" cy="171450"/>
          </a:xfrm>
          <a:prstGeom prst="rect"/>
        </p:spPr>
        <p:txBody>
          <a:bodyPr wrap="none" lIns="0" tIns="0" rIns="0" bIns="0"/>
          <a:p>
            <a:pPr>
              <a:lnSpc>
                <a:spcPct val="100000"/>
              </a:lnSpc>
            </a:pPr>
            <a:r>
              <a:rPr lang="zh-CN" sz="1125" b="1">
                <a:solidFill>
                  <a:srgbClr val="C43A17"/>
                </a:solidFill>
                <a:latin typeface="Microsoft YaHei"/>
                <a:ea typeface="Microsoft YaHei"/>
              </a:rPr>
              <a:t>客户合同</a:t>
            </a:r>
            <a:endParaRPr/>
          </a:p>
        </p:txBody>
      </p:sp>
      <p:sp>
        <p:nvSpPr>
          <p:cNvPr id="566" name="" descr="{&quot;isTemplate&quot;:true,&quot;type&quot;:&quot;text&quot;}"/>
          <p:cNvSpPr txBox="1"/>
          <p:nvPr/>
        </p:nvSpPr>
        <p:spPr>
          <a:xfrm rot="0" flipH="0" flipV="0">
            <a:off x="3771900" y="2905125"/>
            <a:ext cx="381000" cy="161925"/>
          </a:xfrm>
          <a:prstGeom prst="rect"/>
        </p:spPr>
        <p:txBody>
          <a:bodyPr wrap="none" lIns="0" tIns="0" rIns="0" bIns="0"/>
          <a:p>
            <a:pPr>
              <a:lnSpc>
                <a:spcPct val="100000"/>
              </a:lnSpc>
            </a:pPr>
            <a:r>
              <a:rPr lang="en-US" sz="1050">
                <a:solidFill>
                  <a:srgbClr val="FA4F24"/>
                </a:solidFill>
                <a:latin typeface="Microsoft YaHei"/>
                <a:ea typeface="Microsoft YaHei"/>
              </a:rPr>
              <a:t>N──1</a:t>
            </a:r>
            <a:endParaRPr/>
          </a:p>
        </p:txBody>
      </p:sp>
      <p:sp>
        <p:nvSpPr>
          <p:cNvPr id="567" name=""/>
          <p:cNvSpPr/>
          <p:nvPr/>
        </p:nvSpPr>
        <p:spPr>
          <a:xfrm rot="0" flipH="0" flipV="0">
            <a:off x="4229100" y="2781300"/>
            <a:ext cx="1123950" cy="400050"/>
          </a:xfrm>
          <a:prstGeom prst="roundRect">
            <a:avLst>
              <a:gd name="adj" fmla="val 7143"/>
            </a:avLst>
          </a:prstGeom>
          <a:solidFill>
            <a:srgbClr val="F87D2F"/>
          </a:solidFill>
          <a:ln/>
        </p:spPr>
        <p:txBody>
          <a:bodyPr/>
          <a:p>
            <a:pPr/>
            <a:endParaRPr/>
          </a:p>
        </p:txBody>
      </p:sp>
      <p:sp>
        <p:nvSpPr>
          <p:cNvPr id="568" name="" descr="{&quot;isTemplate&quot;:true,&quot;type&quot;:&quot;text&quot;}"/>
          <p:cNvSpPr txBox="1"/>
          <p:nvPr/>
        </p:nvSpPr>
        <p:spPr>
          <a:xfrm rot="0" flipH="0" flipV="0">
            <a:off x="4648200" y="2895600"/>
            <a:ext cx="285750" cy="171450"/>
          </a:xfrm>
          <a:prstGeom prst="rect"/>
        </p:spPr>
        <p:txBody>
          <a:bodyPr wrap="none" lIns="0" tIns="0" rIns="0" bIns="0"/>
          <a:p>
            <a:pPr>
              <a:lnSpc>
                <a:spcPct val="100000"/>
              </a:lnSpc>
            </a:pPr>
            <a:r>
              <a:rPr lang="zh-CN" sz="1125" b="1">
                <a:solidFill>
                  <a:srgbClr val="FFFFFF"/>
                </a:solidFill>
                <a:latin typeface="Microsoft YaHei"/>
                <a:ea typeface="Microsoft YaHei"/>
              </a:rPr>
              <a:t>产品</a:t>
            </a:r>
            <a:endParaRPr/>
          </a:p>
        </p:txBody>
      </p:sp>
      <p:sp>
        <p:nvSpPr>
          <p:cNvPr id="569" name=""/>
          <p:cNvSpPr/>
          <p:nvPr/>
        </p:nvSpPr>
        <p:spPr>
          <a:xfrm rot="0" flipH="0" flipV="0">
            <a:off x="781050" y="3333750"/>
            <a:ext cx="4991100" cy="1152525"/>
          </a:xfrm>
          <a:prstGeom prst="roundRect">
            <a:avLst>
              <a:gd name="adj" fmla="val 2479"/>
            </a:avLst>
          </a:prstGeom>
          <a:solidFill>
            <a:srgbClr val="F7F7F8"/>
          </a:solidFill>
          <a:ln/>
        </p:spPr>
        <p:txBody>
          <a:bodyPr/>
          <a:p>
            <a:pPr/>
            <a:endParaRPr/>
          </a:p>
        </p:txBody>
      </p:sp>
      <p:sp>
        <p:nvSpPr>
          <p:cNvPr id="570" name="" descr="{&quot;isTemplate&quot;:true,&quot;type&quot;:&quot;text&quot;}"/>
          <p:cNvSpPr txBox="1"/>
          <p:nvPr/>
        </p:nvSpPr>
        <p:spPr>
          <a:xfrm rot="0" flipH="0" flipV="0">
            <a:off x="914400" y="3448050"/>
            <a:ext cx="4724400" cy="161925"/>
          </a:xfrm>
          <a:prstGeom prst="rect"/>
        </p:spPr>
        <p:txBody>
          <a:bodyPr wrap="none" lIns="0" tIns="0" rIns="0" bIns="0"/>
          <a:p>
            <a:pPr>
              <a:lnSpc>
                <a:spcPct val="100000"/>
              </a:lnSpc>
            </a:pPr>
            <a:r>
              <a:rPr lang="zh-CN" sz="1050" b="1">
                <a:solidFill>
                  <a:srgbClr val="0F1423"/>
                </a:solidFill>
                <a:latin typeface="Microsoft YaHei"/>
                <a:ea typeface="Microsoft YaHei"/>
              </a:rPr>
              <a:t>逻辑实体示例：客户合同（</a:t>
            </a:r>
            <a:r>
              <a:rPr lang="en-US" sz="1050" b="1">
                <a:solidFill>
                  <a:srgbClr val="0F1423"/>
                </a:solidFill>
                <a:latin typeface="Microsoft YaHei"/>
                <a:ea typeface="Microsoft YaHei"/>
              </a:rPr>
              <a:t>LE-CON</a:t>
            </a:r>
            <a:r>
              <a:rPr lang="zh-CN" sz="1050" b="1">
                <a:solidFill>
                  <a:srgbClr val="0F1423"/>
                </a:solidFill>
                <a:latin typeface="Microsoft YaHei"/>
                <a:ea typeface="Microsoft YaHei"/>
              </a:rPr>
              <a:t>）</a:t>
            </a:r>
            <a:endParaRPr/>
          </a:p>
        </p:txBody>
      </p:sp>
      <p:sp>
        <p:nvSpPr>
          <p:cNvPr id="571" name="" descr="{&quot;isTemplate&quot;:true,&quot;type&quot;:&quot;text&quot;}"/>
          <p:cNvSpPr txBox="1"/>
          <p:nvPr/>
        </p:nvSpPr>
        <p:spPr>
          <a:xfrm rot="0" flipH="0" flipV="0">
            <a:off x="914400" y="3686175"/>
            <a:ext cx="742950" cy="142875"/>
          </a:xfrm>
          <a:prstGeom prst="rect"/>
        </p:spPr>
        <p:txBody>
          <a:bodyPr wrap="none" lIns="0" tIns="0" rIns="0" bIns="0"/>
          <a:p>
            <a:pPr>
              <a:lnSpc>
                <a:spcPct val="100000"/>
              </a:lnSpc>
            </a:pPr>
            <a:r>
              <a:rPr lang="zh-CN" sz="900">
                <a:solidFill>
                  <a:srgbClr val="3A4050"/>
                </a:solidFill>
                <a:latin typeface="Microsoft YaHei"/>
                <a:ea typeface="Microsoft YaHei"/>
              </a:rPr>
              <a:t>合同编号</a:t>
            </a:r>
            <a:endParaRPr/>
          </a:p>
        </p:txBody>
      </p:sp>
      <p:sp>
        <p:nvSpPr>
          <p:cNvPr id="572" name="" descr="{&quot;isTemplate&quot;:true,&quot;type&quot;:&quot;text&quot;}"/>
          <p:cNvSpPr txBox="1"/>
          <p:nvPr/>
        </p:nvSpPr>
        <p:spPr>
          <a:xfrm rot="0" flipH="0" flipV="0">
            <a:off x="1752600" y="3686175"/>
            <a:ext cx="1028700" cy="142875"/>
          </a:xfrm>
          <a:prstGeom prst="rect"/>
        </p:spPr>
        <p:txBody>
          <a:bodyPr wrap="none" lIns="0" tIns="0" rIns="0" bIns="0"/>
          <a:p>
            <a:pPr>
              <a:lnSpc>
                <a:spcPct val="100000"/>
              </a:lnSpc>
            </a:pPr>
            <a:r>
              <a:rPr lang="en-US" sz="900">
                <a:solidFill>
                  <a:srgbClr val="8A8F99"/>
                </a:solidFill>
                <a:latin typeface="Microsoft YaHei"/>
                <a:ea typeface="Microsoft YaHei"/>
              </a:rPr>
              <a:t>AT-CON-CODE</a:t>
            </a:r>
            <a:endParaRPr/>
          </a:p>
        </p:txBody>
      </p:sp>
      <p:sp>
        <p:nvSpPr>
          <p:cNvPr id="573" name="" descr="{&quot;isTemplate&quot;:true,&quot;type&quot;:&quot;text&quot;}"/>
          <p:cNvSpPr txBox="1"/>
          <p:nvPr/>
        </p:nvSpPr>
        <p:spPr>
          <a:xfrm rot="0" flipH="0" flipV="0">
            <a:off x="2876550" y="3686175"/>
            <a:ext cx="952500" cy="142875"/>
          </a:xfrm>
          <a:prstGeom prst="rect"/>
        </p:spPr>
        <p:txBody>
          <a:bodyPr wrap="none" lIns="0" tIns="0" rIns="0" bIns="0"/>
          <a:p>
            <a:pPr>
              <a:lnSpc>
                <a:spcPct val="100000"/>
              </a:lnSpc>
            </a:pPr>
            <a:r>
              <a:rPr lang="en-US" sz="900">
                <a:solidFill>
                  <a:srgbClr val="3A4050"/>
                </a:solidFill>
                <a:latin typeface="Microsoft YaHei"/>
                <a:ea typeface="Microsoft YaHei"/>
              </a:rPr>
              <a:t>VARCHAR(32)</a:t>
            </a:r>
            <a:endParaRPr/>
          </a:p>
        </p:txBody>
      </p:sp>
      <p:sp>
        <p:nvSpPr>
          <p:cNvPr id="574" name="" descr="{&quot;isTemplate&quot;:true,&quot;type&quot;:&quot;text&quot;}"/>
          <p:cNvSpPr txBox="1"/>
          <p:nvPr/>
        </p:nvSpPr>
        <p:spPr>
          <a:xfrm rot="0" flipH="0" flipV="0">
            <a:off x="3924300" y="3686175"/>
            <a:ext cx="161925" cy="142875"/>
          </a:xfrm>
          <a:prstGeom prst="rect"/>
        </p:spPr>
        <p:txBody>
          <a:bodyPr wrap="none" lIns="0" tIns="0" rIns="0" bIns="0"/>
          <a:p>
            <a:pPr>
              <a:lnSpc>
                <a:spcPct val="100000"/>
              </a:lnSpc>
            </a:pPr>
            <a:r>
              <a:rPr lang="en-US" sz="900" b="1">
                <a:solidFill>
                  <a:srgbClr val="FA4F24"/>
                </a:solidFill>
                <a:latin typeface="Microsoft YaHei"/>
                <a:ea typeface="Microsoft YaHei"/>
              </a:rPr>
              <a:t>PK</a:t>
            </a:r>
            <a:endParaRPr/>
          </a:p>
        </p:txBody>
      </p:sp>
      <p:sp>
        <p:nvSpPr>
          <p:cNvPr id="575" name="" descr="{&quot;isTemplate&quot;:true,&quot;type&quot;:&quot;text&quot;}"/>
          <p:cNvSpPr txBox="1"/>
          <p:nvPr/>
        </p:nvSpPr>
        <p:spPr>
          <a:xfrm rot="0" flipH="0" flipV="0">
            <a:off x="914400" y="3867150"/>
            <a:ext cx="742950" cy="142875"/>
          </a:xfrm>
          <a:prstGeom prst="rect"/>
        </p:spPr>
        <p:txBody>
          <a:bodyPr wrap="none" lIns="0" tIns="0" rIns="0" bIns="0"/>
          <a:p>
            <a:pPr>
              <a:lnSpc>
                <a:spcPct val="100000"/>
              </a:lnSpc>
            </a:pPr>
            <a:r>
              <a:rPr lang="zh-CN" sz="900">
                <a:solidFill>
                  <a:srgbClr val="3A4050"/>
                </a:solidFill>
                <a:latin typeface="Microsoft YaHei"/>
                <a:ea typeface="Microsoft YaHei"/>
              </a:rPr>
              <a:t>签约方</a:t>
            </a:r>
            <a:endParaRPr/>
          </a:p>
        </p:txBody>
      </p:sp>
      <p:sp>
        <p:nvSpPr>
          <p:cNvPr id="576" name="" descr="{&quot;isTemplate&quot;:true,&quot;type&quot;:&quot;text&quot;}"/>
          <p:cNvSpPr txBox="1"/>
          <p:nvPr/>
        </p:nvSpPr>
        <p:spPr>
          <a:xfrm rot="0" flipH="0" flipV="0">
            <a:off x="1752600" y="3867150"/>
            <a:ext cx="1028700" cy="142875"/>
          </a:xfrm>
          <a:prstGeom prst="rect"/>
        </p:spPr>
        <p:txBody>
          <a:bodyPr wrap="none" lIns="0" tIns="0" rIns="0" bIns="0"/>
          <a:p>
            <a:pPr>
              <a:lnSpc>
                <a:spcPct val="100000"/>
              </a:lnSpc>
            </a:pPr>
            <a:r>
              <a:rPr lang="en-US" sz="900">
                <a:solidFill>
                  <a:srgbClr val="8A8F99"/>
                </a:solidFill>
                <a:latin typeface="Microsoft YaHei"/>
                <a:ea typeface="Microsoft YaHei"/>
              </a:rPr>
              <a:t>AT-CON-PARTY</a:t>
            </a:r>
            <a:endParaRPr/>
          </a:p>
        </p:txBody>
      </p:sp>
      <p:sp>
        <p:nvSpPr>
          <p:cNvPr id="577" name="" descr="{&quot;isTemplate&quot;:true,&quot;type&quot;:&quot;text&quot;}"/>
          <p:cNvSpPr txBox="1"/>
          <p:nvPr/>
        </p:nvSpPr>
        <p:spPr>
          <a:xfrm rot="0" flipH="0" flipV="0">
            <a:off x="2876550" y="3867150"/>
            <a:ext cx="952500" cy="142875"/>
          </a:xfrm>
          <a:prstGeom prst="rect"/>
        </p:spPr>
        <p:txBody>
          <a:bodyPr wrap="none" lIns="0" tIns="0" rIns="0" bIns="0"/>
          <a:p>
            <a:pPr>
              <a:lnSpc>
                <a:spcPct val="100000"/>
              </a:lnSpc>
            </a:pPr>
            <a:r>
              <a:rPr lang="en-US" sz="900">
                <a:solidFill>
                  <a:srgbClr val="3A4050"/>
                </a:solidFill>
                <a:latin typeface="Microsoft YaHei"/>
                <a:ea typeface="Microsoft YaHei"/>
              </a:rPr>
              <a:t>VARCHAR(32)</a:t>
            </a:r>
            <a:endParaRPr/>
          </a:p>
        </p:txBody>
      </p:sp>
      <p:sp>
        <p:nvSpPr>
          <p:cNvPr id="578" name="" descr="{&quot;isTemplate&quot;:true,&quot;type&quot;:&quot;text&quot;}"/>
          <p:cNvSpPr txBox="1"/>
          <p:nvPr/>
        </p:nvSpPr>
        <p:spPr>
          <a:xfrm rot="0" flipH="0" flipV="0">
            <a:off x="3924300" y="3867150"/>
            <a:ext cx="152400" cy="142875"/>
          </a:xfrm>
          <a:prstGeom prst="rect"/>
        </p:spPr>
        <p:txBody>
          <a:bodyPr wrap="none" lIns="0" tIns="0" rIns="0" bIns="0"/>
          <a:p>
            <a:pPr>
              <a:lnSpc>
                <a:spcPct val="100000"/>
              </a:lnSpc>
            </a:pPr>
            <a:r>
              <a:rPr lang="en-US" sz="900" b="1">
                <a:solidFill>
                  <a:srgbClr val="FA4F24"/>
                </a:solidFill>
                <a:latin typeface="Microsoft YaHei"/>
                <a:ea typeface="Microsoft YaHei"/>
              </a:rPr>
              <a:t>FK</a:t>
            </a:r>
            <a:endParaRPr/>
          </a:p>
        </p:txBody>
      </p:sp>
      <p:sp>
        <p:nvSpPr>
          <p:cNvPr id="579" name="" descr="{&quot;isTemplate&quot;:true,&quot;type&quot;:&quot;text&quot;}"/>
          <p:cNvSpPr txBox="1"/>
          <p:nvPr/>
        </p:nvSpPr>
        <p:spPr>
          <a:xfrm rot="0" flipH="0" flipV="0">
            <a:off x="914400" y="4048125"/>
            <a:ext cx="742950" cy="142875"/>
          </a:xfrm>
          <a:prstGeom prst="rect"/>
        </p:spPr>
        <p:txBody>
          <a:bodyPr wrap="none" lIns="0" tIns="0" rIns="0" bIns="0"/>
          <a:p>
            <a:pPr>
              <a:lnSpc>
                <a:spcPct val="100000"/>
              </a:lnSpc>
            </a:pPr>
            <a:r>
              <a:rPr lang="zh-CN" sz="900">
                <a:solidFill>
                  <a:srgbClr val="3A4050"/>
                </a:solidFill>
                <a:latin typeface="Microsoft YaHei"/>
                <a:ea typeface="Microsoft YaHei"/>
              </a:rPr>
              <a:t>标的</a:t>
            </a:r>
            <a:endParaRPr/>
          </a:p>
        </p:txBody>
      </p:sp>
      <p:sp>
        <p:nvSpPr>
          <p:cNvPr id="580" name="" descr="{&quot;isTemplate&quot;:true,&quot;type&quot;:&quot;text&quot;}"/>
          <p:cNvSpPr txBox="1"/>
          <p:nvPr/>
        </p:nvSpPr>
        <p:spPr>
          <a:xfrm rot="0" flipH="0" flipV="0">
            <a:off x="1752600" y="4048125"/>
            <a:ext cx="1028700" cy="142875"/>
          </a:xfrm>
          <a:prstGeom prst="rect"/>
        </p:spPr>
        <p:txBody>
          <a:bodyPr wrap="none" lIns="0" tIns="0" rIns="0" bIns="0"/>
          <a:p>
            <a:pPr>
              <a:lnSpc>
                <a:spcPct val="100000"/>
              </a:lnSpc>
            </a:pPr>
            <a:r>
              <a:rPr lang="en-US" sz="900">
                <a:solidFill>
                  <a:srgbClr val="8A8F99"/>
                </a:solidFill>
                <a:latin typeface="Microsoft YaHei"/>
                <a:ea typeface="Microsoft YaHei"/>
              </a:rPr>
              <a:t>AT-CON-ITEM</a:t>
            </a:r>
            <a:endParaRPr/>
          </a:p>
        </p:txBody>
      </p:sp>
      <p:sp>
        <p:nvSpPr>
          <p:cNvPr id="581" name="" descr="{&quot;isTemplate&quot;:true,&quot;type&quot;:&quot;text&quot;}"/>
          <p:cNvSpPr txBox="1"/>
          <p:nvPr/>
        </p:nvSpPr>
        <p:spPr>
          <a:xfrm rot="0" flipH="0" flipV="0">
            <a:off x="2876550" y="4048125"/>
            <a:ext cx="952500" cy="142875"/>
          </a:xfrm>
          <a:prstGeom prst="rect"/>
        </p:spPr>
        <p:txBody>
          <a:bodyPr wrap="none" lIns="0" tIns="0" rIns="0" bIns="0"/>
          <a:p>
            <a:pPr>
              <a:lnSpc>
                <a:spcPct val="100000"/>
              </a:lnSpc>
            </a:pPr>
            <a:r>
              <a:rPr lang="en-US" sz="900">
                <a:solidFill>
                  <a:srgbClr val="3A4050"/>
                </a:solidFill>
                <a:latin typeface="Microsoft YaHei"/>
                <a:ea typeface="Microsoft YaHei"/>
              </a:rPr>
              <a:t>VARCHAR(64)</a:t>
            </a:r>
            <a:endParaRPr/>
          </a:p>
        </p:txBody>
      </p:sp>
      <p:sp>
        <p:nvSpPr>
          <p:cNvPr id="582" name="" descr="{&quot;isTemplate&quot;:true,&quot;type&quot;:&quot;text&quot;}"/>
          <p:cNvSpPr txBox="1"/>
          <p:nvPr/>
        </p:nvSpPr>
        <p:spPr>
          <a:xfrm rot="0" flipH="0" flipV="0">
            <a:off x="3924300" y="4048125"/>
            <a:ext cx="123825" cy="142875"/>
          </a:xfrm>
          <a:prstGeom prst="rect"/>
        </p:spPr>
        <p:txBody>
          <a:bodyPr wrap="none" lIns="0" tIns="0" rIns="0" bIns="0"/>
          <a:p>
            <a:pPr>
              <a:lnSpc>
                <a:spcPct val="100000"/>
              </a:lnSpc>
            </a:pPr>
            <a:r>
              <a:rPr sz="900" b="1">
                <a:solidFill>
                  <a:srgbClr val="C8CCD4"/>
                </a:solidFill>
                <a:latin typeface="Microsoft YaHei"/>
                <a:ea typeface="Microsoft YaHei"/>
              </a:rPr>
              <a:t>—</a:t>
            </a:r>
            <a:endParaRPr/>
          </a:p>
        </p:txBody>
      </p:sp>
      <p:sp>
        <p:nvSpPr>
          <p:cNvPr id="583" name="" descr="{&quot;isTemplate&quot;:true,&quot;type&quot;:&quot;text&quot;}"/>
          <p:cNvSpPr txBox="1"/>
          <p:nvPr/>
        </p:nvSpPr>
        <p:spPr>
          <a:xfrm rot="0" flipH="0" flipV="0">
            <a:off x="914400" y="4229100"/>
            <a:ext cx="742950" cy="142875"/>
          </a:xfrm>
          <a:prstGeom prst="rect"/>
        </p:spPr>
        <p:txBody>
          <a:bodyPr wrap="none" lIns="0" tIns="0" rIns="0" bIns="0"/>
          <a:p>
            <a:pPr>
              <a:lnSpc>
                <a:spcPct val="100000"/>
              </a:lnSpc>
            </a:pPr>
            <a:r>
              <a:rPr lang="zh-CN" sz="900">
                <a:solidFill>
                  <a:srgbClr val="3A4050"/>
                </a:solidFill>
                <a:latin typeface="Microsoft YaHei"/>
                <a:ea typeface="Microsoft YaHei"/>
              </a:rPr>
              <a:t>金额</a:t>
            </a:r>
            <a:endParaRPr/>
          </a:p>
        </p:txBody>
      </p:sp>
      <p:sp>
        <p:nvSpPr>
          <p:cNvPr id="584" name="" descr="{&quot;isTemplate&quot;:true,&quot;type&quot;:&quot;text&quot;}"/>
          <p:cNvSpPr txBox="1"/>
          <p:nvPr/>
        </p:nvSpPr>
        <p:spPr>
          <a:xfrm rot="0" flipH="0" flipV="0">
            <a:off x="1752600" y="4229100"/>
            <a:ext cx="1028700" cy="142875"/>
          </a:xfrm>
          <a:prstGeom prst="rect"/>
        </p:spPr>
        <p:txBody>
          <a:bodyPr wrap="none" lIns="0" tIns="0" rIns="0" bIns="0"/>
          <a:p>
            <a:pPr>
              <a:lnSpc>
                <a:spcPct val="100000"/>
              </a:lnSpc>
            </a:pPr>
            <a:r>
              <a:rPr lang="en-US" sz="900">
                <a:solidFill>
                  <a:srgbClr val="8A8F99"/>
                </a:solidFill>
                <a:latin typeface="Microsoft YaHei"/>
                <a:ea typeface="Microsoft YaHei"/>
              </a:rPr>
              <a:t>AT-CON-AMT</a:t>
            </a:r>
            <a:endParaRPr/>
          </a:p>
        </p:txBody>
      </p:sp>
      <p:sp>
        <p:nvSpPr>
          <p:cNvPr id="585" name="" descr="{&quot;isTemplate&quot;:true,&quot;type&quot;:&quot;text&quot;}"/>
          <p:cNvSpPr txBox="1"/>
          <p:nvPr/>
        </p:nvSpPr>
        <p:spPr>
          <a:xfrm rot="0" flipH="0" flipV="0">
            <a:off x="2876550" y="4229100"/>
            <a:ext cx="952500" cy="142875"/>
          </a:xfrm>
          <a:prstGeom prst="rect"/>
        </p:spPr>
        <p:txBody>
          <a:bodyPr wrap="none" lIns="0" tIns="0" rIns="0" bIns="0"/>
          <a:p>
            <a:pPr>
              <a:lnSpc>
                <a:spcPct val="100000"/>
              </a:lnSpc>
            </a:pPr>
            <a:r>
              <a:rPr lang="en-US" sz="900">
                <a:solidFill>
                  <a:srgbClr val="3A4050"/>
                </a:solidFill>
                <a:latin typeface="Microsoft YaHei"/>
                <a:ea typeface="Microsoft YaHei"/>
              </a:rPr>
              <a:t>DECIMAL(18,2)</a:t>
            </a:r>
            <a:endParaRPr/>
          </a:p>
        </p:txBody>
      </p:sp>
      <p:sp>
        <p:nvSpPr>
          <p:cNvPr id="586" name="" descr="{&quot;isTemplate&quot;:true,&quot;type&quot;:&quot;text&quot;}"/>
          <p:cNvSpPr txBox="1"/>
          <p:nvPr/>
        </p:nvSpPr>
        <p:spPr>
          <a:xfrm rot="0" flipH="0" flipV="0">
            <a:off x="3924300" y="4229100"/>
            <a:ext cx="123825" cy="142875"/>
          </a:xfrm>
          <a:prstGeom prst="rect"/>
        </p:spPr>
        <p:txBody>
          <a:bodyPr wrap="none" lIns="0" tIns="0" rIns="0" bIns="0"/>
          <a:p>
            <a:pPr>
              <a:lnSpc>
                <a:spcPct val="100000"/>
              </a:lnSpc>
            </a:pPr>
            <a:r>
              <a:rPr sz="900" b="1">
                <a:solidFill>
                  <a:srgbClr val="C8CCD4"/>
                </a:solidFill>
                <a:latin typeface="Microsoft YaHei"/>
                <a:ea typeface="Microsoft YaHei"/>
              </a:rPr>
              <a:t>—</a:t>
            </a:r>
            <a:endParaRPr/>
          </a:p>
        </p:txBody>
      </p:sp>
      <p:sp>
        <p:nvSpPr>
          <p:cNvPr id="587" name=""/>
          <p:cNvSpPr/>
          <p:nvPr/>
        </p:nvSpPr>
        <p:spPr>
          <a:xfrm rot="0" flipH="0" flipV="0">
            <a:off x="6172200" y="1362075"/>
            <a:ext cx="5448300" cy="1333500"/>
          </a:xfrm>
          <a:prstGeom prst="roundRect">
            <a:avLst>
              <a:gd name="adj" fmla="val 2857"/>
            </a:avLst>
          </a:prstGeom>
          <a:solidFill>
            <a:srgbClr val="F7F7F8"/>
          </a:solidFill>
          <a:ln/>
        </p:spPr>
        <p:txBody>
          <a:bodyPr/>
          <a:p>
            <a:pPr/>
            <a:endParaRPr/>
          </a:p>
        </p:txBody>
      </p:sp>
      <p:sp>
        <p:nvSpPr>
          <p:cNvPr id="588" name=""/>
          <p:cNvSpPr/>
          <p:nvPr/>
        </p:nvSpPr>
        <p:spPr>
          <a:xfrm rot="0" flipH="0" flipV="0">
            <a:off x="6172200" y="1362075"/>
            <a:ext cx="5448300" cy="1333500"/>
          </a:xfrm>
          <a:custGeom>
            <a:pathLst>
              <a:path w="572" h="140">
                <a:moveTo>
                  <a:pt x="4" y="140"/>
                </a:moveTo>
                <a:cubicBezTo>
                  <a:pt x="2" y="140"/>
                  <a:pt x="0" y="138"/>
                  <a:pt x="0" y="136"/>
                </a:cubicBezTo>
                <a:lnTo>
                  <a:pt x="0" y="4"/>
                </a:lnTo>
                <a:cubicBezTo>
                  <a:pt x="0" y="2"/>
                  <a:pt x="2" y="0"/>
                  <a:pt x="4" y="0"/>
                </a:cubicBezTo>
                <a:lnTo>
                  <a:pt x="4" y="140"/>
                </a:lnTo>
                <a:close/>
              </a:path>
            </a:pathLst>
          </a:custGeom>
          <a:solidFill>
            <a:srgbClr val="FA4F24"/>
          </a:solidFill>
          <a:ln/>
        </p:spPr>
        <p:txBody>
          <a:bodyPr/>
          <a:p>
            <a:pPr/>
            <a:endParaRPr/>
          </a:p>
        </p:txBody>
      </p:sp>
      <p:sp>
        <p:nvSpPr>
          <p:cNvPr id="589" name="" descr="{&quot;isTemplate&quot;:true,&quot;type&quot;:&quot;text&quot;}"/>
          <p:cNvSpPr txBox="1"/>
          <p:nvPr/>
        </p:nvSpPr>
        <p:spPr>
          <a:xfrm rot="0" flipH="0" flipV="0">
            <a:off x="6362700" y="1514475"/>
            <a:ext cx="5029200" cy="200025"/>
          </a:xfrm>
          <a:prstGeom prst="rect"/>
        </p:spPr>
        <p:txBody>
          <a:bodyPr wrap="none" lIns="0" tIns="0" rIns="0" bIns="0"/>
          <a:p>
            <a:pPr>
              <a:lnSpc>
                <a:spcPct val="100000"/>
              </a:lnSpc>
            </a:pPr>
            <a:r>
              <a:rPr lang="en-US" sz="1275" b="1">
                <a:solidFill>
                  <a:srgbClr val="0F1423"/>
                </a:solidFill>
                <a:latin typeface="Microsoft YaHei"/>
                <a:ea typeface="Microsoft YaHei"/>
              </a:rPr>
              <a:t xml:space="preserve">E-R </a:t>
            </a:r>
            <a:r>
              <a:rPr lang="zh-CN" sz="1275" b="1">
                <a:solidFill>
                  <a:srgbClr val="0F1423"/>
                </a:solidFill>
                <a:latin typeface="Microsoft YaHei"/>
                <a:ea typeface="Microsoft YaHei"/>
              </a:rPr>
              <a:t>图填写要求</a:t>
            </a:r>
            <a:endParaRPr/>
          </a:p>
        </p:txBody>
      </p:sp>
      <p:sp>
        <p:nvSpPr>
          <p:cNvPr id="590" name="" descr="{&quot;isTemplate&quot;:true,&quot;type&quot;:&quot;text&quot;}"/>
          <p:cNvSpPr txBox="1"/>
          <p:nvPr/>
        </p:nvSpPr>
        <p:spPr>
          <a:xfrm rot="0" flipH="0" flipV="0">
            <a:off x="6362700" y="1790700"/>
            <a:ext cx="5029200" cy="752475"/>
          </a:xfrm>
          <a:prstGeom prst="rect"/>
        </p:spPr>
        <p:txBody>
          <a:bodyPr wrap="none" lIns="0" tIns="0" rIns="0" bIns="0"/>
          <a:p>
            <a:pPr>
              <a:lnSpc>
                <a:spcPct val="155000"/>
              </a:lnSpc>
            </a:pPr>
            <a:r>
              <a:rPr lang="en-US" sz="1050">
                <a:solidFill>
                  <a:srgbClr val="3A4050"/>
                </a:solidFill>
                <a:latin typeface="Microsoft YaHei"/>
                <a:ea typeface="Microsoft YaHei"/>
              </a:rPr>
              <a:t xml:space="preserve">① </a:t>
            </a:r>
            <a:r>
              <a:rPr lang="zh-CN" sz="1050">
                <a:solidFill>
                  <a:srgbClr val="3A4050"/>
                </a:solidFill>
                <a:latin typeface="Microsoft YaHei"/>
                <a:ea typeface="Microsoft YaHei"/>
              </a:rPr>
              <a:t>实体名用标准业务术语，不用缩写；</a:t>
            </a:r>
            <a:endParaRPr/>
          </a:p>
          <a:p>
            <a:pPr>
              <a:lnSpc>
                <a:spcPct val="155000"/>
              </a:lnSpc>
            </a:pPr>
            <a:r>
              <a:rPr lang="en-US" sz="1050">
                <a:solidFill>
                  <a:srgbClr val="3A4050"/>
                </a:solidFill>
                <a:latin typeface="Microsoft YaHei"/>
                <a:ea typeface="Microsoft YaHei"/>
              </a:rPr>
              <a:t xml:space="preserve">② </a:t>
            </a:r>
            <a:r>
              <a:rPr lang="zh-CN" sz="1050">
                <a:solidFill>
                  <a:srgbClr val="3A4050"/>
                </a:solidFill>
                <a:latin typeface="Microsoft YaHei"/>
                <a:ea typeface="Microsoft YaHei"/>
              </a:rPr>
              <a:t>必须标注关系基数（</a:t>
            </a:r>
            <a:r>
              <a:rPr lang="en-US" sz="1050">
                <a:solidFill>
                  <a:srgbClr val="3A4050"/>
                </a:solidFill>
                <a:latin typeface="Microsoft YaHei"/>
                <a:ea typeface="Microsoft YaHei"/>
              </a:rPr>
              <a:t>1:1 / 1:N / N:N</a:t>
            </a:r>
            <a:r>
              <a:rPr lang="zh-CN" sz="1050">
                <a:solidFill>
                  <a:srgbClr val="3A4050"/>
                </a:solidFill>
                <a:latin typeface="Microsoft YaHei"/>
                <a:ea typeface="Microsoft YaHei"/>
              </a:rPr>
              <a:t>）；</a:t>
            </a:r>
            <a:endParaRPr/>
          </a:p>
          <a:p>
            <a:pPr>
              <a:lnSpc>
                <a:spcPct val="155000"/>
              </a:lnSpc>
            </a:pPr>
            <a:r>
              <a:rPr lang="en-US" sz="1050">
                <a:solidFill>
                  <a:srgbClr val="3A4050"/>
                </a:solidFill>
                <a:latin typeface="Microsoft YaHei"/>
                <a:ea typeface="Microsoft YaHei"/>
              </a:rPr>
              <a:t xml:space="preserve">③ </a:t>
            </a:r>
            <a:r>
              <a:rPr lang="zh-CN" sz="1050">
                <a:solidFill>
                  <a:srgbClr val="3A4050"/>
                </a:solidFill>
                <a:latin typeface="Microsoft YaHei"/>
                <a:ea typeface="Microsoft YaHei"/>
              </a:rPr>
              <a:t>基数不明确的，必须回访业务确认后再落图。</a:t>
            </a:r>
            <a:endParaRPr/>
          </a:p>
        </p:txBody>
      </p:sp>
      <p:sp>
        <p:nvSpPr>
          <p:cNvPr id="591" name=""/>
          <p:cNvSpPr/>
          <p:nvPr/>
        </p:nvSpPr>
        <p:spPr>
          <a:xfrm rot="0" flipH="0" flipV="0">
            <a:off x="6172200" y="2819400"/>
            <a:ext cx="5448300" cy="1085850"/>
          </a:xfrm>
          <a:prstGeom prst="roundRect">
            <a:avLst>
              <a:gd name="adj" fmla="val 3509"/>
            </a:avLst>
          </a:prstGeom>
          <a:solidFill>
            <a:srgbClr val="F7F7F8"/>
          </a:solidFill>
          <a:ln/>
        </p:spPr>
        <p:txBody>
          <a:bodyPr/>
          <a:p>
            <a:pPr/>
            <a:endParaRPr/>
          </a:p>
        </p:txBody>
      </p:sp>
      <p:sp>
        <p:nvSpPr>
          <p:cNvPr id="592" name=""/>
          <p:cNvSpPr/>
          <p:nvPr/>
        </p:nvSpPr>
        <p:spPr>
          <a:xfrm rot="0" flipH="0" flipV="0">
            <a:off x="6172200" y="2819400"/>
            <a:ext cx="5448300" cy="1085850"/>
          </a:xfrm>
          <a:custGeom>
            <a:pathLst>
              <a:path w="572" h="114">
                <a:moveTo>
                  <a:pt x="4" y="114"/>
                </a:moveTo>
                <a:cubicBezTo>
                  <a:pt x="2" y="114"/>
                  <a:pt x="0" y="112"/>
                  <a:pt x="0" y="110"/>
                </a:cubicBezTo>
                <a:lnTo>
                  <a:pt x="0" y="4"/>
                </a:lnTo>
                <a:cubicBezTo>
                  <a:pt x="0" y="2"/>
                  <a:pt x="2" y="0"/>
                  <a:pt x="4" y="0"/>
                </a:cubicBezTo>
                <a:lnTo>
                  <a:pt x="4" y="114"/>
                </a:lnTo>
                <a:close/>
              </a:path>
            </a:pathLst>
          </a:custGeom>
          <a:solidFill>
            <a:srgbClr val="F87D2F"/>
          </a:solidFill>
          <a:ln/>
        </p:spPr>
        <p:txBody>
          <a:bodyPr/>
          <a:p>
            <a:pPr/>
            <a:endParaRPr/>
          </a:p>
        </p:txBody>
      </p:sp>
      <p:sp>
        <p:nvSpPr>
          <p:cNvPr id="593" name="" descr="{&quot;isTemplate&quot;:true,&quot;type&quot;:&quot;text&quot;}"/>
          <p:cNvSpPr txBox="1"/>
          <p:nvPr/>
        </p:nvSpPr>
        <p:spPr>
          <a:xfrm rot="0" flipH="0" flipV="0">
            <a:off x="6362700" y="2971800"/>
            <a:ext cx="5029200" cy="200025"/>
          </a:xfrm>
          <a:prstGeom prst="rect"/>
        </p:spPr>
        <p:txBody>
          <a:bodyPr wrap="none" lIns="0" tIns="0" rIns="0" bIns="0"/>
          <a:p>
            <a:pPr>
              <a:lnSpc>
                <a:spcPct val="100000"/>
              </a:lnSpc>
            </a:pPr>
            <a:r>
              <a:rPr lang="zh-CN" sz="1275" b="1">
                <a:solidFill>
                  <a:srgbClr val="0F1423"/>
                </a:solidFill>
                <a:latin typeface="Microsoft YaHei"/>
                <a:ea typeface="Microsoft YaHei"/>
              </a:rPr>
              <a:t>关键属性怎么定</a:t>
            </a:r>
            <a:endParaRPr/>
          </a:p>
        </p:txBody>
      </p:sp>
      <p:sp>
        <p:nvSpPr>
          <p:cNvPr id="594" name="" descr="{&quot;isTemplate&quot;:true,&quot;type&quot;:&quot;text&quot;}"/>
          <p:cNvSpPr txBox="1"/>
          <p:nvPr/>
        </p:nvSpPr>
        <p:spPr>
          <a:xfrm rot="0" flipH="0" flipV="0">
            <a:off x="6362700" y="3248025"/>
            <a:ext cx="5029200" cy="504825"/>
          </a:xfrm>
          <a:prstGeom prst="rect"/>
        </p:spPr>
        <p:txBody>
          <a:bodyPr wrap="square" lIns="0" tIns="0" rIns="0" bIns="0">
            <a:normAutofit/>
          </a:bodyPr>
          <a:p>
            <a:pPr>
              <a:lnSpc>
                <a:spcPct val="155000"/>
              </a:lnSpc>
            </a:pPr>
            <a:r>
              <a:rPr lang="zh-CN" sz="1050">
                <a:solidFill>
                  <a:srgbClr val="3A4050"/>
                </a:solidFill>
                <a:latin typeface="Microsoft YaHei"/>
                <a:ea typeface="Microsoft YaHei"/>
              </a:rPr>
              <a:t>关键属性指</a:t>
            </a:r>
            <a:r>
              <a:rPr lang="zh-CN" sz="1050">
                <a:solidFill>
                  <a:srgbClr val="3A4050"/>
                </a:solidFill>
                <a:latin typeface="Microsoft YaHei"/>
                <a:ea typeface="Microsoft YaHei"/>
              </a:rPr>
              <a:t>若缺失则业务无法运转</a:t>
            </a:r>
            <a:r>
              <a:rPr lang="zh-CN" sz="1050">
                <a:solidFill>
                  <a:srgbClr val="3A4050"/>
                </a:solidFill>
                <a:latin typeface="Microsoft YaHei"/>
                <a:ea typeface="Microsoft YaHei"/>
              </a:rPr>
              <a:t>的属性。它的识别带有一定主观性，</a:t>
            </a:r>
            <a:r>
              <a:rPr lang="en-US" sz="1050">
                <a:solidFill>
                  <a:srgbClr val="3A4050"/>
                </a:solidFill>
                <a:latin typeface="Microsoft YaHei"/>
                <a:ea typeface="Microsoft YaHei"/>
              </a:rPr>
              <a:t xml:space="preserve"> </a:t>
            </a:r>
            <a:r>
              <a:rPr lang="zh-CN" sz="1050">
                <a:solidFill>
                  <a:srgbClr val="3A4050"/>
                </a:solidFill>
                <a:latin typeface="Microsoft YaHei"/>
                <a:ea typeface="Microsoft YaHei"/>
              </a:rPr>
              <a:t>必须依托企业真实的业务流程与业务活动来判断，不能凭感觉列。</a:t>
            </a:r>
            <a:endParaRPr/>
          </a:p>
        </p:txBody>
      </p:sp>
      <p:sp>
        <p:nvSpPr>
          <p:cNvPr id="595" name=""/>
          <p:cNvSpPr/>
          <p:nvPr/>
        </p:nvSpPr>
        <p:spPr>
          <a:xfrm rot="0" flipH="0" flipV="0">
            <a:off x="6134100" y="4029075"/>
            <a:ext cx="5448300" cy="1552575"/>
          </a:xfrm>
          <a:prstGeom prst="roundRect">
            <a:avLst>
              <a:gd name="adj" fmla="val 2454"/>
            </a:avLst>
          </a:prstGeom>
          <a:gradFill>
            <a:gsLst>
              <a:gs pos="0">
                <a:srgbClr val="FA4F24"/>
              </a:gs>
              <a:gs pos="100000">
                <a:srgbClr val="F87D2F"/>
              </a:gs>
            </a:gsLst>
            <a:lin ang="4200000" scaled="1"/>
          </a:gradFill>
          <a:ln/>
        </p:spPr>
        <p:txBody>
          <a:bodyPr/>
          <a:p>
            <a:pPr/>
            <a:endParaRPr/>
          </a:p>
        </p:txBody>
      </p:sp>
      <p:sp>
        <p:nvSpPr>
          <p:cNvPr id="596" name="" descr="{&quot;isTemplate&quot;:true,&quot;type&quot;:&quot;text&quot;}"/>
          <p:cNvSpPr txBox="1"/>
          <p:nvPr/>
        </p:nvSpPr>
        <p:spPr>
          <a:xfrm rot="0" flipH="0" flipV="0">
            <a:off x="6324600" y="4419600"/>
            <a:ext cx="5067300" cy="190500"/>
          </a:xfrm>
          <a:prstGeom prst="rect"/>
        </p:spPr>
        <p:txBody>
          <a:bodyPr wrap="none" lIns="0" tIns="0" rIns="0" bIns="0"/>
          <a:p>
            <a:pPr>
              <a:lnSpc>
                <a:spcPct val="100000"/>
              </a:lnSpc>
            </a:pPr>
            <a:r>
              <a:rPr lang="en-US" sz="1200" b="1">
                <a:solidFill>
                  <a:srgbClr val="FFFFFF"/>
                </a:solidFill>
                <a:latin typeface="Microsoft YaHei"/>
                <a:ea typeface="Microsoft YaHei"/>
              </a:rPr>
              <a:t xml:space="preserve">★ </a:t>
            </a:r>
            <a:r>
              <a:rPr lang="zh-CN" sz="1200" b="1">
                <a:solidFill>
                  <a:srgbClr val="FFFFFF"/>
                </a:solidFill>
                <a:latin typeface="Microsoft YaHei"/>
                <a:ea typeface="Microsoft YaHei"/>
              </a:rPr>
              <a:t>属性只能从标准池选</a:t>
            </a:r>
            <a:endParaRPr/>
          </a:p>
        </p:txBody>
      </p:sp>
      <p:sp>
        <p:nvSpPr>
          <p:cNvPr id="597" name="" descr="{&quot;isTemplate&quot;:true,&quot;type&quot;:&quot;text&quot;}"/>
          <p:cNvSpPr txBox="1"/>
          <p:nvPr/>
        </p:nvSpPr>
        <p:spPr>
          <a:xfrm rot="0" flipH="0" flipV="0">
            <a:off x="6324600" y="4686300"/>
            <a:ext cx="5067300" cy="504825"/>
          </a:xfrm>
          <a:prstGeom prst="rect"/>
        </p:spPr>
        <p:txBody>
          <a:bodyPr wrap="square" lIns="0" tIns="0" rIns="0" bIns="0">
            <a:normAutofit/>
          </a:bodyPr>
          <a:p>
            <a:pPr>
              <a:lnSpc>
                <a:spcPct val="155000"/>
              </a:lnSpc>
            </a:pPr>
            <a:r>
              <a:rPr lang="zh-CN" sz="1050">
                <a:solidFill>
                  <a:srgbClr val="FFFFFF">
                    <a:alpha val="95000"/>
                  </a:srgbClr>
                </a:solidFill>
                <a:latin typeface="Microsoft YaHei"/>
                <a:ea typeface="Microsoft YaHei"/>
              </a:rPr>
              <a:t>一体化建模的关键机制：实体的属性不允许自由发挥，必须从数据标准池中选取。</a:t>
            </a:r>
            <a:r>
              <a:rPr lang="en-US" sz="1050">
                <a:solidFill>
                  <a:srgbClr val="FFFFFF">
                    <a:alpha val="95000"/>
                  </a:srgbClr>
                </a:solidFill>
                <a:latin typeface="Microsoft YaHei"/>
                <a:ea typeface="Microsoft YaHei"/>
              </a:rPr>
              <a:t xml:space="preserve"> </a:t>
            </a:r>
            <a:r>
              <a:rPr lang="zh-CN" sz="1050">
                <a:solidFill>
                  <a:srgbClr val="FFFFFF">
                    <a:alpha val="95000"/>
                  </a:srgbClr>
                </a:solidFill>
                <a:latin typeface="Microsoft YaHei"/>
                <a:ea typeface="Microsoft YaHei"/>
              </a:rPr>
              <a:t>这正是上一部分数据标准真正发挥作用的地方</a:t>
            </a:r>
            <a:r>
              <a:rPr lang="en-US" sz="1050">
                <a:solidFill>
                  <a:srgbClr val="FFFFFF">
                    <a:alpha val="95000"/>
                  </a:srgbClr>
                </a:solidFill>
                <a:latin typeface="Microsoft YaHei"/>
                <a:ea typeface="Microsoft YaHei"/>
              </a:rPr>
              <a:t xml:space="preserve"> —— </a:t>
            </a:r>
            <a:r>
              <a:rPr lang="zh-CN" sz="1050">
                <a:solidFill>
                  <a:srgbClr val="FFFFFF">
                    <a:alpha val="95000"/>
                  </a:srgbClr>
                </a:solidFill>
                <a:latin typeface="Microsoft YaHei"/>
                <a:ea typeface="Microsoft YaHei"/>
              </a:rPr>
              <a:t>标准不是文档，是建模的约束条件。</a:t>
            </a:r>
            <a:endParaRPr/>
          </a:p>
        </p:txBody>
      </p:sp>
      <p:sp>
        <p:nvSpPr>
          <p:cNvPr id="598" name=""/>
          <p:cNvSpPr/>
          <p:nvPr/>
        </p:nvSpPr>
        <p:spPr>
          <a:xfrm rot="0" flipH="0" flipV="0">
            <a:off x="609600" y="5943600"/>
            <a:ext cx="133350" cy="133350"/>
          </a:xfrm>
          <a:prstGeom prst="rect">
            <a:avLst/>
          </a:prstGeom>
          <a:solidFill>
            <a:srgbClr val="FA4F24"/>
          </a:solidFill>
          <a:ln/>
        </p:spPr>
        <p:txBody>
          <a:bodyPr/>
          <a:p>
            <a:pPr/>
            <a:endParaRPr/>
          </a:p>
        </p:txBody>
      </p:sp>
      <p:sp>
        <p:nvSpPr>
          <p:cNvPr id="599"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600"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23 / 30</a:t>
            </a:r>
            <a:endParaRPr/>
          </a:p>
        </p:txBody>
      </p:sp>
    </p:spTree>
  </p:cSld>
</p:sld>
</file>

<file path=ppt/slides/slide24.xml><?xml version="1.0" encoding="utf-8"?>
<p:sld xmlns:p="http://schemas.openxmlformats.org/presentationml/2006/main" xmlns:a="http://schemas.openxmlformats.org/drawingml/2006/main">
  <p:cSld>
    <p:spTree>
      <p:nvGrpSpPr>
        <p:cNvPr id="601" name=""/>
        <p:cNvGrpSpPr/>
        <p:nvPr/>
      </p:nvGrpSpPr>
      <p:grpSpPr>
        <a:xfrm>
          <a:off x="0" y="0"/>
          <a:ext cx="0" cy="0"/>
          <a:chOff x="0" y="0"/>
          <a:chExt cx="0" cy="0"/>
        </a:xfrm>
      </p:grpSpPr>
      <p:sp>
        <p:nvSpPr>
          <p:cNvPr id="602" name=""/>
          <p:cNvSpPr/>
          <p:nvPr/>
        </p:nvSpPr>
        <p:spPr>
          <a:xfrm rot="0" flipH="0" flipV="0">
            <a:off x="0" y="0"/>
            <a:ext cx="12192000" cy="6858000"/>
          </a:xfrm>
          <a:prstGeom prst="rect">
            <a:avLst/>
          </a:prstGeom>
          <a:solidFill>
            <a:srgbClr val="0F1423"/>
          </a:solidFill>
          <a:ln/>
        </p:spPr>
        <p:txBody>
          <a:bodyPr/>
          <a:p>
            <a:pPr/>
            <a:endParaRPr/>
          </a:p>
        </p:txBody>
      </p:sp>
      <p:sp>
        <p:nvSpPr>
          <p:cNvPr id="603"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a:pPr/>
            <a:endParaRPr/>
          </a:p>
        </p:txBody>
      </p:sp>
      <p:sp>
        <p:nvSpPr>
          <p:cNvPr id="604"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a:pPr/>
            <a:endParaRPr/>
          </a:p>
        </p:txBody>
      </p:sp>
      <p:sp>
        <p:nvSpPr>
          <p:cNvPr id="605" name="" descr="{&quot;isTemplate&quot;:true,&quot;type&quot;:&quot;text&quot;}"/>
          <p:cNvSpPr txBox="1"/>
          <p:nvPr/>
        </p:nvSpPr>
        <p:spPr>
          <a:xfrm rot="0" flipH="0" flipV="0">
            <a:off x="7991475" y="1047750"/>
            <a:ext cx="3533775" cy="3429000"/>
          </a:xfrm>
          <a:prstGeom prst="rect"/>
        </p:spPr>
        <p:txBody>
          <a:bodyPr wrap="none" lIns="0" tIns="0" rIns="0" bIns="0"/>
          <a:p>
            <a:pPr>
              <a:lnSpc>
                <a:spcPct val="100000"/>
              </a:lnSpc>
            </a:pPr>
            <a:r>
              <a:rPr lang="en-US" sz="22500" b="1">
                <a:solidFill>
                  <a:srgbClr val="FFFFFF">
                    <a:alpha val="8000"/>
                  </a:srgbClr>
                </a:solidFill>
                <a:latin typeface="Microsoft YaHei"/>
                <a:ea typeface="Microsoft YaHei"/>
              </a:rPr>
              <a:t>06</a:t>
            </a:r>
            <a:endParaRPr/>
          </a:p>
        </p:txBody>
      </p:sp>
      <p:sp>
        <p:nvSpPr>
          <p:cNvPr id="606" name="" descr="{&quot;isTemplate&quot;:true,&quot;type&quot;:&quot;text&quot;}"/>
          <p:cNvSpPr txBox="1"/>
          <p:nvPr/>
        </p:nvSpPr>
        <p:spPr>
          <a:xfrm rot="0" flipH="0" flipV="0">
            <a:off x="838200" y="2286000"/>
            <a:ext cx="5905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06</a:t>
            </a:r>
            <a:endParaRPr/>
          </a:p>
        </p:txBody>
      </p:sp>
      <p:sp>
        <p:nvSpPr>
          <p:cNvPr id="607" name=""/>
          <p:cNvSpPr/>
          <p:nvPr/>
        </p:nvSpPr>
        <p:spPr>
          <a:xfrm rot="0" flipH="0" flipV="0">
            <a:off x="838200" y="2667000"/>
            <a:ext cx="685800" cy="47625"/>
          </a:xfrm>
          <a:prstGeom prst="rect">
            <a:avLst/>
          </a:prstGeom>
          <a:solidFill>
            <a:srgbClr val="FA4F24"/>
          </a:solidFill>
          <a:ln/>
        </p:spPr>
        <p:txBody>
          <a:bodyPr/>
          <a:p>
            <a:pPr/>
            <a:endParaRPr/>
          </a:p>
        </p:txBody>
      </p:sp>
      <p:sp>
        <p:nvSpPr>
          <p:cNvPr id="608" name="" descr="{&quot;isTemplate&quot;:true,&quot;type&quot;:&quot;text&quot;}"/>
          <p:cNvSpPr txBox="1"/>
          <p:nvPr/>
        </p:nvSpPr>
        <p:spPr>
          <a:xfrm rot="0" flipH="0" flipV="0">
            <a:off x="838200" y="2981325"/>
            <a:ext cx="5905500" cy="790575"/>
          </a:xfrm>
          <a:prstGeom prst="rect"/>
        </p:spPr>
        <p:txBody>
          <a:bodyPr wrap="none" lIns="0" tIns="0" rIns="0" bIns="0"/>
          <a:p>
            <a:pPr>
              <a:lnSpc>
                <a:spcPct val="114999"/>
              </a:lnSpc>
            </a:pPr>
            <a:r>
              <a:rPr lang="zh-CN" sz="4500" b="1">
                <a:solidFill>
                  <a:srgbClr val="FFFFFF"/>
                </a:solidFill>
                <a:latin typeface="Microsoft YaHei"/>
                <a:ea typeface="Microsoft YaHei"/>
              </a:rPr>
              <a:t>数据分布</a:t>
            </a:r>
            <a:endParaRPr/>
          </a:p>
        </p:txBody>
      </p:sp>
      <p:sp>
        <p:nvSpPr>
          <p:cNvPr id="609" name="" descr="{&quot;isTemplate&quot;:true,&quot;type&quot;:&quot;text&quot;}"/>
          <p:cNvSpPr txBox="1"/>
          <p:nvPr/>
        </p:nvSpPr>
        <p:spPr>
          <a:xfrm rot="0" flipH="0" flipV="0">
            <a:off x="838200" y="3962400"/>
            <a:ext cx="5905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DATA DISTRIBUTION</a:t>
            </a:r>
            <a:endParaRPr/>
          </a:p>
        </p:txBody>
      </p:sp>
      <p:sp>
        <p:nvSpPr>
          <p:cNvPr id="610" name="" descr="{&quot;isTemplate&quot;:true,&quot;type&quot;:&quot;text&quot;}"/>
          <p:cNvSpPr txBox="1"/>
          <p:nvPr/>
        </p:nvSpPr>
        <p:spPr>
          <a:xfrm rot="0" flipH="0" flipV="0">
            <a:off x="838200" y="4410075"/>
            <a:ext cx="59055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识别数据源与</a:t>
            </a:r>
            <a:r>
              <a:rPr lang="en-US" sz="1425">
                <a:solidFill>
                  <a:srgbClr val="FFFFFF">
                    <a:alpha val="85000"/>
                  </a:srgbClr>
                </a:solidFill>
                <a:latin typeface="Microsoft YaHei"/>
                <a:ea typeface="Microsoft YaHei"/>
              </a:rPr>
              <a:t xml:space="preserve"> CRUD </a:t>
            </a:r>
            <a:r>
              <a:rPr lang="zh-CN" sz="1425">
                <a:solidFill>
                  <a:srgbClr val="FFFFFF">
                    <a:alpha val="85000"/>
                  </a:srgbClr>
                </a:solidFill>
                <a:latin typeface="Microsoft YaHei"/>
                <a:ea typeface="Microsoft YaHei"/>
              </a:rPr>
              <a:t>流转，锁定唯一权威源</a:t>
            </a:r>
            <a:endParaRPr/>
          </a:p>
        </p:txBody>
      </p:sp>
      <p:sp>
        <p:nvSpPr>
          <p:cNvPr id="611" name=""/>
          <p:cNvSpPr/>
          <p:nvPr/>
        </p:nvSpPr>
        <p:spPr>
          <a:xfrm rot="0" flipH="0" flipV="0">
            <a:off x="8382000" y="6105525"/>
            <a:ext cx="133350" cy="133350"/>
          </a:xfrm>
          <a:prstGeom prst="rect">
            <a:avLst/>
          </a:prstGeom>
          <a:solidFill>
            <a:srgbClr val="FA4F24"/>
          </a:solidFill>
          <a:ln/>
        </p:spPr>
        <p:txBody>
          <a:bodyPr/>
          <a:p>
            <a:pPr/>
            <a:endParaRPr/>
          </a:p>
        </p:txBody>
      </p:sp>
      <p:sp>
        <p:nvSpPr>
          <p:cNvPr id="612" name="" descr="{&quot;isTemplate&quot;:true,&quot;type&quot;:&quot;text&quot;}"/>
          <p:cNvSpPr txBox="1"/>
          <p:nvPr/>
        </p:nvSpPr>
        <p:spPr>
          <a:xfrm rot="0" flipH="0" flipV="0">
            <a:off x="8629650" y="6086475"/>
            <a:ext cx="203835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DA</a:t>
            </a:r>
            <a:r>
              <a:rPr lang="zh-CN" sz="1050">
                <a:solidFill>
                  <a:srgbClr val="FFFFFF">
                    <a:alpha val="50000"/>
                  </a:srgbClr>
                </a:solidFill>
                <a:latin typeface="Microsoft YaHei"/>
                <a:ea typeface="Microsoft YaHei"/>
              </a:rPr>
              <a:t>数据架构咨询方法论</a:t>
            </a:r>
            <a:endParaRPr/>
          </a:p>
        </p:txBody>
      </p:sp>
      <p:sp>
        <p:nvSpPr>
          <p:cNvPr id="613" name="" descr="{&quot;isTemplate&quot;:true,&quot;type&quot;:&quot;text&quot;}"/>
          <p:cNvSpPr txBox="1"/>
          <p:nvPr/>
        </p:nvSpPr>
        <p:spPr>
          <a:xfrm rot="0" flipH="0" flipV="0">
            <a:off x="10896600" y="60864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24 / 30</a:t>
            </a:r>
            <a:endParaRPr/>
          </a:p>
        </p:txBody>
      </p:sp>
    </p:spTree>
  </p:cSld>
</p:sld>
</file>

<file path=ppt/slides/slide25.xml><?xml version="1.0" encoding="utf-8"?>
<p:sld xmlns:p="http://schemas.openxmlformats.org/presentationml/2006/main" xmlns:a="http://schemas.openxmlformats.org/drawingml/2006/main">
  <p:cSld>
    <p:spTree>
      <p:nvGrpSpPr>
        <p:cNvPr id="614" name=""/>
        <p:cNvGrpSpPr/>
        <p:nvPr/>
      </p:nvGrpSpPr>
      <p:grpSpPr>
        <a:xfrm>
          <a:off x="0" y="0"/>
          <a:ext cx="0" cy="0"/>
          <a:chOff x="0" y="0"/>
          <a:chExt cx="0" cy="0"/>
        </a:xfrm>
      </p:grpSpPr>
      <p:sp>
        <p:nvSpPr>
          <p:cNvPr id="615" name=""/>
          <p:cNvSpPr/>
          <p:nvPr/>
        </p:nvSpPr>
        <p:spPr>
          <a:xfrm rot="0" flipH="0" flipV="0">
            <a:off x="0" y="0"/>
            <a:ext cx="12192000" cy="6858000"/>
          </a:xfrm>
          <a:prstGeom prst="rect">
            <a:avLst/>
          </a:prstGeom>
          <a:solidFill>
            <a:srgbClr val="FFFFFF"/>
          </a:solidFill>
          <a:ln/>
        </p:spPr>
        <p:txBody>
          <a:bodyPr/>
          <a:p>
            <a:pPr/>
            <a:endParaRPr/>
          </a:p>
        </p:txBody>
      </p:sp>
      <p:sp>
        <p:nvSpPr>
          <p:cNvPr id="616"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之方法：用</a:t>
            </a:r>
            <a:r>
              <a:rPr lang="en-US" sz="2400" b="1">
                <a:solidFill>
                  <a:srgbClr val="0F1423"/>
                </a:solidFill>
                <a:latin typeface="Microsoft YaHei"/>
                <a:ea typeface="Microsoft YaHei"/>
              </a:rPr>
              <a:t xml:space="preserve"> </a:t>
            </a:r>
            <a:r>
              <a:rPr lang="en-US" sz="2400" b="1">
                <a:solidFill>
                  <a:srgbClr val="FA4F24"/>
                </a:solidFill>
                <a:latin typeface="Microsoft YaHei"/>
                <a:ea typeface="Microsoft YaHei"/>
              </a:rPr>
              <a:t xml:space="preserve">CRUD </a:t>
            </a:r>
            <a:r>
              <a:rPr lang="zh-CN" sz="2400" b="1">
                <a:solidFill>
                  <a:srgbClr val="FA4F24"/>
                </a:solidFill>
                <a:latin typeface="Microsoft YaHei"/>
                <a:ea typeface="Microsoft YaHei"/>
              </a:rPr>
              <a:t>矩阵</a:t>
            </a:r>
            <a:r>
              <a:rPr lang="zh-CN" sz="2400" b="1">
                <a:solidFill>
                  <a:srgbClr val="0F1423"/>
                </a:solidFill>
                <a:latin typeface="Microsoft YaHei"/>
                <a:ea typeface="Microsoft YaHei"/>
              </a:rPr>
              <a:t>锁定唯一权威数据源</a:t>
            </a:r>
            <a:endParaRPr/>
          </a:p>
        </p:txBody>
      </p:sp>
      <p:sp>
        <p:nvSpPr>
          <p:cNvPr id="617"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数据分布定义数据产生的源头及在各流程、</a:t>
            </a:r>
            <a:r>
              <a:rPr lang="en-US" sz="1500">
                <a:solidFill>
                  <a:srgbClr val="8A8F99"/>
                </a:solidFill>
                <a:latin typeface="Microsoft YaHei"/>
                <a:ea typeface="Microsoft YaHei"/>
              </a:rPr>
              <a:t xml:space="preserve">IT </a:t>
            </a:r>
            <a:r>
              <a:rPr lang="zh-CN" sz="1500">
                <a:solidFill>
                  <a:srgbClr val="8A8F99"/>
                </a:solidFill>
                <a:latin typeface="Microsoft YaHei"/>
                <a:ea typeface="Microsoft YaHei"/>
              </a:rPr>
              <a:t>系统间的流动</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核心是找出「谁是源头」</a:t>
            </a:r>
            <a:endParaRPr/>
          </a:p>
        </p:txBody>
      </p:sp>
      <p:sp>
        <p:nvSpPr>
          <p:cNvPr id="618" name=""/>
          <p:cNvSpPr/>
          <p:nvPr/>
        </p:nvSpPr>
        <p:spPr>
          <a:xfrm rot="0" flipH="0" flipV="0">
            <a:off x="609600" y="1143000"/>
            <a:ext cx="10972800" cy="9525"/>
          </a:xfrm>
          <a:prstGeom prst="rect">
            <a:avLst/>
          </a:prstGeom>
          <a:solidFill>
            <a:srgbClr val="E8E8E8"/>
          </a:solidFill>
          <a:ln/>
        </p:spPr>
        <p:txBody>
          <a:bodyPr/>
          <a:p>
            <a:pPr/>
            <a:endParaRPr/>
          </a:p>
        </p:txBody>
      </p:sp>
      <p:sp>
        <p:nvSpPr>
          <p:cNvPr id="619" name=""/>
          <p:cNvSpPr/>
          <p:nvPr/>
        </p:nvSpPr>
        <p:spPr>
          <a:xfrm rot="0" flipH="0" flipV="0">
            <a:off x="609600" y="1362075"/>
            <a:ext cx="2857500" cy="4219575"/>
          </a:xfrm>
          <a:prstGeom prst="roundRect">
            <a:avLst>
              <a:gd name="adj" fmla="val 1333"/>
            </a:avLst>
          </a:prstGeom>
          <a:gradFill>
            <a:gsLst>
              <a:gs pos="0">
                <a:srgbClr val="FA4F24"/>
              </a:gs>
              <a:gs pos="100000">
                <a:srgbClr val="F87D2F"/>
              </a:gs>
            </a:gsLst>
            <a:lin ang="4200000" scaled="1"/>
          </a:gradFill>
          <a:ln/>
        </p:spPr>
        <p:txBody>
          <a:bodyPr/>
          <a:p>
            <a:pPr/>
            <a:endParaRPr/>
          </a:p>
        </p:txBody>
      </p:sp>
      <p:sp>
        <p:nvSpPr>
          <p:cNvPr id="620" name="" descr="{&quot;isTemplate&quot;:true,&quot;type&quot;:&quot;text&quot;}"/>
          <p:cNvSpPr txBox="1"/>
          <p:nvPr/>
        </p:nvSpPr>
        <p:spPr>
          <a:xfrm rot="0" flipH="0" flipV="0">
            <a:off x="857250" y="1609725"/>
            <a:ext cx="2362200" cy="161925"/>
          </a:xfrm>
          <a:prstGeom prst="rect"/>
        </p:spPr>
        <p:txBody>
          <a:bodyPr wrap="none" lIns="0" tIns="0" rIns="0" bIns="0"/>
          <a:p>
            <a:pPr>
              <a:lnSpc>
                <a:spcPct val="100000"/>
              </a:lnSpc>
            </a:pPr>
            <a:r>
              <a:rPr lang="en-US" sz="1050" spc="150">
                <a:solidFill>
                  <a:srgbClr val="FFFFFF">
                    <a:alpha val="80000"/>
                  </a:srgbClr>
                </a:solidFill>
                <a:latin typeface="Microsoft YaHei"/>
                <a:ea typeface="Microsoft YaHei"/>
              </a:rPr>
              <a:t>STEP 05</a:t>
            </a:r>
            <a:endParaRPr/>
          </a:p>
        </p:txBody>
      </p:sp>
      <p:sp>
        <p:nvSpPr>
          <p:cNvPr id="621" name="" descr="{&quot;isTemplate&quot;:true,&quot;type&quot;:&quot;text&quot;}"/>
          <p:cNvSpPr txBox="1"/>
          <p:nvPr/>
        </p:nvSpPr>
        <p:spPr>
          <a:xfrm rot="0" flipH="0" flipV="0">
            <a:off x="857250" y="1885950"/>
            <a:ext cx="2362200" cy="800100"/>
          </a:xfrm>
          <a:prstGeom prst="rect"/>
        </p:spPr>
        <p:txBody>
          <a:bodyPr wrap="none" lIns="0" tIns="0" rIns="0" bIns="0"/>
          <a:p>
            <a:pPr>
              <a:lnSpc>
                <a:spcPct val="125000"/>
              </a:lnSpc>
            </a:pPr>
            <a:r>
              <a:rPr lang="zh-CN" sz="2100" b="1">
                <a:solidFill>
                  <a:srgbClr val="FFFFFF"/>
                </a:solidFill>
                <a:latin typeface="Microsoft YaHei"/>
                <a:ea typeface="Microsoft YaHei"/>
              </a:rPr>
              <a:t>数据源</a:t>
            </a:r>
            <a:endParaRPr/>
          </a:p>
          <a:p>
            <a:pPr>
              <a:lnSpc>
                <a:spcPct val="125000"/>
              </a:lnSpc>
            </a:pPr>
            <a:r>
              <a:rPr lang="zh-CN" sz="2100" b="1">
                <a:solidFill>
                  <a:srgbClr val="FFFFFF"/>
                </a:solidFill>
                <a:latin typeface="Microsoft YaHei"/>
                <a:ea typeface="Microsoft YaHei"/>
              </a:rPr>
              <a:t>识别法</a:t>
            </a:r>
            <a:endParaRPr/>
          </a:p>
        </p:txBody>
      </p:sp>
      <p:sp>
        <p:nvSpPr>
          <p:cNvPr id="622" name=""/>
          <p:cNvSpPr/>
          <p:nvPr/>
        </p:nvSpPr>
        <p:spPr>
          <a:xfrm rot="0" flipH="0" flipV="0">
            <a:off x="857250" y="4305300"/>
            <a:ext cx="419100" cy="38100"/>
          </a:xfrm>
          <a:prstGeom prst="rect">
            <a:avLst/>
          </a:prstGeom>
          <a:solidFill>
            <a:srgbClr val="FFFFFF">
              <a:alpha val="70000"/>
            </a:srgbClr>
          </a:solidFill>
          <a:ln/>
        </p:spPr>
        <p:txBody>
          <a:bodyPr/>
          <a:p>
            <a:pPr/>
            <a:endParaRPr/>
          </a:p>
        </p:txBody>
      </p:sp>
      <p:sp>
        <p:nvSpPr>
          <p:cNvPr id="623" name="" descr="{&quot;isTemplate&quot;:true,&quot;type&quot;:&quot;text&quot;}"/>
          <p:cNvSpPr txBox="1"/>
          <p:nvPr/>
        </p:nvSpPr>
        <p:spPr>
          <a:xfrm rot="0" flipH="0" flipV="0">
            <a:off x="857250" y="4476750"/>
            <a:ext cx="2362200" cy="857250"/>
          </a:xfrm>
          <a:prstGeom prst="rect"/>
        </p:spPr>
        <p:txBody>
          <a:bodyPr wrap="square" lIns="0" tIns="0" rIns="0" bIns="0">
            <a:normAutofit/>
          </a:bodyPr>
          <a:p>
            <a:pPr>
              <a:lnSpc>
                <a:spcPct val="155000"/>
              </a:lnSpc>
            </a:pPr>
            <a:r>
              <a:rPr lang="zh-CN" sz="1200">
                <a:solidFill>
                  <a:srgbClr val="FFFFFF">
                    <a:alpha val="94000"/>
                  </a:srgbClr>
                </a:solidFill>
                <a:latin typeface="Microsoft YaHei"/>
                <a:ea typeface="Microsoft YaHei"/>
              </a:rPr>
              <a:t>权威数据源：业务上</a:t>
            </a:r>
            <a:r>
              <a:rPr lang="zh-CN" sz="1200">
                <a:solidFill>
                  <a:srgbClr val="FFFFFF">
                    <a:alpha val="94000"/>
                  </a:srgbClr>
                </a:solidFill>
                <a:latin typeface="Microsoft YaHei"/>
                <a:ea typeface="Microsoft YaHei"/>
              </a:rPr>
              <a:t>首次正式发布</a:t>
            </a:r>
            <a:r>
              <a:rPr lang="zh-CN" sz="1200">
                <a:solidFill>
                  <a:srgbClr val="FFFFFF">
                    <a:alpha val="94000"/>
                  </a:srgbClr>
                </a:solidFill>
                <a:latin typeface="Microsoft YaHei"/>
                <a:ea typeface="Microsoft YaHei"/>
              </a:rPr>
              <a:t>该项数据的应用系统，经数据管理专业组织认证。</a:t>
            </a:r>
            <a:endParaRPr/>
          </a:p>
        </p:txBody>
      </p:sp>
      <p:sp>
        <p:nvSpPr>
          <p:cNvPr id="624" name="" descr="{&quot;isTemplate&quot;:true,&quot;type&quot;:&quot;text&quot;}"/>
          <p:cNvSpPr txBox="1"/>
          <p:nvPr/>
        </p:nvSpPr>
        <p:spPr>
          <a:xfrm rot="0" flipH="0" flipV="0">
            <a:off x="3657600" y="1362075"/>
            <a:ext cx="7924800" cy="228600"/>
          </a:xfrm>
          <a:prstGeom prst="rect"/>
        </p:spPr>
        <p:txBody>
          <a:bodyPr wrap="none" lIns="0" tIns="0" rIns="0" bIns="0"/>
          <a:p>
            <a:pPr>
              <a:lnSpc>
                <a:spcPct val="100000"/>
              </a:lnSpc>
            </a:pPr>
            <a:r>
              <a:rPr lang="zh-CN" sz="1500" b="1">
                <a:solidFill>
                  <a:srgbClr val="0F1423"/>
                </a:solidFill>
                <a:latin typeface="Microsoft YaHei"/>
                <a:ea typeface="Microsoft YaHei"/>
              </a:rPr>
              <a:t>业务对象</a:t>
            </a:r>
            <a:r>
              <a:rPr lang="en-US" sz="1500" b="1">
                <a:solidFill>
                  <a:srgbClr val="0F1423"/>
                </a:solidFill>
                <a:latin typeface="Microsoft YaHei"/>
                <a:ea typeface="Microsoft YaHei"/>
              </a:rPr>
              <a:t xml:space="preserve"> × </a:t>
            </a:r>
            <a:r>
              <a:rPr lang="zh-CN" sz="1500" b="1">
                <a:solidFill>
                  <a:srgbClr val="0F1423"/>
                </a:solidFill>
                <a:latin typeface="Microsoft YaHei"/>
                <a:ea typeface="Microsoft YaHei"/>
              </a:rPr>
              <a:t>应用系统</a:t>
            </a:r>
            <a:r>
              <a:rPr lang="en-US" sz="1500" b="1">
                <a:solidFill>
                  <a:srgbClr val="0F1423"/>
                </a:solidFill>
                <a:latin typeface="Microsoft YaHei"/>
                <a:ea typeface="Microsoft YaHei"/>
              </a:rPr>
              <a:t xml:space="preserve"> CRUD </a:t>
            </a:r>
            <a:r>
              <a:rPr lang="zh-CN" sz="1500" b="1">
                <a:solidFill>
                  <a:srgbClr val="0F1423"/>
                </a:solidFill>
                <a:latin typeface="Microsoft YaHei"/>
                <a:ea typeface="Microsoft YaHei"/>
              </a:rPr>
              <a:t>矩阵</a:t>
            </a:r>
            <a:endParaRPr/>
          </a:p>
        </p:txBody>
      </p:sp>
      <p:sp>
        <p:nvSpPr>
          <p:cNvPr id="625" name=""/>
          <p:cNvSpPr/>
          <p:nvPr/>
        </p:nvSpPr>
        <p:spPr>
          <a:xfrm rot="0" flipH="0" flipV="0">
            <a:off x="3657600" y="1685925"/>
            <a:ext cx="7924800" cy="3648075"/>
          </a:xfrm>
          <a:prstGeom prst="roundRect">
            <a:avLst>
              <a:gd name="adj" fmla="val 1044"/>
            </a:avLst>
          </a:prstGeom>
          <a:ln w="12700">
            <a:solidFill>
              <a:srgbClr val="E8E8E8"/>
            </a:solidFill>
            <a:prstDash val="solid"/>
          </a:ln>
        </p:spPr>
        <p:txBody>
          <a:bodyPr/>
          <a:p>
            <a:pPr/>
            <a:endParaRPr/>
          </a:p>
        </p:txBody>
      </p:sp>
      <p:sp>
        <p:nvSpPr>
          <p:cNvPr id="626" name=""/>
          <p:cNvSpPr/>
          <p:nvPr/>
        </p:nvSpPr>
        <p:spPr>
          <a:xfrm rot="0" flipH="0" flipV="0">
            <a:off x="3657600" y="1685925"/>
            <a:ext cx="7924800" cy="323850"/>
          </a:xfrm>
          <a:prstGeom prst="rect">
            <a:avLst/>
          </a:prstGeom>
          <a:solidFill>
            <a:srgbClr val="FA4F24"/>
          </a:solidFill>
          <a:ln/>
        </p:spPr>
        <p:txBody>
          <a:bodyPr/>
          <a:p>
            <a:pPr/>
            <a:endParaRPr/>
          </a:p>
        </p:txBody>
      </p:sp>
      <p:sp>
        <p:nvSpPr>
          <p:cNvPr id="627" name="" descr="{&quot;isTemplate&quot;:true,&quot;type&quot;:&quot;text&quot;}"/>
          <p:cNvSpPr txBox="1"/>
          <p:nvPr/>
        </p:nvSpPr>
        <p:spPr>
          <a:xfrm rot="0" flipH="0" flipV="0">
            <a:off x="3771900" y="1771650"/>
            <a:ext cx="2200275" cy="152400"/>
          </a:xfrm>
          <a:prstGeom prst="rect"/>
        </p:spPr>
        <p:txBody>
          <a:bodyPr wrap="none" lIns="0" tIns="0" rIns="0" bIns="0"/>
          <a:p>
            <a:pPr>
              <a:lnSpc>
                <a:spcPct val="100000"/>
              </a:lnSpc>
            </a:pPr>
            <a:r>
              <a:rPr lang="zh-CN" sz="975" b="1">
                <a:solidFill>
                  <a:srgbClr val="FFFFFF"/>
                </a:solidFill>
                <a:latin typeface="Microsoft YaHei"/>
                <a:ea typeface="Microsoft YaHei"/>
              </a:rPr>
              <a:t>业务对象</a:t>
            </a:r>
            <a:endParaRPr/>
          </a:p>
        </p:txBody>
      </p:sp>
      <p:sp>
        <p:nvSpPr>
          <p:cNvPr id="628" name="" descr="{&quot;isTemplate&quot;:true,&quot;type&quot;:&quot;text&quot;}"/>
          <p:cNvSpPr txBox="1"/>
          <p:nvPr/>
        </p:nvSpPr>
        <p:spPr>
          <a:xfrm rot="0" flipH="0" flipV="0">
            <a:off x="5972175" y="1771650"/>
            <a:ext cx="1371600" cy="152400"/>
          </a:xfrm>
          <a:prstGeom prst="rect"/>
        </p:spPr>
        <p:txBody>
          <a:bodyPr wrap="none" lIns="0" tIns="0" rIns="0" bIns="0"/>
          <a:p>
            <a:pPr algn="ctr">
              <a:lnSpc>
                <a:spcPct val="100000"/>
              </a:lnSpc>
            </a:pPr>
            <a:r>
              <a:rPr lang="en-US" sz="975" b="1">
                <a:solidFill>
                  <a:srgbClr val="FFFFFF"/>
                </a:solidFill>
                <a:latin typeface="Microsoft YaHei"/>
                <a:ea typeface="Microsoft YaHei"/>
              </a:rPr>
              <a:t>ERP</a:t>
            </a:r>
            <a:endParaRPr/>
          </a:p>
        </p:txBody>
      </p:sp>
      <p:sp>
        <p:nvSpPr>
          <p:cNvPr id="629" name="" descr="{&quot;isTemplate&quot;:true,&quot;type&quot;:&quot;text&quot;}"/>
          <p:cNvSpPr txBox="1"/>
          <p:nvPr/>
        </p:nvSpPr>
        <p:spPr>
          <a:xfrm rot="0" flipH="0" flipV="0">
            <a:off x="7343775" y="1771650"/>
            <a:ext cx="1371600" cy="152400"/>
          </a:xfrm>
          <a:prstGeom prst="rect"/>
        </p:spPr>
        <p:txBody>
          <a:bodyPr wrap="none" lIns="0" tIns="0" rIns="0" bIns="0"/>
          <a:p>
            <a:pPr algn="ctr">
              <a:lnSpc>
                <a:spcPct val="100000"/>
              </a:lnSpc>
            </a:pPr>
            <a:r>
              <a:rPr lang="en-US" sz="975" b="1">
                <a:solidFill>
                  <a:srgbClr val="FFFFFF"/>
                </a:solidFill>
                <a:latin typeface="Microsoft YaHei"/>
                <a:ea typeface="Microsoft YaHei"/>
              </a:rPr>
              <a:t>CRM</a:t>
            </a:r>
            <a:endParaRPr/>
          </a:p>
        </p:txBody>
      </p:sp>
      <p:sp>
        <p:nvSpPr>
          <p:cNvPr id="630" name="" descr="{&quot;isTemplate&quot;:true,&quot;type&quot;:&quot;text&quot;}"/>
          <p:cNvSpPr txBox="1"/>
          <p:nvPr/>
        </p:nvSpPr>
        <p:spPr>
          <a:xfrm rot="0" flipH="0" flipV="0">
            <a:off x="8715375" y="1771650"/>
            <a:ext cx="1381125" cy="152400"/>
          </a:xfrm>
          <a:prstGeom prst="rect"/>
        </p:spPr>
        <p:txBody>
          <a:bodyPr wrap="none" lIns="0" tIns="0" rIns="0" bIns="0"/>
          <a:p>
            <a:pPr algn="ctr">
              <a:lnSpc>
                <a:spcPct val="100000"/>
              </a:lnSpc>
            </a:pPr>
            <a:r>
              <a:rPr lang="en-US" sz="975" b="1">
                <a:solidFill>
                  <a:srgbClr val="FFFFFF"/>
                </a:solidFill>
                <a:latin typeface="Microsoft YaHei"/>
                <a:ea typeface="Microsoft YaHei"/>
              </a:rPr>
              <a:t>MES</a:t>
            </a:r>
            <a:endParaRPr/>
          </a:p>
        </p:txBody>
      </p:sp>
      <p:sp>
        <p:nvSpPr>
          <p:cNvPr id="631" name="" descr="{&quot;isTemplate&quot;:true,&quot;type&quot;:&quot;text&quot;}"/>
          <p:cNvSpPr txBox="1"/>
          <p:nvPr/>
        </p:nvSpPr>
        <p:spPr>
          <a:xfrm rot="0" flipH="0" flipV="0">
            <a:off x="10096500" y="1771650"/>
            <a:ext cx="1371600" cy="152400"/>
          </a:xfrm>
          <a:prstGeom prst="rect"/>
        </p:spPr>
        <p:txBody>
          <a:bodyPr wrap="none" lIns="0" tIns="0" rIns="0" bIns="0"/>
          <a:p>
            <a:pPr algn="ctr">
              <a:lnSpc>
                <a:spcPct val="100000"/>
              </a:lnSpc>
            </a:pPr>
            <a:r>
              <a:rPr lang="en-US" sz="975" b="1">
                <a:solidFill>
                  <a:srgbClr val="FFFFFF"/>
                </a:solidFill>
                <a:latin typeface="Microsoft YaHei"/>
                <a:ea typeface="Microsoft YaHei"/>
              </a:rPr>
              <a:t>WMS</a:t>
            </a:r>
            <a:endParaRPr/>
          </a:p>
        </p:txBody>
      </p:sp>
      <p:sp>
        <p:nvSpPr>
          <p:cNvPr id="632" name=""/>
          <p:cNvSpPr/>
          <p:nvPr/>
        </p:nvSpPr>
        <p:spPr>
          <a:xfrm rot="0" flipH="0" flipV="0">
            <a:off x="3657600" y="2009775"/>
            <a:ext cx="7924800" cy="342900"/>
          </a:xfrm>
          <a:prstGeom prst="rect">
            <a:avLst/>
          </a:prstGeom>
          <a:solidFill>
            <a:srgbClr val="FFFFFF"/>
          </a:solidFill>
          <a:ln/>
        </p:spPr>
        <p:txBody>
          <a:bodyPr/>
          <a:p>
            <a:pPr/>
            <a:endParaRPr/>
          </a:p>
        </p:txBody>
      </p:sp>
      <p:sp>
        <p:nvSpPr>
          <p:cNvPr id="633" name="" descr="{&quot;isTemplate&quot;:true,&quot;type&quot;:&quot;text&quot;}"/>
          <p:cNvSpPr txBox="1"/>
          <p:nvPr/>
        </p:nvSpPr>
        <p:spPr>
          <a:xfrm rot="0" flipH="0" flipV="0">
            <a:off x="3771900" y="2105025"/>
            <a:ext cx="2200275" cy="152400"/>
          </a:xfrm>
          <a:prstGeom prst="rect"/>
        </p:spPr>
        <p:txBody>
          <a:bodyPr wrap="none" lIns="0" tIns="0" rIns="0" bIns="0"/>
          <a:p>
            <a:pPr>
              <a:lnSpc>
                <a:spcPct val="100000"/>
              </a:lnSpc>
            </a:pPr>
            <a:r>
              <a:rPr lang="zh-CN" sz="975" b="1">
                <a:solidFill>
                  <a:srgbClr val="0F1423"/>
                </a:solidFill>
                <a:latin typeface="Microsoft YaHei"/>
                <a:ea typeface="Microsoft YaHei"/>
              </a:rPr>
              <a:t>客户</a:t>
            </a:r>
            <a:endParaRPr/>
          </a:p>
        </p:txBody>
      </p:sp>
      <p:sp>
        <p:nvSpPr>
          <p:cNvPr id="634" name="" descr="{&quot;isTemplate&quot;:true,&quot;type&quot;:&quot;text&quot;}"/>
          <p:cNvSpPr txBox="1"/>
          <p:nvPr/>
        </p:nvSpPr>
        <p:spPr>
          <a:xfrm rot="0" flipH="0" flipV="0">
            <a:off x="6619875" y="210502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C</a:t>
            </a:r>
            <a:endParaRPr/>
          </a:p>
        </p:txBody>
      </p:sp>
      <p:sp>
        <p:nvSpPr>
          <p:cNvPr id="635" name="" descr="{&quot;isTemplate&quot;:true,&quot;type&quot;:&quot;text&quot;}"/>
          <p:cNvSpPr txBox="1"/>
          <p:nvPr/>
        </p:nvSpPr>
        <p:spPr>
          <a:xfrm rot="0" flipH="0" flipV="0">
            <a:off x="7991475" y="210502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C</a:t>
            </a:r>
            <a:endParaRPr/>
          </a:p>
        </p:txBody>
      </p:sp>
      <p:sp>
        <p:nvSpPr>
          <p:cNvPr id="636" name="" descr="{&quot;isTemplate&quot;:true,&quot;type&quot;:&quot;text&quot;}"/>
          <p:cNvSpPr txBox="1"/>
          <p:nvPr/>
        </p:nvSpPr>
        <p:spPr>
          <a:xfrm rot="0" flipH="0" flipV="0">
            <a:off x="9363075" y="2105025"/>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637" name="" descr="{&quot;isTemplate&quot;:true,&quot;type&quot;:&quot;text&quot;}"/>
          <p:cNvSpPr txBox="1"/>
          <p:nvPr/>
        </p:nvSpPr>
        <p:spPr>
          <a:xfrm rot="0" flipH="0" flipV="0">
            <a:off x="10715625" y="2105025"/>
            <a:ext cx="142875" cy="152400"/>
          </a:xfrm>
          <a:prstGeom prst="rect"/>
        </p:spPr>
        <p:txBody>
          <a:bodyPr wrap="none" lIns="0" tIns="0" rIns="0" bIns="0"/>
          <a:p>
            <a:pPr>
              <a:lnSpc>
                <a:spcPct val="100000"/>
              </a:lnSpc>
            </a:pPr>
            <a:r>
              <a:rPr sz="975" b="1">
                <a:solidFill>
                  <a:srgbClr val="C8CCD4"/>
                </a:solidFill>
                <a:latin typeface="Microsoft YaHei"/>
                <a:ea typeface="Microsoft YaHei"/>
              </a:rPr>
              <a:t>—</a:t>
            </a:r>
            <a:endParaRPr/>
          </a:p>
        </p:txBody>
      </p:sp>
      <p:sp>
        <p:nvSpPr>
          <p:cNvPr id="638" name=""/>
          <p:cNvSpPr/>
          <p:nvPr/>
        </p:nvSpPr>
        <p:spPr>
          <a:xfrm rot="0" flipH="0" flipV="0">
            <a:off x="3657600" y="2352675"/>
            <a:ext cx="7924800" cy="342900"/>
          </a:xfrm>
          <a:prstGeom prst="rect">
            <a:avLst/>
          </a:prstGeom>
          <a:solidFill>
            <a:srgbClr val="F7F7F8"/>
          </a:solidFill>
          <a:ln/>
        </p:spPr>
        <p:txBody>
          <a:bodyPr/>
          <a:p>
            <a:pPr/>
            <a:endParaRPr/>
          </a:p>
        </p:txBody>
      </p:sp>
      <p:sp>
        <p:nvSpPr>
          <p:cNvPr id="639" name="" descr="{&quot;isTemplate&quot;:true,&quot;type&quot;:&quot;text&quot;}"/>
          <p:cNvSpPr txBox="1"/>
          <p:nvPr/>
        </p:nvSpPr>
        <p:spPr>
          <a:xfrm rot="0" flipH="0" flipV="0">
            <a:off x="3771900" y="2447925"/>
            <a:ext cx="2200275" cy="152400"/>
          </a:xfrm>
          <a:prstGeom prst="rect"/>
        </p:spPr>
        <p:txBody>
          <a:bodyPr wrap="none" lIns="0" tIns="0" rIns="0" bIns="0"/>
          <a:p>
            <a:pPr>
              <a:lnSpc>
                <a:spcPct val="100000"/>
              </a:lnSpc>
            </a:pPr>
            <a:r>
              <a:rPr lang="zh-CN" sz="975" b="1">
                <a:solidFill>
                  <a:srgbClr val="0F1423"/>
                </a:solidFill>
                <a:latin typeface="Microsoft YaHei"/>
                <a:ea typeface="Microsoft YaHei"/>
              </a:rPr>
              <a:t>销售订单</a:t>
            </a:r>
            <a:endParaRPr/>
          </a:p>
        </p:txBody>
      </p:sp>
      <p:sp>
        <p:nvSpPr>
          <p:cNvPr id="640" name="" descr="{&quot;isTemplate&quot;:true,&quot;type&quot;:&quot;text&quot;}"/>
          <p:cNvSpPr txBox="1"/>
          <p:nvPr/>
        </p:nvSpPr>
        <p:spPr>
          <a:xfrm rot="0" flipH="0" flipV="0">
            <a:off x="6619875" y="244792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C</a:t>
            </a:r>
            <a:endParaRPr/>
          </a:p>
        </p:txBody>
      </p:sp>
      <p:sp>
        <p:nvSpPr>
          <p:cNvPr id="641" name="" descr="{&quot;isTemplate&quot;:true,&quot;type&quot;:&quot;text&quot;}"/>
          <p:cNvSpPr txBox="1"/>
          <p:nvPr/>
        </p:nvSpPr>
        <p:spPr>
          <a:xfrm rot="0" flipH="0" flipV="0">
            <a:off x="7981950" y="2447925"/>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642" name="" descr="{&quot;isTemplate&quot;:true,&quot;type&quot;:&quot;text&quot;}"/>
          <p:cNvSpPr txBox="1"/>
          <p:nvPr/>
        </p:nvSpPr>
        <p:spPr>
          <a:xfrm rot="0" flipH="0" flipV="0">
            <a:off x="9363075" y="2447925"/>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643" name="" descr="{&quot;isTemplate&quot;:true,&quot;type&quot;:&quot;text&quot;}"/>
          <p:cNvSpPr txBox="1"/>
          <p:nvPr/>
        </p:nvSpPr>
        <p:spPr>
          <a:xfrm rot="0" flipH="0" flipV="0">
            <a:off x="10734675" y="2447925"/>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644" name=""/>
          <p:cNvSpPr/>
          <p:nvPr/>
        </p:nvSpPr>
        <p:spPr>
          <a:xfrm rot="0" flipH="0" flipV="0">
            <a:off x="3657600" y="2695575"/>
            <a:ext cx="7924800" cy="342900"/>
          </a:xfrm>
          <a:prstGeom prst="rect">
            <a:avLst/>
          </a:prstGeom>
          <a:solidFill>
            <a:srgbClr val="FFFFFF"/>
          </a:solidFill>
          <a:ln/>
        </p:spPr>
        <p:txBody>
          <a:bodyPr/>
          <a:p>
            <a:pPr/>
            <a:endParaRPr/>
          </a:p>
        </p:txBody>
      </p:sp>
      <p:sp>
        <p:nvSpPr>
          <p:cNvPr id="645" name="" descr="{&quot;isTemplate&quot;:true,&quot;type&quot;:&quot;text&quot;}"/>
          <p:cNvSpPr txBox="1"/>
          <p:nvPr/>
        </p:nvSpPr>
        <p:spPr>
          <a:xfrm rot="0" flipH="0" flipV="0">
            <a:off x="3771900" y="2790825"/>
            <a:ext cx="2200275" cy="152400"/>
          </a:xfrm>
          <a:prstGeom prst="rect"/>
        </p:spPr>
        <p:txBody>
          <a:bodyPr wrap="none" lIns="0" tIns="0" rIns="0" bIns="0"/>
          <a:p>
            <a:pPr>
              <a:lnSpc>
                <a:spcPct val="100000"/>
              </a:lnSpc>
            </a:pPr>
            <a:r>
              <a:rPr lang="zh-CN" sz="975" b="1">
                <a:solidFill>
                  <a:srgbClr val="0F1423"/>
                </a:solidFill>
                <a:latin typeface="Microsoft YaHei"/>
                <a:ea typeface="Microsoft YaHei"/>
              </a:rPr>
              <a:t>物料</a:t>
            </a:r>
            <a:endParaRPr/>
          </a:p>
        </p:txBody>
      </p:sp>
      <p:sp>
        <p:nvSpPr>
          <p:cNvPr id="646" name="" descr="{&quot;isTemplate&quot;:true,&quot;type&quot;:&quot;text&quot;}"/>
          <p:cNvSpPr txBox="1"/>
          <p:nvPr/>
        </p:nvSpPr>
        <p:spPr>
          <a:xfrm rot="0" flipH="0" flipV="0">
            <a:off x="6619875" y="279082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C</a:t>
            </a:r>
            <a:endParaRPr/>
          </a:p>
        </p:txBody>
      </p:sp>
      <p:sp>
        <p:nvSpPr>
          <p:cNvPr id="647" name="" descr="{&quot;isTemplate&quot;:true,&quot;type&quot;:&quot;text&quot;}"/>
          <p:cNvSpPr txBox="1"/>
          <p:nvPr/>
        </p:nvSpPr>
        <p:spPr>
          <a:xfrm rot="0" flipH="0" flipV="0">
            <a:off x="7981950" y="2790825"/>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648" name="" descr="{&quot;isTemplate&quot;:true,&quot;type&quot;:&quot;text&quot;}"/>
          <p:cNvSpPr txBox="1"/>
          <p:nvPr/>
        </p:nvSpPr>
        <p:spPr>
          <a:xfrm rot="0" flipH="0" flipV="0">
            <a:off x="9363075" y="2790825"/>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649" name="" descr="{&quot;isTemplate&quot;:true,&quot;type&quot;:&quot;text&quot;}"/>
          <p:cNvSpPr txBox="1"/>
          <p:nvPr/>
        </p:nvSpPr>
        <p:spPr>
          <a:xfrm rot="0" flipH="0" flipV="0">
            <a:off x="10734675" y="2790825"/>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650" name=""/>
          <p:cNvSpPr/>
          <p:nvPr/>
        </p:nvSpPr>
        <p:spPr>
          <a:xfrm rot="0" flipH="0" flipV="0">
            <a:off x="3657600" y="3038475"/>
            <a:ext cx="7924800" cy="342900"/>
          </a:xfrm>
          <a:prstGeom prst="rect">
            <a:avLst/>
          </a:prstGeom>
          <a:solidFill>
            <a:srgbClr val="F7F7F8"/>
          </a:solidFill>
          <a:ln/>
        </p:spPr>
        <p:txBody>
          <a:bodyPr/>
          <a:p>
            <a:pPr/>
            <a:endParaRPr/>
          </a:p>
        </p:txBody>
      </p:sp>
      <p:sp>
        <p:nvSpPr>
          <p:cNvPr id="651" name="" descr="{&quot;isTemplate&quot;:true,&quot;type&quot;:&quot;text&quot;}"/>
          <p:cNvSpPr txBox="1"/>
          <p:nvPr/>
        </p:nvSpPr>
        <p:spPr>
          <a:xfrm rot="0" flipH="0" flipV="0">
            <a:off x="3771900" y="3133725"/>
            <a:ext cx="2200275" cy="152400"/>
          </a:xfrm>
          <a:prstGeom prst="rect"/>
        </p:spPr>
        <p:txBody>
          <a:bodyPr wrap="none" lIns="0" tIns="0" rIns="0" bIns="0"/>
          <a:p>
            <a:pPr>
              <a:lnSpc>
                <a:spcPct val="100000"/>
              </a:lnSpc>
            </a:pPr>
            <a:r>
              <a:rPr lang="zh-CN" sz="975" b="1">
                <a:solidFill>
                  <a:srgbClr val="0F1423"/>
                </a:solidFill>
                <a:latin typeface="Microsoft YaHei"/>
                <a:ea typeface="Microsoft YaHei"/>
              </a:rPr>
              <a:t>库存</a:t>
            </a:r>
            <a:endParaRPr/>
          </a:p>
        </p:txBody>
      </p:sp>
      <p:sp>
        <p:nvSpPr>
          <p:cNvPr id="652" name="" descr="{&quot;isTemplate&quot;:true,&quot;type&quot;:&quot;text&quot;}"/>
          <p:cNvSpPr txBox="1"/>
          <p:nvPr/>
        </p:nvSpPr>
        <p:spPr>
          <a:xfrm rot="0" flipH="0" flipV="0">
            <a:off x="6610350" y="3133725"/>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653" name="" descr="{&quot;isTemplate&quot;:true,&quot;type&quot;:&quot;text&quot;}"/>
          <p:cNvSpPr txBox="1"/>
          <p:nvPr/>
        </p:nvSpPr>
        <p:spPr>
          <a:xfrm rot="0" flipH="0" flipV="0">
            <a:off x="7962900" y="3133725"/>
            <a:ext cx="142875" cy="152400"/>
          </a:xfrm>
          <a:prstGeom prst="rect"/>
        </p:spPr>
        <p:txBody>
          <a:bodyPr wrap="none" lIns="0" tIns="0" rIns="0" bIns="0"/>
          <a:p>
            <a:pPr>
              <a:lnSpc>
                <a:spcPct val="100000"/>
              </a:lnSpc>
            </a:pPr>
            <a:r>
              <a:rPr sz="975" b="1">
                <a:solidFill>
                  <a:srgbClr val="C8CCD4"/>
                </a:solidFill>
                <a:latin typeface="Microsoft YaHei"/>
                <a:ea typeface="Microsoft YaHei"/>
              </a:rPr>
              <a:t>—</a:t>
            </a:r>
            <a:endParaRPr/>
          </a:p>
        </p:txBody>
      </p:sp>
      <p:sp>
        <p:nvSpPr>
          <p:cNvPr id="654" name="" descr="{&quot;isTemplate&quot;:true,&quot;type&quot;:&quot;text&quot;}"/>
          <p:cNvSpPr txBox="1"/>
          <p:nvPr/>
        </p:nvSpPr>
        <p:spPr>
          <a:xfrm rot="0" flipH="0" flipV="0">
            <a:off x="9363075" y="313372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C</a:t>
            </a:r>
            <a:endParaRPr/>
          </a:p>
        </p:txBody>
      </p:sp>
      <p:sp>
        <p:nvSpPr>
          <p:cNvPr id="655" name="" descr="{&quot;isTemplate&quot;:true,&quot;type&quot;:&quot;text&quot;}"/>
          <p:cNvSpPr txBox="1"/>
          <p:nvPr/>
        </p:nvSpPr>
        <p:spPr>
          <a:xfrm rot="0" flipH="0" flipV="0">
            <a:off x="10744200" y="313372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C</a:t>
            </a:r>
            <a:endParaRPr/>
          </a:p>
        </p:txBody>
      </p:sp>
      <p:sp>
        <p:nvSpPr>
          <p:cNvPr id="656" name=""/>
          <p:cNvSpPr/>
          <p:nvPr/>
        </p:nvSpPr>
        <p:spPr>
          <a:xfrm rot="0" flipH="0" flipV="0">
            <a:off x="3657600" y="3381375"/>
            <a:ext cx="7924800" cy="342900"/>
          </a:xfrm>
          <a:prstGeom prst="rect">
            <a:avLst/>
          </a:prstGeom>
          <a:solidFill>
            <a:srgbClr val="FFFFFF"/>
          </a:solidFill>
          <a:ln/>
        </p:spPr>
        <p:txBody>
          <a:bodyPr/>
          <a:p>
            <a:pPr/>
            <a:endParaRPr/>
          </a:p>
        </p:txBody>
      </p:sp>
      <p:sp>
        <p:nvSpPr>
          <p:cNvPr id="657" name="" descr="{&quot;isTemplate&quot;:true,&quot;type&quot;:&quot;text&quot;}"/>
          <p:cNvSpPr txBox="1"/>
          <p:nvPr/>
        </p:nvSpPr>
        <p:spPr>
          <a:xfrm rot="0" flipH="0" flipV="0">
            <a:off x="3771900" y="3476625"/>
            <a:ext cx="2200275" cy="152400"/>
          </a:xfrm>
          <a:prstGeom prst="rect"/>
        </p:spPr>
        <p:txBody>
          <a:bodyPr wrap="none" lIns="0" tIns="0" rIns="0" bIns="0"/>
          <a:p>
            <a:pPr>
              <a:lnSpc>
                <a:spcPct val="100000"/>
              </a:lnSpc>
            </a:pPr>
            <a:r>
              <a:rPr lang="zh-CN" sz="975" b="1">
                <a:solidFill>
                  <a:srgbClr val="0F1423"/>
                </a:solidFill>
                <a:latin typeface="Microsoft YaHei"/>
                <a:ea typeface="Microsoft YaHei"/>
              </a:rPr>
              <a:t>发票</a:t>
            </a:r>
            <a:endParaRPr/>
          </a:p>
        </p:txBody>
      </p:sp>
      <p:sp>
        <p:nvSpPr>
          <p:cNvPr id="658" name="" descr="{&quot;isTemplate&quot;:true,&quot;type&quot;:&quot;text&quot;}"/>
          <p:cNvSpPr txBox="1"/>
          <p:nvPr/>
        </p:nvSpPr>
        <p:spPr>
          <a:xfrm rot="0" flipH="0" flipV="0">
            <a:off x="6619875" y="347662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C</a:t>
            </a:r>
            <a:endParaRPr/>
          </a:p>
        </p:txBody>
      </p:sp>
      <p:sp>
        <p:nvSpPr>
          <p:cNvPr id="659" name="" descr="{&quot;isTemplate&quot;:true,&quot;type&quot;:&quot;text&quot;}"/>
          <p:cNvSpPr txBox="1"/>
          <p:nvPr/>
        </p:nvSpPr>
        <p:spPr>
          <a:xfrm rot="0" flipH="0" flipV="0">
            <a:off x="7981950" y="3476625"/>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660" name="" descr="{&quot;isTemplate&quot;:true,&quot;type&quot;:&quot;text&quot;}"/>
          <p:cNvSpPr txBox="1"/>
          <p:nvPr/>
        </p:nvSpPr>
        <p:spPr>
          <a:xfrm rot="0" flipH="0" flipV="0">
            <a:off x="9334500" y="3476625"/>
            <a:ext cx="142875" cy="152400"/>
          </a:xfrm>
          <a:prstGeom prst="rect"/>
        </p:spPr>
        <p:txBody>
          <a:bodyPr wrap="none" lIns="0" tIns="0" rIns="0" bIns="0"/>
          <a:p>
            <a:pPr>
              <a:lnSpc>
                <a:spcPct val="100000"/>
              </a:lnSpc>
            </a:pPr>
            <a:r>
              <a:rPr sz="975" b="1">
                <a:solidFill>
                  <a:srgbClr val="C8CCD4"/>
                </a:solidFill>
                <a:latin typeface="Microsoft YaHei"/>
                <a:ea typeface="Microsoft YaHei"/>
              </a:rPr>
              <a:t>—</a:t>
            </a:r>
            <a:endParaRPr/>
          </a:p>
        </p:txBody>
      </p:sp>
      <p:sp>
        <p:nvSpPr>
          <p:cNvPr id="661" name="" descr="{&quot;isTemplate&quot;:true,&quot;type&quot;:&quot;text&quot;}"/>
          <p:cNvSpPr txBox="1"/>
          <p:nvPr/>
        </p:nvSpPr>
        <p:spPr>
          <a:xfrm rot="0" flipH="0" flipV="0">
            <a:off x="10715625" y="3476625"/>
            <a:ext cx="142875" cy="152400"/>
          </a:xfrm>
          <a:prstGeom prst="rect"/>
        </p:spPr>
        <p:txBody>
          <a:bodyPr wrap="none" lIns="0" tIns="0" rIns="0" bIns="0"/>
          <a:p>
            <a:pPr>
              <a:lnSpc>
                <a:spcPct val="100000"/>
              </a:lnSpc>
            </a:pPr>
            <a:r>
              <a:rPr sz="975" b="1">
                <a:solidFill>
                  <a:srgbClr val="C8CCD4"/>
                </a:solidFill>
                <a:latin typeface="Microsoft YaHei"/>
                <a:ea typeface="Microsoft YaHei"/>
              </a:rPr>
              <a:t>—</a:t>
            </a:r>
            <a:endParaRPr/>
          </a:p>
        </p:txBody>
      </p:sp>
      <p:sp>
        <p:nvSpPr>
          <p:cNvPr id="662" name="" descr="{&quot;isTemplate&quot;:true,&quot;type&quot;:&quot;text&quot;}"/>
          <p:cNvSpPr txBox="1"/>
          <p:nvPr/>
        </p:nvSpPr>
        <p:spPr>
          <a:xfrm rot="0" flipH="0" flipV="0">
            <a:off x="3657600" y="5429250"/>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C</a:t>
            </a:r>
            <a:endParaRPr/>
          </a:p>
        </p:txBody>
      </p:sp>
      <p:sp>
        <p:nvSpPr>
          <p:cNvPr id="663" name="" descr="{&quot;isTemplate&quot;:true,&quot;type&quot;:&quot;text&quot;}"/>
          <p:cNvSpPr txBox="1"/>
          <p:nvPr/>
        </p:nvSpPr>
        <p:spPr>
          <a:xfrm rot="0" flipH="0" flipV="0">
            <a:off x="3800475" y="5429250"/>
            <a:ext cx="666750" cy="152400"/>
          </a:xfrm>
          <a:prstGeom prst="rect"/>
        </p:spPr>
        <p:txBody>
          <a:bodyPr wrap="none" lIns="0" tIns="0" rIns="0" bIns="0"/>
          <a:p>
            <a:pPr>
              <a:lnSpc>
                <a:spcPct val="100000"/>
              </a:lnSpc>
            </a:pPr>
            <a:r>
              <a:rPr lang="zh-CN" sz="975">
                <a:solidFill>
                  <a:srgbClr val="5A6070"/>
                </a:solidFill>
                <a:latin typeface="Microsoft YaHei"/>
                <a:ea typeface="Microsoft YaHei"/>
              </a:rPr>
              <a:t>创建</a:t>
            </a:r>
            <a:r>
              <a:rPr lang="en-US" sz="975">
                <a:solidFill>
                  <a:srgbClr val="5A6070"/>
                </a:solidFill>
                <a:latin typeface="Microsoft YaHei"/>
                <a:ea typeface="Microsoft YaHei"/>
              </a:rPr>
              <a:t xml:space="preserve"> Create</a:t>
            </a:r>
            <a:endParaRPr/>
          </a:p>
        </p:txBody>
      </p:sp>
      <p:sp>
        <p:nvSpPr>
          <p:cNvPr id="664" name="" descr="{&quot;isTemplate&quot;:true,&quot;type&quot;:&quot;text&quot;}"/>
          <p:cNvSpPr txBox="1"/>
          <p:nvPr/>
        </p:nvSpPr>
        <p:spPr>
          <a:xfrm rot="0" flipH="0" flipV="0">
            <a:off x="4619625" y="5429250"/>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665" name="" descr="{&quot;isTemplate&quot;:true,&quot;type&quot;:&quot;text&quot;}"/>
          <p:cNvSpPr txBox="1"/>
          <p:nvPr/>
        </p:nvSpPr>
        <p:spPr>
          <a:xfrm rot="0" flipH="0" flipV="0">
            <a:off x="4772025" y="5429250"/>
            <a:ext cx="581025" cy="152400"/>
          </a:xfrm>
          <a:prstGeom prst="rect"/>
        </p:spPr>
        <p:txBody>
          <a:bodyPr wrap="none" lIns="0" tIns="0" rIns="0" bIns="0"/>
          <a:p>
            <a:pPr>
              <a:lnSpc>
                <a:spcPct val="100000"/>
              </a:lnSpc>
            </a:pPr>
            <a:r>
              <a:rPr lang="zh-CN" sz="975">
                <a:solidFill>
                  <a:srgbClr val="5A6070"/>
                </a:solidFill>
                <a:latin typeface="Microsoft YaHei"/>
                <a:ea typeface="Microsoft YaHei"/>
              </a:rPr>
              <a:t>读取</a:t>
            </a:r>
            <a:r>
              <a:rPr lang="en-US" sz="975">
                <a:solidFill>
                  <a:srgbClr val="5A6070"/>
                </a:solidFill>
                <a:latin typeface="Microsoft YaHei"/>
                <a:ea typeface="Microsoft YaHei"/>
              </a:rPr>
              <a:t xml:space="preserve"> Read</a:t>
            </a:r>
            <a:endParaRPr/>
          </a:p>
        </p:txBody>
      </p:sp>
      <p:sp>
        <p:nvSpPr>
          <p:cNvPr id="666" name="" descr="{&quot;isTemplate&quot;:true,&quot;type&quot;:&quot;text&quot;}"/>
          <p:cNvSpPr txBox="1"/>
          <p:nvPr/>
        </p:nvSpPr>
        <p:spPr>
          <a:xfrm rot="0" flipH="0" flipV="0">
            <a:off x="5505450" y="5429250"/>
            <a:ext cx="142875" cy="152400"/>
          </a:xfrm>
          <a:prstGeom prst="rect"/>
        </p:spPr>
        <p:txBody>
          <a:bodyPr wrap="none" lIns="0" tIns="0" rIns="0" bIns="0"/>
          <a:p>
            <a:pPr>
              <a:lnSpc>
                <a:spcPct val="100000"/>
              </a:lnSpc>
            </a:pPr>
            <a:r>
              <a:rPr sz="975">
                <a:solidFill>
                  <a:srgbClr val="C8CCD4"/>
                </a:solidFill>
                <a:latin typeface="Microsoft YaHei"/>
                <a:ea typeface="Microsoft YaHei"/>
              </a:rPr>
              <a:t>—</a:t>
            </a:r>
            <a:endParaRPr/>
          </a:p>
        </p:txBody>
      </p:sp>
      <p:sp>
        <p:nvSpPr>
          <p:cNvPr id="667" name="" descr="{&quot;isTemplate&quot;:true,&quot;type&quot;:&quot;text&quot;}"/>
          <p:cNvSpPr txBox="1"/>
          <p:nvPr/>
        </p:nvSpPr>
        <p:spPr>
          <a:xfrm rot="0" flipH="0" flipV="0">
            <a:off x="5705475" y="5429250"/>
            <a:ext cx="371475" cy="152400"/>
          </a:xfrm>
          <a:prstGeom prst="rect"/>
        </p:spPr>
        <p:txBody>
          <a:bodyPr wrap="none" lIns="0" tIns="0" rIns="0" bIns="0"/>
          <a:p>
            <a:pPr>
              <a:lnSpc>
                <a:spcPct val="100000"/>
              </a:lnSpc>
            </a:pPr>
            <a:r>
              <a:rPr lang="zh-CN" sz="975">
                <a:solidFill>
                  <a:srgbClr val="5A6070"/>
                </a:solidFill>
                <a:latin typeface="Microsoft YaHei"/>
                <a:ea typeface="Microsoft YaHei"/>
              </a:rPr>
              <a:t>不涉及</a:t>
            </a:r>
            <a:endParaRPr/>
          </a:p>
        </p:txBody>
      </p:sp>
      <p:sp>
        <p:nvSpPr>
          <p:cNvPr id="668" name=""/>
          <p:cNvSpPr/>
          <p:nvPr/>
        </p:nvSpPr>
        <p:spPr>
          <a:xfrm rot="0" flipH="0" flipV="0">
            <a:off x="609600" y="5943600"/>
            <a:ext cx="133350" cy="133350"/>
          </a:xfrm>
          <a:prstGeom prst="rect">
            <a:avLst/>
          </a:prstGeom>
          <a:solidFill>
            <a:srgbClr val="FA4F24"/>
          </a:solidFill>
          <a:ln/>
        </p:spPr>
        <p:txBody>
          <a:bodyPr/>
          <a:p>
            <a:pPr/>
            <a:endParaRPr/>
          </a:p>
        </p:txBody>
      </p:sp>
      <p:sp>
        <p:nvSpPr>
          <p:cNvPr id="669"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670"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25 / 30</a:t>
            </a:r>
            <a:endParaRPr/>
          </a:p>
        </p:txBody>
      </p:sp>
    </p:spTree>
  </p:cSld>
</p:sld>
</file>

<file path=ppt/slides/slide26.xml><?xml version="1.0" encoding="utf-8"?>
<p:sld xmlns:p="http://schemas.openxmlformats.org/presentationml/2006/main" xmlns:a="http://schemas.openxmlformats.org/drawingml/2006/main">
  <p:cSld>
    <p:spTree>
      <p:nvGrpSpPr>
        <p:cNvPr id="671" name=""/>
        <p:cNvGrpSpPr/>
        <p:nvPr/>
      </p:nvGrpSpPr>
      <p:grpSpPr>
        <a:xfrm>
          <a:off x="0" y="0"/>
          <a:ext cx="0" cy="0"/>
          <a:chOff x="0" y="0"/>
          <a:chExt cx="0" cy="0"/>
        </a:xfrm>
      </p:grpSpPr>
      <p:sp>
        <p:nvSpPr>
          <p:cNvPr id="672" name=""/>
          <p:cNvSpPr/>
          <p:nvPr/>
        </p:nvSpPr>
        <p:spPr>
          <a:xfrm rot="0" flipH="0" flipV="0">
            <a:off x="0" y="0"/>
            <a:ext cx="12192000" cy="6858000"/>
          </a:xfrm>
          <a:prstGeom prst="rect">
            <a:avLst/>
          </a:prstGeom>
          <a:solidFill>
            <a:srgbClr val="FFFFFF"/>
          </a:solidFill>
          <a:ln/>
        </p:spPr>
        <p:txBody>
          <a:bodyPr/>
          <a:p>
            <a:pPr/>
            <a:endParaRPr/>
          </a:p>
        </p:txBody>
      </p:sp>
      <p:sp>
        <p:nvSpPr>
          <p:cNvPr id="673"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之内容：数据分布图、</a:t>
            </a:r>
            <a:r>
              <a:rPr lang="zh-CN" sz="2400" b="1">
                <a:solidFill>
                  <a:srgbClr val="FA4F24"/>
                </a:solidFill>
                <a:latin typeface="Microsoft YaHei"/>
                <a:ea typeface="Microsoft YaHei"/>
              </a:rPr>
              <a:t>信息链与数据流</a:t>
            </a:r>
            <a:r>
              <a:rPr lang="zh-CN" sz="2400" b="1">
                <a:solidFill>
                  <a:srgbClr val="0F1423"/>
                </a:solidFill>
                <a:latin typeface="Microsoft YaHei"/>
                <a:ea typeface="Microsoft YaHei"/>
              </a:rPr>
              <a:t>，让血缘可追溯</a:t>
            </a:r>
            <a:endParaRPr/>
          </a:p>
        </p:txBody>
      </p:sp>
      <p:sp>
        <p:nvSpPr>
          <p:cNvPr id="674"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前三个组件从静态角度定义数据与关系，数据分布则定义数据从哪来、往哪去</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它是唯一动态的组件</a:t>
            </a:r>
            <a:endParaRPr/>
          </a:p>
        </p:txBody>
      </p:sp>
      <p:sp>
        <p:nvSpPr>
          <p:cNvPr id="675" name=""/>
          <p:cNvSpPr/>
          <p:nvPr/>
        </p:nvSpPr>
        <p:spPr>
          <a:xfrm rot="0" flipH="0" flipV="0">
            <a:off x="609600" y="1143000"/>
            <a:ext cx="10972800" cy="9525"/>
          </a:xfrm>
          <a:prstGeom prst="rect">
            <a:avLst/>
          </a:prstGeom>
          <a:solidFill>
            <a:srgbClr val="E8E8E8"/>
          </a:solidFill>
          <a:ln/>
        </p:spPr>
        <p:txBody>
          <a:bodyPr/>
          <a:p>
            <a:pPr/>
            <a:endParaRPr/>
          </a:p>
        </p:txBody>
      </p:sp>
      <p:sp>
        <p:nvSpPr>
          <p:cNvPr id="676" name=""/>
          <p:cNvSpPr/>
          <p:nvPr/>
        </p:nvSpPr>
        <p:spPr>
          <a:xfrm rot="0" flipH="0" flipV="0">
            <a:off x="647700" y="1362075"/>
            <a:ext cx="6019800" cy="1543050"/>
          </a:xfrm>
          <a:prstGeom prst="roundRect">
            <a:avLst>
              <a:gd name="adj" fmla="val 2469"/>
            </a:avLst>
          </a:prstGeom>
          <a:solidFill>
            <a:srgbClr val="F7F7F8"/>
          </a:solidFill>
          <a:ln/>
        </p:spPr>
        <p:txBody>
          <a:bodyPr/>
          <a:p>
            <a:pPr/>
            <a:endParaRPr/>
          </a:p>
        </p:txBody>
      </p:sp>
      <p:sp>
        <p:nvSpPr>
          <p:cNvPr id="677" name=""/>
          <p:cNvSpPr/>
          <p:nvPr/>
        </p:nvSpPr>
        <p:spPr>
          <a:xfrm rot="0" flipH="0" flipV="0">
            <a:off x="647700" y="1362075"/>
            <a:ext cx="6019800" cy="1543050"/>
          </a:xfrm>
          <a:custGeom>
            <a:pathLst>
              <a:path w="632" h="162">
                <a:moveTo>
                  <a:pt x="4" y="162"/>
                </a:moveTo>
                <a:cubicBezTo>
                  <a:pt x="2" y="162"/>
                  <a:pt x="0" y="160"/>
                  <a:pt x="0" y="158"/>
                </a:cubicBezTo>
                <a:lnTo>
                  <a:pt x="0" y="4"/>
                </a:lnTo>
                <a:cubicBezTo>
                  <a:pt x="0" y="2"/>
                  <a:pt x="2" y="0"/>
                  <a:pt x="4" y="0"/>
                </a:cubicBezTo>
                <a:lnTo>
                  <a:pt x="4" y="162"/>
                </a:lnTo>
                <a:close/>
              </a:path>
            </a:pathLst>
          </a:custGeom>
          <a:solidFill>
            <a:srgbClr val="FA4F24"/>
          </a:solidFill>
          <a:ln/>
        </p:spPr>
        <p:txBody>
          <a:bodyPr/>
          <a:p>
            <a:pPr/>
            <a:endParaRPr/>
          </a:p>
        </p:txBody>
      </p:sp>
      <p:sp>
        <p:nvSpPr>
          <p:cNvPr id="678" name="" descr="{&quot;isTemplate&quot;:true,&quot;type&quot;:&quot;text&quot;}"/>
          <p:cNvSpPr txBox="1"/>
          <p:nvPr/>
        </p:nvSpPr>
        <p:spPr>
          <a:xfrm rot="0" flipH="0" flipV="0">
            <a:off x="838200" y="1581150"/>
            <a:ext cx="5600700" cy="209550"/>
          </a:xfrm>
          <a:prstGeom prst="rect"/>
        </p:spPr>
        <p:txBody>
          <a:bodyPr wrap="none" lIns="0" tIns="0" rIns="0" bIns="0"/>
          <a:p>
            <a:pPr>
              <a:lnSpc>
                <a:spcPct val="100000"/>
              </a:lnSpc>
            </a:pPr>
            <a:r>
              <a:rPr lang="zh-CN" sz="1350" b="1">
                <a:solidFill>
                  <a:srgbClr val="0F1423"/>
                </a:solidFill>
                <a:latin typeface="Microsoft YaHei"/>
                <a:ea typeface="Microsoft YaHei"/>
              </a:rPr>
              <a:t>信息链（</a:t>
            </a:r>
            <a:r>
              <a:rPr lang="en-US" sz="1350" b="1">
                <a:solidFill>
                  <a:srgbClr val="0F1423"/>
                </a:solidFill>
                <a:latin typeface="Microsoft YaHei"/>
                <a:ea typeface="Microsoft YaHei"/>
              </a:rPr>
              <a:t>Information Chain</a:t>
            </a:r>
            <a:r>
              <a:rPr lang="zh-CN" sz="1350" b="1">
                <a:solidFill>
                  <a:srgbClr val="0F1423"/>
                </a:solidFill>
                <a:latin typeface="Microsoft YaHei"/>
                <a:ea typeface="Microsoft YaHei"/>
              </a:rPr>
              <a:t>）</a:t>
            </a:r>
            <a:endParaRPr/>
          </a:p>
        </p:txBody>
      </p:sp>
      <p:sp>
        <p:nvSpPr>
          <p:cNvPr id="679" name="" descr="{&quot;isTemplate&quot;:true,&quot;type&quot;:&quot;text&quot;}"/>
          <p:cNvSpPr txBox="1"/>
          <p:nvPr/>
        </p:nvSpPr>
        <p:spPr>
          <a:xfrm rot="0" flipH="0" flipV="0">
            <a:off x="838200" y="1866900"/>
            <a:ext cx="5600700" cy="485775"/>
          </a:xfrm>
          <a:prstGeom prst="rect"/>
        </p:spPr>
        <p:txBody>
          <a:bodyPr wrap="square" lIns="0" tIns="0" rIns="0" bIns="0">
            <a:normAutofit/>
          </a:bodyPr>
          <a:p>
            <a:pPr>
              <a:lnSpc>
                <a:spcPct val="150000"/>
              </a:lnSpc>
            </a:pPr>
            <a:r>
              <a:rPr lang="zh-CN" sz="1050">
                <a:solidFill>
                  <a:srgbClr val="3A4050"/>
                </a:solidFill>
                <a:latin typeface="Microsoft YaHei"/>
                <a:ea typeface="Microsoft YaHei"/>
              </a:rPr>
              <a:t>描述某一数据在流程或应用系统中是如何被创建、读取、更新、删除的</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偏「静态职责划分」。</a:t>
            </a:r>
            <a:endParaRPr/>
          </a:p>
        </p:txBody>
      </p:sp>
      <p:sp>
        <p:nvSpPr>
          <p:cNvPr id="680" name=""/>
          <p:cNvSpPr/>
          <p:nvPr/>
        </p:nvSpPr>
        <p:spPr>
          <a:xfrm rot="0" flipH="0" flipV="0">
            <a:off x="838200" y="2447925"/>
            <a:ext cx="990600" cy="238125"/>
          </a:xfrm>
          <a:prstGeom prst="roundRect">
            <a:avLst>
              <a:gd name="adj" fmla="val 12000"/>
            </a:avLst>
          </a:prstGeom>
          <a:solidFill>
            <a:srgbClr val="FA4F24">
              <a:alpha val="10000"/>
            </a:srgbClr>
          </a:solidFill>
          <a:ln/>
        </p:spPr>
        <p:txBody>
          <a:bodyPr/>
          <a:p>
            <a:pPr/>
            <a:endParaRPr/>
          </a:p>
        </p:txBody>
      </p:sp>
      <p:sp>
        <p:nvSpPr>
          <p:cNvPr id="681" name="" descr="{&quot;isTemplate&quot;:true,&quot;type&quot;:&quot;text&quot;}"/>
          <p:cNvSpPr txBox="1"/>
          <p:nvPr/>
        </p:nvSpPr>
        <p:spPr>
          <a:xfrm rot="0" flipH="0" flipV="0">
            <a:off x="933450" y="2495550"/>
            <a:ext cx="800100" cy="142875"/>
          </a:xfrm>
          <a:prstGeom prst="rect"/>
        </p:spPr>
        <p:txBody>
          <a:bodyPr wrap="none" lIns="0" tIns="0" rIns="0" bIns="0"/>
          <a:p>
            <a:pPr>
              <a:lnSpc>
                <a:spcPct val="100000"/>
              </a:lnSpc>
            </a:pPr>
            <a:r>
              <a:rPr lang="zh-CN" sz="900" b="1">
                <a:solidFill>
                  <a:srgbClr val="C43A17"/>
                </a:solidFill>
                <a:latin typeface="Microsoft YaHei"/>
                <a:ea typeface="Microsoft YaHei"/>
              </a:rPr>
              <a:t>谁负责什么操作</a:t>
            </a:r>
            <a:endParaRPr/>
          </a:p>
        </p:txBody>
      </p:sp>
      <p:sp>
        <p:nvSpPr>
          <p:cNvPr id="682" name=""/>
          <p:cNvSpPr/>
          <p:nvPr/>
        </p:nvSpPr>
        <p:spPr>
          <a:xfrm rot="0" flipH="0" flipV="0">
            <a:off x="647700" y="3019425"/>
            <a:ext cx="6019800" cy="1314450"/>
          </a:xfrm>
          <a:prstGeom prst="roundRect">
            <a:avLst>
              <a:gd name="adj" fmla="val 2899"/>
            </a:avLst>
          </a:prstGeom>
          <a:solidFill>
            <a:srgbClr val="F7F7F8"/>
          </a:solidFill>
          <a:ln/>
        </p:spPr>
        <p:txBody>
          <a:bodyPr/>
          <a:p>
            <a:pPr/>
            <a:endParaRPr/>
          </a:p>
        </p:txBody>
      </p:sp>
      <p:sp>
        <p:nvSpPr>
          <p:cNvPr id="683" name=""/>
          <p:cNvSpPr/>
          <p:nvPr/>
        </p:nvSpPr>
        <p:spPr>
          <a:xfrm rot="0" flipH="0" flipV="0">
            <a:off x="647700" y="3019425"/>
            <a:ext cx="6019800" cy="1314450"/>
          </a:xfrm>
          <a:custGeom>
            <a:pathLst>
              <a:path w="632" h="138">
                <a:moveTo>
                  <a:pt x="4" y="138"/>
                </a:moveTo>
                <a:cubicBezTo>
                  <a:pt x="2" y="138"/>
                  <a:pt x="0" y="136"/>
                  <a:pt x="0" y="134"/>
                </a:cubicBezTo>
                <a:lnTo>
                  <a:pt x="0" y="4"/>
                </a:lnTo>
                <a:cubicBezTo>
                  <a:pt x="0" y="2"/>
                  <a:pt x="2" y="0"/>
                  <a:pt x="4" y="0"/>
                </a:cubicBezTo>
                <a:lnTo>
                  <a:pt x="4" y="138"/>
                </a:lnTo>
                <a:close/>
              </a:path>
            </a:pathLst>
          </a:custGeom>
          <a:solidFill>
            <a:srgbClr val="FA4F24"/>
          </a:solidFill>
          <a:ln/>
        </p:spPr>
        <p:txBody>
          <a:bodyPr/>
          <a:p>
            <a:pPr/>
            <a:endParaRPr/>
          </a:p>
        </p:txBody>
      </p:sp>
      <p:sp>
        <p:nvSpPr>
          <p:cNvPr id="684" name="" descr="{&quot;isTemplate&quot;:true,&quot;type&quot;:&quot;text&quot;}"/>
          <p:cNvSpPr txBox="1"/>
          <p:nvPr/>
        </p:nvSpPr>
        <p:spPr>
          <a:xfrm rot="0" flipH="0" flipV="0">
            <a:off x="838200" y="3248025"/>
            <a:ext cx="5600700" cy="209550"/>
          </a:xfrm>
          <a:prstGeom prst="rect"/>
        </p:spPr>
        <p:txBody>
          <a:bodyPr wrap="none" lIns="0" tIns="0" rIns="0" bIns="0"/>
          <a:p>
            <a:pPr>
              <a:lnSpc>
                <a:spcPct val="100000"/>
              </a:lnSpc>
            </a:pPr>
            <a:r>
              <a:rPr lang="zh-CN" sz="1350" b="1">
                <a:solidFill>
                  <a:srgbClr val="0F1423"/>
                </a:solidFill>
                <a:latin typeface="Microsoft YaHei"/>
                <a:ea typeface="Microsoft YaHei"/>
              </a:rPr>
              <a:t>数据流（</a:t>
            </a:r>
            <a:r>
              <a:rPr lang="en-US" sz="1350" b="1">
                <a:solidFill>
                  <a:srgbClr val="0F1423"/>
                </a:solidFill>
                <a:latin typeface="Microsoft YaHei"/>
                <a:ea typeface="Microsoft YaHei"/>
              </a:rPr>
              <a:t>Data Flow</a:t>
            </a:r>
            <a:r>
              <a:rPr lang="zh-CN" sz="1350" b="1">
                <a:solidFill>
                  <a:srgbClr val="0F1423"/>
                </a:solidFill>
                <a:latin typeface="Microsoft YaHei"/>
                <a:ea typeface="Microsoft YaHei"/>
              </a:rPr>
              <a:t>）</a:t>
            </a:r>
            <a:endParaRPr/>
          </a:p>
        </p:txBody>
      </p:sp>
      <p:sp>
        <p:nvSpPr>
          <p:cNvPr id="685" name="" descr="{&quot;isTemplate&quot;:true,&quot;type&quot;:&quot;text&quot;}"/>
          <p:cNvSpPr txBox="1"/>
          <p:nvPr/>
        </p:nvSpPr>
        <p:spPr>
          <a:xfrm rot="0" flipH="0" flipV="0">
            <a:off x="838200" y="3533775"/>
            <a:ext cx="5600700" cy="247650"/>
          </a:xfrm>
          <a:prstGeom prst="rect"/>
        </p:spPr>
        <p:txBody>
          <a:bodyPr wrap="none" lIns="0" tIns="0" rIns="0" bIns="0"/>
          <a:p>
            <a:pPr>
              <a:lnSpc>
                <a:spcPct val="150000"/>
              </a:lnSpc>
            </a:pPr>
            <a:r>
              <a:rPr lang="zh-CN" sz="1050">
                <a:solidFill>
                  <a:srgbClr val="3A4050"/>
                </a:solidFill>
                <a:latin typeface="Microsoft YaHei"/>
                <a:ea typeface="Microsoft YaHei"/>
              </a:rPr>
              <a:t>端到端描述数据的来龙去脉：起源于哪里、在哪里存储和使用、在不同流程和系统间如何转化。</a:t>
            </a:r>
            <a:endParaRPr/>
          </a:p>
        </p:txBody>
      </p:sp>
      <p:sp>
        <p:nvSpPr>
          <p:cNvPr id="686" name=""/>
          <p:cNvSpPr/>
          <p:nvPr/>
        </p:nvSpPr>
        <p:spPr>
          <a:xfrm rot="0" flipH="0" flipV="0">
            <a:off x="838200" y="3876675"/>
            <a:ext cx="876300" cy="238125"/>
          </a:xfrm>
          <a:prstGeom prst="roundRect">
            <a:avLst>
              <a:gd name="adj" fmla="val 12000"/>
            </a:avLst>
          </a:prstGeom>
          <a:solidFill>
            <a:srgbClr val="FA4F24">
              <a:alpha val="10000"/>
            </a:srgbClr>
          </a:solidFill>
          <a:ln/>
        </p:spPr>
        <p:txBody>
          <a:bodyPr/>
          <a:p>
            <a:pPr/>
            <a:endParaRPr/>
          </a:p>
        </p:txBody>
      </p:sp>
      <p:sp>
        <p:nvSpPr>
          <p:cNvPr id="687" name="" descr="{&quot;isTemplate&quot;:true,&quot;type&quot;:&quot;text&quot;}"/>
          <p:cNvSpPr txBox="1"/>
          <p:nvPr/>
        </p:nvSpPr>
        <p:spPr>
          <a:xfrm rot="0" flipH="0" flipV="0">
            <a:off x="933450" y="3924300"/>
            <a:ext cx="685800" cy="142875"/>
          </a:xfrm>
          <a:prstGeom prst="rect"/>
        </p:spPr>
        <p:txBody>
          <a:bodyPr wrap="none" lIns="0" tIns="0" rIns="0" bIns="0"/>
          <a:p>
            <a:pPr>
              <a:lnSpc>
                <a:spcPct val="100000"/>
              </a:lnSpc>
            </a:pPr>
            <a:r>
              <a:rPr lang="zh-CN" sz="900" b="1">
                <a:solidFill>
                  <a:srgbClr val="C43A17"/>
                </a:solidFill>
                <a:latin typeface="Microsoft YaHei"/>
                <a:ea typeface="Microsoft YaHei"/>
              </a:rPr>
              <a:t>数据怎么流转</a:t>
            </a:r>
            <a:endParaRPr/>
          </a:p>
        </p:txBody>
      </p:sp>
      <p:sp>
        <p:nvSpPr>
          <p:cNvPr id="688" name=""/>
          <p:cNvSpPr/>
          <p:nvPr/>
        </p:nvSpPr>
        <p:spPr>
          <a:xfrm rot="0" flipH="0" flipV="0">
            <a:off x="609600" y="4448175"/>
            <a:ext cx="6019800" cy="1133475"/>
          </a:xfrm>
          <a:prstGeom prst="roundRect">
            <a:avLst>
              <a:gd name="adj" fmla="val 3361"/>
            </a:avLst>
          </a:prstGeom>
          <a:gradFill>
            <a:gsLst>
              <a:gs pos="0">
                <a:srgbClr val="FA4F24"/>
              </a:gs>
              <a:gs pos="100000">
                <a:srgbClr val="F87D2F"/>
              </a:gs>
            </a:gsLst>
            <a:lin ang="4200000" scaled="1"/>
          </a:gradFill>
          <a:ln/>
        </p:spPr>
        <p:txBody>
          <a:bodyPr/>
          <a:p>
            <a:pPr/>
            <a:endParaRPr/>
          </a:p>
        </p:txBody>
      </p:sp>
      <p:sp>
        <p:nvSpPr>
          <p:cNvPr id="689" name="" descr="{&quot;isTemplate&quot;:true,&quot;type&quot;:&quot;text&quot;}"/>
          <p:cNvSpPr txBox="1"/>
          <p:nvPr/>
        </p:nvSpPr>
        <p:spPr>
          <a:xfrm rot="0" flipH="0" flipV="0">
            <a:off x="800100" y="4667250"/>
            <a:ext cx="5638800" cy="171450"/>
          </a:xfrm>
          <a:prstGeom prst="rect"/>
        </p:spPr>
        <p:txBody>
          <a:bodyPr wrap="none" lIns="0" tIns="0" rIns="0" bIns="0"/>
          <a:p>
            <a:pPr>
              <a:lnSpc>
                <a:spcPct val="100000"/>
              </a:lnSpc>
            </a:pPr>
            <a:r>
              <a:rPr lang="en-US" sz="1125" b="1">
                <a:solidFill>
                  <a:srgbClr val="FFFFFF"/>
                </a:solidFill>
                <a:latin typeface="Microsoft YaHei"/>
                <a:ea typeface="Microsoft YaHei"/>
              </a:rPr>
              <a:t xml:space="preserve">★ </a:t>
            </a:r>
            <a:r>
              <a:rPr lang="zh-CN" sz="1125" b="1">
                <a:solidFill>
                  <a:srgbClr val="FFFFFF"/>
                </a:solidFill>
                <a:latin typeface="Microsoft YaHei"/>
                <a:ea typeface="Microsoft YaHei"/>
              </a:rPr>
              <a:t>为什么分布是动态组件</a:t>
            </a:r>
            <a:endParaRPr/>
          </a:p>
        </p:txBody>
      </p:sp>
      <p:sp>
        <p:nvSpPr>
          <p:cNvPr id="690" name="" descr="{&quot;isTemplate&quot;:true,&quot;type&quot;:&quot;text&quot;}"/>
          <p:cNvSpPr txBox="1"/>
          <p:nvPr/>
        </p:nvSpPr>
        <p:spPr>
          <a:xfrm rot="0" flipH="0" flipV="0">
            <a:off x="800100" y="4914900"/>
            <a:ext cx="5638800" cy="447675"/>
          </a:xfrm>
          <a:prstGeom prst="rect"/>
        </p:spPr>
        <p:txBody>
          <a:bodyPr wrap="square" lIns="0" tIns="0" rIns="0" bIns="0">
            <a:normAutofit/>
          </a:bodyPr>
          <a:p>
            <a:pPr>
              <a:lnSpc>
                <a:spcPct val="150000"/>
              </a:lnSpc>
            </a:pPr>
            <a:r>
              <a:rPr lang="zh-CN" sz="975">
                <a:solidFill>
                  <a:srgbClr val="FFFFFF">
                    <a:alpha val="95000"/>
                  </a:srgbClr>
                </a:solidFill>
                <a:latin typeface="Microsoft YaHei"/>
                <a:ea typeface="Microsoft YaHei"/>
              </a:rPr>
              <a:t>目录、标准、模型建完基本稳定，但数据流会随系统改造而变化。</a:t>
            </a:r>
            <a:r>
              <a:rPr lang="en-US" sz="975">
                <a:solidFill>
                  <a:srgbClr val="FFFFFF">
                    <a:alpha val="95000"/>
                  </a:srgbClr>
                </a:solidFill>
                <a:latin typeface="Microsoft YaHei"/>
                <a:ea typeface="Microsoft YaHei"/>
              </a:rPr>
              <a:t xml:space="preserve"> </a:t>
            </a:r>
            <a:r>
              <a:rPr lang="zh-CN" sz="975">
                <a:solidFill>
                  <a:srgbClr val="FFFFFF">
                    <a:alpha val="95000"/>
                  </a:srgbClr>
                </a:solidFill>
                <a:latin typeface="Microsoft YaHei"/>
                <a:ea typeface="Microsoft YaHei"/>
              </a:rPr>
              <a:t>所以分布必须</a:t>
            </a:r>
            <a:r>
              <a:rPr lang="zh-CN" sz="975">
                <a:solidFill>
                  <a:srgbClr val="FFFFFF">
                    <a:alpha val="95000"/>
                  </a:srgbClr>
                </a:solidFill>
                <a:latin typeface="Microsoft YaHei"/>
                <a:ea typeface="Microsoft YaHei"/>
              </a:rPr>
              <a:t>定期复核</a:t>
            </a:r>
            <a:r>
              <a:rPr lang="zh-CN" sz="975">
                <a:solidFill>
                  <a:srgbClr val="FFFFFF">
                    <a:alpha val="95000"/>
                  </a:srgbClr>
                </a:solidFill>
                <a:latin typeface="Microsoft YaHei"/>
                <a:ea typeface="Microsoft YaHei"/>
              </a:rPr>
              <a:t>，否则架构会随时间腐化。</a:t>
            </a:r>
            <a:endParaRPr/>
          </a:p>
        </p:txBody>
      </p:sp>
      <p:sp>
        <p:nvSpPr>
          <p:cNvPr id="691" name="" descr="{&quot;isTemplate&quot;:true,&quot;type&quot;:&quot;text&quot;}"/>
          <p:cNvSpPr txBox="1"/>
          <p:nvPr/>
        </p:nvSpPr>
        <p:spPr>
          <a:xfrm rot="0" flipH="0" flipV="0">
            <a:off x="6819900" y="1362075"/>
            <a:ext cx="4762500" cy="228600"/>
          </a:xfrm>
          <a:prstGeom prst="rect"/>
        </p:spPr>
        <p:txBody>
          <a:bodyPr wrap="none" lIns="0" tIns="0" rIns="0" bIns="0"/>
          <a:p>
            <a:pPr>
              <a:lnSpc>
                <a:spcPct val="100000"/>
              </a:lnSpc>
            </a:pPr>
            <a:r>
              <a:rPr lang="zh-CN" sz="1500" b="1">
                <a:solidFill>
                  <a:srgbClr val="0F1423"/>
                </a:solidFill>
                <a:latin typeface="Microsoft YaHei"/>
                <a:ea typeface="Microsoft YaHei"/>
              </a:rPr>
              <a:t>三份交付物</a:t>
            </a:r>
            <a:endParaRPr/>
          </a:p>
        </p:txBody>
      </p:sp>
      <p:sp>
        <p:nvSpPr>
          <p:cNvPr id="692" name=""/>
          <p:cNvSpPr/>
          <p:nvPr/>
        </p:nvSpPr>
        <p:spPr>
          <a:xfrm rot="0" flipH="0" flipV="0">
            <a:off x="6819900" y="1752600"/>
            <a:ext cx="4762500" cy="1209675"/>
          </a:xfrm>
          <a:prstGeom prst="roundRect">
            <a:avLst>
              <a:gd name="adj" fmla="val 3150"/>
            </a:avLst>
          </a:prstGeom>
          <a:solidFill>
            <a:srgbClr val="F7F7F8"/>
          </a:solidFill>
          <a:ln/>
        </p:spPr>
        <p:txBody>
          <a:bodyPr/>
          <a:p>
            <a:pPr/>
            <a:endParaRPr/>
          </a:p>
        </p:txBody>
      </p:sp>
      <p:sp>
        <p:nvSpPr>
          <p:cNvPr id="693" name=""/>
          <p:cNvSpPr/>
          <p:nvPr/>
        </p:nvSpPr>
        <p:spPr>
          <a:xfrm rot="0" flipH="0" flipV="0">
            <a:off x="6819900" y="1752600"/>
            <a:ext cx="4762500" cy="1209675"/>
          </a:xfrm>
          <a:custGeom>
            <a:pathLst>
              <a:path w="500" h="127">
                <a:moveTo>
                  <a:pt x="496" y="0"/>
                </a:moveTo>
                <a:cubicBezTo>
                  <a:pt x="498" y="0"/>
                  <a:pt x="500" y="2"/>
                  <a:pt x="500" y="4"/>
                </a:cubicBezTo>
                <a:lnTo>
                  <a:pt x="0" y="4"/>
                </a:lnTo>
                <a:cubicBezTo>
                  <a:pt x="0" y="2"/>
                  <a:pt x="2" y="0"/>
                  <a:pt x="4" y="0"/>
                </a:cubicBezTo>
                <a:lnTo>
                  <a:pt x="496" y="0"/>
                </a:lnTo>
                <a:close/>
              </a:path>
            </a:pathLst>
          </a:custGeom>
          <a:solidFill>
            <a:srgbClr val="F87D2F"/>
          </a:solidFill>
          <a:ln/>
        </p:spPr>
        <p:txBody>
          <a:bodyPr/>
          <a:p>
            <a:pPr/>
            <a:endParaRPr/>
          </a:p>
        </p:txBody>
      </p:sp>
      <p:sp>
        <p:nvSpPr>
          <p:cNvPr id="694" name="" descr="{&quot;isTemplate&quot;:true,&quot;type&quot;:&quot;text&quot;}"/>
          <p:cNvSpPr txBox="1"/>
          <p:nvPr/>
        </p:nvSpPr>
        <p:spPr>
          <a:xfrm rot="0" flipH="0" flipV="0">
            <a:off x="7010400" y="1981200"/>
            <a:ext cx="4381500" cy="152400"/>
          </a:xfrm>
          <a:prstGeom prst="rect"/>
        </p:spPr>
        <p:txBody>
          <a:bodyPr wrap="none" lIns="0" tIns="0" rIns="0" bIns="0"/>
          <a:p>
            <a:pPr>
              <a:lnSpc>
                <a:spcPct val="100000"/>
              </a:lnSpc>
            </a:pPr>
            <a:r>
              <a:rPr lang="zh-CN" sz="975" b="1">
                <a:solidFill>
                  <a:srgbClr val="F87D2F"/>
                </a:solidFill>
                <a:latin typeface="Microsoft YaHei"/>
                <a:ea typeface="Microsoft YaHei"/>
              </a:rPr>
              <a:t>交付物一</a:t>
            </a:r>
            <a:endParaRPr/>
          </a:p>
        </p:txBody>
      </p:sp>
      <p:sp>
        <p:nvSpPr>
          <p:cNvPr id="695" name="" descr="{&quot;isTemplate&quot;:true,&quot;type&quot;:&quot;text&quot;}"/>
          <p:cNvSpPr txBox="1"/>
          <p:nvPr/>
        </p:nvSpPr>
        <p:spPr>
          <a:xfrm rot="0" flipH="0" flipV="0">
            <a:off x="7010400" y="2190750"/>
            <a:ext cx="4381500" cy="209550"/>
          </a:xfrm>
          <a:prstGeom prst="rect"/>
        </p:spPr>
        <p:txBody>
          <a:bodyPr wrap="none" lIns="0" tIns="0" rIns="0" bIns="0"/>
          <a:p>
            <a:pPr>
              <a:lnSpc>
                <a:spcPct val="100000"/>
              </a:lnSpc>
            </a:pPr>
            <a:r>
              <a:rPr lang="zh-CN" sz="1350" b="1">
                <a:solidFill>
                  <a:srgbClr val="0F1423"/>
                </a:solidFill>
                <a:latin typeface="Microsoft YaHei"/>
                <a:ea typeface="Microsoft YaHei"/>
              </a:rPr>
              <a:t>数据分布图</a:t>
            </a:r>
            <a:endParaRPr/>
          </a:p>
        </p:txBody>
      </p:sp>
      <p:sp>
        <p:nvSpPr>
          <p:cNvPr id="696" name="" descr="{&quot;isTemplate&quot;:true,&quot;type&quot;:&quot;text&quot;}"/>
          <p:cNvSpPr txBox="1"/>
          <p:nvPr/>
        </p:nvSpPr>
        <p:spPr>
          <a:xfrm rot="0" flipH="0" flipV="0">
            <a:off x="7010400" y="2457450"/>
            <a:ext cx="4381500" cy="238125"/>
          </a:xfrm>
          <a:prstGeom prst="rect"/>
        </p:spPr>
        <p:txBody>
          <a:bodyPr wrap="none" lIns="0" tIns="0" rIns="0" bIns="0"/>
          <a:p>
            <a:pPr>
              <a:lnSpc>
                <a:spcPct val="145000"/>
              </a:lnSpc>
            </a:pPr>
            <a:r>
              <a:rPr lang="zh-CN" sz="1050">
                <a:solidFill>
                  <a:srgbClr val="3A4050"/>
                </a:solidFill>
                <a:latin typeface="Microsoft YaHei"/>
                <a:ea typeface="Microsoft YaHei"/>
              </a:rPr>
              <a:t>标注每个业务对象的权威数据源所在系统，以及它向哪些系统分发。</a:t>
            </a:r>
            <a:endParaRPr/>
          </a:p>
        </p:txBody>
      </p:sp>
      <p:sp>
        <p:nvSpPr>
          <p:cNvPr id="697" name=""/>
          <p:cNvSpPr/>
          <p:nvPr/>
        </p:nvSpPr>
        <p:spPr>
          <a:xfrm rot="0" flipH="0" flipV="0">
            <a:off x="6819900" y="3086100"/>
            <a:ext cx="4762500" cy="1200150"/>
          </a:xfrm>
          <a:prstGeom prst="roundRect">
            <a:avLst>
              <a:gd name="adj" fmla="val 3175"/>
            </a:avLst>
          </a:prstGeom>
          <a:solidFill>
            <a:srgbClr val="F7F7F8"/>
          </a:solidFill>
          <a:ln/>
        </p:spPr>
        <p:txBody>
          <a:bodyPr/>
          <a:p>
            <a:pPr/>
            <a:endParaRPr/>
          </a:p>
        </p:txBody>
      </p:sp>
      <p:sp>
        <p:nvSpPr>
          <p:cNvPr id="698" name=""/>
          <p:cNvSpPr/>
          <p:nvPr/>
        </p:nvSpPr>
        <p:spPr>
          <a:xfrm rot="0" flipH="0" flipV="0">
            <a:off x="6819900" y="3086100"/>
            <a:ext cx="4762500" cy="1200150"/>
          </a:xfrm>
          <a:custGeom>
            <a:pathLst>
              <a:path w="500" h="126">
                <a:moveTo>
                  <a:pt x="496" y="0"/>
                </a:moveTo>
                <a:cubicBezTo>
                  <a:pt x="498" y="0"/>
                  <a:pt x="500" y="2"/>
                  <a:pt x="500" y="4"/>
                </a:cubicBezTo>
                <a:lnTo>
                  <a:pt x="0" y="4"/>
                </a:lnTo>
                <a:cubicBezTo>
                  <a:pt x="0" y="2"/>
                  <a:pt x="2" y="0"/>
                  <a:pt x="4" y="0"/>
                </a:cubicBezTo>
                <a:lnTo>
                  <a:pt x="496" y="0"/>
                </a:lnTo>
                <a:close/>
              </a:path>
            </a:pathLst>
          </a:custGeom>
          <a:solidFill>
            <a:srgbClr val="F87D2F"/>
          </a:solidFill>
          <a:ln/>
        </p:spPr>
        <p:txBody>
          <a:bodyPr/>
          <a:p>
            <a:pPr/>
            <a:endParaRPr/>
          </a:p>
        </p:txBody>
      </p:sp>
      <p:sp>
        <p:nvSpPr>
          <p:cNvPr id="699" name="" descr="{&quot;isTemplate&quot;:true,&quot;type&quot;:&quot;text&quot;}"/>
          <p:cNvSpPr txBox="1"/>
          <p:nvPr/>
        </p:nvSpPr>
        <p:spPr>
          <a:xfrm rot="0" flipH="0" flipV="0">
            <a:off x="7010400" y="3314700"/>
            <a:ext cx="4381500" cy="152400"/>
          </a:xfrm>
          <a:prstGeom prst="rect"/>
        </p:spPr>
        <p:txBody>
          <a:bodyPr wrap="none" lIns="0" tIns="0" rIns="0" bIns="0"/>
          <a:p>
            <a:pPr>
              <a:lnSpc>
                <a:spcPct val="100000"/>
              </a:lnSpc>
            </a:pPr>
            <a:r>
              <a:rPr lang="zh-CN" sz="975" b="1">
                <a:solidFill>
                  <a:srgbClr val="F87D2F"/>
                </a:solidFill>
                <a:latin typeface="Microsoft YaHei"/>
                <a:ea typeface="Microsoft YaHei"/>
              </a:rPr>
              <a:t>交付物二</a:t>
            </a:r>
            <a:endParaRPr/>
          </a:p>
        </p:txBody>
      </p:sp>
      <p:sp>
        <p:nvSpPr>
          <p:cNvPr id="700" name="" descr="{&quot;isTemplate&quot;:true,&quot;type&quot;:&quot;text&quot;}"/>
          <p:cNvSpPr txBox="1"/>
          <p:nvPr/>
        </p:nvSpPr>
        <p:spPr>
          <a:xfrm rot="0" flipH="0" flipV="0">
            <a:off x="7010400" y="3524250"/>
            <a:ext cx="4381500" cy="209550"/>
          </a:xfrm>
          <a:prstGeom prst="rect"/>
        </p:spPr>
        <p:txBody>
          <a:bodyPr wrap="none" lIns="0" tIns="0" rIns="0" bIns="0"/>
          <a:p>
            <a:pPr>
              <a:lnSpc>
                <a:spcPct val="100000"/>
              </a:lnSpc>
            </a:pPr>
            <a:r>
              <a:rPr lang="zh-CN" sz="1350" b="1">
                <a:solidFill>
                  <a:srgbClr val="0F1423"/>
                </a:solidFill>
                <a:latin typeface="Microsoft YaHei"/>
                <a:ea typeface="Microsoft YaHei"/>
              </a:rPr>
              <a:t>数据源清单</a:t>
            </a:r>
            <a:endParaRPr/>
          </a:p>
        </p:txBody>
      </p:sp>
      <p:sp>
        <p:nvSpPr>
          <p:cNvPr id="701" name="" descr="{&quot;isTemplate&quot;:true,&quot;type&quot;:&quot;text&quot;}"/>
          <p:cNvSpPr txBox="1"/>
          <p:nvPr/>
        </p:nvSpPr>
        <p:spPr>
          <a:xfrm rot="0" flipH="0" flipV="0">
            <a:off x="7010400" y="3790950"/>
            <a:ext cx="4381500" cy="238125"/>
          </a:xfrm>
          <a:prstGeom prst="rect"/>
        </p:spPr>
        <p:txBody>
          <a:bodyPr wrap="none" lIns="0" tIns="0" rIns="0" bIns="0"/>
          <a:p>
            <a:pPr>
              <a:lnSpc>
                <a:spcPct val="145000"/>
              </a:lnSpc>
            </a:pPr>
            <a:r>
              <a:rPr lang="zh-CN" sz="1050">
                <a:solidFill>
                  <a:srgbClr val="3A4050"/>
                </a:solidFill>
                <a:latin typeface="Microsoft YaHei"/>
                <a:ea typeface="Microsoft YaHei"/>
              </a:rPr>
              <a:t>逐条登记权威源的系统名、责任部门、认证状态、生效范围。</a:t>
            </a:r>
            <a:endParaRPr/>
          </a:p>
        </p:txBody>
      </p:sp>
      <p:sp>
        <p:nvSpPr>
          <p:cNvPr id="702" name=""/>
          <p:cNvSpPr/>
          <p:nvPr/>
        </p:nvSpPr>
        <p:spPr>
          <a:xfrm rot="0" flipH="0" flipV="0">
            <a:off x="6819900" y="4410075"/>
            <a:ext cx="4762500" cy="1209675"/>
          </a:xfrm>
          <a:prstGeom prst="roundRect">
            <a:avLst>
              <a:gd name="adj" fmla="val 3150"/>
            </a:avLst>
          </a:prstGeom>
          <a:solidFill>
            <a:srgbClr val="F7F7F8"/>
          </a:solidFill>
          <a:ln/>
        </p:spPr>
        <p:txBody>
          <a:bodyPr/>
          <a:p>
            <a:pPr/>
            <a:endParaRPr/>
          </a:p>
        </p:txBody>
      </p:sp>
      <p:sp>
        <p:nvSpPr>
          <p:cNvPr id="703" name=""/>
          <p:cNvSpPr/>
          <p:nvPr/>
        </p:nvSpPr>
        <p:spPr>
          <a:xfrm rot="0" flipH="0" flipV="0">
            <a:off x="6819900" y="4410075"/>
            <a:ext cx="4762500" cy="1209675"/>
          </a:xfrm>
          <a:custGeom>
            <a:pathLst>
              <a:path w="500" h="127">
                <a:moveTo>
                  <a:pt x="496" y="0"/>
                </a:moveTo>
                <a:cubicBezTo>
                  <a:pt x="498" y="0"/>
                  <a:pt x="500" y="2"/>
                  <a:pt x="500" y="4"/>
                </a:cubicBezTo>
                <a:lnTo>
                  <a:pt x="0" y="4"/>
                </a:lnTo>
                <a:cubicBezTo>
                  <a:pt x="0" y="2"/>
                  <a:pt x="2" y="0"/>
                  <a:pt x="4" y="0"/>
                </a:cubicBezTo>
                <a:lnTo>
                  <a:pt x="496" y="0"/>
                </a:lnTo>
                <a:close/>
              </a:path>
            </a:pathLst>
          </a:custGeom>
          <a:solidFill>
            <a:srgbClr val="F87D2F"/>
          </a:solidFill>
          <a:ln/>
        </p:spPr>
        <p:txBody>
          <a:bodyPr/>
          <a:p>
            <a:pPr/>
            <a:endParaRPr/>
          </a:p>
        </p:txBody>
      </p:sp>
      <p:sp>
        <p:nvSpPr>
          <p:cNvPr id="704" name="" descr="{&quot;isTemplate&quot;:true,&quot;type&quot;:&quot;text&quot;}"/>
          <p:cNvSpPr txBox="1"/>
          <p:nvPr/>
        </p:nvSpPr>
        <p:spPr>
          <a:xfrm rot="0" flipH="0" flipV="0">
            <a:off x="7010400" y="4638675"/>
            <a:ext cx="4381500" cy="152400"/>
          </a:xfrm>
          <a:prstGeom prst="rect"/>
        </p:spPr>
        <p:txBody>
          <a:bodyPr wrap="none" lIns="0" tIns="0" rIns="0" bIns="0"/>
          <a:p>
            <a:pPr>
              <a:lnSpc>
                <a:spcPct val="100000"/>
              </a:lnSpc>
            </a:pPr>
            <a:r>
              <a:rPr lang="zh-CN" sz="975" b="1">
                <a:solidFill>
                  <a:srgbClr val="F87D2F"/>
                </a:solidFill>
                <a:latin typeface="Microsoft YaHei"/>
                <a:ea typeface="Microsoft YaHei"/>
              </a:rPr>
              <a:t>交付物三</a:t>
            </a:r>
            <a:endParaRPr/>
          </a:p>
        </p:txBody>
      </p:sp>
      <p:sp>
        <p:nvSpPr>
          <p:cNvPr id="705" name="" descr="{&quot;isTemplate&quot;:true,&quot;type&quot;:&quot;text&quot;}"/>
          <p:cNvSpPr txBox="1"/>
          <p:nvPr/>
        </p:nvSpPr>
        <p:spPr>
          <a:xfrm rot="0" flipH="0" flipV="0">
            <a:off x="7010400" y="4848225"/>
            <a:ext cx="4381500" cy="209550"/>
          </a:xfrm>
          <a:prstGeom prst="rect"/>
        </p:spPr>
        <p:txBody>
          <a:bodyPr wrap="none" lIns="0" tIns="0" rIns="0" bIns="0"/>
          <a:p>
            <a:pPr>
              <a:lnSpc>
                <a:spcPct val="100000"/>
              </a:lnSpc>
            </a:pPr>
            <a:r>
              <a:rPr lang="en-US" sz="1350" b="1">
                <a:solidFill>
                  <a:srgbClr val="0F1423"/>
                </a:solidFill>
                <a:latin typeface="Microsoft YaHei"/>
                <a:ea typeface="Microsoft YaHei"/>
              </a:rPr>
              <a:t xml:space="preserve">CRUD </a:t>
            </a:r>
            <a:r>
              <a:rPr lang="zh-CN" sz="1350" b="1">
                <a:solidFill>
                  <a:srgbClr val="0F1423"/>
                </a:solidFill>
                <a:latin typeface="Microsoft YaHei"/>
                <a:ea typeface="Microsoft YaHei"/>
              </a:rPr>
              <a:t>矩阵</a:t>
            </a:r>
            <a:endParaRPr/>
          </a:p>
        </p:txBody>
      </p:sp>
      <p:sp>
        <p:nvSpPr>
          <p:cNvPr id="706" name="" descr="{&quot;isTemplate&quot;:true,&quot;type&quot;:&quot;text&quot;}"/>
          <p:cNvSpPr txBox="1"/>
          <p:nvPr/>
        </p:nvSpPr>
        <p:spPr>
          <a:xfrm rot="0" flipH="0" flipV="0">
            <a:off x="7010400" y="5114925"/>
            <a:ext cx="4381500" cy="238125"/>
          </a:xfrm>
          <a:prstGeom prst="rect"/>
        </p:spPr>
        <p:txBody>
          <a:bodyPr wrap="none" lIns="0" tIns="0" rIns="0" bIns="0"/>
          <a:p>
            <a:pPr>
              <a:lnSpc>
                <a:spcPct val="145000"/>
              </a:lnSpc>
            </a:pPr>
            <a:r>
              <a:rPr lang="zh-CN" sz="1050">
                <a:solidFill>
                  <a:srgbClr val="3A4050"/>
                </a:solidFill>
                <a:latin typeface="Microsoft YaHei"/>
                <a:ea typeface="Microsoft YaHei"/>
              </a:rPr>
              <a:t>记录每个对象在各系统的操作权限，作为治理与稽核的证据。</a:t>
            </a:r>
            <a:endParaRPr/>
          </a:p>
        </p:txBody>
      </p:sp>
      <p:sp>
        <p:nvSpPr>
          <p:cNvPr id="707" name=""/>
          <p:cNvSpPr/>
          <p:nvPr/>
        </p:nvSpPr>
        <p:spPr>
          <a:xfrm rot="0" flipH="0" flipV="0">
            <a:off x="609600" y="5943600"/>
            <a:ext cx="133350" cy="133350"/>
          </a:xfrm>
          <a:prstGeom prst="rect">
            <a:avLst/>
          </a:prstGeom>
          <a:solidFill>
            <a:srgbClr val="FA4F24"/>
          </a:solidFill>
          <a:ln/>
        </p:spPr>
        <p:txBody>
          <a:bodyPr/>
          <a:p>
            <a:pPr/>
            <a:endParaRPr/>
          </a:p>
        </p:txBody>
      </p:sp>
      <p:sp>
        <p:nvSpPr>
          <p:cNvPr id="708"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709"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26 / 30</a:t>
            </a:r>
            <a:endParaRPr/>
          </a:p>
        </p:txBody>
      </p:sp>
    </p:spTree>
  </p:cSld>
</p:sld>
</file>

<file path=ppt/slides/slide27.xml><?xml version="1.0" encoding="utf-8"?>
<p:sld xmlns:p="http://schemas.openxmlformats.org/presentationml/2006/main" xmlns:a="http://schemas.openxmlformats.org/drawingml/2006/main">
  <p:cSld>
    <p:spTree>
      <p:nvGrpSpPr>
        <p:cNvPr id="710" name=""/>
        <p:cNvGrpSpPr/>
        <p:nvPr/>
      </p:nvGrpSpPr>
      <p:grpSpPr>
        <a:xfrm>
          <a:off x="0" y="0"/>
          <a:ext cx="0" cy="0"/>
          <a:chOff x="0" y="0"/>
          <a:chExt cx="0" cy="0"/>
        </a:xfrm>
      </p:grpSpPr>
      <p:sp>
        <p:nvSpPr>
          <p:cNvPr id="711" name=""/>
          <p:cNvSpPr/>
          <p:nvPr/>
        </p:nvSpPr>
        <p:spPr>
          <a:xfrm rot="0" flipH="0" flipV="0">
            <a:off x="0" y="0"/>
            <a:ext cx="12192000" cy="6858000"/>
          </a:xfrm>
          <a:prstGeom prst="rect">
            <a:avLst/>
          </a:prstGeom>
          <a:solidFill>
            <a:srgbClr val="FFFFFF"/>
          </a:solidFill>
          <a:ln/>
        </p:spPr>
        <p:txBody>
          <a:bodyPr/>
          <a:p>
            <a:pPr/>
            <a:endParaRPr/>
          </a:p>
        </p:txBody>
      </p:sp>
      <p:sp>
        <p:nvSpPr>
          <p:cNvPr id="712"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之模板：</a:t>
            </a:r>
            <a:r>
              <a:rPr lang="en-US" sz="2400" b="1">
                <a:solidFill>
                  <a:srgbClr val="0F1423"/>
                </a:solidFill>
                <a:latin typeface="Microsoft YaHei"/>
                <a:ea typeface="Microsoft YaHei"/>
              </a:rPr>
              <a:t xml:space="preserve">CRUD </a:t>
            </a:r>
            <a:r>
              <a:rPr lang="zh-CN" sz="2400" b="1">
                <a:solidFill>
                  <a:srgbClr val="0F1423"/>
                </a:solidFill>
                <a:latin typeface="Microsoft YaHei"/>
                <a:ea typeface="Microsoft YaHei"/>
              </a:rPr>
              <a:t>矩阵的价值在于</a:t>
            </a:r>
            <a:r>
              <a:rPr lang="zh-CN" sz="2400" b="1">
                <a:solidFill>
                  <a:srgbClr val="FA4F24"/>
                </a:solidFill>
                <a:latin typeface="Microsoft YaHei"/>
                <a:ea typeface="Microsoft YaHei"/>
              </a:rPr>
              <a:t>发现多个「</a:t>
            </a:r>
            <a:r>
              <a:rPr lang="en-US" sz="2400" b="1">
                <a:solidFill>
                  <a:srgbClr val="FA4F24"/>
                </a:solidFill>
                <a:latin typeface="Microsoft YaHei"/>
                <a:ea typeface="Microsoft YaHei"/>
              </a:rPr>
              <a:t>C</a:t>
            </a:r>
            <a:r>
              <a:rPr lang="zh-CN" sz="2400" b="1">
                <a:solidFill>
                  <a:srgbClr val="FA4F24"/>
                </a:solidFill>
                <a:latin typeface="Microsoft YaHei"/>
                <a:ea typeface="Microsoft YaHei"/>
              </a:rPr>
              <a:t>」</a:t>
            </a:r>
            <a:endParaRPr/>
          </a:p>
        </p:txBody>
      </p:sp>
      <p:sp>
        <p:nvSpPr>
          <p:cNvPr id="713"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矩阵不是用来交差的，是用来暴露矛盾的</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每个「多个</a:t>
            </a:r>
            <a:r>
              <a:rPr lang="en-US" sz="1500">
                <a:solidFill>
                  <a:srgbClr val="8A8F99"/>
                </a:solidFill>
                <a:latin typeface="Microsoft YaHei"/>
                <a:ea typeface="Microsoft YaHei"/>
              </a:rPr>
              <a:t xml:space="preserve"> C</a:t>
            </a:r>
            <a:r>
              <a:rPr lang="zh-CN" sz="1500">
                <a:solidFill>
                  <a:srgbClr val="8A8F99"/>
                </a:solidFill>
                <a:latin typeface="Microsoft YaHei"/>
                <a:ea typeface="Microsoft YaHei"/>
              </a:rPr>
              <a:t>」都是下一个要开会的议题</a:t>
            </a:r>
            <a:endParaRPr/>
          </a:p>
        </p:txBody>
      </p:sp>
      <p:sp>
        <p:nvSpPr>
          <p:cNvPr id="714" name=""/>
          <p:cNvSpPr/>
          <p:nvPr/>
        </p:nvSpPr>
        <p:spPr>
          <a:xfrm rot="0" flipH="0" flipV="0">
            <a:off x="609600" y="1143000"/>
            <a:ext cx="10972800" cy="9525"/>
          </a:xfrm>
          <a:prstGeom prst="rect">
            <a:avLst/>
          </a:prstGeom>
          <a:solidFill>
            <a:srgbClr val="E8E8E8"/>
          </a:solidFill>
          <a:ln/>
        </p:spPr>
        <p:txBody>
          <a:bodyPr/>
          <a:p>
            <a:pPr/>
            <a:endParaRPr/>
          </a:p>
        </p:txBody>
      </p:sp>
      <p:sp>
        <p:nvSpPr>
          <p:cNvPr id="715" name=""/>
          <p:cNvSpPr/>
          <p:nvPr/>
        </p:nvSpPr>
        <p:spPr>
          <a:xfrm rot="0" flipH="0" flipV="0">
            <a:off x="609600" y="1400175"/>
            <a:ext cx="5410200" cy="2152650"/>
          </a:xfrm>
          <a:prstGeom prst="roundRect">
            <a:avLst>
              <a:gd name="adj" fmla="val 1770"/>
            </a:avLst>
          </a:prstGeom>
          <a:solidFill>
            <a:srgbClr val="F7F7F8"/>
          </a:solidFill>
          <a:ln/>
        </p:spPr>
        <p:txBody>
          <a:bodyPr/>
          <a:p>
            <a:pPr/>
            <a:endParaRPr/>
          </a:p>
        </p:txBody>
      </p:sp>
      <p:sp>
        <p:nvSpPr>
          <p:cNvPr id="716" name=""/>
          <p:cNvSpPr/>
          <p:nvPr/>
        </p:nvSpPr>
        <p:spPr>
          <a:xfrm rot="0" flipH="0" flipV="0">
            <a:off x="609600" y="1400175"/>
            <a:ext cx="5410200" cy="2152650"/>
          </a:xfrm>
          <a:custGeom>
            <a:pathLst>
              <a:path w="568" h="226">
                <a:moveTo>
                  <a:pt x="564" y="0"/>
                </a:moveTo>
                <a:cubicBezTo>
                  <a:pt x="566" y="0"/>
                  <a:pt x="568" y="2"/>
                  <a:pt x="568" y="4"/>
                </a:cubicBezTo>
                <a:lnTo>
                  <a:pt x="0" y="4"/>
                </a:lnTo>
                <a:cubicBezTo>
                  <a:pt x="0" y="2"/>
                  <a:pt x="2" y="0"/>
                  <a:pt x="4" y="0"/>
                </a:cubicBezTo>
                <a:lnTo>
                  <a:pt x="564" y="0"/>
                </a:lnTo>
                <a:close/>
              </a:path>
            </a:pathLst>
          </a:custGeom>
          <a:solidFill>
            <a:srgbClr val="FA4F24"/>
          </a:solidFill>
          <a:ln/>
        </p:spPr>
        <p:txBody>
          <a:bodyPr/>
          <a:p>
            <a:pPr/>
            <a:endParaRPr/>
          </a:p>
        </p:txBody>
      </p:sp>
      <p:sp>
        <p:nvSpPr>
          <p:cNvPr id="717" name="" descr="{&quot;isTemplate&quot;:true,&quot;type&quot;:&quot;text&quot;}"/>
          <p:cNvSpPr txBox="1"/>
          <p:nvPr/>
        </p:nvSpPr>
        <p:spPr>
          <a:xfrm rot="0" flipH="0" flipV="0">
            <a:off x="819150" y="1600200"/>
            <a:ext cx="266700" cy="161925"/>
          </a:xfrm>
          <a:prstGeom prst="rect"/>
        </p:spPr>
        <p:txBody>
          <a:bodyPr wrap="none" lIns="0" tIns="0" rIns="0" bIns="0"/>
          <a:p>
            <a:pPr>
              <a:lnSpc>
                <a:spcPct val="100000"/>
              </a:lnSpc>
            </a:pPr>
            <a:r>
              <a:rPr lang="zh-CN" sz="1050" b="1">
                <a:solidFill>
                  <a:srgbClr val="FA4F24"/>
                </a:solidFill>
                <a:latin typeface="Microsoft YaHei"/>
                <a:ea typeface="Microsoft YaHei"/>
              </a:rPr>
              <a:t>现状</a:t>
            </a:r>
            <a:endParaRPr/>
          </a:p>
        </p:txBody>
      </p:sp>
      <p:sp>
        <p:nvSpPr>
          <p:cNvPr id="718" name=""/>
          <p:cNvSpPr/>
          <p:nvPr/>
        </p:nvSpPr>
        <p:spPr>
          <a:xfrm rot="0" flipH="0" flipV="0">
            <a:off x="5191125" y="1571625"/>
            <a:ext cx="619125" cy="219075"/>
          </a:xfrm>
          <a:prstGeom prst="roundRect">
            <a:avLst>
              <a:gd name="adj" fmla="val 13043"/>
            </a:avLst>
          </a:prstGeom>
          <a:solidFill>
            <a:srgbClr val="FA4F24">
              <a:alpha val="12000"/>
            </a:srgbClr>
          </a:solidFill>
          <a:ln/>
        </p:spPr>
        <p:txBody>
          <a:bodyPr/>
          <a:p>
            <a:pPr/>
            <a:endParaRPr/>
          </a:p>
        </p:txBody>
      </p:sp>
      <p:sp>
        <p:nvSpPr>
          <p:cNvPr id="719" name="" descr="{&quot;isTemplate&quot;:true,&quot;type&quot;:&quot;text&quot;}"/>
          <p:cNvSpPr txBox="1"/>
          <p:nvPr/>
        </p:nvSpPr>
        <p:spPr>
          <a:xfrm rot="0" flipH="0" flipV="0">
            <a:off x="5286375" y="1609725"/>
            <a:ext cx="428625" cy="142875"/>
          </a:xfrm>
          <a:prstGeom prst="rect"/>
        </p:spPr>
        <p:txBody>
          <a:bodyPr wrap="none" lIns="0" tIns="0" rIns="0" bIns="0"/>
          <a:p>
            <a:pPr>
              <a:lnSpc>
                <a:spcPct val="100000"/>
              </a:lnSpc>
            </a:pPr>
            <a:r>
              <a:rPr lang="en-US" sz="900" b="1">
                <a:solidFill>
                  <a:srgbClr val="C43A17"/>
                </a:solidFill>
                <a:latin typeface="Microsoft YaHei"/>
                <a:ea typeface="Microsoft YaHei"/>
              </a:rPr>
              <a:t xml:space="preserve">❌ </a:t>
            </a:r>
            <a:r>
              <a:rPr lang="zh-CN" sz="900" b="1">
                <a:solidFill>
                  <a:srgbClr val="C43A17"/>
                </a:solidFill>
                <a:latin typeface="Microsoft YaHei"/>
                <a:ea typeface="Microsoft YaHei"/>
              </a:rPr>
              <a:t>异常</a:t>
            </a:r>
            <a:endParaRPr/>
          </a:p>
        </p:txBody>
      </p:sp>
      <p:sp>
        <p:nvSpPr>
          <p:cNvPr id="720" name="" descr="{&quot;isTemplate&quot;:true,&quot;type&quot;:&quot;text&quot;}"/>
          <p:cNvSpPr txBox="1"/>
          <p:nvPr/>
        </p:nvSpPr>
        <p:spPr>
          <a:xfrm rot="0" flipH="0" flipV="0">
            <a:off x="819150" y="1885950"/>
            <a:ext cx="4991100" cy="219075"/>
          </a:xfrm>
          <a:prstGeom prst="rect"/>
        </p:spPr>
        <p:txBody>
          <a:bodyPr wrap="none" lIns="0" tIns="0" rIns="0" bIns="0"/>
          <a:p>
            <a:pPr>
              <a:lnSpc>
                <a:spcPct val="100000"/>
              </a:lnSpc>
            </a:pPr>
            <a:r>
              <a:rPr lang="zh-CN" sz="1425" b="1">
                <a:solidFill>
                  <a:srgbClr val="0F1423"/>
                </a:solidFill>
                <a:latin typeface="Microsoft YaHei"/>
                <a:ea typeface="Microsoft YaHei"/>
              </a:rPr>
              <a:t>「客户」出现两个</a:t>
            </a:r>
            <a:r>
              <a:rPr lang="en-US" sz="1425" b="1">
                <a:solidFill>
                  <a:srgbClr val="0F1423"/>
                </a:solidFill>
                <a:latin typeface="Microsoft YaHei"/>
                <a:ea typeface="Microsoft YaHei"/>
              </a:rPr>
              <a:t xml:space="preserve"> C</a:t>
            </a:r>
            <a:endParaRPr/>
          </a:p>
        </p:txBody>
      </p:sp>
      <p:sp>
        <p:nvSpPr>
          <p:cNvPr id="721" name="" descr="{&quot;isTemplate&quot;:true,&quot;type&quot;:&quot;text&quot;}"/>
          <p:cNvSpPr txBox="1"/>
          <p:nvPr/>
        </p:nvSpPr>
        <p:spPr>
          <a:xfrm rot="0" flipH="0" flipV="0">
            <a:off x="819150" y="2200275"/>
            <a:ext cx="4991100" cy="1143000"/>
          </a:xfrm>
          <a:prstGeom prst="rect"/>
        </p:spPr>
        <p:txBody>
          <a:bodyPr wrap="square" lIns="0" tIns="0" rIns="0" bIns="0">
            <a:normAutofit/>
          </a:bodyPr>
          <a:p>
            <a:pPr>
              <a:lnSpc>
                <a:spcPct val="155000"/>
              </a:lnSpc>
            </a:pPr>
            <a:r>
              <a:rPr lang="en-US" sz="1125">
                <a:solidFill>
                  <a:srgbClr val="3A4050"/>
                </a:solidFill>
                <a:latin typeface="Microsoft YaHei"/>
                <a:ea typeface="Microsoft YaHei"/>
              </a:rPr>
              <a:t xml:space="preserve">ERP </a:t>
            </a:r>
            <a:r>
              <a:rPr lang="zh-CN" sz="1125">
                <a:solidFill>
                  <a:srgbClr val="3A4050"/>
                </a:solidFill>
                <a:latin typeface="Microsoft YaHei"/>
                <a:ea typeface="Microsoft YaHei"/>
              </a:rPr>
              <a:t>与</a:t>
            </a:r>
            <a:r>
              <a:rPr lang="en-US" sz="1125">
                <a:solidFill>
                  <a:srgbClr val="3A4050"/>
                </a:solidFill>
                <a:latin typeface="Microsoft YaHei"/>
                <a:ea typeface="Microsoft YaHei"/>
              </a:rPr>
              <a:t xml:space="preserve"> CRM </a:t>
            </a:r>
            <a:r>
              <a:rPr lang="zh-CN" sz="1125">
                <a:solidFill>
                  <a:srgbClr val="3A4050"/>
                </a:solidFill>
                <a:latin typeface="Microsoft YaHei"/>
                <a:ea typeface="Microsoft YaHei"/>
              </a:rPr>
              <a:t>都能创建客户记录</a:t>
            </a:r>
            <a:r>
              <a:rPr lang="en-US" sz="1125">
                <a:solidFill>
                  <a:srgbClr val="3A4050"/>
                </a:solidFill>
                <a:latin typeface="Microsoft YaHei"/>
                <a:ea typeface="Microsoft YaHei"/>
              </a:rPr>
              <a:t xml:space="preserve"> —— </a:t>
            </a:r>
            <a:r>
              <a:rPr lang="zh-CN" sz="1125">
                <a:solidFill>
                  <a:srgbClr val="3A4050"/>
                </a:solidFill>
                <a:latin typeface="Microsoft YaHei"/>
                <a:ea typeface="Microsoft YaHei"/>
              </a:rPr>
              <a:t>谁都以为自己是权威源，结果两边数据越差越远。开会时各部门各拿一份数据，谁也不认谁。</a:t>
            </a:r>
            <a:endParaRPr/>
          </a:p>
        </p:txBody>
      </p:sp>
      <p:sp>
        <p:nvSpPr>
          <p:cNvPr id="722" name=""/>
          <p:cNvSpPr/>
          <p:nvPr/>
        </p:nvSpPr>
        <p:spPr>
          <a:xfrm rot="0" flipH="0" flipV="0">
            <a:off x="6172200" y="1400175"/>
            <a:ext cx="5410200" cy="2152650"/>
          </a:xfrm>
          <a:prstGeom prst="roundRect">
            <a:avLst>
              <a:gd name="adj" fmla="val 1770"/>
            </a:avLst>
          </a:prstGeom>
          <a:solidFill>
            <a:srgbClr val="F7F7F8"/>
          </a:solidFill>
          <a:ln/>
        </p:spPr>
        <p:txBody>
          <a:bodyPr/>
          <a:p>
            <a:pPr/>
            <a:endParaRPr/>
          </a:p>
        </p:txBody>
      </p:sp>
      <p:sp>
        <p:nvSpPr>
          <p:cNvPr id="723" name=""/>
          <p:cNvSpPr/>
          <p:nvPr/>
        </p:nvSpPr>
        <p:spPr>
          <a:xfrm rot="0" flipH="0" flipV="0">
            <a:off x="6172200" y="1400175"/>
            <a:ext cx="5410200" cy="2152650"/>
          </a:xfrm>
          <a:custGeom>
            <a:pathLst>
              <a:path w="568" h="226">
                <a:moveTo>
                  <a:pt x="564" y="0"/>
                </a:moveTo>
                <a:cubicBezTo>
                  <a:pt x="566" y="0"/>
                  <a:pt x="568" y="2"/>
                  <a:pt x="568" y="4"/>
                </a:cubicBezTo>
                <a:lnTo>
                  <a:pt x="0" y="4"/>
                </a:lnTo>
                <a:cubicBezTo>
                  <a:pt x="0" y="2"/>
                  <a:pt x="2" y="0"/>
                  <a:pt x="4" y="0"/>
                </a:cubicBezTo>
                <a:lnTo>
                  <a:pt x="564" y="0"/>
                </a:lnTo>
                <a:close/>
              </a:path>
            </a:pathLst>
          </a:custGeom>
          <a:solidFill>
            <a:srgbClr val="5A9E4E"/>
          </a:solidFill>
          <a:ln/>
        </p:spPr>
        <p:txBody>
          <a:bodyPr/>
          <a:p>
            <a:pPr/>
            <a:endParaRPr/>
          </a:p>
        </p:txBody>
      </p:sp>
      <p:sp>
        <p:nvSpPr>
          <p:cNvPr id="724" name="" descr="{&quot;isTemplate&quot;:true,&quot;type&quot;:&quot;text&quot;}"/>
          <p:cNvSpPr txBox="1"/>
          <p:nvPr/>
        </p:nvSpPr>
        <p:spPr>
          <a:xfrm rot="0" flipH="0" flipV="0">
            <a:off x="6381750" y="1600200"/>
            <a:ext cx="266700" cy="161925"/>
          </a:xfrm>
          <a:prstGeom prst="rect"/>
        </p:spPr>
        <p:txBody>
          <a:bodyPr wrap="none" lIns="0" tIns="0" rIns="0" bIns="0"/>
          <a:p>
            <a:pPr>
              <a:lnSpc>
                <a:spcPct val="100000"/>
              </a:lnSpc>
            </a:pPr>
            <a:r>
              <a:rPr lang="zh-CN" sz="1050" b="1">
                <a:solidFill>
                  <a:srgbClr val="5A9E4E"/>
                </a:solidFill>
                <a:latin typeface="Microsoft YaHei"/>
                <a:ea typeface="Microsoft YaHei"/>
              </a:rPr>
              <a:t>治理</a:t>
            </a:r>
            <a:endParaRPr/>
          </a:p>
        </p:txBody>
      </p:sp>
      <p:sp>
        <p:nvSpPr>
          <p:cNvPr id="725" name=""/>
          <p:cNvSpPr/>
          <p:nvPr/>
        </p:nvSpPr>
        <p:spPr>
          <a:xfrm rot="0" flipH="0" flipV="0">
            <a:off x="10801350" y="1571625"/>
            <a:ext cx="571500" cy="219075"/>
          </a:xfrm>
          <a:prstGeom prst="roundRect">
            <a:avLst>
              <a:gd name="adj" fmla="val 13043"/>
            </a:avLst>
          </a:prstGeom>
          <a:solidFill>
            <a:srgbClr val="5A9E4E">
              <a:alpha val="12000"/>
            </a:srgbClr>
          </a:solidFill>
          <a:ln/>
        </p:spPr>
        <p:txBody>
          <a:bodyPr/>
          <a:p>
            <a:pPr/>
            <a:endParaRPr/>
          </a:p>
        </p:txBody>
      </p:sp>
      <p:sp>
        <p:nvSpPr>
          <p:cNvPr id="726" name="" descr="{&quot;isTemplate&quot;:true,&quot;type&quot;:&quot;text&quot;}"/>
          <p:cNvSpPr txBox="1"/>
          <p:nvPr/>
        </p:nvSpPr>
        <p:spPr>
          <a:xfrm rot="0" flipH="0" flipV="0">
            <a:off x="10896600" y="1609725"/>
            <a:ext cx="381000" cy="142875"/>
          </a:xfrm>
          <a:prstGeom prst="rect"/>
        </p:spPr>
        <p:txBody>
          <a:bodyPr wrap="none" lIns="0" tIns="0" rIns="0" bIns="0"/>
          <a:p>
            <a:pPr>
              <a:lnSpc>
                <a:spcPct val="100000"/>
              </a:lnSpc>
            </a:pPr>
            <a:r>
              <a:rPr lang="en-US" sz="900" b="1">
                <a:solidFill>
                  <a:srgbClr val="3F7A36"/>
                </a:solidFill>
                <a:latin typeface="Microsoft YaHei"/>
                <a:ea typeface="Microsoft YaHei"/>
              </a:rPr>
              <a:t xml:space="preserve">✓ </a:t>
            </a:r>
            <a:r>
              <a:rPr lang="zh-CN" sz="900" b="1">
                <a:solidFill>
                  <a:srgbClr val="3F7A36"/>
                </a:solidFill>
                <a:latin typeface="Microsoft YaHei"/>
                <a:ea typeface="Microsoft YaHei"/>
              </a:rPr>
              <a:t>达标</a:t>
            </a:r>
            <a:endParaRPr/>
          </a:p>
        </p:txBody>
      </p:sp>
      <p:sp>
        <p:nvSpPr>
          <p:cNvPr id="727" name="" descr="{&quot;isTemplate&quot;:true,&quot;type&quot;:&quot;text&quot;}"/>
          <p:cNvSpPr txBox="1"/>
          <p:nvPr/>
        </p:nvSpPr>
        <p:spPr>
          <a:xfrm rot="0" flipH="0" flipV="0">
            <a:off x="6381750" y="1885950"/>
            <a:ext cx="4991100" cy="219075"/>
          </a:xfrm>
          <a:prstGeom prst="rect"/>
        </p:spPr>
        <p:txBody>
          <a:bodyPr wrap="none" lIns="0" tIns="0" rIns="0" bIns="0"/>
          <a:p>
            <a:pPr>
              <a:lnSpc>
                <a:spcPct val="100000"/>
              </a:lnSpc>
            </a:pPr>
            <a:r>
              <a:rPr lang="zh-CN" sz="1425" b="1">
                <a:solidFill>
                  <a:srgbClr val="0F1423"/>
                </a:solidFill>
                <a:latin typeface="Microsoft YaHei"/>
                <a:ea typeface="Microsoft YaHei"/>
              </a:rPr>
              <a:t>收敛到唯一创建方</a:t>
            </a:r>
            <a:endParaRPr/>
          </a:p>
        </p:txBody>
      </p:sp>
      <p:sp>
        <p:nvSpPr>
          <p:cNvPr id="728" name="" descr="{&quot;isTemplate&quot;:true,&quot;type&quot;:&quot;text&quot;}"/>
          <p:cNvSpPr txBox="1"/>
          <p:nvPr/>
        </p:nvSpPr>
        <p:spPr>
          <a:xfrm rot="0" flipH="0" flipV="0">
            <a:off x="6381750" y="2200275"/>
            <a:ext cx="4991100" cy="11430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经数据管理组织认证，指定</a:t>
            </a:r>
            <a:r>
              <a:rPr lang="en-US" sz="1125">
                <a:solidFill>
                  <a:srgbClr val="3A4050"/>
                </a:solidFill>
                <a:latin typeface="Microsoft YaHei"/>
                <a:ea typeface="Microsoft YaHei"/>
              </a:rPr>
              <a:t xml:space="preserve"> ERP </a:t>
            </a:r>
            <a:r>
              <a:rPr lang="zh-CN" sz="1125">
                <a:solidFill>
                  <a:srgbClr val="3A4050"/>
                </a:solidFill>
                <a:latin typeface="Microsoft YaHei"/>
                <a:ea typeface="Microsoft YaHei"/>
              </a:rPr>
              <a:t>为客户主数据唯一权威源，</a:t>
            </a:r>
            <a:r>
              <a:rPr lang="en-US" sz="1125">
                <a:solidFill>
                  <a:srgbClr val="3A4050"/>
                </a:solidFill>
                <a:latin typeface="Microsoft YaHei"/>
                <a:ea typeface="Microsoft YaHei"/>
              </a:rPr>
              <a:t xml:space="preserve">CRM </a:t>
            </a:r>
            <a:r>
              <a:rPr lang="zh-CN" sz="1125">
                <a:solidFill>
                  <a:srgbClr val="3A4050"/>
                </a:solidFill>
                <a:latin typeface="Microsoft YaHei"/>
                <a:ea typeface="Microsoft YaHei"/>
              </a:rPr>
              <a:t>降为读取方。历史数据一次性清洗对齐。</a:t>
            </a:r>
            <a:endParaRPr/>
          </a:p>
        </p:txBody>
      </p:sp>
      <p:sp>
        <p:nvSpPr>
          <p:cNvPr id="729" name=""/>
          <p:cNvSpPr/>
          <p:nvPr/>
        </p:nvSpPr>
        <p:spPr>
          <a:xfrm rot="0" flipH="0" flipV="0">
            <a:off x="609600" y="3657600"/>
            <a:ext cx="10972800" cy="1000125"/>
          </a:xfrm>
          <a:prstGeom prst="roundRect">
            <a:avLst>
              <a:gd name="adj" fmla="val 3810"/>
            </a:avLst>
          </a:prstGeom>
          <a:solidFill>
            <a:srgbClr val="F7F7F8"/>
          </a:solidFill>
          <a:ln/>
        </p:spPr>
        <p:txBody>
          <a:bodyPr/>
          <a:p>
            <a:pPr/>
            <a:endParaRPr/>
          </a:p>
        </p:txBody>
      </p:sp>
      <p:sp>
        <p:nvSpPr>
          <p:cNvPr id="730" name="" descr="{&quot;isTemplate&quot;:true,&quot;type&quot;:&quot;text&quot;}"/>
          <p:cNvSpPr txBox="1"/>
          <p:nvPr/>
        </p:nvSpPr>
        <p:spPr>
          <a:xfrm rot="0" flipH="0" flipV="0">
            <a:off x="819150" y="3810000"/>
            <a:ext cx="10553700" cy="209550"/>
          </a:xfrm>
          <a:prstGeom prst="rect"/>
        </p:spPr>
        <p:txBody>
          <a:bodyPr wrap="none" lIns="0" tIns="0" rIns="0" bIns="0"/>
          <a:p>
            <a:pPr>
              <a:lnSpc>
                <a:spcPct val="100000"/>
              </a:lnSpc>
            </a:pPr>
            <a:r>
              <a:rPr lang="zh-CN" sz="1350" b="1">
                <a:solidFill>
                  <a:srgbClr val="0F1423"/>
                </a:solidFill>
                <a:latin typeface="Microsoft YaHei"/>
                <a:ea typeface="Microsoft YaHei"/>
              </a:rPr>
              <a:t>矩阵判定规则</a:t>
            </a:r>
            <a:endParaRPr/>
          </a:p>
        </p:txBody>
      </p:sp>
      <p:sp>
        <p:nvSpPr>
          <p:cNvPr id="731" name=""/>
          <p:cNvSpPr/>
          <p:nvPr/>
        </p:nvSpPr>
        <p:spPr>
          <a:xfrm rot="0" flipH="0" flipV="0">
            <a:off x="819150" y="4133850"/>
            <a:ext cx="3419475" cy="371475"/>
          </a:xfrm>
          <a:prstGeom prst="roundRect">
            <a:avLst>
              <a:gd name="adj" fmla="val 7692"/>
            </a:avLst>
          </a:prstGeom>
          <a:solidFill>
            <a:srgbClr val="FFFFFF"/>
          </a:solidFill>
          <a:ln/>
        </p:spPr>
        <p:txBody>
          <a:bodyPr/>
          <a:p>
            <a:pPr/>
            <a:endParaRPr/>
          </a:p>
        </p:txBody>
      </p:sp>
      <p:sp>
        <p:nvSpPr>
          <p:cNvPr id="732" name="" descr="{&quot;isTemplate&quot;:true,&quot;type&quot;:&quot;text&quot;}"/>
          <p:cNvSpPr txBox="1"/>
          <p:nvPr/>
        </p:nvSpPr>
        <p:spPr>
          <a:xfrm rot="0" flipH="0" flipV="0">
            <a:off x="952500" y="4238625"/>
            <a:ext cx="1228725" cy="161925"/>
          </a:xfrm>
          <a:prstGeom prst="rect"/>
        </p:spPr>
        <p:txBody>
          <a:bodyPr wrap="none" lIns="0" tIns="0" rIns="0" bIns="0"/>
          <a:p>
            <a:pPr>
              <a:lnSpc>
                <a:spcPct val="100000"/>
              </a:lnSpc>
            </a:pPr>
            <a:r>
              <a:rPr lang="zh-CN" sz="1050" b="1">
                <a:solidFill>
                  <a:srgbClr val="5A9E4E"/>
                </a:solidFill>
                <a:latin typeface="Microsoft YaHei"/>
                <a:ea typeface="Microsoft YaHei"/>
              </a:rPr>
              <a:t>每行有且仅有</a:t>
            </a:r>
            <a:r>
              <a:rPr lang="en-US" sz="1050" b="1">
                <a:solidFill>
                  <a:srgbClr val="5A9E4E"/>
                </a:solidFill>
                <a:latin typeface="Microsoft YaHei"/>
                <a:ea typeface="Microsoft YaHei"/>
              </a:rPr>
              <a:t xml:space="preserve"> 1 </a:t>
            </a:r>
            <a:r>
              <a:rPr lang="zh-CN" sz="1050" b="1">
                <a:solidFill>
                  <a:srgbClr val="5A9E4E"/>
                </a:solidFill>
                <a:latin typeface="Microsoft YaHei"/>
                <a:ea typeface="Microsoft YaHei"/>
              </a:rPr>
              <a:t>个</a:t>
            </a:r>
            <a:r>
              <a:rPr lang="en-US" sz="1050" b="1">
                <a:solidFill>
                  <a:srgbClr val="5A9E4E"/>
                </a:solidFill>
                <a:latin typeface="Microsoft YaHei"/>
                <a:ea typeface="Microsoft YaHei"/>
              </a:rPr>
              <a:t xml:space="preserve"> C</a:t>
            </a:r>
            <a:endParaRPr/>
          </a:p>
        </p:txBody>
      </p:sp>
      <p:sp>
        <p:nvSpPr>
          <p:cNvPr id="733" name="" descr="{&quot;isTemplate&quot;:true,&quot;type&quot;:&quot;text&quot;}"/>
          <p:cNvSpPr txBox="1"/>
          <p:nvPr/>
        </p:nvSpPr>
        <p:spPr>
          <a:xfrm rot="0" flipH="0" flipV="0">
            <a:off x="3324225" y="4248150"/>
            <a:ext cx="781050" cy="152400"/>
          </a:xfrm>
          <a:prstGeom prst="rect"/>
        </p:spPr>
        <p:txBody>
          <a:bodyPr wrap="none" lIns="0" tIns="0" rIns="0" bIns="0"/>
          <a:p>
            <a:pPr>
              <a:lnSpc>
                <a:spcPct val="100000"/>
              </a:lnSpc>
            </a:pPr>
            <a:r>
              <a:rPr lang="en-US" sz="975">
                <a:solidFill>
                  <a:srgbClr val="5A6070"/>
                </a:solidFill>
                <a:latin typeface="Microsoft YaHei"/>
                <a:ea typeface="Microsoft YaHei"/>
              </a:rPr>
              <a:t xml:space="preserve">✔ </a:t>
            </a:r>
            <a:r>
              <a:rPr lang="zh-CN" sz="975">
                <a:solidFill>
                  <a:srgbClr val="5A6070"/>
                </a:solidFill>
                <a:latin typeface="Microsoft YaHei"/>
                <a:ea typeface="Microsoft YaHei"/>
              </a:rPr>
              <a:t>权威源清晰</a:t>
            </a:r>
            <a:endParaRPr/>
          </a:p>
        </p:txBody>
      </p:sp>
      <p:sp>
        <p:nvSpPr>
          <p:cNvPr id="734" name=""/>
          <p:cNvSpPr/>
          <p:nvPr/>
        </p:nvSpPr>
        <p:spPr>
          <a:xfrm rot="0" flipH="0" flipV="0">
            <a:off x="4391025" y="4133850"/>
            <a:ext cx="3409950" cy="371475"/>
          </a:xfrm>
          <a:prstGeom prst="roundRect">
            <a:avLst>
              <a:gd name="adj" fmla="val 7692"/>
            </a:avLst>
          </a:prstGeom>
          <a:solidFill>
            <a:srgbClr val="FFFFFF"/>
          </a:solidFill>
          <a:ln/>
        </p:spPr>
        <p:txBody>
          <a:bodyPr/>
          <a:p>
            <a:pPr/>
            <a:endParaRPr/>
          </a:p>
        </p:txBody>
      </p:sp>
      <p:sp>
        <p:nvSpPr>
          <p:cNvPr id="735" name="" descr="{&quot;isTemplate&quot;:true,&quot;type&quot;:&quot;text&quot;}"/>
          <p:cNvSpPr txBox="1"/>
          <p:nvPr/>
        </p:nvSpPr>
        <p:spPr>
          <a:xfrm rot="0" flipH="0" flipV="0">
            <a:off x="4524375" y="4238625"/>
            <a:ext cx="1066800" cy="161925"/>
          </a:xfrm>
          <a:prstGeom prst="rect"/>
        </p:spPr>
        <p:txBody>
          <a:bodyPr wrap="none" lIns="0" tIns="0" rIns="0" bIns="0"/>
          <a:p>
            <a:pPr>
              <a:lnSpc>
                <a:spcPct val="100000"/>
              </a:lnSpc>
            </a:pPr>
            <a:r>
              <a:rPr lang="zh-CN" sz="1050" b="1">
                <a:solidFill>
                  <a:srgbClr val="FA4F24"/>
                </a:solidFill>
                <a:latin typeface="Microsoft YaHei"/>
                <a:ea typeface="Microsoft YaHei"/>
              </a:rPr>
              <a:t>每行出现</a:t>
            </a:r>
            <a:r>
              <a:rPr lang="en-US" sz="1050" b="1">
                <a:solidFill>
                  <a:srgbClr val="FA4F24"/>
                </a:solidFill>
                <a:latin typeface="Microsoft YaHei"/>
                <a:ea typeface="Microsoft YaHei"/>
              </a:rPr>
              <a:t xml:space="preserve"> ≥2 </a:t>
            </a:r>
            <a:r>
              <a:rPr lang="zh-CN" sz="1050" b="1">
                <a:solidFill>
                  <a:srgbClr val="FA4F24"/>
                </a:solidFill>
                <a:latin typeface="Microsoft YaHei"/>
                <a:ea typeface="Microsoft YaHei"/>
              </a:rPr>
              <a:t>个</a:t>
            </a:r>
            <a:r>
              <a:rPr lang="en-US" sz="1050" b="1">
                <a:solidFill>
                  <a:srgbClr val="FA4F24"/>
                </a:solidFill>
                <a:latin typeface="Microsoft YaHei"/>
                <a:ea typeface="Microsoft YaHei"/>
              </a:rPr>
              <a:t xml:space="preserve"> C</a:t>
            </a:r>
            <a:endParaRPr/>
          </a:p>
        </p:txBody>
      </p:sp>
      <p:sp>
        <p:nvSpPr>
          <p:cNvPr id="736" name="" descr="{&quot;isTemplate&quot;:true,&quot;type&quot;:&quot;text&quot;}"/>
          <p:cNvSpPr txBox="1"/>
          <p:nvPr/>
        </p:nvSpPr>
        <p:spPr>
          <a:xfrm rot="0" flipH="0" flipV="0">
            <a:off x="6391275" y="4248150"/>
            <a:ext cx="1276350" cy="152400"/>
          </a:xfrm>
          <a:prstGeom prst="rect"/>
        </p:spPr>
        <p:txBody>
          <a:bodyPr wrap="none" lIns="0" tIns="0" rIns="0" bIns="0"/>
          <a:p>
            <a:pPr>
              <a:lnSpc>
                <a:spcPct val="100000"/>
              </a:lnSpc>
            </a:pPr>
            <a:r>
              <a:rPr lang="en-US" sz="975">
                <a:solidFill>
                  <a:srgbClr val="5A6070"/>
                </a:solidFill>
                <a:latin typeface="Microsoft YaHei"/>
                <a:ea typeface="Microsoft YaHei"/>
              </a:rPr>
              <a:t xml:space="preserve">✘ </a:t>
            </a:r>
            <a:r>
              <a:rPr lang="zh-CN" sz="975">
                <a:solidFill>
                  <a:srgbClr val="5A6070"/>
                </a:solidFill>
                <a:latin typeface="Microsoft YaHei"/>
                <a:ea typeface="Microsoft YaHei"/>
              </a:rPr>
              <a:t>须治理到唯一创建方</a:t>
            </a:r>
            <a:endParaRPr/>
          </a:p>
        </p:txBody>
      </p:sp>
      <p:sp>
        <p:nvSpPr>
          <p:cNvPr id="737" name=""/>
          <p:cNvSpPr/>
          <p:nvPr/>
        </p:nvSpPr>
        <p:spPr>
          <a:xfrm rot="0" flipH="0" flipV="0">
            <a:off x="7953375" y="4133850"/>
            <a:ext cx="3419475" cy="371475"/>
          </a:xfrm>
          <a:prstGeom prst="roundRect">
            <a:avLst>
              <a:gd name="adj" fmla="val 7692"/>
            </a:avLst>
          </a:prstGeom>
          <a:solidFill>
            <a:srgbClr val="FFFFFF"/>
          </a:solidFill>
          <a:ln/>
        </p:spPr>
        <p:txBody>
          <a:bodyPr/>
          <a:p>
            <a:pPr/>
            <a:endParaRPr/>
          </a:p>
        </p:txBody>
      </p:sp>
      <p:sp>
        <p:nvSpPr>
          <p:cNvPr id="738" name="" descr="{&quot;isTemplate&quot;:true,&quot;type&quot;:&quot;text&quot;}"/>
          <p:cNvSpPr txBox="1"/>
          <p:nvPr/>
        </p:nvSpPr>
        <p:spPr>
          <a:xfrm rot="0" flipH="0" flipV="0">
            <a:off x="8086725" y="4238625"/>
            <a:ext cx="933450" cy="161925"/>
          </a:xfrm>
          <a:prstGeom prst="rect"/>
        </p:spPr>
        <p:txBody>
          <a:bodyPr wrap="none" lIns="0" tIns="0" rIns="0" bIns="0"/>
          <a:p>
            <a:pPr>
              <a:lnSpc>
                <a:spcPct val="100000"/>
              </a:lnSpc>
            </a:pPr>
            <a:r>
              <a:rPr lang="zh-CN" sz="1050" b="1">
                <a:solidFill>
                  <a:srgbClr val="FA4F24"/>
                </a:solidFill>
                <a:latin typeface="Microsoft YaHei"/>
                <a:ea typeface="Microsoft YaHei"/>
              </a:rPr>
              <a:t>某对象无任何</a:t>
            </a:r>
            <a:r>
              <a:rPr lang="en-US" sz="1050" b="1">
                <a:solidFill>
                  <a:srgbClr val="FA4F24"/>
                </a:solidFill>
                <a:latin typeface="Microsoft YaHei"/>
                <a:ea typeface="Microsoft YaHei"/>
              </a:rPr>
              <a:t xml:space="preserve"> C</a:t>
            </a:r>
            <a:endParaRPr/>
          </a:p>
        </p:txBody>
      </p:sp>
      <p:sp>
        <p:nvSpPr>
          <p:cNvPr id="739" name="" descr="{&quot;isTemplate&quot;:true,&quot;type&quot;:&quot;text&quot;}"/>
          <p:cNvSpPr txBox="1"/>
          <p:nvPr/>
        </p:nvSpPr>
        <p:spPr>
          <a:xfrm rot="0" flipH="0" flipV="0">
            <a:off x="9715500" y="4248150"/>
            <a:ext cx="1524000" cy="152400"/>
          </a:xfrm>
          <a:prstGeom prst="rect"/>
        </p:spPr>
        <p:txBody>
          <a:bodyPr wrap="none" lIns="0" tIns="0" rIns="0" bIns="0"/>
          <a:p>
            <a:pPr>
              <a:lnSpc>
                <a:spcPct val="100000"/>
              </a:lnSpc>
            </a:pPr>
            <a:r>
              <a:rPr lang="en-US" sz="975">
                <a:solidFill>
                  <a:srgbClr val="5A6070"/>
                </a:solidFill>
                <a:latin typeface="Microsoft YaHei"/>
                <a:ea typeface="Microsoft YaHei"/>
              </a:rPr>
              <a:t xml:space="preserve">✘ </a:t>
            </a:r>
            <a:r>
              <a:rPr lang="zh-CN" sz="975">
                <a:solidFill>
                  <a:srgbClr val="5A6070"/>
                </a:solidFill>
                <a:latin typeface="Microsoft YaHei"/>
                <a:ea typeface="Microsoft YaHei"/>
              </a:rPr>
              <a:t>该对象无权威源，须指定</a:t>
            </a:r>
            <a:endParaRPr/>
          </a:p>
        </p:txBody>
      </p:sp>
      <p:sp>
        <p:nvSpPr>
          <p:cNvPr id="740" name=""/>
          <p:cNvSpPr/>
          <p:nvPr/>
        </p:nvSpPr>
        <p:spPr>
          <a:xfrm rot="0" flipH="0" flipV="0">
            <a:off x="609600" y="4800600"/>
            <a:ext cx="10972800" cy="781050"/>
          </a:xfrm>
          <a:prstGeom prst="roundRect">
            <a:avLst>
              <a:gd name="adj" fmla="val 4878"/>
            </a:avLst>
          </a:prstGeom>
          <a:solidFill>
            <a:srgbClr val="FA4F24">
              <a:alpha val="6000"/>
            </a:srgbClr>
          </a:solidFill>
          <a:ln/>
        </p:spPr>
        <p:txBody>
          <a:bodyPr/>
          <a:p>
            <a:pPr/>
            <a:endParaRPr/>
          </a:p>
        </p:txBody>
      </p:sp>
      <p:sp>
        <p:nvSpPr>
          <p:cNvPr id="741" name=""/>
          <p:cNvSpPr/>
          <p:nvPr/>
        </p:nvSpPr>
        <p:spPr>
          <a:xfrm rot="0" flipH="0" flipV="0">
            <a:off x="800100" y="5029200"/>
            <a:ext cx="38100" cy="323850"/>
          </a:xfrm>
          <a:prstGeom prst="rect">
            <a:avLst/>
          </a:prstGeom>
          <a:solidFill>
            <a:srgbClr val="F87D2F"/>
          </a:solidFill>
          <a:ln/>
        </p:spPr>
        <p:txBody>
          <a:bodyPr/>
          <a:p>
            <a:pPr/>
            <a:endParaRPr/>
          </a:p>
        </p:txBody>
      </p:sp>
      <p:sp>
        <p:nvSpPr>
          <p:cNvPr id="742" name="" descr="{&quot;isTemplate&quot;:true,&quot;type&quot;:&quot;text&quot;}"/>
          <p:cNvSpPr txBox="1"/>
          <p:nvPr/>
        </p:nvSpPr>
        <p:spPr>
          <a:xfrm rot="0" flipH="0" flipV="0">
            <a:off x="971550" y="4933950"/>
            <a:ext cx="10420350" cy="514350"/>
          </a:xfrm>
          <a:prstGeom prst="rect"/>
        </p:spPr>
        <p:txBody>
          <a:bodyPr wrap="square" lIns="0" tIns="0" rIns="0" bIns="0">
            <a:normAutofit/>
          </a:bodyPr>
          <a:p>
            <a:pPr>
              <a:lnSpc>
                <a:spcPct val="150000"/>
              </a:lnSpc>
            </a:pP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关键判断：</a:t>
            </a:r>
            <a:r>
              <a:rPr lang="zh-CN" sz="1125">
                <a:solidFill>
                  <a:srgbClr val="3A4050"/>
                </a:solidFill>
                <a:latin typeface="Microsoft YaHei"/>
                <a:ea typeface="Microsoft YaHei"/>
              </a:rPr>
              <a:t>「客户」与「销售订单」均出现多个创建方，说明数据源不清晰。</a:t>
            </a: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矩阵是</a:t>
            </a:r>
            <a:r>
              <a:rPr lang="zh-CN" sz="1125">
                <a:solidFill>
                  <a:srgbClr val="3A4050"/>
                </a:solidFill>
                <a:latin typeface="Microsoft YaHei"/>
                <a:ea typeface="Microsoft YaHei"/>
              </a:rPr>
              <a:t>过程性工具</a:t>
            </a:r>
            <a:r>
              <a:rPr lang="zh-CN" sz="1125">
                <a:solidFill>
                  <a:srgbClr val="3A4050"/>
                </a:solidFill>
                <a:latin typeface="Microsoft YaHei"/>
                <a:ea typeface="Microsoft YaHei"/>
              </a:rPr>
              <a:t>，数据源才是</a:t>
            </a:r>
            <a:r>
              <a:rPr lang="zh-CN" sz="1125">
                <a:solidFill>
                  <a:srgbClr val="3A4050"/>
                </a:solidFill>
                <a:latin typeface="Microsoft YaHei"/>
                <a:ea typeface="Microsoft YaHei"/>
              </a:rPr>
              <a:t>结论性设计</a:t>
            </a:r>
            <a:r>
              <a:rPr lang="en-US" sz="1125">
                <a:solidFill>
                  <a:srgbClr val="3A4050"/>
                </a:solidFill>
                <a:latin typeface="Microsoft YaHei"/>
                <a:ea typeface="Microsoft YaHei"/>
              </a:rPr>
              <a:t xml:space="preserve"> —— </a:t>
            </a:r>
            <a:r>
              <a:rPr lang="zh-CN" sz="1125">
                <a:solidFill>
                  <a:srgbClr val="3A4050"/>
                </a:solidFill>
                <a:latin typeface="Microsoft YaHei"/>
                <a:ea typeface="Microsoft YaHei"/>
              </a:rPr>
              <a:t>先用矩阵发现问题，再用治理手段定结论。</a:t>
            </a:r>
            <a:endParaRPr/>
          </a:p>
        </p:txBody>
      </p:sp>
      <p:sp>
        <p:nvSpPr>
          <p:cNvPr id="743" name=""/>
          <p:cNvSpPr/>
          <p:nvPr/>
        </p:nvSpPr>
        <p:spPr>
          <a:xfrm rot="0" flipH="0" flipV="0">
            <a:off x="609600" y="5943600"/>
            <a:ext cx="133350" cy="133350"/>
          </a:xfrm>
          <a:prstGeom prst="rect">
            <a:avLst/>
          </a:prstGeom>
          <a:solidFill>
            <a:srgbClr val="FA4F24"/>
          </a:solidFill>
          <a:ln/>
        </p:spPr>
        <p:txBody>
          <a:bodyPr/>
          <a:p>
            <a:pPr/>
            <a:endParaRPr/>
          </a:p>
        </p:txBody>
      </p:sp>
      <p:sp>
        <p:nvSpPr>
          <p:cNvPr id="744"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745"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27 / 30</a:t>
            </a:r>
            <a:endParaRPr/>
          </a:p>
        </p:txBody>
      </p:sp>
    </p:spTree>
  </p:cSld>
</p:sld>
</file>

<file path=ppt/slides/slide28.xml><?xml version="1.0" encoding="utf-8"?>
<p:sld xmlns:p="http://schemas.openxmlformats.org/presentationml/2006/main" xmlns:a="http://schemas.openxmlformats.org/drawingml/2006/main">
  <p:cSld>
    <p:spTree>
      <p:nvGrpSpPr>
        <p:cNvPr id="746" name=""/>
        <p:cNvGrpSpPr/>
        <p:nvPr/>
      </p:nvGrpSpPr>
      <p:grpSpPr>
        <a:xfrm>
          <a:off x="0" y="0"/>
          <a:ext cx="0" cy="0"/>
          <a:chOff x="0" y="0"/>
          <a:chExt cx="0" cy="0"/>
        </a:xfrm>
      </p:grpSpPr>
      <p:sp>
        <p:nvSpPr>
          <p:cNvPr id="747" name=""/>
          <p:cNvSpPr/>
          <p:nvPr/>
        </p:nvSpPr>
        <p:spPr>
          <a:xfrm rot="0" flipH="0" flipV="0">
            <a:off x="0" y="0"/>
            <a:ext cx="12192000" cy="6858000"/>
          </a:xfrm>
          <a:prstGeom prst="rect">
            <a:avLst/>
          </a:prstGeom>
          <a:solidFill>
            <a:srgbClr val="FFFFFF"/>
          </a:solidFill>
          <a:ln/>
        </p:spPr>
        <p:txBody>
          <a:bodyPr/>
          <a:p>
            <a:pPr/>
            <a:endParaRPr/>
          </a:p>
        </p:txBody>
      </p:sp>
      <p:sp>
        <p:nvSpPr>
          <p:cNvPr id="748"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数据底座：入湖须过</a:t>
            </a:r>
            <a:r>
              <a:rPr lang="zh-CN" sz="2400" b="1">
                <a:solidFill>
                  <a:srgbClr val="FA4F24"/>
                </a:solidFill>
                <a:latin typeface="Microsoft YaHei"/>
                <a:ea typeface="Microsoft YaHei"/>
              </a:rPr>
              <a:t>六道标准</a:t>
            </a:r>
            <a:r>
              <a:rPr lang="zh-CN" sz="2400" b="1">
                <a:solidFill>
                  <a:srgbClr val="0F1423"/>
                </a:solidFill>
                <a:latin typeface="Microsoft YaHei"/>
                <a:ea typeface="Microsoft YaHei"/>
              </a:rPr>
              <a:t>，数据湖本身不加工原始数据</a:t>
            </a:r>
            <a:endParaRPr/>
          </a:p>
        </p:txBody>
      </p:sp>
      <p:sp>
        <p:nvSpPr>
          <p:cNvPr id="749"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先有信息架构这张蓝图，数据才谈得上入湖</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顺序反了，湖建好了水也是浑的</a:t>
            </a:r>
            <a:endParaRPr/>
          </a:p>
        </p:txBody>
      </p:sp>
      <p:sp>
        <p:nvSpPr>
          <p:cNvPr id="750" name=""/>
          <p:cNvSpPr/>
          <p:nvPr/>
        </p:nvSpPr>
        <p:spPr>
          <a:xfrm rot="0" flipH="0" flipV="0">
            <a:off x="609600" y="1143000"/>
            <a:ext cx="10972800" cy="9525"/>
          </a:xfrm>
          <a:prstGeom prst="rect">
            <a:avLst/>
          </a:prstGeom>
          <a:solidFill>
            <a:srgbClr val="E8E8E8"/>
          </a:solidFill>
          <a:ln/>
        </p:spPr>
        <p:txBody>
          <a:bodyPr/>
          <a:p>
            <a:pPr/>
            <a:endParaRPr/>
          </a:p>
        </p:txBody>
      </p:sp>
      <p:sp>
        <p:nvSpPr>
          <p:cNvPr id="751" name="" descr="{&quot;isTemplate&quot;:true,&quot;type&quot;:&quot;text&quot;}"/>
          <p:cNvSpPr txBox="1"/>
          <p:nvPr/>
        </p:nvSpPr>
        <p:spPr>
          <a:xfrm rot="0" flipH="0" flipV="0">
            <a:off x="609600" y="1362075"/>
            <a:ext cx="3810000" cy="219075"/>
          </a:xfrm>
          <a:prstGeom prst="rect"/>
        </p:spPr>
        <p:txBody>
          <a:bodyPr wrap="none" lIns="0" tIns="0" rIns="0" bIns="0"/>
          <a:p>
            <a:pPr>
              <a:lnSpc>
                <a:spcPct val="100000"/>
              </a:lnSpc>
            </a:pPr>
            <a:r>
              <a:rPr lang="zh-CN" sz="1425" b="1">
                <a:solidFill>
                  <a:srgbClr val="0F1423"/>
                </a:solidFill>
                <a:latin typeface="Microsoft YaHei"/>
                <a:ea typeface="Microsoft YaHei"/>
              </a:rPr>
              <a:t>华为数据湖的三个特点</a:t>
            </a:r>
            <a:endParaRPr/>
          </a:p>
        </p:txBody>
      </p:sp>
      <p:sp>
        <p:nvSpPr>
          <p:cNvPr id="752" name=""/>
          <p:cNvSpPr/>
          <p:nvPr/>
        </p:nvSpPr>
        <p:spPr>
          <a:xfrm rot="0" flipH="0" flipV="0">
            <a:off x="647700" y="1704975"/>
            <a:ext cx="3810000" cy="1209675"/>
          </a:xfrm>
          <a:prstGeom prst="roundRect">
            <a:avLst>
              <a:gd name="adj" fmla="val 3150"/>
            </a:avLst>
          </a:prstGeom>
          <a:solidFill>
            <a:srgbClr val="F7F7F8"/>
          </a:solidFill>
          <a:ln/>
        </p:spPr>
        <p:txBody>
          <a:bodyPr/>
          <a:p>
            <a:pPr/>
            <a:endParaRPr/>
          </a:p>
        </p:txBody>
      </p:sp>
      <p:sp>
        <p:nvSpPr>
          <p:cNvPr id="753" name=""/>
          <p:cNvSpPr/>
          <p:nvPr/>
        </p:nvSpPr>
        <p:spPr>
          <a:xfrm rot="0" flipH="0" flipV="0">
            <a:off x="647700" y="1704975"/>
            <a:ext cx="3810000" cy="1209675"/>
          </a:xfrm>
          <a:custGeom>
            <a:pathLst>
              <a:path w="400" h="127">
                <a:moveTo>
                  <a:pt x="4" y="127"/>
                </a:moveTo>
                <a:cubicBezTo>
                  <a:pt x="2" y="127"/>
                  <a:pt x="0" y="125"/>
                  <a:pt x="0" y="123"/>
                </a:cubicBezTo>
                <a:lnTo>
                  <a:pt x="0" y="4"/>
                </a:lnTo>
                <a:cubicBezTo>
                  <a:pt x="0" y="2"/>
                  <a:pt x="2" y="0"/>
                  <a:pt x="4" y="0"/>
                </a:cubicBezTo>
                <a:lnTo>
                  <a:pt x="4" y="127"/>
                </a:lnTo>
                <a:close/>
              </a:path>
            </a:pathLst>
          </a:custGeom>
          <a:solidFill>
            <a:srgbClr val="F87D2F"/>
          </a:solidFill>
          <a:ln/>
        </p:spPr>
        <p:txBody>
          <a:bodyPr/>
          <a:p>
            <a:pPr/>
            <a:endParaRPr/>
          </a:p>
        </p:txBody>
      </p:sp>
      <p:sp>
        <p:nvSpPr>
          <p:cNvPr id="754" name="" descr="{&quot;isTemplate&quot;:true,&quot;type&quot;:&quot;text&quot;}"/>
          <p:cNvSpPr txBox="1"/>
          <p:nvPr/>
        </p:nvSpPr>
        <p:spPr>
          <a:xfrm rot="0" flipH="0" flipV="0">
            <a:off x="838200" y="1914525"/>
            <a:ext cx="238125" cy="228600"/>
          </a:xfrm>
          <a:prstGeom prst="rect"/>
        </p:spPr>
        <p:txBody>
          <a:bodyPr wrap="none" lIns="0" tIns="0" rIns="0" bIns="0"/>
          <a:p>
            <a:pPr>
              <a:lnSpc>
                <a:spcPct val="100000"/>
              </a:lnSpc>
            </a:pPr>
            <a:r>
              <a:rPr lang="en-US" sz="1500" b="1">
                <a:solidFill>
                  <a:srgbClr val="F87D2F"/>
                </a:solidFill>
                <a:latin typeface="Microsoft YaHei"/>
                <a:ea typeface="Microsoft YaHei"/>
              </a:rPr>
              <a:t>01</a:t>
            </a:r>
            <a:endParaRPr/>
          </a:p>
        </p:txBody>
      </p:sp>
      <p:sp>
        <p:nvSpPr>
          <p:cNvPr id="755" name="" descr="{&quot;isTemplate&quot;:true,&quot;type&quot;:&quot;text&quot;}"/>
          <p:cNvSpPr txBox="1"/>
          <p:nvPr/>
        </p:nvSpPr>
        <p:spPr>
          <a:xfrm rot="0" flipH="0" flipV="0">
            <a:off x="1171575" y="1914525"/>
            <a:ext cx="685800" cy="228600"/>
          </a:xfrm>
          <a:prstGeom prst="rect"/>
        </p:spPr>
        <p:txBody>
          <a:bodyPr wrap="none" lIns="0" tIns="0" rIns="0" bIns="0"/>
          <a:p>
            <a:pPr>
              <a:lnSpc>
                <a:spcPct val="100000"/>
              </a:lnSpc>
            </a:pPr>
            <a:r>
              <a:rPr lang="zh-CN" sz="1350" b="1">
                <a:solidFill>
                  <a:srgbClr val="0F1423"/>
                </a:solidFill>
                <a:latin typeface="Microsoft YaHei"/>
                <a:ea typeface="Microsoft YaHei"/>
              </a:rPr>
              <a:t>逻辑统一</a:t>
            </a:r>
            <a:endParaRPr/>
          </a:p>
        </p:txBody>
      </p:sp>
      <p:sp>
        <p:nvSpPr>
          <p:cNvPr id="756" name="" descr="{&quot;isTemplate&quot;:true,&quot;type&quot;:&quot;text&quot;}"/>
          <p:cNvSpPr txBox="1"/>
          <p:nvPr/>
        </p:nvSpPr>
        <p:spPr>
          <a:xfrm rot="0" flipH="0" flipV="0">
            <a:off x="838200" y="2219325"/>
            <a:ext cx="3390900" cy="485775"/>
          </a:xfrm>
          <a:prstGeom prst="rect"/>
        </p:spPr>
        <p:txBody>
          <a:bodyPr wrap="square" lIns="0" tIns="0" rIns="0" bIns="0">
            <a:normAutofit/>
          </a:bodyPr>
          <a:p>
            <a:pPr>
              <a:lnSpc>
                <a:spcPct val="150000"/>
              </a:lnSpc>
            </a:pPr>
            <a:r>
              <a:rPr lang="zh-CN" sz="1050">
                <a:solidFill>
                  <a:srgbClr val="3A4050"/>
                </a:solidFill>
                <a:latin typeface="Microsoft YaHei"/>
                <a:ea typeface="Microsoft YaHei"/>
              </a:rPr>
              <a:t>不是单一物理存储，而是多种物理存储，通过统一元数据语义层定义、拉通和管理。</a:t>
            </a:r>
            <a:endParaRPr/>
          </a:p>
        </p:txBody>
      </p:sp>
      <p:sp>
        <p:nvSpPr>
          <p:cNvPr id="757" name=""/>
          <p:cNvSpPr/>
          <p:nvPr/>
        </p:nvSpPr>
        <p:spPr>
          <a:xfrm rot="0" flipH="0" flipV="0">
            <a:off x="647700" y="3038475"/>
            <a:ext cx="3810000" cy="1209675"/>
          </a:xfrm>
          <a:prstGeom prst="roundRect">
            <a:avLst>
              <a:gd name="adj" fmla="val 3150"/>
            </a:avLst>
          </a:prstGeom>
          <a:solidFill>
            <a:srgbClr val="F7F7F8"/>
          </a:solidFill>
          <a:ln/>
        </p:spPr>
        <p:txBody>
          <a:bodyPr/>
          <a:p>
            <a:pPr/>
            <a:endParaRPr/>
          </a:p>
        </p:txBody>
      </p:sp>
      <p:sp>
        <p:nvSpPr>
          <p:cNvPr id="758" name=""/>
          <p:cNvSpPr/>
          <p:nvPr/>
        </p:nvSpPr>
        <p:spPr>
          <a:xfrm rot="0" flipH="0" flipV="0">
            <a:off x="647700" y="3038475"/>
            <a:ext cx="3810000" cy="1209675"/>
          </a:xfrm>
          <a:custGeom>
            <a:pathLst>
              <a:path w="400" h="127">
                <a:moveTo>
                  <a:pt x="4" y="127"/>
                </a:moveTo>
                <a:cubicBezTo>
                  <a:pt x="2" y="127"/>
                  <a:pt x="0" y="125"/>
                  <a:pt x="0" y="123"/>
                </a:cubicBezTo>
                <a:lnTo>
                  <a:pt x="0" y="4"/>
                </a:lnTo>
                <a:cubicBezTo>
                  <a:pt x="0" y="2"/>
                  <a:pt x="2" y="0"/>
                  <a:pt x="4" y="0"/>
                </a:cubicBezTo>
                <a:lnTo>
                  <a:pt x="4" y="127"/>
                </a:lnTo>
                <a:close/>
              </a:path>
            </a:pathLst>
          </a:custGeom>
          <a:solidFill>
            <a:srgbClr val="F87D2F"/>
          </a:solidFill>
          <a:ln/>
        </p:spPr>
        <p:txBody>
          <a:bodyPr/>
          <a:p>
            <a:pPr/>
            <a:endParaRPr/>
          </a:p>
        </p:txBody>
      </p:sp>
      <p:sp>
        <p:nvSpPr>
          <p:cNvPr id="759" name="" descr="{&quot;isTemplate&quot;:true,&quot;type&quot;:&quot;text&quot;}"/>
          <p:cNvSpPr txBox="1"/>
          <p:nvPr/>
        </p:nvSpPr>
        <p:spPr>
          <a:xfrm rot="0" flipH="0" flipV="0">
            <a:off x="838200" y="3248025"/>
            <a:ext cx="238125" cy="228600"/>
          </a:xfrm>
          <a:prstGeom prst="rect"/>
        </p:spPr>
        <p:txBody>
          <a:bodyPr wrap="none" lIns="0" tIns="0" rIns="0" bIns="0"/>
          <a:p>
            <a:pPr>
              <a:lnSpc>
                <a:spcPct val="100000"/>
              </a:lnSpc>
            </a:pPr>
            <a:r>
              <a:rPr lang="en-US" sz="1500" b="1">
                <a:solidFill>
                  <a:srgbClr val="F87D2F"/>
                </a:solidFill>
                <a:latin typeface="Microsoft YaHei"/>
                <a:ea typeface="Microsoft YaHei"/>
              </a:rPr>
              <a:t>02</a:t>
            </a:r>
            <a:endParaRPr/>
          </a:p>
        </p:txBody>
      </p:sp>
      <p:sp>
        <p:nvSpPr>
          <p:cNvPr id="760" name="" descr="{&quot;isTemplate&quot;:true,&quot;type&quot;:&quot;text&quot;}"/>
          <p:cNvSpPr txBox="1"/>
          <p:nvPr/>
        </p:nvSpPr>
        <p:spPr>
          <a:xfrm rot="0" flipH="0" flipV="0">
            <a:off x="1171575" y="3248025"/>
            <a:ext cx="685800" cy="228600"/>
          </a:xfrm>
          <a:prstGeom prst="rect"/>
        </p:spPr>
        <p:txBody>
          <a:bodyPr wrap="none" lIns="0" tIns="0" rIns="0" bIns="0"/>
          <a:p>
            <a:pPr>
              <a:lnSpc>
                <a:spcPct val="100000"/>
              </a:lnSpc>
            </a:pPr>
            <a:r>
              <a:rPr lang="zh-CN" sz="1350" b="1">
                <a:solidFill>
                  <a:srgbClr val="0F1423"/>
                </a:solidFill>
                <a:latin typeface="Microsoft YaHei"/>
                <a:ea typeface="Microsoft YaHei"/>
              </a:rPr>
              <a:t>类型多样</a:t>
            </a:r>
            <a:endParaRPr/>
          </a:p>
        </p:txBody>
      </p:sp>
      <p:sp>
        <p:nvSpPr>
          <p:cNvPr id="761" name="" descr="{&quot;isTemplate&quot;:true,&quot;type&quot;:&quot;text&quot;}"/>
          <p:cNvSpPr txBox="1"/>
          <p:nvPr/>
        </p:nvSpPr>
        <p:spPr>
          <a:xfrm rot="0" flipH="0" flipV="0">
            <a:off x="838200" y="3552825"/>
            <a:ext cx="3390900" cy="485775"/>
          </a:xfrm>
          <a:prstGeom prst="rect"/>
        </p:spPr>
        <p:txBody>
          <a:bodyPr wrap="square" lIns="0" tIns="0" rIns="0" bIns="0">
            <a:normAutofit/>
          </a:bodyPr>
          <a:p>
            <a:pPr>
              <a:lnSpc>
                <a:spcPct val="150000"/>
              </a:lnSpc>
            </a:pPr>
            <a:r>
              <a:rPr lang="zh-CN" sz="1050">
                <a:solidFill>
                  <a:srgbClr val="3A4050"/>
                </a:solidFill>
                <a:latin typeface="Microsoft YaHei"/>
                <a:ea typeface="Microsoft YaHei"/>
              </a:rPr>
              <a:t>涵盖结构化数据、内部非结构化文本、传感器设备运行数据，以及外部媒体数据。</a:t>
            </a:r>
            <a:endParaRPr/>
          </a:p>
        </p:txBody>
      </p:sp>
      <p:sp>
        <p:nvSpPr>
          <p:cNvPr id="762" name=""/>
          <p:cNvSpPr/>
          <p:nvPr/>
        </p:nvSpPr>
        <p:spPr>
          <a:xfrm rot="0" flipH="0" flipV="0">
            <a:off x="647700" y="4371975"/>
            <a:ext cx="3810000" cy="1209675"/>
          </a:xfrm>
          <a:prstGeom prst="roundRect">
            <a:avLst>
              <a:gd name="adj" fmla="val 3150"/>
            </a:avLst>
          </a:prstGeom>
          <a:solidFill>
            <a:srgbClr val="F7F7F8"/>
          </a:solidFill>
          <a:ln/>
        </p:spPr>
        <p:txBody>
          <a:bodyPr/>
          <a:p>
            <a:pPr/>
            <a:endParaRPr/>
          </a:p>
        </p:txBody>
      </p:sp>
      <p:sp>
        <p:nvSpPr>
          <p:cNvPr id="763" name=""/>
          <p:cNvSpPr/>
          <p:nvPr/>
        </p:nvSpPr>
        <p:spPr>
          <a:xfrm rot="0" flipH="0" flipV="0">
            <a:off x="647700" y="4371975"/>
            <a:ext cx="3810000" cy="1209675"/>
          </a:xfrm>
          <a:custGeom>
            <a:pathLst>
              <a:path w="400" h="127">
                <a:moveTo>
                  <a:pt x="4" y="127"/>
                </a:moveTo>
                <a:cubicBezTo>
                  <a:pt x="2" y="127"/>
                  <a:pt x="0" y="125"/>
                  <a:pt x="0" y="123"/>
                </a:cubicBezTo>
                <a:lnTo>
                  <a:pt x="0" y="4"/>
                </a:lnTo>
                <a:cubicBezTo>
                  <a:pt x="0" y="2"/>
                  <a:pt x="2" y="0"/>
                  <a:pt x="4" y="0"/>
                </a:cubicBezTo>
                <a:lnTo>
                  <a:pt x="4" y="127"/>
                </a:lnTo>
                <a:close/>
              </a:path>
            </a:pathLst>
          </a:custGeom>
          <a:solidFill>
            <a:srgbClr val="F87D2F"/>
          </a:solidFill>
          <a:ln/>
        </p:spPr>
        <p:txBody>
          <a:bodyPr/>
          <a:p>
            <a:pPr/>
            <a:endParaRPr/>
          </a:p>
        </p:txBody>
      </p:sp>
      <p:sp>
        <p:nvSpPr>
          <p:cNvPr id="764" name="" descr="{&quot;isTemplate&quot;:true,&quot;type&quot;:&quot;text&quot;}"/>
          <p:cNvSpPr txBox="1"/>
          <p:nvPr/>
        </p:nvSpPr>
        <p:spPr>
          <a:xfrm rot="0" flipH="0" flipV="0">
            <a:off x="838200" y="4581525"/>
            <a:ext cx="238125" cy="228600"/>
          </a:xfrm>
          <a:prstGeom prst="rect"/>
        </p:spPr>
        <p:txBody>
          <a:bodyPr wrap="none" lIns="0" tIns="0" rIns="0" bIns="0"/>
          <a:p>
            <a:pPr>
              <a:lnSpc>
                <a:spcPct val="100000"/>
              </a:lnSpc>
            </a:pPr>
            <a:r>
              <a:rPr lang="en-US" sz="1500" b="1">
                <a:solidFill>
                  <a:srgbClr val="F87D2F"/>
                </a:solidFill>
                <a:latin typeface="Microsoft YaHei"/>
                <a:ea typeface="Microsoft YaHei"/>
              </a:rPr>
              <a:t>03</a:t>
            </a:r>
            <a:endParaRPr/>
          </a:p>
        </p:txBody>
      </p:sp>
      <p:sp>
        <p:nvSpPr>
          <p:cNvPr id="765" name="" descr="{&quot;isTemplate&quot;:true,&quot;type&quot;:&quot;text&quot;}"/>
          <p:cNvSpPr txBox="1"/>
          <p:nvPr/>
        </p:nvSpPr>
        <p:spPr>
          <a:xfrm rot="0" flipH="0" flipV="0">
            <a:off x="1171575" y="4581525"/>
            <a:ext cx="685800" cy="228600"/>
          </a:xfrm>
          <a:prstGeom prst="rect"/>
        </p:spPr>
        <p:txBody>
          <a:bodyPr wrap="none" lIns="0" tIns="0" rIns="0" bIns="0"/>
          <a:p>
            <a:pPr>
              <a:lnSpc>
                <a:spcPct val="100000"/>
              </a:lnSpc>
            </a:pPr>
            <a:r>
              <a:rPr lang="zh-CN" sz="1350" b="1">
                <a:solidFill>
                  <a:srgbClr val="0F1423"/>
                </a:solidFill>
                <a:latin typeface="Microsoft YaHei"/>
                <a:ea typeface="Microsoft YaHei"/>
              </a:rPr>
              <a:t>原始记录</a:t>
            </a:r>
            <a:endParaRPr/>
          </a:p>
        </p:txBody>
      </p:sp>
      <p:sp>
        <p:nvSpPr>
          <p:cNvPr id="766" name="" descr="{&quot;isTemplate&quot;:true,&quot;type&quot;:&quot;text&quot;}"/>
          <p:cNvSpPr txBox="1"/>
          <p:nvPr/>
        </p:nvSpPr>
        <p:spPr>
          <a:xfrm rot="0" flipH="0" flipV="0">
            <a:off x="838200" y="4886325"/>
            <a:ext cx="3390900" cy="485775"/>
          </a:xfrm>
          <a:prstGeom prst="rect"/>
        </p:spPr>
        <p:txBody>
          <a:bodyPr wrap="square" lIns="0" tIns="0" rIns="0" bIns="0">
            <a:normAutofit/>
          </a:bodyPr>
          <a:p>
            <a:pPr>
              <a:lnSpc>
                <a:spcPct val="150000"/>
              </a:lnSpc>
            </a:pPr>
            <a:r>
              <a:rPr lang="zh-CN" sz="1050">
                <a:solidFill>
                  <a:srgbClr val="3A4050"/>
                </a:solidFill>
                <a:latin typeface="Microsoft YaHei"/>
                <a:ea typeface="Microsoft YaHei"/>
              </a:rPr>
              <a:t>只汇聚原始数据，不做任何转换、清洗、加工，保留数据最原始特征。</a:t>
            </a:r>
            <a:endParaRPr/>
          </a:p>
        </p:txBody>
      </p:sp>
      <p:sp>
        <p:nvSpPr>
          <p:cNvPr id="767" name=""/>
          <p:cNvSpPr/>
          <p:nvPr/>
        </p:nvSpPr>
        <p:spPr>
          <a:xfrm rot="0" flipH="0" flipV="0">
            <a:off x="4610100" y="1362075"/>
            <a:ext cx="6972300" cy="2257425"/>
          </a:xfrm>
          <a:prstGeom prst="roundRect">
            <a:avLst>
              <a:gd name="adj" fmla="val 1688"/>
            </a:avLst>
          </a:prstGeom>
          <a:solidFill>
            <a:srgbClr val="F7F7F8"/>
          </a:solidFill>
          <a:ln/>
        </p:spPr>
        <p:txBody>
          <a:bodyPr/>
          <a:p>
            <a:pPr/>
            <a:endParaRPr/>
          </a:p>
        </p:txBody>
      </p:sp>
      <p:sp>
        <p:nvSpPr>
          <p:cNvPr id="768" name="" descr="{&quot;isTemplate&quot;:true,&quot;type&quot;:&quot;text&quot;}"/>
          <p:cNvSpPr txBox="1"/>
          <p:nvPr/>
        </p:nvSpPr>
        <p:spPr>
          <a:xfrm rot="0" flipH="0" flipV="0">
            <a:off x="4800600" y="1514475"/>
            <a:ext cx="6591300" cy="219075"/>
          </a:xfrm>
          <a:prstGeom prst="rect"/>
        </p:spPr>
        <p:txBody>
          <a:bodyPr wrap="none" lIns="0" tIns="0" rIns="0" bIns="0"/>
          <a:p>
            <a:pPr>
              <a:lnSpc>
                <a:spcPct val="100000"/>
              </a:lnSpc>
            </a:pPr>
            <a:r>
              <a:rPr lang="zh-CN" sz="1425" b="1">
                <a:solidFill>
                  <a:srgbClr val="0F1423"/>
                </a:solidFill>
                <a:latin typeface="Microsoft YaHei"/>
                <a:ea typeface="Microsoft YaHei"/>
              </a:rPr>
              <a:t>数据入湖的六项标准</a:t>
            </a:r>
            <a:endParaRPr/>
          </a:p>
        </p:txBody>
      </p:sp>
      <p:sp>
        <p:nvSpPr>
          <p:cNvPr id="769" name=""/>
          <p:cNvSpPr/>
          <p:nvPr/>
        </p:nvSpPr>
        <p:spPr>
          <a:xfrm rot="0" flipH="0" flipV="0">
            <a:off x="4800600" y="1847850"/>
            <a:ext cx="1019175" cy="1619250"/>
          </a:xfrm>
          <a:prstGeom prst="roundRect">
            <a:avLst>
              <a:gd name="adj" fmla="val 2804"/>
            </a:avLst>
          </a:prstGeom>
          <a:solidFill>
            <a:srgbClr val="FFFFFF"/>
          </a:solidFill>
          <a:ln/>
        </p:spPr>
        <p:txBody>
          <a:bodyPr/>
          <a:p>
            <a:pPr/>
            <a:endParaRPr/>
          </a:p>
        </p:txBody>
      </p:sp>
      <p:sp>
        <p:nvSpPr>
          <p:cNvPr id="770" name="" descr="{&quot;isTemplate&quot;:true,&quot;type&quot;:&quot;text&quot;}"/>
          <p:cNvSpPr txBox="1"/>
          <p:nvPr/>
        </p:nvSpPr>
        <p:spPr>
          <a:xfrm rot="0" flipH="0" flipV="0">
            <a:off x="5267325" y="235267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1</a:t>
            </a:r>
            <a:endParaRPr/>
          </a:p>
        </p:txBody>
      </p:sp>
      <p:sp>
        <p:nvSpPr>
          <p:cNvPr id="771" name="" descr="{&quot;isTemplate&quot;:true,&quot;type&quot;:&quot;text&quot;}"/>
          <p:cNvSpPr txBox="1"/>
          <p:nvPr/>
        </p:nvSpPr>
        <p:spPr>
          <a:xfrm rot="0" flipH="0" flipV="0">
            <a:off x="4991100" y="2562225"/>
            <a:ext cx="647700" cy="409575"/>
          </a:xfrm>
          <a:prstGeom prst="rect"/>
        </p:spPr>
        <p:txBody>
          <a:bodyPr wrap="none" lIns="0" tIns="0" rIns="0" bIns="0"/>
          <a:p>
            <a:pPr algn="ctr">
              <a:lnSpc>
                <a:spcPct val="135000"/>
              </a:lnSpc>
            </a:pPr>
            <a:r>
              <a:rPr lang="zh-CN" sz="975">
                <a:solidFill>
                  <a:srgbClr val="3A4050"/>
                </a:solidFill>
                <a:latin typeface="Microsoft YaHei"/>
                <a:ea typeface="Microsoft YaHei"/>
              </a:rPr>
              <a:t>明确
数据</a:t>
            </a:r>
            <a:r>
              <a:rPr lang="en-US" sz="975">
                <a:solidFill>
                  <a:srgbClr val="3A4050"/>
                </a:solidFill>
                <a:latin typeface="Microsoft YaHei"/>
                <a:ea typeface="Microsoft YaHei"/>
              </a:rPr>
              <a:t>Owner</a:t>
            </a:r>
            <a:endParaRPr/>
          </a:p>
        </p:txBody>
      </p:sp>
      <p:sp>
        <p:nvSpPr>
          <p:cNvPr id="772" name=""/>
          <p:cNvSpPr/>
          <p:nvPr/>
        </p:nvSpPr>
        <p:spPr>
          <a:xfrm rot="0" flipH="0" flipV="0">
            <a:off x="5915025" y="1847850"/>
            <a:ext cx="1019175" cy="1619250"/>
          </a:xfrm>
          <a:prstGeom prst="roundRect">
            <a:avLst>
              <a:gd name="adj" fmla="val 2804"/>
            </a:avLst>
          </a:prstGeom>
          <a:solidFill>
            <a:srgbClr val="FFFFFF"/>
          </a:solidFill>
          <a:ln/>
        </p:spPr>
        <p:txBody>
          <a:bodyPr/>
          <a:p>
            <a:pPr/>
            <a:endParaRPr/>
          </a:p>
        </p:txBody>
      </p:sp>
      <p:sp>
        <p:nvSpPr>
          <p:cNvPr id="773" name="" descr="{&quot;isTemplate&quot;:true,&quot;type&quot;:&quot;text&quot;}"/>
          <p:cNvSpPr txBox="1"/>
          <p:nvPr/>
        </p:nvSpPr>
        <p:spPr>
          <a:xfrm rot="0" flipH="0" flipV="0">
            <a:off x="6381750" y="235267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2</a:t>
            </a:r>
            <a:endParaRPr/>
          </a:p>
        </p:txBody>
      </p:sp>
      <p:sp>
        <p:nvSpPr>
          <p:cNvPr id="774" name="" descr="{&quot;isTemplate&quot;:true,&quot;type&quot;:&quot;text&quot;}"/>
          <p:cNvSpPr txBox="1"/>
          <p:nvPr/>
        </p:nvSpPr>
        <p:spPr>
          <a:xfrm rot="0" flipH="0" flipV="0">
            <a:off x="6181725" y="2562225"/>
            <a:ext cx="495300" cy="409575"/>
          </a:xfrm>
          <a:prstGeom prst="rect"/>
        </p:spPr>
        <p:txBody>
          <a:bodyPr wrap="none" lIns="0" tIns="0" rIns="0" bIns="0"/>
          <a:p>
            <a:pPr algn="ctr">
              <a:lnSpc>
                <a:spcPct val="135000"/>
              </a:lnSpc>
            </a:pPr>
            <a:r>
              <a:rPr lang="zh-CN" sz="975">
                <a:solidFill>
                  <a:srgbClr val="3A4050"/>
                </a:solidFill>
                <a:latin typeface="Microsoft YaHei"/>
                <a:ea typeface="Microsoft YaHei"/>
              </a:rPr>
              <a:t>发布
数据标准</a:t>
            </a:r>
            <a:endParaRPr/>
          </a:p>
        </p:txBody>
      </p:sp>
      <p:sp>
        <p:nvSpPr>
          <p:cNvPr id="775" name=""/>
          <p:cNvSpPr/>
          <p:nvPr/>
        </p:nvSpPr>
        <p:spPr>
          <a:xfrm rot="0" flipH="0" flipV="0">
            <a:off x="7029450" y="1847850"/>
            <a:ext cx="1019175" cy="1619250"/>
          </a:xfrm>
          <a:prstGeom prst="roundRect">
            <a:avLst>
              <a:gd name="adj" fmla="val 2804"/>
            </a:avLst>
          </a:prstGeom>
          <a:solidFill>
            <a:srgbClr val="FFFFFF"/>
          </a:solidFill>
          <a:ln/>
        </p:spPr>
        <p:txBody>
          <a:bodyPr/>
          <a:p>
            <a:pPr/>
            <a:endParaRPr/>
          </a:p>
        </p:txBody>
      </p:sp>
      <p:sp>
        <p:nvSpPr>
          <p:cNvPr id="776" name="" descr="{&quot;isTemplate&quot;:true,&quot;type&quot;:&quot;text&quot;}"/>
          <p:cNvSpPr txBox="1"/>
          <p:nvPr/>
        </p:nvSpPr>
        <p:spPr>
          <a:xfrm rot="0" flipH="0" flipV="0">
            <a:off x="7496175" y="235267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3</a:t>
            </a:r>
            <a:endParaRPr/>
          </a:p>
        </p:txBody>
      </p:sp>
      <p:sp>
        <p:nvSpPr>
          <p:cNvPr id="777" name="" descr="{&quot;isTemplate&quot;:true,&quot;type&quot;:&quot;text&quot;}"/>
          <p:cNvSpPr txBox="1"/>
          <p:nvPr/>
        </p:nvSpPr>
        <p:spPr>
          <a:xfrm rot="0" flipH="0" flipV="0">
            <a:off x="7296150" y="2562225"/>
            <a:ext cx="495300" cy="409575"/>
          </a:xfrm>
          <a:prstGeom prst="rect"/>
        </p:spPr>
        <p:txBody>
          <a:bodyPr wrap="none" lIns="0" tIns="0" rIns="0" bIns="0"/>
          <a:p>
            <a:pPr algn="ctr">
              <a:lnSpc>
                <a:spcPct val="135000"/>
              </a:lnSpc>
            </a:pPr>
            <a:r>
              <a:rPr lang="zh-CN" sz="975">
                <a:solidFill>
                  <a:srgbClr val="3A4050"/>
                </a:solidFill>
                <a:latin typeface="Microsoft YaHei"/>
                <a:ea typeface="Microsoft YaHei"/>
              </a:rPr>
              <a:t>定义
数据密级</a:t>
            </a:r>
            <a:endParaRPr/>
          </a:p>
        </p:txBody>
      </p:sp>
      <p:sp>
        <p:nvSpPr>
          <p:cNvPr id="778" name=""/>
          <p:cNvSpPr/>
          <p:nvPr/>
        </p:nvSpPr>
        <p:spPr>
          <a:xfrm rot="0" flipH="0" flipV="0">
            <a:off x="8143875" y="1847850"/>
            <a:ext cx="1019175" cy="1619250"/>
          </a:xfrm>
          <a:prstGeom prst="roundRect">
            <a:avLst>
              <a:gd name="adj" fmla="val 2804"/>
            </a:avLst>
          </a:prstGeom>
          <a:solidFill>
            <a:srgbClr val="FFFFFF"/>
          </a:solidFill>
          <a:ln/>
        </p:spPr>
        <p:txBody>
          <a:bodyPr/>
          <a:p>
            <a:pPr/>
            <a:endParaRPr/>
          </a:p>
        </p:txBody>
      </p:sp>
      <p:sp>
        <p:nvSpPr>
          <p:cNvPr id="779" name="" descr="{&quot;isTemplate&quot;:true,&quot;type&quot;:&quot;text&quot;}"/>
          <p:cNvSpPr txBox="1"/>
          <p:nvPr/>
        </p:nvSpPr>
        <p:spPr>
          <a:xfrm rot="0" flipH="0" flipV="0">
            <a:off x="8610600" y="235267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4</a:t>
            </a:r>
            <a:endParaRPr/>
          </a:p>
        </p:txBody>
      </p:sp>
      <p:sp>
        <p:nvSpPr>
          <p:cNvPr id="780" name="" descr="{&quot;isTemplate&quot;:true,&quot;type&quot;:&quot;text&quot;}"/>
          <p:cNvSpPr txBox="1"/>
          <p:nvPr/>
        </p:nvSpPr>
        <p:spPr>
          <a:xfrm rot="0" flipH="0" flipV="0">
            <a:off x="8467725" y="2562225"/>
            <a:ext cx="371475" cy="409575"/>
          </a:xfrm>
          <a:prstGeom prst="rect"/>
        </p:spPr>
        <p:txBody>
          <a:bodyPr wrap="none" lIns="0" tIns="0" rIns="0" bIns="0"/>
          <a:p>
            <a:pPr algn="ctr">
              <a:lnSpc>
                <a:spcPct val="135000"/>
              </a:lnSpc>
            </a:pPr>
            <a:r>
              <a:rPr lang="zh-CN" sz="975">
                <a:solidFill>
                  <a:srgbClr val="3A4050"/>
                </a:solidFill>
                <a:latin typeface="Microsoft YaHei"/>
                <a:ea typeface="Microsoft YaHei"/>
              </a:rPr>
              <a:t>明确
数据源</a:t>
            </a:r>
            <a:endParaRPr/>
          </a:p>
        </p:txBody>
      </p:sp>
      <p:sp>
        <p:nvSpPr>
          <p:cNvPr id="781" name=""/>
          <p:cNvSpPr/>
          <p:nvPr/>
        </p:nvSpPr>
        <p:spPr>
          <a:xfrm rot="0" flipH="0" flipV="0">
            <a:off x="9258300" y="1847850"/>
            <a:ext cx="1019175" cy="1619250"/>
          </a:xfrm>
          <a:prstGeom prst="roundRect">
            <a:avLst>
              <a:gd name="adj" fmla="val 2804"/>
            </a:avLst>
          </a:prstGeom>
          <a:solidFill>
            <a:srgbClr val="FFFFFF"/>
          </a:solidFill>
          <a:ln/>
        </p:spPr>
        <p:txBody>
          <a:bodyPr/>
          <a:p>
            <a:pPr/>
            <a:endParaRPr/>
          </a:p>
        </p:txBody>
      </p:sp>
      <p:sp>
        <p:nvSpPr>
          <p:cNvPr id="782" name="" descr="{&quot;isTemplate&quot;:true,&quot;type&quot;:&quot;text&quot;}"/>
          <p:cNvSpPr txBox="1"/>
          <p:nvPr/>
        </p:nvSpPr>
        <p:spPr>
          <a:xfrm rot="0" flipH="0" flipV="0">
            <a:off x="9725025" y="235267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5</a:t>
            </a:r>
            <a:endParaRPr/>
          </a:p>
        </p:txBody>
      </p:sp>
      <p:sp>
        <p:nvSpPr>
          <p:cNvPr id="783" name="" descr="{&quot;isTemplate&quot;:true,&quot;type&quot;:&quot;text&quot;}"/>
          <p:cNvSpPr txBox="1"/>
          <p:nvPr/>
        </p:nvSpPr>
        <p:spPr>
          <a:xfrm rot="0" flipH="0" flipV="0">
            <a:off x="9525000" y="2562225"/>
            <a:ext cx="495300" cy="409575"/>
          </a:xfrm>
          <a:prstGeom prst="rect"/>
        </p:spPr>
        <p:txBody>
          <a:bodyPr wrap="none" lIns="0" tIns="0" rIns="0" bIns="0"/>
          <a:p>
            <a:pPr algn="ctr">
              <a:lnSpc>
                <a:spcPct val="135000"/>
              </a:lnSpc>
            </a:pPr>
            <a:r>
              <a:rPr lang="zh-CN" sz="975">
                <a:solidFill>
                  <a:srgbClr val="3A4050"/>
                </a:solidFill>
                <a:latin typeface="Microsoft YaHei"/>
                <a:ea typeface="Microsoft YaHei"/>
              </a:rPr>
              <a:t>数据质量
评估</a:t>
            </a:r>
            <a:endParaRPr/>
          </a:p>
        </p:txBody>
      </p:sp>
      <p:sp>
        <p:nvSpPr>
          <p:cNvPr id="784" name=""/>
          <p:cNvSpPr/>
          <p:nvPr/>
        </p:nvSpPr>
        <p:spPr>
          <a:xfrm rot="0" flipH="0" flipV="0">
            <a:off x="10372725" y="1847850"/>
            <a:ext cx="1019175" cy="1619250"/>
          </a:xfrm>
          <a:prstGeom prst="roundRect">
            <a:avLst>
              <a:gd name="adj" fmla="val 2804"/>
            </a:avLst>
          </a:prstGeom>
          <a:solidFill>
            <a:srgbClr val="FFFFFF"/>
          </a:solidFill>
          <a:ln/>
        </p:spPr>
        <p:txBody>
          <a:bodyPr/>
          <a:p>
            <a:pPr/>
            <a:endParaRPr/>
          </a:p>
        </p:txBody>
      </p:sp>
      <p:sp>
        <p:nvSpPr>
          <p:cNvPr id="785" name="" descr="{&quot;isTemplate&quot;:true,&quot;type&quot;:&quot;text&quot;}"/>
          <p:cNvSpPr txBox="1"/>
          <p:nvPr/>
        </p:nvSpPr>
        <p:spPr>
          <a:xfrm rot="0" flipH="0" flipV="0">
            <a:off x="10839450" y="235267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6</a:t>
            </a:r>
            <a:endParaRPr/>
          </a:p>
        </p:txBody>
      </p:sp>
      <p:sp>
        <p:nvSpPr>
          <p:cNvPr id="786" name="" descr="{&quot;isTemplate&quot;:true,&quot;type&quot;:&quot;text&quot;}"/>
          <p:cNvSpPr txBox="1"/>
          <p:nvPr/>
        </p:nvSpPr>
        <p:spPr>
          <a:xfrm rot="0" flipH="0" flipV="0">
            <a:off x="10696575" y="2562225"/>
            <a:ext cx="371475" cy="409575"/>
          </a:xfrm>
          <a:prstGeom prst="rect"/>
        </p:spPr>
        <p:txBody>
          <a:bodyPr wrap="none" lIns="0" tIns="0" rIns="0" bIns="0"/>
          <a:p>
            <a:pPr algn="ctr">
              <a:lnSpc>
                <a:spcPct val="135000"/>
              </a:lnSpc>
            </a:pPr>
            <a:r>
              <a:rPr lang="zh-CN" sz="975">
                <a:solidFill>
                  <a:srgbClr val="3A4050"/>
                </a:solidFill>
                <a:latin typeface="Microsoft YaHei"/>
                <a:ea typeface="Microsoft YaHei"/>
              </a:rPr>
              <a:t>元数据
注册</a:t>
            </a:r>
            <a:endParaRPr/>
          </a:p>
        </p:txBody>
      </p:sp>
      <p:sp>
        <p:nvSpPr>
          <p:cNvPr id="787" name=""/>
          <p:cNvSpPr/>
          <p:nvPr/>
        </p:nvSpPr>
        <p:spPr>
          <a:xfrm rot="0" flipH="0" flipV="0">
            <a:off x="4610100" y="3743325"/>
            <a:ext cx="6972300" cy="1838325"/>
          </a:xfrm>
          <a:prstGeom prst="roundRect">
            <a:avLst>
              <a:gd name="adj" fmla="val 2073"/>
            </a:avLst>
          </a:prstGeom>
          <a:solidFill>
            <a:srgbClr val="F7F7F8"/>
          </a:solidFill>
          <a:ln/>
        </p:spPr>
        <p:txBody>
          <a:bodyPr/>
          <a:p>
            <a:pPr/>
            <a:endParaRPr/>
          </a:p>
        </p:txBody>
      </p:sp>
      <p:sp>
        <p:nvSpPr>
          <p:cNvPr id="788" name="" descr="{&quot;isTemplate&quot;:true,&quot;type&quot;:&quot;text&quot;}"/>
          <p:cNvSpPr txBox="1"/>
          <p:nvPr/>
        </p:nvSpPr>
        <p:spPr>
          <a:xfrm rot="0" flipH="0" flipV="0">
            <a:off x="4800600" y="3895725"/>
            <a:ext cx="6591300" cy="219075"/>
          </a:xfrm>
          <a:prstGeom prst="rect"/>
        </p:spPr>
        <p:txBody>
          <a:bodyPr wrap="none" lIns="0" tIns="0" rIns="0" bIns="0"/>
          <a:p>
            <a:pPr>
              <a:lnSpc>
                <a:spcPct val="100000"/>
              </a:lnSpc>
            </a:pPr>
            <a:r>
              <a:rPr lang="zh-CN" sz="1425" b="1">
                <a:solidFill>
                  <a:srgbClr val="0F1423"/>
                </a:solidFill>
                <a:latin typeface="Microsoft YaHei"/>
                <a:ea typeface="Microsoft YaHei"/>
              </a:rPr>
              <a:t>五种入湖方式</a:t>
            </a:r>
            <a:endParaRPr/>
          </a:p>
        </p:txBody>
      </p:sp>
      <p:sp>
        <p:nvSpPr>
          <p:cNvPr id="789" name=""/>
          <p:cNvSpPr/>
          <p:nvPr/>
        </p:nvSpPr>
        <p:spPr>
          <a:xfrm rot="0" flipH="0" flipV="0">
            <a:off x="4800600" y="4229100"/>
            <a:ext cx="1238250" cy="1200150"/>
          </a:xfrm>
          <a:prstGeom prst="roundRect">
            <a:avLst>
              <a:gd name="adj" fmla="val 2381"/>
            </a:avLst>
          </a:prstGeom>
          <a:solidFill>
            <a:srgbClr val="FA4F24"/>
          </a:solidFill>
          <a:ln/>
        </p:spPr>
        <p:txBody>
          <a:bodyPr/>
          <a:p>
            <a:pPr/>
            <a:endParaRPr/>
          </a:p>
        </p:txBody>
      </p:sp>
      <p:sp>
        <p:nvSpPr>
          <p:cNvPr id="790" name="" descr="{&quot;isTemplate&quot;:true,&quot;type&quot;:&quot;text&quot;}"/>
          <p:cNvSpPr txBox="1"/>
          <p:nvPr/>
        </p:nvSpPr>
        <p:spPr>
          <a:xfrm rot="0" flipH="0" flipV="0">
            <a:off x="5172075" y="4733925"/>
            <a:ext cx="495300" cy="200025"/>
          </a:xfrm>
          <a:prstGeom prst="rect"/>
        </p:spPr>
        <p:txBody>
          <a:bodyPr wrap="none" lIns="0" tIns="0" rIns="0" bIns="0"/>
          <a:p>
            <a:pPr algn="ctr">
              <a:lnSpc>
                <a:spcPct val="130000"/>
              </a:lnSpc>
            </a:pPr>
            <a:r>
              <a:rPr lang="zh-CN" sz="975" b="1">
                <a:solidFill>
                  <a:srgbClr val="FFFFFF"/>
                </a:solidFill>
                <a:latin typeface="Microsoft YaHei"/>
                <a:ea typeface="Microsoft YaHei"/>
              </a:rPr>
              <a:t>批量集成</a:t>
            </a:r>
            <a:endParaRPr/>
          </a:p>
        </p:txBody>
      </p:sp>
      <p:sp>
        <p:nvSpPr>
          <p:cNvPr id="791" name=""/>
          <p:cNvSpPr/>
          <p:nvPr/>
        </p:nvSpPr>
        <p:spPr>
          <a:xfrm rot="0" flipH="0" flipV="0">
            <a:off x="6134100" y="4229100"/>
            <a:ext cx="1247775" cy="1200150"/>
          </a:xfrm>
          <a:prstGeom prst="roundRect">
            <a:avLst>
              <a:gd name="adj" fmla="val 2381"/>
            </a:avLst>
          </a:prstGeom>
          <a:solidFill>
            <a:srgbClr val="FFFFFF"/>
          </a:solidFill>
          <a:ln/>
        </p:spPr>
        <p:txBody>
          <a:bodyPr/>
          <a:p>
            <a:pPr/>
            <a:endParaRPr/>
          </a:p>
        </p:txBody>
      </p:sp>
      <p:sp>
        <p:nvSpPr>
          <p:cNvPr id="792" name="" descr="{&quot;isTemplate&quot;:true,&quot;type&quot;:&quot;text&quot;}"/>
          <p:cNvSpPr txBox="1"/>
          <p:nvPr/>
        </p:nvSpPr>
        <p:spPr>
          <a:xfrm rot="0" flipH="0" flipV="0">
            <a:off x="6391275" y="4733925"/>
            <a:ext cx="742950" cy="200025"/>
          </a:xfrm>
          <a:prstGeom prst="rect"/>
        </p:spPr>
        <p:txBody>
          <a:bodyPr wrap="none" lIns="0" tIns="0" rIns="0" bIns="0"/>
          <a:p>
            <a:pPr algn="ctr">
              <a:lnSpc>
                <a:spcPct val="130000"/>
              </a:lnSpc>
            </a:pPr>
            <a:r>
              <a:rPr lang="zh-CN" sz="975" b="1">
                <a:solidFill>
                  <a:srgbClr val="3A4050"/>
                </a:solidFill>
                <a:latin typeface="Microsoft YaHei"/>
                <a:ea typeface="Microsoft YaHei"/>
              </a:rPr>
              <a:t>数据复制同步</a:t>
            </a:r>
            <a:endParaRPr/>
          </a:p>
        </p:txBody>
      </p:sp>
      <p:sp>
        <p:nvSpPr>
          <p:cNvPr id="793" name=""/>
          <p:cNvSpPr/>
          <p:nvPr/>
        </p:nvSpPr>
        <p:spPr>
          <a:xfrm rot="0" flipH="0" flipV="0">
            <a:off x="7477125" y="4229100"/>
            <a:ext cx="1238250" cy="1200150"/>
          </a:xfrm>
          <a:prstGeom prst="roundRect">
            <a:avLst>
              <a:gd name="adj" fmla="val 2381"/>
            </a:avLst>
          </a:prstGeom>
          <a:solidFill>
            <a:srgbClr val="FFFFFF"/>
          </a:solidFill>
          <a:ln/>
        </p:spPr>
        <p:txBody>
          <a:bodyPr/>
          <a:p>
            <a:pPr/>
            <a:endParaRPr/>
          </a:p>
        </p:txBody>
      </p:sp>
      <p:sp>
        <p:nvSpPr>
          <p:cNvPr id="794" name="" descr="{&quot;isTemplate&quot;:true,&quot;type&quot;:&quot;text&quot;}"/>
          <p:cNvSpPr txBox="1"/>
          <p:nvPr/>
        </p:nvSpPr>
        <p:spPr>
          <a:xfrm rot="0" flipH="0" flipV="0">
            <a:off x="7848600" y="4733925"/>
            <a:ext cx="495300" cy="200025"/>
          </a:xfrm>
          <a:prstGeom prst="rect"/>
        </p:spPr>
        <p:txBody>
          <a:bodyPr wrap="none" lIns="0" tIns="0" rIns="0" bIns="0"/>
          <a:p>
            <a:pPr algn="ctr">
              <a:lnSpc>
                <a:spcPct val="130000"/>
              </a:lnSpc>
            </a:pPr>
            <a:r>
              <a:rPr lang="zh-CN" sz="975" b="1">
                <a:solidFill>
                  <a:srgbClr val="3A4050"/>
                </a:solidFill>
                <a:latin typeface="Microsoft YaHei"/>
                <a:ea typeface="Microsoft YaHei"/>
              </a:rPr>
              <a:t>消息集成</a:t>
            </a:r>
            <a:endParaRPr/>
          </a:p>
        </p:txBody>
      </p:sp>
      <p:sp>
        <p:nvSpPr>
          <p:cNvPr id="795" name=""/>
          <p:cNvSpPr/>
          <p:nvPr/>
        </p:nvSpPr>
        <p:spPr>
          <a:xfrm rot="0" flipH="0" flipV="0">
            <a:off x="8810625" y="4229100"/>
            <a:ext cx="1247775" cy="1200150"/>
          </a:xfrm>
          <a:prstGeom prst="roundRect">
            <a:avLst>
              <a:gd name="adj" fmla="val 2381"/>
            </a:avLst>
          </a:prstGeom>
          <a:solidFill>
            <a:srgbClr val="FFFFFF"/>
          </a:solidFill>
          <a:ln/>
        </p:spPr>
        <p:txBody>
          <a:bodyPr/>
          <a:p>
            <a:pPr/>
            <a:endParaRPr/>
          </a:p>
        </p:txBody>
      </p:sp>
      <p:sp>
        <p:nvSpPr>
          <p:cNvPr id="796" name="" descr="{&quot;isTemplate&quot;:true,&quot;type&quot;:&quot;text&quot;}"/>
          <p:cNvSpPr txBox="1"/>
          <p:nvPr/>
        </p:nvSpPr>
        <p:spPr>
          <a:xfrm rot="0" flipH="0" flipV="0">
            <a:off x="9248775" y="4733925"/>
            <a:ext cx="371475" cy="200025"/>
          </a:xfrm>
          <a:prstGeom prst="rect"/>
        </p:spPr>
        <p:txBody>
          <a:bodyPr wrap="none" lIns="0" tIns="0" rIns="0" bIns="0"/>
          <a:p>
            <a:pPr algn="ctr">
              <a:lnSpc>
                <a:spcPct val="130000"/>
              </a:lnSpc>
            </a:pPr>
            <a:r>
              <a:rPr lang="zh-CN" sz="975" b="1">
                <a:solidFill>
                  <a:srgbClr val="3A4050"/>
                </a:solidFill>
                <a:latin typeface="Microsoft YaHei"/>
                <a:ea typeface="Microsoft YaHei"/>
              </a:rPr>
              <a:t>流集成</a:t>
            </a:r>
            <a:endParaRPr/>
          </a:p>
        </p:txBody>
      </p:sp>
      <p:sp>
        <p:nvSpPr>
          <p:cNvPr id="797" name=""/>
          <p:cNvSpPr/>
          <p:nvPr/>
        </p:nvSpPr>
        <p:spPr>
          <a:xfrm rot="0" flipH="0" flipV="0">
            <a:off x="10153650" y="4229100"/>
            <a:ext cx="1238250" cy="1200150"/>
          </a:xfrm>
          <a:prstGeom prst="roundRect">
            <a:avLst>
              <a:gd name="adj" fmla="val 2381"/>
            </a:avLst>
          </a:prstGeom>
          <a:solidFill>
            <a:srgbClr val="FFFFFF"/>
          </a:solidFill>
          <a:ln/>
        </p:spPr>
        <p:txBody>
          <a:bodyPr/>
          <a:p>
            <a:pPr/>
            <a:endParaRPr/>
          </a:p>
        </p:txBody>
      </p:sp>
      <p:sp>
        <p:nvSpPr>
          <p:cNvPr id="798" name="" descr="{&quot;isTemplate&quot;:true,&quot;type&quot;:&quot;text&quot;}"/>
          <p:cNvSpPr txBox="1"/>
          <p:nvPr/>
        </p:nvSpPr>
        <p:spPr>
          <a:xfrm rot="0" flipH="0" flipV="0">
            <a:off x="10467975" y="4733925"/>
            <a:ext cx="619125" cy="200025"/>
          </a:xfrm>
          <a:prstGeom prst="rect"/>
        </p:spPr>
        <p:txBody>
          <a:bodyPr wrap="none" lIns="0" tIns="0" rIns="0" bIns="0"/>
          <a:p>
            <a:pPr algn="ctr">
              <a:lnSpc>
                <a:spcPct val="130000"/>
              </a:lnSpc>
            </a:pPr>
            <a:r>
              <a:rPr lang="zh-CN" sz="975" b="1">
                <a:solidFill>
                  <a:srgbClr val="3A4050"/>
                </a:solidFill>
                <a:latin typeface="Microsoft YaHei"/>
                <a:ea typeface="Microsoft YaHei"/>
              </a:rPr>
              <a:t>数据虚拟化</a:t>
            </a:r>
            <a:endParaRPr/>
          </a:p>
        </p:txBody>
      </p:sp>
      <p:sp>
        <p:nvSpPr>
          <p:cNvPr id="799" name=""/>
          <p:cNvSpPr/>
          <p:nvPr/>
        </p:nvSpPr>
        <p:spPr>
          <a:xfrm rot="0" flipH="0" flipV="0">
            <a:off x="609600" y="5943600"/>
            <a:ext cx="133350" cy="133350"/>
          </a:xfrm>
          <a:prstGeom prst="rect">
            <a:avLst/>
          </a:prstGeom>
          <a:solidFill>
            <a:srgbClr val="FA4F24"/>
          </a:solidFill>
          <a:ln/>
        </p:spPr>
        <p:txBody>
          <a:bodyPr/>
          <a:p>
            <a:pPr/>
            <a:endParaRPr/>
          </a:p>
        </p:txBody>
      </p:sp>
      <p:sp>
        <p:nvSpPr>
          <p:cNvPr id="800"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801"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28 / 30</a:t>
            </a:r>
            <a:endParaRPr/>
          </a:p>
        </p:txBody>
      </p:sp>
    </p:spTree>
  </p:cSld>
</p:sld>
</file>

<file path=ppt/slides/slide29.xml><?xml version="1.0" encoding="utf-8"?>
<p:sld xmlns:p="http://schemas.openxmlformats.org/presentationml/2006/main" xmlns:a="http://schemas.openxmlformats.org/drawingml/2006/main">
  <p:cSld>
    <p:spTree>
      <p:nvGrpSpPr>
        <p:cNvPr id="802" name=""/>
        <p:cNvGrpSpPr/>
        <p:nvPr/>
      </p:nvGrpSpPr>
      <p:grpSpPr>
        <a:xfrm>
          <a:off x="0" y="0"/>
          <a:ext cx="0" cy="0"/>
          <a:chOff x="0" y="0"/>
          <a:chExt cx="0" cy="0"/>
        </a:xfrm>
      </p:grpSpPr>
      <p:sp>
        <p:nvSpPr>
          <p:cNvPr id="803" name=""/>
          <p:cNvSpPr/>
          <p:nvPr/>
        </p:nvSpPr>
        <p:spPr>
          <a:xfrm rot="0" flipH="0" flipV="0">
            <a:off x="0" y="0"/>
            <a:ext cx="12192000" cy="6858000"/>
          </a:xfrm>
          <a:prstGeom prst="rect">
            <a:avLst/>
          </a:prstGeom>
          <a:solidFill>
            <a:srgbClr val="FFFFFF"/>
          </a:solidFill>
          <a:ln/>
        </p:spPr>
        <p:txBody>
          <a:bodyPr/>
          <a:p>
            <a:pPr/>
            <a:endParaRPr/>
          </a:p>
        </p:txBody>
      </p:sp>
      <p:sp>
        <p:nvSpPr>
          <p:cNvPr id="804"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数据消费：用</a:t>
            </a:r>
            <a:r>
              <a:rPr lang="zh-CN" sz="2400" b="1">
                <a:solidFill>
                  <a:srgbClr val="FA4F24"/>
                </a:solidFill>
                <a:latin typeface="Microsoft YaHei"/>
                <a:ea typeface="Microsoft YaHei"/>
              </a:rPr>
              <a:t>数据服务</a:t>
            </a:r>
            <a:r>
              <a:rPr lang="zh-CN" sz="2400" b="1">
                <a:solidFill>
                  <a:srgbClr val="0F1423"/>
                </a:solidFill>
                <a:latin typeface="Microsoft YaHei"/>
                <a:ea typeface="Microsoft YaHei"/>
              </a:rPr>
              <a:t>替代数据集成，实现「数出一孔」</a:t>
            </a:r>
            <a:endParaRPr/>
          </a:p>
        </p:txBody>
      </p:sp>
      <p:sp>
        <p:nvSpPr>
          <p:cNvPr id="805"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数据搬家次数越多，源头与下游差异越大</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服务化是同时拿到效率与安全的唯一解</a:t>
            </a:r>
            <a:endParaRPr/>
          </a:p>
        </p:txBody>
      </p:sp>
      <p:sp>
        <p:nvSpPr>
          <p:cNvPr id="806" name=""/>
          <p:cNvSpPr/>
          <p:nvPr/>
        </p:nvSpPr>
        <p:spPr>
          <a:xfrm rot="0" flipH="0" flipV="0">
            <a:off x="609600" y="1143000"/>
            <a:ext cx="10972800" cy="9525"/>
          </a:xfrm>
          <a:prstGeom prst="rect">
            <a:avLst/>
          </a:prstGeom>
          <a:solidFill>
            <a:srgbClr val="E8E8E8"/>
          </a:solidFill>
          <a:ln/>
        </p:spPr>
        <p:txBody>
          <a:bodyPr/>
          <a:p>
            <a:pPr/>
            <a:endParaRPr/>
          </a:p>
        </p:txBody>
      </p:sp>
      <p:sp>
        <p:nvSpPr>
          <p:cNvPr id="807" name=""/>
          <p:cNvSpPr/>
          <p:nvPr/>
        </p:nvSpPr>
        <p:spPr>
          <a:xfrm rot="0" flipH="0" flipV="0">
            <a:off x="609600" y="1400175"/>
            <a:ext cx="5048250" cy="1828800"/>
          </a:xfrm>
          <a:prstGeom prst="roundRect">
            <a:avLst>
              <a:gd name="adj" fmla="val 2083"/>
            </a:avLst>
          </a:prstGeom>
          <a:solidFill>
            <a:srgbClr val="F7F7F8"/>
          </a:solidFill>
          <a:ln/>
        </p:spPr>
        <p:txBody>
          <a:bodyPr/>
          <a:p>
            <a:pPr/>
            <a:endParaRPr/>
          </a:p>
        </p:txBody>
      </p:sp>
      <p:sp>
        <p:nvSpPr>
          <p:cNvPr id="808" name=""/>
          <p:cNvSpPr/>
          <p:nvPr/>
        </p:nvSpPr>
        <p:spPr>
          <a:xfrm rot="0" flipH="0" flipV="0">
            <a:off x="609600" y="1400175"/>
            <a:ext cx="5048250" cy="1828800"/>
          </a:xfrm>
          <a:custGeom>
            <a:pathLst>
              <a:path w="530" h="192">
                <a:moveTo>
                  <a:pt x="526" y="0"/>
                </a:moveTo>
                <a:cubicBezTo>
                  <a:pt x="528" y="0"/>
                  <a:pt x="530" y="2"/>
                  <a:pt x="530" y="4"/>
                </a:cubicBezTo>
                <a:lnTo>
                  <a:pt x="0" y="4"/>
                </a:lnTo>
                <a:cubicBezTo>
                  <a:pt x="0" y="2"/>
                  <a:pt x="2" y="0"/>
                  <a:pt x="4" y="0"/>
                </a:cubicBezTo>
                <a:lnTo>
                  <a:pt x="526" y="0"/>
                </a:lnTo>
                <a:close/>
              </a:path>
            </a:pathLst>
          </a:custGeom>
          <a:solidFill>
            <a:srgbClr val="C8CCD4"/>
          </a:solidFill>
          <a:ln/>
        </p:spPr>
        <p:txBody>
          <a:bodyPr/>
          <a:p>
            <a:pPr/>
            <a:endParaRPr/>
          </a:p>
        </p:txBody>
      </p:sp>
      <p:sp>
        <p:nvSpPr>
          <p:cNvPr id="809" name="" descr="{&quot;isTemplate&quot;:true,&quot;type&quot;:&quot;text&quot;}"/>
          <p:cNvSpPr txBox="1"/>
          <p:nvPr/>
        </p:nvSpPr>
        <p:spPr>
          <a:xfrm rot="0" flipH="0" flipV="0">
            <a:off x="819150" y="1571625"/>
            <a:ext cx="4629150" cy="161925"/>
          </a:xfrm>
          <a:prstGeom prst="rect"/>
        </p:spPr>
        <p:txBody>
          <a:bodyPr wrap="none" lIns="0" tIns="0" rIns="0" bIns="0"/>
          <a:p>
            <a:pPr>
              <a:lnSpc>
                <a:spcPct val="100000"/>
              </a:lnSpc>
            </a:pPr>
            <a:r>
              <a:rPr lang="zh-CN" sz="1050" b="1">
                <a:solidFill>
                  <a:srgbClr val="8A8F99"/>
                </a:solidFill>
                <a:latin typeface="Microsoft YaHei"/>
                <a:ea typeface="Microsoft YaHei"/>
              </a:rPr>
              <a:t>传统数据集成</a:t>
            </a:r>
            <a:endParaRPr/>
          </a:p>
        </p:txBody>
      </p:sp>
      <p:sp>
        <p:nvSpPr>
          <p:cNvPr id="810" name="" descr="{&quot;isTemplate&quot;:true,&quot;type&quot;:&quot;text&quot;}"/>
          <p:cNvSpPr txBox="1"/>
          <p:nvPr/>
        </p:nvSpPr>
        <p:spPr>
          <a:xfrm rot="0" flipH="0" flipV="0">
            <a:off x="819150" y="1809750"/>
            <a:ext cx="4629150" cy="219075"/>
          </a:xfrm>
          <a:prstGeom prst="rect"/>
        </p:spPr>
        <p:txBody>
          <a:bodyPr wrap="none" lIns="0" tIns="0" rIns="0" bIns="0"/>
          <a:p>
            <a:pPr>
              <a:lnSpc>
                <a:spcPct val="100000"/>
              </a:lnSpc>
            </a:pPr>
            <a:r>
              <a:rPr lang="zh-CN" sz="1425" b="1">
                <a:solidFill>
                  <a:srgbClr val="5A6070"/>
                </a:solidFill>
                <a:latin typeface="Microsoft YaHei"/>
                <a:ea typeface="Microsoft YaHei"/>
              </a:rPr>
              <a:t>从一个系统复制到另一个系统</a:t>
            </a:r>
            <a:endParaRPr/>
          </a:p>
        </p:txBody>
      </p:sp>
      <p:sp>
        <p:nvSpPr>
          <p:cNvPr id="811" name="" descr="{&quot;isTemplate&quot;:true,&quot;type&quot;:&quot;text&quot;}"/>
          <p:cNvSpPr txBox="1"/>
          <p:nvPr/>
        </p:nvSpPr>
        <p:spPr>
          <a:xfrm rot="0" flipH="0" flipV="0">
            <a:off x="819150" y="2124075"/>
            <a:ext cx="4629150" cy="895350"/>
          </a:xfrm>
          <a:prstGeom prst="rect"/>
        </p:spPr>
        <p:txBody>
          <a:bodyPr wrap="square" lIns="0" tIns="0" rIns="0" bIns="0">
            <a:normAutofit/>
          </a:bodyPr>
          <a:p>
            <a:pPr>
              <a:lnSpc>
                <a:spcPct val="155000"/>
              </a:lnSpc>
            </a:pPr>
            <a:r>
              <a:rPr lang="zh-CN" sz="1125">
                <a:solidFill>
                  <a:srgbClr val="5A6070"/>
                </a:solidFill>
                <a:latin typeface="Microsoft YaHei"/>
                <a:ea typeface="Microsoft YaHei"/>
              </a:rPr>
              <a:t>企业规模扩大后，需在几十上百个</a:t>
            </a:r>
            <a:r>
              <a:rPr lang="en-US" sz="1125">
                <a:solidFill>
                  <a:srgbClr val="5A6070"/>
                </a:solidFill>
                <a:latin typeface="Microsoft YaHei"/>
                <a:ea typeface="Microsoft YaHei"/>
              </a:rPr>
              <a:t xml:space="preserve"> IT </a:t>
            </a:r>
            <a:r>
              <a:rPr lang="zh-CN" sz="1125">
                <a:solidFill>
                  <a:srgbClr val="5A6070"/>
                </a:solidFill>
                <a:latin typeface="Microsoft YaHei"/>
                <a:ea typeface="Microsoft YaHei"/>
              </a:rPr>
              <a:t>系统间集成。复杂度提升带来一系列数据质量问题：</a:t>
            </a:r>
            <a:r>
              <a:rPr lang="en-US" sz="1125">
                <a:solidFill>
                  <a:srgbClr val="5A6070"/>
                </a:solidFill>
                <a:latin typeface="Microsoft YaHei"/>
                <a:ea typeface="Microsoft YaHei"/>
              </a:rPr>
              <a:t xml:space="preserve"> </a:t>
            </a:r>
            <a:r>
              <a:rPr lang="zh-CN" sz="1125">
                <a:solidFill>
                  <a:srgbClr val="5A6070"/>
                </a:solidFill>
                <a:latin typeface="Microsoft YaHei"/>
                <a:ea typeface="Microsoft YaHei"/>
              </a:rPr>
              <a:t>数据经过多次搬家后，源头与下游差异巨大，一致性无从保障。</a:t>
            </a:r>
            <a:endParaRPr/>
          </a:p>
        </p:txBody>
      </p:sp>
      <p:sp>
        <p:nvSpPr>
          <p:cNvPr id="812" name=""/>
          <p:cNvSpPr/>
          <p:nvPr/>
        </p:nvSpPr>
        <p:spPr>
          <a:xfrm rot="0" flipH="0" flipV="0">
            <a:off x="5886450" y="2066925"/>
            <a:ext cx="419100" cy="419100"/>
          </a:xfrm>
          <a:prstGeom prst="roundRect">
            <a:avLst>
              <a:gd name="adj" fmla="val 50000"/>
            </a:avLst>
          </a:prstGeom>
          <a:solidFill>
            <a:srgbClr val="FA4F24"/>
          </a:solidFill>
          <a:ln/>
        </p:spPr>
        <p:txBody>
          <a:bodyPr/>
          <a:p>
            <a:pPr/>
            <a:endParaRPr/>
          </a:p>
        </p:txBody>
      </p:sp>
      <p:sp>
        <p:nvSpPr>
          <p:cNvPr id="813" name="" descr="{&quot;isTemplate&quot;:true,&quot;type&quot;:&quot;text&quot;}"/>
          <p:cNvSpPr txBox="1"/>
          <p:nvPr/>
        </p:nvSpPr>
        <p:spPr>
          <a:xfrm rot="0" flipH="0" flipV="0">
            <a:off x="5991225" y="2152650"/>
            <a:ext cx="209550" cy="257175"/>
          </a:xfrm>
          <a:prstGeom prst="rect"/>
        </p:spPr>
        <p:txBody>
          <a:bodyPr wrap="none" lIns="0" tIns="0" rIns="0" bIns="0"/>
          <a:p>
            <a:pPr>
              <a:lnSpc>
                <a:spcPct val="100000"/>
              </a:lnSpc>
            </a:pPr>
            <a:r>
              <a:rPr sz="1650" b="1">
                <a:solidFill>
                  <a:srgbClr val="FFFFFF"/>
                </a:solidFill>
                <a:latin typeface="Microsoft YaHei"/>
                <a:ea typeface="Microsoft YaHei"/>
              </a:rPr>
              <a:t>→</a:t>
            </a:r>
            <a:endParaRPr/>
          </a:p>
        </p:txBody>
      </p:sp>
      <p:sp>
        <p:nvSpPr>
          <p:cNvPr id="814" name=""/>
          <p:cNvSpPr/>
          <p:nvPr/>
        </p:nvSpPr>
        <p:spPr>
          <a:xfrm rot="0" flipH="0" flipV="0">
            <a:off x="6534150" y="1362075"/>
            <a:ext cx="5048250" cy="1828800"/>
          </a:xfrm>
          <a:prstGeom prst="roundRect">
            <a:avLst>
              <a:gd name="adj" fmla="val 2083"/>
            </a:avLst>
          </a:prstGeom>
          <a:gradFill>
            <a:gsLst>
              <a:gs pos="0">
                <a:srgbClr val="FA4F24"/>
              </a:gs>
              <a:gs pos="100000">
                <a:srgbClr val="F87D2F"/>
              </a:gs>
            </a:gsLst>
            <a:lin ang="4200000" scaled="1"/>
          </a:gradFill>
          <a:ln/>
        </p:spPr>
        <p:txBody>
          <a:bodyPr/>
          <a:p>
            <a:pPr/>
            <a:endParaRPr/>
          </a:p>
        </p:txBody>
      </p:sp>
      <p:sp>
        <p:nvSpPr>
          <p:cNvPr id="815" name="" descr="{&quot;isTemplate&quot;:true,&quot;type&quot;:&quot;text&quot;}"/>
          <p:cNvSpPr txBox="1"/>
          <p:nvPr/>
        </p:nvSpPr>
        <p:spPr>
          <a:xfrm rot="0" flipH="0" flipV="0">
            <a:off x="6743700" y="1533525"/>
            <a:ext cx="4629150" cy="161925"/>
          </a:xfrm>
          <a:prstGeom prst="rect"/>
        </p:spPr>
        <p:txBody>
          <a:bodyPr wrap="none" lIns="0" tIns="0" rIns="0" bIns="0"/>
          <a:p>
            <a:pPr>
              <a:lnSpc>
                <a:spcPct val="100000"/>
              </a:lnSpc>
            </a:pPr>
            <a:r>
              <a:rPr lang="zh-CN" sz="1050" b="1">
                <a:solidFill>
                  <a:srgbClr val="FFFFFF">
                    <a:alpha val="85000"/>
                  </a:srgbClr>
                </a:solidFill>
                <a:latin typeface="Microsoft YaHei"/>
                <a:ea typeface="Microsoft YaHei"/>
              </a:rPr>
              <a:t>数据服务</a:t>
            </a:r>
            <a:endParaRPr/>
          </a:p>
        </p:txBody>
      </p:sp>
      <p:sp>
        <p:nvSpPr>
          <p:cNvPr id="816" name="" descr="{&quot;isTemplate&quot;:true,&quot;type&quot;:&quot;text&quot;}"/>
          <p:cNvSpPr txBox="1"/>
          <p:nvPr/>
        </p:nvSpPr>
        <p:spPr>
          <a:xfrm rot="0" flipH="0" flipV="0">
            <a:off x="6743700" y="1771650"/>
            <a:ext cx="4629150" cy="219075"/>
          </a:xfrm>
          <a:prstGeom prst="rect"/>
        </p:spPr>
        <p:txBody>
          <a:bodyPr wrap="none" lIns="0" tIns="0" rIns="0" bIns="0"/>
          <a:p>
            <a:pPr>
              <a:lnSpc>
                <a:spcPct val="100000"/>
              </a:lnSpc>
            </a:pPr>
            <a:r>
              <a:rPr lang="zh-CN" sz="1425" b="1">
                <a:solidFill>
                  <a:srgbClr val="FFFFFF"/>
                </a:solidFill>
                <a:latin typeface="Microsoft YaHei"/>
                <a:ea typeface="Microsoft YaHei"/>
              </a:rPr>
              <a:t>以服务替代搬运</a:t>
            </a:r>
            <a:endParaRPr/>
          </a:p>
        </p:txBody>
      </p:sp>
      <p:sp>
        <p:nvSpPr>
          <p:cNvPr id="817" name="" descr="{&quot;isTemplate&quot;:true,&quot;type&quot;:&quot;text&quot;}"/>
          <p:cNvSpPr txBox="1"/>
          <p:nvPr/>
        </p:nvSpPr>
        <p:spPr>
          <a:xfrm rot="0" flipH="0" flipV="0">
            <a:off x="6743700" y="2085975"/>
            <a:ext cx="4629150" cy="933450"/>
          </a:xfrm>
          <a:prstGeom prst="rect"/>
        </p:spPr>
        <p:txBody>
          <a:bodyPr wrap="square" lIns="0" tIns="0" rIns="0" bIns="0">
            <a:normAutofit/>
          </a:bodyPr>
          <a:p>
            <a:pPr>
              <a:lnSpc>
                <a:spcPct val="155000"/>
              </a:lnSpc>
            </a:pPr>
            <a:r>
              <a:rPr lang="zh-CN" sz="1125">
                <a:solidFill>
                  <a:srgbClr val="FFFFFF">
                    <a:alpha val="95000"/>
                  </a:srgbClr>
                </a:solidFill>
                <a:latin typeface="Microsoft YaHei"/>
                <a:ea typeface="Microsoft YaHei"/>
              </a:rPr>
              <a:t>消费者只调用服务接口，不关心数据从哪来、怎么存。这在获取效率与数据安全之间取得了平衡。</a:t>
            </a:r>
            <a:endParaRPr/>
          </a:p>
        </p:txBody>
      </p:sp>
      <p:sp>
        <p:nvSpPr>
          <p:cNvPr id="818" name=""/>
          <p:cNvSpPr/>
          <p:nvPr/>
        </p:nvSpPr>
        <p:spPr>
          <a:xfrm rot="0" flipH="0" flipV="0">
            <a:off x="609600" y="3333750"/>
            <a:ext cx="10972800" cy="1600200"/>
          </a:xfrm>
          <a:prstGeom prst="roundRect">
            <a:avLst>
              <a:gd name="adj" fmla="val 2381"/>
            </a:avLst>
          </a:prstGeom>
          <a:solidFill>
            <a:srgbClr val="F7F7F8"/>
          </a:solidFill>
          <a:ln/>
        </p:spPr>
        <p:txBody>
          <a:bodyPr/>
          <a:p>
            <a:pPr/>
            <a:endParaRPr/>
          </a:p>
        </p:txBody>
      </p:sp>
      <p:sp>
        <p:nvSpPr>
          <p:cNvPr id="819" name="" descr="{&quot;isTemplate&quot;:true,&quot;type&quot;:&quot;text&quot;}"/>
          <p:cNvSpPr txBox="1"/>
          <p:nvPr/>
        </p:nvSpPr>
        <p:spPr>
          <a:xfrm rot="0" flipH="0" flipV="0">
            <a:off x="819150" y="3486150"/>
            <a:ext cx="10553700" cy="209550"/>
          </a:xfrm>
          <a:prstGeom prst="rect"/>
        </p:spPr>
        <p:txBody>
          <a:bodyPr wrap="none" lIns="0" tIns="0" rIns="0" bIns="0"/>
          <a:p>
            <a:pPr>
              <a:lnSpc>
                <a:spcPct val="100000"/>
              </a:lnSpc>
            </a:pPr>
            <a:r>
              <a:rPr lang="zh-CN" sz="1350" b="1">
                <a:solidFill>
                  <a:srgbClr val="0F1423"/>
                </a:solidFill>
                <a:latin typeface="Microsoft YaHei"/>
                <a:ea typeface="Microsoft YaHei"/>
              </a:rPr>
              <a:t>数据服务带来的五个价值</a:t>
            </a:r>
            <a:endParaRPr/>
          </a:p>
        </p:txBody>
      </p:sp>
      <p:sp>
        <p:nvSpPr>
          <p:cNvPr id="820" name=""/>
          <p:cNvSpPr/>
          <p:nvPr/>
        </p:nvSpPr>
        <p:spPr>
          <a:xfrm rot="0" flipH="0" flipV="0">
            <a:off x="819150" y="3810000"/>
            <a:ext cx="2038350" cy="971550"/>
          </a:xfrm>
          <a:prstGeom prst="roundRect">
            <a:avLst>
              <a:gd name="adj" fmla="val 2941"/>
            </a:avLst>
          </a:prstGeom>
          <a:solidFill>
            <a:srgbClr val="FFFFFF"/>
          </a:solidFill>
          <a:ln/>
        </p:spPr>
        <p:txBody>
          <a:bodyPr/>
          <a:p>
            <a:pPr/>
            <a:endParaRPr/>
          </a:p>
        </p:txBody>
      </p:sp>
      <p:sp>
        <p:nvSpPr>
          <p:cNvPr id="821" name="" descr="{&quot;isTemplate&quot;:true,&quot;type&quot;:&quot;text&quot;}"/>
          <p:cNvSpPr txBox="1"/>
          <p:nvPr/>
        </p:nvSpPr>
        <p:spPr>
          <a:xfrm rot="0" flipH="0" flipV="0">
            <a:off x="933450" y="3971925"/>
            <a:ext cx="1809750" cy="200025"/>
          </a:xfrm>
          <a:prstGeom prst="rect"/>
        </p:spPr>
        <p:txBody>
          <a:bodyPr wrap="none" lIns="0" tIns="0" rIns="0" bIns="0"/>
          <a:p>
            <a:pPr>
              <a:lnSpc>
                <a:spcPct val="100000"/>
              </a:lnSpc>
            </a:pPr>
            <a:r>
              <a:rPr lang="en-US" sz="1275" b="1">
                <a:solidFill>
                  <a:srgbClr val="FA4F24"/>
                </a:solidFill>
                <a:latin typeface="Microsoft YaHei"/>
                <a:ea typeface="Microsoft YaHei"/>
              </a:rPr>
              <a:t>01</a:t>
            </a:r>
            <a:endParaRPr/>
          </a:p>
        </p:txBody>
      </p:sp>
      <p:sp>
        <p:nvSpPr>
          <p:cNvPr id="822" name="" descr="{&quot;isTemplate&quot;:true,&quot;type&quot;:&quot;text&quot;}"/>
          <p:cNvSpPr txBox="1"/>
          <p:nvPr/>
        </p:nvSpPr>
        <p:spPr>
          <a:xfrm rot="0" flipH="0" flipV="0">
            <a:off x="933450" y="4229100"/>
            <a:ext cx="1809750" cy="171450"/>
          </a:xfrm>
          <a:prstGeom prst="rect"/>
        </p:spPr>
        <p:txBody>
          <a:bodyPr wrap="none" lIns="0" tIns="0" rIns="0" bIns="0"/>
          <a:p>
            <a:pPr>
              <a:lnSpc>
                <a:spcPct val="100000"/>
              </a:lnSpc>
            </a:pPr>
            <a:r>
              <a:rPr lang="zh-CN" sz="1125" b="1">
                <a:solidFill>
                  <a:srgbClr val="0F1423"/>
                </a:solidFill>
                <a:latin typeface="Microsoft YaHei"/>
                <a:ea typeface="Microsoft YaHei"/>
              </a:rPr>
              <a:t>数出一孔</a:t>
            </a:r>
            <a:endParaRPr/>
          </a:p>
        </p:txBody>
      </p:sp>
      <p:sp>
        <p:nvSpPr>
          <p:cNvPr id="823" name="" descr="{&quot;isTemplate&quot;:true,&quot;type&quot;:&quot;text&quot;}"/>
          <p:cNvSpPr txBox="1"/>
          <p:nvPr/>
        </p:nvSpPr>
        <p:spPr>
          <a:xfrm rot="0" flipH="0" flipV="0">
            <a:off x="933450" y="4438650"/>
            <a:ext cx="1809750" cy="180975"/>
          </a:xfrm>
          <a:prstGeom prst="rect"/>
        </p:spPr>
        <p:txBody>
          <a:bodyPr wrap="none" lIns="0" tIns="0" rIns="0" bIns="0"/>
          <a:p>
            <a:pPr>
              <a:lnSpc>
                <a:spcPct val="130000"/>
              </a:lnSpc>
            </a:pPr>
            <a:r>
              <a:rPr lang="zh-CN" sz="900">
                <a:solidFill>
                  <a:srgbClr val="8A8F99"/>
                </a:solidFill>
                <a:latin typeface="Microsoft YaHei"/>
                <a:ea typeface="Microsoft YaHei"/>
              </a:rPr>
              <a:t>保障数据一致性</a:t>
            </a:r>
            <a:endParaRPr/>
          </a:p>
        </p:txBody>
      </p:sp>
      <p:sp>
        <p:nvSpPr>
          <p:cNvPr id="824" name=""/>
          <p:cNvSpPr/>
          <p:nvPr/>
        </p:nvSpPr>
        <p:spPr>
          <a:xfrm rot="0" flipH="0" flipV="0">
            <a:off x="2952750" y="3810000"/>
            <a:ext cx="2028825" cy="971550"/>
          </a:xfrm>
          <a:prstGeom prst="roundRect">
            <a:avLst>
              <a:gd name="adj" fmla="val 2941"/>
            </a:avLst>
          </a:prstGeom>
          <a:solidFill>
            <a:srgbClr val="FFFFFF"/>
          </a:solidFill>
          <a:ln/>
        </p:spPr>
        <p:txBody>
          <a:bodyPr/>
          <a:p>
            <a:pPr/>
            <a:endParaRPr/>
          </a:p>
        </p:txBody>
      </p:sp>
      <p:sp>
        <p:nvSpPr>
          <p:cNvPr id="825" name="" descr="{&quot;isTemplate&quot;:true,&quot;type&quot;:&quot;text&quot;}"/>
          <p:cNvSpPr txBox="1"/>
          <p:nvPr/>
        </p:nvSpPr>
        <p:spPr>
          <a:xfrm rot="0" flipH="0" flipV="0">
            <a:off x="3067050" y="3971925"/>
            <a:ext cx="1800225" cy="200025"/>
          </a:xfrm>
          <a:prstGeom prst="rect"/>
        </p:spPr>
        <p:txBody>
          <a:bodyPr wrap="none" lIns="0" tIns="0" rIns="0" bIns="0"/>
          <a:p>
            <a:pPr>
              <a:lnSpc>
                <a:spcPct val="100000"/>
              </a:lnSpc>
            </a:pPr>
            <a:r>
              <a:rPr lang="en-US" sz="1275" b="1">
                <a:solidFill>
                  <a:srgbClr val="FA4F24"/>
                </a:solidFill>
                <a:latin typeface="Microsoft YaHei"/>
                <a:ea typeface="Microsoft YaHei"/>
              </a:rPr>
              <a:t>02</a:t>
            </a:r>
            <a:endParaRPr/>
          </a:p>
        </p:txBody>
      </p:sp>
      <p:sp>
        <p:nvSpPr>
          <p:cNvPr id="826" name="" descr="{&quot;isTemplate&quot;:true,&quot;type&quot;:&quot;text&quot;}"/>
          <p:cNvSpPr txBox="1"/>
          <p:nvPr/>
        </p:nvSpPr>
        <p:spPr>
          <a:xfrm rot="0" flipH="0" flipV="0">
            <a:off x="3067050" y="4229100"/>
            <a:ext cx="1800225" cy="171450"/>
          </a:xfrm>
          <a:prstGeom prst="rect"/>
        </p:spPr>
        <p:txBody>
          <a:bodyPr wrap="none" lIns="0" tIns="0" rIns="0" bIns="0"/>
          <a:p>
            <a:pPr>
              <a:lnSpc>
                <a:spcPct val="100000"/>
              </a:lnSpc>
            </a:pPr>
            <a:r>
              <a:rPr lang="zh-CN" sz="1125" b="1">
                <a:solidFill>
                  <a:srgbClr val="0F1423"/>
                </a:solidFill>
                <a:latin typeface="Microsoft YaHei"/>
                <a:ea typeface="Microsoft YaHei"/>
              </a:rPr>
              <a:t>技术解耦</a:t>
            </a:r>
            <a:endParaRPr/>
          </a:p>
        </p:txBody>
      </p:sp>
      <p:sp>
        <p:nvSpPr>
          <p:cNvPr id="827" name="" descr="{&quot;isTemplate&quot;:true,&quot;type&quot;:&quot;text&quot;}"/>
          <p:cNvSpPr txBox="1"/>
          <p:nvPr/>
        </p:nvSpPr>
        <p:spPr>
          <a:xfrm rot="0" flipH="0" flipV="0">
            <a:off x="3067050" y="4438650"/>
            <a:ext cx="1800225" cy="180975"/>
          </a:xfrm>
          <a:prstGeom prst="rect"/>
        </p:spPr>
        <p:txBody>
          <a:bodyPr wrap="none" lIns="0" tIns="0" rIns="0" bIns="0"/>
          <a:p>
            <a:pPr>
              <a:lnSpc>
                <a:spcPct val="130000"/>
              </a:lnSpc>
            </a:pPr>
            <a:r>
              <a:rPr lang="zh-CN" sz="900">
                <a:solidFill>
                  <a:srgbClr val="8A8F99"/>
                </a:solidFill>
                <a:latin typeface="Microsoft YaHei"/>
                <a:ea typeface="Microsoft YaHei"/>
              </a:rPr>
              <a:t>消费者不关注技术细节</a:t>
            </a:r>
            <a:endParaRPr/>
          </a:p>
        </p:txBody>
      </p:sp>
      <p:sp>
        <p:nvSpPr>
          <p:cNvPr id="828" name=""/>
          <p:cNvSpPr/>
          <p:nvPr/>
        </p:nvSpPr>
        <p:spPr>
          <a:xfrm rot="0" flipH="0" flipV="0">
            <a:off x="5076825" y="3810000"/>
            <a:ext cx="2038350" cy="971550"/>
          </a:xfrm>
          <a:prstGeom prst="roundRect">
            <a:avLst>
              <a:gd name="adj" fmla="val 2941"/>
            </a:avLst>
          </a:prstGeom>
          <a:solidFill>
            <a:srgbClr val="FFFFFF"/>
          </a:solidFill>
          <a:ln/>
        </p:spPr>
        <p:txBody>
          <a:bodyPr/>
          <a:p>
            <a:pPr/>
            <a:endParaRPr/>
          </a:p>
        </p:txBody>
      </p:sp>
      <p:sp>
        <p:nvSpPr>
          <p:cNvPr id="829" name="" descr="{&quot;isTemplate&quot;:true,&quot;type&quot;:&quot;text&quot;}"/>
          <p:cNvSpPr txBox="1"/>
          <p:nvPr/>
        </p:nvSpPr>
        <p:spPr>
          <a:xfrm rot="0" flipH="0" flipV="0">
            <a:off x="5191125" y="3971925"/>
            <a:ext cx="1809750" cy="200025"/>
          </a:xfrm>
          <a:prstGeom prst="rect"/>
        </p:spPr>
        <p:txBody>
          <a:bodyPr wrap="none" lIns="0" tIns="0" rIns="0" bIns="0"/>
          <a:p>
            <a:pPr>
              <a:lnSpc>
                <a:spcPct val="100000"/>
              </a:lnSpc>
            </a:pPr>
            <a:r>
              <a:rPr lang="en-US" sz="1275" b="1">
                <a:solidFill>
                  <a:srgbClr val="FA4F24"/>
                </a:solidFill>
                <a:latin typeface="Microsoft YaHei"/>
                <a:ea typeface="Microsoft YaHei"/>
              </a:rPr>
              <a:t>03</a:t>
            </a:r>
            <a:endParaRPr/>
          </a:p>
        </p:txBody>
      </p:sp>
      <p:sp>
        <p:nvSpPr>
          <p:cNvPr id="830" name="" descr="{&quot;isTemplate&quot;:true,&quot;type&quot;:&quot;text&quot;}"/>
          <p:cNvSpPr txBox="1"/>
          <p:nvPr/>
        </p:nvSpPr>
        <p:spPr>
          <a:xfrm rot="0" flipH="0" flipV="0">
            <a:off x="5191125" y="4229100"/>
            <a:ext cx="1809750" cy="171450"/>
          </a:xfrm>
          <a:prstGeom prst="rect"/>
        </p:spPr>
        <p:txBody>
          <a:bodyPr wrap="none" lIns="0" tIns="0" rIns="0" bIns="0"/>
          <a:p>
            <a:pPr>
              <a:lnSpc>
                <a:spcPct val="100000"/>
              </a:lnSpc>
            </a:pPr>
            <a:r>
              <a:rPr lang="zh-CN" sz="1125" b="1">
                <a:solidFill>
                  <a:srgbClr val="0F1423"/>
                </a:solidFill>
                <a:latin typeface="Microsoft YaHei"/>
                <a:ea typeface="Microsoft YaHei"/>
              </a:rPr>
              <a:t>敏捷响应</a:t>
            </a:r>
            <a:endParaRPr/>
          </a:p>
        </p:txBody>
      </p:sp>
      <p:sp>
        <p:nvSpPr>
          <p:cNvPr id="831" name="" descr="{&quot;isTemplate&quot;:true,&quot;type&quot;:&quot;text&quot;}"/>
          <p:cNvSpPr txBox="1"/>
          <p:nvPr/>
        </p:nvSpPr>
        <p:spPr>
          <a:xfrm rot="0" flipH="0" flipV="0">
            <a:off x="5191125" y="4438650"/>
            <a:ext cx="1809750" cy="180975"/>
          </a:xfrm>
          <a:prstGeom prst="rect"/>
        </p:spPr>
        <p:txBody>
          <a:bodyPr wrap="none" lIns="0" tIns="0" rIns="0" bIns="0"/>
          <a:p>
            <a:pPr>
              <a:lnSpc>
                <a:spcPct val="130000"/>
              </a:lnSpc>
            </a:pPr>
            <a:r>
              <a:rPr lang="zh-CN" sz="900">
                <a:solidFill>
                  <a:srgbClr val="8A8F99"/>
                </a:solidFill>
                <a:latin typeface="Microsoft YaHei"/>
                <a:ea typeface="Microsoft YaHei"/>
              </a:rPr>
              <a:t>提升数据获取效率</a:t>
            </a:r>
            <a:endParaRPr/>
          </a:p>
        </p:txBody>
      </p:sp>
      <p:sp>
        <p:nvSpPr>
          <p:cNvPr id="832" name=""/>
          <p:cNvSpPr/>
          <p:nvPr/>
        </p:nvSpPr>
        <p:spPr>
          <a:xfrm rot="0" flipH="0" flipV="0">
            <a:off x="7210425" y="3810000"/>
            <a:ext cx="2028825" cy="971550"/>
          </a:xfrm>
          <a:prstGeom prst="roundRect">
            <a:avLst>
              <a:gd name="adj" fmla="val 2941"/>
            </a:avLst>
          </a:prstGeom>
          <a:solidFill>
            <a:srgbClr val="FFFFFF"/>
          </a:solidFill>
          <a:ln/>
        </p:spPr>
        <p:txBody>
          <a:bodyPr/>
          <a:p>
            <a:pPr/>
            <a:endParaRPr/>
          </a:p>
        </p:txBody>
      </p:sp>
      <p:sp>
        <p:nvSpPr>
          <p:cNvPr id="833" name="" descr="{&quot;isTemplate&quot;:true,&quot;type&quot;:&quot;text&quot;}"/>
          <p:cNvSpPr txBox="1"/>
          <p:nvPr/>
        </p:nvSpPr>
        <p:spPr>
          <a:xfrm rot="0" flipH="0" flipV="0">
            <a:off x="7324725" y="3971925"/>
            <a:ext cx="1800225" cy="200025"/>
          </a:xfrm>
          <a:prstGeom prst="rect"/>
        </p:spPr>
        <p:txBody>
          <a:bodyPr wrap="none" lIns="0" tIns="0" rIns="0" bIns="0"/>
          <a:p>
            <a:pPr>
              <a:lnSpc>
                <a:spcPct val="100000"/>
              </a:lnSpc>
            </a:pPr>
            <a:r>
              <a:rPr lang="en-US" sz="1275" b="1">
                <a:solidFill>
                  <a:srgbClr val="FA4F24"/>
                </a:solidFill>
                <a:latin typeface="Microsoft YaHei"/>
                <a:ea typeface="Microsoft YaHei"/>
              </a:rPr>
              <a:t>04</a:t>
            </a:r>
            <a:endParaRPr/>
          </a:p>
        </p:txBody>
      </p:sp>
      <p:sp>
        <p:nvSpPr>
          <p:cNvPr id="834" name="" descr="{&quot;isTemplate&quot;:true,&quot;type&quot;:&quot;text&quot;}"/>
          <p:cNvSpPr txBox="1"/>
          <p:nvPr/>
        </p:nvSpPr>
        <p:spPr>
          <a:xfrm rot="0" flipH="0" flipV="0">
            <a:off x="7324725" y="4229100"/>
            <a:ext cx="1800225" cy="171450"/>
          </a:xfrm>
          <a:prstGeom prst="rect"/>
        </p:spPr>
        <p:txBody>
          <a:bodyPr wrap="none" lIns="0" tIns="0" rIns="0" bIns="0"/>
          <a:p>
            <a:pPr>
              <a:lnSpc>
                <a:spcPct val="100000"/>
              </a:lnSpc>
            </a:pPr>
            <a:r>
              <a:rPr lang="zh-CN" sz="1125" b="1">
                <a:solidFill>
                  <a:srgbClr val="0F1423"/>
                </a:solidFill>
                <a:latin typeface="Microsoft YaHei"/>
                <a:ea typeface="Microsoft YaHei"/>
              </a:rPr>
              <a:t>灵活消费</a:t>
            </a:r>
            <a:endParaRPr/>
          </a:p>
        </p:txBody>
      </p:sp>
      <p:sp>
        <p:nvSpPr>
          <p:cNvPr id="835" name="" descr="{&quot;isTemplate&quot;:true,&quot;type&quot;:&quot;text&quot;}"/>
          <p:cNvSpPr txBox="1"/>
          <p:nvPr/>
        </p:nvSpPr>
        <p:spPr>
          <a:xfrm rot="0" flipH="0" flipV="0">
            <a:off x="7324725" y="4438650"/>
            <a:ext cx="1800225" cy="180975"/>
          </a:xfrm>
          <a:prstGeom prst="rect"/>
        </p:spPr>
        <p:txBody>
          <a:bodyPr wrap="none" lIns="0" tIns="0" rIns="0" bIns="0"/>
          <a:p>
            <a:pPr>
              <a:lnSpc>
                <a:spcPct val="130000"/>
              </a:lnSpc>
            </a:pPr>
            <a:r>
              <a:rPr lang="zh-CN" sz="900">
                <a:solidFill>
                  <a:srgbClr val="8A8F99"/>
                </a:solidFill>
                <a:latin typeface="Microsoft YaHei"/>
                <a:ea typeface="Microsoft YaHei"/>
              </a:rPr>
              <a:t>满足多样消费诉求</a:t>
            </a:r>
            <a:endParaRPr/>
          </a:p>
        </p:txBody>
      </p:sp>
      <p:sp>
        <p:nvSpPr>
          <p:cNvPr id="836" name=""/>
          <p:cNvSpPr/>
          <p:nvPr/>
        </p:nvSpPr>
        <p:spPr>
          <a:xfrm rot="0" flipH="0" flipV="0">
            <a:off x="9334500" y="3810000"/>
            <a:ext cx="2038350" cy="971550"/>
          </a:xfrm>
          <a:prstGeom prst="roundRect">
            <a:avLst>
              <a:gd name="adj" fmla="val 2941"/>
            </a:avLst>
          </a:prstGeom>
          <a:solidFill>
            <a:srgbClr val="FFFFFF"/>
          </a:solidFill>
          <a:ln/>
        </p:spPr>
        <p:txBody>
          <a:bodyPr/>
          <a:p>
            <a:pPr/>
            <a:endParaRPr/>
          </a:p>
        </p:txBody>
      </p:sp>
      <p:sp>
        <p:nvSpPr>
          <p:cNvPr id="837" name="" descr="{&quot;isTemplate&quot;:true,&quot;type&quot;:&quot;text&quot;}"/>
          <p:cNvSpPr txBox="1"/>
          <p:nvPr/>
        </p:nvSpPr>
        <p:spPr>
          <a:xfrm rot="0" flipH="0" flipV="0">
            <a:off x="9448800" y="3971925"/>
            <a:ext cx="1809750" cy="200025"/>
          </a:xfrm>
          <a:prstGeom prst="rect"/>
        </p:spPr>
        <p:txBody>
          <a:bodyPr wrap="none" lIns="0" tIns="0" rIns="0" bIns="0"/>
          <a:p>
            <a:pPr>
              <a:lnSpc>
                <a:spcPct val="100000"/>
              </a:lnSpc>
            </a:pPr>
            <a:r>
              <a:rPr lang="en-US" sz="1275" b="1">
                <a:solidFill>
                  <a:srgbClr val="FA4F24"/>
                </a:solidFill>
                <a:latin typeface="Microsoft YaHei"/>
                <a:ea typeface="Microsoft YaHei"/>
              </a:rPr>
              <a:t>05</a:t>
            </a:r>
            <a:endParaRPr/>
          </a:p>
        </p:txBody>
      </p:sp>
      <p:sp>
        <p:nvSpPr>
          <p:cNvPr id="838" name="" descr="{&quot;isTemplate&quot;:true,&quot;type&quot;:&quot;text&quot;}"/>
          <p:cNvSpPr txBox="1"/>
          <p:nvPr/>
        </p:nvSpPr>
        <p:spPr>
          <a:xfrm rot="0" flipH="0" flipV="0">
            <a:off x="9448800" y="4229100"/>
            <a:ext cx="1809750" cy="171450"/>
          </a:xfrm>
          <a:prstGeom prst="rect"/>
        </p:spPr>
        <p:txBody>
          <a:bodyPr wrap="none" lIns="0" tIns="0" rIns="0" bIns="0"/>
          <a:p>
            <a:pPr>
              <a:lnSpc>
                <a:spcPct val="100000"/>
              </a:lnSpc>
            </a:pPr>
            <a:r>
              <a:rPr lang="zh-CN" sz="1125" b="1">
                <a:solidFill>
                  <a:srgbClr val="0F1423"/>
                </a:solidFill>
                <a:latin typeface="Microsoft YaHei"/>
                <a:ea typeface="Microsoft YaHei"/>
              </a:rPr>
              <a:t>兼顾安全</a:t>
            </a:r>
            <a:endParaRPr/>
          </a:p>
        </p:txBody>
      </p:sp>
      <p:sp>
        <p:nvSpPr>
          <p:cNvPr id="839" name="" descr="{&quot;isTemplate&quot;:true,&quot;type&quot;:&quot;text&quot;}"/>
          <p:cNvSpPr txBox="1"/>
          <p:nvPr/>
        </p:nvSpPr>
        <p:spPr>
          <a:xfrm rot="0" flipH="0" flipV="0">
            <a:off x="9448800" y="4438650"/>
            <a:ext cx="1809750" cy="180975"/>
          </a:xfrm>
          <a:prstGeom prst="rect"/>
        </p:spPr>
        <p:txBody>
          <a:bodyPr wrap="none" lIns="0" tIns="0" rIns="0" bIns="0"/>
          <a:p>
            <a:pPr>
              <a:lnSpc>
                <a:spcPct val="130000"/>
              </a:lnSpc>
            </a:pPr>
            <a:r>
              <a:rPr lang="zh-CN" sz="900">
                <a:solidFill>
                  <a:srgbClr val="8A8F99"/>
                </a:solidFill>
                <a:latin typeface="Microsoft YaHei"/>
                <a:ea typeface="Microsoft YaHei"/>
              </a:rPr>
              <a:t>受控的访问与审计</a:t>
            </a:r>
            <a:endParaRPr/>
          </a:p>
        </p:txBody>
      </p:sp>
      <p:sp>
        <p:nvSpPr>
          <p:cNvPr id="840" name=""/>
          <p:cNvSpPr/>
          <p:nvPr/>
        </p:nvSpPr>
        <p:spPr>
          <a:xfrm rot="0" flipH="0" flipV="0">
            <a:off x="609600" y="5076825"/>
            <a:ext cx="10972800" cy="504825"/>
          </a:xfrm>
          <a:prstGeom prst="roundRect">
            <a:avLst>
              <a:gd name="adj" fmla="val 7547"/>
            </a:avLst>
          </a:prstGeom>
          <a:solidFill>
            <a:srgbClr val="FA4F24">
              <a:alpha val="6000"/>
            </a:srgbClr>
          </a:solidFill>
          <a:ln/>
        </p:spPr>
        <p:txBody>
          <a:bodyPr/>
          <a:p>
            <a:pPr/>
            <a:endParaRPr/>
          </a:p>
        </p:txBody>
      </p:sp>
      <p:sp>
        <p:nvSpPr>
          <p:cNvPr id="841" name="" descr="{&quot;isTemplate&quot;:true,&quot;type&quot;:&quot;text&quot;}"/>
          <p:cNvSpPr txBox="1"/>
          <p:nvPr/>
        </p:nvSpPr>
        <p:spPr>
          <a:xfrm rot="0" flipH="0" flipV="0">
            <a:off x="800100" y="5248275"/>
            <a:ext cx="1419225" cy="171450"/>
          </a:xfrm>
          <a:prstGeom prst="rect"/>
        </p:spPr>
        <p:txBody>
          <a:bodyPr wrap="none" lIns="0" tIns="0" rIns="0" bIns="0"/>
          <a:p>
            <a:pPr>
              <a:lnSpc>
                <a:spcPct val="100000"/>
              </a:lnSpc>
            </a:pPr>
            <a:r>
              <a:rPr lang="zh-CN" sz="1125" b="1">
                <a:solidFill>
                  <a:srgbClr val="C43A17"/>
                </a:solidFill>
                <a:latin typeface="Microsoft YaHei"/>
                <a:ea typeface="Microsoft YaHei"/>
              </a:rPr>
              <a:t>供应链协同「三个</a:t>
            </a:r>
            <a:r>
              <a:rPr lang="en-US" sz="1125" b="1">
                <a:solidFill>
                  <a:srgbClr val="C43A17"/>
                </a:solidFill>
                <a:latin typeface="Microsoft YaHei"/>
                <a:ea typeface="Microsoft YaHei"/>
              </a:rPr>
              <a:t xml:space="preserve"> 1</a:t>
            </a:r>
            <a:r>
              <a:rPr lang="zh-CN" sz="1125" b="1">
                <a:solidFill>
                  <a:srgbClr val="C43A17"/>
                </a:solidFill>
                <a:latin typeface="Microsoft YaHei"/>
                <a:ea typeface="Microsoft YaHei"/>
              </a:rPr>
              <a:t>」</a:t>
            </a:r>
            <a:endParaRPr/>
          </a:p>
        </p:txBody>
      </p:sp>
      <p:sp>
        <p:nvSpPr>
          <p:cNvPr id="842" name="" descr="{&quot;isTemplate&quot;:true,&quot;type&quot;:&quot;text&quot;}"/>
          <p:cNvSpPr txBox="1"/>
          <p:nvPr/>
        </p:nvSpPr>
        <p:spPr>
          <a:xfrm rot="0" flipH="0" flipV="0">
            <a:off x="2371725" y="5210175"/>
            <a:ext cx="4962525" cy="238125"/>
          </a:xfrm>
          <a:prstGeom prst="rect"/>
        </p:spPr>
        <p:txBody>
          <a:bodyPr wrap="none" lIns="0" tIns="0" rIns="0" bIns="0"/>
          <a:p>
            <a:pPr>
              <a:lnSpc>
                <a:spcPct val="145000"/>
              </a:lnSpc>
            </a:pPr>
            <a:r>
              <a:rPr lang="en-US" sz="1050">
                <a:solidFill>
                  <a:srgbClr val="3A4050"/>
                </a:solidFill>
                <a:latin typeface="Microsoft YaHei"/>
                <a:ea typeface="Microsoft YaHei"/>
              </a:rPr>
              <a:t xml:space="preserve">1 </a:t>
            </a:r>
            <a:r>
              <a:rPr lang="zh-CN" sz="1050">
                <a:solidFill>
                  <a:srgbClr val="3A4050"/>
                </a:solidFill>
                <a:latin typeface="Microsoft YaHei"/>
                <a:ea typeface="Microsoft YaHei"/>
              </a:rPr>
              <a:t>天</a:t>
            </a:r>
            <a:r>
              <a:rPr lang="en-US" sz="1050">
                <a:solidFill>
                  <a:srgbClr val="3A4050"/>
                </a:solidFill>
                <a:latin typeface="Microsoft YaHei"/>
                <a:ea typeface="Microsoft YaHei"/>
              </a:rPr>
              <a:t xml:space="preserve"> </a:t>
            </a:r>
            <a:r>
              <a:rPr lang="zh-CN" sz="1050">
                <a:solidFill>
                  <a:srgbClr val="3A4050"/>
                </a:solidFill>
                <a:latin typeface="Microsoft YaHei"/>
                <a:ea typeface="Microsoft YaHei"/>
              </a:rPr>
              <a:t>交付已发布数据服务的新场景响应</a:t>
            </a:r>
            <a:r>
              <a:rPr lang="en-US" sz="1050">
                <a:solidFill>
                  <a:srgbClr val="3A4050"/>
                </a:solidFill>
                <a:latin typeface="Microsoft YaHei"/>
                <a:ea typeface="Microsoft YaHei"/>
              </a:rPr>
              <a:t xml:space="preserve"> ·</a:t>
            </a:r>
            <a:r>
              <a:rPr lang="en-US" sz="1050">
                <a:solidFill>
                  <a:srgbClr val="3A4050"/>
                </a:solidFill>
                <a:latin typeface="Microsoft YaHei"/>
                <a:ea typeface="Microsoft YaHei"/>
              </a:rPr>
              <a:t xml:space="preserve"> 1 </a:t>
            </a:r>
            <a:r>
              <a:rPr lang="zh-CN" sz="1050">
                <a:solidFill>
                  <a:srgbClr val="3A4050"/>
                </a:solidFill>
                <a:latin typeface="Microsoft YaHei"/>
                <a:ea typeface="Microsoft YaHei"/>
              </a:rPr>
              <a:t>周</a:t>
            </a:r>
            <a:r>
              <a:rPr lang="en-US" sz="1050">
                <a:solidFill>
                  <a:srgbClr val="3A4050"/>
                </a:solidFill>
                <a:latin typeface="Microsoft YaHei"/>
                <a:ea typeface="Microsoft YaHei"/>
              </a:rPr>
              <a:t xml:space="preserve"> </a:t>
            </a:r>
            <a:r>
              <a:rPr lang="zh-CN" sz="1050">
                <a:solidFill>
                  <a:srgbClr val="3A4050"/>
                </a:solidFill>
                <a:latin typeface="Microsoft YaHei"/>
                <a:ea typeface="Microsoft YaHei"/>
              </a:rPr>
              <a:t>完成数据需求上线</a:t>
            </a:r>
            <a:r>
              <a:rPr lang="en-US" sz="1050">
                <a:solidFill>
                  <a:srgbClr val="3A4050"/>
                </a:solidFill>
                <a:latin typeface="Microsoft YaHei"/>
                <a:ea typeface="Microsoft YaHei"/>
              </a:rPr>
              <a:t xml:space="preserve"> ·</a:t>
            </a:r>
            <a:r>
              <a:rPr lang="en-US" sz="1050">
                <a:solidFill>
                  <a:srgbClr val="3A4050"/>
                </a:solidFill>
                <a:latin typeface="Microsoft YaHei"/>
                <a:ea typeface="Microsoft YaHei"/>
              </a:rPr>
              <a:t xml:space="preserve"> 1 </a:t>
            </a:r>
            <a:r>
              <a:rPr lang="zh-CN" sz="1050">
                <a:solidFill>
                  <a:srgbClr val="3A4050"/>
                </a:solidFill>
                <a:latin typeface="Microsoft YaHei"/>
                <a:ea typeface="Microsoft YaHei"/>
              </a:rPr>
              <a:t>月</a:t>
            </a:r>
            <a:r>
              <a:rPr lang="en-US" sz="1050">
                <a:solidFill>
                  <a:srgbClr val="3A4050"/>
                </a:solidFill>
                <a:latin typeface="Microsoft YaHei"/>
                <a:ea typeface="Microsoft YaHei"/>
              </a:rPr>
              <a:t xml:space="preserve"> </a:t>
            </a:r>
            <a:r>
              <a:rPr lang="zh-CN" sz="1050">
                <a:solidFill>
                  <a:srgbClr val="3A4050"/>
                </a:solidFill>
                <a:latin typeface="Microsoft YaHei"/>
                <a:ea typeface="Microsoft YaHei"/>
              </a:rPr>
              <a:t>数据问题闭环</a:t>
            </a:r>
            <a:endParaRPr/>
          </a:p>
        </p:txBody>
      </p:sp>
      <p:sp>
        <p:nvSpPr>
          <p:cNvPr id="843" name=""/>
          <p:cNvSpPr/>
          <p:nvPr/>
        </p:nvSpPr>
        <p:spPr>
          <a:xfrm rot="0" flipH="0" flipV="0">
            <a:off x="609600" y="5943600"/>
            <a:ext cx="133350" cy="133350"/>
          </a:xfrm>
          <a:prstGeom prst="rect">
            <a:avLst/>
          </a:prstGeom>
          <a:solidFill>
            <a:srgbClr val="FA4F24"/>
          </a:solidFill>
          <a:ln/>
        </p:spPr>
        <p:txBody>
          <a:bodyPr/>
          <a:p>
            <a:pPr/>
            <a:endParaRPr/>
          </a:p>
        </p:txBody>
      </p:sp>
      <p:sp>
        <p:nvSpPr>
          <p:cNvPr id="844"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845"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29 / 30</a:t>
            </a:r>
            <a:endParaRPr/>
          </a:p>
        </p:txBody>
      </p:sp>
    </p:spTree>
  </p:cSld>
</p:sld>
</file>

<file path=ppt/slides/slide30.xml><?xml version="1.0" encoding="utf-8"?>
<p:sld xmlns:p="http://schemas.openxmlformats.org/presentationml/2006/main" xmlns:a="http://schemas.openxmlformats.org/drawingml/2006/main">
  <p:cSld>
    <p:spTree>
      <p:nvGrpSpPr>
        <p:cNvPr id="897" name=""/>
        <p:cNvGrpSpPr/>
        <p:nvPr/>
      </p:nvGrpSpPr>
      <p:grpSpPr>
        <a:xfrm>
          <a:off x="0" y="0"/>
          <a:ext cx="0" cy="0"/>
          <a:chOff x="0" y="0"/>
          <a:chExt cx="0" cy="0"/>
        </a:xfrm>
      </p:grpSpPr>
      <p:sp>
        <p:nvSpPr>
          <p:cNvPr id="898" name=""/>
          <p:cNvSpPr/>
          <p:nvPr/>
        </p:nvSpPr>
        <p:spPr>
          <a:xfrm rot="0" flipH="0" flipV="0">
            <a:off x="0" y="0"/>
            <a:ext cx="12192000" cy="6858000"/>
          </a:xfrm>
          <a:prstGeom prst="rect">
            <a:avLst/>
          </a:prstGeom>
          <a:solidFill>
            <a:srgbClr val="FFFFFF"/>
          </a:solidFill>
          <a:ln/>
        </p:spPr>
        <p:txBody>
          <a:bodyPr/>
          <a:p>
            <a:pPr/>
            <a:endParaRPr/>
          </a:p>
        </p:txBody>
      </p:sp>
      <p:sp>
        <p:nvSpPr>
          <p:cNvPr id="899" name=""/>
          <p:cNvSpPr/>
          <p:nvPr/>
        </p:nvSpPr>
        <p:spPr>
          <a:xfrm rot="0" flipH="0" flipV="0">
            <a:off x="0" y="0"/>
            <a:ext cx="12192000" cy="76200"/>
          </a:xfrm>
          <a:prstGeom prst="rect">
            <a:avLst/>
          </a:prstGeom>
          <a:gradFill>
            <a:gsLst>
              <a:gs pos="0">
                <a:srgbClr val="FA4F24"/>
              </a:gs>
              <a:gs pos="100000">
                <a:srgbClr val="F87D2F"/>
              </a:gs>
            </a:gsLst>
            <a:lin ang="0" scaled="1"/>
          </a:gradFill>
          <a:ln/>
        </p:spPr>
        <p:txBody>
          <a:bodyPr/>
          <a:p>
            <a:pPr/>
            <a:endParaRPr/>
          </a:p>
        </p:txBody>
      </p:sp>
      <p:sp>
        <p:nvSpPr>
          <p:cNvPr id="900" name=""/>
          <p:cNvSpPr/>
          <p:nvPr/>
        </p:nvSpPr>
        <p:spPr>
          <a:xfrm rot="0" flipH="0" flipV="0">
            <a:off x="8382000" y="1143000"/>
            <a:ext cx="4953000" cy="4953000"/>
          </a:xfrm>
          <a:prstGeom prst="roundRect">
            <a:avLst>
              <a:gd name="adj" fmla="val 50000"/>
            </a:avLst>
          </a:prstGeom>
          <a:solidFill>
            <a:srgbClr val="FA4F24">
              <a:alpha val="6000"/>
            </a:srgbClr>
          </a:solidFill>
          <a:ln/>
        </p:spPr>
        <p:txBody>
          <a:bodyPr/>
          <a:p>
            <a:pPr/>
            <a:endParaRPr/>
          </a:p>
        </p:txBody>
      </p:sp>
      <p:sp>
        <p:nvSpPr>
          <p:cNvPr id="901" name="" descr="{&quot;isTemplate&quot;:true,&quot;type&quot;:&quot;text&quot;}"/>
          <p:cNvSpPr txBox="1"/>
          <p:nvPr/>
        </p:nvSpPr>
        <p:spPr>
          <a:xfrm rot="0" flipH="0" flipV="0">
            <a:off x="4724400" y="1428750"/>
            <a:ext cx="2743200" cy="171450"/>
          </a:xfrm>
          <a:prstGeom prst="rect"/>
        </p:spPr>
        <p:txBody>
          <a:bodyPr wrap="none" lIns="0" tIns="0" rIns="0" bIns="0"/>
          <a:p>
            <a:pPr>
              <a:lnSpc>
                <a:spcPct val="100000"/>
              </a:lnSpc>
            </a:pPr>
            <a:r>
              <a:rPr lang="zh-CN" sz="1125" spc="300">
                <a:solidFill>
                  <a:srgbClr val="8A8F99"/>
                </a:solidFill>
                <a:latin typeface="Microsoft YaHei"/>
                <a:ea typeface="Microsoft YaHei"/>
              </a:rPr>
              <a:t>结语</a:t>
            </a:r>
            <a:r>
              <a:rPr lang="en-US" sz="1125" spc="300">
                <a:solidFill>
                  <a:srgbClr val="8A8F99"/>
                </a:solidFill>
                <a:latin typeface="Microsoft YaHei"/>
                <a:ea typeface="Microsoft YaHei"/>
              </a:rPr>
              <a:t xml:space="preserve"> · DATA ARCHITECTURE</a:t>
            </a:r>
            <a:endParaRPr/>
          </a:p>
        </p:txBody>
      </p:sp>
      <p:sp>
        <p:nvSpPr>
          <p:cNvPr id="902" name="" descr="{&quot;isTemplate&quot;:true,&quot;type&quot;:&quot;text&quot;}"/>
          <p:cNvSpPr txBox="1"/>
          <p:nvPr/>
        </p:nvSpPr>
        <p:spPr>
          <a:xfrm rot="0" flipH="0" flipV="0">
            <a:off x="3028950" y="1924050"/>
            <a:ext cx="6134100" cy="1428750"/>
          </a:xfrm>
          <a:prstGeom prst="rect"/>
        </p:spPr>
        <p:txBody>
          <a:bodyPr wrap="none" lIns="0" tIns="0" rIns="0" bIns="0"/>
          <a:p>
            <a:pPr algn="ctr">
              <a:lnSpc>
                <a:spcPct val="135000"/>
              </a:lnSpc>
            </a:pPr>
            <a:r>
              <a:rPr lang="zh-CN" sz="3450" b="1">
                <a:solidFill>
                  <a:srgbClr val="0F1423"/>
                </a:solidFill>
                <a:latin typeface="Microsoft YaHei"/>
                <a:ea typeface="Microsoft YaHei"/>
              </a:rPr>
              <a:t>先有「治」，才有「存」——</a:t>
            </a:r>
            <a:endParaRPr/>
          </a:p>
          <a:p>
            <a:pPr algn="ctr">
              <a:lnSpc>
                <a:spcPct val="135000"/>
              </a:lnSpc>
            </a:pPr>
            <a:r>
              <a:rPr lang="zh-CN" sz="3450" b="1">
                <a:solidFill>
                  <a:srgbClr val="0F1423"/>
                </a:solidFill>
                <a:latin typeface="Microsoft YaHei"/>
                <a:ea typeface="Microsoft YaHei"/>
              </a:rPr>
              <a:t>数据架构让数据从成本变成资产</a:t>
            </a:r>
            <a:endParaRPr/>
          </a:p>
        </p:txBody>
      </p:sp>
      <p:sp>
        <p:nvSpPr>
          <p:cNvPr id="903" name=""/>
          <p:cNvSpPr/>
          <p:nvPr/>
        </p:nvSpPr>
        <p:spPr>
          <a:xfrm rot="0" flipH="0" flipV="0">
            <a:off x="5676900" y="3714750"/>
            <a:ext cx="838200" cy="47625"/>
          </a:xfrm>
          <a:prstGeom prst="rect">
            <a:avLst/>
          </a:prstGeom>
          <a:solidFill>
            <a:srgbClr val="FA4F24"/>
          </a:solidFill>
          <a:ln/>
        </p:spPr>
        <p:txBody>
          <a:bodyPr/>
          <a:p>
            <a:pPr/>
            <a:endParaRPr/>
          </a:p>
        </p:txBody>
      </p:sp>
      <p:sp>
        <p:nvSpPr>
          <p:cNvPr id="904" name="" descr="{&quot;isTemplate&quot;:true,&quot;type&quot;:&quot;text&quot;}"/>
          <p:cNvSpPr txBox="1"/>
          <p:nvPr/>
        </p:nvSpPr>
        <p:spPr>
          <a:xfrm rot="0" flipH="0" flipV="0">
            <a:off x="2000250" y="4124325"/>
            <a:ext cx="8191500" cy="790575"/>
          </a:xfrm>
          <a:prstGeom prst="rect"/>
        </p:spPr>
        <p:txBody>
          <a:bodyPr wrap="none" lIns="0" tIns="0" rIns="0" bIns="0"/>
          <a:p>
            <a:pPr algn="ctr">
              <a:lnSpc>
                <a:spcPct val="180000"/>
              </a:lnSpc>
            </a:pPr>
            <a:r>
              <a:rPr lang="zh-CN" sz="1425">
                <a:solidFill>
                  <a:srgbClr val="3A4050"/>
                </a:solidFill>
                <a:latin typeface="Microsoft YaHei"/>
                <a:ea typeface="Microsoft YaHei"/>
              </a:rPr>
              <a:t>目录、标准、模型、分布，四组件构成的信息架构，</a:t>
            </a:r>
            <a:endParaRPr/>
          </a:p>
          <a:p>
            <a:pPr algn="ctr">
              <a:lnSpc>
                <a:spcPct val="180000"/>
              </a:lnSpc>
            </a:pPr>
            <a:r>
              <a:rPr lang="zh-CN" sz="1425">
                <a:solidFill>
                  <a:srgbClr val="3A4050"/>
                </a:solidFill>
                <a:latin typeface="Microsoft YaHei"/>
                <a:ea typeface="Microsoft YaHei"/>
              </a:rPr>
              <a:t>决定了一份数据能不能被找到、被理解、被信任、被复用。</a:t>
            </a:r>
            <a:endParaRPr/>
          </a:p>
        </p:txBody>
      </p:sp>
      <p:sp>
        <p:nvSpPr>
          <p:cNvPr id="905" name=""/>
          <p:cNvSpPr/>
          <p:nvPr/>
        </p:nvSpPr>
        <p:spPr>
          <a:xfrm rot="0" flipH="0" flipV="0">
            <a:off x="3076575" y="5353050"/>
            <a:ext cx="1409700" cy="676275"/>
          </a:xfrm>
          <a:prstGeom prst="roundRect">
            <a:avLst>
              <a:gd name="adj" fmla="val 5634"/>
            </a:avLst>
          </a:prstGeom>
          <a:solidFill>
            <a:srgbClr val="FA4F24"/>
          </a:solidFill>
          <a:ln/>
        </p:spPr>
        <p:txBody>
          <a:bodyPr/>
          <a:p>
            <a:pPr/>
            <a:endParaRPr/>
          </a:p>
        </p:txBody>
      </p:sp>
      <p:sp>
        <p:nvSpPr>
          <p:cNvPr id="906" name="" descr="{&quot;isTemplate&quot;:true,&quot;type&quot;:&quot;text&quot;}"/>
          <p:cNvSpPr txBox="1"/>
          <p:nvPr/>
        </p:nvSpPr>
        <p:spPr>
          <a:xfrm rot="0" flipH="0" flipV="0">
            <a:off x="3438525" y="5486400"/>
            <a:ext cx="685800" cy="209550"/>
          </a:xfrm>
          <a:prstGeom prst="rect"/>
        </p:spPr>
        <p:txBody>
          <a:bodyPr wrap="none" lIns="0" tIns="0" rIns="0" bIns="0"/>
          <a:p>
            <a:pPr>
              <a:lnSpc>
                <a:spcPct val="100000"/>
              </a:lnSpc>
            </a:pPr>
            <a:r>
              <a:rPr lang="zh-CN" sz="1350" b="1">
                <a:solidFill>
                  <a:srgbClr val="FFFFFF"/>
                </a:solidFill>
                <a:latin typeface="Microsoft YaHei"/>
                <a:ea typeface="Microsoft YaHei"/>
              </a:rPr>
              <a:t>资产目录</a:t>
            </a:r>
            <a:endParaRPr/>
          </a:p>
        </p:txBody>
      </p:sp>
      <p:sp>
        <p:nvSpPr>
          <p:cNvPr id="907" name="" descr="{&quot;isTemplate&quot;:true,&quot;type&quot;:&quot;text&quot;}"/>
          <p:cNvSpPr txBox="1"/>
          <p:nvPr/>
        </p:nvSpPr>
        <p:spPr>
          <a:xfrm rot="0" flipH="0" flipV="0">
            <a:off x="3600450" y="5743575"/>
            <a:ext cx="371475" cy="152400"/>
          </a:xfrm>
          <a:prstGeom prst="rect"/>
        </p:spPr>
        <p:txBody>
          <a:bodyPr wrap="none" lIns="0" tIns="0" rIns="0" bIns="0"/>
          <a:p>
            <a:pPr>
              <a:lnSpc>
                <a:spcPct val="100000"/>
              </a:lnSpc>
            </a:pPr>
            <a:r>
              <a:rPr lang="zh-CN" sz="975">
                <a:solidFill>
                  <a:srgbClr val="FFFFFF">
                    <a:alpha val="88000"/>
                  </a:srgbClr>
                </a:solidFill>
                <a:latin typeface="Microsoft YaHei"/>
                <a:ea typeface="Microsoft YaHei"/>
              </a:rPr>
              <a:t>找得到</a:t>
            </a:r>
            <a:endParaRPr/>
          </a:p>
        </p:txBody>
      </p:sp>
      <p:sp>
        <p:nvSpPr>
          <p:cNvPr id="908" name=""/>
          <p:cNvSpPr/>
          <p:nvPr/>
        </p:nvSpPr>
        <p:spPr>
          <a:xfrm rot="0" flipH="0" flipV="0">
            <a:off x="4619625" y="5353050"/>
            <a:ext cx="1409700" cy="676275"/>
          </a:xfrm>
          <a:prstGeom prst="roundRect">
            <a:avLst>
              <a:gd name="adj" fmla="val 5634"/>
            </a:avLst>
          </a:prstGeom>
          <a:solidFill>
            <a:srgbClr val="F7F7F8"/>
          </a:solidFill>
          <a:ln/>
        </p:spPr>
        <p:txBody>
          <a:bodyPr/>
          <a:p>
            <a:pPr/>
            <a:endParaRPr/>
          </a:p>
        </p:txBody>
      </p:sp>
      <p:sp>
        <p:nvSpPr>
          <p:cNvPr id="909" name="" descr="{&quot;isTemplate&quot;:true,&quot;type&quot;:&quot;text&quot;}"/>
          <p:cNvSpPr txBox="1"/>
          <p:nvPr/>
        </p:nvSpPr>
        <p:spPr>
          <a:xfrm rot="0" flipH="0" flipV="0">
            <a:off x="4981575" y="5486400"/>
            <a:ext cx="685800" cy="209550"/>
          </a:xfrm>
          <a:prstGeom prst="rect"/>
        </p:spPr>
        <p:txBody>
          <a:bodyPr wrap="none" lIns="0" tIns="0" rIns="0" bIns="0"/>
          <a:p>
            <a:pPr>
              <a:lnSpc>
                <a:spcPct val="100000"/>
              </a:lnSpc>
            </a:pPr>
            <a:r>
              <a:rPr lang="zh-CN" sz="1350" b="1">
                <a:solidFill>
                  <a:srgbClr val="0F1423"/>
                </a:solidFill>
                <a:latin typeface="Microsoft YaHei"/>
                <a:ea typeface="Microsoft YaHei"/>
              </a:rPr>
              <a:t>数据标准</a:t>
            </a:r>
            <a:endParaRPr/>
          </a:p>
        </p:txBody>
      </p:sp>
      <p:sp>
        <p:nvSpPr>
          <p:cNvPr id="910" name="" descr="{&quot;isTemplate&quot;:true,&quot;type&quot;:&quot;text&quot;}"/>
          <p:cNvSpPr txBox="1"/>
          <p:nvPr/>
        </p:nvSpPr>
        <p:spPr>
          <a:xfrm rot="0" flipH="0" flipV="0">
            <a:off x="5143500" y="5743575"/>
            <a:ext cx="371475" cy="152400"/>
          </a:xfrm>
          <a:prstGeom prst="rect"/>
        </p:spPr>
        <p:txBody>
          <a:bodyPr wrap="none" lIns="0" tIns="0" rIns="0" bIns="0"/>
          <a:p>
            <a:pPr>
              <a:lnSpc>
                <a:spcPct val="100000"/>
              </a:lnSpc>
            </a:pPr>
            <a:r>
              <a:rPr lang="zh-CN" sz="975">
                <a:solidFill>
                  <a:srgbClr val="8A8F99"/>
                </a:solidFill>
                <a:latin typeface="Microsoft YaHei"/>
                <a:ea typeface="Microsoft YaHei"/>
              </a:rPr>
              <a:t>看得懂</a:t>
            </a:r>
            <a:endParaRPr/>
          </a:p>
        </p:txBody>
      </p:sp>
      <p:sp>
        <p:nvSpPr>
          <p:cNvPr id="911" name=""/>
          <p:cNvSpPr/>
          <p:nvPr/>
        </p:nvSpPr>
        <p:spPr>
          <a:xfrm rot="0" flipH="0" flipV="0">
            <a:off x="6162675" y="5353050"/>
            <a:ext cx="1409700" cy="676275"/>
          </a:xfrm>
          <a:prstGeom prst="roundRect">
            <a:avLst>
              <a:gd name="adj" fmla="val 5634"/>
            </a:avLst>
          </a:prstGeom>
          <a:solidFill>
            <a:srgbClr val="F7F7F8"/>
          </a:solidFill>
          <a:ln/>
        </p:spPr>
        <p:txBody>
          <a:bodyPr/>
          <a:p>
            <a:pPr/>
            <a:endParaRPr/>
          </a:p>
        </p:txBody>
      </p:sp>
      <p:sp>
        <p:nvSpPr>
          <p:cNvPr id="912" name="" descr="{&quot;isTemplate&quot;:true,&quot;type&quot;:&quot;text&quot;}"/>
          <p:cNvSpPr txBox="1"/>
          <p:nvPr/>
        </p:nvSpPr>
        <p:spPr>
          <a:xfrm rot="0" flipH="0" flipV="0">
            <a:off x="6524625" y="5486400"/>
            <a:ext cx="685800" cy="209550"/>
          </a:xfrm>
          <a:prstGeom prst="rect"/>
        </p:spPr>
        <p:txBody>
          <a:bodyPr wrap="none" lIns="0" tIns="0" rIns="0" bIns="0"/>
          <a:p>
            <a:pPr>
              <a:lnSpc>
                <a:spcPct val="100000"/>
              </a:lnSpc>
            </a:pPr>
            <a:r>
              <a:rPr lang="zh-CN" sz="1350" b="1">
                <a:solidFill>
                  <a:srgbClr val="0F1423"/>
                </a:solidFill>
                <a:latin typeface="Microsoft YaHei"/>
                <a:ea typeface="Microsoft YaHei"/>
              </a:rPr>
              <a:t>数据模型</a:t>
            </a:r>
            <a:endParaRPr/>
          </a:p>
        </p:txBody>
      </p:sp>
      <p:sp>
        <p:nvSpPr>
          <p:cNvPr id="913" name="" descr="{&quot;isTemplate&quot;:true,&quot;type&quot;:&quot;text&quot;}"/>
          <p:cNvSpPr txBox="1"/>
          <p:nvPr/>
        </p:nvSpPr>
        <p:spPr>
          <a:xfrm rot="0" flipH="0" flipV="0">
            <a:off x="6686550" y="5743575"/>
            <a:ext cx="371475" cy="152400"/>
          </a:xfrm>
          <a:prstGeom prst="rect"/>
        </p:spPr>
        <p:txBody>
          <a:bodyPr wrap="none" lIns="0" tIns="0" rIns="0" bIns="0"/>
          <a:p>
            <a:pPr>
              <a:lnSpc>
                <a:spcPct val="100000"/>
              </a:lnSpc>
            </a:pPr>
            <a:r>
              <a:rPr lang="zh-CN" sz="975">
                <a:solidFill>
                  <a:srgbClr val="8A8F99"/>
                </a:solidFill>
                <a:latin typeface="Microsoft YaHei"/>
                <a:ea typeface="Microsoft YaHei"/>
              </a:rPr>
              <a:t>关联对</a:t>
            </a:r>
            <a:endParaRPr/>
          </a:p>
        </p:txBody>
      </p:sp>
      <p:sp>
        <p:nvSpPr>
          <p:cNvPr id="914" name=""/>
          <p:cNvSpPr/>
          <p:nvPr/>
        </p:nvSpPr>
        <p:spPr>
          <a:xfrm rot="0" flipH="0" flipV="0">
            <a:off x="7705725" y="5353050"/>
            <a:ext cx="1409700" cy="676275"/>
          </a:xfrm>
          <a:prstGeom prst="roundRect">
            <a:avLst>
              <a:gd name="adj" fmla="val 5634"/>
            </a:avLst>
          </a:prstGeom>
          <a:solidFill>
            <a:srgbClr val="F7F7F8"/>
          </a:solidFill>
          <a:ln/>
        </p:spPr>
        <p:txBody>
          <a:bodyPr/>
          <a:p>
            <a:pPr/>
            <a:endParaRPr/>
          </a:p>
        </p:txBody>
      </p:sp>
      <p:sp>
        <p:nvSpPr>
          <p:cNvPr id="915" name="" descr="{&quot;isTemplate&quot;:true,&quot;type&quot;:&quot;text&quot;}"/>
          <p:cNvSpPr txBox="1"/>
          <p:nvPr/>
        </p:nvSpPr>
        <p:spPr>
          <a:xfrm rot="0" flipH="0" flipV="0">
            <a:off x="8067675" y="5486400"/>
            <a:ext cx="685800" cy="209550"/>
          </a:xfrm>
          <a:prstGeom prst="rect"/>
        </p:spPr>
        <p:txBody>
          <a:bodyPr wrap="none" lIns="0" tIns="0" rIns="0" bIns="0"/>
          <a:p>
            <a:pPr>
              <a:lnSpc>
                <a:spcPct val="100000"/>
              </a:lnSpc>
            </a:pPr>
            <a:r>
              <a:rPr lang="zh-CN" sz="1350" b="1">
                <a:solidFill>
                  <a:srgbClr val="0F1423"/>
                </a:solidFill>
                <a:latin typeface="Microsoft YaHei"/>
                <a:ea typeface="Microsoft YaHei"/>
              </a:rPr>
              <a:t>数据分布</a:t>
            </a:r>
            <a:endParaRPr/>
          </a:p>
        </p:txBody>
      </p:sp>
      <p:sp>
        <p:nvSpPr>
          <p:cNvPr id="916" name="" descr="{&quot;isTemplate&quot;:true,&quot;type&quot;:&quot;text&quot;}"/>
          <p:cNvSpPr txBox="1"/>
          <p:nvPr/>
        </p:nvSpPr>
        <p:spPr>
          <a:xfrm rot="0" flipH="0" flipV="0">
            <a:off x="8229600" y="5743575"/>
            <a:ext cx="371475" cy="152400"/>
          </a:xfrm>
          <a:prstGeom prst="rect"/>
        </p:spPr>
        <p:txBody>
          <a:bodyPr wrap="none" lIns="0" tIns="0" rIns="0" bIns="0"/>
          <a:p>
            <a:pPr>
              <a:lnSpc>
                <a:spcPct val="100000"/>
              </a:lnSpc>
            </a:pPr>
            <a:r>
              <a:rPr lang="zh-CN" sz="975">
                <a:solidFill>
                  <a:srgbClr val="8A8F99"/>
                </a:solidFill>
                <a:latin typeface="Microsoft YaHei"/>
                <a:ea typeface="Microsoft YaHei"/>
              </a:rPr>
              <a:t>信得过</a:t>
            </a:r>
            <a:endParaRPr/>
          </a:p>
        </p:txBody>
      </p:sp>
      <p:sp>
        <p:nvSpPr>
          <p:cNvPr id="917" name="" descr="{&quot;isTemplate&quot;:true,&quot;type&quot;:&quot;text&quot;}"/>
          <p:cNvSpPr txBox="1"/>
          <p:nvPr/>
        </p:nvSpPr>
        <p:spPr>
          <a:xfrm rot="0" flipH="0" flipV="0">
            <a:off x="3638550" y="6505575"/>
            <a:ext cx="4924425" cy="295275"/>
          </a:xfrm>
          <a:prstGeom prst="rect"/>
        </p:spPr>
        <p:txBody>
          <a:bodyPr wrap="none" lIns="0" tIns="0" rIns="0" bIns="0"/>
          <a:p>
            <a:pPr algn="ctr">
              <a:lnSpc>
                <a:spcPct val="170000"/>
              </a:lnSpc>
            </a:pPr>
            <a:r>
              <a:rPr lang="zh-CN" sz="1125">
                <a:solidFill>
                  <a:srgbClr val="8A8F99"/>
                </a:solidFill>
                <a:latin typeface="Microsoft YaHei"/>
                <a:ea typeface="Microsoft YaHei"/>
              </a:rPr>
              <a:t>数据架构不是</a:t>
            </a:r>
            <a:r>
              <a:rPr lang="en-US" sz="1125">
                <a:solidFill>
                  <a:srgbClr val="8A8F99"/>
                </a:solidFill>
                <a:latin typeface="Microsoft YaHei"/>
                <a:ea typeface="Microsoft YaHei"/>
              </a:rPr>
              <a:t xml:space="preserve"> IT </a:t>
            </a:r>
            <a:r>
              <a:rPr lang="zh-CN" sz="1125">
                <a:solidFill>
                  <a:srgbClr val="8A8F99"/>
                </a:solidFill>
                <a:latin typeface="Microsoft YaHei"/>
                <a:ea typeface="Microsoft YaHei"/>
              </a:rPr>
              <a:t>内部的规范，而是企业把业务语言翻译成数据语言的</a:t>
            </a:r>
            <a:r>
              <a:rPr lang="zh-CN" sz="1125" b="1">
                <a:solidFill>
                  <a:srgbClr val="C43A17"/>
                </a:solidFill>
                <a:latin typeface="Microsoft YaHei"/>
                <a:ea typeface="Microsoft YaHei"/>
              </a:rPr>
              <a:t>唯一共识</a:t>
            </a:r>
            <a:endParaRPr/>
          </a:p>
        </p:txBody>
      </p:sp>
      <p:sp>
        <p:nvSpPr>
          <p:cNvPr id="918" name=""/>
          <p:cNvSpPr/>
          <p:nvPr/>
        </p:nvSpPr>
        <p:spPr>
          <a:xfrm rot="0" flipH="0" flipV="0">
            <a:off x="609600" y="6181725"/>
            <a:ext cx="133350" cy="133350"/>
          </a:xfrm>
          <a:prstGeom prst="rect">
            <a:avLst/>
          </a:prstGeom>
          <a:solidFill>
            <a:srgbClr val="FA4F24"/>
          </a:solidFill>
          <a:ln/>
        </p:spPr>
        <p:txBody>
          <a:bodyPr/>
          <a:p>
            <a:pPr/>
            <a:endParaRPr/>
          </a:p>
        </p:txBody>
      </p:sp>
      <p:sp>
        <p:nvSpPr>
          <p:cNvPr id="919" name="" descr="{&quot;isTemplate&quot;:true,&quot;type&quot;:&quot;text&quot;}"/>
          <p:cNvSpPr txBox="1"/>
          <p:nvPr/>
        </p:nvSpPr>
        <p:spPr>
          <a:xfrm rot="0" flipH="0" flipV="0">
            <a:off x="838200" y="6162675"/>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920" name="" descr="{&quot;isTemplate&quot;:true,&quot;type&quot;:&quot;text&quot;}"/>
          <p:cNvSpPr txBox="1"/>
          <p:nvPr/>
        </p:nvSpPr>
        <p:spPr>
          <a:xfrm rot="0" flipH="0" flipV="0">
            <a:off x="11125200" y="6162675"/>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30 / 30</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2026-10-11T21:50:40Z</dcterms:created>
  <dcterms:modified xsi:type="dcterms:W3CDTF">2026-10-11T21:50:40Z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{"AIGC":{"Label":"1","ContentProducer":"00119111010856365494821B355","ProduceID":"01a12b3221f17e779b15dd49e77b369b","ReservedCode1":"","ContentPropagator":"00119111010856365494821B355","PropagateID":"01a12b3221f17e779b15dd49e77b369b","ReservedCode2":""}}</vt:lpwstr>
  </property>
</Properties>
</file>