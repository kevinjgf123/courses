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2.xml" ContentType="application/vnd.openxmlformats-officedocument.them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8" Type="http://schemas.openxmlformats.org/officeDocument/2006/relationships/presProps" Target="presProps.xml" /><Relationship Id="rId21" Type="http://schemas.openxmlformats.org/officeDocument/2006/relationships/slide" Target="slides/slide21.xml" /><Relationship Id="rId27" Type="http://schemas.openxmlformats.org/officeDocument/2006/relationships/notesMaster" Target="notesMasters/notesMaster1.xml" /><Relationship Id="rId26" Type="http://schemas.openxmlformats.org/officeDocument/2006/relationships/slide" Target="slides/slide26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9" Type="http://schemas.openxmlformats.org/officeDocument/2006/relationships/tableStyles" Target="tableStyles.xml" /><Relationship Id="rId3" Type="http://schemas.openxmlformats.org/officeDocument/2006/relationships/slide" Target="slides/slide3.xml" /><Relationship Id="rId30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0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<Relationships xmlns="http://schemas.openxmlformats.org/package/2006/relationships"><Relationship Id="rId0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<Relationships xmlns="http://schemas.openxmlformats.org/package/2006/relationships"><Relationship Id="rId0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<Relationships xmlns="http://schemas.openxmlformats.org/package/2006/relationships"><Relationship Id="rId0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<Relationships xmlns="http://schemas.openxmlformats.org/package/2006/relationships"><Relationship Id="rId0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8.xml.rels><?xml version="1.0" encoding="UTF-8" standalone="yes"?><Relationships xmlns="http://schemas.openxmlformats.org/package/2006/relationships"><Relationship Id="rId0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<Relationships xmlns="http://schemas.openxmlformats.org/package/2006/relationships"><Relationship Id="rId0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<Relationships xmlns="http://schemas.openxmlformats.org/package/2006/relationships"><Relationship Id="rId0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各位好，今天这一场，我不打算讲概念，我要交给大家一套可以直接开工的作业标准。
先说清楚它解决什么问题。在座各位大概都有过这种经历：同一个企业架构项目，换一个咨询团队来做，交付的东西完全不是一回事——有人交一堆流程图，有人交一堆表，最后客户拿到手，没法比、没法管、第二年也没法接着往下做。问题不在能力，在缺标准。
所以今天这份方法论，全部努力都指向一个词：可复用。它要保证不同的人、在不同的项目上做出来的架构成果，是可比的、可交接的、可积累的。
它的底子是华为《华为数据之道》——那本书把「数据怎么管」讲透了，我们今天做的事情是往上接一层，把「企业架构怎么建」也变成一套标准动作。
接下来四十分钟，我会先把总纲和作业流程交代清楚，然后四层架构——业务、数据、应用、技术——每一层我都按「方法、内容、模板」三段给各位走一遍。听完之后，各位手上应该能拿走一整套可以直接用的东西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第三模块，业务架构。
这是四层里最上面、也最容易做偏的一层。说它容易做偏，是因为业务架构看上去谁都能画——画个流程图、列个部门职责，好像就是业务架构了。但这些都不是。
业务架构真正要回答的，是「做什么业务」，而且必须用一套稳定的语言来描述。
接下来三页，我按方法、内容、模板走一遍。我给各位一个听这三页的抓手：请一直想着「组织」和「能力」这两个词的差别。想清楚这个差别，业务架构这一层就通了。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这一页讲业务架构的建模方法，核心只有一句话，我放在最前面说：业务架构要画的是能力地图，不是组织架构图。
我说的「画错了」这件事，在座各位应该都见过。企业里最常见的做法，是照着组织架构图来梳理业务——研发部管什么、供应链部管什么、销售部管什么，梳理得清清楚楚，看起来很整齐。但问题是，组织是会变的。今天合并两个部门，明天新设一个中心，你那套东西立刻就作废了，所有下游的系统设计都得跟着返工。
所以这套方法的核心动作，是在识别能力的时候，刻意把「谁在做」这层组织信息剥离掉，只留「做什么」。订单履行的能力，不管它是销售部管还是供应链部管，这个能力本身不会消失。能力是稳定的，组织是易变的，所以我们拿能力当锚点。
这四步里，第二步是最见功力的地方——能不能把组织干扰剥干净，直接决定了后面能力地图的质量。这一步做歪，后面全歪。
方法讲完了，那这一层到底要交出什么东西？下一页讲。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这一页讲业务架构的交付物。
我先立个态度：交付物不是文档堆砌。不是交得越多越专业，而是每一份都要回答一个明确的问题。这一页的三类成果，恰好回答三个问题——有哪些能力、怎么创造价值、谁来承担。
这三份东西，我不逐个念字段，我想讲它们之间的关系，这才是关键。能力地图是本体，它定义了企业有哪些能力、什么成熟度；价值流图是横切面，它看的是这些能力怎么串起来创造价值；组织映射表是把能力和人对上，明确谁负责。
这三份的顺序不能乱。一定是先有地图，再有价值流，最后才是组织映射。因为组织映射是「把能力挂到人头上」，如果能力本身还没定义清楚，挂上去就是错的。现实中很多项目反过来做，先按部门分任务，最后才发现能力根本没梳理过——这是典型的本末倒置。
下面这个判断请各位留意：成熟度低不等于优先级高。一个能力成熟度低，但它可能根本不重要，不需要投；真正要做的是叠加战略重要度一起看。只看成熟度定投资次序，钱就花偏了。
交付物讲完了，下一页给各位看具体长什么样——也就是模板。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这一页是业务架构的模板，给各位两个可以直接拿去用的东西。
我先讲这页最上面那行小字，因为它是这一页的灵魂：模板的价值在于「字段即标准」。
各位别把模板当成格式要求，它其实是思考工具。为什么这么说？因为当你填不出某个字段的时候，说明你对这件事的思考还不到位。我举一个最典型的：如果让你写一个能力的度量指标，你写不出来——那说明这个能力在你脑子里还是个模糊概念，你并不知道它做得好不好，也就谈不上管理它。
所以模板的用法，不是最后拿来套格式，而是一开始就拿着它去走访、去提问。填不出的地方，就是接下来要去搞明白的地方。
左边的能力卡片和右边的价值流图符号规范，示范的是同一个道理：把「怎么写」变成「照标准写」，跨项目、跨团队才可比。这里我特别提请各位注意填写要求里那句——断点与返工必须显式画出，不得美化。这是价值观问题。价值流图上如果把返工全藏起来，画出来漂漂亮亮，那这张图就失去意义了，因为它掩盖的恰恰是最需要解决的问题。
业务架构讲完了。下面进入四层里承上启下的一层——数据架构。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第四模块，数据架构。
这一层我可能会讲得稍长一些，因为它是四层里的枢纽。业务架构是基础，技术架构是底座，但把两头接起来的，是数据架构。
在讲具体方法之前，我先给各位一个背景判断：现在几乎所有企业都在建数据平台、建数据湖，投入都不小。但据我观察，大部分投入的效果是不达预期的。原因往往不在技术，在顺序——先把湖建起来了，数据也灌进去了，但没人说得清这些数据该由谁负责、标准是什么、以哪一份为准。结果就是一句话：湖建好了，水是浑的。
数据架构要解决的，就是「浑」的问题。我们接下来三页，按方法、内容、模板走一遍。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这一页讲数据架构的方法，它的起点跟业务架构不一样——业务架构从价值流出发，数据架构从业务对象出发。
这里面有一个顺序问题，我要重点讲，因为这决定了项目的成败：先有「治」，才有「存」。也就是说，先把标准、模型、分布这些治理的事情设计清楚，再让数据按架构入湖落仓。顺序反了，湖就成了一潭浑水。
我为什么强调这个顺序？因为现实中的做法常常相反——业务催着要数据，团队就先搭平台、先灌数据，想着治理的事以后慢慢补。但数据一旦以脏乱的状态进了湖，后面再治理的成本是指数级上升的，很多时候干脆就治理不动了，最后整个平台废掉重来。
所以这一页请各位记住一句话：信息架构这张蓝图必须在数据入湖之前画好，它是施工图，不是事后补的竣工图。
这四步作业里，第一步业务对象识别是整个链条的源头。对象识别错了或者漏了，后面目录、标准、模型、分布全部跟着错。所以我们在这一步有四条判定标准，会一个一个卡——重要人事物的载体、有唯一标识、相对独立且有属性、可以实例化，四条都过才算。
方法讲完了，这一层要交出什么？下一页。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这一页是数据架构的核心，信息架构的四个组件。
我先说清楚这四者的关系，因为这页最容易被人理解成四份互相独立的文档——那就又回到各干各的老路了。它们其实是回答四个递进的问题：有哪些数据、怎么统一、如何关联、存在哪里。四个问题是连贯的一条链，缺一环整条链就断了。
这四个组件里，我想请各位特别关注业务对象这个层级。请看左边那个五层目录结构——它为什么把业务对象放在正中间？因为它上面接着业务，下面接着技术。业务侧识别出来的对象，从这里开始变成数据资产。这一层是信息架构的枢纽，也是我们跟应用系统对接的接口。抓住了业务对象，就等于抓住了整条数据链的抓手。
还有一个关系要讲清楚：业务对象不是数据团队自己关起门来定义的东西。它必须来自业务架构的梳理结果。业务架构识别的对象跟数据架构定义的对象，必须是同一套——这就是前面讲的「同一个词，四层通用」在数据层的落实。如果两边各定一套，那数据架构从一开始就跟业务脱节了。
四个组件的含义讲清楚了，下一页给各位看落地工具。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这一页是数据架构的模板，我主要想讲中间那张矩阵，因为它是这一层最有实战价值的工具。
这张矩阵的逻辑很简单：用业务对象做行，用应用系统做列，标出每个系统对每个对象是创建、读取、更新还是删除。看起来平淡，但它能逼出一个企业最要命的问题。
请各位看下面这个判断——当你发现「客户」这个对象，好几个系统都是创建方，那就说明这个企业的客户数据是乱的。谁都能改，谁都说了算，最后谁说的都不算。客户信息在 CRM 里是一套，在订单系统里是另一套，开会的时候两个部门各拿一份数据吵架，这种事各位应该不陌生。
矩阵的价值就是把这个隐患显性化。它是个过程性工具——不是拿来交差的，是拿来暴露矛盾的。治理的目标，是让每个对象最终只有一个创建方，一个权威源。其他的系统只能读取。这一条守住了，数据质量的地基才算打下去了。
所以这张矩阵请不要当作业模板来填，要当治理工具来用。填的过程中发现的每一个「多个 C」，都是接下来要开会解决的具体议题。
数据架构讲完了。接下来进入应用架构，这一层跟各位日常打交道最多。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第五模块，应用架构。
这一层各位最熟悉，因为每个企业手上都有一堆系统，而且大概率还在不断增加。
我想先抛一个可能不太受欢迎的观点：应用架构的重点，不是建新系统，而是治存量。
为什么这么说？因为企业 IT 成本失控，绝大部分不是花在新系统上，是花在老系统的维护上。每年新增几个系统，看着不多，十年下来就是几十上百个，每个都要维护、都要改、都要跟别的系统对接，技术债越滚越大。到最后，一个新需求进来，光是评估它会影响多少个系统，就要开好几次会。
所以应用架构这一层，我们的核心动作是盘点和治理现有组合，而不是规划新增。接下来三页讲具体怎么做。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这一页讲应用架构的方法，它的起点是我们前面梳理出来的业务能力。
这个起点很关键，我想强调一下：应用架构不是从系统清单出发的，是从能力出发的。为什么？因为如果从系统清单出发，你看到的永远是「我们已经有了什么」，思路会被现有系统锁死。而从能力出发，问的是「这些能力该由什么承载」，才有可能发现冗余和缺口。
这四步里，第一步能力映射是最容易出成果、也最容易刺痛人的一步。做法是把每个业务能力逐项去问：它现在由哪些系统承载？你会经常发现，一个能力被三四个系统重复承载着，每个都做了百分之六七十，谁都不全。这就是典型的重复建设，也是数据不一致的根源。
第二步应用盘点，我要提醒各位，一定要把维护成本和业务关键度这两项列进去。很多企业盘点系统只盘用户数和功能，不盘钱。不盘钱的盘点没有决策价值，因为你无法判断哪个系统该退役。
这四步走完，每个应用最后都会落到一个结论上——建、买、集成还是退役。这个四态决策是这一层的核心产出，下一页我们看它具体怎么定。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这是今天的地图，各位可以先拍下来，后面随时可以对照。
六个模块，我不逐条念。我只提醒各位注意结构上的一个设计：前两块是总纲和战略，是「想清楚」的部分；后面四块才是四层架构的具体作业。很多人做架构一上来就画图，恰恰是跳过了前面这两块，结果架构跟战略是两张皮——这是最常见的失败原因。
所以请各位记住这个顺序：先对齐方向，再逐层落地。我会严格按这个顺序讲。
还有一个贯穿全场的约定，各位从第二页就能看到——从第三块开始，每一层都是「方法、内容、模板」三段。方法讲怎么做，内容讲做什么，模板讲做成什么样。这三段是本场的骨架，我会反复回到它。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这一页讲应用架构的三份交付物。
我用一句话帮各位记住它们的边界：清单解决「有什么」，关系图解决「怎么连」，架构原则解决「以后怎么建」。这三句话请记一下，因为它划清了职责，避免团队重复劳动。
这三份里，我想重点讲第三份——架构原则。前两份是盘点现状，架构原则才是管未来的。它回答的是：以后新来的需求，我们按什么规矩应对？
四条原则里，我特别想请各位记住第三条：集成优于重建。这一条如果守住了，能替企业省掉大量钱。现实中非常常见的场景是，业务部门觉得某个现成系统不好用，就提出要新建一个。但仔细一评估，那个系统的能力其实通过接口就能复用。这时候原则就起作用了——能通过接口复用的，不得另建平行系统。否则每多一个部门提需求，就多一套系统，最后又回到烟囱林立的老路。
第四条定期组合评审也很重要。应用组合不是一次盘点管十年，它需要每年复评。市场在变、技术在变，去年该保留的系统，今年可能就该退役了。没有定期评审机制，再好的架构也会随时间腐化。
交付物讲完了，下一页给各位看模板，也是这一层最实用的工具。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这一页是应用架构的模板，我给各位一个判断：这一页的决策表，是整个方法论里最能直接见效的工具。
为什么这么说？因为它把一件长期靠拍脑袋的事，变成了按标准判定的事。企业的应用系统该建还是该砍，过去往往是领导一句话，或者哪个部门声音大。有了这张表，四个字段一过——技术健康度、业务价值、承载能力、决策信号——结论是自动浮出来的，不需要争论，谁都可以复核。
这个工具会得罪人，我得提前说明。因为一旦按标准判定，很多靠人情保住的系统就藏不住了。一个系统技术健康度 D、业务价值 B、功能可以被替代，结论只能是退役。这时候一定会有人出来说这个系统还有用。解决办法就是——把标准摆在桌面上，让数据说话，而不是让立场说话。这也是我们前面强调「字段即标准」的意思。
另外请各位注意应用卡片里那条「必须挂到能力」的要求。一个应用如果挂不上任何业务能力，说明它存在没有依据，这本身就是退役的信号。
应用架构讲完了。最后进入四层里最下面、也最容易被误解的一层——技术架构。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最后一层，技术架构。
这一层我想先说一个心态问题。技术架构最容易变成技术爱好者的秀场——讨论哪个框架更先进、哪个中间件性能更好，讨论得很热烈，但是业务方完全听不懂，也不关心。
这不是技术架构应有的样子。技术架构的价值不在技术本身有多新，而在于它能让业务跑得稳、让未来的变化不至于推翻现有系统。
所以这一层的核心命题，我先给各位一句话概括：用架构的确定性，去应对技术的不确定性。技术一定会过时，这是常态，我们没法阻止；但分层结构和接口标准可以长期稳定。这就是技术架构真正的抓手。
接下来三页，按方法、内容、模板走完。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这一页讲技术架构的方法。
它的起点跟前三层不太一样——它是从上层反推下来的。什么意思？技术需求不能凭空提，要先看应用架构那边规划了什么样的应用组合、数据架构那边预计了多大规模的数据，然后把并发、时延、容量、可用性这些指标反推出来。这是需求输入这一步要做的事。
我想重点讲一个取舍：不在单点技术上押注，而在分层结构和接口标准上投资。
这两句话是有代价的，我讲清楚代价在哪。押注新技术，短期看起来领先，但是风险极高——一旦选错了方向，整个系统都要重来，这是很多企业掉过的坑。而投资分层结构和接口标准，短期看不到什么亮点，做起来也不激动人心，但它的收益是二十年的——因为它让你换技术的时候，只用换一层，不用推翻全部。
所以这四步里，第二步分层设计是投资重点，第三步选型评估要冷静。选型评估里有一项叫锁定风险，请各位务必认真评。一个技术先进但是把你锁死的产品，长期成本可能远高于一个中庸但开放的产品。
这四个维度评完，最后要落到一页真正的演进路线图上。下一页我们看这一层要交什么。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这一页讲技术架构的三份交付物。
我还是用一句话划边界：组件清单解决「用什么」，部署视图解决「放哪里」，标准规范解决「怎么管」。
三份里，我想重点说标准规范，因为它最容易被当成摆设。技术标准规范在很多企业里都有，写在文档里，挂在墙上，但没人执行。最后的结果是，每个团队各选各的技术栈，两三年的工夫，又长出一堆不兼容的东西。
所以标准规范的价值，不在于写得多全，而在于有没有配套的准入机制。这一页最右下角那条讲的就是这个意思——技术选型必须走评估流程，而且要有明确的禁用清单。有了禁用清单，规范才真正有牙齿。没有禁用清单的规范，只是建议书，不是标准。
另外我想请各位注意部署视图那一块。双活、灾备、环境隔离、数据脱敏，这些看起来是运维细节，但它们是技术架构承诺的服务等级。业务方关心系统稳不稳，最终看的其实就是这些东西。所以它不是技术部门内部的事，是要对业务负责的。
交付物讲完，最后一页模板，也是今天的收尾。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这一页是技术架构的模板，也是全部四层模板的最后一页。
我想用这一页讲一个贯穿整场的原则，请各位留意看下面那条关键判断：技术路线的价值，不在选了哪家产品，而在每阶段都能退坡。
「退坡」这个词，是今天各位最该带走的概念之一。它的意思是：每一步演进都要留好退路，如果阶段目标不达标，可以退回上一个稳定状态，而不至于让业务中断。
为什么这一点如此重要？因为企业技术演进最常见的事故，就是一次性的激进替换——上了新平台，旧的关停，结果新平台没跑起来，业务也跟着停了，两头不着。这种事故在很多企业都发生过，代价极其高昂。
所以这一页的三阶段路线图，每一个阶段都配了明确的技术里程碑和退坡条件。阶段目标达成了，往前走；没达成，原地不动或者退回去，业务不受影响。这个设计会让路线图看起来不如一步到位那么漂亮，但它是能真正落地的路线图。
四层架构到这里全部讲完了，最后一页我做个总结。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今天的全部内容，我想用这一页的一句话收尾：架构的确定性，是转型唯一可复用的资产。
这句话我想再展开讲一层。业务会变、技术会换，这是任何人拦不住的常态，所以指望业务稳定、技术不变的架构，必然失败。但有一件事可以沉淀下来——就是被清晰定义的架构本身。它把上层的战略变化和下层的技术变化，都缓冲掉了，让每一次转型不必从零开始。
回头看今天走的这一条路：业务架构定做什么业务，数据架构定需要什么数据，应用架构定用什么系统承载，技术架构定用什么技术实现。四层合起来，就是企业那份可以长期复用的资产。我们今天这套方法、内容、模板三段式的作业标准，说到底就是为了让这份资产可以被稳定地生产出来、被沉淀下来。
感谢各位的时间。接下来是交流环节，各位有任何关于自己企业落地的问题，我们可以具体讨论。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在进入具体方法之前，我需要先用一页把四层架构的关系讲明白，因为这是后面所有内容的地基。
各位看这四层的顺序，我想强调一个字：不是「分」，是「接」。业务架构说做什么业务，数据架构说需要什么数据，应用架构说用什么系统承载，技术架构说用什么技术实现——四层看着是四件事，其实是同一件事往下走四级台阶。
这里有一条纪律，我请各位今天一定要记住：上层定「做什么」，下层答「怎么实现」，不许倒过来。现实中大量架构工作之所以失败，就是因为底层的技术选型反过来绑架了业务设计——买了什么系统，就只做什么业务。这是本末倒置。
双向校验的意思是，向下要能分解，向上要能追溯。任何一个技术组件，都应该能往上问到「你支撑哪条业务目标」。问不出来，这个东西就不该存在。
这四层我按顺序讲，先从最上面的业务架构开始。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第一个模块，方法论总体介绍。
这一块我讲得快一点，但它其实最重要——因为是定规矩的地方。如果规矩没立住，后面四层做得再细，也只是一堆互相不认账的文档。
我接下来用两页把规矩交代完：第一页讲内核，也就是这套方法论凭什么能贯穿四层；第二页讲流程，也就是一个真实的咨询项目按什么节奏推进。
请各位留意，这两页里的每一句话，后面四层都会反复印证。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这一页是整个方法论的内核，也是今天最需要各位记住的一页。
我想先纠正一个很普遍的误解。很多企业做架构，是把四层当成四个独立项目在做：业务部门画业务流程图，IT 部门做数据模型，信息化部门管应用清单，运维团队定技术标准。四个团队各干各的，各交各的文档，最后拼在一起，处处对不上。
这套方法论反着来：它要求四层共用同一个锚点。我们在业务架构里识别出来的「客户」「订单」「物料」，到了数据架构就是数据资产目录里的业务对象，到了应用架构就是系统要承载的东西，到了技术架构就是数据要存的对象。同一个词，四层通用。只要这个锚点守住了，四层就天然咬合，不需要额外做对齐。
中间这三段，是我承诺给各位的作业闭环，我不念定义，只说它们各自防什么病：方法防的是「同一个人换个项目就做出两样东西」；内容防的是「该交的漏了」；模板防的是「交上来的格式千奇百怪，没法比」。三样合起来，成果才叫可复用。
右边三条总则，如果今天各位只能记住一条，请记住第一条：业务主导。数据与架构的责任主体在业务，不在 IT。这一条最容易被架空——大家嘴上认，实际干起来，还是 IT 在关起门拍。一旦责任归属错了，后面所有交付物的权威性都没了。
规矩立完了，接下来讲这套规矩怎么落到一个真实项目的节奏里。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上一页讲的是内核，这一页讲的是节奏——一个咨询项目从进场到关门，按什么顺序推进。
这五步，我不想跟各位念流程，我想讲一个现象：大部分架构项目的失败，不是死在建模技术上，是死在第一步和第五步。第一步愿景与战略没对齐，后面四步做得再漂亮，也是在解一道错题；第五步没落到路线图上，交付物就是一堆精美但没人执行的文档，项目结束即作废。
所以这套流程的设计逻辑是：第一步必须由高层访谈定调，中间三步才是专业技术活，第五步必须回到业务，把差距拆成可排序、可投资、可考核的动作。
我还想请各位注意每一格下面那个小标签——那不是装饰，那是每一步的「交付物」。这套流程有个硬规矩：每一步都必须以一份可评审的交付物收口，绝不允许项目结束时把一堆访谈纪要装订成册交差。没有交付物，这一步就不算完成。
流程交代完了，我们现在正式进入四层架构。第一层，业务架构。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第二模块，业务愿景和战略。
可能有同事会问，我们是做架构的，为什么要花时间讲战略？我的回答是：不讲战略，架构就没有靶子。
我见过太多架构团队，项目一开始就埋头画能力地图、画数据模型，做到一半被业务方一句「这跟我们明年的重点方向不是一回事」全部推翻。根子就在这——架构的依据是战略，战略不清楚，架构就无从谈起。
所以这两页，我要先讲清楚愿景、使命、战略、举措、KPI 这五层是怎么递进的，再讲业务战略和 IT 战略为什么必须双向对齐。
请各位把这一块当成整个项目的前置条件来听。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这一页讲的是战略的五个层次，从愿景一直到 KPI。
我不逐个解释这五个词，网上到处都有。我想讲的是它们之间的关系，特别是那条「每一层都必须能被上一层追溯」的要求——这才是这页真正有分量的地方。
怎么理解？举个例子。如果一个举措，往上问不出它服务哪条战略，那这个举措就是凭空冒出来的，很可能只是某个部门自己想做的事。反过来，如果一条 KPI 往下追不到具体的举措，那这条 KPI 就是悬空的，年底考核的时候没人认账。
所以这五层不是阶梯状的装饰，而是一张追溯网。做架构的时候，它就是我们的检查清单：任何一份架构材料，都应该能在网里找到自己的位置——它服务哪条战略、支撑哪个举措、影响哪些 KPI。找不到位置的材料，就是多余的。
这里面我要特别点一下战略那一层——战略的本质是「不做什么」。这一点很多人接受不了，总觉得战略就是把想做的事都写上。恰恰相反，一份不写取舍、什么都想要的战略，等于没有战略，往下也没法指导架构。
讲完这五层，下一页我们要看一个更实际的问题：业务战略和 IT 战略到底怎么对接。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这一页是本场的第一个关键页，讲的是业务战略和 IT 战略的关系。
我想先给各位一个判断，这句话可能有点刺耳：企业架构存在的唯一理由，就是让每一条 IT 投资都能追溯到一条业务目标。如果做不到这一点，架构就是成本，不是投资。
中间这张矩阵，我不逐行念。我只讲它怎么用。它的用法是反向的——不是从业务战略往下推 IT 要建什么，而是拿现有的 IT 投资清单，一条一条往上问：你服务哪条业务目标？问不到答案的，就是可以砍的。这个动作每年做一次，能砍掉大量历史包袱。
下面这个判断请各位务必记下：当对齐度不足的时候，八成不是技术出了问题，而是业务战略本身没说清优先级。这时候正确的动作是停下来先补战略，而不是让架构团队硬着头皮往下做。逼着架构团队去猜战略，是项目失控的开始。
右边四条准则里，我最看重第一条——目标可追溯，无对应战略目标的 IT 项目不予立项。这是把架构治理真正嵌进流程的一刀。
战略这一块交代完了。接下来进入今天的正题，四层架构的具体作业，先从业务架构开始。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2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.svg" /><Relationship Id="rId1" Type="http://schemas.openxmlformats.org/officeDocument/2006/relationships/notesSlide" Target="../notesSlides/notesSlide20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2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4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5.xml" /><Relationship Id="rId2" Type="http://schemas.openxmlformats.org/officeDocument/2006/relationships/image" Target="media/image2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6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6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8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9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0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3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4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5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6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7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8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9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476750" cy="68580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grpSp>
        <p:nvGrpSpPr>
          <p:cNvPr id="4" name=""/>
          <p:cNvGrpSpPr/>
          <p:nvPr/>
        </p:nvGrpSpPr>
        <p:grpSpPr>
          <a:xfrm rot="540000" flipH="0" flipV="0">
            <a:off x="3924300" y="0"/>
            <a:ext cx="1143000" cy="6858000"/>
            <a:chOff x="3924300" y="0"/>
            <a:chExt cx="1143000" cy="6858000"/>
          </a:xfrm>
        </p:grpSpPr>
        <p:sp>
          <p:nvSpPr>
            <p:cNvPr id="5" name=""/>
            <p:cNvSpPr/>
            <p:nvPr/>
          </p:nvSpPr>
          <p:spPr>
            <a:xfrm rot="0" flipH="0" flipV="0">
              <a:off x="3924300" y="0"/>
              <a:ext cx="1143000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p>
              <a:pPr/>
              <a:endParaRPr/>
            </a:p>
          </p:txBody>
        </p:sp>
      </p:grpSp>
      <p:sp>
        <p:nvSpPr>
          <p:cNvPr id="6" name=""/>
          <p:cNvSpPr/>
          <p:nvPr/>
        </p:nvSpPr>
        <p:spPr>
          <a:xfrm rot="0" flipH="0" flipV="0">
            <a:off x="11239500" y="914400"/>
            <a:ext cx="38100" cy="8382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8580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BOULDERAI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9715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TECHNOLOGIES · SOLUTION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28575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FFFFF">
                    <a:alpha val="22000"/>
                  </a:srgbClr>
                </a:solidFill>
                <a:latin typeface="Microsoft YaHei"/>
                <a:ea typeface="Microsoft YaHei"/>
              </a:rPr>
              <a:t>EA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57721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FFFFFF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905500" y="2076450"/>
            <a:ext cx="5715000" cy="20859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5700" b="1">
                <a:solidFill>
                  <a:srgbClr val="0F1423"/>
                </a:solidFill>
                <a:latin typeface="Microsoft YaHei"/>
                <a:ea typeface="Microsoft YaHei"/>
              </a:rPr>
              <a:t>EA</a:t>
            </a:r>
            <a:r>
              <a:rPr lang="zh-CN" sz="5700" b="1">
                <a:solidFill>
                  <a:srgbClr val="0F1423"/>
                </a:solidFill>
                <a:latin typeface="Microsoft YaHei"/>
                <a:ea typeface="Microsoft YaHei"/>
              </a:rPr>
              <a:t>企业架构</a:t>
            </a:r>
            <a:endParaRPr/>
          </a:p>
          <a:p>
            <a:pPr>
              <a:lnSpc>
                <a:spcPct val="120000"/>
              </a:lnSpc>
            </a:pPr>
            <a:r>
              <a:rPr lang="zh-CN" sz="5700" b="1">
                <a:solidFill>
                  <a:srgbClr val="FA4F24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905500" y="4429125"/>
            <a:ext cx="9144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905500" y="4724400"/>
            <a:ext cx="57150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3A4050"/>
                </a:solidFill>
                <a:latin typeface="Microsoft YaHei"/>
                <a:ea typeface="Microsoft YaHei"/>
              </a:rPr>
              <a:t>以「业务对象」为锚点，打通业务战略与</a:t>
            </a:r>
            <a:r>
              <a:rPr lang="en-US" sz="165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650">
                <a:solidFill>
                  <a:srgbClr val="3A4050"/>
                </a:solidFill>
                <a:latin typeface="Microsoft YaHei"/>
                <a:ea typeface="Microsoft YaHei"/>
              </a:rPr>
              <a:t>投资的四层架构治理体系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905500" y="5286375"/>
            <a:ext cx="56769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方法论依据：《华为数据之道》（华为公司数据管理部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著）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BA · DA · AA · TA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四层架构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|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方法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模板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三段式作业标准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905500" y="6010275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4B8C0"/>
                </a:solidFill>
                <a:latin typeface="Microsoft YaHei"/>
                <a:ea typeface="Microsoft YaHei"/>
              </a:rPr>
              <a:t>硕磐智能</a:t>
            </a:r>
            <a:r>
              <a:rPr lang="en-US" sz="1050">
                <a:solidFill>
                  <a:srgbClr val="B4B8C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4B8C0"/>
                </a:solidFill>
                <a:latin typeface="Microsoft YaHei"/>
                <a:ea typeface="Microsoft YaHei"/>
              </a:rPr>
              <a:t>咨询交付版</a:t>
            </a:r>
            <a:r>
              <a:rPr lang="en-US" sz="1050">
                <a:solidFill>
                  <a:srgbClr val="B4B8C0"/>
                </a:solidFill>
                <a:latin typeface="Microsoft YaHei"/>
                <a:ea typeface="Microsoft YaHei"/>
              </a:rPr>
              <a:t xml:space="preserve"> · 2026.10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本方法论覆盖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六个主干模块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从方法论总纲到四层架构逐层落地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每层均含「方法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模板」三段式作业标准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57225" y="1381125"/>
            <a:ext cx="3533775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57225" y="1381125"/>
            <a:ext cx="3533775" cy="2009775"/>
          </a:xfrm>
          <a:custGeom>
            <a:pathLst>
              <a:path w="371" h="211">
                <a:moveTo>
                  <a:pt x="5" y="211"/>
                </a:moveTo>
                <a:cubicBezTo>
                  <a:pt x="4" y="211"/>
                  <a:pt x="3" y="211"/>
                  <a:pt x="2" y="210"/>
                </a:cubicBezTo>
                <a:cubicBezTo>
                  <a:pt x="1" y="210"/>
                  <a:pt x="0" y="209"/>
                  <a:pt x="0" y="207"/>
                </a:cubicBezTo>
                <a:lnTo>
                  <a:pt x="0" y="207"/>
                </a:lnTo>
                <a:lnTo>
                  <a:pt x="0" y="20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85825" y="160972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628775" y="1609725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方法论总体介绍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628775" y="1981200"/>
            <a:ext cx="2286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以业务对象为唯一锚点，构建方法—内容—模板的三段式作业闭环。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4381500" y="1381125"/>
            <a:ext cx="3524250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4381500" y="1381125"/>
            <a:ext cx="3524250" cy="2009775"/>
          </a:xfrm>
          <a:custGeom>
            <a:pathLst>
              <a:path w="370" h="211">
                <a:moveTo>
                  <a:pt x="5" y="211"/>
                </a:moveTo>
                <a:cubicBezTo>
                  <a:pt x="4" y="211"/>
                  <a:pt x="3" y="211"/>
                  <a:pt x="2" y="210"/>
                </a:cubicBezTo>
                <a:cubicBezTo>
                  <a:pt x="1" y="210"/>
                  <a:pt x="0" y="209"/>
                  <a:pt x="0" y="207"/>
                </a:cubicBezTo>
                <a:lnTo>
                  <a:pt x="0" y="207"/>
                </a:lnTo>
                <a:lnTo>
                  <a:pt x="0" y="20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4610100" y="160972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353050" y="1609725"/>
            <a:ext cx="2276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业务愿景和战略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353050" y="1981200"/>
            <a:ext cx="22764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愿景定义「去哪」，战略回答「怎么去」，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KPI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锁定如何度量。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8096250" y="1381125"/>
            <a:ext cx="3533775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8096250" y="1381125"/>
            <a:ext cx="3533775" cy="2009775"/>
          </a:xfrm>
          <a:custGeom>
            <a:pathLst>
              <a:path w="371" h="211">
                <a:moveTo>
                  <a:pt x="5" y="211"/>
                </a:moveTo>
                <a:cubicBezTo>
                  <a:pt x="4" y="211"/>
                  <a:pt x="3" y="211"/>
                  <a:pt x="2" y="210"/>
                </a:cubicBezTo>
                <a:cubicBezTo>
                  <a:pt x="1" y="210"/>
                  <a:pt x="0" y="209"/>
                  <a:pt x="0" y="207"/>
                </a:cubicBezTo>
                <a:lnTo>
                  <a:pt x="0" y="207"/>
                </a:lnTo>
                <a:lnTo>
                  <a:pt x="0" y="20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324850" y="160972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9067800" y="1609725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9067800" y="1981200"/>
            <a:ext cx="2286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价值流拆解与业务能力建模，输出能力地图与组织映射。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57225" y="3581400"/>
            <a:ext cx="3533775" cy="2000250"/>
          </a:xfrm>
          <a:prstGeom prst="roundRect">
            <a:avLst>
              <a:gd name="adj" fmla="val 190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57225" y="3581400"/>
            <a:ext cx="3533775" cy="2000250"/>
          </a:xfrm>
          <a:custGeom>
            <a:pathLst>
              <a:path w="371" h="210">
                <a:moveTo>
                  <a:pt x="5" y="210"/>
                </a:moveTo>
                <a:cubicBezTo>
                  <a:pt x="4" y="210"/>
                  <a:pt x="3" y="210"/>
                  <a:pt x="2" y="209"/>
                </a:cubicBezTo>
                <a:cubicBezTo>
                  <a:pt x="1" y="209"/>
                  <a:pt x="0" y="208"/>
                  <a:pt x="0" y="206"/>
                </a:cubicBezTo>
                <a:lnTo>
                  <a:pt x="0" y="206"/>
                </a:lnTo>
                <a:lnTo>
                  <a:pt x="0" y="2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85825" y="381000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628775" y="381000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628775" y="4181475"/>
            <a:ext cx="2286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基于业务对象设计信息架构：目录、标准、模型、分布四组件。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4381500" y="3581400"/>
            <a:ext cx="3524250" cy="2000250"/>
          </a:xfrm>
          <a:prstGeom prst="roundRect">
            <a:avLst>
              <a:gd name="adj" fmla="val 190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4381500" y="3581400"/>
            <a:ext cx="3524250" cy="2000250"/>
          </a:xfrm>
          <a:custGeom>
            <a:pathLst>
              <a:path w="370" h="210">
                <a:moveTo>
                  <a:pt x="5" y="210"/>
                </a:moveTo>
                <a:cubicBezTo>
                  <a:pt x="4" y="210"/>
                  <a:pt x="3" y="210"/>
                  <a:pt x="2" y="209"/>
                </a:cubicBezTo>
                <a:cubicBezTo>
                  <a:pt x="1" y="209"/>
                  <a:pt x="0" y="208"/>
                  <a:pt x="0" y="206"/>
                </a:cubicBezTo>
                <a:lnTo>
                  <a:pt x="0" y="206"/>
                </a:lnTo>
                <a:lnTo>
                  <a:pt x="0" y="2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4610100" y="381000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353050" y="3810000"/>
            <a:ext cx="2276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5353050" y="4181475"/>
            <a:ext cx="22764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能力映射应用组合，以建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买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集成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退役四态决策治理。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8096250" y="3581400"/>
            <a:ext cx="3533775" cy="2000250"/>
          </a:xfrm>
          <a:prstGeom prst="roundRect">
            <a:avLst>
              <a:gd name="adj" fmla="val 190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8096250" y="3581400"/>
            <a:ext cx="3533775" cy="2000250"/>
          </a:xfrm>
          <a:custGeom>
            <a:pathLst>
              <a:path w="371" h="210">
                <a:moveTo>
                  <a:pt x="5" y="210"/>
                </a:moveTo>
                <a:cubicBezTo>
                  <a:pt x="4" y="210"/>
                  <a:pt x="3" y="210"/>
                  <a:pt x="2" y="209"/>
                </a:cubicBezTo>
                <a:cubicBezTo>
                  <a:pt x="1" y="209"/>
                  <a:pt x="0" y="208"/>
                  <a:pt x="0" y="206"/>
                </a:cubicBezTo>
                <a:lnTo>
                  <a:pt x="0" y="206"/>
                </a:lnTo>
                <a:lnTo>
                  <a:pt x="0" y="2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324850" y="381000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9067800" y="381000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067800" y="4181475"/>
            <a:ext cx="2286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以架构的确定性应对技术的不确定性，输出选型与演进路线。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02 / 26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四层架构共同回答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「战略如何落到系统」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业务架构是基础，数据架构是枢纽，应用架构是载体，技术架构是底座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22098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>
                <a:gradFill>
                  <a:gsLst>
                    <a:gs pos="0">
                      <a:srgbClr val="FA4F24"/>
                    </a:gs>
                    <a:gs pos="100000">
                      <a:srgbClr val="F87D2F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4A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609600" y="3514725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企业架构四层模型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609600" y="3905250"/>
            <a:ext cx="533400" cy="381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22098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逐层分解、双向校验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上层定「做什么」，下层答「怎么实现」。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03 / 26</a:t>
            </a:r>
            <a:endParaRPr/>
          </a:p>
        </p:txBody>
      </p:sp>
      <p:pic>
        <p:nvPicPr>
          <p:cNvPr id="8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124200" y="1381125"/>
            <a:ext cx="8001000" cy="3143250"/>
          </a:xfrm>
          <a:prstGeom prst="rect">
            <a:avLst/>
          </a:prstGeom>
          <a:ln/>
        </p:spPr>
      </p:pic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3390900" y="155257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4210050" y="1514475"/>
            <a:ext cx="1362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4210050" y="1771650"/>
            <a:ext cx="1362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Business Architecture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9258300" y="161925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做什么业务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3390900" y="237172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4210050" y="2333625"/>
            <a:ext cx="1114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4210050" y="259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Data Architecture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9258300" y="243840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需要什么数据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3390900" y="319087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1423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4210050" y="3152775"/>
            <a:ext cx="1543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4210050" y="3409950"/>
            <a:ext cx="1543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4A34"/>
                </a:solidFill>
                <a:latin typeface="Microsoft YaHei"/>
                <a:ea typeface="Microsoft YaHei"/>
              </a:rPr>
              <a:t>Application Architecture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9258300" y="325755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用什么系统承载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3390900" y="401002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1423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4210050" y="3971925"/>
            <a:ext cx="1552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4210050" y="4229100"/>
            <a:ext cx="1552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4A34"/>
                </a:solidFill>
                <a:latin typeface="Microsoft YaHei"/>
                <a:ea typeface="Microsoft YaHei"/>
              </a:rPr>
              <a:t>Technology Architecture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9258300" y="407670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用什么技术实现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8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方法论总体介绍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METHODOLOGY OVERVIEW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以业务对象为锚点的方法论总纲与五步作业法</a:t>
            </a:r>
            <a:endParaRPr/>
          </a:p>
        </p:txBody>
      </p:sp>
      <p:sp>
        <p:nvSpPr>
          <p:cNvPr id="848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8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方法论以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「业务对象」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为唯一锚点贯穿四层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四层架构不是四份独立文档，而是同一套业务对象在不同抽象层的展开</a:t>
            </a:r>
            <a:endParaRPr/>
          </a:p>
        </p:txBody>
      </p:sp>
      <p:sp>
        <p:nvSpPr>
          <p:cNvPr id="85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609600" y="1400175"/>
            <a:ext cx="696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三段式作业闭环：方法</a:t>
            </a:r>
            <a:r>
              <a:rPr lang="en-US" sz="16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内容</a:t>
            </a:r>
            <a:r>
              <a:rPr lang="en-US" sz="16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657225" y="1809750"/>
            <a:ext cx="6962775" cy="1171575"/>
          </a:xfrm>
          <a:prstGeom prst="roundRect">
            <a:avLst>
              <a:gd name="adj" fmla="val 325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58" name=""/>
          <p:cNvSpPr/>
          <p:nvPr/>
        </p:nvSpPr>
        <p:spPr>
          <a:xfrm rot="0" flipH="0" flipV="0">
            <a:off x="657225" y="1809750"/>
            <a:ext cx="6962775" cy="1171575"/>
          </a:xfrm>
          <a:custGeom>
            <a:pathLst>
              <a:path w="731" h="123">
                <a:moveTo>
                  <a:pt x="5" y="123"/>
                </a:moveTo>
                <a:cubicBezTo>
                  <a:pt x="4" y="123"/>
                  <a:pt x="3" y="123"/>
                  <a:pt x="2" y="122"/>
                </a:cubicBezTo>
                <a:cubicBezTo>
                  <a:pt x="1" y="122"/>
                  <a:pt x="0" y="121"/>
                  <a:pt x="0" y="119"/>
                </a:cubicBezTo>
                <a:lnTo>
                  <a:pt x="0" y="119"/>
                </a:lnTo>
                <a:lnTo>
                  <a:pt x="0" y="11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885825" y="2171700"/>
            <a:ext cx="87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A4F24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885825" y="247650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8F99"/>
                </a:solidFill>
                <a:latin typeface="Microsoft YaHei"/>
                <a:ea typeface="Microsoft YaHei"/>
              </a:rPr>
              <a:t>METHOD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1952625" y="2076450"/>
            <a:ext cx="53911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回答「怎么做」。定义作业步骤、输入输出与判定标准，避免咨询成果因人而异。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657225" y="3114675"/>
            <a:ext cx="6962775" cy="1162050"/>
          </a:xfrm>
          <a:prstGeom prst="roundRect">
            <a:avLst>
              <a:gd name="adj" fmla="val 327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63" name=""/>
          <p:cNvSpPr/>
          <p:nvPr/>
        </p:nvSpPr>
        <p:spPr>
          <a:xfrm rot="0" flipH="0" flipV="0">
            <a:off x="657225" y="3114675"/>
            <a:ext cx="6962775" cy="1162050"/>
          </a:xfrm>
          <a:custGeom>
            <a:pathLst>
              <a:path w="731" h="122">
                <a:moveTo>
                  <a:pt x="5" y="122"/>
                </a:moveTo>
                <a:cubicBezTo>
                  <a:pt x="4" y="122"/>
                  <a:pt x="3" y="122"/>
                  <a:pt x="2" y="121"/>
                </a:cubicBezTo>
                <a:cubicBezTo>
                  <a:pt x="1" y="121"/>
                  <a:pt x="0" y="120"/>
                  <a:pt x="0" y="118"/>
                </a:cubicBezTo>
                <a:lnTo>
                  <a:pt x="0" y="118"/>
                </a:lnTo>
                <a:lnTo>
                  <a:pt x="0" y="11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885825" y="3467100"/>
            <a:ext cx="87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87D2F"/>
                </a:solidFill>
                <a:latin typeface="Microsoft YaHei"/>
                <a:ea typeface="Microsoft YaHei"/>
              </a:rPr>
              <a:t>内容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85825" y="377190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8F99"/>
                </a:solidFill>
                <a:latin typeface="Microsoft YaHei"/>
                <a:ea typeface="Microsoft YaHei"/>
              </a:rPr>
              <a:t>CONTENT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1952625" y="3381375"/>
            <a:ext cx="53911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回答「做什么」。明确该层架构必须交付的结构化清单与关键要素，杜绝漏项。</a:t>
            </a:r>
            <a:endParaRPr/>
          </a:p>
        </p:txBody>
      </p:sp>
      <p:sp>
        <p:nvSpPr>
          <p:cNvPr id="867" name=""/>
          <p:cNvSpPr/>
          <p:nvPr/>
        </p:nvSpPr>
        <p:spPr>
          <a:xfrm rot="0" flipH="0" flipV="0">
            <a:off x="657225" y="4410075"/>
            <a:ext cx="6962775" cy="1171575"/>
          </a:xfrm>
          <a:prstGeom prst="roundRect">
            <a:avLst>
              <a:gd name="adj" fmla="val 325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657225" y="4410075"/>
            <a:ext cx="6962775" cy="1171575"/>
          </a:xfrm>
          <a:custGeom>
            <a:pathLst>
              <a:path w="731" h="123">
                <a:moveTo>
                  <a:pt x="5" y="123"/>
                </a:moveTo>
                <a:cubicBezTo>
                  <a:pt x="4" y="123"/>
                  <a:pt x="3" y="123"/>
                  <a:pt x="2" y="122"/>
                </a:cubicBezTo>
                <a:cubicBezTo>
                  <a:pt x="1" y="122"/>
                  <a:pt x="0" y="121"/>
                  <a:pt x="0" y="119"/>
                </a:cubicBezTo>
                <a:lnTo>
                  <a:pt x="0" y="119"/>
                </a:lnTo>
                <a:lnTo>
                  <a:pt x="0" y="11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885825" y="4772025"/>
            <a:ext cx="87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BA47A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885825" y="507682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8F99"/>
                </a:solidFill>
                <a:latin typeface="Microsoft YaHei"/>
                <a:ea typeface="Microsoft YaHei"/>
              </a:rPr>
              <a:t>TEMPLATE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1952625" y="4676775"/>
            <a:ext cx="53911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回答「做成什么样」。给出标准样式与填写要求，保证跨项目、跨团队成果可比可复用。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7839075" y="1400175"/>
            <a:ext cx="3743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三条设计总则</a:t>
            </a:r>
            <a:endParaRPr/>
          </a:p>
        </p:txBody>
      </p:sp>
      <p:sp>
        <p:nvSpPr>
          <p:cNvPr id="873" name=""/>
          <p:cNvSpPr/>
          <p:nvPr/>
        </p:nvSpPr>
        <p:spPr>
          <a:xfrm rot="0" flipH="0" flipV="0">
            <a:off x="7839075" y="1809750"/>
            <a:ext cx="3743325" cy="1171575"/>
          </a:xfrm>
          <a:prstGeom prst="roundRect">
            <a:avLst>
              <a:gd name="adj" fmla="val 3252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8029575" y="1981200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FA4F24"/>
                </a:solidFill>
                <a:latin typeface="Microsoft YaHei"/>
                <a:ea typeface="Microsoft YaHei"/>
              </a:rPr>
              <a:t>业务主导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8029575" y="2352675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数据与架构的责任主体在业务，不在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IT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76" name=""/>
          <p:cNvSpPr/>
          <p:nvPr/>
        </p:nvSpPr>
        <p:spPr>
          <a:xfrm rot="0" flipH="0" flipV="0">
            <a:off x="7839075" y="3114675"/>
            <a:ext cx="3743325" cy="1162050"/>
          </a:xfrm>
          <a:prstGeom prst="roundRect">
            <a:avLst>
              <a:gd name="adj" fmla="val 3279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8029575" y="3286125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②</a:t>
            </a: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FA4F24"/>
                </a:solidFill>
                <a:latin typeface="Microsoft YaHei"/>
                <a:ea typeface="Microsoft YaHei"/>
              </a:rPr>
              <a:t>企业视角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8029575" y="365760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跳出部门与系统边界，避免新的烟囱式建设。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7839075" y="4410075"/>
            <a:ext cx="3743325" cy="1171575"/>
          </a:xfrm>
          <a:prstGeom prst="roundRect">
            <a:avLst>
              <a:gd name="adj" fmla="val 3252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8029575" y="4581525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③</a:t>
            </a: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FA4F24"/>
                </a:solidFill>
                <a:latin typeface="Microsoft YaHei"/>
                <a:ea typeface="Microsoft YaHei"/>
              </a:rPr>
              <a:t>同源共享</a:t>
            </a:r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8029575" y="495300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一个对象一个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Owner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，一份数据一个权威源。</a:t>
            </a:r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05 / 26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8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咨询作业分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五步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：从愿景到路线图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每一步都以「可评审的交付物」收口，避免咨询成果停留在访谈纪要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609600" y="1381125"/>
            <a:ext cx="3009900" cy="4200525"/>
          </a:xfrm>
          <a:prstGeom prst="roundRect">
            <a:avLst>
              <a:gd name="adj" fmla="val 1266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CONSULTING PROCESS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476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五步法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作业流程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4765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先对齐愿景与战略，再逐层展开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BA / DA / AA / TA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，最后收口为可执行的迁移路线图。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3848100" y="1381125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4019550" y="16668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4819650" y="16573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愿景与战略对齐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6781800" y="1504950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访谈高层，锁定业务愿景、战略目标与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KPI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基线，形成战略输入清单。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9963150" y="1638300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10039350" y="16859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战略输入清单</a:t>
            </a:r>
            <a:endParaRPr/>
          </a:p>
        </p:txBody>
      </p:sp>
      <p:sp>
        <p:nvSpPr>
          <p:cNvPr id="901" name=""/>
          <p:cNvSpPr/>
          <p:nvPr/>
        </p:nvSpPr>
        <p:spPr>
          <a:xfrm rot="0" flipH="0" flipV="0">
            <a:off x="3848100" y="2238375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4019550" y="25241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4819650" y="251460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业务架构建模（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>BA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6781800" y="2362200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价值流拆解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能力识别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能力评估，输出业务能力地图。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9963150" y="2495550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10039350" y="254317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能力地图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价值流图</a:t>
            </a:r>
            <a:endParaRPr/>
          </a:p>
        </p:txBody>
      </p:sp>
      <p:sp>
        <p:nvSpPr>
          <p:cNvPr id="907" name=""/>
          <p:cNvSpPr/>
          <p:nvPr/>
        </p:nvSpPr>
        <p:spPr>
          <a:xfrm rot="0" flipH="0" flipV="0">
            <a:off x="3848100" y="3095625"/>
            <a:ext cx="7734300" cy="771525"/>
          </a:xfrm>
          <a:prstGeom prst="roundRect">
            <a:avLst>
              <a:gd name="adj" fmla="val 493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4019550" y="33813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4819650" y="33718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数据架构设计（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>DA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6781800" y="322897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基于业务对象识别资产目录、统一定义标准、设计模型与分布。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9963150" y="3362325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10039350" y="3409950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信息架构四件套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3848100" y="3962400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4019550" y="4248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4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4819650" y="4124325"/>
            <a:ext cx="18097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应用与技术架构（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>AA/TA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6781800" y="408622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能力映射应用组合、评估冗余；技术分层选型与部署视图设计。</a:t>
            </a:r>
            <a:endParaRPr/>
          </a:p>
        </p:txBody>
      </p:sp>
      <p:sp>
        <p:nvSpPr>
          <p:cNvPr id="917" name=""/>
          <p:cNvSpPr/>
          <p:nvPr/>
        </p:nvSpPr>
        <p:spPr>
          <a:xfrm rot="0" flipH="0" flipV="0">
            <a:off x="9963150" y="4143375"/>
            <a:ext cx="14478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10039350" y="4191000"/>
            <a:ext cx="129540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应用组合清单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技术标准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3848100" y="4819650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4019550" y="51054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5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4819650" y="509587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差距分析与路线图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6781800" y="494347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AS-IS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TO-BE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对比，拆解为可排序、可投资、可考核的举措。</a:t>
            </a:r>
            <a:endParaRPr/>
          </a:p>
        </p:txBody>
      </p:sp>
      <p:sp>
        <p:nvSpPr>
          <p:cNvPr id="923" name=""/>
          <p:cNvSpPr/>
          <p:nvPr/>
        </p:nvSpPr>
        <p:spPr>
          <a:xfrm rot="0" flipH="0" flipV="0">
            <a:off x="9963150" y="5076825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10039350" y="5124450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架构路线图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投资建议</a:t>
            </a:r>
            <a:endParaRPr/>
          </a:p>
        </p:txBody>
      </p:sp>
      <p:sp>
        <p:nvSpPr>
          <p:cNvPr id="92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06 / 26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9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31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业务愿景和战略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VISION &amp; STRATEGY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愿景定义去哪，战略回答怎么去，</a:t>
            </a:r>
            <a:r>
              <a:rPr lang="en-US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战略同源同频</a:t>
            </a:r>
            <a:endParaRPr/>
          </a:p>
        </p:txBody>
      </p:sp>
      <p:sp>
        <p:nvSpPr>
          <p:cNvPr id="935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愿景定义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「去哪」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，战略回答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「怎么去」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五层递进：愿景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使命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战略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举措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KPI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，每一层都必须能被上一层追溯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7105650" y="140017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三层解读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7143750" y="1790700"/>
            <a:ext cx="4476750" cy="1190625"/>
          </a:xfrm>
          <a:prstGeom prst="roundRect">
            <a:avLst>
              <a:gd name="adj" fmla="val 32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45" name=""/>
          <p:cNvSpPr/>
          <p:nvPr/>
        </p:nvSpPr>
        <p:spPr>
          <a:xfrm rot="0" flipH="0" flipV="0">
            <a:off x="7143750" y="1790700"/>
            <a:ext cx="4476750" cy="1190625"/>
          </a:xfrm>
          <a:custGeom>
            <a:pathLst>
              <a:path w="470" h="125">
                <a:moveTo>
                  <a:pt x="4" y="125"/>
                </a:moveTo>
                <a:cubicBezTo>
                  <a:pt x="2" y="125"/>
                  <a:pt x="0" y="123"/>
                  <a:pt x="0" y="1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7334250" y="1943100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愿景与使命：定方向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7334250" y="2238375"/>
            <a:ext cx="4057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愿景是不可量化的方向感，使命回答存在的意义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二者是战略的天花板。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7143750" y="3114675"/>
            <a:ext cx="4476750" cy="1190625"/>
          </a:xfrm>
          <a:prstGeom prst="roundRect">
            <a:avLst>
              <a:gd name="adj" fmla="val 32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49" name=""/>
          <p:cNvSpPr/>
          <p:nvPr/>
        </p:nvSpPr>
        <p:spPr>
          <a:xfrm rot="0" flipH="0" flipV="0">
            <a:off x="7143750" y="3114675"/>
            <a:ext cx="4476750" cy="1190625"/>
          </a:xfrm>
          <a:custGeom>
            <a:pathLst>
              <a:path w="470" h="125">
                <a:moveTo>
                  <a:pt x="4" y="125"/>
                </a:moveTo>
                <a:cubicBezTo>
                  <a:pt x="2" y="125"/>
                  <a:pt x="0" y="123"/>
                  <a:pt x="0" y="1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7334250" y="32670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战略：定取舍</a:t>
            </a:r>
            <a:endParaRPr/>
          </a:p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7334250" y="3562350"/>
            <a:ext cx="4057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战略的本质是「不做什么」。业务战略明确市场与模式选择，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战略明确支撑方式。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7143750" y="4438650"/>
            <a:ext cx="4476750" cy="1190625"/>
          </a:xfrm>
          <a:prstGeom prst="roundRect">
            <a:avLst>
              <a:gd name="adj" fmla="val 32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53" name=""/>
          <p:cNvSpPr/>
          <p:nvPr/>
        </p:nvSpPr>
        <p:spPr>
          <a:xfrm rot="0" flipH="0" flipV="0">
            <a:off x="7143750" y="4438650"/>
            <a:ext cx="4476750" cy="1190625"/>
          </a:xfrm>
          <a:custGeom>
            <a:pathLst>
              <a:path w="470" h="125">
                <a:moveTo>
                  <a:pt x="4" y="125"/>
                </a:moveTo>
                <a:cubicBezTo>
                  <a:pt x="2" y="125"/>
                  <a:pt x="0" y="123"/>
                  <a:pt x="0" y="1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7334250" y="4591050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举措与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KPI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：定节奏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7334250" y="4886325"/>
            <a:ext cx="4057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把战略拆成可投资的举措，再用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KPI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锁定度量口径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否则战略无法被验证。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08 / 26</a:t>
            </a:r>
            <a:endParaRPr/>
          </a:p>
        </p:txBody>
      </p:sp>
      <p:pic>
        <p:nvPicPr>
          <p:cNvPr id="9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1400175"/>
            <a:ext cx="6096000" cy="3810000"/>
          </a:xfrm>
          <a:prstGeom prst="rect">
            <a:avLst/>
          </a:prstGeom>
          <a:ln/>
        </p:spPr>
      </p:pic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3448050" y="15240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愿景</a:t>
            </a:r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3190875" y="18002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我们要成为什么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3448050" y="22383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使命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3124200" y="25146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我们为谁创造价值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3448050" y="30003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战略</a:t>
            </a:r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3124200" y="32766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选择的路径与取舍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3448050" y="37623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A1A0A"/>
                </a:solidFill>
                <a:latin typeface="Microsoft YaHei"/>
                <a:ea typeface="Microsoft YaHei"/>
              </a:rPr>
              <a:t>举措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3124200" y="40386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1A0A"/>
                </a:solidFill>
                <a:latin typeface="Microsoft YaHei"/>
                <a:ea typeface="Microsoft YaHei"/>
              </a:rPr>
              <a:t>可投资的关键动作</a:t>
            </a:r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3476625" y="4524375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1A0A"/>
                </a:solidFill>
                <a:latin typeface="Microsoft YaHei"/>
                <a:ea typeface="Microsoft YaHei"/>
              </a:rPr>
              <a:t>KPI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3257550" y="48006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1A0A"/>
                </a:solidFill>
                <a:latin typeface="Microsoft YaHei"/>
                <a:ea typeface="Microsoft YaHei"/>
              </a:rPr>
              <a:t>如何度量成功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5905500" y="14382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FA4F24"/>
                </a:solidFill>
                <a:latin typeface="Microsoft YaHei"/>
                <a:ea typeface="Microsoft YaHei"/>
              </a:rPr>
              <a:t>↑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5943600" y="1647825"/>
            <a:ext cx="19050" cy="3238500"/>
          </a:xfrm>
          <a:prstGeom prst="rect">
            <a:avLst/>
          </a:prstGeom>
          <a:solidFill>
            <a:srgbClr val="FA4F24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9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业务战略与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战略必须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双向对齐、同源同频</a:t>
            </a:r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每一条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投资都必须能追溯到一条业务目标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这是企业架构存在的唯一理由</a:t>
            </a:r>
            <a:endParaRPr/>
          </a:p>
        </p:txBody>
      </p:sp>
      <p:sp>
        <p:nvSpPr>
          <p:cNvPr id="97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609600" y="1400175"/>
            <a:ext cx="64103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业务战略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↔ IT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战略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映射矩阵</a:t>
            </a:r>
            <a:endParaRPr/>
          </a:p>
        </p:txBody>
      </p:sp>
      <p:sp>
        <p:nvSpPr>
          <p:cNvPr id="978" name=""/>
          <p:cNvSpPr/>
          <p:nvPr/>
        </p:nvSpPr>
        <p:spPr>
          <a:xfrm rot="0" flipH="0" flipV="0">
            <a:off x="609600" y="1781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781050" y="1924050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市场增长</a:t>
            </a:r>
            <a:endParaRPr/>
          </a:p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781050" y="2143125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进入新区域</a:t>
            </a:r>
            <a:r>
              <a:rPr lang="en-US" sz="1125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新客群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2286000" y="2009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2667000" y="2019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多渠道前端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数据洞察</a:t>
            </a:r>
            <a:endParaRPr/>
          </a:p>
        </p:txBody>
      </p:sp>
      <p:sp>
        <p:nvSpPr>
          <p:cNvPr id="983" name=""/>
          <p:cNvSpPr/>
          <p:nvPr/>
        </p:nvSpPr>
        <p:spPr>
          <a:xfrm rot="0" flipH="0" flipV="0">
            <a:off x="6353175" y="1990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6353175" y="2038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强</a:t>
            </a:r>
            <a:endParaRPr/>
          </a:p>
        </p:txBody>
      </p:sp>
      <p:sp>
        <p:nvSpPr>
          <p:cNvPr id="985" name=""/>
          <p:cNvSpPr/>
          <p:nvPr/>
        </p:nvSpPr>
        <p:spPr>
          <a:xfrm rot="0" flipH="0" flipV="0">
            <a:off x="609600" y="2543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781050" y="2686050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成本领先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781050" y="2905125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流程自动化、集中采购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2286000" y="2771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2667000" y="2781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流程引擎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主数据统一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6353175" y="2752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6353175" y="2800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强</a:t>
            </a:r>
            <a:endParaRPr/>
          </a:p>
        </p:txBody>
      </p:sp>
      <p:sp>
        <p:nvSpPr>
          <p:cNvPr id="992" name=""/>
          <p:cNvSpPr/>
          <p:nvPr/>
        </p:nvSpPr>
        <p:spPr>
          <a:xfrm rot="0" flipH="0" flipV="0">
            <a:off x="609600" y="3305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781050" y="3362325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产品创新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781050" y="3581400"/>
            <a:ext cx="15049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快速试错、缩短上市周期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2286000" y="3533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2667000" y="3543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模块化应用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云原生底座</a:t>
            </a:r>
            <a:endParaRPr/>
          </a:p>
        </p:txBody>
      </p:sp>
      <p:sp>
        <p:nvSpPr>
          <p:cNvPr id="997" name=""/>
          <p:cNvSpPr/>
          <p:nvPr/>
        </p:nvSpPr>
        <p:spPr>
          <a:xfrm rot="0" flipH="0" flipV="0">
            <a:off x="6353175" y="3514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>
              <a:alpha val="2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6353175" y="3562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999" name=""/>
          <p:cNvSpPr/>
          <p:nvPr/>
        </p:nvSpPr>
        <p:spPr>
          <a:xfrm rot="0" flipH="0" flipV="0">
            <a:off x="609600" y="4067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781050" y="4210050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风险合规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781050" y="4429125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可信经营、审计可追溯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2286000" y="4295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2667000" y="4305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数据安全分级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血缘追溯</a:t>
            </a:r>
            <a:endParaRPr/>
          </a:p>
        </p:txBody>
      </p:sp>
      <p:sp>
        <p:nvSpPr>
          <p:cNvPr id="1004" name=""/>
          <p:cNvSpPr/>
          <p:nvPr/>
        </p:nvSpPr>
        <p:spPr>
          <a:xfrm rot="0" flipH="0" flipV="0">
            <a:off x="6353175" y="4276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6353175" y="4324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强</a:t>
            </a:r>
            <a:endParaRPr/>
          </a:p>
        </p:txBody>
      </p:sp>
      <p:sp>
        <p:nvSpPr>
          <p:cNvPr id="1006" name=""/>
          <p:cNvSpPr/>
          <p:nvPr/>
        </p:nvSpPr>
        <p:spPr>
          <a:xfrm rot="0" flipH="0" flipV="0">
            <a:off x="647700" y="4857750"/>
            <a:ext cx="6410325" cy="857250"/>
          </a:xfrm>
          <a:prstGeom prst="roundRect">
            <a:avLst>
              <a:gd name="adj" fmla="val 3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07" name=""/>
          <p:cNvSpPr/>
          <p:nvPr/>
        </p:nvSpPr>
        <p:spPr>
          <a:xfrm rot="0" flipH="0" flipV="0">
            <a:off x="647700" y="4857750"/>
            <a:ext cx="6410325" cy="857250"/>
          </a:xfrm>
          <a:custGeom>
            <a:pathLst>
              <a:path w="673" h="90">
                <a:moveTo>
                  <a:pt x="4" y="90"/>
                </a:moveTo>
                <a:cubicBezTo>
                  <a:pt x="3" y="90"/>
                  <a:pt x="2" y="90"/>
                  <a:pt x="1" y="89"/>
                </a:cubicBezTo>
                <a:cubicBezTo>
                  <a:pt x="0" y="88"/>
                  <a:pt x="0" y="88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838200" y="4991100"/>
            <a:ext cx="5991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判断：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对齐度不足的根因往往不是技术，而是业务战略本身没有说清优先级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先补战略，再谈架构。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7305675" y="1400175"/>
            <a:ext cx="4276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四条对齐准则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7305675" y="174307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7458075" y="183832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7991475" y="183832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目标可追溯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7991475" y="212407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每个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项目挂载业务战略目标，无对应不予立项。</a:t>
            </a:r>
            <a:endParaRPr/>
          </a:p>
        </p:txBody>
      </p:sp>
      <p:sp>
        <p:nvSpPr>
          <p:cNvPr id="1014" name=""/>
          <p:cNvSpPr/>
          <p:nvPr/>
        </p:nvSpPr>
        <p:spPr>
          <a:xfrm rot="0" flipH="0" flipV="0">
            <a:off x="7305675" y="271462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7458075" y="280987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7991475" y="280987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口径统一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7991475" y="309562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业务与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共用一套业务对象与指标定义。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7305675" y="368617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7458075" y="378142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7991475" y="378142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能力为桥</a:t>
            </a:r>
            <a:endParaRPr/>
          </a:p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7991475" y="406717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以业务能力为中间语言，翻译战略意图。</a:t>
            </a:r>
            <a:endParaRPr/>
          </a:p>
        </p:txBody>
      </p:sp>
      <p:sp>
        <p:nvSpPr>
          <p:cNvPr id="1022" name=""/>
          <p:cNvSpPr/>
          <p:nvPr/>
        </p:nvSpPr>
        <p:spPr>
          <a:xfrm rot="0" flipH="0" flipV="0">
            <a:off x="7305675" y="465772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7458075" y="475297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7991475" y="475297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节奏匹配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7991475" y="503872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交付节奏必须匹配业务窗口。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09 / 26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BUSINESS ARCHITECTURE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价值流与业务能力建模：方法、内容、模板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之方法：从价值流到能力地图的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能力建模法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业务架构回答「做什么业务」——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用能力地图替代部门清单，让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有稳定的对接面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BUSINESS ARCHITECTURE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BA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667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能力是与组织结构解耦的稳定层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组织常变，能力少变，因此能力才是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规划的正确锚点。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价值流分析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743700" y="1914525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识别企业的核心价值流与端到端流程，明确价值创造的起点与终点。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10134600" y="2047875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210800" y="2105025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价值流清单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能力识别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743700" y="2905125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从价值流中抽出稳定的业务能力（做什么），去除「谁在做」的组织干扰。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10134600" y="3038475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210800" y="3095625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能力清单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能力评估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743700" y="3895725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按战略重要度与当前成熟度两维打分，定位强项、短板与冗余能力。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10134600" y="4029075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0210800" y="4086225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能力热力图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能力地图构建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743700" y="4876800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按能力域分层构建全景地图，并把能力映射到组织与流程。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10134600" y="5010150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210800" y="5067300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业务能力地图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11 / 26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三类核心交付物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与关键要素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交付物不是文档堆砌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三类成果分别回答「有哪些能力」「怎么创造价值」「谁来承担」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09600" y="1419225"/>
            <a:ext cx="663892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" y="1419225"/>
            <a:ext cx="6638925" cy="1352550"/>
          </a:xfrm>
          <a:custGeom>
            <a:pathLst>
              <a:path w="697" h="142">
                <a:moveTo>
                  <a:pt x="693" y="0"/>
                </a:moveTo>
                <a:cubicBezTo>
                  <a:pt x="695" y="0"/>
                  <a:pt x="697" y="2"/>
                  <a:pt x="69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69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38200" y="1590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81100" y="16002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业务能力地图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1962150"/>
            <a:ext cx="618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按「能力域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能力组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能力项」三层分解，形成可管理的企业能力全景。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38200" y="2257425"/>
            <a:ext cx="6181725" cy="304800"/>
          </a:xfrm>
          <a:prstGeom prst="roundRect">
            <a:avLst>
              <a:gd name="adj" fmla="val 9375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52500" y="232410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关键要素：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能力域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能力项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成熟度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战略重要度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2886075"/>
            <a:ext cx="663892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09600" y="2886075"/>
            <a:ext cx="6638925" cy="1352550"/>
          </a:xfrm>
          <a:custGeom>
            <a:pathLst>
              <a:path w="697" h="142">
                <a:moveTo>
                  <a:pt x="693" y="0"/>
                </a:moveTo>
                <a:cubicBezTo>
                  <a:pt x="695" y="0"/>
                  <a:pt x="697" y="2"/>
                  <a:pt x="69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69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38200" y="30575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81100" y="30670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价值流图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38200" y="3429000"/>
            <a:ext cx="618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描述端到端价值创造的阶段、参与角色与关键交付，识别断点与冗余。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838200" y="3724275"/>
            <a:ext cx="6181725" cy="304800"/>
          </a:xfrm>
          <a:prstGeom prst="roundRect">
            <a:avLst>
              <a:gd name="adj" fmla="val 9375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52500" y="379095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关键要素：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价值阶段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触发事件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交付物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周期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" y="4352925"/>
            <a:ext cx="663892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" y="4352925"/>
            <a:ext cx="6638925" cy="1352550"/>
          </a:xfrm>
          <a:custGeom>
            <a:pathLst>
              <a:path w="697" h="142">
                <a:moveTo>
                  <a:pt x="693" y="0"/>
                </a:moveTo>
                <a:cubicBezTo>
                  <a:pt x="695" y="0"/>
                  <a:pt x="697" y="2"/>
                  <a:pt x="69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69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38200" y="45243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81100" y="45339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组织映射表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38200" y="4895850"/>
            <a:ext cx="618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把能力与组织单元、岗位对齐，明确能力责任主体与协同关系。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838200" y="5191125"/>
            <a:ext cx="6181725" cy="304800"/>
          </a:xfrm>
          <a:prstGeom prst="roundRect">
            <a:avLst>
              <a:gd name="adj" fmla="val 9375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52500" y="525780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关键要素：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能力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责任部门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岗位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协同方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515225" y="1381125"/>
            <a:ext cx="4067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能力地图结构示意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515225" y="1743075"/>
            <a:ext cx="4067175" cy="381000"/>
          </a:xfrm>
          <a:prstGeom prst="roundRect">
            <a:avLst>
              <a:gd name="adj" fmla="val 75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648575" y="1838325"/>
            <a:ext cx="3933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L1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能力域（研发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供应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销售）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515225" y="2200275"/>
            <a:ext cx="1304925" cy="704850"/>
          </a:xfrm>
          <a:prstGeom prst="roundRect">
            <a:avLst>
              <a:gd name="adj" fmla="val 4054"/>
            </a:avLst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877175" y="2466975"/>
            <a:ext cx="581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能力组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896350" y="2200275"/>
            <a:ext cx="1304925" cy="704850"/>
          </a:xfrm>
          <a:prstGeom prst="roundRect">
            <a:avLst>
              <a:gd name="adj" fmla="val 4054"/>
            </a:avLst>
          </a:pr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267825" y="2466975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3A1A0A"/>
                </a:solidFill>
                <a:latin typeface="Microsoft YaHei"/>
                <a:ea typeface="Microsoft YaHei"/>
              </a:rPr>
              <a:t>能力组</a:t>
            </a:r>
            <a:r>
              <a:rPr lang="en-US" sz="1125" b="1">
                <a:solidFill>
                  <a:srgbClr val="3A1A0A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10277475" y="2200275"/>
            <a:ext cx="1304925" cy="704850"/>
          </a:xfrm>
          <a:prstGeom prst="roundRect">
            <a:avLst>
              <a:gd name="adj" fmla="val 4054"/>
            </a:avLst>
          </a:prstGeom>
          <a:solidFill>
            <a:srgbClr val="FDD5B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0648950" y="2466975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3A1A0A"/>
                </a:solidFill>
                <a:latin typeface="Microsoft YaHei"/>
                <a:ea typeface="Microsoft YaHei"/>
              </a:rPr>
              <a:t>能力组</a:t>
            </a:r>
            <a:r>
              <a:rPr lang="en-US" sz="1125" b="1">
                <a:solidFill>
                  <a:srgbClr val="3A1A0A"/>
                </a:solidFill>
                <a:latin typeface="Microsoft YaHei"/>
                <a:ea typeface="Microsoft YaHei"/>
              </a:rPr>
              <a:t xml:space="preserve"> C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515225" y="298132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648575" y="304800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3.5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7515225" y="334327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648575" y="340995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2.0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（短板）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515225" y="370522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648575" y="377190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4.0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7515225" y="406717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648575" y="413385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待建设（缺口）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7553325" y="4467225"/>
            <a:ext cx="4067175" cy="781050"/>
          </a:xfrm>
          <a:prstGeom prst="roundRect">
            <a:avLst>
              <a:gd name="adj" fmla="val 3659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553325" y="4467225"/>
            <a:ext cx="4067175" cy="781050"/>
          </a:xfrm>
          <a:custGeom>
            <a:pathLst>
              <a:path w="427" h="82">
                <a:moveTo>
                  <a:pt x="4" y="82"/>
                </a:moveTo>
                <a:cubicBezTo>
                  <a:pt x="3" y="82"/>
                  <a:pt x="2" y="82"/>
                  <a:pt x="1" y="81"/>
                </a:cubicBezTo>
                <a:cubicBezTo>
                  <a:pt x="0" y="80"/>
                  <a:pt x="0" y="80"/>
                  <a:pt x="0" y="7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705725" y="4581525"/>
            <a:ext cx="3724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判断：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成熟度低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优先级高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须叠加战略重要度，才能定投资次序。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12 / 26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能力卡片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与价值流图标准样式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模板的价值在于「字段即标准」——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填不出某个字段，说明该能力还没真正被想清楚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业务能力卡片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1685925"/>
            <a:ext cx="2247900" cy="1600200"/>
          </a:xfrm>
          <a:prstGeom prst="roundRect">
            <a:avLst>
              <a:gd name="adj" fmla="val 2381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81050" y="1857375"/>
            <a:ext cx="190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CAPABILITY CARD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81050" y="2085975"/>
            <a:ext cx="1905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能力卡片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81050" y="2628900"/>
            <a:ext cx="190500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示例：订单履约能力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能力域：供应链</a:t>
            </a:r>
            <a:r>
              <a:rPr lang="en-US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3.2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2971800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124200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能力编号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124200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BA-SCM-014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124200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全局唯一，与资产目录一致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153025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305425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能力定义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305425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按承诺时点交付订单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305425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一句话说清做什么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7334250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486650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业务规则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486650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信用额度校验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库存锁定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86650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规则数字化入口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9515475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667875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度量指标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667875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准时交付率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≥ 98%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667875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可量化的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KPI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34385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价值流图符号规范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09600" y="3781425"/>
            <a:ext cx="6734175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304925" y="4324350"/>
            <a:ext cx="1333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▭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85850" y="4686300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价值阶段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23950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标准矩形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590800" y="4324350"/>
            <a:ext cx="1619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◆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2457450" y="4686300"/>
            <a:ext cx="4286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里程碑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2428875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菱形节点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848100" y="432435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▷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762375" y="4686300"/>
            <a:ext cx="4286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交付物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790950" y="4895850"/>
            <a:ext cx="3714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右三角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153025" y="4324350"/>
            <a:ext cx="2571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⟶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000625" y="4686300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流转方向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038725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实线箭头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457950" y="4324350"/>
            <a:ext cx="2571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⤳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267450" y="4686300"/>
            <a:ext cx="6477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断点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>/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返工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343650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虚线回路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458075" y="3781425"/>
            <a:ext cx="4124325" cy="1800225"/>
          </a:xfrm>
          <a:prstGeom prst="roundRect">
            <a:avLst>
              <a:gd name="adj" fmla="val 2116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629525" y="4133850"/>
            <a:ext cx="3781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填写要求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629525" y="4400550"/>
            <a:ext cx="3781425" cy="828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每个阶段必须标注输入与输出交付物；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断点与返工必须显式画出，不得美化；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阶段数控制在</a:t>
            </a: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 5–8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个，避免过细。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13 / 26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DATA ARCHITECTURE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基于业务对象的信息架构四组件：方法、内容、模板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之方法：基于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业务对象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的信息架构设计法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业务对象是业务架构与数据架构的「共同语言」——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先定对象，再谈标准与模型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DATA ARCHITECTURE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DA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876300" y="39147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76300" y="4105275"/>
            <a:ext cx="26670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先有「治」（标准、模型、分布），才有「存」（按架构入湖落仓）。没有信息架构这张蓝图，数据底座就是一潭浑水。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业务对象识别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743700" y="191452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按四标准判定：重要人事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物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唯一标识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相对独立有属性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可实例化。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9944100" y="2047875"/>
            <a:ext cx="14478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020300" y="21050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业务对象清单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资产目录分层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743700" y="290512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L1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主题域分组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L2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主题域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L3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业务对象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L4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逻辑实体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L5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属性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五层落位。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9944100" y="3038475"/>
            <a:ext cx="14478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0020300" y="30956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数据资产目录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标准与模型设计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743700" y="389572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定业务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技术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管理三视角数据标准；设计概念、逻辑、物理三层模型。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9944100" y="4029075"/>
            <a:ext cx="14478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0020300" y="40862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数据标准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三层模型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数据分布规划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743700" y="4876800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以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CRUD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矩阵锁定唯一权威数据源，理清信息链与数据流。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9944100" y="4933950"/>
            <a:ext cx="1447800" cy="419100"/>
          </a:xfrm>
          <a:prstGeom prst="roundRect">
            <a:avLst>
              <a:gd name="adj" fmla="val 681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0020300" y="4991100"/>
            <a:ext cx="129540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数据分布图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数据源清单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15 / 26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信息架构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四组件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：目录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标准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模型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分布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四组件不是四份文档，而是回答「有哪些数据、怎么统一、如何关联、存在哪里」的一套规范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3209925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gradFill>
                  <a:gsLst>
                    <a:gs pos="0">
                      <a:srgbClr val="FA4F24"/>
                    </a:gs>
                    <a:gs pos="100000">
                      <a:srgbClr val="F87D2F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3200400"/>
            <a:ext cx="3209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层数据资产目录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" y="3571875"/>
            <a:ext cx="495300" cy="381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32099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L1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主题域分组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L2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主题域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L3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业务对象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L4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逻辑实体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L5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属性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4467225"/>
            <a:ext cx="32099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L3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业务对象是信息架构的核心层，也是与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BA / AA / TA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集成的接口。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152900" y="1381125"/>
            <a:ext cx="7477125" cy="1047750"/>
          </a:xfrm>
          <a:prstGeom prst="roundRect">
            <a:avLst>
              <a:gd name="adj" fmla="val 3636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4152900" y="1381125"/>
            <a:ext cx="7477125" cy="1047750"/>
          </a:xfrm>
          <a:custGeom>
            <a:pathLst>
              <a:path w="785" h="110">
                <a:moveTo>
                  <a:pt x="5" y="110"/>
                </a:moveTo>
                <a:cubicBezTo>
                  <a:pt x="4" y="110"/>
                  <a:pt x="3" y="110"/>
                  <a:pt x="2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106"/>
                </a:lnTo>
                <a:lnTo>
                  <a:pt x="0" y="1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343400" y="173355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010150" y="1724025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数据资产目录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010150" y="1952625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ASSET CATALOG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838950" y="1504950"/>
            <a:ext cx="3086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形成企业数据地图，识别数据管理责任、解决归属争议、避免重复建设。五层分类是它的骨架。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10077450" y="17716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0153650" y="18288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理清资产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识别责任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4152900" y="2524125"/>
            <a:ext cx="7477125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4152900" y="2524125"/>
            <a:ext cx="7477125" cy="1047750"/>
          </a:xfrm>
          <a:custGeom>
            <a:pathLst>
              <a:path w="785" h="110">
                <a:moveTo>
                  <a:pt x="5" y="110"/>
                </a:moveTo>
                <a:cubicBezTo>
                  <a:pt x="4" y="110"/>
                  <a:pt x="3" y="110"/>
                  <a:pt x="2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106"/>
                </a:lnTo>
                <a:lnTo>
                  <a:pt x="0" y="1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343400" y="287655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010150" y="2867025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数据标准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010150" y="3095625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DATA STANDARD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38950" y="2647950"/>
            <a:ext cx="3086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统一业务侧语言与理解，每个标准须覆盖业务视角（定义用途）、技术视角（类型长度）、管理视角（责任主体）。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10077450" y="2838450"/>
            <a:ext cx="1314450" cy="419100"/>
          </a:xfrm>
          <a:prstGeom prst="roundRect">
            <a:avLst>
              <a:gd name="adj" fmla="val 681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153650" y="2895600"/>
            <a:ext cx="116205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统一语言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三视角约束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4152900" y="3667125"/>
            <a:ext cx="7477125" cy="1038225"/>
          </a:xfrm>
          <a:prstGeom prst="roundRect">
            <a:avLst>
              <a:gd name="adj" fmla="val 367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4152900" y="3667125"/>
            <a:ext cx="7477125" cy="1038225"/>
          </a:xfrm>
          <a:custGeom>
            <a:pathLst>
              <a:path w="785" h="109">
                <a:moveTo>
                  <a:pt x="5" y="109"/>
                </a:moveTo>
                <a:cubicBezTo>
                  <a:pt x="4" y="109"/>
                  <a:pt x="3" y="109"/>
                  <a:pt x="2" y="108"/>
                </a:cubicBezTo>
                <a:cubicBezTo>
                  <a:pt x="1" y="108"/>
                  <a:pt x="0" y="107"/>
                  <a:pt x="0" y="105"/>
                </a:cubicBezTo>
                <a:lnTo>
                  <a:pt x="0" y="105"/>
                </a:lnTo>
                <a:lnTo>
                  <a:pt x="0" y="10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343400" y="401955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010150" y="400050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数据模型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010150" y="422910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DATA MODEL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838950" y="3790950"/>
            <a:ext cx="3086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从数据视角模拟现实世界：概念模型对齐业务对象、逻辑模型固化规则、物理模型落到表结构。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10077450" y="40576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0153650" y="41148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概念→逻辑→物理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4152900" y="4800600"/>
            <a:ext cx="7477125" cy="781050"/>
          </a:xfrm>
          <a:prstGeom prst="roundRect">
            <a:avLst>
              <a:gd name="adj" fmla="val 487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4152900" y="4800600"/>
            <a:ext cx="7477125" cy="781050"/>
          </a:xfrm>
          <a:custGeom>
            <a:pathLst>
              <a:path w="785" h="82">
                <a:moveTo>
                  <a:pt x="5" y="82"/>
                </a:moveTo>
                <a:cubicBezTo>
                  <a:pt x="4" y="82"/>
                  <a:pt x="3" y="82"/>
                  <a:pt x="2" y="81"/>
                </a:cubicBezTo>
                <a:cubicBezTo>
                  <a:pt x="1" y="81"/>
                  <a:pt x="0" y="80"/>
                  <a:pt x="0" y="78"/>
                </a:cubicBezTo>
                <a:lnTo>
                  <a:pt x="0" y="78"/>
                </a:lnTo>
                <a:lnTo>
                  <a:pt x="0" y="7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4343400" y="501967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010150" y="501015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数据分布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010150" y="523875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DATA DISTRIBUTION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838950" y="4924425"/>
            <a:ext cx="3086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定义唯一权威数据源与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CRUD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流转，描述信息链与数据流，让数据血缘可追溯。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10077450" y="4981575"/>
            <a:ext cx="1314450" cy="419100"/>
          </a:xfrm>
          <a:prstGeom prst="roundRect">
            <a:avLst>
              <a:gd name="adj" fmla="val 681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0153650" y="5038725"/>
            <a:ext cx="116205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单一可信源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血缘可追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16 / 26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之模板：资产目录、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标准卡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CRUD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矩阵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CRUD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矩阵是过程性工具，数据源是结论性设计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发现多个「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>C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」才能锁定唯一权威源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6438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五层数据资产目录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17240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B32C0C"/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62000" y="17716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219200" y="1771650"/>
            <a:ext cx="2028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主题域分组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公司数据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Owner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09600" y="20669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62000" y="21145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219200" y="211455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主题域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领域数据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Owner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09600" y="24098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62000" y="24574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219200" y="2457450"/>
            <a:ext cx="2638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业务对象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业务对象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Owner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（核心层）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27527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62000" y="28003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1A0A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219200" y="2800350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逻辑实体</a:t>
            </a:r>
            <a:r>
              <a:rPr lang="en-US" sz="1200">
                <a:solidFill>
                  <a:srgbClr val="3A1A0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数据管家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09600" y="30956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DD5BE"/>
          </a:solidFill>
          <a:ln/>
        </p:spPr>
        <p:txBody>
          <a:bodyPr/>
          <a:p>
            <a:pPr/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62000" y="31432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1A0A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219200" y="31432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属性</a:t>
            </a:r>
            <a:r>
              <a:rPr lang="en-US" sz="1200">
                <a:solidFill>
                  <a:srgbClr val="3A1A0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数据管家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3514725"/>
            <a:ext cx="6438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数据标准卡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09600" y="3876675"/>
            <a:ext cx="6438900" cy="1704975"/>
          </a:xfrm>
          <a:prstGeom prst="roundRect">
            <a:avLst>
              <a:gd name="adj" fmla="val 2235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800100" y="4010025"/>
            <a:ext cx="1924050" cy="1438275"/>
          </a:xfrm>
          <a:custGeom>
            <a:pathLst>
              <a:path w="202" h="151">
                <a:moveTo>
                  <a:pt x="0" y="0"/>
                </a:moveTo>
                <a:lnTo>
                  <a:pt x="3" y="0"/>
                </a:lnTo>
                <a:lnTo>
                  <a:pt x="3" y="151"/>
                </a:lnTo>
                <a:lnTo>
                  <a:pt x="0" y="15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42975" y="4010025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业务视角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42975" y="4286250"/>
            <a:ext cx="1752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业务定义与用途、业务规则、同义词（统一语言）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2886075" y="4010025"/>
            <a:ext cx="1914525" cy="1438275"/>
          </a:xfrm>
          <a:custGeom>
            <a:pathLst>
              <a:path w="201" h="151">
                <a:moveTo>
                  <a:pt x="0" y="0"/>
                </a:moveTo>
                <a:lnTo>
                  <a:pt x="3" y="0"/>
                </a:lnTo>
                <a:lnTo>
                  <a:pt x="3" y="151"/>
                </a:lnTo>
                <a:lnTo>
                  <a:pt x="0" y="15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028950" y="4010025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技术视角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3028950" y="4286250"/>
            <a:ext cx="17430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数据类型、长度、允许值（约束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实施）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4962525" y="4010025"/>
            <a:ext cx="1924050" cy="1438275"/>
          </a:xfrm>
          <a:custGeom>
            <a:pathLst>
              <a:path w="202" h="151">
                <a:moveTo>
                  <a:pt x="0" y="0"/>
                </a:moveTo>
                <a:lnTo>
                  <a:pt x="3" y="0"/>
                </a:lnTo>
                <a:lnTo>
                  <a:pt x="3" y="151"/>
                </a:lnTo>
                <a:lnTo>
                  <a:pt x="0" y="15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105400" y="4010025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管理视角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105400" y="4286250"/>
            <a:ext cx="1752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规则责任主体、维护主体、监控主体（明确责任）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296150" y="1362075"/>
            <a:ext cx="4286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C · CRUD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矩阵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296150" y="17240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业务对象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9096375" y="17240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096375" y="1809750"/>
            <a:ext cx="5905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ERP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9734550" y="17240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9734550" y="1809750"/>
            <a:ext cx="5810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CRM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10363200" y="17240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0363200" y="1809750"/>
            <a:ext cx="5905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MES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11001375" y="17240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001375" y="1809750"/>
            <a:ext cx="5810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WMS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296150" y="21812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客户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9096375" y="20955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9096375" y="21812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9734550" y="20955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734550" y="21812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10363200" y="20955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363200" y="21812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11001375" y="20955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1001375" y="21812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296150" y="2552700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销售订单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9096375" y="246697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096375" y="255270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9734550" y="246697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734550" y="255270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10363200" y="246697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0363200" y="255270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11001375" y="246697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1001375" y="255270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296150" y="292417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物料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9096375" y="283845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096375" y="292417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9734550" y="283845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9734550" y="292417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10363200" y="283845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0363200" y="292417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11001375" y="283845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001375" y="292417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296150" y="3295650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库存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9096375" y="32099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9096375" y="32956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9734550" y="32099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734550" y="329565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10363200" y="32099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0363200" y="32956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11001375" y="32099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1001375" y="329565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296150" y="36671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发票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9096375" y="35814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096375" y="36671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9734550" y="35814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734550" y="36671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10363200" y="35814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0363200" y="36671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11001375" y="35814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001375" y="36671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7334250" y="4019550"/>
            <a:ext cx="4286250" cy="1000125"/>
          </a:xfrm>
          <a:prstGeom prst="roundRect">
            <a:avLst>
              <a:gd name="adj" fmla="val 2857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7334250" y="4019550"/>
            <a:ext cx="4286250" cy="1000125"/>
          </a:xfrm>
          <a:custGeom>
            <a:pathLst>
              <a:path w="450" h="105">
                <a:moveTo>
                  <a:pt x="4" y="105"/>
                </a:moveTo>
                <a:cubicBezTo>
                  <a:pt x="3" y="105"/>
                  <a:pt x="2" y="105"/>
                  <a:pt x="1" y="104"/>
                </a:cubicBezTo>
                <a:cubicBezTo>
                  <a:pt x="0" y="103"/>
                  <a:pt x="0" y="103"/>
                  <a:pt x="0" y="10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7486650" y="4133850"/>
            <a:ext cx="3943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判断：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「客户」与「销售订单」均出现多个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C ——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数据源不清晰，必须治理到唯一创建方。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486650" y="4743450"/>
            <a:ext cx="394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创建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R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读取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U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更新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D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删除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17 / 26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APPLICATION ARCHITECTURE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能力映射应用组合与四态决策：方法、内容、模板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之方法：从能力热力图到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应用组合规划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应用架构回答「用什么系统承载」——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起点是业务能力，终点是可治理的应用组合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APPLICATION ARCHITECTURE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AA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667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应用不是越多越好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数量增长是技术债的主要来源，组合治理比新建更重要。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能力映射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553200" y="19145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把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输出的业务能力逐项映射到承载它的应用系统，识别「一能力多系统」。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10077450" y="20478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0153650" y="21050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-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应用映射表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应用盘点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553200" y="29051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建立应用全景清单：上线年份、用户量、技术栈、维护成本、业务关键度。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10077450" y="30384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0153650" y="30956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应用组合清单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热力图评估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553200" y="38957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以业务价值与技术健康度两维评估，定位高价值高风险、低价值冗余的应用。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10077450" y="40290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0153650" y="40862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应用热力图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组合决策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553200" y="4876800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对每个应用给出建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买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集成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退役四态决策，形成组合演进方向。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10077450" y="50101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0153650" y="50673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组合决策表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19 / 26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之内容：应用组合清单、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集成关系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与架构原则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清单解决「有什么」，关系图解决「怎么连」，架构原则解决「以后怎么建」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交付物一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应用组合清单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应用名称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1733550" y="1724025"/>
            <a:ext cx="216217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733550" y="178117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承载能力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3933825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933825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技术健康度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504825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504825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业务价值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172200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172200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决策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60960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订单中心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1733550" y="20193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733550" y="20669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订单履约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3933825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933825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504825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504825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172200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172200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保留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0960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0960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CRM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旧版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1733550" y="22860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1733550" y="23336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客户管理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3933825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933825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504825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04825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172200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172200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退役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报表工具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X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1733550" y="25527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733550" y="26003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经营分析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3933825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3933825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504825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504825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6172200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172200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0960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产线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MES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1733550" y="28194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733550" y="28670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生产执行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3933825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3933825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504825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04825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6172200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172200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保留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交付物二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应用集成关系图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09600" y="3571875"/>
            <a:ext cx="6638925" cy="2009775"/>
          </a:xfrm>
          <a:prstGeom prst="roundRect">
            <a:avLst>
              <a:gd name="adj" fmla="val 1896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742950" y="40100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52500" y="4162425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CRM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742950" y="46577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71550" y="4810125"/>
            <a:ext cx="68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A1A0A"/>
                </a:solidFill>
                <a:latin typeface="Microsoft YaHei"/>
                <a:ea typeface="Microsoft YaHei"/>
              </a:rPr>
              <a:t xml:space="preserve">MES </a:t>
            </a:r>
            <a:r>
              <a:rPr lang="zh-CN" sz="1200" b="1">
                <a:solidFill>
                  <a:srgbClr val="3A1A0A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981200" y="4476750"/>
            <a:ext cx="13049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>
                <a:solidFill>
                  <a:srgbClr val="C9CBD1"/>
                </a:solidFill>
                <a:latin typeface="Microsoft YaHei"/>
                <a:ea typeface="Microsoft YaHei"/>
              </a:rPr>
              <a:t>⟶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3381375" y="4010025"/>
            <a:ext cx="1104900" cy="1143000"/>
          </a:xfrm>
          <a:prstGeom prst="roundRect">
            <a:avLst>
              <a:gd name="adj" fmla="val 2586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609975" y="43815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集成总线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3562350" y="4638675"/>
            <a:ext cx="752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API Gateway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4581525" y="4476750"/>
            <a:ext cx="12954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>
                <a:solidFill>
                  <a:srgbClr val="C9CBD1"/>
                </a:solidFill>
                <a:latin typeface="Microsoft YaHei"/>
                <a:ea typeface="Microsoft YaHei"/>
              </a:rPr>
              <a:t>⟶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5972175" y="40100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238875" y="4162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订单中心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5972175" y="46577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238875" y="48101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5F6B"/>
                </a:solidFill>
                <a:latin typeface="Microsoft YaHei"/>
                <a:ea typeface="Microsoft YaHei"/>
              </a:rPr>
              <a:t>数据底座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7515225" y="1362075"/>
            <a:ext cx="4067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交付物三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架构原则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7553325" y="17049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7553325" y="17049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705725" y="18192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P1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705725" y="20669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核心自建，非核采购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705725" y="23241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核心能力定制获取差异化，非核心优先成熟产品。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7553325" y="27336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7553325" y="27336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705725" y="28479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P2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705725" y="30956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优先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SaaS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而非自建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705725" y="33528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无差异化诉求的能力不自建，降低维护负担。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7553325" y="37623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7553325" y="37623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705725" y="38766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P3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705725" y="41243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集成优于重建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7705725" y="43815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能通过接口复用的，不得另建平行系统。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7553325" y="47910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7553325" y="47910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705725" y="49053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P4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7705725" y="51530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定期组合评审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705725" y="54102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每年评估应用组合，淘汰冗余与过时应用。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20 / 26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5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之模板：应用卡片与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建·买·集成·退役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决策表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决策表把「拍脑袋」变成「按标准判定」——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四个字段就能定一个应用的去向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应用卡片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609600" y="1685925"/>
            <a:ext cx="2209800" cy="1571625"/>
          </a:xfrm>
          <a:prstGeom prst="roundRect">
            <a:avLst>
              <a:gd name="adj" fmla="val 2424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81050" y="18573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APPLICATION CARD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81050" y="208597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应用卡片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81050" y="2362200"/>
            <a:ext cx="18669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示例：订单中心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承载能力：订单履约</a:t>
            </a:r>
            <a:r>
              <a:rPr lang="en-US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决策：保留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293370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308610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应用编号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3086100" y="2066925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AA-ORD-001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308610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全局唯一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512445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527685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承载能力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276850" y="2066925"/>
            <a:ext cx="1771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订单履约（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BA-SCM-014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27685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必须挂到能力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731520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746760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技术健康度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467600" y="2066925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B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（主流栈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可维护）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46760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A→D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四级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950595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965835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业务价值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9658350" y="2066925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A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（核心关键）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965835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与能力重要度一致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建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买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集成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退役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决策表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609600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09600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81050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A4F24"/>
                </a:solidFill>
                <a:latin typeface="Microsoft YaHei"/>
                <a:ea typeface="Microsoft YaHei"/>
              </a:rPr>
              <a:t>建</a:t>
            </a: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Build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81050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核心能力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无成熟产品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781050" y="5114925"/>
            <a:ext cx="2314575" cy="314325"/>
          </a:xfrm>
          <a:prstGeom prst="roundRect">
            <a:avLst>
              <a:gd name="adj" fmla="val 9091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76300" y="519112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战略价值高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差异化强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3381375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3381375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>
            <a:pPr/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3552825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7D2F"/>
                </a:solidFill>
                <a:latin typeface="Microsoft YaHei"/>
                <a:ea typeface="Microsoft YaHei"/>
              </a:rPr>
              <a:t>买</a:t>
            </a:r>
            <a:r>
              <a:rPr lang="en-US" sz="1500" b="1">
                <a:solidFill>
                  <a:srgbClr val="F87D2F"/>
                </a:solidFill>
                <a:latin typeface="Microsoft YaHei"/>
                <a:ea typeface="Microsoft YaHei"/>
              </a:rPr>
              <a:t xml:space="preserve"> Buy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3552825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非核心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市场成熟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552825" y="5114925"/>
            <a:ext cx="2314575" cy="314325"/>
          </a:xfrm>
          <a:prstGeom prst="roundRect">
            <a:avLst>
              <a:gd name="adj" fmla="val 9091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3648075" y="519112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可标准化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采购成本优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153150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153150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6324600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A47A"/>
                </a:solidFill>
                <a:latin typeface="Microsoft YaHei"/>
                <a:ea typeface="Microsoft YaHei"/>
              </a:rPr>
              <a:t>集成</a:t>
            </a:r>
            <a:r>
              <a:rPr lang="en-US" sz="1500" b="1">
                <a:solidFill>
                  <a:srgbClr val="FBA47A"/>
                </a:solidFill>
                <a:latin typeface="Microsoft YaHei"/>
                <a:ea typeface="Microsoft YaHei"/>
              </a:rPr>
              <a:t xml:space="preserve"> Integrate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324600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已有系统可复用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324600" y="4953000"/>
            <a:ext cx="2314575" cy="476250"/>
          </a:xfrm>
          <a:prstGeom prst="roundRect">
            <a:avLst>
              <a:gd name="adj" fmla="val 6000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419850" y="5029200"/>
            <a:ext cx="21240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接口可打通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改造成本低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8924925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8924925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9096375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退役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Retire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9096375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低价值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高维护成本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9096375" y="5114925"/>
            <a:ext cx="2314575" cy="314325"/>
          </a:xfrm>
          <a:prstGeom prst="roundRect">
            <a:avLst>
              <a:gd name="adj" fmla="val 9091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9191625" y="519112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功能可替代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用户少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21 / 26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TECHNOLOGY ARCHITECTURE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以架构确定性应对技术不确定性：方法、内容、模板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6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之方法：以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架构确定性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应对技术不确定性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技术架构回答「用什么支撑」——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技术会过时，但分层与标准可以长期稳定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TECHNOLOGY ARCHITECTURE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TA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667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不在单点技术上押注，而在分层结构与接口标准上投资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让技术换代不推翻业务。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需求输入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6553200" y="19145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AA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的应用组合与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的数据规模反推技术需求：并发、时延、容量、可用性。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10077450" y="20478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10153650" y="21050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技术需求基线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分层设计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553200" y="29051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按基础设施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平台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数据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集成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安全五层划分，明确每层职责与层间接口。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10077450" y="30384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0153650" y="30956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技术分层蓝图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选型评估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553200" y="38957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对候选技术做成熟度、生态、成本、锁定风险四维评估，给出推荐与理由。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10077450" y="40290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10153650" y="40862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选型评估矩阵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演进路线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553200" y="4876800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把目标态拆为三阶段，标注里程碑与退坡路径，避免一次性大替换。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10077450" y="50101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0153650" y="50673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技术演进路线图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23 / 26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之内容：技术组件、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部署视图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与标准规范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组件清单解决「用什么」，部署视图解决「放哪里」，标准规范解决「怎么管」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交付物一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技术组件清单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60960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技术层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1733550" y="1724025"/>
            <a:ext cx="216217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1733550" y="178117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代表性组件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3933825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3933825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成熟度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504825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504825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锁定风险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172200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>
            <a:pPr/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6172200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60960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基础设施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1733550" y="20193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733550" y="20669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容器平台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云主机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3933825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3933825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504825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04825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6172200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172200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云原生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60960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0960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数据平台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1733550" y="22860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733550" y="23336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数据湖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数仓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3933825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3933825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504825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04825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172200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172200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湖仓一体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60960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集成层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1733550" y="25527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733550" y="26003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网关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消息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3933825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3933825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504825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504825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172200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172200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统一网关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0960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安全层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1733550" y="28194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733550" y="28670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统一身份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审计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3933825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3933825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504825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504825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172200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172200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零信任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交付物二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部署视图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609600" y="3571875"/>
            <a:ext cx="6638925" cy="2009775"/>
          </a:xfrm>
          <a:prstGeom prst="roundRect">
            <a:avLst>
              <a:gd name="adj" fmla="val 1896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742950" y="3876675"/>
            <a:ext cx="6372225" cy="419100"/>
          </a:xfrm>
          <a:prstGeom prst="roundRect">
            <a:avLst>
              <a:gd name="adj" fmla="val 6818"/>
            </a:avLst>
          </a:prstGeom>
          <a:ln w="19050">
            <a:solidFill>
              <a:srgbClr val="C9CBD1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76300" y="400050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A5F6B"/>
                </a:solidFill>
                <a:latin typeface="Microsoft YaHei"/>
                <a:ea typeface="Microsoft YaHei"/>
              </a:rPr>
              <a:t>生产环境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1866900" y="3981450"/>
            <a:ext cx="5114925" cy="209550"/>
          </a:xfrm>
          <a:prstGeom prst="roundRect">
            <a:avLst>
              <a:gd name="adj" fmla="val 9091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1866900" y="4019550"/>
            <a:ext cx="51149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核心应用集群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双活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742950" y="4371975"/>
            <a:ext cx="6372225" cy="419100"/>
          </a:xfrm>
          <a:prstGeom prst="roundRect">
            <a:avLst>
              <a:gd name="adj" fmla="val 6818"/>
            </a:avLst>
          </a:prstGeom>
          <a:ln w="19050">
            <a:solidFill>
              <a:srgbClr val="C9CBD1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76300" y="449580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A5F6B"/>
                </a:solidFill>
                <a:latin typeface="Microsoft YaHei"/>
                <a:ea typeface="Microsoft YaHei"/>
              </a:rPr>
              <a:t>灾备中心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1866900" y="4476750"/>
            <a:ext cx="5114925" cy="209550"/>
          </a:xfrm>
          <a:prstGeom prst="roundRect">
            <a:avLst>
              <a:gd name="adj" fmla="val 9091"/>
            </a:avLst>
          </a:pr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866900" y="4514850"/>
            <a:ext cx="51149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3A1A0A"/>
                </a:solidFill>
                <a:latin typeface="Microsoft YaHei"/>
                <a:ea typeface="Microsoft YaHei"/>
              </a:rPr>
              <a:t>同城灾备</a:t>
            </a:r>
            <a:r>
              <a:rPr lang="en-US" sz="900">
                <a:solidFill>
                  <a:srgbClr val="3A1A0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3A1A0A"/>
                </a:solidFill>
                <a:latin typeface="Microsoft YaHei"/>
                <a:ea typeface="Microsoft YaHei"/>
              </a:rPr>
              <a:t>数据实时同步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742950" y="4867275"/>
            <a:ext cx="6372225" cy="419100"/>
          </a:xfrm>
          <a:prstGeom prst="roundRect">
            <a:avLst>
              <a:gd name="adj" fmla="val 6818"/>
            </a:avLst>
          </a:prstGeom>
          <a:ln w="19050">
            <a:solidFill>
              <a:srgbClr val="C9CBD1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76300" y="499110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8F99"/>
                </a:solidFill>
                <a:latin typeface="Microsoft YaHei"/>
                <a:ea typeface="Microsoft YaHei"/>
              </a:rPr>
              <a:t>测试环境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1866900" y="4972050"/>
            <a:ext cx="5114925" cy="209550"/>
          </a:xfrm>
          <a:prstGeom prst="roundRect">
            <a:avLst>
              <a:gd name="adj" fmla="val 9091"/>
            </a:avLst>
          </a:prstGeom>
          <a:solidFill>
            <a:srgbClr val="F1F2F4"/>
          </a:solidFill>
          <a:ln/>
        </p:spPr>
        <p:txBody>
          <a:bodyPr/>
          <a:p>
            <a:pPr/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866900" y="5010150"/>
            <a:ext cx="51149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5F6B"/>
                </a:solidFill>
                <a:latin typeface="Microsoft YaHei"/>
                <a:ea typeface="Microsoft YaHei"/>
              </a:rPr>
              <a:t>与生产隔离</a:t>
            </a:r>
            <a:r>
              <a:rPr lang="en-US" sz="900">
                <a:solidFill>
                  <a:srgbClr val="5A5F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5A5F6B"/>
                </a:solidFill>
                <a:latin typeface="Microsoft YaHei"/>
                <a:ea typeface="Microsoft YaHei"/>
              </a:rPr>
              <a:t>数据脱敏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515225" y="1362075"/>
            <a:ext cx="4067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交付物三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技术标准规范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7553325" y="17049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7553325" y="17049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7705725" y="18192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S1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7705725" y="20669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技术选型标准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7705725" y="23241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明确各层准入技术清单与禁用清单，选型须走评估流程。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7553325" y="27336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7553325" y="27336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7705725" y="28479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S2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7705725" y="30956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接口与集成标准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7705725" y="33528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统一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风格、版本策略、鉴权方式与错误码规范。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7553325" y="37623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7553325" y="37623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705725" y="38766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S3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7705725" y="41243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部署与运维标准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7705725" y="43815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环境分层、发布流程、容量阈值与监控告警基线。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7553325" y="47910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7553325" y="47910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7705725" y="49053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S4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7705725" y="51530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安全与合规标准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7705725" y="54102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数据分级、访问控制、日志留痕与等保合规要求。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24 / 26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7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之模板：技术组件卡片与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技术演进路线图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路线图把「目标态」拆成可验收的三阶段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每阶段都有明确的技术里程碑与退坡条件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>
            <a:pPr/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技术演进路线图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609600" y="1724025"/>
            <a:ext cx="10972800" cy="2209800"/>
          </a:xfrm>
          <a:prstGeom prst="roundRect">
            <a:avLst>
              <a:gd name="adj" fmla="val 1724"/>
            </a:avLst>
          </a:prstGeom>
          <a:solidFill>
            <a:srgbClr val="FBFB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838200" y="1895475"/>
            <a:ext cx="28575" cy="247650"/>
          </a:xfrm>
          <a:prstGeom prst="rect">
            <a:avLst/>
          </a:prstGeom>
          <a:solidFill>
            <a:srgbClr val="C9CBD1"/>
          </a:solidFill>
          <a:ln/>
        </p:spPr>
        <p:txBody>
          <a:bodyPr/>
          <a:p>
            <a:pPr/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942975" y="19431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当前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1209675" y="2009775"/>
            <a:ext cx="9744075" cy="28575"/>
          </a:xfrm>
          <a:prstGeom prst="rect">
            <a:avLst/>
          </a:prstGeom>
          <a:gradFill>
            <a:gsLst>
              <a:gs pos="0">
                <a:srgbClr val="C9CBD1"/>
              </a:gs>
              <a:gs pos="100000">
                <a:srgbClr val="FA4F24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10953750" y="19431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目标态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838200" y="27908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容器化率</a:t>
            </a: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60%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838200" y="3038475"/>
            <a:ext cx="3429000" cy="876300"/>
          </a:xfrm>
          <a:prstGeom prst="roundRect">
            <a:avLst>
              <a:gd name="adj" fmla="val 3261"/>
            </a:avLst>
          </a:prstGeom>
          <a:solidFill>
            <a:srgbClr val="FDD5BE"/>
          </a:solidFill>
          <a:ln/>
        </p:spPr>
        <p:txBody>
          <a:bodyPr/>
          <a:p>
            <a:pPr/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971550" y="33242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1A0A"/>
                </a:solidFill>
                <a:latin typeface="Microsoft YaHei"/>
                <a:ea typeface="Microsoft YaHei"/>
              </a:rPr>
              <a:t>夯实基础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4381500" y="25241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数据中台上线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4381500" y="2771775"/>
            <a:ext cx="3429000" cy="1143000"/>
          </a:xfrm>
          <a:prstGeom prst="roundRect">
            <a:avLst>
              <a:gd name="adj" fmla="val 2500"/>
            </a:avLst>
          </a:prstGeom>
          <a:solidFill>
            <a:srgbClr val="FBA47A"/>
          </a:solidFill>
          <a:ln/>
        </p:spPr>
        <p:txBody>
          <a:bodyPr/>
          <a:p>
            <a:pPr/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4514850" y="30575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1A0A"/>
                </a:solidFill>
                <a:latin typeface="Microsoft YaHei"/>
                <a:ea typeface="Microsoft YaHei"/>
              </a:rPr>
              <a:t>平台整合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7924800" y="22574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应用云原生</a:t>
            </a: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80%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7924800" y="2505075"/>
            <a:ext cx="3429000" cy="1409700"/>
          </a:xfrm>
          <a:prstGeom prst="roundRect">
            <a:avLst>
              <a:gd name="adj" fmla="val 2027"/>
            </a:avLst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8058150" y="27908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云原生化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609600" y="4067175"/>
            <a:ext cx="6686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技术组件卡片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609600" y="4410075"/>
            <a:ext cx="6686550" cy="1209675"/>
          </a:xfrm>
          <a:prstGeom prst="roundRect">
            <a:avLst>
              <a:gd name="adj" fmla="val 3150"/>
            </a:avLst>
          </a:prstGeom>
          <a:solidFill>
            <a:srgbClr val="F7F7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80010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94297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组件定位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94297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所属技术层、承担的架构职责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241935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256222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选型理由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256222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生态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成本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锁定风险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403860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418147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部署要求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418147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环境、规格、可用性等级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565785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580072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运维责任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580072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责任团队、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>SLA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、监控指标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7524750" y="4067175"/>
            <a:ext cx="4095750" cy="1552575"/>
          </a:xfrm>
          <a:prstGeom prst="roundRect">
            <a:avLst>
              <a:gd name="adj" fmla="val 2454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7" name=""/>
          <p:cNvSpPr/>
          <p:nvPr/>
        </p:nvSpPr>
        <p:spPr>
          <a:xfrm rot="0" flipH="0" flipV="0">
            <a:off x="7524750" y="4067175"/>
            <a:ext cx="4095750" cy="1552575"/>
          </a:xfrm>
          <a:custGeom>
            <a:pathLst>
              <a:path w="430" h="163">
                <a:moveTo>
                  <a:pt x="4" y="163"/>
                </a:moveTo>
                <a:cubicBezTo>
                  <a:pt x="2" y="163"/>
                  <a:pt x="0" y="161"/>
                  <a:pt x="0" y="15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6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7715250" y="4276725"/>
            <a:ext cx="3676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关键判断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7715250" y="4562475"/>
            <a:ext cx="36766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技术路线的价值不在选了哪家产品，而在</a:t>
            </a: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每阶段都能退坡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若阶段目标不达标，可退回上一稳态而不致业务中断。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609600" y="596265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838200" y="594360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11125200" y="5943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25 / 26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971550" y="313372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1A0A">
                    <a:alpha val="85000"/>
                  </a:srgbClr>
                </a:solidFill>
                <a:latin typeface="Microsoft YaHei"/>
                <a:ea typeface="Microsoft YaHei"/>
              </a:rPr>
              <a:t>阶段一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971550" y="35909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1A0A">
                    <a:alpha val="90000"/>
                  </a:srgbClr>
                </a:solidFill>
                <a:latin typeface="Microsoft YaHei"/>
                <a:ea typeface="Microsoft YaHei"/>
              </a:rPr>
              <a:t>统一云底座与基础监控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4514850" y="286702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1A0A">
                    <a:alpha val="85000"/>
                  </a:srgbClr>
                </a:solidFill>
                <a:latin typeface="Microsoft YaHei"/>
                <a:ea typeface="Microsoft YaHei"/>
              </a:rPr>
              <a:t>阶段二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4514850" y="33242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1A0A">
                    <a:alpha val="90000"/>
                  </a:srgbClr>
                </a:solidFill>
                <a:latin typeface="Microsoft YaHei"/>
                <a:ea typeface="Microsoft YaHei"/>
              </a:rPr>
              <a:t>统一数据底座与集成总线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8058150" y="260032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阶段三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8058150" y="30575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弹性伸缩与自动运维体系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7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7715250" y="0"/>
            <a:ext cx="4476750" cy="68580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grpSp>
        <p:nvGrpSpPr>
          <p:cNvPr id="792" name=""/>
          <p:cNvGrpSpPr/>
          <p:nvPr/>
        </p:nvGrpSpPr>
        <p:grpSpPr>
          <a:xfrm rot="-540000" flipH="0" flipV="0">
            <a:off x="7124700" y="0"/>
            <a:ext cx="1143000" cy="6858000"/>
            <a:chOff x="7124700" y="0"/>
            <a:chExt cx="1143000" cy="6858000"/>
          </a:xfrm>
        </p:grpSpPr>
        <p:sp>
          <p:nvSpPr>
            <p:cNvPr id="793" name=""/>
            <p:cNvSpPr/>
            <p:nvPr/>
          </p:nvSpPr>
          <p:spPr>
            <a:xfrm rot="0" flipH="0" flipV="0">
              <a:off x="7124700" y="0"/>
              <a:ext cx="1143000" cy="6858000"/>
            </a:xfrm>
            <a:prstGeom prst="rect">
              <a:avLst/>
            </a:prstGeom>
            <a:solidFill>
              <a:srgbClr val="0F1423"/>
            </a:solidFill>
            <a:ln/>
          </p:spPr>
          <p:txBody>
            <a:bodyPr/>
            <a:p>
              <a:pPr/>
              <a:endParaRPr/>
            </a:p>
          </p:txBody>
        </p:sp>
      </p:grp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10267950" y="685800"/>
            <a:ext cx="131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BOULDERAI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9667875" y="97155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TECHNOLOGIES · SOLUTION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838200" y="2038350"/>
            <a:ext cx="685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F87D2F"/>
                </a:solidFill>
                <a:latin typeface="Microsoft YaHei"/>
                <a:ea typeface="Microsoft YaHei"/>
              </a:rPr>
              <a:t xml:space="preserve">CONCLUSION · </a:t>
            </a:r>
            <a:r>
              <a:rPr lang="zh-CN" sz="1200" spc="300">
                <a:solidFill>
                  <a:srgbClr val="F87D2F"/>
                </a:solidFill>
                <a:latin typeface="Microsoft YaHei"/>
                <a:ea typeface="Microsoft YaHei"/>
              </a:rPr>
              <a:t>结语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838200" y="2476500"/>
            <a:ext cx="6858000" cy="2447925"/>
          </a:xfrm>
          <a:prstGeom prst="rect"/>
        </p:spPr>
        <p:txBody>
          <a:bodyPr wrap="none" lIns="0" tIns="0" rIns="0" bIns="0"/>
          <a:p>
            <a:pPr>
              <a:lnSpc>
                <a:spcPct val="132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架构的确定性，</a:t>
            </a:r>
            <a:endParaRPr/>
          </a:p>
          <a:p>
            <a:pPr>
              <a:lnSpc>
                <a:spcPct val="132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是转型唯一</a:t>
            </a:r>
            <a:endParaRPr/>
          </a:p>
          <a:p>
            <a:pPr>
              <a:lnSpc>
                <a:spcPct val="132000"/>
              </a:lnSpc>
            </a:pPr>
            <a:r>
              <a:rPr lang="zh-CN" sz="4050" b="1">
                <a:solidFill>
                  <a:srgbClr val="FA4F24"/>
                </a:solidFill>
                <a:latin typeface="Microsoft YaHei"/>
                <a:ea typeface="Microsoft YaHei"/>
              </a:rPr>
              <a:t>可复用的资产。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838200" y="5229225"/>
            <a:ext cx="10287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838200" y="5562600"/>
            <a:ext cx="6858000" cy="8001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业务会变、技术会换，唯有被清晰定义的架构可以沉淀下来</a:t>
            </a:r>
            <a:r>
              <a:rPr lang="en-US" sz="15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——</a:t>
            </a:r>
            <a:endParaRPr/>
          </a:p>
          <a:p>
            <a:pPr>
              <a:lnSpc>
                <a:spcPct val="165000"/>
              </a:lnSpc>
            </a:pPr>
            <a:r>
              <a:rPr lang="zh-CN" sz="15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让每一次转型都不必从零开始。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838200" y="5810250"/>
            <a:ext cx="1114425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990600" y="5886450"/>
            <a:ext cx="80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2085975" y="5810250"/>
            <a:ext cx="1133475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2238375" y="588645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3352800" y="5810250"/>
            <a:ext cx="1123950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3505200" y="5886450"/>
            <a:ext cx="81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4610100" y="5810250"/>
            <a:ext cx="1095375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4762500" y="5886450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9829800" y="4819650"/>
            <a:ext cx="16383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>
                <a:solidFill>
                  <a:srgbClr val="FFFFFF">
                    <a:alpha val="20000"/>
                  </a:srgbClr>
                </a:solidFill>
                <a:latin typeface="Microsoft YaHei"/>
                <a:ea typeface="Microsoft YaHei"/>
              </a:rPr>
              <a:t>EA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838200" y="64674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1066800" y="64484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108966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26 / 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2026-10-11T21:11:12Z</dcterms:created>
  <dcterms:modified xsi:type="dcterms:W3CDTF">2026-10-11T21:11:12Z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{"AIGC":{"Label":"1","ContentProducer":"00119111010856365494821B355","ProduceID":"01a12a55ed6c761baa354b844d37adc0","ReservedCode1":"","ContentPropagator":"00119111010856365494821B355","PropagateID":"01a12a55ed6c761baa354b844d37adc0","ReservedCode2":""}}</vt:lpwstr>
  </property>
</Properties>
</file>