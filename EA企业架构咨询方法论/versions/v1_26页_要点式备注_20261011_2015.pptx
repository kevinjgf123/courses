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notesSlides/notesSlide11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21" Type="http://schemas.openxmlformats.org/officeDocument/2006/relationships/slide" Target="slides/slide21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8" Type="http://schemas.openxmlformats.org/officeDocument/2006/relationships/slide" Target="slides/slide8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29" Type="http://schemas.openxmlformats.org/officeDocument/2006/relationships/tableStyles" Target="tableStyles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7" Type="http://schemas.openxmlformats.org/officeDocument/2006/relationships/notesMaster" Target="notesMasters/notesMaster1.xml" /><Relationship Id="rId28" Type="http://schemas.openxmlformats.org/officeDocument/2006/relationships/presProps" Target="presProps.xml" /><Relationship Id="rId3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0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<Relationships xmlns="http://schemas.openxmlformats.org/package/2006/relationships"><Relationship Id="rId0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0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<Relationships xmlns="http://schemas.openxmlformats.org/package/2006/relationships"><Relationship Id="rId0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<Relationships xmlns="http://schemas.openxmlformats.org/package/2006/relationships"><Relationship Id="rId0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<Relationships xmlns="http://schemas.openxmlformats.org/package/2006/relationships"><Relationship Id="rId0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<Relationships xmlns="http://schemas.openxmlformats.org/package/2006/relationships"><Relationship Id="rId0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<Relationships xmlns="http://schemas.openxmlformats.org/package/2006/relationships"><Relationship Id="rId0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<Relationships xmlns="http://schemas.openxmlformats.org/package/2006/relationships"><Relationship Id="rId0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<Relationships xmlns="http://schemas.openxmlformats.org/package/2006/relationships"><Relationship Id="rId0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<Relationships xmlns="http://schemas.openxmlformats.org/package/2006/relationships"><Relationship Id="rId0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<Relationships xmlns="http://schemas.openxmlformats.org/package/2006/relationships"><Relationship Id="rId0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0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<Relationships xmlns="http://schemas.openxmlformats.org/package/2006/relationships"><Relationship Id="rId0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<Relationships xmlns="http://schemas.openxmlformats.org/package/2006/relationships"><Relationship Id="rId0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<Relationships xmlns="http://schemas.openxmlformats.org/package/2006/relationships"><Relationship Id="rId0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<Relationships xmlns="http://schemas.openxmlformats.org/package/2006/relationships"><Relationship Id="rId0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<Relationships xmlns="http://schemas.openxmlformats.org/package/2006/relationships"><Relationship Id="rId0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<Relationships xmlns="http://schemas.openxmlformats.org/package/2006/relationships"><Relationship Id="rId0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<Relationships xmlns="http://schemas.openxmlformats.org/package/2006/relationships"><Relationship Id="rId0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<Relationships xmlns="http://schemas.openxmlformats.org/package/2006/relationships"><Relationship Id="rId0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<Relationships xmlns="http://schemas.openxmlformats.org/package/2006/relationships"><Relationship Id="rId0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<Relationships xmlns="http://schemas.openxmlformats.org/package/2006/relationships"><Relationship Id="rId0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【开场 · 约 40 秒】
各位领导、各位同事，大家好。
今天向各位汇报的是《EA 企业架构咨询方法论》。这份方法论的方法论依据是华为公司数据管理部所著的《华为数据之道》—— 那本书讲清了「数据怎么管」，我们做的事情是把它向上延伸为一套「企业架构怎么建」的完整咨询作业标准。
我想先给各位一个总印象：这套方法论不追求概念的新颖，它追求的是**可复用**。四个字贯穿全场 —— 让不同的人、在不同的项目上，做出来的架构成果是可比的。
【讲述要点】
· 开场先给「这本书 + 我们的延伸」这句定位，让听众知道你不是另起炉灶
· 「以业务对象为锚点，打通业务战略与 IT 投资的四层架构治理体系」是全场唯一的主线句，说慢一
· 落款「咨询交付版」暗示这是给客户汇报的正式版本，语气可以稳一些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【第三章 BA 咨询方法论 · 章节页 · 约 20 秒】
进入第三章，业务架构 BA。
BA 回答的是「做什么业务」。这一章会讲方法、内容、模板三段。
【讲述要点】
· 从这一章开始，四层的章节页结构完全一致，可以提前告诉听众「后面四章的节奏是一样的」，帮助听众建立预期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【3.1 BA 之方法 · 约 70 秒】
业务架构的建模法，四步：
第一步**价值流分析** —— 识别企业的核心价值流与端到端流程，明确价值创造的起点与终点；
第二步**能力识别** —— 从价值流里抽出稳定的业务能力；
第三步**能力评估** —— 按战略重要度与当前成熟度两个维度打分；
第四步**能力地图构建** —— 按能力域分层构建全景地图，并映射到组织与流程。
第二步这句话我想重点讲：**从价值流中抽出稳定的业务能力（做什么），去除「谁在做」的组织干扰。**
这是业务架构最容易出错的地方 —— 很多人画出来的是组织架构图，而不是能力地图。组织会调整，能力相对稳定。**用能力地图替代部门清单，才能让 IT 有稳定的对接面。** 否则组织一改，系统就得跟着改。
【讲述要点】
· 「能力 vs 组织」的区分是 BA 的核心洞察，一定要讲透
· 右手可以比划一下：能力是横的、稳定的；组织是竖的、易变的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【3.2 BA 之内容 · 约 70 秒】
业务架构要交付三类核心成果：
① **业务能力地图** —— 按「能力域 → 能力组 → 能力项」三层分解，要素包括能力域、能力项、成熟度、战略重要度；
② **价值流图** —— 描述端到端价值创造的阶段、参与角色与关键交付，要素包括价值阶段、触发事件、交付物、周期；
③ **组织映射表** —— 把能力与组织单元、岗位对齐，要素包括能力、责任部门、岗位、协同方。
请注意副标题：**三类成果分别回答「有哪些能力」「怎么创造价值」「谁来承担」。** 三个问题缺一不可 —— 只知道能力、不知道价值怎么流转，会做成静态台账；只知道价值流、不落责任，会做成流程图挂墙上。
右边那个能力地图示例，展示了三层结构：L1 能力域（比如研发、供应、销售），下面展开能力组，再往下是能力项。这个三层分解的好处是**任何一项能力都能被精确定位和指派责任**。
【讲述要点】
· 「三个问题缺一不可」是这一页的骨架，先说结构再讲细节
· 「静态台账」「挂墙上」都是听众的痛点语言，可以带一点语气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【3.3 BA 之模板 · 约 70 秒】
这一页给两个可以直接拿去用的模板。
**模板 A 是业务能力卡片**，左边橙红竖栏里列了四个字段，每个字段旁边的小字是「填写要求」：
· 能力编号 —— 全局唯一，与资产目录一致（示例 BA-SCM-014）；
· 能力定义 —— 一句话说清做什么（示例「按承诺时点交付订单」）；
· 业务规则 —— 规则数字化的入口（示例「信用额度校验 / 库存锁定」）；
· 度量指标 —— 可量化的 KPI（示例「准时交付率 ≥ 98%」）。
**模板 B 是价值流图符号规范**，五种符号：标准矩形表价值阶段、菱形表里程碑、右三角表交付物、实线箭头表流转方向、虚线回路表断点与返工。
副标题那句话是整个模板体系的价值主张：**「字段即标准」—— 填不出某个字段，说明该能力还没真正被想清楚。** 比如一个能力写不出度量指标，那它大概率是个模糊的概念，不是可管理的能力。
【讲述要点】
· 强调「填写要求」这一列 —— 这才是模板区别于空白表格的地方
· 「填不出来说明没想清楚」这句话可以直接用作评审时的质询话术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【第四章 DA 咨询方法论 · 章节页 · 约 20 秒】
进入第四章，数据架构 DA。
这一章是整份方法论的枢纽 —— 前面提过，数据架构连接业务架构与应用架构，是承上启下的那一层。
【讲述要点】
· 可以点一句：这一章的内容最直接继承自《华为数据之道》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【4.1 DA 之方法 · 约 70 秒】
数据架构基于业务对象做设计，也是四步：
第一步**业务对象识别** —— 按四个标准判定：重要的人事物、有唯一标识、相对独立且有属性、可实例化。示例交付物是业务对象清单。
第二步**资产目录分层** —— 按 L1 主题域分组 → L2 主题域 → L3 业务对象 → L4 逻辑实体 → L5 属性，五层落位。
第三步**标准与模型设计** —— 定业务 / 技术 / 管理三个视角的数据标准，同时设计概念、逻辑、物理三层模型。
第四步**数据分布规划** —— 用 CRUD 矩阵锁定唯一权威数据源，理清信息链与数据流。
这里我想强调两个「三」和「五」中间的那句话：**业务对象是业务架构与数据架构的「共同语言」—— 先定对象，再谈标准与模型。**
顺序不能倒过来。如果一上来就去捞字段、定类型，那做出来的一定是一个庞大的物理表清单，而不是数据架构。**先定对象，标准与模型才有依附的骨架。**
【讲述要点】
· 「先定对象」这个顺序问题是 DA 的关键，可以讲一个反面例子（一上来就理表结构）
· 第一步的四个判定标准是业务对象识别的口诀，可以原话重复一遍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【4.2 信息架构四组件 · Hero 页 · 约 70 秒】
信息架构由四个组件构成。左边这个巨大的数字「4」，就是它的视觉锚点。
**组件一：数据资产目录** —— 形成企业数据地图，识别数据管理责任、解决归属争议、避免重复建设。**五层分类是它的骨架。**
**组件二：数据标准** —— 统一业务侧语言与理解。每个标准必须覆盖三个视角：业务视角（定义与用途）、技术视角（类型与长度）、管理视角（责任主体）。
**组件三：数据模型** —— 从数据视角模拟现实世界：概念模型对齐业务对象、逻辑模型固化规则、物理模型落到表结构。
**组件四：数据分布** —— 定义唯一权威数据源与 CRUD 流转，让数据血缘可追溯。
这四个组件不是并列的四份文档，而是**有依赖顺序的**：先有目录才知道管什么，再有标准才能统一口径，再有模型才能落地结构，最后用分布理清数据在哪儿流动。
【讲述要点】
· 四个组件按顺序讲，最后收一句「有依赖顺序」把它串起来
· 「业务 / 技术 / 管理」三视角是《华为数据之道》的经典框架，可以点明出处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【4.3 DA 之模板 · 约 70 秒】
数据架构给三个模板。
**模板 A 是五层数据资产目录**，请注意每一层后面挂的责任角色，这是它的精髓：
· L1 主题域分组 —— 公司数据 Owner；
· L2 主题域 —— 领域数据 Owner；
· L3 业务对象 —— 业务对象 Owner，**这是核心层**；
· L4 逻辑实体 —— 数据管家；
· L5 属性 —— 数据管家。
**责任随层级递减、精度随层级递增**，这是目录设计的核心逻辑。
**模板 B 是数据标准卡**，三个视角各管一件事：业务视角统一语言，技术视角约束 IT 实施，管理视角明确责任。
**模板 C 是 CRUD 矩阵**，用 C（创建）、R（读取）、U（更新）、D（删除）标注每个业务对象在各应用里的角色。
底部这个判断最关键：**CRUD 矩阵是过程性工具，数据源是结论性设计 —— 发现多个「C」才能锁定唯一权威源。** 请看表格里「客户」这一行，ERP 和 CRM 都是 C，说明客户数据有两个创建方，这是数据质量问题的根源，必须治理到唯一创建方。
【讲述要点】
· 「客户有两个 C」是一个可以直接指屏幕讲的具体案例，很有说服力
· 「多个 C = 数据源不清」这个判读规则是本节最实用的知识点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【第五章 AA 咨询方法论 · 章节页 · 约 20 秒】
进入第五章，应用架构 AA。
前面三章讲的是「业务要什么」「数据怎么组织」，这一章回答「用什么系统来承载」。
【讲述要点】
· 可以点一句衔接：从这一章开始，讨论从「规划」转向「治理」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【5.1 AA 之方法 · 约 70 秒】
应用架构四步作业法：
第一步**能力映射** —— 把 BA 输出的业务能力逐项映射到承载它的应用系统，**识别「一能力多系统」**；
第二步**应用盘点** —— 建立应用全景清单：上线年份、用户量、技术栈、维护成本、业务关键度；
第三步**热力图评估** —— 以业务价值与技术健康度两个维度评估，定位高价值高风险、以及低价值冗余的应用；
第四步**组合决策** —— 对每个应用给出**建 / 买 / 集成 / 退役**四态决策。
副标题那句话很直白：**应用不是越多越好 —— 数量增长是技术债的主要来源，组合治理比新建更重要。**
这是我们很多企业的真实处境：这些年建了几百个系统，真正的问题不是缺系统，而是**冗余、孤岛和维护成本**。所以应用架构的核心动作不是「再建一个」，而是「先盘清楚，再决定建还是退」。
【讲述要点】
· 「组合治理比新建更重要」这句话会击中很多 CIO 的痛点
· 第三步两个维度（业务价值 / 技术健康度）可以画个四象限示意，帮助听众理解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【目录 · 约 30 秒】
全篇分六个主干模块，从方法论总纲到四层架构逐层落地。
我特别想请各位注意右下角那句话 —— 每一层都包含「方法 / 内容 / 模板」三段式。这是我们和很多架构方法论最大的不同：**别人只给你一张图，我们给你图、给你要交付的清单、还给你填空的模板。**
01、02 是总纲层，讲方法论本身和战略输入；03 到 06 是四层架构 —— BA 业务架构、DA 数据架构、AA 应用架构、TA 技术架构。
【讲述要点】
· 用「不是只给图，还给你清单和模板」这句话建立差异感
· 六个模块快速念过即可，不要逐个展开，留悬念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【5.2 AA 之内容 · 约 70 秒】
应用架构交付三份成果，副标题已经把它们的边界划清了：**清单解决「有什么」，关系图解决「怎么连」，架构原则解决「以后怎么建」。**
**交付物一：应用组合清单** —— 请看这张表，五个字段：应用名称、承载能力、技术健康度、业务价值、决策。示例里 CRM 旧版因为技术健康度是 D、业务价值只有 B，决策是「退役」；报表工具 X 决策是「集成」；订单中心和产线 MES 决策是「保留」。
**交付物二：应用集成关系图** —— 前端应用通过统一的集成总线（API Gateway）访问后端系统，而不是前端直连后端。**总线化的意义是把 N×N 的连接收敛为 N×1。**
**交付物三：架构原则** —— 四条：核心自建非核采购、优先 SaaS 而非自建、集成优于重建、定期组合评审。
这四条原则里，第三条「集成优于重建」是最省钱的：**能通过接口复用的，不得另建平行系统。**
【讲述要点】
· 「N×N 收敛为 N×1」是集成总线价值的精准表达
· 表格里的「退役」「集成」示例可以点名讲，让内容具体起来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【5.3 AA 之模板 · 约 70 秒】
这一页给应用架构的两个模板。
**左侧是应用卡片**，四个字段：
· 应用编号 —— 全局唯一；
· 承载能力 —— **必须挂到能力**（示例「订单履约 BA-SCM-014」）；
· 技术健康度 —— A 到 D 四级；
· 业务价值 —— 与能力重要度保持一致。
请注意第二个字段的填写要求：**必须挂到能力**。这就是前面反复讲的那条主线 —— 业务对象 / 业务能力是贯穿四层的锚点，在应用架构里它体现为「每个应用必须说清自己承载哪个能力」。挂不上的应用，就是冗余的候选。
**右侧是建 · 买 · 集成 · 退役决策表**，每一态都给了判定条件：
· 建 Build —— 核心能力 + 无成熟产品；
· 买 Buy —— 非核心 + 市场成熟；
· 集成 Integrate —— 已有系统可复用；
· 退役 Retire —— 低价值 + 高维护成本。
副标题是这一页的价值主张：**决策表把「拍脑袋」变成「按标准判定」—— 四个字段就能定一个应用的去向。**
【讲述要点】
· 「挂不上的应用就是冗余候选」是一个可直接使用的判读规则
· 四态决策表建议逐条念判定条件，这是最有操作性的部分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【第六章 TA 咨询方法论 · 章节页 · 约 20 秒】
进入最后一章，技术架构 TA。
这是四层架构的底座 —— 前面所有设计，最终都要靠技术来落地。
【讲述要点】
· 可以点一句：这一章我特别想讲一个态度问题 —— 怎么面对技术的快速变化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【6.1 TA 之方法 · 约 70 秒】
技术架构的四步作业法：
第一步**需求输入** —— 从 AA 的应用组合与 DA 的数据规模反推技术需求：并发、时延、容量、可用性；
第二步**分层设计** —— 按基础设施 / 平台 / 数据 / 集成 / 安全五层划分，明确每层职责与层间接口；
第三步**选型评估** —— 对候选技术做成熟度、生态、成本、锁定风险四维评估；
第四步**演进路线** —— 把目标态拆为三阶段，标注里程碑与退坡路径。
这一页的核心主张，请各位记住左侧那句话：**不在单点技术上押注，而在分层结构与接口标准上投资 —— 让技术换代不推翻业务。**
技术一定会过时，这是无法回避的。但如果分层清楚、接口标准明确，那么换掉某一层的技术就是一次局部替换，而不是一次全系统重构。**这就是「以架构确定性应对技术不确定性」的真实含义。**
第一步「需求输入」也值得点一句 —— 技术需求不是 IT 部门自己拍出来的，它是从应用架构和数据架构倒推出来的。
【讲述要点】
· 「不押注单点技术，投资分层结构」是全章的核心主张，要讲透
· 第四步的「退坡路径」为下一页的路线图做铺垫，可以提前埋一句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【6.2 TA 之内容 · 约 70 秒】
技术架构交付三份成果，副标题划清了边界：**组件清单解决「用什么」，部署视图解决「放哪里」，标准规范解决「怎么管」。**
**交付物一：技术组件清单** —— 这张表五个字段：技术层、代表性组件、成熟度、锁定风险、策略。示例里基础设施层是容器平台 / 云主机，锁定风险中等，策略是云原生；数据平台层是数据湖 / 数仓，锁定风险低，策略是湖仓一体；集成层是 API 网关 / 消息，策略是统一网关；安全层是统一身份 / 审计，策略是零信任。
请注意「锁定风险」这一列 —— 这是选型时最容易被忽略、但代价最大的一个维度。技术选型一旦被厂商锁定，后续的议价能力和迁移自由度都会丧失。
**交付物二：部署视图** —— 三个环境：生产环境（核心应用集群双活）、灾备中心（同城灾备、数据实时同步）、测试环境（与生产隔离、数据脱敏）。
**交付物三：技术标准规范四类** —— 技术选型标准、接口与集成标准、部署与运维标准、安全与合规标准。
【讲述要点】
· 「锁定风险」这一列值得重点讲，很多听众会忽略
· 三个环境的划分是常识性内容，快速带过即可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【6.3 TA 之模板 · Hero 页 · 约 70 秒】
最后一页模板，也是全书唯一一张路线图。
**上方是技术演进路线图**，从「当前」指向「目标态」，分三个阶段：
· 阶段一 夯实基础 —— 里程碑是容器化率达到 60%，统一云底座与基础监控；
· 阶段二 平台整合 —— 里程碑是数据中台上线，统一数据底座与集成总线；
· 阶段三 云原生化 —— 里程碑是应用云原生 80%，实现弹性伸缩与自动运维。
请注意三个色块的高度是递增的 —— 它同时表达了**能力成熟度的爬升**和**投入的累积**。
**下方是技术组件卡片模板**，四个字段：组件定位（所属技术层与架构职责）、选型理由（成熟度 / 生态 / 成本 / 锁定风险）、部署要求（环境、规格、可用性等级）、运维责任（责任团队、SLA、监控指标）。
右下角的判断是全场的收束句之一：**技术路线的价值不在选了哪家产品，而在每阶段都能退坡 —— 若阶段目标不达标，可退回上一稳态而不致业务中断。**
这是路线图和甘特图最本质的区别：甘特图只讲「什么时候做完」，路线图还讲「做不完怎么办」。
【讲述要点】
· 三阶段的高度递增是个视觉细节，点出来会显得讲解很细致
· 「甘特图只讲做完，路线图还讲做不完怎么办」这句话可以作为全章的收尾金句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【结束页 · Hero 页 · 约 30 秒】
最后，我想把这套方法论浓缩成一句话送给各位：
**「架构的确定性，是转型唯一可复用的资产。」**
业务会变、技术会换，这是常态。唯有被清晰定义的架构可以沉淀下来 —— 让每一次转型都不必从零开始。
我们做这套方法论，最终希望的也是这件事：**让上层的战略变化、下层技术的变化，都能被中间那层稳定的架构缓冲住。**
四个模块 —— BA 业务架构、DA 数据架构、AA 应用架构、TA 技术架构，每一层都有方法、内容、模板，可以直接用在下一个项目上。
我的汇报到这里，谢谢各位。
【讲述要点】
· 语速放慢，这句金句是留给听众离场时带走的
· 讲完停 2 秒再致谢，不要急着收
· 如果后面有问答环节，可以在致谢后加一句「欢迎各位就任何一层的方法或模板提问」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【4A 总览 · Hero 页 · 约 60 秒】
这一页是全场的地基，建议多停一会。
四层架构共同回答一个问题：「战略如何落到系统」。
请看右侧这个堆叠结构 —— 从上到下不是简单罗列，而是有依赖关系的：**业务架构是基础，数据架构是枢纽，应用架构是载体，技术架构是底座。**
每一层都有自己的核心问句：BA 回答「做什么业务」，DA 回答「需要什么数据」，AA 回答「用什么系统承载」，TA 回答「用什么技术实现」。
右侧那根双向虚线箭头是关键 —— 架构不是自上而下单向分解，而是**逐层分解、双向校验**：上层定「做什么」，下层要能回答「怎么实现」；如果下层实现不了，上层必须回头改。
【讲述要点】
· 「基础 / 枢纽 / 载体 / 底座」四个词各停一拍，这是四层的性格
· 双向箭头一定要点出来，这是方法论区别于传统瀑布式规划的核心
· 如果听众是业务方，可以补一句：BA 是业务部门的主场，不是 IT 的事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【第一章 方法论总体介绍 · 章节页 · 约 20 秒】
进入第一章，方法论总体介绍。
这一章只回答两个问题：这套方法论的**内核**是什么，以及**作业流程**怎么走。
【讲述要点】
· 章节页语速放缓，给听众一个换挡的间隙
· 只宣布本章要讲什么，不要提前剧透内容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【1.1 业务对象为锚点 · 约 70 秒】
这一页讲方法论的内核：**以「业务对象」为唯一锚点，贯穿四层。**
四层架构不是四份各自独立的文档，而是同一套业务对象在不同抽象层上的展开。这句话的意思是：BA 层面识别出来的「客户」「订单」「物料」，到了 DA 层面就是数据资产目录里的业务对象，到了 AA 层面就是应用系统要承载的对象，到了 TA 层面就是数据存储的对象。**同一个词，四层共用。**
左边这三条是我们承诺的作业闭环：
· 方法回答「怎么做」—— 定义步骤、输入输出与判定标准，避免咨询成果因人而异；
· 内容回答「做什么」—— 明确必须交付的结构化清单，杜绝漏项；
· 模板回答「做成什么样」—— 给出标准样式，保证跨项目可比可复用。
右边三条设计总则，请各位重点记第一和第三条：**业务主导** —— 数据与架构的责任主体在业务不在 IT；**同源共享** —— 一个对象一个 Owner，一份数据一个权威源。
【讲述要点】
· 「同一个词，四层共用」是全场最有说服力的一句，可以说慢
· 三条设计总则不要念完就过，「业务主导」要停顿强调 —— 这往往是最容易被 IT 部门越俎代庖的地方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【1.2 五步作业法 · 约 70 秒】
方法论落到纸上就是这五步：从愿景到路线图。
我想强调副标题那句话：**每一步都以「可评审的交付物」收口**，避免咨询成果停留在访谈纪要。这是咨询项目最容易翻车的地方 —— 谈了很多轮，纪要一大摞，但拿不出一个能让决策层签字的东西。
五步分别是：
Step 1 愿景与战略对齐 —— 访谈高层，锁定愿景、战略目标与 KPI 基线；
Step 2 业务架构建模 —— 价值流拆解到能力地图；
Step 3 数据架构设计 —— 基于业务对象出信息架构四件套；
Step 4 应用与技术架构 —— 能力映射到应用组合，再做技术分层选型；
Step 5 差距分析与路线图 —— AS-IS 与 TO-BE 对比，拆成可排序、可投资、可考核的举措。
请注意每一步右边那个浅橙色小标签 —— 那一栏是**交付物**，也就是这一步做完必须交出来的东西。
【讲述要点】
· 重点讲 Step 1 和 Step 5，中间三步可以快速带过
· Step 5 的「可排序、可投资、可考核」三个词是收口标准，值得强调
· 如果时间紧，这一步可以只讲「五步 + 一句『每步都有交付物』」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【第二章 业务愿景和战略 · 章节页 · 约 20 秒】
进入第二章，业务愿景和战略。
这一章是四层架构的输入 —— 架构做得好不好，很大程度上取决于这一章的输入清不清楚。
【讲述要点】
· 可以补一句衔接：很多架构项目失败的根因不在架构本身，而在战略输入是模糊的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【2.1 愿景与战略 · 约 70 秒】
愿景定义「去哪」，战略回答「怎么去」。
左边这个五层金字塔，是从上到下逐层落地的路径：
· 最上是**愿景** —— 我们要成为什么，它是不可量化的方向感；
· 第二层**使命** —— 我们为谁创造价值，回答存在的意义；
· 第三层**战略** —— 选择的路径与取舍；
· 第四层**举措** —— 可投资的关键动作；
· 最下是**KPI** —— 如何度量成功。
右边那根向上的箭头，我特别希望各位注意：**它是从下往上指回去的。** 这表示如果 KPI 度量不出来，就说明举措不实；举措不实，说明战略没说清。这是一个自下而上的反向校验。
三层解读里，我想重点讲第二层「战略：定取舍」—— **战略的本质是「不做什么」。** 一份什么都想要的战略，等于没有战略。
【讲述要点】
· 五层不要平铺直叙，重点讲「战略定取舍」和「KPI 是校验器」
· 反向箭头是一个很好的视觉记忆点，值得用手势配合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>
            <p:ph type="body"/>
          </p:nvPr>
        </p:nvSpPr>
        <p:spPr>
          <a:xfrm>
            <a:off x="0" y="0"/>
            <a:ext cx="177800" cy="444500"/>
          </a:xfrm>
        </p:spPr>
        <p:txBody>
          <a:bodyPr/>
          <a:p>
            <a:pPr/>
            <a:r>
              <a:rPr lang="en-US"/>
              <a:t>【2.2 战略对齐 · Hero 页 · 约 70 秒】
这一页回答：业务战略和 IT 战略到底怎么对齐。
左边这张映射矩阵，列出了四条典型业务战略，以及它对应的 IT 支撑方式和对齐强度：
· 市场增长 → 多渠道前端 + 数据洞察，强对齐；
· 成本领先 → 流程引擎 + 主数据统一，强对齐；
· 产品创新 → 模块化应用 + 云原生底座，中等对齐；
· 风险合规 → 数据安全分级 + 血缘追溯，强对齐。
请注意最后那个橙色标签 —— 它标的是**对齐强度**。「产品创新」只有中等对齐，这不是缺陷，这是事实：创新类战略的 IT 支撑本身就带有探索性，不宜过度承诺。**如实标注比强行满分更专业。**
底部这个判断条是我最想让各位带走的一句话：**对齐度不足的根因往往不是技术，而是业务战略本身没有说清优先级 —— 先补战略，再谈架构。**
右边四条对齐准则，最有操作性的是第一条「目标可追溯」：每个 IT 项目必须挂载业务战略目标，**无对应不予立项**。这条能直接用在立项评审上。
【讲述要点】
· 「中等对齐」是个亮点，要主动点出来 —— 显示方法论不粉饰
· 「无对应不予立项」是可以直接落地的管理动作，听众会记住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2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1.svg" /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0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3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4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svg" /><Relationship Id="rId1" Type="http://schemas.openxmlformats.org/officeDocument/2006/relationships/notesSlide" Target="../notesSlides/notesSlide25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2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3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4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8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9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0.xml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1.xml" 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3.xml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4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5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6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notesSlide" Target="../notesSlides/notesSlide18.xml" 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9.xml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FFFFFF', position: 'relative', padding: 0 }}&gt;&#10;    {/* 左侧橙红几何带 - 骑线切入 */}&#10;    &lt;Box style={{&#10;        position: 'absolute', top: 0, left: 0, width: 470, height: 720,&#10;        background: 'linear-gradient(160deg, #FA4F24 0%, #F87D2F 100%)',&#10;    }} /&gt;&#10;    {/* 几何带缺口 - 白色斜切 */}&#10;    &lt;Box style={{&#10;        position: 'absolute', top: 0, left: 412, width: 120, height: 720,&#10;        background: '#FFFFFF', transform: 'rotate(9deg)',&#10;    }} /&gt;&#10;    {/* 右侧细橙装饰线 */}&#10;    &lt;Box style={{&#10;        position: 'absolute', top: 96, right: 96, width: 4, height: 88, background: '#FA4F24',&#10;    }} /&gt;&#10;&#10;    {/* 左侧品牌区 */}&#10;    &lt;Box style={{ position: 'absolute', top: 72, left: 64, width: 300 }}&gt;&#10;        &lt;Text style={{ fontSize: 20, fontWeight: 'bold', color: '#FFFFFF', letterSpacing: 2 }}&gt;&#10;            BOULDERAI&#10;        &lt;/Text&gt;&#10;        &lt;Text style={{ fontSize: 14, color: 'rgba(255,255,255,0.85)', marginTop: 6, letterSpacing: 1 }}&gt;&#10;            TECHNOLOGIES · SOLUTION&#10;        &lt;/Text&gt;&#10;    &lt;/Box&gt;&#10;&#10;    {/* 左侧竖向大字 */}&#10;    &lt;Box style={{ position: 'absolute', bottom: 96, left: 64, width: 300 }}&gt;&#10;        &lt;Text style={{ fontSize: 88, fontWeight: 'bold', color: 'rgba(255,255,255,0.22)', lineHeight: 1.0 }}&gt;&#10;            EA&#10;        &lt;/Text&gt;&#10;        &lt;Text style={{ fontSize: 15, color: '#FFFFFF', marginTop: 12, letterSpacing: 1 }}&gt;&#10;            企业架构咨询方法论&#10;        &lt;/Text&gt;&#10;    &lt;/Box&gt;&#10;&#10;    {/* 右侧主标题区 */}&#10;    &lt;Box style={{ position: 'absolute', top: 218, left: 620, width: 600 }}&gt;&#10;        &lt;Text style={{ fontSize: 76, fontWeight: 'bold', color: '#0F1423', lineHeight: 1.2 }}&gt;&#10;            EA企业架构&#10;            &lt;br /&gt;&#10;            &lt;span style={{ color: '#FA4F24' }}&gt;咨询方法论&lt;/span&gt;&#10;        &lt;/Text&gt;&#10;        &lt;Box style={{ width: 96, height: 5, background: '#FA4F24', marginTop: 28 }} /&gt;&#10;        &lt;Text style={{ fontSize: 22, color: '#3A4050', marginTop: 26, lineHeight: 1.6 }}&gt;&#10;            以「业务对象」为锚点，打通业务战略与 IT 投资的四层架构治理体系&#10;        &lt;/Text&gt;&#10;    &lt;/Box&gt;&#10;&#10;    {/* 右下依据与版本 */}&#10;    &lt;Box style={{ position: 'absolute', bottom: 72, left: 620, width: 596 }}&gt;&#10;        &lt;Text style={{ fontSize: 16, color: '#8A8F99', lineHeight: 1.7 }}&gt;&#10;            方法论依据：《华为数据之道》（华为公司数据管理部 著）&#10;            &lt;br /&gt;&#10;            BA · DA · AA · TA 四层架构 | 方法 / 内容 / 模板 三段式作业标准&#10;        &lt;/Text&gt;&#10;        &lt;Text style={{ fontSize: 14, color: '#B4B8C0', marginTop: 10 }}&gt;&#10;            硕磐智能 · 咨询交付版 · 2026.10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grpSp>
        <p:nvGrpSpPr>
          <p:cNvPr id="4" name=""/>
          <p:cNvGrpSpPr/>
          <p:nvPr/>
        </p:nvGrpSpPr>
        <p:grpSpPr>
          <a:xfrm rot="540000" flipH="0" flipV="0">
            <a:off x="3924300" y="0"/>
            <a:ext cx="1143000" cy="6858000"/>
            <a:chOff x="3924300" y="0"/>
            <a:chExt cx="1143000" cy="6858000"/>
          </a:xfrm>
        </p:grpSpPr>
        <p:sp>
          <p:nvSpPr>
            <p:cNvPr id="5" name=""/>
            <p:cNvSpPr/>
            <p:nvPr/>
          </p:nvSpPr>
          <p:spPr>
            <a:xfrm rot="0" flipH="0" flipV="0">
              <a:off x="3924300" y="0"/>
              <a:ext cx="1143000" cy="6858000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/>
            <a:p/>
          </p:txBody>
        </p:sp>
      </p:grpSp>
      <p:sp>
        <p:nvSpPr>
          <p:cNvPr id="6" name=""/>
          <p:cNvSpPr/>
          <p:nvPr/>
        </p:nvSpPr>
        <p:spPr>
          <a:xfrm rot="0" flipH="0" flipV="0">
            <a:off x="11239500" y="914400"/>
            <a:ext cx="38100" cy="8382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85800"/>
            <a:ext cx="2857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97155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2857500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FFFFFF">
                    <a:alpha val="22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5772150"/>
            <a:ext cx="285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75">
                <a:solidFill>
                  <a:srgbClr val="FFFFFF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5905500" y="2076450"/>
            <a:ext cx="5715000" cy="2085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5700" b="1">
                <a:solidFill>
                  <a:srgbClr val="0F1423"/>
                </a:solidFill>
                <a:latin typeface="Microsoft YaHei"/>
                <a:ea typeface="Microsoft YaHei"/>
              </a:rPr>
              <a:t>EA</a:t>
            </a:r>
            <a:r>
              <a:rPr lang="zh-CN" sz="5700" b="1">
                <a:solidFill>
                  <a:srgbClr val="0F1423"/>
                </a:solidFill>
                <a:latin typeface="Microsoft YaHei"/>
                <a:ea typeface="Microsoft YaHei"/>
              </a:rPr>
              <a:t>企业架构</a:t>
            </a:r>
            <a:endParaRPr/>
          </a:p>
          <a:p>
            <a:pPr>
              <a:lnSpc>
                <a:spcPct val="120000"/>
              </a:lnSpc>
            </a:pPr>
            <a:r>
              <a:rPr lang="zh-CN" sz="5700" b="1">
                <a:solidFill>
                  <a:srgbClr val="FA4F24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5905500" y="4429125"/>
            <a:ext cx="9144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5905500" y="4724400"/>
            <a:ext cx="5715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以「业务对象」为锚点，打通业务战略与</a:t>
            </a:r>
            <a:r>
              <a:rPr lang="en-US" sz="165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650">
                <a:solidFill>
                  <a:srgbClr val="3A4050"/>
                </a:solidFill>
                <a:latin typeface="Microsoft YaHei"/>
                <a:ea typeface="Microsoft YaHei"/>
              </a:rPr>
              <a:t>投资的四层架构治理体系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905500" y="5286375"/>
            <a:ext cx="567690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方法论依据：《华为数据之道》（华为公司数据管理部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著）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BA · DA · AA ·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四层架构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|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方法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模板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三段式作业标准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905500" y="6010275"/>
            <a:ext cx="567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硕磐智能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B4B8C0"/>
                </a:solidFill>
                <a:latin typeface="Microsoft YaHei"/>
                <a:ea typeface="Microsoft YaHei"/>
              </a:rPr>
              <a:t>咨询交付版</a:t>
            </a:r>
            <a:r>
              <a:rPr lang="en-US" sz="1050">
                <a:solidFill>
                  <a:srgbClr val="B4B8C0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09" name="" descr="&lt;Slide style={{ width: 1280, height: 720, background: '#FFFFFF', padding: '24px 64px 0' }}&gt;&#10;    {/* A 区 标题块 */}&#10;    &lt;Box style={{ height: 96, flexDirection: 'column', justifyContent: 'flex-start' }}&gt;&#10;        &lt;Text style={{ fontSize: 32, fontWeight: 'bold', color: '#0F1423' }}&gt;&#10;            本方法论覆盖&lt;span style={{ color: '#FA4F24' }}&gt;六个主干模块&lt;/span&gt;&#10;        &lt;/Text&gt;&#10;        &lt;Text style={{ fontSize: 20, color: '#8A8F99', marginTop: 8 }}&gt;&#10;            从方法论总纲到四层架构逐层落地 —— 每层均含「方法 / 内容 / 模板」三段式作业标准&#10;        &lt;/Text&gt;&#10;    &lt;/Box&gt;&#10;    &lt;Box style={{ height: 1, background: '#E8E8E8' }} /&gt;&#10;&#10;    {/* B 区 目录 2 行 × 3 列 */}&#10;    &lt;Box style={{ paddingTop: 24, paddingBottom: 14, flexDirection: 'column', gap: 20, height: 479 }}&gt;&#10;        {[&#10;            [&#10;                { no: '01', name: '方法论总体介绍', desc: '以业务对象为唯一锚点，构建方法—内容—模板的三段式作业闭环。' },&#10;                { no: '02', name: '业务愿景和战略', desc: '愿景定义「去哪」，战略回答「怎么去」，KPI 锁定如何度量。' },&#10;                { no: '03', name: 'BA 咨询方法论', desc: '价值流拆解与业务能力建模，输出能力地图与组织映射。' },&#10;            ],&#10;            [&#10;                { no: '04', name: 'DA 咨询方法论', desc: '基于业务对象设计信息架构：目录、标准、模型、分布四组件。' },&#10;                { no: '05', name: 'AA 咨询方法论', desc: '能力映射应用组合，以建 / 买 / 集成 / 退役四态决策治理。' },&#10;                { no: '06', name: 'TA 咨询方法论', desc: '以架构的确定性应对技术的不确定性，输出选型与演进路线。' },&#10;            ],&#10;        ].map((row, ri) =&gt; (&#10;            &lt;Box key={ri} style={{ flexDirection: 'row', gap: 20, flex: 1 }}&gt;&#10;                {row.map((it, i) =&gt; (&#10;                    &lt;Box key={i} style={{&#10;                        flex: 1, flexDirection: 'row', alignItems: 'flex-start',&#10;                        padding: 24, background: '#F7F7F8', borderRadius: 4,&#10;                        borderLeft: '5px solid #FA4F24',&#10;                    }}&gt;&#10;                        &lt;Text style={{ fontSize: 40, fontWeight: 'bold', color: '#FA4F24', lineHeight: 1.0, width: 78 }}&gt;&#10;                            {it.no}&#10;                        &lt;/Text&gt;&#10;                        &lt;Box style={{ flexDirection: 'column', flex: 1 }}&gt;&#10;                            &lt;Text style={{ fontSize: 24, fontWeight: 'bold', color: '#0F1423' }}&gt;{it.name}&lt;/Text&gt;&#10;                            &lt;Text style={{ fontSize: 18, color: '#3A4050', marginTop: 10, lineHeight: 1.5 }}&gt;&#10;                                {it.desc}&#10;                            &lt;/Text&gt;&#10;                        &lt;/Box&gt;&#10;                    &lt;/Box&gt;&#10;                ))}&#10;            &lt;/Box&gt;&#10;        ))}&#10;    &lt;/Box&gt;&#10;&#10;    {/* C 区 页脚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02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本方法论覆盖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六个主干模块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从方法论总纲到四层架构逐层落地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每层均含「方法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内容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模板」三段式作业标准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14" name=""/>
          <p:cNvSpPr/>
          <p:nvPr/>
        </p:nvSpPr>
        <p:spPr>
          <a:xfrm rot="0" flipH="0" flipV="0">
            <a:off x="657225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657225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85825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1628775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628775" y="1981200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以业务对象为唯一锚点，构建方法—内容—模板的三段式作业闭环。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4381500" y="1381125"/>
            <a:ext cx="3524250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0" name=""/>
          <p:cNvSpPr/>
          <p:nvPr/>
        </p:nvSpPr>
        <p:spPr>
          <a:xfrm rot="0" flipH="0" flipV="0">
            <a:off x="4381500" y="1381125"/>
            <a:ext cx="3524250" cy="2009775"/>
          </a:xfrm>
          <a:custGeom>
            <a:pathLst>
              <a:path w="370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461010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5353050" y="1609725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5353050" y="1981200"/>
            <a:ext cx="22764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愿景定义「去哪」，战略回答「怎么去」，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KPI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锁定如何度量。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8096250" y="1381125"/>
            <a:ext cx="3533775" cy="2009775"/>
          </a:xfrm>
          <a:prstGeom prst="roundRect">
            <a:avLst>
              <a:gd name="adj" fmla="val 18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25" name=""/>
          <p:cNvSpPr/>
          <p:nvPr/>
        </p:nvSpPr>
        <p:spPr>
          <a:xfrm rot="0" flipH="0" flipV="0">
            <a:off x="8096250" y="1381125"/>
            <a:ext cx="3533775" cy="2009775"/>
          </a:xfrm>
          <a:custGeom>
            <a:pathLst>
              <a:path w="371" h="211">
                <a:moveTo>
                  <a:pt x="5" y="211"/>
                </a:moveTo>
                <a:cubicBezTo>
                  <a:pt x="4" y="211"/>
                  <a:pt x="3" y="211"/>
                  <a:pt x="2" y="210"/>
                </a:cubicBezTo>
                <a:cubicBezTo>
                  <a:pt x="1" y="210"/>
                  <a:pt x="0" y="209"/>
                  <a:pt x="0" y="207"/>
                </a:cubicBezTo>
                <a:lnTo>
                  <a:pt x="0" y="207"/>
                </a:lnTo>
                <a:lnTo>
                  <a:pt x="0" y="207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8324850" y="160972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9067800" y="1609725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9067800" y="1981200"/>
            <a:ext cx="22860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价值流拆解与业务能力建模，输出能力地图与组织映射。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657225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57225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85825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1628775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1628775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基于业务对象设计信息架构：目录、标准、模型、分布四组件。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4381500" y="3581400"/>
            <a:ext cx="3524250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4381500" y="3581400"/>
            <a:ext cx="3524250" cy="2000250"/>
          </a:xfrm>
          <a:custGeom>
            <a:pathLst>
              <a:path w="370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461010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5353050" y="3810000"/>
            <a:ext cx="2276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5353050" y="4181475"/>
            <a:ext cx="22764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能力映射应用组合，以建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3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退役四态决策治理。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8096250" y="3581400"/>
            <a:ext cx="3533775" cy="2000250"/>
          </a:xfrm>
          <a:prstGeom prst="roundRect">
            <a:avLst>
              <a:gd name="adj" fmla="val 190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40" name=""/>
          <p:cNvSpPr/>
          <p:nvPr/>
        </p:nvSpPr>
        <p:spPr>
          <a:xfrm rot="0" flipH="0" flipV="0">
            <a:off x="8096250" y="3581400"/>
            <a:ext cx="3533775" cy="2000250"/>
          </a:xfrm>
          <a:custGeom>
            <a:pathLst>
              <a:path w="371" h="210">
                <a:moveTo>
                  <a:pt x="5" y="210"/>
                </a:moveTo>
                <a:cubicBezTo>
                  <a:pt x="4" y="210"/>
                  <a:pt x="3" y="210"/>
                  <a:pt x="2" y="209"/>
                </a:cubicBezTo>
                <a:cubicBezTo>
                  <a:pt x="1" y="209"/>
                  <a:pt x="0" y="208"/>
                  <a:pt x="0" y="206"/>
                </a:cubicBezTo>
                <a:lnTo>
                  <a:pt x="0" y="206"/>
                </a:lnTo>
                <a:lnTo>
                  <a:pt x="0" y="2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324850" y="3810000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A4F24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9067800" y="3810000"/>
            <a:ext cx="2286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800" b="1">
                <a:solidFill>
                  <a:srgbClr val="0F1423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9067800" y="4181475"/>
            <a:ext cx="22860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以架构的确定性应对技术的不确定性，输出选型与演进路线。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02 / 26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1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四层架构共同回答&lt;span style={{ color: '#FA4F24' }}&gt;「战略如何落到系统」&lt;/span&gt;&#10;        &lt;/Text&gt;&#10;        &lt;Text style={{ fontSize: 20, color: '#8A8F99', marginTop: 8 }}&gt;&#10;            业务架构是基础，数据架构是枢纽，应用架构是载体，技术架构是底座&#10;        &lt;/Text&gt;&#10;    &lt;/Box&gt;&#10;    &lt;Box style={{ height: 1, background: '#E8E8E8' }} /&gt;&#10;&#10;    {/* B 区 左侧巨型锚点 + 右侧四层架构图 */}&#10;    &lt;Box style={{ paddingTop: 24, paddingBottom: 14, height: 479, flexDirection: 'row', gap: 32 }}&gt;&#10;&#10;        {/* 左：巨型锚点数字 4A */}&#10;        &lt;Box style={{ width: 232, flexDirection: 'column', justifyContent: 'center' }}&gt;&#10;            &lt;Text style={{&#10;                fontSize: 128, fontWeight: 'bold', lineHeight: 1.0,&#10;                backgroundImage: 'linear-gradient(135deg, #FA4F24 0%, #F87D2F 100%)',&#10;                backgroundClip: 'text', color: 'transparent',&#10;            }}&gt;&#10;                4A&#10;            &lt;/Text&gt;&#10;            &lt;Text style={{ fontSize: 22, fontWeight: 'bold', color: '#0F1423', marginTop: 12 }}&gt;&#10;                企业架构四层模型&#10;            &lt;/Text&gt;&#10;            &lt;Box style={{ width: 56, height: 4, background: '#FA4F24', marginTop: 14 }} /&gt;&#10;            &lt;Text style={{ fontSize: 17, color: '#3A4050', marginTop: 16, lineHeight: 1.6 }}&gt;&#10;                逐层分解、双向校验 —— 上层定「做什么」，下层答「怎么实现」。&#10;            &lt;/Text&gt;&#10;        &lt;/Box&gt;&#10;&#10;        {/* 右：四层堆叠架构图（SVG 骨架 + 独立文本层） */}&#10;        &lt;Box style={{ flex: 1, position: 'relative' }}&gt;&#10;            &lt;svg width=&quot;840&quot; height=&quot;330&quot; style={{ position: 'absolute', top: 0, left: 0 }}&gt;&#10;                {/* 层 1 BA */}&#10;                &lt;rect x=&quot;0&quot; y=&quot;0&quot; width=&quot;620&quot; height=&quot;72&quot; rx=&quot;4&quot; fill=&quot;#FA4F24&quot; /&gt;&#10;                &lt;rect x=&quot;636&quot; y=&quot;0&quot; width=&quot;204&quot; height=&quot;72&quot; rx=&quot;4&quot; fill=&quot;none&quot; stroke=&quot;#FA4F24&quot; strokeWidth=&quot;1.5&quot; /&gt;&#10;                {/* 层 2 DA */}&#10;                &lt;rect x=&quot;0&quot; y=&quot;86&quot; width=&quot;620&quot; height=&quot;72&quot; rx=&quot;4&quot; fill=&quot;#F87D2F&quot; /&gt;&#10;                &lt;rect x=&quot;636&quot; y=&quot;86&quot; width=&quot;204&quot; height=&quot;72&quot; rx=&quot;4&quot; fill=&quot;none&quot; stroke=&quot;#F87D2F&quot; strokeWidth=&quot;1.5&quot; /&gt;&#10;                {/* 层 3 AA */}&#10;                &lt;rect x=&quot;0&quot; y=&quot;172&quot; width=&quot;620&quot; height=&quot;72&quot; rx=&quot;4&quot; fill=&quot;#FBA47A&quot; /&gt;&#10;                &lt;rect x=&quot;636&quot; y=&quot;172&quot; width=&quot;204&quot; height=&quot;72&quot; rx=&quot;4&quot; fill=&quot;none&quot; stroke=&quot;#FBA47A&quot; strokeWidth=&quot;1.5&quot; /&gt;&#10;                {/* 层 4 TA */}&#10;                &lt;rect x=&quot;0&quot; y=&quot;258&quot; width=&quot;620&quot; height=&quot;72&quot; rx=&quot;4&quot; fill=&quot;#FDD5BE&quot; /&gt;&#10;                &lt;rect x=&quot;636&quot; y=&quot;258&quot; width=&quot;204&quot; height=&quot;72&quot; rx=&quot;4&quot; fill=&quot;none&quot; stroke=&quot;#FDD5BE&quot; strokeWidth=&quot;1.5&quot; /&gt;&#10;                {/* 右侧竖向箭头 */}&#10;                &lt;line x1=&quot;852&quot; y1=&quot;14&quot; x2=&quot;852&quot; y2=&quot;316&quot; stroke=&quot;#FA4F24&quot; strokeWidth=&quot;1.5&quot; strokeDasharray=&quot;4 4&quot; /&gt;&#10;                &lt;polygon points=&quot;852,4 847,16 857,16&quot; fill=&quot;#FA4F24&quot; /&gt;&#10;                &lt;polygon points=&quot;852,326 847,314 857,314&quot; fill=&quot;#FA4F24&quot; /&gt;&#10;            &lt;/svg&gt;&#10;&#10;            {/* 层级文本（独立可编辑层） */}&#10;            &lt;Box style={{ position: 'absolute', top: 0, left: 0, width: 840, height: 330, flexDirection: 'column' }}&gt;&#10;                {[&#10;                    { code: 'BA', cn: '业务架构', en: 'Business Architecture', q: '做什么业务', color: '#FFFFFF' },&#10;                    { code: 'DA', cn: '数据架构', en: 'Data Architecture', q: '需要什么数据', color: '#FFFFFF' },&#10;                    { code: 'AA', cn: '应用架构', en: 'Application Architecture', q: '用什么系统承载', color: '#0F1423' },&#10;                    { code: 'TA', cn: '技术架构', en: 'Technology Architecture', q: '用什么技术实现', color: '#0F1423' },&#10;                ].map((it, i) =&gt; (&#10;                    &lt;Box key={i} style={{ height: 72, marginBottom: 14, flexDirection: 'row', alignItems: 'center' }}&gt;&#10;                        &lt;Box style={{ width: 620, flexDirection: 'row', alignItems: 'center', paddingLeft: 28, gap: 20 }}&gt;&#10;                            &lt;Text style={{ fontSize: 30, fontWeight: 'bold', color: it.color, width: 66 }}&gt;{it.code}&lt;/Text&gt;&#10;                            &lt;Box style={{ flexDirection: 'column' }}&gt;&#10;                                &lt;Text style={{ fontSize: 22, fontWeight: 'bold', color: it.color }}&gt;{it.cn}&lt;/Text&gt;&#10;                                &lt;Text style={{ fontSize: 14, color: it.color === '#FFFFFF' ? 'rgba(255,255,255,0.82)' : '#7A4A34' }}&gt;&#10;                                    {it.en}&#10;                                &lt;/Text&gt;&#10;                            &lt;/Box&gt;&#10;                        &lt;/Box&gt;&#10;                        &lt;Box style={{ width: 204, justifyContent: 'center', paddingLeft: 24 }}&gt;&#10;                            &lt;Text style={{ fontSize: 19, fontWeight: 'bold', color: '#0F1423' }}&gt;{it.q}&lt;/Text&gt;&#10;                        &lt;/Box&gt;&#10;                    &lt;/Box&gt;&#10;                ))}&#10;            &lt;/Box&gt;&#10;        &lt;/Box&gt;&#10;    &lt;/Box&gt;&#10;&#10;    {/* C 区 页脚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03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四层架构共同回答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「战略如何落到系统」</a:t>
            </a:r>
            <a:endParaRPr/>
          </a:p>
        </p:txBody>
      </p:sp>
      <p:sp>
        <p:nvSpPr>
          <p:cNvPr id="81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业务架构是基础，数据架构是枢纽，应用架构是载体，技术架构是底座</a:t>
            </a:r>
            <a:endParaRPr/>
          </a:p>
        </p:txBody>
      </p:sp>
      <p:sp>
        <p:nvSpPr>
          <p:cNvPr id="81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22098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4A</a:t>
            </a:r>
            <a:endParaRPr/>
          </a:p>
        </p:txBody>
      </p:sp>
      <p:sp>
        <p:nvSpPr>
          <p:cNvPr id="818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220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企业架构四层模型</a:t>
            </a:r>
            <a:endParaRPr/>
          </a:p>
        </p:txBody>
      </p:sp>
      <p:sp>
        <p:nvSpPr>
          <p:cNvPr id="819" name=""/>
          <p:cNvSpPr/>
          <p:nvPr/>
        </p:nvSpPr>
        <p:spPr>
          <a:xfrm rot="0" flipH="0" flipV="0">
            <a:off x="609600" y="3905250"/>
            <a:ext cx="5334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22098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逐层分解、双向校验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上层定「做什么」，下层答「怎么实现」。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2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03 / 26</a:t>
            </a:r>
            <a:endParaRPr/>
          </a:p>
        </p:txBody>
      </p:sp>
      <p:pic>
        <p:nvPicPr>
          <p:cNvPr id="82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124200" y="1381125"/>
            <a:ext cx="8001000" cy="3143250"/>
          </a:xfrm>
          <a:prstGeom prst="rect">
            <a:avLst/>
          </a:prstGeom>
          <a:ln/>
        </p:spPr>
      </p:pic>
      <p:sp>
        <p:nvSpPr>
          <p:cNvPr id="825" name="" descr="{&quot;isTemplate&quot;:true,&quot;type&quot;:&quot;text&quot;}"/>
          <p:cNvSpPr txBox="1"/>
          <p:nvPr/>
        </p:nvSpPr>
        <p:spPr>
          <a:xfrm rot="0" flipH="0" flipV="0">
            <a:off x="3390900" y="15525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4210050" y="1514475"/>
            <a:ext cx="13620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4210050" y="1771650"/>
            <a:ext cx="1362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9258300" y="16192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做什么业务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3390900" y="23717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</p:txBody>
      </p:sp>
      <p:sp>
        <p:nvSpPr>
          <p:cNvPr id="830" name="" descr="{&quot;isTemplate&quot;:true,&quot;type&quot;:&quot;text&quot;}"/>
          <p:cNvSpPr txBox="1"/>
          <p:nvPr/>
        </p:nvSpPr>
        <p:spPr>
          <a:xfrm rot="0" flipH="0" flipV="0">
            <a:off x="4210050" y="2333625"/>
            <a:ext cx="111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31" name="" descr="{&quot;isTemplate&quot;:true,&quot;type&quot;:&quot;text&quot;}"/>
          <p:cNvSpPr txBox="1"/>
          <p:nvPr/>
        </p:nvSpPr>
        <p:spPr>
          <a:xfrm rot="0" flipH="0" flipV="0">
            <a:off x="4210050" y="2590800"/>
            <a:ext cx="1114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832" name="" descr="{&quot;isTemplate&quot;:true,&quot;type&quot;:&quot;text&quot;}"/>
          <p:cNvSpPr txBox="1"/>
          <p:nvPr/>
        </p:nvSpPr>
        <p:spPr>
          <a:xfrm rot="0" flipH="0" flipV="0">
            <a:off x="9258300" y="24384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需要什么数据</a:t>
            </a:r>
            <a:endParaRPr/>
          </a:p>
        </p:txBody>
      </p:sp>
      <p:sp>
        <p:nvSpPr>
          <p:cNvPr id="833" name="" descr="{&quot;isTemplate&quot;:true,&quot;type&quot;:&quot;text&quot;}"/>
          <p:cNvSpPr txBox="1"/>
          <p:nvPr/>
        </p:nvSpPr>
        <p:spPr>
          <a:xfrm rot="0" flipH="0" flipV="0">
            <a:off x="3390900" y="319087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AA</a:t>
            </a:r>
            <a:endParaRPr/>
          </a:p>
        </p:txBody>
      </p:sp>
      <p:sp>
        <p:nvSpPr>
          <p:cNvPr id="834" name="" descr="{&quot;isTemplate&quot;:true,&quot;type&quot;:&quot;text&quot;}"/>
          <p:cNvSpPr txBox="1"/>
          <p:nvPr/>
        </p:nvSpPr>
        <p:spPr>
          <a:xfrm rot="0" flipH="0" flipV="0">
            <a:off x="4210050" y="3152775"/>
            <a:ext cx="1543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4210050" y="3409950"/>
            <a:ext cx="1543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9258300" y="325755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用什么系统承载</a:t>
            </a:r>
            <a:endParaRPr/>
          </a:p>
        </p:txBody>
      </p:sp>
      <p:sp>
        <p:nvSpPr>
          <p:cNvPr id="837" name="" descr="{&quot;isTemplate&quot;:true,&quot;type&quot;:&quot;text&quot;}"/>
          <p:cNvSpPr txBox="1"/>
          <p:nvPr/>
        </p:nvSpPr>
        <p:spPr>
          <a:xfrm rot="0" flipH="0" flipV="0">
            <a:off x="3390900" y="4010025"/>
            <a:ext cx="6286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423"/>
                </a:solidFill>
                <a:latin typeface="Microsoft YaHei"/>
                <a:ea typeface="Microsoft YaHei"/>
              </a:rPr>
              <a:t>TA</a:t>
            </a:r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4210050" y="3971925"/>
            <a:ext cx="15525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39" name="" descr="{&quot;isTemplate&quot;:true,&quot;type&quot;:&quot;text&quot;}"/>
          <p:cNvSpPr txBox="1"/>
          <p:nvPr/>
        </p:nvSpPr>
        <p:spPr>
          <a:xfrm rot="0" flipH="0" flipV="0">
            <a:off x="4210050" y="4229100"/>
            <a:ext cx="1552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4A34"/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9258300" y="4076700"/>
            <a:ext cx="1714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用什么技术实现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841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1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方法论总体介绍&#13;&#10;        &lt;/Text&gt;&#13;&#10;        &lt;Text style={{ fontSize: 20, color: 'rgba(255,255,255,0.62)', marginTop: 18, letterSpacing: 2 }}&gt;&#13;&#10;            METHODOLOGY OVERVIEW&#13;&#10;        &lt;/Text&gt;&#13;&#10;        &lt;Text style={{ fontSize: 20, color: 'rgba(255,255,255,0.86)', marginTop: 22, lineHeight: 1.5 }}&gt;&#13;&#10;            以业务对象为锚点的方法论总纲与五步作业法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43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844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5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方法论总体介绍</a:t>
            </a:r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METHODOLOGY OVERVIEW</a:t>
            </a:r>
            <a:endParaRPr/>
          </a:p>
        </p:txBody>
      </p:sp>
      <p:sp>
        <p:nvSpPr>
          <p:cNvPr id="847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以业务对象为锚点的方法论总纲与五步作业法</a:t>
            </a:r>
            <a:endParaRPr/>
          </a:p>
        </p:txBody>
      </p:sp>
      <p:sp>
        <p:nvSpPr>
          <p:cNvPr id="848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49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50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851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方法论以&lt;span style={{ color: '#FA4F24' }}&gt;「业务对象」&lt;/span&gt;为唯一锚点贯穿四层&#10;        &lt;/Text&gt;&#10;        &lt;Text style={{ fontSize: 20, color: '#8A8F99', marginTop: 8 }}&gt;&#10;            四层架构不是四份独立文档，而是同一套业务对象在不同抽象层的展开&#10;        &lt;/Text&gt;&#10;    &lt;/Box&gt;&#10;    &lt;Box style={{ height: 1, background: '#E8E8E8' }} /&gt;&#10;&#10;    {/* B 区 非对称双栏 65:35 */}&#10;    &lt;Box style={{ paddingTop: 26, paddingBottom: 14, height: 479, flexDirection: 'row', gap: 28 }}&gt;&#10;&#10;        {/* 左 65% 三段式作业闭环 */}&#10;        &lt;Box style={{ flex: 65, flexDirection: 'column' }}&gt;&#10;            &lt;Text style={{ fontSize: 22, fontWeight: 'bold', color: '#0F1423', marginBottom: 16 }}&gt;&#10;                三段式作业闭环：方法 → 内容 → 模板&#10;            &lt;/Text&gt;&#10;            &lt;Box style={{ flexDirection: 'column', gap: 14, flex: 1 }}&gt;&#10;                {[&#10;                    { k: '方法', en: 'METHOD', d: '回答「怎么做」。定义作业步骤、输入输出与判定标准，避免咨询成果因人而异。', c: '#FA4F24' },&#10;                    { k: '内容', en: 'CONTENT', d: '回答「做什么」。明确该层架构必须交付的结构化清单与关键要素，杜绝漏项。', c: '#F87D2F' },&#10;                    { k: '模板', en: 'TEMPLATE', d: '回答「做成什么样」。给出标准样式与填写要求，保证跨项目、跨团队成果可比可复用。', c: '#FBA47A' },&#10;                ].map((it, i) =&gt; (&#10;                    &lt;Box key={i} style={{&#10;                        flex: 1, flexDirection: 'row', alignItems: 'center',&#10;                        background: '#F7F7F8', borderRadius: 4, borderLeft: '5px solid ' + it.c, padding: '18px 24px', gap: 20,&#10;                    }}&gt;&#10;                        &lt;Box style={{ width: 92, flexDirection: 'column' }}&gt;&#10;                            &lt;Text style={{ fontSize: 26, fontWeight: 'bold', color: it.c }}&gt;{it.k}&lt;/Text&gt;&#10;                            &lt;Text style={{ fontSize: 13, color: '#8A8F99', letterSpacing: 1 }}&gt;{it.en}&lt;/Text&gt;&#10;                        &lt;/Box&gt;&#10;                        &lt;Text style={{ fontSize: 18, color: '#3A4050', lineHeight: 1.55, flex: 1 }}&gt;{it.d}&lt;/Text&gt;&#10;                    &lt;/Box&gt;&#10;                ))}&#10;            &lt;/Box&gt;&#10;        &lt;/Box&gt;&#10;&#10;        {/* 右 35% 三条设计总则 */}&#10;        &lt;Box style={{ flex: 35, flexDirection: 'column' }}&gt;&#10;            &lt;Text style={{ fontSize: 22, fontWeight: 'bold', color: '#0F1423', marginBottom: 16 }}&gt;&#10;                三条设计总则&#10;            &lt;/Text&gt;&#10;            &lt;Box style={{ flex: 1, flexDirection: 'column', gap: 14 }}&gt;&#10;                {[&#10;                    { n: '①', t: '业务主导', d: '数据与架构的责任主体在业务，不在 IT。' },&#10;                    { n: '②', t: '企业视角', d: '跳出部门与系统边界，避免新的烟囱式建设。' },&#10;                    { n: '③', t: '同源共享', d: '一个对象一个 Owner，一份数据一个权威源。' },&#10;                ].map((it, i) =&gt; (&#10;                    &lt;Box key={i} style={{ flex: 1, background: 'rgba(250,79,36,0.06)', borderRadius: 4, padding: '18px 20px', flexDirection: 'column' }}&gt;&#10;                        &lt;Text style={{ fontSize: 24, fontWeight: 'bold', color: '#FA4F24' }}&gt;{it.n} {it.t}&lt;/Text&gt;&#10;                        &lt;Text style={{ fontSize: 17, color: '#3A4050', marginTop: 10, lineHeight: 1.5 }}&gt;{it.d}&lt;/Text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05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方法论以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「业务对象」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为唯一锚点贯穿四层</a:t>
            </a:r>
            <a:endParaRPr/>
          </a:p>
        </p:txBody>
      </p:sp>
      <p:sp>
        <p:nvSpPr>
          <p:cNvPr id="854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四层架构不是四份独立文档，而是同一套业务对象在不同抽象层的展开</a:t>
            </a:r>
            <a:endParaRPr/>
          </a:p>
        </p:txBody>
      </p:sp>
      <p:sp>
        <p:nvSpPr>
          <p:cNvPr id="855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96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三段式作业闭环：方法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内容</a:t>
            </a:r>
            <a:r>
              <a:rPr lang="en-US" sz="16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57" name=""/>
          <p:cNvSpPr/>
          <p:nvPr/>
        </p:nvSpPr>
        <p:spPr>
          <a:xfrm rot="0" flipH="0" flipV="0">
            <a:off x="657225" y="1809750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58" name=""/>
          <p:cNvSpPr/>
          <p:nvPr/>
        </p:nvSpPr>
        <p:spPr>
          <a:xfrm rot="0" flipH="0" flipV="0">
            <a:off x="657225" y="1809750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59" name="" descr="{&quot;isTemplate&quot;:true,&quot;type&quot;:&quot;text&quot;}"/>
          <p:cNvSpPr txBox="1"/>
          <p:nvPr/>
        </p:nvSpPr>
        <p:spPr>
          <a:xfrm rot="0" flipH="0" flipV="0">
            <a:off x="885825" y="21717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A4F24"/>
                </a:solidFill>
                <a:latin typeface="Microsoft YaHei"/>
                <a:ea typeface="Microsoft YaHei"/>
              </a:rPr>
              <a:t>方法</a:t>
            </a:r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85825" y="24765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METHOD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1952625" y="2076450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回答「怎么做」。定义作业步骤、输入输出与判定标准，避免咨询成果因人而异。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57225" y="3114675"/>
            <a:ext cx="6962775" cy="1162050"/>
          </a:xfrm>
          <a:prstGeom prst="roundRect">
            <a:avLst>
              <a:gd name="adj" fmla="val 327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3" name=""/>
          <p:cNvSpPr/>
          <p:nvPr/>
        </p:nvSpPr>
        <p:spPr>
          <a:xfrm rot="0" flipH="0" flipV="0">
            <a:off x="657225" y="3114675"/>
            <a:ext cx="6962775" cy="1162050"/>
          </a:xfrm>
          <a:custGeom>
            <a:pathLst>
              <a:path w="731" h="122">
                <a:moveTo>
                  <a:pt x="5" y="122"/>
                </a:moveTo>
                <a:cubicBezTo>
                  <a:pt x="4" y="122"/>
                  <a:pt x="3" y="122"/>
                  <a:pt x="2" y="121"/>
                </a:cubicBezTo>
                <a:cubicBezTo>
                  <a:pt x="1" y="121"/>
                  <a:pt x="0" y="120"/>
                  <a:pt x="0" y="118"/>
                </a:cubicBezTo>
                <a:lnTo>
                  <a:pt x="0" y="118"/>
                </a:lnTo>
                <a:lnTo>
                  <a:pt x="0" y="11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885825" y="3467100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87D2F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865" name="" descr="{&quot;isTemplate&quot;:true,&quot;type&quot;:&quot;text&quot;}"/>
          <p:cNvSpPr txBox="1"/>
          <p:nvPr/>
        </p:nvSpPr>
        <p:spPr>
          <a:xfrm rot="0" flipH="0" flipV="0">
            <a:off x="885825" y="3771900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CONTENT</a:t>
            </a:r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1952625" y="33813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回答「做什么」。明确该层架构必须交付的结构化清单与关键要素，杜绝漏项。</a:t>
            </a:r>
            <a:endParaRPr/>
          </a:p>
        </p:txBody>
      </p:sp>
      <p:sp>
        <p:nvSpPr>
          <p:cNvPr id="867" name=""/>
          <p:cNvSpPr/>
          <p:nvPr/>
        </p:nvSpPr>
        <p:spPr>
          <a:xfrm rot="0" flipH="0" flipV="0">
            <a:off x="657225" y="4410075"/>
            <a:ext cx="6962775" cy="1171575"/>
          </a:xfrm>
          <a:prstGeom prst="roundRect">
            <a:avLst>
              <a:gd name="adj" fmla="val 325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68" name=""/>
          <p:cNvSpPr/>
          <p:nvPr/>
        </p:nvSpPr>
        <p:spPr>
          <a:xfrm rot="0" flipH="0" flipV="0">
            <a:off x="657225" y="4410075"/>
            <a:ext cx="6962775" cy="1171575"/>
          </a:xfrm>
          <a:custGeom>
            <a:pathLst>
              <a:path w="731" h="123">
                <a:moveTo>
                  <a:pt x="5" y="123"/>
                </a:moveTo>
                <a:cubicBezTo>
                  <a:pt x="4" y="123"/>
                  <a:pt x="3" y="123"/>
                  <a:pt x="2" y="122"/>
                </a:cubicBezTo>
                <a:cubicBezTo>
                  <a:pt x="1" y="122"/>
                  <a:pt x="0" y="121"/>
                  <a:pt x="0" y="119"/>
                </a:cubicBezTo>
                <a:lnTo>
                  <a:pt x="0" y="119"/>
                </a:lnTo>
                <a:lnTo>
                  <a:pt x="0" y="119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/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885825" y="4772025"/>
            <a:ext cx="8763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BA47A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870" name="" descr="{&quot;isTemplate&quot;:true,&quot;type&quot;:&quot;text&quot;}"/>
          <p:cNvSpPr txBox="1"/>
          <p:nvPr/>
        </p:nvSpPr>
        <p:spPr>
          <a:xfrm rot="0" flipH="0" flipV="0">
            <a:off x="885825" y="5076825"/>
            <a:ext cx="876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8A8F99"/>
                </a:solidFill>
                <a:latin typeface="Microsoft YaHei"/>
                <a:ea typeface="Microsoft YaHei"/>
              </a:rPr>
              <a:t>TEMPLATE</a:t>
            </a:r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1952625" y="4676775"/>
            <a:ext cx="53911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3A4050"/>
                </a:solidFill>
                <a:latin typeface="Microsoft YaHei"/>
                <a:ea typeface="Microsoft YaHei"/>
              </a:rPr>
              <a:t>回答「做成什么样」。给出标准样式与填写要求，保证跨项目、跨团队成果可比可复用。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7839075" y="1400175"/>
            <a:ext cx="37433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三条设计总则</a:t>
            </a:r>
            <a:endParaRPr/>
          </a:p>
        </p:txBody>
      </p:sp>
      <p:sp>
        <p:nvSpPr>
          <p:cNvPr id="873" name=""/>
          <p:cNvSpPr/>
          <p:nvPr/>
        </p:nvSpPr>
        <p:spPr>
          <a:xfrm rot="0" flipH="0" flipV="0">
            <a:off x="7839075" y="1809750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8029575" y="1981200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业务主导</a:t>
            </a:r>
            <a:endParaRPr/>
          </a:p>
        </p:txBody>
      </p:sp>
      <p:sp>
        <p:nvSpPr>
          <p:cNvPr id="875" name="" descr="{&quot;isTemplate&quot;:true,&quot;type&quot;:&quot;text&quot;}"/>
          <p:cNvSpPr txBox="1"/>
          <p:nvPr/>
        </p:nvSpPr>
        <p:spPr>
          <a:xfrm rot="0" flipH="0" flipV="0">
            <a:off x="8029575" y="2352675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数据与架构的责任主体在业务，不在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76" name=""/>
          <p:cNvSpPr/>
          <p:nvPr/>
        </p:nvSpPr>
        <p:spPr>
          <a:xfrm rot="0" flipH="0" flipV="0">
            <a:off x="7839075" y="3114675"/>
            <a:ext cx="3743325" cy="1162050"/>
          </a:xfrm>
          <a:prstGeom prst="roundRect">
            <a:avLst>
              <a:gd name="adj" fmla="val 3279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8029575" y="32861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企业视角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8029575" y="36576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跳出部门与系统边界，避免新的烟囱式建设。</a:t>
            </a:r>
            <a:endParaRPr/>
          </a:p>
        </p:txBody>
      </p:sp>
      <p:sp>
        <p:nvSpPr>
          <p:cNvPr id="879" name=""/>
          <p:cNvSpPr/>
          <p:nvPr/>
        </p:nvSpPr>
        <p:spPr>
          <a:xfrm rot="0" flipH="0" flipV="0">
            <a:off x="7839075" y="4410075"/>
            <a:ext cx="3743325" cy="1171575"/>
          </a:xfrm>
          <a:prstGeom prst="roundRect">
            <a:avLst>
              <a:gd name="adj" fmla="val 3252"/>
            </a:avLst>
          </a:prstGeom>
          <a:solidFill>
            <a:srgbClr val="FA4F24">
              <a:alpha val="6000"/>
            </a:srgbClr>
          </a:solidFill>
          <a:ln/>
        </p:spPr>
        <p:txBody>
          <a:bodyPr/>
          <a:p/>
        </p:txBody>
      </p:sp>
      <p:sp>
        <p:nvSpPr>
          <p:cNvPr id="880" name="" descr="{&quot;isTemplate&quot;:true,&quot;type&quot;:&quot;text&quot;}"/>
          <p:cNvSpPr txBox="1"/>
          <p:nvPr/>
        </p:nvSpPr>
        <p:spPr>
          <a:xfrm rot="0" flipH="0" flipV="0">
            <a:off x="8029575" y="4581525"/>
            <a:ext cx="33623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r>
              <a:rPr lang="en-US" sz="18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800" b="1">
                <a:solidFill>
                  <a:srgbClr val="FA4F24"/>
                </a:solidFill>
                <a:latin typeface="Microsoft YaHei"/>
                <a:ea typeface="Microsoft YaHei"/>
              </a:rPr>
              <a:t>同源共享</a:t>
            </a:r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029575" y="4953000"/>
            <a:ext cx="33623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一个对象一个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，一份数据一个权威源。</a:t>
            </a:r>
            <a:endParaRPr/>
          </a:p>
        </p:txBody>
      </p:sp>
      <p:sp>
        <p:nvSpPr>
          <p:cNvPr id="882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05 / 26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885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咨询作业分&lt;span style={{ color: '#FA4F24' }}&gt;五步&lt;/span&gt;：从愿景到路线图&#10;        &lt;/Text&gt;&#10;        &lt;Text style={{ fontSize: 20, color: '#8A8F99', marginTop: 8 }}&gt;&#10;            每一步都以「可评审的交付物」收口，避免咨询成果停留在访谈纪要&#10;        &lt;/Text&gt;&#10;    &lt;/Box&gt;&#10;    &lt;Box style={{ height: 1, background: '#E8E8E8' }} /&gt;&#10;&#10;    {/* B 区 左标题栏 + 右五步流程 */}&#10;    &lt;Box style={{ paddingTop: 24, paddingBottom: 14, height: 479, flexDirection: 'row', gap: 24 }}&gt;&#10;&#10;        {/* 左 30% 标题栏 */}&#10;        &lt;Box style={{&#10;            width: 316, background: 'linear-gradient(160deg, #FA4F24 0%, #F87D2F 100%)',&#10;            borderRadius: 4, padding: 28, flexDirection: 'column', justifyContent: 'space-between',&#10;        }}&gt;&#10;            &lt;Box&gt;&#10;                &lt;Text style={{ fontSize: 15, color: 'rgba(255,255,255,0.8)', letterSpacing: 2 }}&gt;CONSULTING PROCESS&lt;/Text&gt;&#10;                &lt;Text style={{ fontSize: 30, fontWeight: 'bold', color: '#FFFFFF', marginTop: 14, lineHeight: 1.25 }}&gt;&#10;                    五步法&#10;                    &lt;br /&gt;&#10;                    作业流程&#10;                &lt;/Text&gt;&#10;            &lt;/Box&gt;&#10;            &lt;Box&gt;&#10;                &lt;Box style={{ width: 44, height: 4, background: 'rgba(255,255,255,0.7)' }} /&gt;&#10;                &lt;Text style={{ fontSize: 17, color: 'rgba(255,255,255,0.94)', marginTop: 16, lineHeight: 1.55 }}&gt;&#10;                    先对齐愿景与战略，再逐层展开 BA / DA / AA / TA，最后收口为可执行的迁移路线图。&#10;                &lt;/Text&gt;&#10;            &lt;/Box&gt;&#10;        &lt;/Box&gt;&#10;&#10;        {/* 右 70% 五步 */}&#10;        &lt;Box style={{ flex: 1, flexDirection: 'column', gap: 10, justifyContent: 'center' }}&gt;&#10;            {[&#10;                { s: 'Step 1', t: '愿景与战略对齐', d: '访谈高层，锁定业务愿景、战略目标与 KPI 基线，形成战略输入清单。', out: '战略输入清单' },&#10;                { s: 'Step 2', t: '业务架构建模（BA）', d: '价值流拆解 → 能力识别 → 能力评估，输出业务能力地图。', out: '能力地图 + 价值流图' },&#10;                { s: 'Step 3', t: '数据架构设计（DA）', d: '基于业务对象识别资产目录、统一定义标准、设计模型与分布。', out: '信息架构四件套' },&#10;                { s: 'Step 4', t: '应用与技术架构（AA/TA）', d: '能力映射应用组合、评估冗余；技术分层选型与部署视图设计。', out: '应用组合清单 + 技术标准' },&#10;                { s: 'Step 5', t: '差距分析与路线图', d: 'AS-IS 与 TO-BE 对比，拆解为可排序、可投资、可考核的举措。', out: '架构路线图 + 投资建议' },&#10;            ].map((it, i) =&gt; (&#10;                &lt;Box key={i} style={{&#10;                    flex: 1, flexDirection: 'row', alignItems: 'center', gap: 16,&#10;                    padding: '8px 18px', background: '#F7F7F8', borderRadius: 4,&#10;                }}&gt;&#10;                    &lt;Text style={{ fontSize: 17, fontWeight: 'bold', color: '#FA4F24', width: 68 }}&gt;{it.s}&lt;/Text&gt;&#10;                    &lt;Text style={{ fontSize: 19, fontWeight: 'bold', color: '#0F1423', width: 190 }}&gt;{it.t}&lt;/Text&gt;&#10;                    &lt;Text style={{ fontSize: 16, color: '#3A4050', lineHeight: 1.4, flex: 1 }}&gt;{it.d}&lt;/Text&gt;&#10;                    &lt;Box style={{ width: 152, background: 'rgba(250,79,36,0.1)', borderRadius: 3, padding: '5px 8px' }}&gt;&#10;                        &lt;Text style={{ fontSize: 13, color: '#C43A17', textAlign: 'center' }}&gt;{it.out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06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咨询作业分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五步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：从愿景到路线图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每一步都以「可评审的交付物」收口，避免咨询成果停留在访谈纪要</a:t>
            </a:r>
            <a:endParaRPr/>
          </a:p>
        </p:txBody>
      </p:sp>
      <p:sp>
        <p:nvSpPr>
          <p:cNvPr id="889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890" name=""/>
          <p:cNvSpPr/>
          <p:nvPr/>
        </p:nvSpPr>
        <p:spPr>
          <a:xfrm rot="0" flipH="0" flipV="0">
            <a:off x="609600" y="1381125"/>
            <a:ext cx="3009900" cy="4200525"/>
          </a:xfrm>
          <a:prstGeom prst="roundRect">
            <a:avLst>
              <a:gd name="adj" fmla="val 1266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CONSULTING PROCESS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4765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五步法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作业流程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4765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先对齐愿景与战略，再逐层展开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BA / DA / AA / TA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，最后收口为可执行的迁移路线图。</a:t>
            </a:r>
            <a:endParaRPr/>
          </a:p>
        </p:txBody>
      </p:sp>
      <p:sp>
        <p:nvSpPr>
          <p:cNvPr id="895" name=""/>
          <p:cNvSpPr/>
          <p:nvPr/>
        </p:nvSpPr>
        <p:spPr>
          <a:xfrm rot="0" flipH="0" flipV="0">
            <a:off x="3848100" y="138112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96" name="" descr="{&quot;isTemplate&quot;:true,&quot;type&quot;:&quot;text&quot;}"/>
          <p:cNvSpPr txBox="1"/>
          <p:nvPr/>
        </p:nvSpPr>
        <p:spPr>
          <a:xfrm rot="0" flipH="0" flipV="0">
            <a:off x="4019550" y="16668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1</a:t>
            </a:r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4819650" y="16573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愿景与战略对齐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6781800" y="150495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访谈高层，锁定业务愿景、战略目标与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基线，形成战略输入清单。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9963150" y="163830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10039350" y="16859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战略输入清单</a:t>
            </a:r>
            <a:endParaRPr/>
          </a:p>
        </p:txBody>
      </p:sp>
      <p:sp>
        <p:nvSpPr>
          <p:cNvPr id="901" name=""/>
          <p:cNvSpPr/>
          <p:nvPr/>
        </p:nvSpPr>
        <p:spPr>
          <a:xfrm rot="0" flipH="0" flipV="0">
            <a:off x="3848100" y="2238375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2" name="" descr="{&quot;isTemplate&quot;:true,&quot;type&quot;:&quot;text&quot;}"/>
          <p:cNvSpPr txBox="1"/>
          <p:nvPr/>
        </p:nvSpPr>
        <p:spPr>
          <a:xfrm rot="0" flipH="0" flipV="0">
            <a:off x="4019550" y="25241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2</a:t>
            </a:r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4819650" y="251460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业务架构建模（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BA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6781800" y="2362200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价值流拆解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能力识别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能力评估，输出业务能力地图。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9963150" y="2495550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10039350" y="254317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能力地图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907" name=""/>
          <p:cNvSpPr/>
          <p:nvPr/>
        </p:nvSpPr>
        <p:spPr>
          <a:xfrm rot="0" flipH="0" flipV="0">
            <a:off x="3848100" y="3095625"/>
            <a:ext cx="7734300" cy="771525"/>
          </a:xfrm>
          <a:prstGeom prst="roundRect">
            <a:avLst>
              <a:gd name="adj" fmla="val 493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4019550" y="338137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3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4819650" y="3371850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数据架构设计（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DA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6781800" y="32289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基于业务对象识别资产目录、统一定义标准、设计模型与分布。</a:t>
            </a:r>
            <a:endParaRPr/>
          </a:p>
        </p:txBody>
      </p:sp>
      <p:sp>
        <p:nvSpPr>
          <p:cNvPr id="911" name=""/>
          <p:cNvSpPr/>
          <p:nvPr/>
        </p:nvSpPr>
        <p:spPr>
          <a:xfrm rot="0" flipH="0" flipV="0">
            <a:off x="9963150" y="33623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10039350" y="34099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信息架构四件套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3848100" y="396240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4019550" y="42481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4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4819650" y="4124325"/>
            <a:ext cx="18097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应用与技术架构（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>AA/TA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781800" y="408622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能力映射应用组合、评估冗余；技术分层选型与部署视图设计。</a:t>
            </a:r>
            <a:endParaRPr/>
          </a:p>
        </p:txBody>
      </p:sp>
      <p:sp>
        <p:nvSpPr>
          <p:cNvPr id="917" name=""/>
          <p:cNvSpPr/>
          <p:nvPr/>
        </p:nvSpPr>
        <p:spPr>
          <a:xfrm rot="0" flipH="0" flipV="0">
            <a:off x="9963150" y="4143375"/>
            <a:ext cx="1447800" cy="400050"/>
          </a:xfrm>
          <a:prstGeom prst="roundRect">
            <a:avLst>
              <a:gd name="adj" fmla="val 7143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918" name="" descr="{&quot;isTemplate&quot;:true,&quot;type&quot;:&quot;text&quot;}"/>
          <p:cNvSpPr txBox="1"/>
          <p:nvPr/>
        </p:nvSpPr>
        <p:spPr>
          <a:xfrm rot="0" flipH="0" flipV="0">
            <a:off x="10039350" y="41910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技术标准</a:t>
            </a:r>
            <a:endParaRPr/>
          </a:p>
        </p:txBody>
      </p:sp>
      <p:sp>
        <p:nvSpPr>
          <p:cNvPr id="919" name=""/>
          <p:cNvSpPr/>
          <p:nvPr/>
        </p:nvSpPr>
        <p:spPr>
          <a:xfrm rot="0" flipH="0" flipV="0">
            <a:off x="3848100" y="4819650"/>
            <a:ext cx="7734300" cy="762000"/>
          </a:xfrm>
          <a:prstGeom prst="roundRect">
            <a:avLst>
              <a:gd name="adj" fmla="val 5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20" name="" descr="{&quot;isTemplate&quot;:true,&quot;type&quot;:&quot;text&quot;}"/>
          <p:cNvSpPr txBox="1"/>
          <p:nvPr/>
        </p:nvSpPr>
        <p:spPr>
          <a:xfrm rot="0" flipH="0" flipV="0">
            <a:off x="4019550" y="51054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A4F24"/>
                </a:solidFill>
                <a:latin typeface="Microsoft YaHei"/>
                <a:ea typeface="Microsoft YaHei"/>
              </a:rPr>
              <a:t>Step 5</a:t>
            </a:r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4819650" y="5095875"/>
            <a:ext cx="1809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差距分析与路线图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6781800" y="4943475"/>
            <a:ext cx="30289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AS-IS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TO-BE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对比，拆解为可排序、可投资、可考核的举措。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9963150" y="5076825"/>
            <a:ext cx="1447800" cy="247650"/>
          </a:xfrm>
          <a:prstGeom prst="roundRect">
            <a:avLst>
              <a:gd name="adj" fmla="val 1153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10039350" y="5124450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架构路线图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投资建议</a:t>
            </a:r>
            <a:endParaRPr/>
          </a:p>
        </p:txBody>
      </p:sp>
      <p:sp>
        <p:nvSpPr>
          <p:cNvPr id="92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06 / 26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928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2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业务愿景和战略&#13;&#10;        &lt;/Text&gt;&#13;&#10;        &lt;Text style={{ fontSize: 20, color: 'rgba(255,255,255,0.62)', marginTop: 18, letterSpacing: 2 }}&gt;&#13;&#10;            VISION &amp; STRATEGY&#13;&#10;        &lt;/Text&gt;&#13;&#10;        &lt;Text style={{ fontSize: 20, color: 'rgba(255,255,255,0.86)', marginTop: 22, lineHeight: 1.5 }}&gt;&#13;&#10;            愿景定义去哪，战略回答怎么去，IT 战略同源同频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931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业务愿景和战略</a:t>
            </a:r>
            <a:endParaRPr/>
          </a:p>
        </p:txBody>
      </p:sp>
      <p:sp>
        <p:nvSpPr>
          <p:cNvPr id="933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VISION &amp; STRATEGY</a:t>
            </a:r>
            <a:endParaRPr/>
          </a:p>
        </p:txBody>
      </p:sp>
      <p:sp>
        <p:nvSpPr>
          <p:cNvPr id="934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愿景定义去哪，战略回答怎么去，</a:t>
            </a:r>
            <a:r>
              <a:rPr lang="en-US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战略同源同频</a:t>
            </a:r>
            <a:endParaRPr/>
          </a:p>
        </p:txBody>
      </p:sp>
      <p:sp>
        <p:nvSpPr>
          <p:cNvPr id="935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6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38" name="" descr="&lt;Slide style={{ width: 1280, height: 720, background: '#FFFFFF', padding: '24px 64px 0' }}&gt;&#13;&#10;    {/* A 区 */}&#13;&#10;    &lt;Box style={{ height: 96, flexDirection: 'column', justifyContent: 'flex-start' }}&gt;&#13;&#10;        &lt;Text style={{ fontSize: 32, fontWeight: 'bold', color: '#0F1423' }}&gt;&#13;&#10;            愿景定义&lt;span style={{ color: '#FA4F24' }}&gt;「去哪」&lt;/span&gt;，战略回答&lt;span style={{ color: '#FA4F24' }}&gt;「怎么去」&lt;/span&gt;&#13;&#10;        &lt;/Text&gt;&#13;&#10;        &lt;Text style={{ fontSize: 20, color: '#8A8F99', marginTop: 8 }}&gt;&#13;&#10;            五层递进：愿景 → 使命 → 战略 → 举措 → KPI，每一层都必须能被上一层追溯&#13;&#10;        &lt;/Text&gt;&#13;&#10;    &lt;/Box&gt;&#13;&#10;    &lt;Box style={{ height: 1, background: '#E8E8E8' }} /&gt;&#13;&#10;&#13;&#10;    {/* B 区 左大图 58% + 右侧文字 */}&#13;&#10;    &lt;Box style={{ paddingTop: 26, paddingBottom: 14, height: 479, flexDirection: 'row', gap: 32 }}&gt;&#13;&#10;&#13;&#10;        {/* 左 58% 战略金字塔（SVG 骨架 + 文本层） */}&#13;&#10;        &lt;Box style={{ flex: 58, position: 'relative' }}&gt;&#13;&#10;            &lt;svg width=&quot;640&quot; height=&quot;400&quot; style={{ position: 'absolute', top: 0, left: 0 }}&gt;&#13;&#10;                {/* 五层梯形（上小下大） */}&#13;&#10;                &lt;polygon points=&quot;288,0 352,0 384,72 256,72&quot; fill=&quot;#B32C0C&quot; /&gt;&#13;&#10;                &lt;polygon points=&quot;256,75 384,75 416,147 224,147&quot; fill=&quot;#FA4F24&quot; /&gt;&#13;&#10;                &lt;polygon points=&quot;224,150 416,150 448,222 192,222&quot; fill=&quot;#F87D2F&quot; /&gt;&#13;&#10;                &lt;polygon points=&quot;192,225 448,225 480,297 160,297&quot; fill=&quot;#FBA47A&quot; /&gt;&#13;&#10;                &lt;polygon points=&quot;160,300 480,300 512,372 128,372&quot; fill=&quot;#FDD5BE&quot; /&gt;&#13;&#10;            &lt;/svg&gt;&#13;&#10;            {/* 层内文本（独立可编辑） */}&#13;&#10;            &lt;Box style={{ position: 'absolute', top: 0, left: 0, width: 640, height: 400, flexDirection: 'column' }}&gt;&#13;&#10;                {[&#13;&#10;                    { h: 72, g: 3, label: '愿景', sub: '我们要成为什么', color: '#FFFFFF' },&#13;&#10;                    { h: 72, g: 8, label: '使命', sub: '我们为谁创造价值', color: '#FFFFFF' },&#13;&#10;                    { h: 72, g: 8, label: '战略', sub: '选择的路径与取舍', color: '#FFFFFF' },&#13;&#10;                    { h: 72, g: 8, label: '举措', sub: '可投资的关键动作', color: '#3A1A0A' },&#13;&#10;                    { h: 72, g: 8, label: 'KPI', sub: '如何度量成功', color: '#3A1A0A' },&#13;&#10;                ].map((it, i) =&gt; (&#13;&#10;                    &lt;Box key={i} style={{&#13;&#10;                        height: it.h, marginBottom: it.g, flexDirection: 'column',&#13;&#10;                        justifyContent: 'center', alignItems: 'center', gap: 2,&#13;&#10;                        marginTop: i === 0 ? 0 : 0,&#13;&#10;                    }}&gt;&#13;&#10;                        &lt;Text style={{ fontSize: 22, fontWeight: 'bold', color: it.color }}&gt;{it.label}&lt;/Text&gt;&#13;&#10;                        &lt;Text style={{ fontSize: 14, color: it.color }}&gt;{it.sub}&lt;/Text&gt;&#13;&#10;                    &lt;/Box&gt;&#13;&#10;                ))}&#13;&#10;            &lt;/Box&gt;&#13;&#10;            {/* 右侧向上箭头 */}&#13;&#10;            &lt;Box style={{ position: 'absolute', top: 4, left: 556, flexDirection: 'column', alignItems: 'center' }}&gt;&#13;&#10;                &lt;Text style={{ fontSize: 18, color: '#FA4F24' }}&gt;↑&lt;/Text&gt;&#13;&#10;                &lt;Box style={{ width: 2, height: 340, background: '#FA4F24', opacity: 0.35 }} /&gt;&#13;&#10;            &lt;/Box&gt;&#13;&#10;        &lt;/Box&gt;&#13;&#10;&#13;&#10;        {/* 右 42% 解读 */}&#13;&#10;        &lt;Box style={{ flex: 42, flexDirection: 'column', gap: 14 }}&gt;&#13;&#10;            &lt;Text style={{ fontSize: 22, fontWeight: 'bold', color: '#0F1423' }}&gt;&#13;&#10;                三层解读&#13;&#10;            &lt;/Text&gt;&#13;&#10;            {[&#13;&#10;                { t: '愿景与使命：定方向', d: '愿景是不可量化的方向感，使命回答存在的意义 —— 二者是战略的天花板。' },&#13;&#10;                { t: '战略：定取舍', d: '战略的本质是「不做什么」。业务战略明确市场与模式选择，IT 战略明确支撑方式。' },&#13;&#10;                { t: '举措与 KPI：定节奏', d: '把战略拆成可投资的举措，再用 KPI 锁定度量口径 —— 否则战略无法被验证。' },&#13;&#10;            ].map((it, i) =&gt; (&#13;&#10;                &lt;Box key={i} style={{ flex: 1, background: '#F7F7F8', borderRadius: 4, padding: '16px 20px', borderLeft: '4px solid #FA4F24' }}&gt;&#13;&#10;                    &lt;Text style={{ fontSize: 19, fontWeight: 'bold', color: '#0F1423' }}&gt;{it.t}&lt;/Text&gt;&#13;&#10;                    &lt;Text style={{ fontSize: 17, color: '#3A4050', marginTop: 8, lineHeight: 1.5 }}&gt;{it.d}&lt;/Text&gt;&#13;&#10;                &lt;/Box&gt;&#13;&#10;            ))}&#13;&#10;        &lt;/Box&gt;&#13;&#10;    &lt;/Box&gt;&#13;&#10;&#13;&#10;    {/* C 区 */}&#13;&#10;    &lt;Box style={{ height: 60, flexDirection: 'row', alignItems: 'center', justifyContent: 'space-between' }}&gt;&#13;&#10;        &lt;Box style={{ flexDirection: 'row', alignItems: 'center', gap: 10 }}&gt;&#13;&#10;            &lt;Box style={{ width: 14, height: 14, background: '#FA4F24' }} /&gt;&#13;&#10;            &lt;Text style={{ fontSize: 14, color: '#8A8F99' }}&gt;硕磐机密 · EA企业架构咨询方法论&lt;/Text&gt;&#13;&#10;        &lt;/Box&gt;&#13;&#10;        &lt;Text style={{ fontSize: 14, color: '#8A8F99' }}&gt;08 / 2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愿景定义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「去哪」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，战略回答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「怎么去」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五层递进：愿景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使命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战略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举措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→ KPI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，每一层都必须能被上一层追溯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43" name="" descr="{&quot;isTemplate&quot;:true,&quot;type&quot;:&quot;text&quot;}"/>
          <p:cNvSpPr txBox="1"/>
          <p:nvPr/>
        </p:nvSpPr>
        <p:spPr>
          <a:xfrm rot="0" flipH="0" flipV="0">
            <a:off x="7105650" y="1400175"/>
            <a:ext cx="4476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三层解读</a:t>
            </a:r>
            <a:endParaRPr/>
          </a:p>
        </p:txBody>
      </p:sp>
      <p:sp>
        <p:nvSpPr>
          <p:cNvPr id="944" name=""/>
          <p:cNvSpPr/>
          <p:nvPr/>
        </p:nvSpPr>
        <p:spPr>
          <a:xfrm rot="0" flipH="0" flipV="0">
            <a:off x="7143750" y="179070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5" name=""/>
          <p:cNvSpPr/>
          <p:nvPr/>
        </p:nvSpPr>
        <p:spPr>
          <a:xfrm rot="0" flipH="0" flipV="0">
            <a:off x="7143750" y="179070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7334250" y="194310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愿景与使命：定方向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7334250" y="223837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愿景是不可量化的方向感，使命回答存在的意义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二者是战略的天花板。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7143750" y="3114675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49" name=""/>
          <p:cNvSpPr/>
          <p:nvPr/>
        </p:nvSpPr>
        <p:spPr>
          <a:xfrm rot="0" flipH="0" flipV="0">
            <a:off x="7143750" y="3114675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7334250" y="3267075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战略：定取舍</a:t>
            </a:r>
            <a:endParaRPr/>
          </a:p>
        </p:txBody>
      </p:sp>
      <p:sp>
        <p:nvSpPr>
          <p:cNvPr id="951" name="" descr="{&quot;isTemplate&quot;:true,&quot;type&quot;:&quot;text&quot;}"/>
          <p:cNvSpPr txBox="1"/>
          <p:nvPr/>
        </p:nvSpPr>
        <p:spPr>
          <a:xfrm rot="0" flipH="0" flipV="0">
            <a:off x="7334250" y="3562350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战略的本质是「不做什么」。业务战略明确市场与模式选择，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战略明确支撑方式。</a:t>
            </a:r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7143750" y="4438650"/>
            <a:ext cx="4476750" cy="1190625"/>
          </a:xfrm>
          <a:prstGeom prst="roundRect">
            <a:avLst>
              <a:gd name="adj" fmla="val 32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53" name=""/>
          <p:cNvSpPr/>
          <p:nvPr/>
        </p:nvSpPr>
        <p:spPr>
          <a:xfrm rot="0" flipH="0" flipV="0">
            <a:off x="7143750" y="4438650"/>
            <a:ext cx="4476750" cy="1190625"/>
          </a:xfrm>
          <a:custGeom>
            <a:pathLst>
              <a:path w="470" h="125">
                <a:moveTo>
                  <a:pt x="4" y="125"/>
                </a:moveTo>
                <a:cubicBezTo>
                  <a:pt x="2" y="125"/>
                  <a:pt x="0" y="123"/>
                  <a:pt x="0" y="12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25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7334250" y="4591050"/>
            <a:ext cx="4057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举措与</a:t>
            </a:r>
            <a:r>
              <a:rPr lang="en-US" sz="142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KPI</a:t>
            </a: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：定节奏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7334250" y="4886325"/>
            <a:ext cx="4057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把战略拆成可投资的举措，再用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KPI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锁定度量口径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否则战略无法被验证。</a:t>
            </a:r>
            <a:endParaRPr/>
          </a:p>
        </p:txBody>
      </p:sp>
      <p:sp>
        <p:nvSpPr>
          <p:cNvPr id="95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5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08 / 26</a:t>
            </a:r>
            <a:endParaRPr/>
          </a:p>
        </p:txBody>
      </p:sp>
      <p:pic>
        <p:nvPicPr>
          <p:cNvPr id="9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1400175"/>
            <a:ext cx="6096000" cy="3810000"/>
          </a:xfrm>
          <a:prstGeom prst="rect">
            <a:avLst/>
          </a:prstGeom>
          <a:ln/>
        </p:spPr>
      </p:pic>
      <p:sp>
        <p:nvSpPr>
          <p:cNvPr id="960" name="" descr="{&quot;isTemplate&quot;:true,&quot;type&quot;:&quot;text&quot;}"/>
          <p:cNvSpPr txBox="1"/>
          <p:nvPr/>
        </p:nvSpPr>
        <p:spPr>
          <a:xfrm rot="0" flipH="0" flipV="0">
            <a:off x="3448050" y="15240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愿景</a:t>
            </a:r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3190875" y="1800225"/>
            <a:ext cx="933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我们要成为什么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3448050" y="2238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使命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3124200" y="2514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我们为谁创造价值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3448050" y="3000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战略</a:t>
            </a:r>
            <a:endParaRPr/>
          </a:p>
        </p:txBody>
      </p:sp>
      <p:sp>
        <p:nvSpPr>
          <p:cNvPr id="965" name="" descr="{&quot;isTemplate&quot;:true,&quot;type&quot;:&quot;text&quot;}"/>
          <p:cNvSpPr txBox="1"/>
          <p:nvPr/>
        </p:nvSpPr>
        <p:spPr>
          <a:xfrm rot="0" flipH="0" flipV="0">
            <a:off x="3124200" y="3276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选择的路径与取舍</a:t>
            </a:r>
            <a:endParaRPr/>
          </a:p>
        </p:txBody>
      </p:sp>
      <p:sp>
        <p:nvSpPr>
          <p:cNvPr id="966" name="" descr="{&quot;isTemplate&quot;:true,&quot;type&quot;:&quot;text&quot;}"/>
          <p:cNvSpPr txBox="1"/>
          <p:nvPr/>
        </p:nvSpPr>
        <p:spPr>
          <a:xfrm rot="0" flipH="0" flipV="0">
            <a:off x="3448050" y="376237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3A1A0A"/>
                </a:solidFill>
                <a:latin typeface="Microsoft YaHei"/>
                <a:ea typeface="Microsoft YaHei"/>
              </a:rPr>
              <a:t>举措</a:t>
            </a:r>
            <a:endParaRPr/>
          </a:p>
        </p:txBody>
      </p:sp>
      <p:sp>
        <p:nvSpPr>
          <p:cNvPr id="967" name="" descr="{&quot;isTemplate&quot;:true,&quot;type&quot;:&quot;text&quot;}"/>
          <p:cNvSpPr txBox="1"/>
          <p:nvPr/>
        </p:nvSpPr>
        <p:spPr>
          <a:xfrm rot="0" flipH="0" flipV="0">
            <a:off x="3124200" y="4038600"/>
            <a:ext cx="1066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可投资的关键动作</a:t>
            </a:r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3476625" y="4524375"/>
            <a:ext cx="3619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3A1A0A"/>
                </a:solidFill>
                <a:latin typeface="Microsoft YaHei"/>
                <a:ea typeface="Microsoft YaHei"/>
              </a:rPr>
              <a:t>KPI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3257550" y="48006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1A0A"/>
                </a:solidFill>
                <a:latin typeface="Microsoft YaHei"/>
                <a:ea typeface="Microsoft YaHei"/>
              </a:rPr>
              <a:t>如何度量成功</a:t>
            </a:r>
            <a:endParaRPr/>
          </a:p>
        </p:txBody>
      </p:sp>
      <p:sp>
        <p:nvSpPr>
          <p:cNvPr id="970" name="" descr="{&quot;isTemplate&quot;:true,&quot;type&quot;:&quot;text&quot;}"/>
          <p:cNvSpPr txBox="1"/>
          <p:nvPr/>
        </p:nvSpPr>
        <p:spPr>
          <a:xfrm rot="0" flipH="0" flipV="0">
            <a:off x="5905500" y="1438275"/>
            <a:ext cx="857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FA4F24"/>
                </a:solidFill>
                <a:latin typeface="Microsoft YaHei"/>
                <a:ea typeface="Microsoft YaHei"/>
              </a:rPr>
              <a:t>↑</a:t>
            </a:r>
            <a:endParaRPr/>
          </a:p>
        </p:txBody>
      </p:sp>
      <p:sp>
        <p:nvSpPr>
          <p:cNvPr id="971" name=""/>
          <p:cNvSpPr/>
          <p:nvPr/>
        </p:nvSpPr>
        <p:spPr>
          <a:xfrm rot="0" flipH="0" flipV="0">
            <a:off x="5943600" y="1647825"/>
            <a:ext cx="19050" cy="3238500"/>
          </a:xfrm>
          <a:prstGeom prst="rect">
            <a:avLst/>
          </a:prstGeom>
          <a:solidFill>
            <a:srgbClr val="FA4F24">
              <a:alpha val="35000"/>
            </a:srgbClr>
          </a:solidFill>
          <a:ln/>
        </p:spPr>
        <p:txBody>
          <a:bodyPr/>
          <a:p/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972" name="" descr="&lt;Slide style={{ width: 1280, height: 720, background: '#FFFFFF', padding: '24px 64px 0' }}&gt;&#13;&#10;    {/* A 区 */}&#13;&#10;    &lt;Box style={{ height: 96, flexDirection: 'column', justifyContent: 'flex-start' }}&gt;&#13;&#10;        &lt;Text style={{ fontSize: 32, fontWeight: 'bold', color: '#0F1423' }}&gt;&#13;&#10;            业务战略与 IT 战略必须&lt;span style={{ color: '#FA4F24' }}&gt;双向对齐、同源同频&lt;/span&gt;&#13;&#10;        &lt;/Text&gt;&#13;&#10;        &lt;Text style={{ fontSize: 20, color: '#8A8F99', marginTop: 8 }}&gt;&#13;&#10;            每一条 IT 投资都必须能追溯到一条业务目标 —— 这是企业架构存在的唯一理由&#13;&#10;        &lt;/Text&gt;&#13;&#10;    &lt;/Box&gt;&#13;&#10;    &lt;Box style={{ height: 1, background: '#E8E8E8' }} /&gt;&#13;&#10;&#13;&#10;    {/* B 区 非对称双栏 60:40 */}&#13;&#10;    &lt;Box style={{ paddingTop: 26, paddingBottom: 14, height: 479, flexDirection: 'row', gap: 30 }}&gt;&#13;&#10;&#13;&#10;        {/* 左 60% 对齐矩阵 */}&#13;&#10;        &lt;Box style={{ flex: 60, flexDirection: 'column' }}&gt;&#13;&#10;            &lt;Text style={{ fontSize: 21, fontWeight: 'bold', color: '#0F1423', marginBottom: 14 }}&gt;&#13;&#10;                业务战略 ↔ IT 战略 映射矩阵&#13;&#10;            &lt;/Text&gt;&#13;&#10;            &lt;Box style={{ flexDirection: 'column', gap: 9 }}&gt;&#13;&#10;                {[&#13;&#10;                    { bt: '市场增长', bd: '进入新区域 / 新客群', it: '多渠道前端 + 数据洞察', link: '强' },&#13;&#10;                    { bt: '成本领先', bd: '流程自动化、集中采购', it: '流程引擎 + 主数据统一', link: '强' },&#13;&#10;                    { bt: '产品创新', bd: '快速试错、缩短上市周期', it: '模块化应用 + 云原生底座', link: '中' },&#13;&#10;                    { bt: '风险合规', bd: '可信经营、审计可追溯', it: '数据安全分级 + 血缘追溯', link: '强' },&#13;&#10;                ].map((it, i) =&gt; (&#13;&#10;                    &lt;Box key={i} style={{ height: 71, flexDirection: 'row', alignItems: 'center', background: '#F7F7F8', borderRadius: 4 }}&gt;&#13;&#10;                        &lt;Box style={{ width: 176, paddingLeft: 18, flexDirection: 'column' }}&gt;&#13;&#10;                            &lt;Text style={{ fontSize: 19, fontWeight: 'bold', color: '#FA4F24' }}&gt;{it.bt}&lt;/Text&gt;&#13;&#10;                            &lt;Text style={{ fontSize: 15, color: '#8A8F99' }}&gt;{it.bd}&lt;/Text&gt;&#13;&#10;                        &lt;/Box&gt;&#13;&#10;                        &lt;Text style={{ fontSize: 20, color: '#C9CBD1', width: 40, textAlign: 'center' }}&gt;→&lt;/Text&gt;&#13;&#10;                        &lt;Text style={{ fontSize: 17, color: '#0F1423', flex: 1, paddingRight: 12 }}&gt;{it.it}&lt;/Text&gt;&#13;&#10;                        &lt;Box style={{ width: 62, background: it.link === '强' ? '#FA4F24' : 'rgba(250,79,36,0.25)', margin: 8, borderRadius: 3, padding: '5px 0' }}&gt;&#13;&#10;                            &lt;Text style={{ fontSize: 14, color: it.link === '强' ? '#FFFFFF' : '#C43A17', textAlign: 'center' }}&gt;{it.link}&lt;/Text&gt;&#13;&#10;                        &lt;/Box&gt;&#13;&#10;                    &lt;/Box&gt;&#13;&#10;                ))}&#13;&#10;            &lt;/Box&gt;&#13;&#10;&#13;&#10;            {/* 判断条 */}&#13;&#10;            &lt;Box style={{ marginTop: 12, background: 'rgba(250,79,36,0.08)', borderLeft: '4px solid #FA4F24', borderRadius: 3, padding: '14px 20px' }}&gt;&#13;&#10;                &lt;Text style={{ fontSize: 17, color: '#0F1423', lineHeight: 1.5 }}&gt;&#13;&#10;                    &lt;span style={{ fontWeight: 'bold', color: '#FA4F24' }}&gt;判断：&lt;/span&gt;&#13;&#10;                    对齐度不足的根因往往不是技术，而是业务战略本身没有说清优先级 —— 先补战略，再谈架构。&#13;&#10;                &lt;/Text&gt;&#13;&#10;            &lt;/Box&gt;&#13;&#10;        &lt;/Box&gt;&#13;&#10;&#13;&#10;        {/* 右 40% 四条对齐准则 */}&#13;&#10;        &lt;Box style={{ flex: 40, flexDirection: 'column', gap: 10 }}&gt;&#13;&#10;            &lt;Text style={{ fontSize: 21, fontWeight: 'bold', color: '#0F1423' }}&gt;&#13;&#10;                四条对齐准则&#13;&#10;            &lt;/Text&gt;&#13;&#10;            {[&#13;&#10;                { n: '01', t: '目标可追溯', d: '每个 IT 项目挂载业务战略目标，无对应不予立项。' },&#13;&#10;                { n: '02', t: '口径统一', d: '业务与 IT 共用一套业务对象与指标定义。' },&#13;&#10;                { n: '03', t: '能力为桥', d: '以业务能力为中间语言，翻译战略意图。' },&#13;&#10;                { n: '04', t: '节奏匹配', d: 'IT 交付节奏必须匹配业务窗口。' },&#13;&#10;            ].map((it, i) =&gt; (&#13;&#10;                &lt;Box key={i} style={{ height: 92, background: '#F7F7F8', borderRadius: 4, padding: '10px 16px', flexDirection: 'row', gap: 12 }}&gt;&#13;&#10;                    &lt;Text style={{ fontSize: 26, fontWeight: 'bold', color: '#FA4F24', width: 44 }}&gt;{it.n}&lt;/Text&gt;&#13;&#10;                    &lt;Box style={{ flex: 1, flexDirection: 'column' }}&gt;&#13;&#10;                        &lt;Text style={{ fontSize: 19, fontWeight: 'bold', color: '#0F1423' }}&gt;{it.t}&lt;/Text&gt;&#13;&#10;                        &lt;Text style={{ fontSize: 16, color: '#3A4050', marginTop: 7, lineHeight: 1.45 }}&gt;{it.d}&lt;/Text&gt;&#13;&#10;                    &lt;/Box&gt;&#13;&#10;                &lt;/Box&gt;&#13;&#10;            ))}&#13;&#10;        &lt;/Box&gt;&#13;&#10;    &lt;/Box&gt;&#13;&#10;&#13;&#10;    {/* C 区 */}&#13;&#10;    &lt;Box style={{ height: 60, flexDirection: 'row', alignItems: 'center', justifyContent: 'space-between' }}&gt;&#13;&#10;        &lt;Box style={{ flexDirection: 'row', alignItems: 'center', gap: 10 }}&gt;&#13;&#10;            &lt;Box style={{ width: 14, height: 14, background: '#FA4F24' }} /&gt;&#13;&#10;            &lt;Text style={{ fontSize: 14, color: '#8A8F99' }}&gt;硕磐机密 · EA企业架构咨询方法论&lt;/Text&gt;&#13;&#10;        &lt;/Box&gt;&#13;&#10;        &lt;Text style={{ fontSize: 14, color: '#8A8F99' }}&gt;09 / 2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业务战略与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战略必须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双向对齐、同源同频</a:t>
            </a:r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每一条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投资都必须能追溯到一条业务目标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这是企业架构存在的唯一理由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64103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↔ IT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战略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映射矩阵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09600" y="1781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781050" y="1924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市场增长</a:t>
            </a:r>
            <a:endParaRPr/>
          </a:p>
        </p:txBody>
      </p:sp>
      <p:sp>
        <p:nvSpPr>
          <p:cNvPr id="980" name="" descr="{&quot;isTemplate&quot;:true,&quot;type&quot;:&quot;text&quot;}"/>
          <p:cNvSpPr txBox="1"/>
          <p:nvPr/>
        </p:nvSpPr>
        <p:spPr>
          <a:xfrm rot="0" flipH="0" flipV="0">
            <a:off x="781050" y="2143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进入新区域</a:t>
            </a:r>
            <a:r>
              <a:rPr lang="en-US" sz="1125">
                <a:solidFill>
                  <a:srgbClr val="8A8F9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新客群</a:t>
            </a:r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2286000" y="2009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2667000" y="2019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多渠道前端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数据洞察</a:t>
            </a:r>
            <a:endParaRPr/>
          </a:p>
        </p:txBody>
      </p:sp>
      <p:sp>
        <p:nvSpPr>
          <p:cNvPr id="983" name=""/>
          <p:cNvSpPr/>
          <p:nvPr/>
        </p:nvSpPr>
        <p:spPr>
          <a:xfrm rot="0" flipH="0" flipV="0">
            <a:off x="6353175" y="1990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84" name="" descr="{&quot;isTemplate&quot;:true,&quot;type&quot;:&quot;text&quot;}"/>
          <p:cNvSpPr txBox="1"/>
          <p:nvPr/>
        </p:nvSpPr>
        <p:spPr>
          <a:xfrm rot="0" flipH="0" flipV="0">
            <a:off x="6353175" y="2038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85" name=""/>
          <p:cNvSpPr/>
          <p:nvPr/>
        </p:nvSpPr>
        <p:spPr>
          <a:xfrm rot="0" flipH="0" flipV="0">
            <a:off x="609600" y="2543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781050" y="2686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成本领先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781050" y="2905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流程自动化、集中采购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2286000" y="2771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2667000" y="2781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流程引擎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主数据统一</a:t>
            </a:r>
            <a:endParaRPr/>
          </a:p>
        </p:txBody>
      </p:sp>
      <p:sp>
        <p:nvSpPr>
          <p:cNvPr id="990" name=""/>
          <p:cNvSpPr/>
          <p:nvPr/>
        </p:nvSpPr>
        <p:spPr>
          <a:xfrm rot="0" flipH="0" flipV="0">
            <a:off x="6353175" y="2752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6353175" y="2800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992" name=""/>
          <p:cNvSpPr/>
          <p:nvPr/>
        </p:nvSpPr>
        <p:spPr>
          <a:xfrm rot="0" flipH="0" flipV="0">
            <a:off x="609600" y="3305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781050" y="3362325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产品创新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781050" y="3581400"/>
            <a:ext cx="150495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快速试错、缩短上市周期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2286000" y="3533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2667000" y="3543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模块化应用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云原生底座</a:t>
            </a:r>
            <a:endParaRPr/>
          </a:p>
        </p:txBody>
      </p:sp>
      <p:sp>
        <p:nvSpPr>
          <p:cNvPr id="997" name=""/>
          <p:cNvSpPr/>
          <p:nvPr/>
        </p:nvSpPr>
        <p:spPr>
          <a:xfrm rot="0" flipH="0" flipV="0">
            <a:off x="6353175" y="3514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>
              <a:alpha val="25000"/>
            </a:srgbClr>
          </a:solidFill>
          <a:ln/>
        </p:spPr>
        <p:txBody>
          <a:bodyPr/>
          <a:p/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6353175" y="3562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999" name=""/>
          <p:cNvSpPr/>
          <p:nvPr/>
        </p:nvSpPr>
        <p:spPr>
          <a:xfrm rot="0" flipH="0" flipV="0">
            <a:off x="609600" y="4067175"/>
            <a:ext cx="6410325" cy="676275"/>
          </a:xfrm>
          <a:prstGeom prst="roundRect">
            <a:avLst>
              <a:gd name="adj" fmla="val 5634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781050" y="4210050"/>
            <a:ext cx="1504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A4F24"/>
                </a:solidFill>
                <a:latin typeface="Microsoft YaHei"/>
                <a:ea typeface="Microsoft YaHei"/>
              </a:rPr>
              <a:t>风险合规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781050" y="4429125"/>
            <a:ext cx="1504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8A8F99"/>
                </a:solidFill>
                <a:latin typeface="Microsoft YaHei"/>
                <a:ea typeface="Microsoft YaHei"/>
              </a:rPr>
              <a:t>可信经营、审计可追溯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2286000" y="4295775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C9CBD1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2667000" y="4305300"/>
            <a:ext cx="3609975" cy="200025"/>
          </a:xfrm>
          <a:prstGeom prst="rect"/>
        </p:spPr>
        <p:txBody>
          <a:bodyPr wrap="none" lIns="0" tIns="0" rIns="85725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数据安全分级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血缘追溯</a:t>
            </a:r>
            <a:endParaRPr/>
          </a:p>
        </p:txBody>
      </p:sp>
      <p:sp>
        <p:nvSpPr>
          <p:cNvPr id="1004" name=""/>
          <p:cNvSpPr/>
          <p:nvPr/>
        </p:nvSpPr>
        <p:spPr>
          <a:xfrm rot="0" flipH="0" flipV="0">
            <a:off x="6353175" y="4276725"/>
            <a:ext cx="590550" cy="257175"/>
          </a:xfrm>
          <a:prstGeom prst="roundRect">
            <a:avLst>
              <a:gd name="adj" fmla="val 1111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5" name="" descr="{&quot;isTemplate&quot;:true,&quot;type&quot;:&quot;text&quot;}"/>
          <p:cNvSpPr txBox="1"/>
          <p:nvPr/>
        </p:nvSpPr>
        <p:spPr>
          <a:xfrm rot="0" flipH="0" flipV="0">
            <a:off x="6353175" y="43243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Microsoft YaHei"/>
                <a:ea typeface="Microsoft YaHei"/>
              </a:rPr>
              <a:t>强</a:t>
            </a:r>
            <a:endParaRPr/>
          </a:p>
        </p:txBody>
      </p:sp>
      <p:sp>
        <p:nvSpPr>
          <p:cNvPr id="1006" name=""/>
          <p:cNvSpPr/>
          <p:nvPr/>
        </p:nvSpPr>
        <p:spPr>
          <a:xfrm rot="0" flipH="0" flipV="0">
            <a:off x="647700" y="4857750"/>
            <a:ext cx="6410325" cy="857250"/>
          </a:xfrm>
          <a:prstGeom prst="roundRect">
            <a:avLst>
              <a:gd name="adj" fmla="val 3333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007" name=""/>
          <p:cNvSpPr/>
          <p:nvPr/>
        </p:nvSpPr>
        <p:spPr>
          <a:xfrm rot="0" flipH="0" flipV="0">
            <a:off x="647700" y="4857750"/>
            <a:ext cx="6410325" cy="857250"/>
          </a:xfrm>
          <a:custGeom>
            <a:pathLst>
              <a:path w="673" h="90">
                <a:moveTo>
                  <a:pt x="4" y="90"/>
                </a:moveTo>
                <a:cubicBezTo>
                  <a:pt x="3" y="90"/>
                  <a:pt x="2" y="90"/>
                  <a:pt x="1" y="89"/>
                </a:cubicBezTo>
                <a:cubicBezTo>
                  <a:pt x="0" y="88"/>
                  <a:pt x="0" y="88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08" name="" descr="{&quot;isTemplate&quot;:true,&quot;type&quot;:&quot;text&quot;}"/>
          <p:cNvSpPr txBox="1"/>
          <p:nvPr/>
        </p:nvSpPr>
        <p:spPr>
          <a:xfrm rot="0" flipH="0" flipV="0">
            <a:off x="838200" y="4991100"/>
            <a:ext cx="5991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对齐度不足的根因往往不是技术，而是业务战略本身没有说清优先级</a:t>
            </a:r>
            <a:r>
              <a:rPr lang="en-US" sz="1275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0F1423"/>
                </a:solidFill>
                <a:latin typeface="Microsoft YaHei"/>
                <a:ea typeface="Microsoft YaHei"/>
              </a:rPr>
              <a:t>先补战略，再谈架构。</a:t>
            </a:r>
            <a:endParaRPr/>
          </a:p>
        </p:txBody>
      </p:sp>
      <p:sp>
        <p:nvSpPr>
          <p:cNvPr id="1009" name="" descr="{&quot;isTemplate&quot;:true,&quot;type&quot;:&quot;text&quot;}"/>
          <p:cNvSpPr txBox="1"/>
          <p:nvPr/>
        </p:nvSpPr>
        <p:spPr>
          <a:xfrm rot="0" flipH="0" flipV="0">
            <a:off x="7305675" y="1400175"/>
            <a:ext cx="4276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四条对齐准则</a:t>
            </a:r>
            <a:endParaRPr/>
          </a:p>
        </p:txBody>
      </p:sp>
      <p:sp>
        <p:nvSpPr>
          <p:cNvPr id="1010" name=""/>
          <p:cNvSpPr/>
          <p:nvPr/>
        </p:nvSpPr>
        <p:spPr>
          <a:xfrm rot="0" flipH="0" flipV="0">
            <a:off x="7305675" y="17430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1" name="" descr="{&quot;isTemplate&quot;:true,&quot;type&quot;:&quot;text&quot;}"/>
          <p:cNvSpPr txBox="1"/>
          <p:nvPr/>
        </p:nvSpPr>
        <p:spPr>
          <a:xfrm rot="0" flipH="0" flipV="0">
            <a:off x="7458075" y="18383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7991475" y="18383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目标可追溯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7991475" y="21240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每个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项目挂载业务战略目标，无对应不予立项。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7305675" y="27146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7458075" y="28098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016" name="" descr="{&quot;isTemplate&quot;:true,&quot;type&quot;:&quot;text&quot;}"/>
          <p:cNvSpPr txBox="1"/>
          <p:nvPr/>
        </p:nvSpPr>
        <p:spPr>
          <a:xfrm rot="0" flipH="0" flipV="0">
            <a:off x="7991475" y="28098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口径统一</a:t>
            </a:r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7991475" y="30956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共用一套业务对象与指标定义。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7305675" y="368617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7458075" y="378142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020" name="" descr="{&quot;isTemplate&quot;:true,&quot;type&quot;:&quot;text&quot;}"/>
          <p:cNvSpPr txBox="1"/>
          <p:nvPr/>
        </p:nvSpPr>
        <p:spPr>
          <a:xfrm rot="0" flipH="0" flipV="0">
            <a:off x="7991475" y="378142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能力为桥</a:t>
            </a:r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7991475" y="406717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以业务能力为中间语言，翻译战略意图。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7305675" y="4657725"/>
            <a:ext cx="4276725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7458075" y="4752975"/>
            <a:ext cx="4191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024" name="" descr="{&quot;isTemplate&quot;:true,&quot;type&quot;:&quot;text&quot;}"/>
          <p:cNvSpPr txBox="1"/>
          <p:nvPr/>
        </p:nvSpPr>
        <p:spPr>
          <a:xfrm rot="0" flipH="0" flipV="0">
            <a:off x="7991475" y="4752975"/>
            <a:ext cx="34385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423"/>
                </a:solidFill>
                <a:latin typeface="Microsoft YaHei"/>
                <a:ea typeface="Microsoft YaHei"/>
              </a:rPr>
              <a:t>节奏匹配</a:t>
            </a:r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991475" y="5038725"/>
            <a:ext cx="343852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IT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交付节奏必须匹配业务窗口。</a:t>
            </a:r>
            <a:endParaRPr/>
          </a:p>
        </p:txBody>
      </p:sp>
      <p:sp>
        <p:nvSpPr>
          <p:cNvPr id="102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02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09 / 26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6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3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BA 咨询方法论&#13;&#10;        &lt;/Text&gt;&#13;&#10;        &lt;Text style={{ fontSize: 20, color: 'rgba(255,255,255,0.62)', marginTop: 18, letterSpacing: 2 }}&gt;&#13;&#10;            BUSINESS ARCHITECTURE&#13;&#10;        &lt;/Text&gt;&#13;&#10;        &lt;Text style={{ fontSize: 20, color: 'rgba(255,255,255,0.86)', marginTop: 22, lineHeight: 1.5 }}&gt;&#13;&#10;            价值流与业务能力建模：方法、内容、模板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价值流与业务能力建模：方法、内容、模板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BA 之方法：从价值流到能力地图的&lt;span style={{ color: '#FA4F24' }}&gt;能力建模法&lt;/span&gt;&#10;        &lt;/Text&gt;&#10;        &lt;Text style={{ fontSize: 20, color: '#8A8F99', marginTop: 8 }}&gt;&#10;            业务架构回答「做什么业务」—— 用能力地图替代部门清单，让 IT 有稳定的对接面&#10;        &lt;/Text&gt;&#10;    &lt;/Box&gt;&#10;    &lt;Box style={{ height: 1, background: '#E8E8E8' }} /&gt;&#10;&#10;    {/* B 区 左标题栏 + 右四步 */}&#10;    &lt;Box style={{ paddingTop: 24, paddingBottom: 14, height: 479, flexDirection: 'row', gap: 24 }}&gt;&#10;&#10;        {/* 左 32% 标题栏 */}&#10;        &lt;Box style={{&#10;            width: 336, background: 'linear-gradient(160deg, #FA4F24 0%, #F87D2F 100%)',&#10;            borderRadius: 4, padding: 28, flexDirection: 'column', justifyContent: 'space-between',&#10;        }}&gt;&#10;            &lt;Box&gt;&#10;                &lt;Text style={{ fontSize: 15, color: 'rgba(255,255,255,0.8)', letterSpacing: 2 }}&gt;BUSINESS ARCHITECTURE&lt;/Text&gt;&#10;                &lt;Text style={{ fontSize: 30, fontWeight: 'bold', color: '#FFFFFF', marginTop: 14, lineHeight: 1.25 }}&gt;&#10;                    BA&#10;                    &lt;br /&gt;&#10;                    业务架构&#10;                &lt;/Text&gt;&#10;            &lt;/Box&gt;&#10;            &lt;Box&gt;&#10;                &lt;Box style={{ width: 44, height: 4, background: 'rgba(255,255,255,0.7)' }} /&gt;&#10;                &lt;Text style={{ fontSize: 17, color: 'rgba(255,255,255,0.94)', marginTop: 16, lineHeight: 1.55 }}&gt;&#10;                    能力是与组织结构解耦的稳定层 —— 组织常变，能力少变，因此能力才是 IT 规划的正确锚点。&#10;                &lt;/Text&gt;&#10;            &lt;/Box&gt;&#10;        &lt;/Box&gt;&#10;&#10;        {/* 右 68% 四步 */}&#10;        &lt;Box style={{ flex: 1, flexDirection: 'column', gap: 12 }}&gt;&#10;            &lt;Text style={{ fontSize: 21, fontWeight: 'bold', color: '#0F1423' }}&gt;四步作业法&lt;/Text&gt;&#10;            {[&#10;                { n: '01', t: '价值流分析', d: '识别企业的核心价值流与端到端流程，明确价值创造的起点与终点。', k: '价值流清单' },&#10;                { n: '02', t: '能力识别', d: '从价值流中抽出稳定的业务能力（做什么），去除「谁在做」的组织干扰。', k: '能力清单' },&#10;                { n: '03', t: '能力评估', d: '按战略重要度与当前成熟度两维打分，定位强项、短板与冗余能力。', k: '能力热力图' },&#10;                { n: '04', t: '能力地图构建', d: '按能力域分层构建全景地图，并把能力映射到组织与流程。', k: '业务能力地图' },&#10;            ].map((it, i) =&gt; (&#10;                &lt;Box key={i} style={{ flex: 1, flexDirection: 'row', alignItems: 'center', background: '#F7F7F8', borderRadius: 4, padding: '12px 20px', gap: 18, borderLeft: '4px solid #FA4F24' }}&gt;&#10;                    &lt;Text style={{ fontSize: 30, fontWeight: 'bold', color: '#FA4F24', width: 56 }}&gt;{it.n}&lt;/Text&gt;&#10;                    &lt;Box style={{ width: 168 }}&gt;&#10;                        &lt;Text style={{ fontSize: 20, fontWeight: 'bold', color: '#0F1423' }}&gt;{it.t}&lt;/Text&gt;&#10;                    &lt;/Box&gt;&#10;                    &lt;Text style={{ fontSize: 16, color: '#3A4050', lineHeight: 1.45, flex: 1 }}&gt;{it.d}&lt;/Text&gt;&#10;                    &lt;Box style={{ width: 132, background: 'rgba(250,79,36,0.1)', borderRadius: 3, padding: '6px 8px' }}&gt;&#10;                        &lt;Text style={{ fontSize: 13, color: '#C43A17', textAlign: 'center' }}&gt;{it.k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1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之方法：从价值流到能力地图的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能力建模法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业务架构回答「做什么业务」——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用能力地图替代部门清单，让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有稳定的对接面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BUSINESS ARCHITECTURE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BA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能力是与组织结构解耦的稳定层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组织常变，能力少变，因此能力才是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规划的正确锚点。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价值流分析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识别企业的核心价值流与端到端流程，明确价值创造的起点与终点。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10134600" y="20478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0210800" y="21050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价值流清单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能力识别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从价值流中抽出稳定的业务能力（做什么），去除「谁在做」的组织干扰。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10134600" y="30384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0210800" y="30956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能力清单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能力评估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按战略重要度与当前成熟度两维打分，定位强项、短板与冗余能力。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10134600" y="4029075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210800" y="4086225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能力热力图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能力地图构建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2194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按能力域分层构建全景地图，并把能力映射到组织与流程。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10134600" y="5010150"/>
            <a:ext cx="12573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210800" y="5067300"/>
            <a:ext cx="11049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11 / 26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BA 之内容：&lt;span style={{ color: '#FA4F24' }}&gt;三类核心交付物&lt;/span&gt;与关键要素&#10;        &lt;/Text&gt;&#10;        &lt;Text style={{ fontSize: 20, color: '#8A8F99', marginTop: 8 }}&gt;&#10;            交付物不是文档堆砌 —— 三类成果分别回答「有哪些能力」「怎么创造价值」「谁来承担」&#10;        &lt;/Text&gt;&#10;    &lt;/Box&gt;&#10;    &lt;Box style={{ height: 1, background: '#E8E8E8' }} /&gt;&#10;&#10;    {/* B 区 非对称双栏 62:38 */}&#10;    &lt;Box style={{ paddingTop: 24, paddingBottom: 14, height: 479, flexDirection: 'row', gap: 28 }}&gt;&#10;&#10;        {/* 左 62% 交付物 */}&#10;        &lt;Box style={{ flex: 62, flexDirection: 'column', gap: 12 }}&gt;&#10;            {[&#10;                { n: '①', t: '业务能力地图', d: '按「能力域 → 能力组 → 能力项」三层分解，形成可管理的企业能力全景。', els: '能力域 / 能力项 / 成熟度 / 战略重要度' },&#10;                { n: '②', t: '价值流图', d: '描述端到端价值创造的阶段、参与角色与关键交付，识别断点与冗余。', els: '价值阶段 / 触发事件 / 交付物 / 周期' },&#10;                { n: '③', t: '组织映射表', d: '把能力与组织单元、岗位对齐，明确能力责任主体与协同关系。', els: '能力 / 责任部门 / 岗位 / 协同方' },&#10;            ].map((it, i) =&gt; (&#10;                &lt;Box key={i} style={{ flex: 1, background: '#F7F7F8', borderRadius: 4, padding: '18px 24px', flexDirection: 'column', borderTop: '4px solid #FA4F24' }}&gt;&#10;                    &lt;Box style={{ flexDirection: 'row', alignItems: 'center', gap: 12 }}&gt;&#10;                        &lt;Text style={{ fontSize: 24, fontWeight: 'bold', color: '#FA4F24' }}&gt;{it.n}&lt;/Text&gt;&#10;                        &lt;Text style={{ fontSize: 22, fontWeight: 'bold', color: '#0F1423' }}&gt;{it.t}&lt;/Text&gt;&#10;                    &lt;/Box&gt;&#10;                    &lt;Text style={{ fontSize: 17, color: '#3A4050', marginTop: 10, lineHeight: 1.5 }}&gt;{it.d}&lt;/Text&gt;&#10;                    &lt;Box style={{ marginTop: 'auto', background: 'rgba(250,79,36,0.08)', borderRadius: 3, padding: '7px 12px' }}&gt;&#10;                        &lt;Text style={{ fontSize: 15, color: '#C43A17' }}&gt;关键要素：{it.els}&lt;/Text&gt;&#10;                    &lt;/Box&gt;&#10;                &lt;/Box&gt;&#10;            ))}&#10;        &lt;/Box&gt;&#10;&#10;        {/* 右 38% 能力地图示意 */}&#10;        &lt;Box style={{ flex: 38, flexDirection: 'column' }}&gt;&#10;            &lt;Text style={{ fontSize: 21, fontWeight: 'bold', color: '#0F1423', marginBottom: 12 }}&gt;&#10;                能力地图结构示意&#10;            &lt;/Text&gt;&#10;            &lt;Box style={{ flexDirection: 'column', gap: 8 }}&gt;&#10;                &lt;Box style={{ height: 40, background: '#FA4F24', borderRadius: 3, justifyContent: 'center', paddingLeft: 14 }}&gt;&#10;                    &lt;Text style={{ fontSize: 16, fontWeight: 'bold', color: '#FFFFFF' }}&gt;L1 · 能力域（研发 / 供应 / 销售）&lt;/Text&gt;&#10;                &lt;/Box&gt;&#10;                &lt;Box style={{ height: 74, flexDirection: 'row', gap: 8 }}&gt;&#10;                    {[&#10;                        { t: '能力组 A', bg: '#F87D2F', c: '#FFFFFF' },&#10;                        { t: '能力组 B', bg: '#FBA47A', c: '#3A1A0A' },&#10;                        { t: '能力组 C', bg: '#FDD5BE', c: '#3A1A0A' },&#10;                    ].map((it, i) =&gt; (&#10;                        &lt;Box key={i} style={{ flex: 1, background: it.bg, borderRadius: 3, justifyContent: 'center', alignItems: 'center', padding: 6 }}&gt;&#10;                            &lt;Text style={{ fontSize: 15, fontWeight: 'bold', color: it.c, textAlign: 'center' }}&gt;{it.t}&lt;/Text&gt;&#10;                        &lt;/Box&gt;&#10;                    ))}&#10;                &lt;/Box&gt;&#10;                {['能力项 · 成熟度 3.5', '能力项 · 成熟度 2.0（短板）', '能力项 · 成熟度 4.0', '能力项 · 待建设（缺口）'].map((t, i) =&gt; (&#10;                    &lt;Box key={i} style={{ height: 30, background: '#F1F2F4', borderRadius: 3, justifyContent: 'center', paddingLeft: 14 }}&gt;&#10;                        &lt;Text style={{ fontSize: 14, color: '#3A4050' }}&gt;{t}&lt;/Text&gt;&#10;                    &lt;/Box&gt;&#10;                ))}&#10;            &lt;/Box&gt;&#10;            &lt;Box style={{ marginTop: 12, background: 'rgba(250,79,36,0.08)', borderLeft: '4px solid #FA4F24', borderRadius: 3, padding: '12px 16px' }}&gt;&#10;                &lt;Text style={{ fontSize: 16, color: '#0F1423', lineHeight: 1.5 }}&gt;&#10;                    &lt;span style={{ fontWeight: 'bold', color: '#FA4F24' }}&gt;判断：&lt;/span&gt;&#10;                    成熟度低 ≠ 优先级高 —— 须叠加战略重要度，才能定投资次序。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2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三类核心交付物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与关键要素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交付物不是文档堆砌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三类成果分别回答「有哪些能力」「怎么创造价值」「谁来承担」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14192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609600" y="14192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15906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181100" y="16002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业务能力地图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38200" y="19621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按「能力域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能力项」三层分解，形成可管理的企业能力全景。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38200" y="22574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52500" y="23241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能力域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能力项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成熟度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战略重要度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88607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609600" y="288607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38200" y="30575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181100" y="306705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价值流图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838200" y="342900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描述端到端价值创造的阶段、参与角色与关键交付，识别断点与冗余。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38200" y="372427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952500" y="379095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价值阶段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触发事件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交付物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周期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09600" y="4352925"/>
            <a:ext cx="6638925" cy="1352550"/>
          </a:xfrm>
          <a:prstGeom prst="roundRect">
            <a:avLst>
              <a:gd name="adj" fmla="val 2817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609600" y="4352925"/>
            <a:ext cx="6638925" cy="1352550"/>
          </a:xfrm>
          <a:custGeom>
            <a:pathLst>
              <a:path w="697" h="142">
                <a:moveTo>
                  <a:pt x="693" y="0"/>
                </a:moveTo>
                <a:cubicBezTo>
                  <a:pt x="695" y="0"/>
                  <a:pt x="697" y="2"/>
                  <a:pt x="697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693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38200" y="45243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FA4F24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81100" y="45339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组织映射表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4895850"/>
            <a:ext cx="618172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把能力与组织单元、岗位对齐，明确能力责任主体与协同关系。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38200" y="5191125"/>
            <a:ext cx="6181725" cy="304800"/>
          </a:xfrm>
          <a:prstGeom prst="roundRect">
            <a:avLst>
              <a:gd name="adj" fmla="val 9375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952500" y="5257800"/>
            <a:ext cx="595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关键要素：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责任部门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岗位</a:t>
            </a:r>
            <a:r>
              <a:rPr lang="en-US" sz="1125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125">
                <a:solidFill>
                  <a:srgbClr val="C43A17"/>
                </a:solidFill>
                <a:latin typeface="Microsoft YaHei"/>
                <a:ea typeface="Microsoft YaHei"/>
              </a:rPr>
              <a:t>协同方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515225" y="138112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能力地图结构示意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7515225" y="1743075"/>
            <a:ext cx="4067175" cy="381000"/>
          </a:xfrm>
          <a:prstGeom prst="roundRect">
            <a:avLst>
              <a:gd name="adj" fmla="val 75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7648575" y="1838325"/>
            <a:ext cx="3933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L1 ·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能力域（研发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供应</a:t>
            </a: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销售）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51522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877175" y="2466975"/>
            <a:ext cx="5810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8896350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BA47A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9267825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10277475" y="2200275"/>
            <a:ext cx="1304925" cy="704850"/>
          </a:xfrm>
          <a:prstGeom prst="roundRect">
            <a:avLst>
              <a:gd name="adj" fmla="val 4054"/>
            </a:avLst>
          </a:prstGeom>
          <a:solidFill>
            <a:srgbClr val="FDD5BE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648950" y="2466975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3A1A0A"/>
                </a:solidFill>
                <a:latin typeface="Microsoft YaHei"/>
                <a:ea typeface="Microsoft YaHei"/>
              </a:rPr>
              <a:t>能力组</a:t>
            </a:r>
            <a:r>
              <a:rPr lang="en-US" sz="1125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 C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7515225" y="29813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7648575" y="30480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3.5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7515225" y="33432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48575" y="34099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2.0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（短板）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7515225" y="370522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7648575" y="377190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4.0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515225" y="4067175"/>
            <a:ext cx="4067175" cy="285750"/>
          </a:xfrm>
          <a:prstGeom prst="roundRect">
            <a:avLst>
              <a:gd name="adj" fmla="val 10000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48575" y="4133850"/>
            <a:ext cx="3933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能力项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待建设（缺口）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7553325" y="4467225"/>
            <a:ext cx="4067175" cy="781050"/>
          </a:xfrm>
          <a:prstGeom prst="roundRect">
            <a:avLst>
              <a:gd name="adj" fmla="val 3659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7553325" y="4467225"/>
            <a:ext cx="4067175" cy="781050"/>
          </a:xfrm>
          <a:custGeom>
            <a:pathLst>
              <a:path w="427" h="82">
                <a:moveTo>
                  <a:pt x="4" y="82"/>
                </a:moveTo>
                <a:cubicBezTo>
                  <a:pt x="3" y="82"/>
                  <a:pt x="2" y="82"/>
                  <a:pt x="1" y="81"/>
                </a:cubicBezTo>
                <a:cubicBezTo>
                  <a:pt x="0" y="80"/>
                  <a:pt x="0" y="80"/>
                  <a:pt x="0" y="7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705725" y="4581525"/>
            <a:ext cx="37242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成熟度低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≠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优先级高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须叠加战略重要度，才能定投资次序。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12 / 26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BA 之模板：&lt;span style={{ color: '#FA4F24' }}&gt;能力卡片&lt;/span&gt;与价值流图标准样式&#10;        &lt;/Text&gt;&#10;        &lt;Text style={{ fontSize: 20, color: '#8A8F99', marginTop: 8 }}&gt;&#10;            模板的价值在于「字段即标准」—— 填不出某个字段，说明该能力还没真正被想清楚&#10;        &lt;/Text&gt;&#10;    &lt;/Box&gt;&#10;    &lt;Box style={{ height: 1, background: '#E8E8E8' }} /&gt;&#10;&#10;    {/* B 区 上大图 + 下方卡片 */}&#10;    &lt;Box style={{ paddingTop: 20, paddingBottom: 14, height: 479, flexDirection: 'column', gap: 16 }}&gt;&#10;&#10;        {/* 上：能力卡片模板 */}&#10;        &lt;Box style={{ flexDirection: 'column', gap: 10 }}&gt;&#10;            &lt;Text style={{ fontSize: 21, fontWeight: 'bold', color: '#0F1423' }}&gt;模板 A · 业务能力卡片&lt;/Text&gt;&#10;            &lt;Box style={{ flexDirection: 'row', gap: 12, height: 168 }}&gt;&#10;                {/* 卡片头部 */}&#10;                &lt;Box style={{ width: 236, background: 'linear-gradient(160deg, #FA4F24 0%, #F87D2F 100%)', borderRadius: 4, padding: 18, flexDirection: 'column' }}&gt;&#10;                    &lt;Text style={{ fontSize: 13, color: 'rgba(255,255,255,0.8)', letterSpacing: 1 }}&gt;CAPABILITY CARD&lt;/Text&gt;&#10;                    &lt;Text style={{ fontSize: 24, fontWeight: 'bold', color: '#FFFFFF', marginTop: 8 }}&gt;能力卡片&lt;/Text&gt;&#10;                    &lt;Box style={{ marginTop: 'auto' }}&gt;&#10;                        &lt;Text style={{ fontSize: 14, color: 'rgba(255,255,255,0.9)', lineHeight: 1.5 }}&gt;&#10;                            示例：订单履约能力&#10;                            &lt;br /&gt;&#10;                            能力域：供应链 · 成熟度 3.2&#10;                        &lt;/Text&gt;&#10;                    &lt;/Box&gt;&#10;                &lt;/Box&gt;&#10;                {/* 字段区 */}&#10;                {[&#10;                    { f: '能力编号', v: 'BA-SCM-014', note: '全局唯一，与资产目录一致' },&#10;                    { f: '能力定义', v: '按承诺时点交付订单', note: '一句话说清做什么' },&#10;                    { f: '业务规则', v: '信用额度校验 / 库存锁定', note: '规则数字化入口' },&#10;                    { f: '度量指标', v: '准时交付率 ≥ 98%', note: '可量化的 KPI' },&#10;                ].map((it, i) =&gt; (&#10;                    &lt;Box key={i} style={{ flex: 1, background: '#F7F7F8', borderRadius: 4, padding: '14px 16px', flexDirection: 'column' }}&gt;&#10;                        &lt;Text style={{ fontSize: 15, fontWeight: 'bold', color: '#FA4F24' }}&gt;{it.f}&lt;/Text&gt;&#10;                        &lt;Text style={{ fontSize: 16, color: '#0F1423', marginTop: 8, lineHeight: 1.4 }}&gt;{it.v}&lt;/Text&gt;&#10;                        &lt;Box style={{ marginTop: 'auto' }}&gt;&#10;                            &lt;Text style={{ fontSize: 13, color: '#8A8F99' }}&gt;{it.note}&lt;/Text&gt;&#10;                        &lt;/Box&gt;&#10;                    &lt;/Box&gt;&#10;                ))}&#10;            &lt;/Box&gt;&#10;        &lt;/Box&gt;&#10;&#10;        {/* 下：价值流图符号规范 + 使用说明 */}&#10;        &lt;Box style={{ flexDirection: 'column', gap: 10, flex: 1 }}&gt;&#10;            &lt;Text style={{ fontSize: 21, fontWeight: 'bold', color: '#0F1423' }}&gt;模板 B · 价值流图符号规范&lt;/Text&gt;&#10;            &lt;Box style={{ flexDirection: 'row', gap: 12, flex: 1 }}&gt;&#10;                {/* 符号示意 */}&#10;                &lt;Box style={{ flex: 62, background: '#F7F7F8', borderRadius: 4, padding: '14px 18px', flexDirection: 'row', alignItems: 'center', gap: 14 }}&gt;&#10;                    {[&#10;                        { s: '▭', t: '价值阶段', d: '标准矩形' },&#10;                        { s: '◆', t: '里程碑', d: '菱形节点' },&#10;                        { s: '▷', t: '交付物', d: '右三角' },&#10;                        { s: '⟶', t: '流转方向', d: '实线箭头' },&#10;                        { s: '⤳', t: '断点/返工', d: '虚线回路' },&#10;                    ].map((it, i) =&gt; (&#10;                        &lt;Box key={i} style={{ flex: 1, flexDirection: 'column', alignItems: 'center', gap: 4 }}&gt;&#10;                            &lt;Text style={{ fontSize: 28, color: '#FA4F24' }}&gt;{it.s}&lt;/Text&gt;&#10;                            &lt;Text style={{ fontSize: 15, fontWeight: 'bold', color: '#0F1423', textAlign: 'center' }}&gt;{it.t}&lt;/Text&gt;&#10;                            &lt;Text style={{ fontSize: 13, color: '#8A8F99', textAlign: 'center' }}&gt;{it.d}&lt;/Text&gt;&#10;                        &lt;/Box&gt;&#10;                    ))}&#10;                &lt;/Box&gt;&#10;                {/* 使用说明 */}&#10;                &lt;Box style={{ flex: 38, background: 'rgba(250,79,36,0.08)', borderRadius: 4, padding: '14px 18px', flexDirection: 'column', justifyContent: 'center' }}&gt;&#10;                    &lt;Text style={{ fontSize: 16, fontWeight: 'bold', color: '#FA4F24', marginBottom: 8 }}&gt;填写要求&lt;/Text&gt;&#10;                    &lt;Text style={{ fontSize: 15, color: '#0F1423', lineHeight: 1.6 }}&gt;&#10;                        ① 每个阶段必须标注输入与输出交付物；&lt;br /&gt;&#10;                        ② 断点与返工必须显式画出，不得美化；&lt;br /&gt;&#10;                        ③ 阶段数控制在 5–8 个，避免过细。&#10;                    &lt;/Text&gt;&#10;                &lt;/Box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3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能力卡片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与价值流图标准样式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模板的价值在于「字段即标准」——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填不出某个字段，说明该能力还没真正被想清楚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业务能力卡片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685925"/>
            <a:ext cx="2247900" cy="1600200"/>
          </a:xfrm>
          <a:prstGeom prst="roundRect">
            <a:avLst>
              <a:gd name="adj" fmla="val 2381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905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CAPABILITY CARD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905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能力卡片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81050" y="2628900"/>
            <a:ext cx="190500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示例：订单履约能力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能力域：供应链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3.2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297180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312420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能力编号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312420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12420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全局唯一，与资产目录一致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15302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530542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能力定义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30542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按承诺时点交付订单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30542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一句话说清做什么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7334250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486650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业务规则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486650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信用额度校验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库存锁定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86650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规则数字化入口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9515475" y="1685925"/>
            <a:ext cx="2066925" cy="1600200"/>
          </a:xfrm>
          <a:prstGeom prst="roundRect">
            <a:avLst>
              <a:gd name="adj" fmla="val 2381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667875" y="1819275"/>
            <a:ext cx="1762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度量指标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9667875" y="2066925"/>
            <a:ext cx="176212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准时交付率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≥ 98%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667875" y="3000375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可量化的</a:t>
            </a: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 KPI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34385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价值流图符号规范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609600" y="3781425"/>
            <a:ext cx="6734175" cy="1800225"/>
          </a:xfrm>
          <a:prstGeom prst="roundRect">
            <a:avLst>
              <a:gd name="adj" fmla="val 211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04925" y="4324350"/>
            <a:ext cx="1333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▭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1085850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价值阶段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39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标准矩形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590800" y="4324350"/>
            <a:ext cx="16192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◆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457450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里程碑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242887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菱形节点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3848100" y="4324350"/>
            <a:ext cx="266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▷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762375" y="4686300"/>
            <a:ext cx="428625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3790950" y="4895850"/>
            <a:ext cx="3714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右三角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5153025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5000625" y="4686300"/>
            <a:ext cx="571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流转方向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38725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实线箭头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457950" y="4324350"/>
            <a:ext cx="2571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100">
                <a:solidFill>
                  <a:srgbClr val="FA4F24"/>
                </a:solidFill>
                <a:latin typeface="Microsoft YaHei"/>
                <a:ea typeface="Microsoft YaHei"/>
              </a:rPr>
              <a:t>⤳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267450" y="4686300"/>
            <a:ext cx="6477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断点</a:t>
            </a:r>
            <a:r>
              <a:rPr lang="en-US" sz="1125" b="1">
                <a:solidFill>
                  <a:srgbClr val="0F1423"/>
                </a:solidFill>
                <a:latin typeface="Microsoft YaHei"/>
                <a:ea typeface="Microsoft YaHei"/>
              </a:rPr>
              <a:t>/</a:t>
            </a:r>
            <a:r>
              <a:rPr lang="zh-CN" sz="1125" b="1">
                <a:solidFill>
                  <a:srgbClr val="0F1423"/>
                </a:solidFill>
                <a:latin typeface="Microsoft YaHei"/>
                <a:ea typeface="Microsoft YaHei"/>
              </a:rPr>
              <a:t>返工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343650" y="4895850"/>
            <a:ext cx="4953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虚线回路</a:t>
            </a:r>
            <a:endParaRPr/>
          </a:p>
        </p:txBody>
      </p:sp>
      <p:sp>
        <p:nvSpPr>
          <p:cNvPr id="160" name=""/>
          <p:cNvSpPr/>
          <p:nvPr/>
        </p:nvSpPr>
        <p:spPr>
          <a:xfrm rot="0" flipH="0" flipV="0">
            <a:off x="7458075" y="3781425"/>
            <a:ext cx="4124325" cy="1800225"/>
          </a:xfrm>
          <a:prstGeom prst="roundRect">
            <a:avLst>
              <a:gd name="adj" fmla="val 2116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29525" y="4133850"/>
            <a:ext cx="3781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填写要求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29525" y="4400550"/>
            <a:ext cx="3781425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每个阶段必须标注输入与输出交付物；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断点与返工必须显式画出，不得美化；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阶段数控制在</a:t>
            </a:r>
            <a:r>
              <a:rPr lang="en-US" sz="1125">
                <a:solidFill>
                  <a:srgbClr val="0F1423"/>
                </a:solidFill>
                <a:latin typeface="Microsoft YaHei"/>
                <a:ea typeface="Microsoft YaHei"/>
              </a:rPr>
              <a:t xml:space="preserve"> 5–8 </a:t>
            </a:r>
            <a:r>
              <a:rPr lang="zh-CN" sz="1125">
                <a:solidFill>
                  <a:srgbClr val="0F1423"/>
                </a:solidFill>
                <a:latin typeface="Microsoft YaHei"/>
                <a:ea typeface="Microsoft YaHei"/>
              </a:rPr>
              <a:t>个，避免过细。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13 / 26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6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4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DA 咨询方法论&#13;&#10;        &lt;/Text&gt;&#13;&#10;        &lt;Text style={{ fontSize: 20, color: 'rgba(255,255,255,0.62)', marginTop: 18, letterSpacing: 2 }}&gt;&#13;&#10;            DATA ARCHITECTURE&#13;&#10;        &lt;/Text&gt;&#13;&#10;        &lt;Text style={{ fontSize: 20, color: 'rgba(255,255,255,0.86)', marginTop: 22, lineHeight: 1.5 }}&gt;&#13;&#10;            基于业务对象的信息架构四组件：方法、内容、模板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基于业务对象的信息架构四组件：方法、内容、模板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DA 之方法：基于&lt;span style={{ color: '#FA4F24' }}&gt;业务对象&lt;/span&gt;的信息架构设计法&#10;        &lt;/Text&gt;&#10;        &lt;Text style={{ fontSize: 20, color: '#8A8F99', marginTop: 8 }}&gt;&#10;            业务对象是业务架构与数据架构的「共同语言」—— 先定对象，再谈标准与模型&#10;        &lt;/Text&gt;&#10;    &lt;/Box&gt;&#10;    &lt;Box style={{ height: 1, background: '#E8E8E8' }} /&gt;&#10;&#10;    {/* B 区 左标题栏 + 右四步 */}&#10;    &lt;Box style={{ paddingTop: 24, paddingBottom: 14, height: 479, flexDirection: 'row', gap: 24 }}&gt;&#10;&#10;        {/* 左 32% */}&#10;        &lt;Box style={{&#10;            width: 336, background: 'linear-gradient(160deg, #FA4F24 0%, #F87D2F 100%)',&#10;            borderRadius: 4, padding: 28, flexDirection: 'column', justifyContent: 'space-between',&#10;        }}&gt;&#10;            &lt;Box&gt;&#10;                &lt;Text style={{ fontSize: 15, color: 'rgba(255,255,255,0.8)', letterSpacing: 2 }}&gt;DATA ARCHITECTURE&lt;/Text&gt;&#10;                &lt;Text style={{ fontSize: 30, fontWeight: 'bold', color: '#FFFFFF', marginTop: 14, lineHeight: 1.25 }}&gt;&#10;                    DA&#10;                    &lt;br /&gt;&#10;                    数据架构&#10;                &lt;/Text&gt;&#10;            &lt;/Box&gt;&#10;            &lt;Box&gt;&#10;                &lt;Box style={{ width: 44, height: 4, background: 'rgba(255,255,255,0.7)' }} /&gt;&#10;                &lt;Text style={{ fontSize: 17, color: 'rgba(255,255,255,0.94)', marginTop: 16, lineHeight: 1.55 }}&gt;&#10;                    先有「治」（标准、模型、分布），才有「存」（按架构入湖落仓）。没有信息架构这张蓝图，数据底座就是一潭浑水。&#10;                &lt;/Text&gt;&#10;            &lt;/Box&gt;&#10;        &lt;/Box&gt;&#10;&#10;        {/* 右 68% 四步 */}&#10;        &lt;Box style={{ flex: 1, flexDirection: 'column', gap: 12 }}&gt;&#10;            &lt;Text style={{ fontSize: 21, fontWeight: 'bold', color: '#0F1423' }}&gt;四步作业法&lt;/Text&gt;&#10;            {[&#10;                { n: '01', t: '业务对象识别', d: '按四标准判定：重要人事 物 / 唯一标识 / 相对独立有属性 / 可实例化。', k: '业务对象清单' },&#10;                { n: '02', t: '资产目录分层', d: '按 L1 主题域分组 → L2 主题域 → L3 业务对象 → L4 逻辑实体 → L5 属性 五层落位。', k: '数据资产目录' },&#10;                { n: '03', t: '标准与模型设计', d: '定业务/技术/管理三视角数据标准；设计概念、逻辑、物理三层模型。', k: '数据标准 + 三层模型' },&#10;                { n: '04', t: '数据分布规划', d: '以 CRUD 矩阵锁定唯一权威数据源，理清信息链与数据流。', k: '数据分布图 + 数据源清单' },&#10;            ].map((it, i) =&gt; (&#10;                &lt;Box key={i} style={{ flex: 1, flexDirection: 'row', alignItems: 'center', background: '#F7F7F8', borderRadius: 4, padding: '12px 20px', gap: 18, borderLeft: '4px solid #FA4F24' }}&gt;&#10;                    &lt;Text style={{ fontSize: 30, fontWeight: 'bold', color: '#FA4F24', width: 56 }}&gt;{it.n}&lt;/Text&gt;&#10;                    &lt;Box style={{ width: 168 }}&gt;&#10;                        &lt;Text style={{ fontSize: 20, fontWeight: 'bold', color: '#0F1423' }}&gt;{it.t}&lt;/Text&gt;&#10;                    &lt;/Box&gt;&#10;                    &lt;Text style={{ fontSize: 16, color: '#3A4050', lineHeight: 1.45, flex: 1 }}&gt;{it.d}&lt;/Text&gt;&#10;                    &lt;Box style={{ width: 152, background: 'rgba(250,79,36,0.1)', borderRadius: 3, padding: '6px 8px' }}&gt;&#10;                        &lt;Text style={{ fontSize: 13, color: '#C43A17', textAlign: 'center' }}&gt;{it.k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5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之方法：基于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业务对象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的信息架构设计法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业务对象是业务架构与数据架构的「共同语言」——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先定对象，再谈标准与模型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DATA ARCHITECTURE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DA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876300" y="39147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876300" y="4105275"/>
            <a:ext cx="26670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先有「治」（标准、模型、分布），才有「存」（按架构入湖落仓）。没有信息架构这张蓝图，数据底座就是一潭浑水。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业务对象识别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743700" y="19145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按四标准判定：重要人事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物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唯一标识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相对独立有属性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可实例化。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9944100" y="20478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0020300" y="21050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业务对象清单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19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资产目录分层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743700" y="29051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L1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五层落位。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9944100" y="30384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10020300" y="30956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标准与模型设计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6743700" y="3895725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定业务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技术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管理三视角数据标准；设计概念、逻辑、物理三层模型。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9944100" y="4029075"/>
            <a:ext cx="144780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020300" y="4086225"/>
            <a:ext cx="12954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数据标准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三层模型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6002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数据分布规划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743700" y="4876800"/>
            <a:ext cx="302895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矩阵锁定唯一权威数据源，理清信息链与数据流。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9944100" y="4933950"/>
            <a:ext cx="144780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0020300" y="4991100"/>
            <a:ext cx="129540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数据分布图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数据源清单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15 / 26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信息架构&lt;span style={{ color: '#FA4F24' }}&gt;四组件&lt;/span&gt;：目录 · 标准 · 模型 · 分布&#10;        &lt;/Text&gt;&#10;        &lt;Text style={{ fontSize: 20, color: '#8A8F99', marginTop: 8 }}&gt;&#10;            四组件不是四份文档，而是回答「有哪些数据、怎么统一、如何关联、存在哪里」的一套规范&#10;        &lt;/Text&gt;&#10;    &lt;/Box&gt;&#10;    &lt;Box style={{ height: 1, background: '#E8E8E8' }} /&gt;&#10;&#10;    {/* B 区 左巨型锚点 5 层 + 右四组件 */}&#10;    &lt;Box style={{ paddingTop: 24, paddingBottom: 14, height: 479, flexDirection: 'row', gap: 30 }}&gt;&#10;&#10;        {/* 左 30% 5 层锚点 */}&#10;        &lt;Box style={{ flex: 30, flexDirection: 'column', justifyContent: 'center' }}&gt;&#10;            &lt;Text style={{&#10;                fontSize: 104, fontWeight: 'bold', lineHeight: 1.0,&#10;                backgroundImage: 'linear-gradient(135deg, #FA4F24 0%, #F87D2F 100%)',&#10;                backgroundClip: 'text', color: 'transparent',&#10;            }}&gt;&#10;                5&#10;            &lt;/Text&gt;&#10;            &lt;Text style={{ fontSize: 22, fontWeight: 'bold', color: '#0F1423', marginTop: 8 }}&gt;&#10;                层数据资产目录&#10;            &lt;/Text&gt;&#10;            &lt;Box style={{ width: 52, height: 4, background: '#FA4F24', marginTop: 12 }} /&gt;&#10;            &lt;Text style={{ fontSize: 17, color: '#3A4050', marginTop: 14, lineHeight: 1.6 }}&gt;&#10;                L1 主题域分组 → L2 主题域 → L3 业务对象 → L4 逻辑实体 → L5 属性&#10;            &lt;/Text&gt;&#10;            &lt;Text style={{ fontSize: 16, color: '#8A8F99', marginTop: 10, lineHeight: 1.55 }}&gt;&#10;                L3 业务对象是信息架构的核心层，也是与 BA / AA / TA 集成的接口。&#10;            &lt;/Text&gt;&#10;        &lt;/Box&gt;&#10;&#10;        {/* 右 70% 四组件 */}&#10;        &lt;Box style={{ flex: 70, flexDirection: 'column', gap: 10 }}&gt;&#10;            {[&#10;                { n: '01', t: '数据资产目录', en: 'ASSET CATALOG', d: '形成企业数据地图，识别数据管理责任、解决归属争议、避免重复建设。五层分类是它的骨架。', k: '理清资产 · 识别责任' },&#10;                { n: '02', t: '数据标准', en: 'DATA STANDARD', d: '统一业务侧语言与理解，每个标准须覆盖业务视角（定义用途）、技术视角（类型长度）、管理视角（责任主体）。', k: '统一语言 · 三视角约束' },&#10;                { n: '03', t: '数据模型', en: 'DATA MODEL', d: '从数据视角模拟现实世界：概念模型对齐业务对象、逻辑模型固化规则、物理模型落到表结构。', k: '概念→逻辑→物理' },&#10;                { n: '04', t: '数据分布', en: 'DATA DISTRIBUTION', d: '定义唯一权威数据源与 CRUD 流转，描述信息链与数据流，让数据血缘可追溯。', k: '单一可信源 · 血缘可追' },&#10;            ].map((it, i) =&gt; (&#10;                &lt;Box key={i} style={{ flex: 1, flexDirection: 'row', alignItems: 'center', background: i === 0 ? 'rgba(250,79,36,0.1)' : '#F7F7F8', borderRadius: 4, padding: '12px 20px', gap: 16, borderLeft: '5px solid ' + (i === 0 ? '#FA4F24' : '#F87D2F') }}&gt;&#10;                    &lt;Text style={{ fontSize: 30, fontWeight: 'bold', color: '#FA4F24', width: 54 }}&gt;{it.n}&lt;/Text&gt;&#10;                    &lt;Box style={{ width: 176 }}&gt;&#10;                        &lt;Text style={{ fontSize: 20, fontWeight: 'bold', color: '#0F1423' }}&gt;{it.t}&lt;/Text&gt;&#10;                        &lt;Text style={{ fontSize: 12, color: '#8A8F99', letterSpacing: 1 }}&gt;{it.en}&lt;/Text&gt;&#10;                    &lt;/Box&gt;&#10;                    &lt;Text style={{ fontSize: 16, color: '#3A4050', lineHeight: 1.45, flex: 1 }}&gt;{it.d}&lt;/Text&gt;&#10;                    &lt;Box style={{ width: 138, background: 'rgba(250,79,36,0.1)', borderRadius: 3, padding: '6px 8px' }}&gt;&#10;                        &lt;Text style={{ fontSize: 13, color: '#C43A17', textAlign: 'center' }}&gt;{it.k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6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信息架构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四组件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：目录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标准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模型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分布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四组件不是四份文档，而是回答「有哪些数据、怎么统一、如何关联、存在哪里」的一套规范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3209925" cy="11906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gradFill>
                  <a:gsLst>
                    <a:gs pos="0">
                      <a:srgbClr val="FA4F24"/>
                    </a:gs>
                    <a:gs pos="100000">
                      <a:srgbClr val="F87D2F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3200400"/>
            <a:ext cx="3209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423"/>
                </a:solidFill>
                <a:latin typeface="Microsoft YaHei"/>
                <a:ea typeface="Microsoft YaHei"/>
              </a:rPr>
              <a:t>层数据资产目录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571875"/>
            <a:ext cx="495300" cy="381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209925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L1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L2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主题域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L3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业务对象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L4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逻辑实体</a:t>
            </a:r>
            <a:r>
              <a:rPr lang="en-US" sz="1275">
                <a:solidFill>
                  <a:srgbClr val="3A4050"/>
                </a:solidFill>
                <a:latin typeface="Microsoft YaHei"/>
                <a:ea typeface="Microsoft YaHei"/>
              </a:rPr>
              <a:t xml:space="preserve"> → L5 </a:t>
            </a:r>
            <a:r>
              <a:rPr lang="zh-CN" sz="1275">
                <a:solidFill>
                  <a:srgbClr val="3A4050"/>
                </a:solidFill>
                <a:latin typeface="Microsoft YaHei"/>
                <a:ea typeface="Microsoft YaHei"/>
              </a:rPr>
              <a:t>属性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4467225"/>
            <a:ext cx="32099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L3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业务对象是信息架构的核心层，也是与</a:t>
            </a:r>
            <a:r>
              <a:rPr lang="en-US" sz="1200">
                <a:solidFill>
                  <a:srgbClr val="8A8F99"/>
                </a:solidFill>
                <a:latin typeface="Microsoft YaHei"/>
                <a:ea typeface="Microsoft YaHei"/>
              </a:rPr>
              <a:t xml:space="preserve"> BA / AA / TA </a:t>
            </a:r>
            <a:r>
              <a:rPr lang="zh-CN" sz="1200">
                <a:solidFill>
                  <a:srgbClr val="8A8F99"/>
                </a:solidFill>
                <a:latin typeface="Microsoft YaHei"/>
                <a:ea typeface="Microsoft YaHei"/>
              </a:rPr>
              <a:t>集成的接口。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152900" y="1381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4152900" y="1381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4343400" y="1733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10150" y="1724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数据资产目录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5010150" y="1952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ASSET CATALOG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838950" y="1504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形成企业数据地图，识别数据管理责任、解决归属争议、避免重复建设。五层分类是它的骨架。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10077450" y="1771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0153650" y="1828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理清资产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识别责任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4152900" y="2524125"/>
            <a:ext cx="7477125" cy="1047750"/>
          </a:xfrm>
          <a:prstGeom prst="roundRect">
            <a:avLst>
              <a:gd name="adj" fmla="val 363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4152900" y="2524125"/>
            <a:ext cx="7477125" cy="1047750"/>
          </a:xfrm>
          <a:custGeom>
            <a:pathLst>
              <a:path w="785" h="110">
                <a:moveTo>
                  <a:pt x="5" y="110"/>
                </a:moveTo>
                <a:cubicBezTo>
                  <a:pt x="4" y="110"/>
                  <a:pt x="3" y="110"/>
                  <a:pt x="2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106"/>
                </a:lnTo>
                <a:lnTo>
                  <a:pt x="0" y="106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4343400" y="2876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5010150" y="2867025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数据标准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5010150" y="3095625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STANDARD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38950" y="2647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统一业务侧语言与理解，每个标准须覆盖业务视角（定义用途）、技术视角（类型长度）、管理视角（责任主体）。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10077450" y="2838450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153650" y="2895600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统一语言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三视角约束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4152900" y="3667125"/>
            <a:ext cx="7477125" cy="1038225"/>
          </a:xfrm>
          <a:prstGeom prst="roundRect">
            <a:avLst>
              <a:gd name="adj" fmla="val 367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45" name=""/>
          <p:cNvSpPr/>
          <p:nvPr/>
        </p:nvSpPr>
        <p:spPr>
          <a:xfrm rot="0" flipH="0" flipV="0">
            <a:off x="4152900" y="3667125"/>
            <a:ext cx="7477125" cy="1038225"/>
          </a:xfrm>
          <a:custGeom>
            <a:pathLst>
              <a:path w="785" h="109">
                <a:moveTo>
                  <a:pt x="5" y="109"/>
                </a:moveTo>
                <a:cubicBezTo>
                  <a:pt x="4" y="109"/>
                  <a:pt x="3" y="109"/>
                  <a:pt x="2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105"/>
                </a:lnTo>
                <a:lnTo>
                  <a:pt x="0" y="105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343400" y="4019550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5010150" y="400050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数据模型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010150" y="422910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MODEL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838950" y="3790950"/>
            <a:ext cx="30861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从数据视角模拟现实世界：概念模型对齐业务对象、逻辑模型固化规则、物理模型落到表结构。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10077450" y="40576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53650" y="41148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概念→逻辑→物理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4152900" y="4800600"/>
            <a:ext cx="7477125" cy="781050"/>
          </a:xfrm>
          <a:prstGeom prst="roundRect">
            <a:avLst>
              <a:gd name="adj" fmla="val 487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4152900" y="4800600"/>
            <a:ext cx="7477125" cy="781050"/>
          </a:xfrm>
          <a:custGeom>
            <a:pathLst>
              <a:path w="785" h="82">
                <a:moveTo>
                  <a:pt x="5" y="82"/>
                </a:moveTo>
                <a:cubicBezTo>
                  <a:pt x="4" y="82"/>
                  <a:pt x="3" y="82"/>
                  <a:pt x="2" y="81"/>
                </a:cubicBezTo>
                <a:cubicBezTo>
                  <a:pt x="1" y="81"/>
                  <a:pt x="0" y="80"/>
                  <a:pt x="0" y="78"/>
                </a:cubicBezTo>
                <a:lnTo>
                  <a:pt x="0" y="78"/>
                </a:lnTo>
                <a:lnTo>
                  <a:pt x="0" y="78"/>
                </a:ln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4343400" y="5019675"/>
            <a:ext cx="514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10150" y="50101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数据分布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10150" y="5238750"/>
            <a:ext cx="16764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8A8F99"/>
                </a:solidFill>
                <a:latin typeface="Microsoft YaHei"/>
                <a:ea typeface="Microsoft YaHei"/>
              </a:rPr>
              <a:t>DATA DISTRIBUTION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6838950" y="4924425"/>
            <a:ext cx="30861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定义唯一权威数据源与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流转，描述信息链与数据流，让数据血缘可追溯。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10077450" y="4981575"/>
            <a:ext cx="1314450" cy="419100"/>
          </a:xfrm>
          <a:prstGeom prst="roundRect">
            <a:avLst>
              <a:gd name="adj" fmla="val 6818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10153650" y="5038725"/>
            <a:ext cx="1162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单一可信源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血缘可追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16 / 26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63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DA 之模板：资产目录、&lt;span style={{ color: '#FA4F24' }}&gt;标准卡&lt;/span&gt;与 CRUD 矩阵&#10;        &lt;/Text&gt;&#10;        &lt;Text style={{ fontSize: 20, color: '#8A8F99', marginTop: 8 }}&gt;&#10;            CRUD 矩阵是过程性工具，数据源是结论性设计 —— 发现多个「C」才能锁定唯一权威源&#10;        &lt;/Text&gt;&#10;    &lt;/Box&gt;&#10;    &lt;Box style={{ height: 1, background: '#E8E8E8' }} /&gt;&#10;&#10;    {/* B 区 非对称双栏 60:40 */}&#10;    &lt;Box style={{ paddingTop: 22, paddingBottom: 14, height: 479, flexDirection: 'row', gap: 26 }}&gt;&#10;&#10;        {/* 左 60% 资产目录 + 标准卡 */}&#10;        &lt;Box style={{ flex: 60, flexDirection: 'column', gap: 12 }}&gt;&#10;            &lt;Text style={{ fontSize: 21, fontWeight: 'bold', color: '#0F1423' }}&gt;模板 A · 五层数据资产目录&lt;/Text&gt;&#10;            &lt;Box style={{ height: 174, flexDirection: 'column', gap: 6 }}&gt;&#10;                {[&#10;                    { l: 'L1', t: '主题域分组 · 公司数据 Owner', bg: '#B32C0C', c: '#FFFFFF' },&#10;                    { l: 'L2', t: '主题域 · 领域数据 Owner', bg: '#FA4F24', c: '#FFFFFF' },&#10;                    { l: 'L3', t: '业务对象 · 业务对象 Owner（核心层）', bg: '#F87D2F', c: '#FFFFFF' },&#10;                    { l: 'L4', t: '逻辑实体 · 数据管家', bg: '#FBA47A', c: '#3A1A0A' },&#10;                    { l: 'L5', t: '属性 · 数据管家', bg: '#FDD5BE', c: '#3A1A0A' },&#10;                ].map((it, i) =&gt; (&#10;                    &lt;Box key={i} style={{ flex: 1, flexDirection: 'row', alignItems: 'center', background: it.bg, borderRadius: 3, paddingLeft: 16, gap: 16 }}&gt;&#10;                        &lt;Text style={{ fontSize: 17, fontWeight: 'bold', color: it.c, width: 32 }}&gt;{it.l}&lt;/Text&gt;&#10;                        &lt;Text style={{ fontSize: 16, color: it.c }}&gt;{it.t}&lt;/Text&gt;&#10;                    &lt;/Box&gt;&#10;                ))}&#10;            &lt;/Box&gt;&#10;&#10;            &lt;Text style={{ fontSize: 21, fontWeight: 'bold', color: '#0F1423', marginTop: 2 }}&gt;模板 B · 数据标准卡&lt;/Text&gt;&#10;            &lt;Box style={{ flex: 1, background: '#F7F7F8', borderRadius: 4, padding: '14px 20px', flexDirection: 'row', gap: 20 }}&gt;&#10;                {[&#10;                    { v: '业务视角', d: '业务定义与用途、业务规则、同义词（统一语言）' },&#10;                    { v: '技术视角', d: '数据类型、长度、允许值（约束 IT 实施）' },&#10;                    { v: '管理视角', d: '规则责任主体、维护主体、监控主体（明确责任）' },&#10;                ].map((it, i) =&gt; (&#10;                    &lt;Box key={i} style={{ flex: 1, flexDirection: 'column', borderLeft: '3px solid #FA4F24', paddingLeft: 12 }}&gt;&#10;                        &lt;Text style={{ fontSize: 17, fontWeight: 'bold', color: '#FA4F24' }}&gt;{it.v}&lt;/Text&gt;&#10;                        &lt;Text style={{ fontSize: 15, color: '#3A4050', marginTop: 8, lineHeight: 1.5 }}&gt;{it.d}&lt;/Text&gt;&#10;                    &lt;/Box&gt;&#10;                ))}&#10;            &lt;/Box&gt;&#10;        &lt;/Box&gt;&#10;&#10;        {/* 右 40% CRUD 矩阵 */}&#10;        &lt;Box style={{ flex: 40, flexDirection: 'column' }}&gt;&#10;            &lt;Text style={{ fontSize: 21, fontWeight: 'bold', color: '#0F1423', marginBottom: 12 }}&gt;模板 C · CRUD 矩阵&lt;/Text&gt;&#10;            &lt;Box style={{ flexDirection: 'column', gap: 5 }}&gt;&#10;                {/* 表头 */}&#10;                &lt;Box style={{ height: 34, flexDirection: 'row', gap: 5 }}&gt;&#10;                    &lt;Box style={{ flex: 3 }}&gt;&lt;Text style={{ fontSize: 14, fontWeight: 'bold', color: '#0F1423' }}&gt;业务对象 / 应用&lt;/Text&gt;&lt;/Box&gt;&#10;                    {['ERP', 'CRM', 'MES', 'WMS'].map((t, i) =&gt; (&#10;                        &lt;Box key={i} style={{ flex: 1, background: '#0F1423', borderRadius: 2, justifyContent: 'center' }}&gt;&#10;                            &lt;Text style={{ fontSize: 13, color: '#FFFFFF', textAlign: 'center' }}&gt;{t}&lt;/Text&gt;&#10;                        &lt;/Box&gt;&#10;                    ))}&#10;                &lt;/Box&gt;&#10;                {[&#10;                    { o: '客户', v: ['C', 'C', 'R', '—'] },&#10;                    { o: '销售订单', v: ['C', 'R', 'R', 'R'] },&#10;                    { o: '物料', v: ['C', 'R', 'R', 'R'] },&#10;                    { o: '库存', v: ['R', '—', 'C', 'C'] },&#10;                    { o: '发票', v: ['C', 'R', '—', '—'] },&#10;                ].map((row, i) =&gt; (&#10;                    &lt;Box key={i} style={{ height: 34, flexDirection: 'row', gap: 5 }}&gt;&#10;                        &lt;Box style={{ flex: 3, justifyContent: 'center' }}&gt;&#10;                            &lt;Text style={{ fontSize: 14, color: '#0F1423' }}&gt;{row.o}&lt;/Text&gt;&#10;                        &lt;/Box&gt;&#10;                        {row.v.map((v, j) =&gt; (&#10;                            &lt;Box key={j} style={{ flex: 1, background: v === 'C' ? 'rgba(250,79,36,0.85)' : v === 'R' ? '#F1F2F4' : '#FBFBFC', borderRadius: 2, justifyContent: 'center' }}&gt;&#10;                                &lt;Text style={{ fontSize: 14, fontWeight: v === 'C' ? 'bold' : 'normal', color: v === 'C' ? '#FFFFFF' : '#5A5F6B', textAlign: 'center' }}&gt;{v}&lt;/Text&gt;&#10;                            &lt;/Box&gt;&#10;                        ))}&#10;                    &lt;/Box&gt;&#10;                ))}&#10;            &lt;/Box&gt;&#10;            &lt;Box style={{ marginTop: 12, background: 'rgba(250,79,36,0.08)', borderLeft: '4px solid #FA4F24', borderRadius: 3, padding: '12px 16px', flexDirection: 'column', gap: 6 }}&gt;&#10;                &lt;Text style={{ fontSize: 16, color: '#0F1423', lineHeight: 1.5 }}&gt;&#10;                    &lt;span style={{ fontWeight: 'bold', color: '#FA4F24' }}&gt;判断：&lt;/span&gt;&#10;                    「客户」与「销售订单」均出现多个 C —— 数据源不清晰，必须治理到唯一创建方。&#10;                &lt;/Text&gt;&#10;                &lt;Text style={{ fontSize: 14, color: '#8A8F99' }}&gt;&#10;                    C 创建 · R 读取 · U 更新 · D 删除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7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之模板：资产目录、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标准卡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</a:t>
            </a: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CRUD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CRUD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矩阵是过程性工具，数据源是结论性设计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发现多个「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>C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」才能锁定唯一权威源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五层数据资产目录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17240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B32C0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2000" y="17716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L1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219200" y="1771650"/>
            <a:ext cx="2028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主题域分组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公司数据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09600" y="20669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762000" y="21145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L2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219200" y="2114550"/>
            <a:ext cx="1724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主题域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领域数据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09600" y="24098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762000" y="24574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L3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219200" y="2457450"/>
            <a:ext cx="2638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业务对象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Owner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（核心层）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27527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BA47A"/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762000" y="28003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L4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219200" y="2800350"/>
            <a:ext cx="1352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逻辑实体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3095625"/>
            <a:ext cx="6438900" cy="285750"/>
          </a:xfrm>
          <a:prstGeom prst="roundRect">
            <a:avLst>
              <a:gd name="adj" fmla="val 10000"/>
            </a:avLst>
          </a:prstGeom>
          <a:solidFill>
            <a:srgbClr val="FDD5BE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3143250"/>
            <a:ext cx="304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3A1A0A"/>
                </a:solidFill>
                <a:latin typeface="Microsoft YaHei"/>
                <a:ea typeface="Microsoft YaHei"/>
              </a:rPr>
              <a:t>L5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219200" y="31432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属性</a:t>
            </a:r>
            <a:r>
              <a:rPr lang="en-US" sz="12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3A1A0A"/>
                </a:solidFill>
                <a:latin typeface="Microsoft YaHei"/>
                <a:ea typeface="Microsoft YaHei"/>
              </a:rPr>
              <a:t>数据管家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3514725"/>
            <a:ext cx="64389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数据标准卡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609600" y="3876675"/>
            <a:ext cx="6438900" cy="1704975"/>
          </a:xfrm>
          <a:prstGeom prst="roundRect">
            <a:avLst>
              <a:gd name="adj" fmla="val 2235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800100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942975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业务视角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42975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业务定义与用途、业务规则、同义词（统一语言）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2886075" y="4010025"/>
            <a:ext cx="1914525" cy="1438275"/>
          </a:xfrm>
          <a:custGeom>
            <a:pathLst>
              <a:path w="201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3028950" y="4010025"/>
            <a:ext cx="17430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技术视角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3028950" y="4286250"/>
            <a:ext cx="17430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数据类型、长度、允许值（约束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IT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实施）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4962525" y="4010025"/>
            <a:ext cx="1924050" cy="1438275"/>
          </a:xfrm>
          <a:custGeom>
            <a:pathLst>
              <a:path w="202" h="151">
                <a:moveTo>
                  <a:pt x="0" y="0"/>
                </a:moveTo>
                <a:lnTo>
                  <a:pt x="3" y="0"/>
                </a:lnTo>
                <a:lnTo>
                  <a:pt x="3" y="151"/>
                </a:lnTo>
                <a:lnTo>
                  <a:pt x="0" y="15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5105400" y="4010025"/>
            <a:ext cx="1752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管理视角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5105400" y="4286250"/>
            <a:ext cx="17526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规则责任主体、维护主体、监控主体（明确责任）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296150" y="1362075"/>
            <a:ext cx="42862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C · CRUD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矩阵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7296150" y="17240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业务对象</a:t>
            </a:r>
            <a:r>
              <a:rPr lang="en-US" sz="105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 b="1">
                <a:solidFill>
                  <a:srgbClr val="0F1423"/>
                </a:solidFill>
                <a:latin typeface="Microsoft YaHei"/>
                <a:ea typeface="Microsoft YaHei"/>
              </a:rPr>
              <a:t>应用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9096375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9096375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ERP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734550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734550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CRM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10363200" y="17240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0363200" y="1809750"/>
            <a:ext cx="5905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MES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1001375" y="17240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1001375" y="1809750"/>
            <a:ext cx="5810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WMS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7296150" y="21812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客户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096375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9096375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9734550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734550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363200" y="20955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363200" y="21812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11001375" y="20955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001375" y="21812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7296150" y="255270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销售订单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9096375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096375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9734550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9734550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10363200" y="246697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0363200" y="255270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11001375" y="246697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001375" y="255270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7296150" y="292417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物料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9096375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9096375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9734550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9734550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10363200" y="283845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10363200" y="292417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11001375" y="283845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11001375" y="292417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7296150" y="3295650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库存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9096375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9096375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35" name=""/>
          <p:cNvSpPr/>
          <p:nvPr/>
        </p:nvSpPr>
        <p:spPr>
          <a:xfrm rot="0" flipH="0" flipV="0">
            <a:off x="9734550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9734550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10363200" y="3209925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10363200" y="3295650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11001375" y="3209925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11001375" y="3295650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7296150" y="3667125"/>
            <a:ext cx="175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0F1423"/>
                </a:solidFill>
                <a:latin typeface="Microsoft YaHei"/>
                <a:ea typeface="Microsoft YaHei"/>
              </a:rPr>
              <a:t>发票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9096375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A4F24">
              <a:alpha val="85000"/>
            </a:srgbClr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9096375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9734550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9734550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050">
                <a:solidFill>
                  <a:srgbClr val="5A5F6B"/>
                </a:solidFill>
                <a:latin typeface="Microsoft YaHei"/>
                <a:ea typeface="Microsoft YaHei"/>
              </a:rPr>
              <a:t>R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10363200" y="3581400"/>
            <a:ext cx="590550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0363200" y="3667125"/>
            <a:ext cx="59055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11001375" y="3581400"/>
            <a:ext cx="581025" cy="323850"/>
          </a:xfrm>
          <a:prstGeom prst="roundRect">
            <a:avLst>
              <a:gd name="adj" fmla="val 5882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11001375" y="3667125"/>
            <a:ext cx="581025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050">
                <a:solidFill>
                  <a:srgbClr val="5A5F6B"/>
                </a:solidFill>
                <a:latin typeface="Microsoft YaHei"/>
                <a:ea typeface="Microsoft YaHei"/>
              </a:rPr>
              <a:t>—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7334250" y="4019550"/>
            <a:ext cx="4286250" cy="1000125"/>
          </a:xfrm>
          <a:prstGeom prst="roundRect">
            <a:avLst>
              <a:gd name="adj" fmla="val 2857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7334250" y="4019550"/>
            <a:ext cx="4286250" cy="1000125"/>
          </a:xfrm>
          <a:custGeom>
            <a:pathLst>
              <a:path w="450" h="105">
                <a:moveTo>
                  <a:pt x="4" y="105"/>
                </a:moveTo>
                <a:cubicBezTo>
                  <a:pt x="3" y="105"/>
                  <a:pt x="2" y="105"/>
                  <a:pt x="1" y="104"/>
                </a:cubicBezTo>
                <a:cubicBezTo>
                  <a:pt x="0" y="103"/>
                  <a:pt x="0" y="103"/>
                  <a:pt x="0" y="10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7486650" y="4133850"/>
            <a:ext cx="39433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判断：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「客户」与「销售订单」均出现多个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C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数据源不清晰，必须治理到唯一创建方。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486650" y="4743450"/>
            <a:ext cx="394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C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创建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R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读取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U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更新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D 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删除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17 / 26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357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5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AA 咨询方法论&#13;&#10;        &lt;/Text&gt;&#13;&#10;        &lt;Text style={{ fontSize: 20, color: 'rgba(255,255,255,0.62)', marginTop: 18, letterSpacing: 2 }}&gt;&#13;&#10;            APPLICATION ARCHITECTURE&#13;&#10;        &lt;/Text&gt;&#13;&#10;        &lt;Text style={{ fontSize: 20, color: 'rgba(255,255,255,0.86)', marginTop: 22, lineHeight: 1.5 }}&gt;&#13;&#10;            能力映射应用组合与四态决策：方法、内容、模板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60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能力映射应用组合与四态决策：方法、内容、模板</a:t>
            </a:r>
            <a:endParaRPr/>
          </a:p>
        </p:txBody>
      </p:sp>
      <p:sp>
        <p:nvSpPr>
          <p:cNvPr id="364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367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AA 之方法：从能力热力图到&lt;span style={{ color: '#FA4F24' }}&gt;应用组合规划&lt;/span&gt;&#10;        &lt;/Text&gt;&#10;        &lt;Text style={{ fontSize: 20, color: '#8A8F99', marginTop: 8 }}&gt;&#10;            应用架构回答「用什么系统承载」—— 起点是业务能力，终点是可治理的应用组合&#10;        &lt;/Text&gt;&#10;    &lt;/Box&gt;&#10;    &lt;Box style={{ height: 1, background: '#E8E8E8' }} /&gt;&#10;&#10;    {/* B 区 左标题栏 + 右四步 */}&#10;    &lt;Box style={{ paddingTop: 24, paddingBottom: 14, height: 479, flexDirection: 'row', gap: 24 }}&gt;&#10;&#10;        {/* 左 32% */}&#10;        &lt;Box style={{&#10;            width: 336, background: 'linear-gradient(160deg, #FA4F24 0%, #F87D2F 100%)',&#10;            borderRadius: 4, padding: 28, flexDirection: 'column', justifyContent: 'space-between',&#10;        }}&gt;&#10;            &lt;Box&gt;&#10;                &lt;Text style={{ fontSize: 15, color: 'rgba(255,255,255,0.8)', letterSpacing: 2 }}&gt;APPLICATION ARCHITECTURE&lt;/Text&gt;&#10;                &lt;Text style={{ fontSize: 30, fontWeight: 'bold', color: '#FFFFFF', marginTop: 14, lineHeight: 1.25 }}&gt;&#10;                    AA&#10;                    &lt;br /&gt;&#10;                    应用架构&#10;                &lt;/Text&gt;&#10;            &lt;/Box&gt;&#10;            &lt;Box&gt;&#10;                &lt;Box style={{ width: 44, height: 4, background: 'rgba(255,255,255,0.7)' }} /&gt;&#10;                &lt;Text style={{ fontSize: 17, color: 'rgba(255,255,255,0.94)', marginTop: 16, lineHeight: 1.55 }}&gt;&#10;                    应用不是越多越好 —— 数量增长是技术债的主要来源，组合治理比新建更重要。&#10;                &lt;/Text&gt;&#10;            &lt;/Box&gt;&#10;        &lt;/Box&gt;&#10;&#10;        {/* 右 68% 四步 */}&#10;        &lt;Box style={{ flex: 1, flexDirection: 'column', gap: 12 }}&gt;&#10;            &lt;Text style={{ fontSize: 21, fontWeight: 'bold', color: '#0F1423' }}&gt;四步作业法&lt;/Text&gt;&#10;            {[&#10;                { n: '01', t: '能力映射', d: '把 BA 输出的业务能力逐项映射到承载它的应用系统，识别「一能力多系统」。', k: '能力-应用映射表' },&#10;                { n: '02', t: '应用盘点', d: '建立应用全景清单：上线年份、用户量、技术栈、维护成本、业务关键度。', k: '应用组合清单' },&#10;                { n: '03', t: '热力图评估', d: '以业务价值与技术健康度两维评估，定位高价值高风险、低价值冗余的应用。', k: '应用热力图' },&#10;                { n: '04', t: '组合决策', d: '对每个应用给出建 / 买 / 集成 / 退役四态决策，形成组合演进方向。', k: '组合决策表' },&#10;            ].map((it, i) =&gt; (&#10;                &lt;Box key={i} style={{ flex: 1, flexDirection: 'row', alignItems: 'center', background: '#F7F7F8', borderRadius: 4, padding: '12px 20px', gap: 18, borderLeft: '4px solid #FA4F24' }}&gt;&#10;                    &lt;Text style={{ fontSize: 30, fontWeight: 'bold', color: '#FA4F24', width: 56 }}&gt;{it.n}&lt;/Text&gt;&#10;                    &lt;Box style={{ width: 148 }}&gt;&#10;                        &lt;Text style={{ fontSize: 20, fontWeight: 'bold', color: '#0F1423' }}&gt;{it.t}&lt;/Text&gt;&#10;                    &lt;/Box&gt;&#10;                    &lt;Text style={{ fontSize: 16, color: '#3A4050', lineHeight: 1.45, flex: 1 }}&gt;{it.d}&lt;/Text&gt;&#10;                    &lt;Box style={{ width: 138, background: 'rgba(250,79,36,0.1)', borderRadius: 3, padding: '6px 8px' }}&gt;&#10;                        &lt;Text style={{ fontSize: 13, color: '#C43A17', textAlign: 'center' }}&gt;{it.k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19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之方法：从能力热力图到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应用组合规划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应用架构回答「用什么系统承载」——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起点是业务能力，终点是可治理的应用组合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372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ARCHITECTURE</a:t>
            </a:r>
            <a:endParaRPr/>
          </a:p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AA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应用不是越多越好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数量增长是技术债的主要来源，组合治理比新建更重要。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能力映射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BA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输出的业务能力逐项映射到承载它的应用系统，识别「一能力多系统」。</a:t>
            </a:r>
            <a:endParaRPr/>
          </a:p>
        </p:txBody>
      </p:sp>
      <p:sp>
        <p:nvSpPr>
          <p:cNvPr id="383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能力</a:t>
            </a:r>
            <a:r>
              <a:rPr lang="en-US" sz="975">
                <a:solidFill>
                  <a:srgbClr val="C43A17"/>
                </a:solidFill>
                <a:latin typeface="Microsoft YaHei"/>
                <a:ea typeface="Microsoft YaHei"/>
              </a:rPr>
              <a:t>-</a:t>
            </a: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应用映射表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应用盘点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建立应用全景清单：上线年份、用户量、技术栈、维护成本、业务关键度。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393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热力图评估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以业务价值与技术健康度两维评估，定位高价值高风险、低价值冗余的应用。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应用热力图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00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组合决策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对每个应用给出建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退役四态决策，形成组合演进方向。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组合决策表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19 / 26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447" name="" descr="&lt;Slide style={{ width: 1280, height: 720, background: '#FFFFFF', padding: '24px 64px 0' }}&gt;&#13;&#10;    {/* A 区 */}&#13;&#10;    &lt;Box style={{ height: 96, flexDirection: 'column', justifyContent: 'flex-start' }}&gt;&#13;&#10;        &lt;Text style={{ fontSize: 32, fontWeight: 'bold', color: '#0F1423' }}&gt;&#13;&#10;            AA 之内容：应用组合清单、&lt;span style={{ color: '#FA4F24' }}&gt;集成关系&lt;/span&gt;与架构原则&#13;&#10;        &lt;/Text&gt;&#13;&#10;        &lt;Text style={{ fontSize: 20, color: '#8A8F99', marginTop: 8 }}&gt;&#13;&#10;            清单解决「有什么」，关系图解决「怎么连」，架构原则解决「以后怎么建」&#13;&#10;        &lt;/Text&gt;&#13;&#10;    &lt;/Box&gt;&#13;&#10;    &lt;Box style={{ height: 1, background: '#E8E8E8' }} /&gt;&#13;&#10;&#13;&#10;    {/* B 区 非对称双栏 62:38 */}&#13;&#10;    &lt;Box style={{ paddingTop: 22, paddingBottom: 14, height: 479, flexDirection: 'row', gap: 28 }}&gt;&#13;&#10;&#13;&#10;        {/* 左 62% 清单 + 关系图 */}&#13;&#10;        &lt;Box style={{ flex: 62, flexDirection: 'column', gap: 12 }}&gt;&#13;&#10;            &lt;Text style={{ fontSize: 21, fontWeight: 'bold', color: '#0F1423' }}&gt;交付物一 · 应用组合清单&lt;/Text&gt;&#13;&#10;            &lt;Box style={{ height: 142, flexDirection: 'column', gap: 3 }}&gt;&#13;&#10;                &lt;Box style={{ height: 28, flexDirection: 'row', gap: 4 }}&gt;&#13;&#10;                    {['应用名称', '承载能力', '技术健康度', '业务价值', '决策'].map((t, i) =&gt; (&#13;&#10;                        &lt;Box key={i} style={{ flex: i === 1 ? 2 : 1, background: '#0F1423', borderRadius: 2, justifyContent: 'center' }}&gt;&#13;&#10;                            &lt;Text style={{ fontSize: 13, color: '#FFFFFF', textAlign: 'center' }}&gt;{t}&lt;/Text&gt;&#13;&#10;                        &lt;/Box&gt;&#13;&#10;                    ))}&#13;&#10;                &lt;/Box&gt;&#13;&#10;                {[&#13;&#10;                    ['订单中心', '订单履约', 'B', 'A', '保留'],&#13;&#10;                    ['CRM 旧版', '客户管理', 'D', 'B', '退役'],&#13;&#10;                    ['报表工具 X', '经营分析', 'C', 'C', '集成'],&#13;&#10;                    ['产线 MES', '生产执行', 'B', 'A', '保留'],&#13;&#10;                ].map((row, i) =&gt; (&#13;&#10;                    &lt;Box key={i} style={{ height: 25, flexDirection: 'row', gap: 4 }}&gt;&#13;&#10;                        {row.map((v, j) =&gt; (&#13;&#10;                            &lt;Box key={j} style={{ flex: j === 1 ? 2 : 1, background: i % 2 === 0 ? '#F7F7F8' : '#FBFBFC', borderRadius: 2, justifyContent: 'center' }}&gt;&#13;&#10;                                &lt;Text style={{ fontSize: 13, color: j === 0 ? '#0F1423' : '#5A5F6B', textAlign: 'center' }}&gt;{v}&lt;/Text&gt;&#13;&#10;                            &lt;/Box&gt;&#13;&#10;                        ))}&#13;&#10;                    &lt;/Box&gt;&#13;&#10;                ))}&#13;&#10;            &lt;/Box&gt;&#13;&#10;&#13;&#10;            &lt;Text style={{ fontSize: 21, fontWeight: 'bold', color: '#0F1423', marginTop: 2 }}&gt;交付物二 · 应用集成关系图&lt;/Text&gt;&#13;&#10;            &lt;Box style={{ flex: 1, background: '#FBFBFC', borderRadius: 4, padding: 14 }}&gt;&#13;&#10;                &lt;Box style={{ height: '100%', flexDirection: 'row', alignItems: 'center', gap: 10 }}&gt;&#13;&#10;                    &lt;Box style={{ flexDirection: 'column', gap: 16, width: 120 }}&gt;&#13;&#10;                        &lt;Box style={{ height: 52, background: '#FA4F24', borderRadius: 3, justifyContent: 'center', alignItems: 'center' }}&gt;&#13;&#10;                            &lt;Text style={{ fontSize: 16, fontWeight: 'bold', color: '#FFFFFF' }}&gt;CRM 前端&lt;/Text&gt;&#13;&#10;                        &lt;/Box&gt;&#13;&#10;                        &lt;Box style={{ height: 52, background: '#FBA47A', borderRadius: 3, justifyContent: 'center', alignItems: 'center' }}&gt;&#13;&#10;                            &lt;Text style={{ fontSize: 16, fontWeight: 'bold', color: '#3A1A0A' }}&gt;MES 前端&lt;/Text&gt;&#13;&#10;                        &lt;/Box&gt;&#13;&#10;                    &lt;/Box&gt;&#13;&#10;                    &lt;Text style={{ fontSize: 18, color: '#C9CBD1', flex: 1, textAlign: 'center' }}&gt;⟶&lt;/Text&gt;&#13;&#10;                    &lt;Box style={{ width: 116, height: 120, border: '1.5px solid #FA4F24', borderRadius: 3, justifyContent: 'center', alignItems: 'center', flexDirection: 'column' }}&gt;&#13;&#10;                        &lt;Text style={{ fontSize: 17, fontWeight: 'bold', color: '#FA4F24' }}&gt;集成总线&lt;/Text&gt;&#13;&#10;                        &lt;Text style={{ fontSize: 13, color: '#8A8F99', marginTop: 6 }}&gt;API Gateway&lt;/Text&gt;&#13;&#10;                    &lt;/Box&gt;&#13;&#10;                    &lt;Text style={{ fontSize: 18, color: '#C9CBD1', flex: 1, textAlign: 'center' }}&gt;⟶&lt;/Text&gt;&#13;&#10;                    &lt;Box style={{ flexDirection: 'column', gap: 16, width: 120 }}&gt;&#13;&#10;                        &lt;Box style={{ height: 52, background: '#F87D2F', borderRadius: 3, justifyContent: 'center', alignItems: 'center' }}&gt;&#13;&#10;                            &lt;Text style={{ fontSize: 16, fontWeight: 'bold', color: '#FFFFFF' }}&gt;订单中心&lt;/Text&gt;&#13;&#10;                        &lt;/Box&gt;&#13;&#10;                        &lt;Box style={{ height: 52, background: '#F1F2F4', borderRadius: 3, justifyContent: 'center', alignItems: 'center' }}&gt;&#13;&#10;                            &lt;Text style={{ fontSize: 16, color: '#5A5F6B' }}&gt;数据底座&lt;/Text&gt;&#13;&#10;                        &lt;/Box&gt;&#13;&#10;                    &lt;/Box&gt;&#13;&#10;                &lt;/Box&gt;&#13;&#10;            &lt;/Box&gt;&#13;&#10;        &lt;/Box&gt;&#13;&#10;&#13;&#10;        {/* 右 38% 架构原则 */}&#13;&#10;        &lt;Box style={{ flex: 38, flexDirection: 'column', gap: 10 }}&gt;&#13;&#10;            &lt;Text style={{ fontSize: 21, fontWeight: 'bold', color: '#0F1423' }}&gt;交付物三 · 架构原则&lt;/Text&gt;&#13;&#10;            {[&#13;&#10;                { n: 'P1', t: '核心自建，非核采购', d: '核心能力定制获取差异化，非核心优先成熟产品。' },&#13;&#10;                { n: 'P2', t: '优先 SaaS 而非自建', d: '无差异化诉求的能力不自建，降低维护负担。' },&#13;&#10;                { n: 'P3', t: '集成优于重建', d: '能通过接口复用的，不得另建平行系统。' },&#13;&#10;                { n: 'P4', t: '定期组合评审', d: '每年评估应用组合，淘汰冗余与过时应用。' },&#13;&#10;            ].map((it, i) =&gt; (&#13;&#10;                &lt;Box key={i} style={{ height: 98, background: '#F7F7F8', borderRadius: 4, padding: '12px 16px', flexDirection: 'column', borderLeft: '4px solid #FA4F24' }}&gt;&#13;&#10;                    &lt;Text style={{ fontSize: 16, fontWeight: 'bold', color: '#FA4F24' }}&gt;{it.n}&lt;/Text&gt;&#13;&#10;                    &lt;Text style={{ fontSize: 17, fontWeight: 'bold', color: '#0F1423', marginTop: 6 }}&gt;{it.t}&lt;/Text&gt;&#13;&#10;                    &lt;Text style={{ fontSize: 15, color: '#3A4050', marginTop: 6, lineHeight: 1.45 }}&gt;{it.d}&lt;/Text&gt;&#13;&#10;                &lt;/Box&gt;&#13;&#10;            ))}&#13;&#10;        &lt;/Box&gt;&#13;&#10;    &lt;/Box&gt;&#13;&#10;&#13;&#10;    {/* C 区 */}&#13;&#10;    &lt;Box style={{ height: 60, flexDirection: 'row', alignItems: 'center', justifyContent: 'space-between' }}&gt;&#13;&#10;        &lt;Box style={{ flexDirection: 'row', alignItems: 'center', gap: 10 }}&gt;&#13;&#10;            &lt;Box style={{ width: 14, height: 14, background: '#FA4F24' }} /&gt;&#13;&#10;            &lt;Text style={{ fontSize: 14, color: '#8A8F99' }}&gt;硕磐机密 · EA企业架构咨询方法论&lt;/Text&gt;&#13;&#10;        &lt;/Box&gt;&#13;&#10;        &lt;Text style={{ fontSize: 14, color: '#8A8F99' }}&gt;20 / 26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之内容：应用组合清单、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集成关系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与架构原则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清单解决「有什么」，关系图解决「怎么连」，架构原则解决「以后怎么建」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应用组合清单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应用名称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决策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订单履约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69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471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旧版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客户管理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D</a:t>
            </a:r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81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退役</a:t>
            </a:r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报表工具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X</a:t>
            </a:r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经营分析</a:t>
            </a:r>
            <a:endParaRPr/>
          </a:p>
        </p:txBody>
      </p:sp>
      <p:sp>
        <p:nvSpPr>
          <p:cNvPr id="487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89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C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集成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产线</a:t>
            </a:r>
            <a:r>
              <a:rPr lang="en-US" sz="975">
                <a:solidFill>
                  <a:srgbClr val="0F1423"/>
                </a:solidFill>
                <a:latin typeface="Microsoft YaHei"/>
                <a:ea typeface="Microsoft YaHei"/>
              </a:rPr>
              <a:t xml:space="preserve"> MES</a:t>
            </a:r>
            <a:endParaRPr/>
          </a:p>
        </p:txBody>
      </p:sp>
      <p:sp>
        <p:nvSpPr>
          <p:cNvPr id="495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生产执行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保留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应用集成关系图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505" name=""/>
          <p:cNvSpPr/>
          <p:nvPr/>
        </p:nvSpPr>
        <p:spPr>
          <a:xfrm rot="0" flipH="0" flipV="0">
            <a:off x="742950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952500" y="4162425"/>
            <a:ext cx="723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CRM </a:t>
            </a: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42950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BA47A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971550" y="48101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3A1A0A"/>
                </a:solidFill>
                <a:latin typeface="Microsoft YaHei"/>
                <a:ea typeface="Microsoft YaHei"/>
              </a:rPr>
              <a:t xml:space="preserve">MES </a:t>
            </a:r>
            <a:r>
              <a:rPr lang="zh-CN" sz="1200" b="1">
                <a:solidFill>
                  <a:srgbClr val="3A1A0A"/>
                </a:solidFill>
                <a:latin typeface="Microsoft YaHei"/>
                <a:ea typeface="Microsoft YaHei"/>
              </a:rPr>
              <a:t>前端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981200" y="4476750"/>
            <a:ext cx="1304925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3381375" y="4010025"/>
            <a:ext cx="1104900" cy="1143000"/>
          </a:xfrm>
          <a:prstGeom prst="roundRect">
            <a:avLst>
              <a:gd name="adj" fmla="val 2586"/>
            </a:avLst>
          </a:prstGeom>
          <a:ln w="19050">
            <a:solidFill>
              <a:srgbClr val="FA4F24"/>
            </a:solidFill>
            <a:prstDash val="solid"/>
          </a:ln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609975" y="438150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A4F24"/>
                </a:solidFill>
                <a:latin typeface="Microsoft YaHei"/>
                <a:ea typeface="Microsoft YaHei"/>
              </a:rPr>
              <a:t>集成总线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3562350" y="4638675"/>
            <a:ext cx="752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>API Gateway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4581525" y="4476750"/>
            <a:ext cx="129540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350">
                <a:solidFill>
                  <a:srgbClr val="C9CBD1"/>
                </a:solidFill>
                <a:latin typeface="Microsoft YaHei"/>
                <a:ea typeface="Microsoft YaHei"/>
              </a:rPr>
              <a:t>⟶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972175" y="40100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87D2F"/>
          </a:solidFill>
          <a:ln/>
        </p:spPr>
        <p:txBody>
          <a:bodyPr/>
          <a:p/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6238875" y="41624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订单中心</a:t>
            </a:r>
            <a:endParaRPr/>
          </a:p>
        </p:txBody>
      </p:sp>
      <p:sp>
        <p:nvSpPr>
          <p:cNvPr id="516" name=""/>
          <p:cNvSpPr/>
          <p:nvPr/>
        </p:nvSpPr>
        <p:spPr>
          <a:xfrm rot="0" flipH="0" flipV="0">
            <a:off x="5972175" y="4657725"/>
            <a:ext cx="1143000" cy="495300"/>
          </a:xfrm>
          <a:prstGeom prst="roundRect">
            <a:avLst>
              <a:gd name="adj" fmla="val 5769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238875" y="481012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5F6B"/>
                </a:solidFill>
                <a:latin typeface="Microsoft YaHei"/>
                <a:ea typeface="Microsoft YaHei"/>
              </a:rPr>
              <a:t>数据底座</a:t>
            </a:r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架构原则</a:t>
            </a:r>
            <a:endParaRPr/>
          </a:p>
        </p:txBody>
      </p:sp>
      <p:sp>
        <p:nvSpPr>
          <p:cNvPr id="5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P1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核心自建，非核采购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核心能力定制获取差异化，非核心优先成熟产品。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P2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优先</a:t>
            </a:r>
            <a:r>
              <a:rPr lang="en-US" sz="12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而非自建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无差异化诉求的能力不自建，降低维护负担。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P3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集成优于重建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能通过接口复用的，不得另建平行系统。</a:t>
            </a:r>
            <a:endParaRPr/>
          </a:p>
        </p:txBody>
      </p:sp>
      <p:sp>
        <p:nvSpPr>
          <p:cNvPr id="5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P4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定期组合评审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每年评估应用组合，淘汰冗余与过时应用。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20 / 26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4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AA 之模板：应用卡片与&lt;span style={{ color: '#FA4F24' }}&gt;建·买·集成·退役&lt;/span&gt;决策表&#10;        &lt;/Text&gt;&#10;        &lt;Text style={{ fontSize: 20, color: '#8A8F99', marginTop: 8 }}&gt;&#10;            决策表把「拍脑袋」变成「按标准判定」—— 四个字段就能定一个应用的去向&#10;        &lt;/Text&gt;&#10;    &lt;/Box&gt;&#10;    &lt;Box style={{ height: 1, background: '#E8E8E8' }} /&gt;&#10;&#10;    {/* B 区 上大图 + 下方卡片 */}&#10;    &lt;Box style={{ paddingTop: 20, paddingBottom: 14, height: 479, flexDirection: 'column', gap: 16 }}&gt;&#10;&#10;        {/* 上：应用卡片模板 */}&#10;        &lt;Box style={{ flexDirection: 'column', gap: 10 }}&gt;&#10;            &lt;Text style={{ fontSize: 21, fontWeight: 'bold', color: '#0F1423' }}&gt;模板 A · 应用卡片&lt;/Text&gt;&#10;            &lt;Box style={{ flexDirection: 'row', gap: 12, height: 164 }}&gt;&#10;                &lt;Box style={{ width: 232, background: 'linear-gradient(160deg, #FA4F24 0%, #F87D2F 100%)', borderRadius: 4, padding: 18, flexDirection: 'column' }}&gt;&#10;                    &lt;Text style={{ fontSize: 13, color: 'rgba(255,255,255,0.8)', letterSpacing: 1 }}&gt;APPLICATION CARD&lt;/Text&gt;&#10;                    &lt;Text style={{ fontSize: 24, fontWeight: 'bold', color: '#FFFFFF', marginTop: 8 }}&gt;应用卡片&lt;/Text&gt;&#10;                    &lt;Box style={{ marginTop: 'auto' }}&gt;&#10;                        &lt;Text style={{ fontSize: 14, color: 'rgba(255,255,255,0.9)', lineHeight: 1.5 }}&gt;&#10;                            示例：订单中心&#10;                            &lt;br /&gt;&#10;                            承载能力：订单履约 · 决策：保留&#10;                        &lt;/Text&gt;&#10;                    &lt;/Box&gt;&#10;                &lt;/Box&gt;&#10;                {[&#10;                    { f: '应用编号', v: 'AA-ORD-001', note: '全局唯一' },&#10;                    { f: '承载能力', v: '订单履约（BA-SCM-014）', note: '必须挂到能力' },&#10;                    { f: '技术健康度', v: 'B（主流栈 / 可维护）', note: 'A→D 四级' },&#10;                    { f: '业务价值', v: 'A（核心关键）', note: '与能力重要度一致' },&#10;                ].map((it, i) =&gt; (&#10;                    &lt;Box key={i} style={{ flex: 1, background: '#F7F7F8', borderRadius: 4, padding: '14px 16px', flexDirection: 'column' }}&gt;&#10;                        &lt;Text style={{ fontSize: 15, fontWeight: 'bold', color: '#FA4F24' }}&gt;{it.f}&lt;/Text&gt;&#10;                        &lt;Text style={{ fontSize: 16, color: '#0F1423', marginTop: 8, lineHeight: 1.4 }}&gt;{it.v}&lt;/Text&gt;&#10;                        &lt;Box style={{ marginTop: 'auto' }}&gt;&#10;                            &lt;Text style={{ fontSize: 13, color: '#8A8F99' }}&gt;{it.note}&lt;/Text&gt;&#10;                        &lt;/Box&gt;&#10;                    &lt;/Box&gt;&#10;                ))}&#10;            &lt;/Box&gt;&#10;        &lt;/Box&gt;&#10;&#10;        {/* 下：四态决策表 */}&#10;        &lt;Box style={{ flexDirection: 'column', gap: 10, flex: 1 }}&gt;&#10;            &lt;Text style={{ fontSize: 21, fontWeight: 'bold', color: '#0F1423' }}&gt;模板 B · 建 · 买 · 集成 · 退役 决策表&lt;/Text&gt;&#10;            &lt;Box style={{ flexDirection: 'row', gap: 12, flex: 1 }}&gt;&#10;                {[&#10;                    { k: '建 Build', when: '核心能力 + 无成熟产品', sig: '战略价值高 / 差异化强', c: '#FA4F24' },&#10;                    { k: '买 Buy', when: '非核心 + 市场成熟', sig: '可标准化 / 采购成本优', c: '#F87D2F' },&#10;                    { k: '集成 Integrate', when: '已有系统可复用', sig: '接口可打通 / 改造成本低', c: '#FBA47A' },&#10;                    { k: '退役 Retire', when: '低价值 + 高维护成本', sig: '功能可替代 / 用户少', c: '#0F1423' },&#10;                ].map((it, i) =&gt; (&#10;                    &lt;Box key={i} style={{ flex: 1, background: '#F7F7F8', borderRadius: 4, padding: '16px 18px', flexDirection: 'column', borderTop: '4px solid ' + it.c }}&gt;&#10;                        &lt;Text style={{ fontSize: 20, fontWeight: 'bold', color: it.c }}&gt;{it.k}&lt;/Text&gt;&#10;                        &lt;Text style={{ fontSize: 16, color: '#0F1423', marginTop: 12, lineHeight: 1.45 }}&gt;{it.when}&lt;/Text&gt;&#10;                        &lt;Box style={{ marginTop: 'auto', background: 'rgba(250,79,36,0.08)', borderRadius: 3, padding: '8px 10px' }}&gt;&#10;                            &lt;Text style={{ fontSize: 14, color: '#C43A17' }}&gt;判定信号：{it.sig}&lt;/Text&gt;&#10;                        &lt;/Box&gt;&#10;                    &lt;/Box&gt;&#10;                ))}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21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之模板：应用卡片与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建·买·集成·退役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决策表把「拍脑袋」变成「按标准判定」——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四个字段就能定一个应用的去向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609600" y="1685925"/>
            <a:ext cx="2209800" cy="1571625"/>
          </a:xfrm>
          <a:prstGeom prst="roundRect">
            <a:avLst>
              <a:gd name="adj" fmla="val 2424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781050" y="1857375"/>
            <a:ext cx="1866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APPLICATION CARD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1866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应用卡片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18669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示例：订单中心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承载能力：订单履约</a:t>
            </a:r>
            <a:r>
              <a:rPr lang="en-US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决策：保留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29337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30861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应用编号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30861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AA-ORD-001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30861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全局唯一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51244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52768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承载能力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5276850" y="2066925"/>
            <a:ext cx="177165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订单履约（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BA-SCM-014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）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52768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必须挂到能力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731520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746760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技术健康度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746760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B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（主流栈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可维护）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746760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8F99"/>
                </a:solidFill>
                <a:latin typeface="Microsoft YaHei"/>
                <a:ea typeface="Microsoft YaHei"/>
              </a:rPr>
              <a:t xml:space="preserve">A→D </a:t>
            </a: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四级</a:t>
            </a:r>
            <a:endParaRPr/>
          </a:p>
        </p:txBody>
      </p:sp>
      <p:sp>
        <p:nvSpPr>
          <p:cNvPr id="564" name=""/>
          <p:cNvSpPr/>
          <p:nvPr/>
        </p:nvSpPr>
        <p:spPr>
          <a:xfrm rot="0" flipH="0" flipV="0">
            <a:off x="9505950" y="1685925"/>
            <a:ext cx="2076450" cy="1562100"/>
          </a:xfrm>
          <a:prstGeom prst="roundRect">
            <a:avLst>
              <a:gd name="adj" fmla="val 2439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9658350" y="1819275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A4F24"/>
                </a:solidFill>
                <a:latin typeface="Microsoft YaHei"/>
                <a:ea typeface="Microsoft YaHei"/>
              </a:rPr>
              <a:t>业务价值</a:t>
            </a:r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9658350" y="20669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>A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（核心关键）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658350" y="2962275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8F99"/>
                </a:solidFill>
                <a:latin typeface="Microsoft YaHei"/>
                <a:ea typeface="Microsoft YaHei"/>
              </a:rPr>
              <a:t>与能力重要度一致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建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买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集成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决策表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60960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0" name=""/>
          <p:cNvSpPr/>
          <p:nvPr/>
        </p:nvSpPr>
        <p:spPr>
          <a:xfrm rot="0" flipH="0" flipV="0">
            <a:off x="60960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8105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A4F24"/>
                </a:solidFill>
                <a:latin typeface="Microsoft YaHei"/>
                <a:ea typeface="Microsoft YaHei"/>
              </a:rPr>
              <a:t>建</a:t>
            </a:r>
            <a:r>
              <a:rPr lang="en-US" sz="15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Build</a:t>
            </a:r>
            <a:endParaRPr/>
          </a:p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核心能力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无成熟产品</a:t>
            </a:r>
            <a:endParaRPr/>
          </a:p>
        </p:txBody>
      </p:sp>
      <p:sp>
        <p:nvSpPr>
          <p:cNvPr id="573" name=""/>
          <p:cNvSpPr/>
          <p:nvPr/>
        </p:nvSpPr>
        <p:spPr>
          <a:xfrm rot="0" flipH="0" flipV="0">
            <a:off x="781050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876300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战略价值高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差异化强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338137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338137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87D2F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355282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7D2F"/>
                </a:solidFill>
                <a:latin typeface="Microsoft YaHei"/>
                <a:ea typeface="Microsoft YaHei"/>
              </a:rPr>
              <a:t>买</a:t>
            </a:r>
            <a:r>
              <a:rPr lang="en-US" sz="1500" b="1">
                <a:solidFill>
                  <a:srgbClr val="F87D2F"/>
                </a:solidFill>
                <a:latin typeface="Microsoft YaHei"/>
                <a:ea typeface="Microsoft YaHei"/>
              </a:rPr>
              <a:t xml:space="preserve"> Buy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355282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非核心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市场成熟</a:t>
            </a:r>
            <a:endParaRPr/>
          </a:p>
        </p:txBody>
      </p:sp>
      <p:sp>
        <p:nvSpPr>
          <p:cNvPr id="579" name=""/>
          <p:cNvSpPr/>
          <p:nvPr/>
        </p:nvSpPr>
        <p:spPr>
          <a:xfrm rot="0" flipH="0" flipV="0">
            <a:off x="355282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364807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可标准化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采购成本优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6153150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2" name=""/>
          <p:cNvSpPr/>
          <p:nvPr/>
        </p:nvSpPr>
        <p:spPr>
          <a:xfrm rot="0" flipH="0" flipV="0">
            <a:off x="6153150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FBA47A"/>
          </a:solidFill>
          <a:ln/>
        </p:spPr>
        <p:txBody>
          <a:bodyPr/>
          <a:p/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6324600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BA47A"/>
                </a:solidFill>
                <a:latin typeface="Microsoft YaHei"/>
                <a:ea typeface="Microsoft YaHei"/>
              </a:rPr>
              <a:t>集成</a:t>
            </a:r>
            <a:r>
              <a:rPr lang="en-US" sz="1500" b="1">
                <a:solidFill>
                  <a:srgbClr val="FBA47A"/>
                </a:solidFill>
                <a:latin typeface="Microsoft YaHei"/>
                <a:ea typeface="Microsoft YaHei"/>
              </a:rPr>
              <a:t xml:space="preserve"> Integrate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324600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已有系统可复用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324600" y="4953000"/>
            <a:ext cx="2314575" cy="476250"/>
          </a:xfrm>
          <a:prstGeom prst="roundRect">
            <a:avLst>
              <a:gd name="adj" fmla="val 6000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6419850" y="5029200"/>
            <a:ext cx="2124075" cy="323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接口可打通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改造成本低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8924925" y="3781425"/>
            <a:ext cx="2657475" cy="1838325"/>
          </a:xfrm>
          <a:prstGeom prst="roundRect">
            <a:avLst>
              <a:gd name="adj" fmla="val 2073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588" name=""/>
          <p:cNvSpPr/>
          <p:nvPr/>
        </p:nvSpPr>
        <p:spPr>
          <a:xfrm rot="0" flipH="0" flipV="0">
            <a:off x="8924925" y="3781425"/>
            <a:ext cx="2657475" cy="1838325"/>
          </a:xfrm>
          <a:custGeom>
            <a:pathLst>
              <a:path w="279" h="193">
                <a:moveTo>
                  <a:pt x="275" y="0"/>
                </a:moveTo>
                <a:cubicBezTo>
                  <a:pt x="277" y="0"/>
                  <a:pt x="279" y="2"/>
                  <a:pt x="279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275" y="0"/>
                </a:lnTo>
                <a:close/>
              </a:path>
            </a:pathLst>
          </a:custGeom>
          <a:solidFill>
            <a:srgbClr val="0F1423"/>
          </a:solidFill>
          <a:ln/>
        </p:spPr>
        <p:txBody>
          <a:bodyPr/>
          <a:p/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9096375" y="3933825"/>
            <a:ext cx="2314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退役</a:t>
            </a:r>
            <a:r>
              <a:rPr lang="en-US" sz="15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Retire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9096375" y="4276725"/>
            <a:ext cx="2314575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低价值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高维护成本</a:t>
            </a:r>
            <a:endParaRPr/>
          </a:p>
        </p:txBody>
      </p:sp>
      <p:sp>
        <p:nvSpPr>
          <p:cNvPr id="591" name=""/>
          <p:cNvSpPr/>
          <p:nvPr/>
        </p:nvSpPr>
        <p:spPr>
          <a:xfrm rot="0" flipH="0" flipV="0">
            <a:off x="9096375" y="5114925"/>
            <a:ext cx="2314575" cy="314325"/>
          </a:xfrm>
          <a:prstGeom prst="roundRect">
            <a:avLst>
              <a:gd name="adj" fmla="val 9091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9191625" y="519112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判定信号：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功能可替代</a:t>
            </a:r>
            <a:r>
              <a:rPr lang="en-US" sz="1050">
                <a:solidFill>
                  <a:srgbClr val="C43A1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C43A17"/>
                </a:solidFill>
                <a:latin typeface="Microsoft YaHei"/>
                <a:ea typeface="Microsoft YaHei"/>
              </a:rPr>
              <a:t>用户少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21 / 26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96" name="" descr="&lt;Slide style={{ width: 1280, height: 720, background: 'linear-gradient(135deg, #0F1423 0%, #2A1810 100%)', position: 'relative', padding: 0 }}&gt;&#13;&#10;    &lt;Box style={{ position: 'absolute', top: 118, left: 60 }}&gt;&#13;&#10;        &lt;Text style={{ fontSize: 300, fontWeight: 'bold', color: 'rgba(255,255,255,0.07)', lineHeight: 1.0 }}&gt;&#13;&#10;            06&#13;&#10;        &lt;/Text&gt;&#13;&#10;    &lt;/Box&gt;&#13;&#10;    &lt;Box style={{ position: 'absolute', top: 268, left: 640, width: 5, height: 152, background: '#FA4F24' }} /&gt;&#13;&#10;    &lt;Box style={{ position: 'absolute', top: 276, left: 688, width: 538 }}&gt;&#13;&#10;        &lt;Text style={{ fontSize: 64, fontWeight: 'bold', color: '#FFFFFF', lineHeight: 1.1 }}&gt;&#13;&#10;            TA 咨询方法论&#13;&#10;        &lt;/Text&gt;&#13;&#10;        &lt;Text style={{ fontSize: 20, color: 'rgba(255,255,255,0.62)', marginTop: 18, letterSpacing: 2 }}&gt;&#13;&#10;            TECHNOLOGY ARCHITECTURE&#13;&#10;        &lt;/Text&gt;&#13;&#10;        &lt;Text style={{ fontSize: 20, color: 'rgba(255,255,255,0.86)', marginTop: 22, lineHeight: 1.5 }}&gt;&#13;&#10;            以架构确定性应对技术不确定性：方法、内容、模板&#13;&#10;        &lt;/Text&gt;&#13;&#10;    &lt;/Box&gt;&#13;&#10;    &lt;Box style={{ position: 'absolute', bottom: 0, left: 0, width: 1280, height: 6, background: '#FA4F24' }} /&gt;&#13;&#10;    &lt;Box style={{ position: 'absolute', bottom: 42, left: 688, flexDirection: 'row', alignItems: 'center', gap: 10 }}&gt;&#13;&#10;        &lt;Box style={{ width: 14, height: 14, background: '#FA4F24' }} /&gt;&#13;&#10;        &lt;Text style={{ fontSize: 14, color: 'rgba(255,255,255,0.5)' }}&gt;硕磐机密 · EA企业架构咨询方法论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571500" y="1123950"/>
            <a:ext cx="3533775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7000"/>
                  </a:srgbClr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6096000" y="2552700"/>
            <a:ext cx="47625" cy="144780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553200" y="2628900"/>
            <a:ext cx="5124450" cy="8096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咨询方法论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6553200" y="3609975"/>
            <a:ext cx="512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1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6553200" y="4048125"/>
            <a:ext cx="51244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86000"/>
                  </a:srgbClr>
                </a:solidFill>
                <a:latin typeface="Microsoft YaHei"/>
                <a:ea typeface="Microsoft YaHei"/>
              </a:rPr>
              <a:t>以架构确定性应对技术不确定性：方法、内容、模板</a:t>
            </a:r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0" y="6800850"/>
            <a:ext cx="12192000" cy="571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4" name=""/>
          <p:cNvSpPr/>
          <p:nvPr/>
        </p:nvSpPr>
        <p:spPr>
          <a:xfrm rot="0" flipH="0" flipV="0">
            <a:off x="6553200" y="63150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6781800" y="62960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5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06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TA 之方法：以&lt;span style={{ color: '#FA4F24' }}&gt;架构确定性&lt;/span&gt;应对技术不确定性&#10;        &lt;/Text&gt;&#10;        &lt;Text style={{ fontSize: 20, color: '#8A8F99', marginTop: 8 }}&gt;&#10;            技术架构回答「用什么支撑」—— 技术会过时，但分层与标准可以长期稳定&#10;        &lt;/Text&gt;&#10;    &lt;/Box&gt;&#10;    &lt;Box style={{ height: 1, background: '#E8E8E8' }} /&gt;&#10;&#10;    {/* B 区 左标题栏 + 右四步 */}&#10;    &lt;Box style={{ paddingTop: 24, paddingBottom: 14, height: 479, flexDirection: 'row', gap: 24 }}&gt;&#10;&#10;        {/* 左 32% */}&#10;        &lt;Box style={{&#10;            width: 336, background: 'linear-gradient(160deg, #FA4F24 0%, #F87D2F 100%)',&#10;            borderRadius: 4, padding: 28, flexDirection: 'column', justifyContent: 'space-between',&#10;        }}&gt;&#10;            &lt;Box&gt;&#10;                &lt;Text style={{ fontSize: 15, color: 'rgba(255,255,255,0.8)', letterSpacing: 2 }}&gt;TECHNOLOGY ARCHITECTURE&lt;/Text&gt;&#10;                &lt;Text style={{ fontSize: 30, fontWeight: 'bold', color: '#FFFFFF', marginTop: 14, lineHeight: 1.25 }}&gt;&#10;                    TA&#10;                    &lt;br /&gt;&#10;                    技术架构&#10;                &lt;/Text&gt;&#10;            &lt;/Box&gt;&#10;            &lt;Box&gt;&#10;                &lt;Box style={{ width: 44, height: 4, background: 'rgba(255,255,255,0.7)' }} /&gt;&#10;                &lt;Text style={{ fontSize: 17, color: 'rgba(255,255,255,0.94)', marginTop: 16, lineHeight: 1.55 }}&gt;&#10;                    不在单点技术上押注，而在分层结构与接口标准上投资 —— 让技术换代不推翻业务。&#10;                &lt;/Text&gt;&#10;            &lt;/Box&gt;&#10;        &lt;/Box&gt;&#10;&#10;        {/* 右 68% 四步 */}&#10;        &lt;Box style={{ flex: 1, flexDirection: 'column', gap: 12 }}&gt;&#10;            &lt;Text style={{ fontSize: 21, fontWeight: 'bold', color: '#0F1423' }}&gt;四步作业法&lt;/Text&gt;&#10;            {[&#10;                { n: '01', t: '需求输入', d: '从 AA 的应用组合与 DA 的数据规模反推技术需求：并发、时延、容量、可用性。', k: '技术需求基线' },&#10;                { n: '02', t: '分层设计', d: '按基础设施 / 平台 / 数据 / 集成 / 安全五层划分，明确每层职责与层间接口。', k: '技术分层蓝图' },&#10;                { n: '03', t: '选型评估', d: '对候选技术做成熟度、生态、成本、锁定风险四维评估，给出推荐与理由。', k: '选型评估矩阵' },&#10;                { n: '04', t: '演进路线', d: '把目标态拆为三阶段，标注里程碑与退坡路径，避免一次性大替换。', k: '技术演进路线图' },&#10;            ].map((it, i) =&gt; (&#10;                &lt;Box key={i} style={{ flex: 1, flexDirection: 'row', alignItems: 'center', background: '#F7F7F8', borderRadius: 4, padding: '12px 20px', gap: 18, borderLeft: '4px solid #FA4F24' }}&gt;&#10;                    &lt;Text style={{ fontSize: 30, fontWeight: 'bold', color: '#FA4F24', width: 56 }}&gt;{it.n}&lt;/Text&gt;&#10;                    &lt;Box style={{ width: 148 }}&gt;&#10;                        &lt;Text style={{ fontSize: 20, fontWeight: 'bold', color: '#0F1423' }}&gt;{it.t}&lt;/Text&gt;&#10;                    &lt;/Box&gt;&#10;                    &lt;Text style={{ fontSize: 16, color: '#3A4050', lineHeight: 1.45, flex: 1 }}&gt;{it.d}&lt;/Text&gt;&#10;                    &lt;Box style={{ width: 138, background: 'rgba(250,79,36,0.1)', borderRadius: 3, padding: '6px 8px' }}&gt;&#10;                        &lt;Text style={{ fontSize: 13, color: '#C43A17', textAlign: 'center' }}&gt;{it.k}&lt;/Text&gt;&#10;                    &lt;/Box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23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之方法：以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架构确定性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应对技术不确定性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技术架构回答「用什么支撑」——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技术会过时，但分层与标准可以长期稳定</a:t>
            </a:r>
            <a:endParaRPr/>
          </a:p>
        </p:txBody>
      </p:sp>
      <p:sp>
        <p:nvSpPr>
          <p:cNvPr id="610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11" name=""/>
          <p:cNvSpPr/>
          <p:nvPr/>
        </p:nvSpPr>
        <p:spPr>
          <a:xfrm rot="0" flipH="0" flipV="0">
            <a:off x="609600" y="1381125"/>
            <a:ext cx="3200400" cy="4200525"/>
          </a:xfrm>
          <a:prstGeom prst="roundRect">
            <a:avLst>
              <a:gd name="adj" fmla="val 1190"/>
            </a:avLst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876300" y="1647825"/>
            <a:ext cx="2667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FFFFF">
                    <a:alpha val="80000"/>
                  </a:srgbClr>
                </a:solidFill>
                <a:latin typeface="Microsoft YaHei"/>
                <a:ea typeface="Microsoft YaHei"/>
              </a:rPr>
              <a:t>TECHNOLOGY ARCHITECTURE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876300" y="1952625"/>
            <a:ext cx="266700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TA</a:t>
            </a:r>
            <a:endParaRPr/>
          </a:p>
          <a:p>
            <a:pPr>
              <a:lnSpc>
                <a:spcPct val="125000"/>
              </a:lnSpc>
            </a:pP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876300" y="4219575"/>
            <a:ext cx="419100" cy="381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876300" y="4410075"/>
            <a:ext cx="266700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不在单点技术上押注，而在分层结构与接口标准上投资</a:t>
            </a:r>
            <a:r>
              <a:rPr lang="en-US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75">
                <a:solidFill>
                  <a:srgbClr val="FFFFFF">
                    <a:alpha val="94000"/>
                  </a:srgbClr>
                </a:solidFill>
                <a:latin typeface="Microsoft YaHei"/>
                <a:ea typeface="Microsoft YaHei"/>
              </a:rPr>
              <a:t>让技术换代不推翻业务。</a:t>
            </a:r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4038600" y="1381125"/>
            <a:ext cx="7543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四步作业法</a:t>
            </a:r>
            <a:endParaRPr/>
          </a:p>
        </p:txBody>
      </p:sp>
      <p:sp>
        <p:nvSpPr>
          <p:cNvPr id="617" name=""/>
          <p:cNvSpPr/>
          <p:nvPr/>
        </p:nvSpPr>
        <p:spPr>
          <a:xfrm rot="0" flipH="0" flipV="0">
            <a:off x="4076700" y="17430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18" name=""/>
          <p:cNvSpPr/>
          <p:nvPr/>
        </p:nvSpPr>
        <p:spPr>
          <a:xfrm rot="0" flipH="0" flipV="0">
            <a:off x="4076700" y="17430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4267200" y="20097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972050" y="20669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需求输入</a:t>
            </a:r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6553200" y="19145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AA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的应用组合与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DA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的数据规模反推技术需求：并发、时延、容量、可用性。</a:t>
            </a:r>
            <a:endParaRPr/>
          </a:p>
        </p:txBody>
      </p:sp>
      <p:sp>
        <p:nvSpPr>
          <p:cNvPr id="622" name=""/>
          <p:cNvSpPr/>
          <p:nvPr/>
        </p:nvSpPr>
        <p:spPr>
          <a:xfrm rot="0" flipH="0" flipV="0">
            <a:off x="10077450" y="20478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10153650" y="21050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技术需求基线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4076700" y="2733675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25" name=""/>
          <p:cNvSpPr/>
          <p:nvPr/>
        </p:nvSpPr>
        <p:spPr>
          <a:xfrm rot="0" flipH="0" flipV="0">
            <a:off x="4076700" y="2733675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4267200" y="30003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4972050" y="30575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分层设计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53200" y="29051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按基础设施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平台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数据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集成</a:t>
            </a:r>
            <a:r>
              <a:rPr lang="en-US" sz="120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安全五层划分，明确每层职责与层间接口。</a:t>
            </a:r>
            <a:endParaRPr/>
          </a:p>
        </p:txBody>
      </p:sp>
      <p:sp>
        <p:nvSpPr>
          <p:cNvPr id="629" name=""/>
          <p:cNvSpPr/>
          <p:nvPr/>
        </p:nvSpPr>
        <p:spPr>
          <a:xfrm rot="0" flipH="0" flipV="0">
            <a:off x="10077450" y="30384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10153650" y="30956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技术分层蓝图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4076700" y="3724275"/>
            <a:ext cx="7543800" cy="866775"/>
          </a:xfrm>
          <a:prstGeom prst="roundRect">
            <a:avLst>
              <a:gd name="adj" fmla="val 4396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2" name=""/>
          <p:cNvSpPr/>
          <p:nvPr/>
        </p:nvSpPr>
        <p:spPr>
          <a:xfrm rot="0" flipH="0" flipV="0">
            <a:off x="4076700" y="3724275"/>
            <a:ext cx="7543800" cy="866775"/>
          </a:xfrm>
          <a:custGeom>
            <a:pathLst>
              <a:path w="792" h="91">
                <a:moveTo>
                  <a:pt x="4" y="91"/>
                </a:moveTo>
                <a:cubicBezTo>
                  <a:pt x="2" y="91"/>
                  <a:pt x="0" y="89"/>
                  <a:pt x="0" y="87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1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4267200" y="3990975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4972050" y="4048125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选型评估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553200" y="3895725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对候选技术做成熟度、生态、成本、锁定风险四维评估，给出推荐与理由。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10077450" y="4029075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10153650" y="4086225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选型评估矩阵</a:t>
            </a:r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4076700" y="4705350"/>
            <a:ext cx="7543800" cy="876300"/>
          </a:xfrm>
          <a:prstGeom prst="roundRect">
            <a:avLst>
              <a:gd name="adj" fmla="val 4348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39" name=""/>
          <p:cNvSpPr/>
          <p:nvPr/>
        </p:nvSpPr>
        <p:spPr>
          <a:xfrm rot="0" flipH="0" flipV="0">
            <a:off x="4076700" y="4705350"/>
            <a:ext cx="7543800" cy="876300"/>
          </a:xfrm>
          <a:custGeom>
            <a:pathLst>
              <a:path w="792" h="92">
                <a:moveTo>
                  <a:pt x="4" y="92"/>
                </a:moveTo>
                <a:cubicBezTo>
                  <a:pt x="2" y="92"/>
                  <a:pt x="0" y="90"/>
                  <a:pt x="0" y="8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2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4267200" y="49720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A4F24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4972050" y="5029200"/>
            <a:ext cx="140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423"/>
                </a:solidFill>
                <a:latin typeface="Microsoft YaHei"/>
                <a:ea typeface="Microsoft YaHei"/>
              </a:rPr>
              <a:t>演进路线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553200" y="4876800"/>
            <a:ext cx="33528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200">
                <a:solidFill>
                  <a:srgbClr val="3A4050"/>
                </a:solidFill>
                <a:latin typeface="Microsoft YaHei"/>
                <a:ea typeface="Microsoft YaHei"/>
              </a:rPr>
              <a:t>把目标态拆为三阶段，标注里程碑与退坡路径，避免一次性大替换。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10077450" y="5010150"/>
            <a:ext cx="1314450" cy="266700"/>
          </a:xfrm>
          <a:prstGeom prst="roundRect">
            <a:avLst>
              <a:gd name="adj" fmla="val 10714"/>
            </a:avLst>
          </a:prstGeom>
          <a:solidFill>
            <a:srgbClr val="FA4F24">
              <a:alpha val="10000"/>
            </a:srgbClr>
          </a:solidFill>
          <a:ln/>
        </p:spPr>
        <p:txBody>
          <a:bodyPr/>
          <a:p/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10153650" y="5067300"/>
            <a:ext cx="11620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C43A17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23 / 26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48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TA 之内容：技术组件、&lt;span style={{ color: '#FA4F24' }}&gt;部署视图&lt;/span&gt;与标准规范&#10;        &lt;/Text&gt;&#10;        &lt;Text style={{ fontSize: 20, color: '#8A8F99', marginTop: 8 }}&gt;&#10;            组件清单解决「用什么」，部署视图解决「放哪里」，标准规范解决「怎么管」&#10;        &lt;/Text&gt;&#10;    &lt;/Box&gt;&#10;    &lt;Box style={{ height: 1, background: '#E8E8E8' }} /&gt;&#10;&#10;    {/* B 区 非对称双栏 62:38 */}&#10;    &lt;Box style={{ paddingTop: 22, paddingBottom: 14, height: 479, flexDirection: 'row', gap: 28 }}&gt;&#10;&#10;        {/* 左 62% 组件清单 + 部署视图 */}&#10;        &lt;Box style={{ flex: 62, flexDirection: 'column', gap: 12 }}&gt;&#10;            &lt;Text style={{ fontSize: 21, fontWeight: 'bold', color: '#0F1423' }}&gt;交付物一 · 技术组件清单&lt;/Text&gt;&#10;            &lt;Box style={{ height: 142, flexDirection: 'column', gap: 3 }}&gt;&#10;                &lt;Box style={{ height: 28, flexDirection: 'row', gap: 4 }}&gt;&#10;                    {['技术层', '代表性组件', '成熟度', '锁定风险', '策略'].map((t, i) =&gt; (&#10;                        &lt;Box key={i} style={{ flex: i === 1 ? 2 : 1, background: '#0F1423', borderRadius: 2, justifyContent: 'center' }}&gt;&#10;                            &lt;Text style={{ fontSize: 13, color: '#FFFFFF', textAlign: 'center' }}&gt;{t}&lt;/Text&gt;&#10;                        &lt;/Box&gt;&#10;                    ))}&#10;                &lt;/Box&gt;&#10;                {[&#10;                    ['基础设施', '容器平台 / 云主机', '高', '中', '云原生'],&#10;                    ['数据平台', '数据湖 / 数仓', '高', '低', '湖仓一体'],&#10;                    ['集成层', 'API 网关 / 消息', '高', '低', '统一网关'],&#10;                    ['安全层', '统一身份 / 审计', '中', '低', '零信任'],&#10;                ].map((row, i) =&gt; (&#10;                    &lt;Box key={i} style={{ height: 25, flexDirection: 'row', gap: 4 }}&gt;&#10;                        {row.map((v, j) =&gt; (&#10;                            &lt;Box key={j} style={{ flex: j === 1 ? 2 : 1, background: i % 2 === 0 ? '#F7F7F8' : '#FBFBFC', borderRadius: 2, justifyContent: 'center' }}&gt;&#10;                                &lt;Text style={{ fontSize: 13, color: j === 0 ? '#0F1423' : '#5A5F6B', textAlign: 'center' }}&gt;{v}&lt;/Text&gt;&#10;                            &lt;/Box&gt;&#10;                        ))}&#10;                    &lt;/Box&gt;&#10;                ))}&#10;            &lt;/Box&gt;&#10;&#10;            &lt;Text style={{ fontSize: 21, fontWeight: 'bold', color: '#0F1423', marginTop: 2 }}&gt;交付物二 · 部署视图&lt;/Text&gt;&#10;            &lt;Box style={{ flex: 1, background: '#FBFBFC', borderRadius: 4, padding: 14 }}&gt;&#10;                &lt;Box style={{ height: '100%', flexDirection: 'column', gap: 8, justifyContent: 'center' }}&gt;&#10;                    &lt;Box style={{ height: 44, border: '1.5px solid #C9CBD1', borderRadius: 3, flexDirection: 'row', alignItems: 'center', padding: '0 14px', gap: 12 }}&gt;&#10;                        &lt;Text style={{ fontSize: 15, fontWeight: 'bold', color: '#5A5F6B', width: 92 }}&gt;生产环境&lt;/Text&gt;&#10;                        &lt;Box style={{ flex: 1, height: 22, background: '#FA4F24', borderRadius: 2, justifyContent: 'center' }}&gt;&#10;                            &lt;Text style={{ fontSize: 12, color: '#FFFFFF', textAlign: 'center' }}&gt;核心应用集群 · 双活&lt;/Text&gt;&#10;                        &lt;/Box&gt;&#10;                    &lt;/Box&gt;&#10;                    &lt;Box style={{ height: 44, border: '1.5px solid #C9CBD1', borderRadius: 3, flexDirection: 'row', alignItems: 'center', padding: '0 14px', gap: 12 }}&gt;&#10;                        &lt;Text style={{ fontSize: 15, fontWeight: 'bold', color: '#5A5F6B', width: 92 }}&gt;灾备中心&lt;/Text&gt;&#10;                        &lt;Box style={{ flex: 1, height: 22, background: '#FBA47A', borderRadius: 2, justifyContent: 'center' }}&gt;&#10;                            &lt;Text style={{ fontSize: 12, color: '#3A1A0A', textAlign: 'center' }}&gt;同城灾备 · 数据实时同步&lt;/Text&gt;&#10;                        &lt;/Box&gt;&#10;                    &lt;/Box&gt;&#10;                    &lt;Box style={{ height: 44, border: '1.5px dashed #C9CBD1', borderRadius: 3, flexDirection: 'row', alignItems: 'center', padding: '0 14px', gap: 12 }}&gt;&#10;                        &lt;Text style={{ fontSize: 15, fontWeight: 'bold', color: '#8A8F99', width: 92 }}&gt;测试环境&lt;/Text&gt;&#10;                        &lt;Box style={{ flex: 1, height: 22, background: '#F1F2F4', borderRadius: 2, justifyContent: 'center' }}&gt;&#10;                            &lt;Text style={{ fontSize: 12, color: '#5A5F6B', textAlign: 'center' }}&gt;与生产隔离 · 数据脱敏&lt;/Text&gt;&#10;                        &lt;/Box&gt;&#10;                    &lt;/Box&gt;&#10;                &lt;/Box&gt;&#10;            &lt;/Box&gt;&#10;        &lt;/Box&gt;&#10;&#10;        {/* 右 38% 标准规范 */}&#10;        &lt;Box style={{ flex: 38, flexDirection: 'column', gap: 10 }}&gt;&#10;            &lt;Text style={{ fontSize: 21, fontWeight: 'bold', color: '#0F1423' }}&gt;交付物三 · 技术标准规范&lt;/Text&gt;&#10;            {[&#10;                { n: 'S1', t: '技术选型标准', d: '明确各层准入技术清单与禁用清单，选型须走评估流程。' },&#10;                { n: 'S2', t: '接口与集成标准', d: '统一 API 风格、版本策略、鉴权方式与错误码规范。' },&#10;                { n: 'S3', t: '部署与运维标准', d: '环境分层、发布流程、容量阈值与监控告警基线。' },&#10;                { n: 'S4', t: '安全与合规标准', d: '数据分级、访问控制、日志留痕与等保合规要求。' },&#10;            ].map((it, i) =&gt; (&#10;                &lt;Box key={i} style={{ height: 98, background: '#F7F7F8', borderRadius: 4, padding: '12px 16px', flexDirection: 'column', borderLeft: '4px solid #FA4F24' }}&gt;&#10;                    &lt;Text style={{ fontSize: 16, fontWeight: 'bold', color: '#FA4F24' }}&gt;{it.n}&lt;/Text&gt;&#10;                    &lt;Text style={{ fontSize: 17, fontWeight: 'bold', color: '#0F1423', marginTop: 6 }}&gt;{it.t}&lt;/Text&gt;&#10;                    &lt;Text style={{ fontSize: 15, color: '#3A4050', marginTop: 6, lineHeight: 1.45 }}&gt;{it.d}&lt;/Text&gt;&#10;                &lt;/Box&gt;&#10;            ))}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24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之内容：技术组件、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部署视图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与标准规范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组件清单解决「用什么」，部署视图解决「放哪里」，标准规范解决「怎么管」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交付物一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技术组件清单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60960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60960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技术层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1733550" y="1724025"/>
            <a:ext cx="216217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1733550" y="178117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代表性组件</a:t>
            </a:r>
            <a:endParaRPr/>
          </a:p>
        </p:txBody>
      </p:sp>
      <p:sp>
        <p:nvSpPr>
          <p:cNvPr id="658" name=""/>
          <p:cNvSpPr/>
          <p:nvPr/>
        </p:nvSpPr>
        <p:spPr>
          <a:xfrm rot="0" flipH="0" flipV="0">
            <a:off x="3933825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3933825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成熟度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5048250" y="1724025"/>
            <a:ext cx="1085850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5048250" y="178117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662" name=""/>
          <p:cNvSpPr/>
          <p:nvPr/>
        </p:nvSpPr>
        <p:spPr>
          <a:xfrm rot="0" flipH="0" flipV="0">
            <a:off x="6172200" y="1724025"/>
            <a:ext cx="1076325" cy="266700"/>
          </a:xfrm>
          <a:prstGeom prst="roundRect">
            <a:avLst>
              <a:gd name="adj" fmla="val 7143"/>
            </a:avLst>
          </a:prstGeom>
          <a:solidFill>
            <a:srgbClr val="0F1423"/>
          </a:solidFill>
          <a:ln/>
        </p:spPr>
        <p:txBody>
          <a:bodyPr/>
          <a:p/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6172200" y="178117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60960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0960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基础设施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1733550" y="20193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1733550" y="20669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容器平台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云主机</a:t>
            </a:r>
            <a:endParaRPr/>
          </a:p>
        </p:txBody>
      </p:sp>
      <p:sp>
        <p:nvSpPr>
          <p:cNvPr id="668" name=""/>
          <p:cNvSpPr/>
          <p:nvPr/>
        </p:nvSpPr>
        <p:spPr>
          <a:xfrm rot="0" flipH="0" flipV="0">
            <a:off x="3933825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69" name="" descr="{&quot;isTemplate&quot;:true,&quot;type&quot;:&quot;text&quot;}"/>
          <p:cNvSpPr txBox="1"/>
          <p:nvPr/>
        </p:nvSpPr>
        <p:spPr>
          <a:xfrm rot="0" flipH="0" flipV="0">
            <a:off x="3933825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5048250" y="20193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5048250" y="20669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672" name=""/>
          <p:cNvSpPr/>
          <p:nvPr/>
        </p:nvSpPr>
        <p:spPr>
          <a:xfrm rot="0" flipH="0" flipV="0">
            <a:off x="6172200" y="20193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172200" y="20669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云原生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60960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75" name="" descr="{&quot;isTemplate&quot;:true,&quot;type&quot;:&quot;text&quot;}"/>
          <p:cNvSpPr txBox="1"/>
          <p:nvPr/>
        </p:nvSpPr>
        <p:spPr>
          <a:xfrm rot="0" flipH="0" flipV="0">
            <a:off x="60960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数据平台</a:t>
            </a:r>
            <a:endParaRPr/>
          </a:p>
        </p:txBody>
      </p:sp>
      <p:sp>
        <p:nvSpPr>
          <p:cNvPr id="676" name=""/>
          <p:cNvSpPr/>
          <p:nvPr/>
        </p:nvSpPr>
        <p:spPr>
          <a:xfrm rot="0" flipH="0" flipV="0">
            <a:off x="1733550" y="22860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1733550" y="23336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数据湖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数仓</a:t>
            </a:r>
            <a:endParaRPr/>
          </a:p>
        </p:txBody>
      </p:sp>
      <p:sp>
        <p:nvSpPr>
          <p:cNvPr id="678" name=""/>
          <p:cNvSpPr/>
          <p:nvPr/>
        </p:nvSpPr>
        <p:spPr>
          <a:xfrm rot="0" flipH="0" flipV="0">
            <a:off x="3933825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3933825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80" name=""/>
          <p:cNvSpPr/>
          <p:nvPr/>
        </p:nvSpPr>
        <p:spPr>
          <a:xfrm rot="0" flipH="0" flipV="0">
            <a:off x="5048250" y="22860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5048250" y="23336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172200" y="22860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6172200" y="23336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湖仓一体</a:t>
            </a:r>
            <a:endParaRPr/>
          </a:p>
        </p:txBody>
      </p:sp>
      <p:sp>
        <p:nvSpPr>
          <p:cNvPr id="684" name=""/>
          <p:cNvSpPr/>
          <p:nvPr/>
        </p:nvSpPr>
        <p:spPr>
          <a:xfrm rot="0" flipH="0" flipV="0">
            <a:off x="60960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0960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集成层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1733550" y="25527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1733550" y="26003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网关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消息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3933825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89" name="" descr="{&quot;isTemplate&quot;:true,&quot;type&quot;:&quot;text&quot;}"/>
          <p:cNvSpPr txBox="1"/>
          <p:nvPr/>
        </p:nvSpPr>
        <p:spPr>
          <a:xfrm rot="0" flipH="0" flipV="0">
            <a:off x="3933825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690" name=""/>
          <p:cNvSpPr/>
          <p:nvPr/>
        </p:nvSpPr>
        <p:spPr>
          <a:xfrm rot="0" flipH="0" flipV="0">
            <a:off x="5048250" y="25527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5048250" y="26003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172200" y="25527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172200" y="26003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统一网关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0960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0F1423"/>
                </a:solidFill>
                <a:latin typeface="Microsoft YaHei"/>
                <a:ea typeface="Microsoft YaHei"/>
              </a:rPr>
              <a:t>安全层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1733550" y="2819400"/>
            <a:ext cx="216217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733550" y="2867025"/>
            <a:ext cx="216217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统一身份</a:t>
            </a:r>
            <a:r>
              <a:rPr lang="en-US" sz="975">
                <a:solidFill>
                  <a:srgbClr val="5A5F6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审计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3933825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3933825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中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5048250" y="2819400"/>
            <a:ext cx="1085850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701" name="" descr="{&quot;isTemplate&quot;:true,&quot;type&quot;:&quot;text&quot;}"/>
          <p:cNvSpPr txBox="1"/>
          <p:nvPr/>
        </p:nvSpPr>
        <p:spPr>
          <a:xfrm rot="0" flipH="0" flipV="0">
            <a:off x="5048250" y="2867025"/>
            <a:ext cx="108585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低</a:t>
            </a:r>
            <a:endParaRPr/>
          </a:p>
        </p:txBody>
      </p:sp>
      <p:sp>
        <p:nvSpPr>
          <p:cNvPr id="702" name=""/>
          <p:cNvSpPr/>
          <p:nvPr/>
        </p:nvSpPr>
        <p:spPr>
          <a:xfrm rot="0" flipH="0" flipV="0">
            <a:off x="6172200" y="2819400"/>
            <a:ext cx="1076325" cy="238125"/>
          </a:xfrm>
          <a:prstGeom prst="roundRect">
            <a:avLst>
              <a:gd name="adj" fmla="val 8000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6172200" y="2867025"/>
            <a:ext cx="1076325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5A5F6B"/>
                </a:solidFill>
                <a:latin typeface="Microsoft YaHei"/>
                <a:ea typeface="Microsoft YaHei"/>
              </a:rPr>
              <a:t>零信任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09600" y="3209925"/>
            <a:ext cx="66389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交付物二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部署视图</a:t>
            </a:r>
            <a:endParaRPr/>
          </a:p>
        </p:txBody>
      </p:sp>
      <p:sp>
        <p:nvSpPr>
          <p:cNvPr id="705" name=""/>
          <p:cNvSpPr/>
          <p:nvPr/>
        </p:nvSpPr>
        <p:spPr>
          <a:xfrm rot="0" flipH="0" flipV="0">
            <a:off x="609600" y="3571875"/>
            <a:ext cx="6638925" cy="2009775"/>
          </a:xfrm>
          <a:prstGeom prst="roundRect">
            <a:avLst>
              <a:gd name="adj" fmla="val 1896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706" name=""/>
          <p:cNvSpPr/>
          <p:nvPr/>
        </p:nvSpPr>
        <p:spPr>
          <a:xfrm rot="0" flipH="0" flipV="0">
            <a:off x="742950" y="38766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/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876300" y="40005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生产环境</a:t>
            </a:r>
            <a:endParaRPr/>
          </a:p>
        </p:txBody>
      </p:sp>
      <p:sp>
        <p:nvSpPr>
          <p:cNvPr id="708" name=""/>
          <p:cNvSpPr/>
          <p:nvPr/>
        </p:nvSpPr>
        <p:spPr>
          <a:xfrm rot="0" flipH="0" flipV="0">
            <a:off x="1866900" y="39814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1866900" y="40195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核心应用集群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双活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742950" y="43719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solid"/>
          </a:ln>
        </p:spPr>
        <p:txBody>
          <a:bodyPr/>
          <a:p/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876300" y="44958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A5F6B"/>
                </a:solidFill>
                <a:latin typeface="Microsoft YaHei"/>
                <a:ea typeface="Microsoft YaHei"/>
              </a:rPr>
              <a:t>灾备中心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866900" y="44767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BA47A"/>
          </a:solidFill>
          <a:ln/>
        </p:spPr>
        <p:txBody>
          <a:bodyPr/>
          <a:p/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866900" y="45148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同城灾备</a:t>
            </a:r>
            <a:r>
              <a:rPr lang="en-US" sz="900">
                <a:solidFill>
                  <a:srgbClr val="3A1A0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3A1A0A"/>
                </a:solidFill>
                <a:latin typeface="Microsoft YaHei"/>
                <a:ea typeface="Microsoft YaHei"/>
              </a:rPr>
              <a:t>数据实时同步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742950" y="4867275"/>
            <a:ext cx="6372225" cy="419100"/>
          </a:xfrm>
          <a:prstGeom prst="roundRect">
            <a:avLst>
              <a:gd name="adj" fmla="val 6818"/>
            </a:avLst>
          </a:prstGeom>
          <a:ln w="19050">
            <a:solidFill>
              <a:srgbClr val="C9CBD1"/>
            </a:solidFill>
            <a:prstDash val="dash"/>
          </a:ln>
        </p:spPr>
        <p:txBody>
          <a:bodyPr/>
          <a:p/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876300" y="4991100"/>
            <a:ext cx="876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8A8F99"/>
                </a:solidFill>
                <a:latin typeface="Microsoft YaHei"/>
                <a:ea typeface="Microsoft YaHei"/>
              </a:rPr>
              <a:t>测试环境</a:t>
            </a:r>
            <a:endParaRPr/>
          </a:p>
        </p:txBody>
      </p:sp>
      <p:sp>
        <p:nvSpPr>
          <p:cNvPr id="716" name=""/>
          <p:cNvSpPr/>
          <p:nvPr/>
        </p:nvSpPr>
        <p:spPr>
          <a:xfrm rot="0" flipH="0" flipV="0">
            <a:off x="1866900" y="4972050"/>
            <a:ext cx="5114925" cy="209550"/>
          </a:xfrm>
          <a:prstGeom prst="roundRect">
            <a:avLst>
              <a:gd name="adj" fmla="val 9091"/>
            </a:avLst>
          </a:prstGeom>
          <a:solidFill>
            <a:srgbClr val="F1F2F4"/>
          </a:solidFill>
          <a:ln/>
        </p:spPr>
        <p:txBody>
          <a:bodyPr/>
          <a:p/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1866900" y="5010150"/>
            <a:ext cx="511492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与生产隔离</a:t>
            </a:r>
            <a:r>
              <a:rPr lang="en-US" sz="900">
                <a:solidFill>
                  <a:srgbClr val="5A5F6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5A5F6B"/>
                </a:solidFill>
                <a:latin typeface="Microsoft YaHei"/>
                <a:ea typeface="Microsoft YaHei"/>
              </a:rPr>
              <a:t>数据脱敏</a:t>
            </a:r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7515225" y="1362075"/>
            <a:ext cx="4067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交付物三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技术标准规范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7553325" y="17049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0" name=""/>
          <p:cNvSpPr/>
          <p:nvPr/>
        </p:nvSpPr>
        <p:spPr>
          <a:xfrm rot="0" flipH="0" flipV="0">
            <a:off x="7553325" y="17049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1" name="" descr="{&quot;isTemplate&quot;:true,&quot;type&quot;:&quot;text&quot;}"/>
          <p:cNvSpPr txBox="1"/>
          <p:nvPr/>
        </p:nvSpPr>
        <p:spPr>
          <a:xfrm rot="0" flipH="0" flipV="0">
            <a:off x="7705725" y="18192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S1</a:t>
            </a:r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7705725" y="20669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技术选型标准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7705725" y="23241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明确各层准入技术清单与禁用清单，选型须走评估流程。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7553325" y="27336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25" name=""/>
          <p:cNvSpPr/>
          <p:nvPr/>
        </p:nvSpPr>
        <p:spPr>
          <a:xfrm rot="0" flipH="0" flipV="0">
            <a:off x="7553325" y="27336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26" name="" descr="{&quot;isTemplate&quot;:true,&quot;type&quot;:&quot;text&quot;}"/>
          <p:cNvSpPr txBox="1"/>
          <p:nvPr/>
        </p:nvSpPr>
        <p:spPr>
          <a:xfrm rot="0" flipH="0" flipV="0">
            <a:off x="7705725" y="28479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S2</a:t>
            </a:r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7705725" y="30956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接口与集成标准</a:t>
            </a:r>
            <a:endParaRPr/>
          </a:p>
        </p:txBody>
      </p:sp>
      <p:sp>
        <p:nvSpPr>
          <p:cNvPr id="728" name="" descr="{&quot;isTemplate&quot;:true,&quot;type&quot;:&quot;text&quot;}"/>
          <p:cNvSpPr txBox="1"/>
          <p:nvPr/>
        </p:nvSpPr>
        <p:spPr>
          <a:xfrm rot="0" flipH="0" flipV="0">
            <a:off x="7705725" y="33528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统一</a:t>
            </a:r>
            <a:r>
              <a:rPr lang="en-US" sz="1125">
                <a:solidFill>
                  <a:srgbClr val="3A4050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风格、版本策略、鉴权方式与错误码规范。</a:t>
            </a:r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553325" y="37623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0" name=""/>
          <p:cNvSpPr/>
          <p:nvPr/>
        </p:nvSpPr>
        <p:spPr>
          <a:xfrm rot="0" flipH="0" flipV="0">
            <a:off x="7553325" y="37623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1" name="" descr="{&quot;isTemplate&quot;:true,&quot;type&quot;:&quot;text&quot;}"/>
          <p:cNvSpPr txBox="1"/>
          <p:nvPr/>
        </p:nvSpPr>
        <p:spPr>
          <a:xfrm rot="0" flipH="0" flipV="0">
            <a:off x="7705725" y="38766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S3</a:t>
            </a:r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7705725" y="41243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部署与运维标准</a:t>
            </a:r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7705725" y="43815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环境分层、发布流程、容量阈值与监控告警基线。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7553325" y="4791075"/>
            <a:ext cx="4067175" cy="933450"/>
          </a:xfrm>
          <a:prstGeom prst="roundRect">
            <a:avLst>
              <a:gd name="adj" fmla="val 4082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35" name=""/>
          <p:cNvSpPr/>
          <p:nvPr/>
        </p:nvSpPr>
        <p:spPr>
          <a:xfrm rot="0" flipH="0" flipV="0">
            <a:off x="7553325" y="4791075"/>
            <a:ext cx="4067175" cy="933450"/>
          </a:xfrm>
          <a:custGeom>
            <a:pathLst>
              <a:path w="427" h="98">
                <a:moveTo>
                  <a:pt x="4" y="98"/>
                </a:moveTo>
                <a:cubicBezTo>
                  <a:pt x="2" y="98"/>
                  <a:pt x="0" y="96"/>
                  <a:pt x="0" y="9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98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7705725" y="4905375"/>
            <a:ext cx="37242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>S4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7705725" y="515302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423"/>
                </a:solidFill>
                <a:latin typeface="Microsoft YaHei"/>
                <a:ea typeface="Microsoft YaHei"/>
              </a:rPr>
              <a:t>安全与合规标准</a:t>
            </a:r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7705725" y="5410200"/>
            <a:ext cx="3724275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3A4050"/>
                </a:solidFill>
                <a:latin typeface="Microsoft YaHei"/>
                <a:ea typeface="Microsoft YaHei"/>
              </a:rPr>
              <a:t>数据分级、访问控制、日志留痕与等保合规要求。</a:t>
            </a:r>
            <a:endParaRPr/>
          </a:p>
        </p:txBody>
      </p:sp>
      <p:sp>
        <p:nvSpPr>
          <p:cNvPr id="739" name=""/>
          <p:cNvSpPr/>
          <p:nvPr/>
        </p:nvSpPr>
        <p:spPr>
          <a:xfrm rot="0" flipH="0" flipV="0">
            <a:off x="609600" y="594360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838200" y="592455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1125200" y="5924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24 / 26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742" name="" descr="&lt;Slide style={{ width: 1280, height: 720, background: '#FFFFFF', padding: '24px 64px 0' }}&gt;&#10;    {/* A 区 */}&#10;    &lt;Box style={{ height: 96, flexDirection: 'column', justifyContent: 'flex-start' }}&gt;&#10;        &lt;Text style={{ fontSize: 32, fontWeight: 'bold', color: '#0F1423' }}&gt;&#10;            TA 之模板：技术组件卡片与&lt;span style={{ color: '#FA4F24' }}&gt;技术演进路线图&lt;/span&gt;&#10;        &lt;/Text&gt;&#10;        &lt;Text style={{ fontSize: 20, color: '#8A8F99', marginTop: 8 }}&gt;&#10;            路线图把「目标态」拆成可验收的三阶段 —— 每阶段都有明确的技术里程碑与退坡条件&#10;        &lt;/Text&gt;&#10;    &lt;/Box&gt;&#10;    &lt;Box style={{ height: 1, background: '#E8E8E8' }} /&gt;&#10;&#10;    {/* B 区 上大图（路线图）+ 下方卡片 */}&#10;    &lt;Box style={{ paddingTop: 20, paddingBottom: 12, height: 481, flexDirection: 'column', gap: 14 }}&gt;&#10;&#10;        {/* 上：技术演进路线图 ≥40% */}&#10;        &lt;Text style={{ fontSize: 21, fontWeight: 'bold', color: '#0F1423' }}&gt;模板 A · 技术演进路线图&lt;/Text&gt;&#10;        &lt;Box style={{ height: 232, background: '#FBFBFC', borderRadius: 4, padding: '18px 24px', flexDirection: 'column' }}&gt;&#10;            {/* 时间轴 */}&#10;            &lt;Box style={{ flexDirection: 'row', alignItems: 'center', height: 26 }}&gt;&#10;                &lt;Box style={{ width: 3, height: 26, background: '#C9CBD1' }} /&gt;&#10;                &lt;Text style={{ fontSize: 14, color: '#8A8F99', marginLeft: 8 }}&gt;当前&lt;/Text&gt;&#10;                &lt;Box style={{ flex: 1, height: 3, background: 'linear-gradient(90deg, #C9CBD1 0%, #FA4F24 100%)' }} /&gt;&#10;                &lt;Text style={{ fontSize: 14, color: '#FA4F24', fontWeight: 'bold', marginRight: 0 }}&gt;目标态&lt;/Text&gt;&#10;            &lt;/Box&gt;&#10;            {/* 三阶段 */}&#10;            &lt;Box style={{ flex: 1, flexDirection: 'row', gap: 12, marginTop: 12 }}&gt;&#10;                {[&#10;                    { p: '阶段一', t: '夯实基础', h: 92, bg: '#FDD5BE', c: '#3A1A0A', m: '容器化率 60%', d: '统一云底座与基础监控' },&#10;                    { p: '阶段二', t: '平台整合', h: 120, bg: '#FBA47A', c: '#3A1A0A', m: '数据中台上线', d: '统一数据底座与集成总线' },&#10;                    { p: '阶段三', t: '云原生化', h: 148, bg: '#FA4F24', c: '#FFFFFF', m: '应用云原生 80%', d: '弹性伸缩与自动运维体系' },&#10;                ].map((it, i) =&gt; (&#10;                    &lt;Box key={i} style={{ flex: 1, flexDirection: 'column', justifyContent: 'flex-end', gap: 6 }}&gt;&#10;                        &lt;Text style={{ fontSize: 16, fontWeight: 'bold', color: it.c === '#FFFFFF' ? '#FA4F24' : '#0F1423' }}&gt;{it.m}&lt;/Text&gt;&#10;                        &lt;Box style={{ height: it.h, background: it.bg, borderRadius: 3, padding: '10px 14px', flexDirection: 'column', justifyContent: 'flex-start' }}&gt;&#10;                            &lt;Text style={{ fontSize: 13, color: it.c, opacity: 0.85 }}&gt;{it.p}&lt;/Text&gt;&#10;                            &lt;Text style={{ fontSize: 18, fontWeight: 'bold', color: it.c, marginTop: 4 }}&gt;{it.t}&lt;/Text&gt;&#10;                            &lt;Text style={{ fontSize: 13, color: it.c, marginTop: 6, opacity: 0.9, lineHeight: 1.4 }}&gt;{it.d}&lt;/Text&gt;&#10;                        &lt;/Box&gt;&#10;                    &lt;/Box&gt;&#10;                ))}&#10;            &lt;/Box&gt;&#10;        &lt;/Box&gt;&#10;&#10;        {/* 下：技术组件卡片模板 + 关键判断 */}&#10;        &lt;Box style={{ flex: 1, flexDirection: 'row', gap: 20 }}&gt;&#10;            &lt;Box style={{ flex: 62, flexDirection: 'column' }}&gt;&#10;                &lt;Text style={{ fontSize: 21, fontWeight: 'bold', color: '#0F1423', marginBottom: 10 }}&gt;模板 B · 技术组件卡片&lt;/Text&gt;&#10;                &lt;Box style={{ flex: 1, background: '#F7F7F8', borderRadius: 4, padding: '14px 20px', flexDirection: 'row', gap: 18 }}&gt;&#10;                    {[&#10;                        { v: '组件定位', d: '所属技术层、承担的架构职责' },&#10;                        { v: '选型理由', d: '成熟度 / 生态 / 成本 / 锁定风险' },&#10;                        { v: '部署要求', d: '环境、规格、可用性等级' },&#10;                        { v: '运维责任', d: '责任团队、SLA、监控指标' },&#10;                    ].map((it, i) =&gt; (&#10;                        &lt;Box key={i} style={{ flex: 1, flexDirection: 'column', borderLeft: '3px solid #FA4F24', paddingLeft: 12 }}&gt;&#10;                            &lt;Text style={{ fontSize: 16, fontWeight: 'bold', color: '#FA4F24' }}&gt;{it.v}&lt;/Text&gt;&#10;                            &lt;Text style={{ fontSize: 14, color: '#3A4050', marginTop: 8, lineHeight: 1.5 }}&gt;{it.d}&lt;/Text&gt;&#10;                        &lt;/Box&gt;&#10;                    ))}&#10;                &lt;/Box&gt;&#10;            &lt;/Box&gt;&#10;            &lt;Box style={{ flex: 38, background: 'rgba(250,79,36,0.08)', borderRadius: 4, padding: '16px 20px', flexDirection: 'column', justifyContent: 'center', borderLeft: '4px solid #FA4F24' }}&gt;&#10;                &lt;Text style={{ fontSize: 16, fontWeight: 'bold', color: '#FA4F24' }}&gt;关键判断&lt;/Text&gt;&#10;                &lt;Text style={{ fontSize: 16, color: '#0F1423', marginTop: 10, lineHeight: 1.55 }}&gt;&#10;                    技术路线的价值不在选了哪家产品，而在&lt;span style={{ fontWeight: 'bold', color: '#FA4F24' }}&gt;每阶段都能退坡&lt;/span&gt; —— 若阶段目标不达标，可退回上一稳态而不致业务中断。&#10;                &lt;/Text&gt;&#10;            &lt;/Box&gt;&#10;        &lt;/Box&gt;&#10;    &lt;/Box&gt;&#10;&#10;    {/* C 区 */}&#10;    &lt;Box style={{ height: 60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#8A8F99' }}&gt;硕磐机密 · EA企业架构咨询方法论&lt;/Text&gt;&#10;        &lt;/Box&gt;&#10;        &lt;Text style={{ fontSize: 14, color: '#8A8F99' }}&gt;25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09600" y="228600"/>
            <a:ext cx="10972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2400" b="1">
                <a:solidFill>
                  <a:srgbClr val="0F1423"/>
                </a:solidFill>
                <a:latin typeface="Microsoft YaHei"/>
                <a:ea typeface="Microsoft YaHei"/>
              </a:rPr>
              <a:t>之模板：技术组件卡片与</a:t>
            </a:r>
            <a:r>
              <a:rPr lang="zh-CN" sz="2400" b="1">
                <a:solidFill>
                  <a:srgbClr val="FA4F24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5" name="" descr="{&quot;isTemplate&quot;:true,&quot;type&quot;:&quot;text&quot;}"/>
          <p:cNvSpPr txBox="1"/>
          <p:nvPr/>
        </p:nvSpPr>
        <p:spPr>
          <a:xfrm rot="0" flipH="0" flipV="0">
            <a:off x="609600" y="6762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路线图把「目标态」拆成可验收的三阶段</a:t>
            </a:r>
            <a:r>
              <a:rPr lang="en-US" sz="1500">
                <a:solidFill>
                  <a:srgbClr val="8A8F9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500">
                <a:solidFill>
                  <a:srgbClr val="8A8F99"/>
                </a:solidFill>
                <a:latin typeface="Microsoft YaHei"/>
                <a:ea typeface="Microsoft YaHei"/>
              </a:rPr>
              <a:t>每阶段都有明确的技术里程碑与退坡条件</a:t>
            </a:r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609600" y="1143000"/>
            <a:ext cx="10972800" cy="9525"/>
          </a:xfrm>
          <a:prstGeom prst="rect">
            <a:avLst/>
          </a:prstGeom>
          <a:solidFill>
            <a:srgbClr val="E8E8E8"/>
          </a:solidFill>
          <a:ln/>
        </p:spPr>
        <p:txBody>
          <a:bodyPr/>
          <a:p/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609600" y="1343025"/>
            <a:ext cx="109728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A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技术演进路线图</a:t>
            </a:r>
            <a:endParaRPr/>
          </a:p>
        </p:txBody>
      </p:sp>
      <p:sp>
        <p:nvSpPr>
          <p:cNvPr id="748" name=""/>
          <p:cNvSpPr/>
          <p:nvPr/>
        </p:nvSpPr>
        <p:spPr>
          <a:xfrm rot="0" flipH="0" flipV="0">
            <a:off x="609600" y="1724025"/>
            <a:ext cx="10972800" cy="2209800"/>
          </a:xfrm>
          <a:prstGeom prst="roundRect">
            <a:avLst>
              <a:gd name="adj" fmla="val 1724"/>
            </a:avLst>
          </a:prstGeom>
          <a:solidFill>
            <a:srgbClr val="FBFBFC"/>
          </a:solidFill>
          <a:ln/>
        </p:spPr>
        <p:txBody>
          <a:bodyPr/>
          <a:p/>
        </p:txBody>
      </p:sp>
      <p:sp>
        <p:nvSpPr>
          <p:cNvPr id="749" name=""/>
          <p:cNvSpPr/>
          <p:nvPr/>
        </p:nvSpPr>
        <p:spPr>
          <a:xfrm rot="0" flipH="0" flipV="0">
            <a:off x="838200" y="1895475"/>
            <a:ext cx="28575" cy="247650"/>
          </a:xfrm>
          <a:prstGeom prst="rect">
            <a:avLst/>
          </a:prstGeom>
          <a:solidFill>
            <a:srgbClr val="C9CBD1"/>
          </a:solidFill>
          <a:ln/>
        </p:spPr>
        <p:txBody>
          <a:bodyPr/>
          <a:p/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942975" y="194310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当前</a:t>
            </a:r>
            <a:endParaRPr/>
          </a:p>
        </p:txBody>
      </p:sp>
      <p:sp>
        <p:nvSpPr>
          <p:cNvPr id="751" name=""/>
          <p:cNvSpPr/>
          <p:nvPr/>
        </p:nvSpPr>
        <p:spPr>
          <a:xfrm rot="0" flipH="0" flipV="0">
            <a:off x="1209675" y="2009775"/>
            <a:ext cx="9744075" cy="28575"/>
          </a:xfrm>
          <a:prstGeom prst="rect">
            <a:avLst/>
          </a:prstGeom>
          <a:gradFill>
            <a:gsLst>
              <a:gs pos="0">
                <a:srgbClr val="C9CBD1"/>
              </a:gs>
              <a:gs pos="100000">
                <a:srgbClr val="FA4F24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0953750" y="19431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A4F24"/>
                </a:solidFill>
                <a:latin typeface="Microsoft YaHei"/>
                <a:ea typeface="Microsoft YaHei"/>
              </a:rPr>
              <a:t>目标态</a:t>
            </a:r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838200" y="27908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容器化率</a:t>
            </a:r>
            <a:r>
              <a:rPr lang="en-US" sz="1200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60%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838200" y="3038475"/>
            <a:ext cx="3429000" cy="876300"/>
          </a:xfrm>
          <a:prstGeom prst="roundRect">
            <a:avLst>
              <a:gd name="adj" fmla="val 3261"/>
            </a:avLst>
          </a:prstGeom>
          <a:solidFill>
            <a:srgbClr val="FDD5BE"/>
          </a:solidFill>
          <a:ln/>
        </p:spPr>
        <p:txBody>
          <a:bodyPr/>
          <a:p/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9715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夯实基础</a:t>
            </a:r>
            <a:endParaRPr/>
          </a:p>
        </p:txBody>
      </p:sp>
      <p:sp>
        <p:nvSpPr>
          <p:cNvPr id="756" name="" descr="{&quot;isTemplate&quot;:true,&quot;type&quot;:&quot;text&quot;}"/>
          <p:cNvSpPr txBox="1"/>
          <p:nvPr/>
        </p:nvSpPr>
        <p:spPr>
          <a:xfrm rot="0" flipH="0" flipV="0">
            <a:off x="4381500" y="25241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423"/>
                </a:solidFill>
                <a:latin typeface="Microsoft YaHei"/>
                <a:ea typeface="Microsoft YaHei"/>
              </a:rPr>
              <a:t>数据中台上线</a:t>
            </a:r>
            <a:endParaRPr/>
          </a:p>
        </p:txBody>
      </p:sp>
      <p:sp>
        <p:nvSpPr>
          <p:cNvPr id="757" name=""/>
          <p:cNvSpPr/>
          <p:nvPr/>
        </p:nvSpPr>
        <p:spPr>
          <a:xfrm rot="0" flipH="0" flipV="0">
            <a:off x="4381500" y="2771775"/>
            <a:ext cx="3429000" cy="1143000"/>
          </a:xfrm>
          <a:prstGeom prst="roundRect">
            <a:avLst>
              <a:gd name="adj" fmla="val 2500"/>
            </a:avLst>
          </a:prstGeom>
          <a:solidFill>
            <a:srgbClr val="FBA47A"/>
          </a:solidFill>
          <a:ln/>
        </p:spPr>
        <p:txBody>
          <a:bodyPr/>
          <a:p/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45148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3A1A0A"/>
                </a:solidFill>
                <a:latin typeface="Microsoft YaHei"/>
                <a:ea typeface="Microsoft YaHei"/>
              </a:rPr>
              <a:t>平台整合</a:t>
            </a:r>
            <a:endParaRPr/>
          </a:p>
        </p:txBody>
      </p:sp>
      <p:sp>
        <p:nvSpPr>
          <p:cNvPr id="759" name="" descr="{&quot;isTemplate&quot;:true,&quot;type&quot;:&quot;text&quot;}"/>
          <p:cNvSpPr txBox="1"/>
          <p:nvPr/>
        </p:nvSpPr>
        <p:spPr>
          <a:xfrm rot="0" flipH="0" flipV="0">
            <a:off x="7924800" y="2257425"/>
            <a:ext cx="3429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应用云原生</a:t>
            </a:r>
            <a:r>
              <a:rPr lang="en-US" sz="1200" b="1">
                <a:solidFill>
                  <a:srgbClr val="FA4F24"/>
                </a:solidFill>
                <a:latin typeface="Microsoft YaHei"/>
                <a:ea typeface="Microsoft YaHei"/>
              </a:rPr>
              <a:t xml:space="preserve"> 80%</a:t>
            </a:r>
            <a:endParaRPr/>
          </a:p>
        </p:txBody>
      </p:sp>
      <p:sp>
        <p:nvSpPr>
          <p:cNvPr id="760" name=""/>
          <p:cNvSpPr/>
          <p:nvPr/>
        </p:nvSpPr>
        <p:spPr>
          <a:xfrm rot="0" flipH="0" flipV="0">
            <a:off x="7924800" y="2505075"/>
            <a:ext cx="3429000" cy="1409700"/>
          </a:xfrm>
          <a:prstGeom prst="roundRect">
            <a:avLst>
              <a:gd name="adj" fmla="val 2027"/>
            </a:avLst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1" name="" descr="{&quot;isTemplate&quot;:true,&quot;type&quot;:&quot;text&quot;}"/>
          <p:cNvSpPr txBox="1"/>
          <p:nvPr/>
        </p:nvSpPr>
        <p:spPr>
          <a:xfrm rot="0" flipH="0" flipV="0">
            <a:off x="8058150" y="27908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云原生化</a:t>
            </a:r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609600" y="4067175"/>
            <a:ext cx="6686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模板</a:t>
            </a:r>
            <a:r>
              <a:rPr lang="en-US" sz="1575" b="1">
                <a:solidFill>
                  <a:srgbClr val="0F1423"/>
                </a:solidFill>
                <a:latin typeface="Microsoft YaHei"/>
                <a:ea typeface="Microsoft YaHei"/>
              </a:rPr>
              <a:t xml:space="preserve"> B · </a:t>
            </a:r>
            <a:r>
              <a:rPr lang="zh-CN" sz="1575" b="1">
                <a:solidFill>
                  <a:srgbClr val="0F1423"/>
                </a:solidFill>
                <a:latin typeface="Microsoft YaHei"/>
                <a:ea typeface="Microsoft YaHei"/>
              </a:rPr>
              <a:t>技术组件卡片</a:t>
            </a:r>
            <a:endParaRPr/>
          </a:p>
        </p:txBody>
      </p:sp>
      <p:sp>
        <p:nvSpPr>
          <p:cNvPr id="763" name=""/>
          <p:cNvSpPr/>
          <p:nvPr/>
        </p:nvSpPr>
        <p:spPr>
          <a:xfrm rot="0" flipH="0" flipV="0">
            <a:off x="609600" y="4410075"/>
            <a:ext cx="6686550" cy="1209675"/>
          </a:xfrm>
          <a:prstGeom prst="roundRect">
            <a:avLst>
              <a:gd name="adj" fmla="val 3150"/>
            </a:avLst>
          </a:prstGeom>
          <a:solidFill>
            <a:srgbClr val="F7F7F8"/>
          </a:solidFill>
          <a:ln/>
        </p:spPr>
        <p:txBody>
          <a:bodyPr/>
          <a:p/>
        </p:txBody>
      </p:sp>
      <p:sp>
        <p:nvSpPr>
          <p:cNvPr id="764" name=""/>
          <p:cNvSpPr/>
          <p:nvPr/>
        </p:nvSpPr>
        <p:spPr>
          <a:xfrm rot="0" flipH="0" flipV="0">
            <a:off x="8001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5" name="" descr="{&quot;isTemplate&quot;:true,&quot;type&quot;:&quot;text&quot;}"/>
          <p:cNvSpPr txBox="1"/>
          <p:nvPr/>
        </p:nvSpPr>
        <p:spPr>
          <a:xfrm rot="0" flipH="0" flipV="0">
            <a:off x="9429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组件定位</a:t>
            </a:r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9429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所属技术层、承担的架构职责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24193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25622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选型理由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25622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成熟度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生态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成本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锁定风险</a:t>
            </a:r>
            <a:endParaRPr/>
          </a:p>
        </p:txBody>
      </p:sp>
      <p:sp>
        <p:nvSpPr>
          <p:cNvPr id="770" name=""/>
          <p:cNvSpPr/>
          <p:nvPr/>
        </p:nvSpPr>
        <p:spPr>
          <a:xfrm rot="0" flipH="0" flipV="0">
            <a:off x="403860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1" name="" descr="{&quot;isTemplate&quot;:true,&quot;type&quot;:&quot;text&quot;}"/>
          <p:cNvSpPr txBox="1"/>
          <p:nvPr/>
        </p:nvSpPr>
        <p:spPr>
          <a:xfrm rot="0" flipH="0" flipV="0">
            <a:off x="418147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部署要求</a:t>
            </a:r>
            <a:endParaRPr/>
          </a:p>
        </p:txBody>
      </p:sp>
      <p:sp>
        <p:nvSpPr>
          <p:cNvPr id="772" name="" descr="{&quot;isTemplate&quot;:true,&quot;type&quot;:&quot;text&quot;}"/>
          <p:cNvSpPr txBox="1"/>
          <p:nvPr/>
        </p:nvSpPr>
        <p:spPr>
          <a:xfrm rot="0" flipH="0" flipV="0">
            <a:off x="418147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环境、规格、可用性等级</a:t>
            </a:r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5657850" y="4543425"/>
            <a:ext cx="1476375" cy="942975"/>
          </a:xfrm>
          <a:custGeom>
            <a:pathLst>
              <a:path w="155" h="99">
                <a:moveTo>
                  <a:pt x="0" y="0"/>
                </a:moveTo>
                <a:lnTo>
                  <a:pt x="3" y="0"/>
                </a:lnTo>
                <a:lnTo>
                  <a:pt x="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5800725" y="4543425"/>
            <a:ext cx="13049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运维责任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5800725" y="4810125"/>
            <a:ext cx="130492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责任团队、</a:t>
            </a:r>
            <a:r>
              <a:rPr lang="en-US" sz="1050">
                <a:solidFill>
                  <a:srgbClr val="3A4050"/>
                </a:solidFill>
                <a:latin typeface="Microsoft YaHei"/>
                <a:ea typeface="Microsoft YaHei"/>
              </a:rPr>
              <a:t>SLA</a:t>
            </a:r>
            <a:r>
              <a:rPr lang="zh-CN" sz="1050">
                <a:solidFill>
                  <a:srgbClr val="3A4050"/>
                </a:solidFill>
                <a:latin typeface="Microsoft YaHei"/>
                <a:ea typeface="Microsoft YaHei"/>
              </a:rPr>
              <a:t>、监控指标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7524750" y="4067175"/>
            <a:ext cx="4095750" cy="1552575"/>
          </a:xfrm>
          <a:prstGeom prst="roundRect">
            <a:avLst>
              <a:gd name="adj" fmla="val 2454"/>
            </a:avLst>
          </a:prstGeom>
          <a:solidFill>
            <a:srgbClr val="FA4F24">
              <a:alpha val="8000"/>
            </a:srgbClr>
          </a:solidFill>
          <a:ln/>
        </p:spPr>
        <p:txBody>
          <a:bodyPr/>
          <a:p/>
        </p:txBody>
      </p:sp>
      <p:sp>
        <p:nvSpPr>
          <p:cNvPr id="777" name=""/>
          <p:cNvSpPr/>
          <p:nvPr/>
        </p:nvSpPr>
        <p:spPr>
          <a:xfrm rot="0" flipH="0" flipV="0">
            <a:off x="7524750" y="4067175"/>
            <a:ext cx="4095750" cy="1552575"/>
          </a:xfrm>
          <a:custGeom>
            <a:pathLst>
              <a:path w="430" h="163">
                <a:moveTo>
                  <a:pt x="4" y="163"/>
                </a:moveTo>
                <a:cubicBezTo>
                  <a:pt x="2" y="163"/>
                  <a:pt x="0" y="161"/>
                  <a:pt x="0" y="159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63"/>
                </a:lnTo>
                <a:close/>
              </a:path>
            </a:pathLst>
          </a:custGeom>
          <a:solidFill>
            <a:srgbClr val="FA4F24"/>
          </a:solidFill>
          <a:ln/>
        </p:spPr>
        <p:txBody>
          <a:bodyPr/>
          <a:p/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7715250" y="4276725"/>
            <a:ext cx="3676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关键判断</a:t>
            </a:r>
            <a:endParaRPr/>
          </a:p>
        </p:txBody>
      </p:sp>
      <p:sp>
        <p:nvSpPr>
          <p:cNvPr id="779" name="" descr="{&quot;isTemplate&quot;:true,&quot;type&quot;:&quot;text&quot;}"/>
          <p:cNvSpPr txBox="1"/>
          <p:nvPr/>
        </p:nvSpPr>
        <p:spPr>
          <a:xfrm rot="0" flipH="0" flipV="0">
            <a:off x="7715250" y="4562475"/>
            <a:ext cx="3676650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技术路线的价值不在选了哪家产品，而在</a:t>
            </a:r>
            <a:r>
              <a:rPr lang="zh-CN" sz="1200" b="1">
                <a:solidFill>
                  <a:srgbClr val="FA4F24"/>
                </a:solidFill>
                <a:latin typeface="Microsoft YaHei"/>
                <a:ea typeface="Microsoft YaHei"/>
              </a:rPr>
              <a:t>每阶段都能退坡</a:t>
            </a:r>
            <a:r>
              <a:rPr lang="en-US" sz="1200">
                <a:solidFill>
                  <a:srgbClr val="0F1423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F1423"/>
                </a:solidFill>
                <a:latin typeface="Microsoft YaHei"/>
                <a:ea typeface="Microsoft YaHei"/>
              </a:rPr>
              <a:t>若阶段目标不达标，可退回上一稳态而不致业务中断。</a:t>
            </a:r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609600" y="5962650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81" name="" descr="{&quot;isTemplate&quot;:true,&quot;type&quot;:&quot;text&quot;}"/>
          <p:cNvSpPr txBox="1"/>
          <p:nvPr/>
        </p:nvSpPr>
        <p:spPr>
          <a:xfrm rot="0" flipH="0" flipV="0">
            <a:off x="838200" y="5943600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8A8F99"/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782" name="" descr="{&quot;isTemplate&quot;:true,&quot;type&quot;:&quot;text&quot;}"/>
          <p:cNvSpPr txBox="1"/>
          <p:nvPr/>
        </p:nvSpPr>
        <p:spPr>
          <a:xfrm rot="0" flipH="0" flipV="0">
            <a:off x="11125200" y="59436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A8F99"/>
                </a:solidFill>
                <a:latin typeface="Microsoft YaHei"/>
                <a:ea typeface="Microsoft YaHei"/>
              </a:rPr>
              <a:t>25 / 26</a:t>
            </a:r>
            <a:endParaRPr/>
          </a:p>
        </p:txBody>
      </p:sp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971550" y="31337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阶段一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971550" y="35909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统一云底座与基础监控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4514850" y="28670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3A1A0A">
                    <a:alpha val="85000"/>
                  </a:srgbClr>
                </a:solidFill>
                <a:latin typeface="Microsoft YaHei"/>
                <a:ea typeface="Microsoft YaHei"/>
              </a:rPr>
              <a:t>阶段二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4514850" y="33242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3A1A0A">
                    <a:alpha val="90000"/>
                  </a:srgbClr>
                </a:solidFill>
                <a:latin typeface="Microsoft YaHei"/>
                <a:ea typeface="Microsoft YaHei"/>
              </a:rPr>
              <a:t>统一数据底座与集成总线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8058150" y="2600325"/>
            <a:ext cx="316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阶段三</a:t>
            </a:r>
            <a:endParaRPr/>
          </a:p>
        </p:txBody>
      </p:sp>
      <p:sp>
        <p:nvSpPr>
          <p:cNvPr id="788" name="" descr="{&quot;isTemplate&quot;:true,&quot;type&quot;:&quot;text&quot;}"/>
          <p:cNvSpPr txBox="1"/>
          <p:nvPr/>
        </p:nvSpPr>
        <p:spPr>
          <a:xfrm rot="0" flipH="0" flipV="0">
            <a:off x="8058150" y="3057525"/>
            <a:ext cx="3162300" cy="2095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7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弹性伸缩与自动运维体系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789" name="" descr="&lt;Slide style={{ width: 1280, height: 720, background: 'linear-gradient(135deg, #0F1423 0%, #2A1810 100%)', position: 'relative', padding: 0 }}&gt;&#10;    {/* 右侧橙红几何带 - 骑线切入（封面镜像） */}&#10;    &lt;Box style={{&#10;        position: 'absolute', top: 0, right: 0, width: 470, height: 720,&#10;        background: 'linear-gradient(200deg, #FA4F24 0%, #F87D2F 100%)',&#10;    }} /&gt;&#10;    &lt;Box style={{&#10;        position: 'absolute', top: 0, right: 412, width: 120, height: 720,&#10;        background: '#0F1423', transform: 'rotate(-9deg)',&#10;    }} /&gt;&#10;&#10;    {/* 左上品牌角标 */}&#10;    &lt;Box style={{ position: 'absolute', top: 72, right: 64, width: 300, alignItems: 'flex-end' }}&gt;&#10;        &lt;Text style={{ fontSize: 20, fontWeight: 'bold', color: '#FFFFFF', letterSpacing: 2 }}&gt;&#10;            BOULDERAI&#10;        &lt;/Text&gt;&#10;        &lt;Text style={{ fontSize: 13, color: 'rgba(255,255,255,0.85)', marginTop: 6, letterSpacing: 1 }}&gt;&#10;            TECHNOLOGIES · SOLUTION&#10;        &lt;/Text&gt;&#10;    &lt;/Box&gt;&#10;&#10;    {/* 主金句区 */}&#10;    &lt;Box style={{ position: 'absolute', top: 214, left: 88, width: 720, flexDirection: 'column' }}&gt;&#10;        &lt;Text style={{ fontSize: 16, color: '#F87D2F', letterSpacing: 4 }}&gt;CONCLUSION · 结语&lt;/Text&gt;&#10;        &lt;Text style={{ fontSize: 54, fontWeight: 'bold', color: '#FFFFFF', marginTop: 26, lineHeight: 1.32 }}&gt;&#10;            架构的确定性，&#10;            &lt;br /&gt;&#10;            是转型唯一&#10;            &lt;br /&gt;&#10;            &lt;span style={{ color: '#FA4F24' }}&gt;可复用的资产。&lt;/span&gt;&#10;        &lt;/Text&gt;&#10;        &lt;Box style={{ width: 108, height: 5, background: '#FA4F24', marginTop: 32 }} /&gt;&#10;        &lt;Text style={{ fontSize: 21, color: 'rgba(255,255,255,0.82)', marginTop: 30, lineHeight: 1.65 }}&gt;&#10;            业务会变、技术会换，唯有被清晰定义的架构可以沉淀下来 ——&#10;            &lt;br /&gt;&#10;            让每一次转型都不必从零开始。&#10;        &lt;/Text&gt;&#10;    &lt;/Box&gt;&#10;&#10;    {/* 左下角标 4A 回顾 */}&#10;    &lt;Box style={{ position: 'absolute', bottom: 76, left: 88, width: 720, flexDirection: 'row', gap: 14 }}&gt;&#10;        {['BA 业务架构', 'DA 数据架构', 'AA 应用架构', 'TA 技术架构'].map((t, i) =&gt; (&#10;            &lt;Box key={i} style={{ border: '1px solid rgba(255,255,255,0.32)', borderRadius: 3, padding: '8px 16px' }}&gt;&#10;                &lt;Text style={{ fontSize: 15, color: 'rgba(255,255,255,0.9)' }}&gt;{t}&lt;/Text&gt;&#10;            &lt;/Box&gt;&#10;        ))}&#10;    &lt;/Box&gt;&#10;&#10;    {/* 右下巨型装饰字 */}&#10;    &lt;Box style={{ position: 'absolute', bottom: 60, right: 76 }}&gt;&#10;        &lt;Text style={{ fontSize: 128, fontWeight: 'bold', color: 'rgba(255,255,255,0.2)', lineHeight: 1.0 }}&gt;&#10;            EA&#10;        &lt;/Text&gt;&#10;    &lt;/Box&gt;&#10;&#10;    {/* 页脚 */}&#10;    &lt;Box style={{ position: 'absolute', bottom: 26, left: 88, width: 1104, flexDirection: 'row', alignItems: 'center', justifyContent: 'space-between' }}&gt;&#10;        &lt;Box style={{ flexDirection: 'row', alignItems: 'center', gap: 10 }}&gt;&#10;            &lt;Box style={{ width: 14, height: 14, background: '#FA4F24' }} /&gt;&#10;            &lt;Text style={{ fontSize: 14, color: 'rgba(255,255,255,0.6)' }}&gt;硕磐机密 · EA企业架构咨询方法论&lt;/Text&gt;&#10;        &lt;/Box&gt;&#10;        &lt;Text style={{ fontSize: 14, color: 'rgba(255,255,255,0.6)' }}&gt;26 / 2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423"/>
              </a:gs>
              <a:gs pos="100000">
                <a:srgbClr val="2A181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91" name=""/>
          <p:cNvSpPr/>
          <p:nvPr/>
        </p:nvSpPr>
        <p:spPr>
          <a:xfrm rot="0" flipH="0" flipV="0">
            <a:off x="7715250" y="0"/>
            <a:ext cx="4476750" cy="6858000"/>
          </a:xfrm>
          <a:prstGeom prst="rect">
            <a:avLst/>
          </a:prstGeom>
          <a:gradFill>
            <a:gsLst>
              <a:gs pos="0">
                <a:srgbClr val="FA4F24"/>
              </a:gs>
              <a:gs pos="100000">
                <a:srgbClr val="F87D2F"/>
              </a:gs>
            </a:gsLst>
            <a:lin ang="6600000" scaled="1"/>
          </a:gradFill>
          <a:ln/>
        </p:spPr>
        <p:txBody>
          <a:bodyPr/>
          <a:p/>
        </p:txBody>
      </p:sp>
      <p:grpSp>
        <p:nvGrpSpPr>
          <p:cNvPr id="792" name=""/>
          <p:cNvGrpSpPr/>
          <p:nvPr/>
        </p:nvGrpSpPr>
        <p:grpSpPr>
          <a:xfrm rot="-540000" flipH="0" flipV="0">
            <a:off x="7124700" y="0"/>
            <a:ext cx="1143000" cy="6858000"/>
            <a:chOff x="7124700" y="0"/>
            <a:chExt cx="1143000" cy="6858000"/>
          </a:xfrm>
        </p:grpSpPr>
        <p:sp>
          <p:nvSpPr>
            <p:cNvPr id="793" name=""/>
            <p:cNvSpPr/>
            <p:nvPr/>
          </p:nvSpPr>
          <p:spPr>
            <a:xfrm rot="0" flipH="0" flipV="0">
              <a:off x="7124700" y="0"/>
              <a:ext cx="1143000" cy="6858000"/>
            </a:xfrm>
            <a:prstGeom prst="rect">
              <a:avLst/>
            </a:prstGeom>
            <a:solidFill>
              <a:srgbClr val="0F1423"/>
            </a:solidFill>
            <a:ln/>
          </p:spPr>
          <p:txBody>
            <a:bodyPr/>
            <a:p/>
          </p:txBody>
        </p:sp>
      </p:grpSp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0267950" y="685800"/>
            <a:ext cx="1314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FFFFFF"/>
                </a:solidFill>
                <a:latin typeface="Microsoft YaHei"/>
                <a:ea typeface="Microsoft YaHei"/>
              </a:rPr>
              <a:t>BOULDERAI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9667875" y="971550"/>
            <a:ext cx="1914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TECHNOLOGIES · SOLUTION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838200" y="2038350"/>
            <a:ext cx="685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300">
                <a:solidFill>
                  <a:srgbClr val="F87D2F"/>
                </a:solidFill>
                <a:latin typeface="Microsoft YaHei"/>
                <a:ea typeface="Microsoft YaHei"/>
              </a:rPr>
              <a:t xml:space="preserve">CONCLUSION · </a:t>
            </a:r>
            <a:r>
              <a:rPr lang="zh-CN" sz="1200" spc="300">
                <a:solidFill>
                  <a:srgbClr val="F87D2F"/>
                </a:solidFill>
                <a:latin typeface="Microsoft YaHei"/>
                <a:ea typeface="Microsoft YaHei"/>
              </a:rPr>
              <a:t>结语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838200" y="2476500"/>
            <a:ext cx="6858000" cy="2447925"/>
          </a:xfrm>
          <a:prstGeom prst="rect"/>
        </p:spPr>
        <p:txBody>
          <a:bodyPr wrap="none" lIns="0" tIns="0" rIns="0" bIns="0"/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架构的确定性，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FFFFF"/>
                </a:solidFill>
                <a:latin typeface="Microsoft YaHei"/>
                <a:ea typeface="Microsoft YaHei"/>
              </a:rPr>
              <a:t>是转型唯一</a:t>
            </a:r>
            <a:endParaRPr/>
          </a:p>
          <a:p>
            <a:pPr>
              <a:lnSpc>
                <a:spcPct val="132000"/>
              </a:lnSpc>
            </a:pPr>
            <a:r>
              <a:rPr lang="zh-CN" sz="4050" b="1">
                <a:solidFill>
                  <a:srgbClr val="FA4F24"/>
                </a:solidFill>
                <a:latin typeface="Microsoft YaHei"/>
                <a:ea typeface="Microsoft YaHei"/>
              </a:rPr>
              <a:t>可复用的资产。</a:t>
            </a:r>
            <a:endParaRPr/>
          </a:p>
        </p:txBody>
      </p:sp>
      <p:sp>
        <p:nvSpPr>
          <p:cNvPr id="798" name=""/>
          <p:cNvSpPr/>
          <p:nvPr/>
        </p:nvSpPr>
        <p:spPr>
          <a:xfrm rot="0" flipH="0" flipV="0">
            <a:off x="838200" y="5229225"/>
            <a:ext cx="1028700" cy="47625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799" name="" descr="{&quot;isTemplate&quot;:true,&quot;type&quot;:&quot;text&quot;}"/>
          <p:cNvSpPr txBox="1"/>
          <p:nvPr/>
        </p:nvSpPr>
        <p:spPr>
          <a:xfrm rot="0" flipH="0" flipV="0">
            <a:off x="838200" y="5562600"/>
            <a:ext cx="6858000" cy="8001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业务会变、技术会换，唯有被清晰定义的架构可以沉淀下来</a:t>
            </a:r>
            <a:r>
              <a:rPr lang="en-US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 xml:space="preserve"> 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5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让每一次转型都不必从零开始。</a:t>
            </a:r>
            <a:endParaRPr/>
          </a:p>
        </p:txBody>
      </p:sp>
      <p:sp>
        <p:nvSpPr>
          <p:cNvPr id="800" name=""/>
          <p:cNvSpPr/>
          <p:nvPr/>
        </p:nvSpPr>
        <p:spPr>
          <a:xfrm rot="0" flipH="0" flipV="0">
            <a:off x="838200" y="5810250"/>
            <a:ext cx="111442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1" name="" descr="{&quot;isTemplate&quot;:true,&quot;type&quot;:&quot;text&quot;}"/>
          <p:cNvSpPr txBox="1"/>
          <p:nvPr/>
        </p:nvSpPr>
        <p:spPr>
          <a:xfrm rot="0" flipH="0" flipV="0">
            <a:off x="990600" y="5886450"/>
            <a:ext cx="809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BA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业务架构</a:t>
            </a:r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2085975" y="5810250"/>
            <a:ext cx="11334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3" name="" descr="{&quot;isTemplate&quot;:true,&quot;type&quot;:&quot;text&quot;}"/>
          <p:cNvSpPr txBox="1"/>
          <p:nvPr/>
        </p:nvSpPr>
        <p:spPr>
          <a:xfrm rot="0" flipH="0" flipV="0">
            <a:off x="2238375" y="588645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DA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数据架构</a:t>
            </a:r>
            <a:endParaRPr/>
          </a:p>
        </p:txBody>
      </p:sp>
      <p:sp>
        <p:nvSpPr>
          <p:cNvPr id="804" name=""/>
          <p:cNvSpPr/>
          <p:nvPr/>
        </p:nvSpPr>
        <p:spPr>
          <a:xfrm rot="0" flipH="0" flipV="0">
            <a:off x="3352800" y="5810250"/>
            <a:ext cx="1123950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3505200" y="5886450"/>
            <a:ext cx="81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AA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应用架构</a:t>
            </a:r>
            <a:endParaRPr/>
          </a:p>
        </p:txBody>
      </p:sp>
      <p:sp>
        <p:nvSpPr>
          <p:cNvPr id="806" name=""/>
          <p:cNvSpPr/>
          <p:nvPr/>
        </p:nvSpPr>
        <p:spPr>
          <a:xfrm rot="0" flipH="0" flipV="0">
            <a:off x="4610100" y="5810250"/>
            <a:ext cx="1095375" cy="323850"/>
          </a:xfrm>
          <a:prstGeom prst="roundRect">
            <a:avLst>
              <a:gd name="adj" fmla="val 8824"/>
            </a:avLst>
          </a:prstGeom>
          <a:ln w="12700">
            <a:solidFill>
              <a:srgbClr val="FFFFFF">
                <a:alpha val="3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4762500" y="5886450"/>
            <a:ext cx="790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 xml:space="preserve">TA </a:t>
            </a:r>
            <a:r>
              <a:rPr lang="zh-CN" sz="1125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技术架构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9829800" y="4819650"/>
            <a:ext cx="1638300" cy="1466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600" b="1">
                <a:solidFill>
                  <a:srgbClr val="FFFFFF">
                    <a:alpha val="20000"/>
                  </a:srgbClr>
                </a:solidFill>
                <a:latin typeface="Microsoft YaHei"/>
                <a:ea typeface="Microsoft YaHei"/>
              </a:rPr>
              <a:t>EA</a:t>
            </a:r>
            <a:endParaRPr/>
          </a:p>
        </p:txBody>
      </p:sp>
      <p:sp>
        <p:nvSpPr>
          <p:cNvPr id="809" name=""/>
          <p:cNvSpPr/>
          <p:nvPr/>
        </p:nvSpPr>
        <p:spPr>
          <a:xfrm rot="0" flipH="0" flipV="0">
            <a:off x="838200" y="6467475"/>
            <a:ext cx="133350" cy="133350"/>
          </a:xfrm>
          <a:prstGeom prst="rect">
            <a:avLst/>
          </a:prstGeom>
          <a:solidFill>
            <a:srgbClr val="FA4F24"/>
          </a:solidFill>
          <a:ln/>
        </p:spPr>
        <p:txBody>
          <a:bodyPr/>
          <a:p/>
        </p:txBody>
      </p:sp>
      <p:sp>
        <p:nvSpPr>
          <p:cNvPr id="810" name="" descr="{&quot;isTemplate&quot;:true,&quot;type&quot;:&quot;text&quot;}"/>
          <p:cNvSpPr txBox="1"/>
          <p:nvPr/>
        </p:nvSpPr>
        <p:spPr>
          <a:xfrm rot="0" flipH="0" flipV="0">
            <a:off x="1066800" y="6448425"/>
            <a:ext cx="2019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硕磐机密</a:t>
            </a: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EA</a:t>
            </a:r>
            <a:r>
              <a:rPr lang="zh-CN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企业架构咨询方法论</a:t>
            </a:r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10896600" y="644842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26 / 26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2026-10-11T18:15:09Z</dcterms:created>
  <dcterms:modified xsi:type="dcterms:W3CDTF">2026-10-11T18:15:09Z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{"AIGC":{"Label":"1","ContentProducer":"00119111010856365494821B355","ProduceID":"01a12a55ed6c761baa354b844d37adc0","ReservedCode1":"","ContentPropagator":"00119111010856365494821B355","PropagateID":"01a12a55ed6c761baa354b844d37adc0","ReservedCode2":""}}</vt:lpwstr>
  </property>
</Properties>
</file>