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theme/theme2.xml" ContentType="application/vnd.openxmlformats-officedocument.theme+xml"/>
  <Override PartName="/ppt/notesSlides/notesSlide13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18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2" Type="http://schemas.openxmlformats.org/officeDocument/2006/relationships/slide" Target="slides/slide2.xml" /><Relationship Id="rId18" Type="http://schemas.openxmlformats.org/officeDocument/2006/relationships/slide" Target="slides/slide18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17" Type="http://schemas.openxmlformats.org/officeDocument/2006/relationships/slide" Target="slides/slide17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9" Type="http://schemas.openxmlformats.org/officeDocument/2006/relationships/slide" Target="slides/slide19.xml" /><Relationship Id="rId20" Type="http://schemas.openxmlformats.org/officeDocument/2006/relationships/slide" Target="slides/slide20.xml" /><Relationship Id="rId9" Type="http://schemas.openxmlformats.org/officeDocument/2006/relationships/slide" Target="slides/slide9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5" Type="http://schemas.openxmlformats.org/officeDocument/2006/relationships/slide" Target="slides/slide25.xml" /><Relationship Id="rId24" Type="http://schemas.openxmlformats.org/officeDocument/2006/relationships/slide" Target="slides/slide24.xml" /><Relationship Id="rId26" Type="http://schemas.openxmlformats.org/officeDocument/2006/relationships/slide" Target="slides/slide26.xml" /><Relationship Id="rId27" Type="http://schemas.openxmlformats.org/officeDocument/2006/relationships/notesMaster" Target="notesMasters/notesMaster1.xml" 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" Type="http://schemas.openxmlformats.org/officeDocument/2006/relationships/slide" Target="slides/slide3.xml" /><Relationship Id="rId30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0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<Relationships xmlns="http://schemas.openxmlformats.org/package/2006/relationships"><Relationship Id="rId0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<Relationships xmlns="http://schemas.openxmlformats.org/package/2006/relationships"><Relationship Id="rId0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<Relationships xmlns="http://schemas.openxmlformats.org/package/2006/relationships"><Relationship Id="rId0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<Relationships xmlns="http://schemas.openxmlformats.org/package/2006/relationships"><Relationship Id="rId0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<Relationships xmlns="http://schemas.openxmlformats.org/package/2006/relationships"><Relationship Id="rId0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<Relationships xmlns="http://schemas.openxmlformats.org/package/2006/relationships"><Relationship Id="rId0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<Relationships xmlns="http://schemas.openxmlformats.org/package/2006/relationships"><Relationship Id="rId0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<Relationships xmlns="http://schemas.openxmlformats.org/package/2006/relationships"><Relationship Id="rId0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<Relationships xmlns="http://schemas.openxmlformats.org/package/2006/relationships"><Relationship Id="rId0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<Relationships xmlns="http://schemas.openxmlformats.org/package/2006/relationships"><Relationship Id="rId0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<Relationships xmlns="http://schemas.openxmlformats.org/package/2006/relationships"><Relationship Id="rId0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<Relationships xmlns="http://schemas.openxmlformats.org/package/2006/relationships"><Relationship Id="rId0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<Relationships xmlns="http://schemas.openxmlformats.org/package/2006/relationships"><Relationship Id="rId0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<Relationships xmlns="http://schemas.openxmlformats.org/package/2006/relationships"><Relationship Id="rId0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<Relationships xmlns="http://schemas.openxmlformats.org/package/2006/relationships"><Relationship Id="rId0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4.xml" /></Relationships>
</file>

<file path=ppt/notesSlides/_rels/notesSlide18.xml.rels><?xml version="1.0" encoding="UTF-8" standalone="yes"?><Relationships xmlns="http://schemas.openxmlformats.org/package/2006/relationships"><Relationship Id="rId0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<Relationships xmlns="http://schemas.openxmlformats.org/package/2006/relationships"><Relationship Id="rId0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<Relationships xmlns="http://schemas.openxmlformats.org/package/2006/relationships"><Relationship Id="rId0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<Relationships xmlns="http://schemas.openxmlformats.org/package/2006/relationships"><Relationship Id="rId0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<Relationships xmlns="http://schemas.openxmlformats.org/package/2006/relationships"><Relationship Id="rId0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<Relationships xmlns="http://schemas.openxmlformats.org/package/2006/relationships"><Relationship Id="rId0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<Relationships xmlns="http://schemas.openxmlformats.org/package/2006/relationships"><Relationship Id="rId0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<Relationships xmlns="http://schemas.openxmlformats.org/package/2006/relationships"><Relationship Id="rId0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<Relationships xmlns="http://schemas.openxmlformats.org/package/2006/relationships"><Relationship Id="rId0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各位领导、各位同事，大家好。今天向各位汇报的是《EA 企业架构咨询方法论》。
这份方法论的方法论依据，是华为公司数据管理部所著的《华为数据之道》。那本书讲清楚了「数据怎么管」，而我们今天要做的事情，是把它向上延伸为一套「企业架构怎么建」的完整咨询作业标准。
以「业务对象」为锚点，打通业务战略与 IT 投资的四层架构治理体系。
这套方法论不追求概念的新颖，它追求的是可复用 —— 让不同的人、在不同的项目上，做出来的架构成果是可比的。这是它唯一的目标。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进入第三章，业务架构 BA。
BA 回答的是「做什么业务」。这一章会讲方法、内容、模板三段。从这里开始，后面四章的节奏是一样的，各位可以建立一个预期。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业务架构的建模法，四步。
第一步，价值流分析。识别企业的核心价值流与端到端流程，明确价值创造的起点与终点。
第二步，能力识别。从价值流里抽出稳定的业务能力。
第三步，能力评估。按战略重要度与当前成熟度两个维度打分，定位强项、短板与冗余能力。
第四步，能力地图构建。按能力域分层构建全景地图，并把能力映射到组织与流程。
第二步的这句话我想重点讲：从价值流中抽出稳定的业务能力，也就是「做什么」，去除「谁在做」的组织干扰。
这是业务架构最容易出错的地方 —— 很多人画出来的，其实是组织架构图，而不是能力地图。组织会调整，能力相对稳定。用能力地图替代部门清单，才能让 IT 有稳定的对接面。否则组织一改，系统就得跟着改。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业务架构要交付三类核心成果。
第一类，业务能力地图。按「能力域、能力组、能力项」三层分解，要素包括能力域、能力项、成熟度、战略重要度。
第二类，价值流图。描述端到端价值创造的阶段、参与角色与关键交付，要素包括价值阶段、触发事件、交付物、周期。
第三类，组织映射表。把能力与组织单元、岗位对齐，要素包括能力、责任部门、岗位、协同方。
请各位注意这一行小字：三类成果，分别回答「有哪些能力」「怎么创造价值」「谁来承担」。三个问题缺一不可 —— 只知道能力、不知道价值怎么流转，会做成一张静态台账；只知道价值流、不落责任，会做成一张挂墙上的流程图。
右边这个能力地图示例，展示了三层结构：L1 是能力域，比如研发、供应、销售；下面展开能力组；再往下是能力项。这个三层分解的好处是，任何一项能力都能被精确定位、被指派责任。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这一页给两个可以直接拿去用的模板。
模板 A 是业务能力卡片。左边橙红竖栏里列了四个字段，每个字段旁边的小字，是填写要求。
能力编号 —— 全局唯一，与资产目录一致。示例是 BA-SCM-014。
能力定义 —— 一句话说清做什么。示例是「按承诺时点交付订单」。
业务规则 —— 规则数字化的入口。示例是「信用额度校验、库存锁定」。
度量指标 —— 可量化的 KPI。示例是「准时交付率不低于 98%」。
模板 B 是价值流图符号规范，五种符号。标准矩形表价值阶段，菱形表里程碑，右三角表交付物，实线箭头表流转方向，虚线回路表断点与返工。
这一行小字，是整个模板体系的价值主张：「字段即标准」—— 填不出某个字段，说明该能力还没真正被想清楚。比如一个能力写不出度量指标，那它大概率只是个模糊的概念，不是可管理的能力。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进入第四章，数据架构 DA。
这一章是整份方法论的枢纽。前面提过，数据架构连接业务架构与应用架构，是承上启下的那一层。这一章的内容，也最直接地继承自《华为数据之道》。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数据架构基于业务对象做设计，同样四步。
第一步，业务对象识别。按四个标准判定：重要的人、事、物，有唯一标识，相对独立且有属性，可实例化。交付物是业务对象清单。
第二步，资产目录分层。按 L1 主题域分组、L2 主题域、L3 业务对象、L4 逻辑实体、L5 属性，五层落位。
第三步，标准与模型设计。定业务、技术、管理三个视角的数据标准，同时设计概念、逻辑、物理三层模型。
第四步，数据分布规划。用 CRUD 矩阵锁定唯一权威数据源，理清信息链与数据流。
这里我想强调这一行中间的话：业务对象是业务架构与数据架构的「共同语言」—— 先定对象，再谈标准与模型。
顺序不能倒过来。如果一上来就去捞字段、定类型，那做出来的一定是一个庞大的物理表清单，而不是数据架构。先把对象定下来，标准与模型才有可以依附的骨架。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信息架构由四个组件构成。左边这个巨大的数字「4」，就是它的视觉锚点。
组件一，数据资产目录。形成企业数据地图，识别数据管理责任、解决归属争议、避免重复建设。五层分类，是它的骨架。
组件二，数据标准。统一业务侧的语言与理解。每个标准必须覆盖三个视角：业务视角，管定义与用途；技术视角，管类型与长度；管理视角，管责任主体。
组件三，数据模型。从数据视角模拟现实世界：概念模型对齐业务对象，逻辑模型固化规则，物理模型落到表结构。
组件四，数据分布。定义唯一权威数据源与 CRUD 流转，让数据血缘可追溯。
这四个组件不是并列的四份文档，而是有依赖顺序的。先有目录，才知道管什么；再有标准，才能统一口径；再有模型，才能落地结构；最后用分布，理清数据在哪儿流动。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数据架构给三个模板。
模板 A 是五层数据资产目录。请各位注意每一层后面挂的责任角色，这是它的精髓。
L1 主题域分组 —— 公司数据 Owner。
L2 主题域 —— 领域数据 Owner。
L3 业务对象 —— 业务对象 Owner，这是核心层。
L4 逻辑实体 —— 数据管家。
L5 属性 —— 数据管家。
责任随层级递减，精度随层级递增，这是目录设计的核心逻辑。
模板 B 是数据标准卡，三个视角各管一件事：业务视角统一语言，技术视角约束 IT 实施，管理视角明确责任。
模板 C 是 CRUD 矩阵，用创建、读取、更新、删除四个动作，标注每个业务对象在各应用里的角色。
底部这个判断最关键：CRUD 矩阵是过程性工具，数据源是结论性设计 —— 发现多个「C」，才能锁定唯一权威源。请看表格里「客户」这一行，ERP 和 CRM 都是 C，说明客户数据有两个创建方。这就是数据质量问题的根源，必须治理到唯一创建方。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进入第五章，应用架构 AA。
前面三章讲的是「业务要什么」「数据怎么组织」，这一章回答「用什么系统来承载」。从这一章开始，我们的讨论从「规划」转向「治理」。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应用架构的四步作业法。
第一步，能力映射。把 BA 输出的业务能力逐项映射到承载它的应用系统，识别「一能力多系统」。
第二步，应用盘点。建立应用全景清单：上线年份、用户量、技术栈、维护成本、业务关键度。
第三步，热力图评估。以业务价值与技术健康度两个维度评估，定位高价值高风险的应用，以及低价值冗余的应用。
第四步，组合决策。对每个应用给出建、买、集成、退役四态决策，形成组合演进方向。
这一行小字很直白：应用不是越多越好。数量增长是技术债的主要来源，组合治理比新建更重要。
这是我们很多企业的真实处境 —— 这些年建了几百个系统，真正的问题不是缺系统，而是冗余、孤岛和维护成本。所以应用架构的核心动作不是「再建一个」，而是「先盘清楚，再决定建还是退」。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全篇分六个主干模块，从方法论总纲到四层架构逐层落地。
我特别想请各位注意这一行小字 —— 每一层都包含「方法、内容、模板」三段式。这是我们和很多架构方法论最大的不同。别人只给你一张图，而我们给你图，给你要交付的清单，还给你填空的模板。
01、02 是总纲层，讲方法论本身和战略输入；03 到 06 是四层架构，分别是 BA 业务架构、DA 数据架构、AA 应用架构、TA 技术架构。
六个模块，我们逐层展开。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应用架构交付三份成果，这一行小字已经把它们的边界划清了：清单解决「有什么」，关系图解决「怎么连」，架构原则解决「以后怎么建」。
交付物一，应用组合清单。请看这张表，五个字段：应用名称、承载能力、技术健康度、业务价值、决策。示例里，CRM 旧版因为技术健康度是 D、业务价值只有 B，决策是「退役」；报表工具 X 决策是「集成」；订单中心和产线 MES 决策是「保留」。
交付物二，应用集成关系图。前端应用通过统一的集成总线访问后端系统，而不是前端直连后端。总线化的意义，是把 N 乘 N 的连接收敛为 N 乘 1。
交付物三，架构原则。四条：核心自建非核采购，优先 SaaS 而非自建，集成优于重建，定期组合评审。
这四条里，第三条「集成优于重建」是最省钱的 —— 能通过接口复用的，不得另建平行系统。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这一页给应用架构的两个模板。
左边是应用卡片，四个字段。
应用编号 —— 全局唯一。
承载能力 —— 必须挂到能力。示例是「订单履约 BA-SCM-014」。
技术健康度 —— A 到 D 四级。
业务价值 —— 与能力重要度保持一致。
请注意第二个字段的填写要求：必须挂到能力。这就是前面反复讲的那条主线 —— 业务对象、业务能力是贯穿四层的锚点。在应用架构里，它体现为每个应用必须说清自己承载哪个能力。挂不上的应用，就是冗余的候选。
右边是建、买、集成、退役决策表，每一态都给了判定条件。
建 —— 核心能力，且市场上没有成熟产品。
买 —— 非核心，且市场成熟。
集成 —— 已有系统可以复用。
退役 —— 低价值，且维护成本高。
这一行小字是这一页的价值主张：决策表把「拍脑袋」变成「按标准判定」，四个字段就能定一个应用的去向。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进入最后一章，技术架构 TA。
这是四层架构的底座。前面所有的设计，最终都要靠技术来落地。这一章我特别想讲一个态度问题 —— 怎么面对技术的快速变化。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技术架构的四步作业法。
第一步，需求输入。从 AA 的应用组合与 DA 的数据规模反推技术需求：并发、时延、容量、可用性。
第二步，分层设计。按基础设施、平台、数据、集成、安全五层划分，明确每层职责与层间接口。
第三步，选型评估。对候选技术做成熟度、生态、成本、锁定风险，四维评估，给出推荐与理由。
第四步，演进路线。把目标态拆为三阶段，标注里程碑与退坡路径。
这一页的核心主张，请各位记住左边这句话：不在单点技术上押注，而在分层结构与接口标准上投资，让技术换代不推翻业务。
技术一定会过时，这是无法回避的。但如果分层清楚、接口标准明确，那么换掉某一层的技术，就是一次局部替换，而不是一次全系统重构。这就是「以架构确定性应对技术不确定性」的真实含义。
第一步「需求输入」也值得点一句：技术需求不是 IT 部门自己拍出来的，它是从应用架构和数据架构倒推出来的。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技术架构交付三份成果，这一行小字划清了边界：组件清单解决「用什么」，部署视图解决「放哪里」，标准规范解决「怎么管」。
交付物一，技术组件清单。这张表五个字段：技术层、代表性组件、成熟度、锁定风险、策略。示例里，基础设施层是容器平台和云主机，锁定风险中等，策略是云原生；数据平台层是数据湖和数仓，锁定风险低，策略是湖仓一体；集成层是 API 网关和消息，策略是统一网关；安全层是统一身份和审计，策略是零信任。
请各位注意「锁定风险」这一列 —— 这是选型时最容易被忽略、但代价最大的一个维度。技术选型一旦被厂商锁定，后续的议价能力和迁移自由度都会丧失。
交付物二，部署视图。三个环境：生产环境，核心应用集群双活；灾备中心，同城灾备、数据实时同步；测试环境，与生产隔离、数据脱敏。
交付物三，技术标准规范四类 —— 技术选型标准、接口与集成标准、部署与运维标准、安全与合规标准。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最后一页模板，也是全书唯一一张路线图。
上方是技术演进路线图，从「当前」指向「目标态」，分三个阶段。
阶段一，夯实基础。里程碑是容器化率达到 60%，统一云底座与基础监控。
阶段二，平台整合。里程碑是数据中台上线，统一数据底座与集成总线。
阶段三，云原生化。里程碑是应用云原生达到 80%，实现弹性伸缩与自动运维体系。
请各位注意，这三个色块的高度是递增的 —— 它同时表达了能力成熟度的爬升，和投入的累积。
下方是技术组件卡片模板，四个字段。组件定位，说清所属技术层与架构职责；选型理由，覆盖成熟度、生态、成本、锁定风险；部署要求，写明环境、规格、可用性等级；运维责任，落到责任团队、SLA 和监控指标。
右下角这个判断，是全场的收束句之一：技术路线的价值，不在选了哪家产品，而在每个阶段都能退坡。若阶段目标不达标，可以退回上一稳态，而不致业务中断。
这是路线图和甘特图最本质的区别 —— 甘特图只讲「什么时候做完」，而路线图还讲「做不完怎么办」。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最后，我想把这套方法论浓缩成一句话送给各位。
架构的确定性，是转型唯一可复用的资产。
业务会变，技术会换，这是常态。唯有被清晰定义的架构可以沉淀下来，让每一次转型都不必从零开始。
我们做这套方法论，最终希望的就是这件事 —— 让上层的战略变化、下层技术的变化，都能被中间那层稳定的架构缓冲住。
BA 业务架构、DA 数据架构、AA 应用架构、TA 技术架构，四个模块，每一层都有方法、内容、模板，可以直接用在下一个项目上。
我的汇报到这里，谢谢各位。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这一页是全场的地基，请各位多停留一会。
四层架构共同回答一个问题：战略如何落到系统。
请看右侧这个堆叠结构。从上到下不是简单罗列，而是有依赖关系的。业务架构是基础，数据架构是枢纽，应用架构是载体，技术架构是底座。
每一层都有自己的核心问句。BA 回答「做什么业务」，DA 回答「需要什么数据」，AA 回答「用什么系统承载」，TA 回答「用什么技术实现」。
请特别注意右侧这根双向的虚线箭头。架构不是自上而下单向分解，而是逐层分解、双向校验。上层定「做什么」，下层要能回答「怎么实现」；如果下层实现不了，上层必须回头改。这一点，是这套方法论区别于传统规划方式的核心。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进入第一章，方法论总体介绍。
这一章只回答两个问题：这套方法论的内核是什么，以及作业流程怎么走。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这一页讲方法论的内核：以「业务对象」为唯一锚点，贯穿四层。
四层架构不是四份各自独立的文档，而是同一套业务对象在不同抽象层上的展开。这句话的意思是，BA 层面识别出来的「客户」「订单」「物料」，到了 DA 层面就是数据资产目录里的业务对象，到了 AA 层面就是应用系统要承载的对象，到了 TA 层面就是数据存储的对象。同一个词，四层共用。
左边这三条，是我们承诺的作业闭环。
方法，回答「怎么做」。定义作业步骤、输入输出与判定标准，避免咨询成果因人而异。
内容，回答「做什么」。明确该层架构必须交付的结构化清单与关键要素，杜绝漏项。
模板，回答「做成什么样」。给出标准样式与填写要求，保证跨项目、跨团队成果可比可复用。
右边是三条设计总则，请各位重点记住第一条和第三条。
第一条，业务主导 —— 数据与架构的责任主体在业务，不在 IT。这一条很容易被越俎代庖，请务必守住。
第三条，同源共享 —— 一个对象一个 Owner，一份数据一个权威源。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方法论落到纸上，就是这五步：从愿景到路线图。
我想强调这一行小字：每一步都以「可评审的交付物」收口。这是咨询项目最容易翻车的地方 —— 谈了很多轮，纪要一大摞，但拿不出一个能让决策层签字的东西。
第一步，愿景与战略对齐。访谈高层，锁定业务愿景、战略目标与 KPI 基线，形成战略输入清单。
第二步，业务架构建模。价值流拆解，到能力识别，到能力评估，输出业务能力地图。
第三步，数据架构设计。基于业务对象识别资产目录、统一定义标准、设计模型与分布。
第四步，应用与技术架构。能力映射应用组合、评估冗余，再做技术分层选型与部署视图设计。
第五步，差距分析与路线图。AS-IS 与 TO-BE 对比，拆解为可排序、可投资、可考核的举措。
请各位注意每一步右边那个浅橙色的小标签 —— 那一栏是交付物，也就是这一步做完必须交出来的东西。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进入第二章，业务愿景和战略。
这一章是四层架构的输入。架构做得好不好，很大程度上取决于这一章的输入清不清楚。很多架构项目失败的根因，不在架构本身，而在战略输入是模糊的。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愿景定义「去哪」，战略回答「怎么去」。
左边这个五层金字塔，是从上到下逐层落地的路径。
最上面是愿景 —— 我们要成为什么，它是不可量化的方向感。
第二层是使命 —— 我们为谁创造价值，回答存在的意义。
第三层是战略 —— 选择的路径与取舍。
第四层是举措 —— 可投资的关键动作。
最下面是 KPI —— 如何度量成功。
右边那根向上的箭头，我特别希望各位注意，它是从下往上指回去的。这表示如果 KPI 度量不出来，就说明举措不实；举措不实，说明战略没说清。这是一个自下而上的反向校验。
三层解读里，我想重点讲第二层 —— 战略，定取舍。战略的本质，是决定「不做什么」。一份什么都想要的战略，等于没有战略。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这一页回答：业务战略和 IT 战略，到底怎么对齐。
左边这张映射矩阵，列出了四条典型的业务战略，以及它对应的 IT 支撑方式和对齐强度。
市场增长 —— 对应的 IT 支撑是多渠道前端加数据洞察，强对齐。
成本领先 —— 对应流程引擎加主数据统一，强对齐。
产品创新 —— 对应模块化应用加云原生底座，中等对齐。
风险合规 —— 对应数据安全分级加血缘追溯，强对齐。
请注意最后那个橙色标签，它标的不是重要度，而是对齐强度。产品创新只有中等对齐 —— 这不是缺陷，这是事实。创新类战略的 IT 支撑本身就带有探索性，不宜过度承诺。如实标注，比强行满分更专业。
底部这一行，是我最想让各位带走的一句话：对齐度不足的根因，往往不是技术，而是业务战略本身没有说清优先级。先补战略，再谈架构。
右边是四条对齐准则，最有操作性的是第一条「目标可追溯」—— 每个 IT 项目必须挂载业务战略目标，无对应不予立项。这一条可以直接用在你们的立项评审上。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2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0.xml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2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3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4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5.xml" /><Relationship Id="rId2" Type="http://schemas.openxmlformats.org/officeDocument/2006/relationships/image" Target="media/image2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6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3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4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5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7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8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9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0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4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5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6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7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8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9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4476750" cy="6858000"/>
          </a:xfrm>
          <a:prstGeom prst="rect">
            <a:avLst/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grpSp>
        <p:nvGrpSpPr>
          <p:cNvPr id="4" name=""/>
          <p:cNvGrpSpPr/>
          <p:nvPr/>
        </p:nvGrpSpPr>
        <p:grpSpPr>
          <a:xfrm rot="540000" flipH="0" flipV="0">
            <a:off x="3924300" y="0"/>
            <a:ext cx="1143000" cy="6858000"/>
            <a:chOff x="3924300" y="0"/>
            <a:chExt cx="1143000" cy="6858000"/>
          </a:xfrm>
        </p:grpSpPr>
        <p:sp>
          <p:nvSpPr>
            <p:cNvPr id="5" name=""/>
            <p:cNvSpPr/>
            <p:nvPr/>
          </p:nvSpPr>
          <p:spPr>
            <a:xfrm rot="0" flipH="0" flipV="0">
              <a:off x="3924300" y="0"/>
              <a:ext cx="1143000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p>
              <a:pPr/>
              <a:endParaRPr/>
            </a:p>
          </p:txBody>
        </p:sp>
      </p:grpSp>
      <p:sp>
        <p:nvSpPr>
          <p:cNvPr id="6" name=""/>
          <p:cNvSpPr/>
          <p:nvPr/>
        </p:nvSpPr>
        <p:spPr>
          <a:xfrm rot="0" flipH="0" flipV="0">
            <a:off x="11239500" y="914400"/>
            <a:ext cx="38100" cy="8382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85800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FFFFFF"/>
                </a:solidFill>
                <a:latin typeface="Microsoft YaHei"/>
                <a:ea typeface="Microsoft YaHei"/>
              </a:rPr>
              <a:t>BOULDERAI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97155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TECHNOLOGIES · SOLUTION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4648200"/>
            <a:ext cx="28575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FFFFFF">
                    <a:alpha val="22000"/>
                  </a:srgbClr>
                </a:solidFill>
                <a:latin typeface="Microsoft YaHei"/>
                <a:ea typeface="Microsoft YaHei"/>
              </a:rPr>
              <a:t>EA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577215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FFFFFF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905500" y="2076450"/>
            <a:ext cx="5715000" cy="20859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5700" b="1">
                <a:solidFill>
                  <a:srgbClr val="0F1423"/>
                </a:solidFill>
                <a:latin typeface="Microsoft YaHei"/>
                <a:ea typeface="Microsoft YaHei"/>
              </a:rPr>
              <a:t>EA</a:t>
            </a:r>
            <a:r>
              <a:rPr lang="zh-CN" sz="5700" b="1">
                <a:solidFill>
                  <a:srgbClr val="0F1423"/>
                </a:solidFill>
                <a:latin typeface="Microsoft YaHei"/>
                <a:ea typeface="Microsoft YaHei"/>
              </a:rPr>
              <a:t>企业架构</a:t>
            </a:r>
            <a:endParaRPr/>
          </a:p>
          <a:p>
            <a:pPr>
              <a:lnSpc>
                <a:spcPct val="120000"/>
              </a:lnSpc>
            </a:pPr>
            <a:r>
              <a:rPr lang="zh-CN" sz="5700" b="1">
                <a:solidFill>
                  <a:srgbClr val="FA4F24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5905500" y="4429125"/>
            <a:ext cx="9144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905500" y="4724400"/>
            <a:ext cx="57150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3A4050"/>
                </a:solidFill>
                <a:latin typeface="Microsoft YaHei"/>
                <a:ea typeface="Microsoft YaHei"/>
              </a:rPr>
              <a:t>以「业务对象」为锚点，打通业务战略与</a:t>
            </a:r>
            <a:r>
              <a:rPr lang="en-US" sz="1650">
                <a:solidFill>
                  <a:srgbClr val="3A4050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650">
                <a:solidFill>
                  <a:srgbClr val="3A4050"/>
                </a:solidFill>
                <a:latin typeface="Microsoft YaHei"/>
                <a:ea typeface="Microsoft YaHei"/>
              </a:rPr>
              <a:t>投资的四层架构治理体系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905500" y="5286375"/>
            <a:ext cx="567690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方法论依据：《华为数据之道》（华为公司数据管理部</a:t>
            </a: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著）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BA · DA · AA · TA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四层架构</a:t>
            </a: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 |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方法</a:t>
            </a: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内容</a:t>
            </a: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模板</a:t>
            </a: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三段式作业标准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905500" y="6010275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4B8C0"/>
                </a:solidFill>
                <a:latin typeface="Microsoft YaHei"/>
                <a:ea typeface="Microsoft YaHei"/>
              </a:rPr>
              <a:t>硕磐智能</a:t>
            </a:r>
            <a:r>
              <a:rPr lang="en-US" sz="1050">
                <a:solidFill>
                  <a:srgbClr val="B4B8C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B4B8C0"/>
                </a:solidFill>
                <a:latin typeface="Microsoft YaHei"/>
                <a:ea typeface="Microsoft YaHei"/>
              </a:rPr>
              <a:t>咨询交付版</a:t>
            </a:r>
            <a:r>
              <a:rPr lang="en-US" sz="1050">
                <a:solidFill>
                  <a:srgbClr val="B4B8C0"/>
                </a:solidFill>
                <a:latin typeface="Microsoft YaHei"/>
                <a:ea typeface="Microsoft YaHei"/>
              </a:rPr>
              <a:t xml:space="preserve"> · 2026.10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本方法论覆盖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六个主干模块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从方法论总纲到四层架构逐层落地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每层均含「方法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内容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模板」三段式作业标准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657225" y="1381125"/>
            <a:ext cx="3533775" cy="2009775"/>
          </a:xfrm>
          <a:prstGeom prst="roundRect">
            <a:avLst>
              <a:gd name="adj" fmla="val 189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657225" y="1381125"/>
            <a:ext cx="3533775" cy="2009775"/>
          </a:xfrm>
          <a:custGeom>
            <a:pathLst>
              <a:path w="371" h="211">
                <a:moveTo>
                  <a:pt x="5" y="211"/>
                </a:moveTo>
                <a:cubicBezTo>
                  <a:pt x="4" y="211"/>
                  <a:pt x="3" y="211"/>
                  <a:pt x="2" y="210"/>
                </a:cubicBezTo>
                <a:cubicBezTo>
                  <a:pt x="1" y="210"/>
                  <a:pt x="0" y="209"/>
                  <a:pt x="0" y="207"/>
                </a:cubicBezTo>
                <a:lnTo>
                  <a:pt x="0" y="207"/>
                </a:lnTo>
                <a:lnTo>
                  <a:pt x="0" y="20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885825" y="1609725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628775" y="1609725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423"/>
                </a:solidFill>
                <a:latin typeface="Microsoft YaHei"/>
                <a:ea typeface="Microsoft YaHei"/>
              </a:rPr>
              <a:t>方法论总体介绍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628775" y="1981200"/>
            <a:ext cx="2286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以业务对象为唯一锚点，构建方法—内容—模板的三段式作业闭环。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4381500" y="1381125"/>
            <a:ext cx="3524250" cy="2009775"/>
          </a:xfrm>
          <a:prstGeom prst="roundRect">
            <a:avLst>
              <a:gd name="adj" fmla="val 189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4381500" y="1381125"/>
            <a:ext cx="3524250" cy="2009775"/>
          </a:xfrm>
          <a:custGeom>
            <a:pathLst>
              <a:path w="370" h="211">
                <a:moveTo>
                  <a:pt x="5" y="211"/>
                </a:moveTo>
                <a:cubicBezTo>
                  <a:pt x="4" y="211"/>
                  <a:pt x="3" y="211"/>
                  <a:pt x="2" y="210"/>
                </a:cubicBezTo>
                <a:cubicBezTo>
                  <a:pt x="1" y="210"/>
                  <a:pt x="0" y="209"/>
                  <a:pt x="0" y="207"/>
                </a:cubicBezTo>
                <a:lnTo>
                  <a:pt x="0" y="207"/>
                </a:lnTo>
                <a:lnTo>
                  <a:pt x="0" y="20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4610100" y="1609725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353050" y="1609725"/>
            <a:ext cx="2276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423"/>
                </a:solidFill>
                <a:latin typeface="Microsoft YaHei"/>
                <a:ea typeface="Microsoft YaHei"/>
              </a:rPr>
              <a:t>业务愿景和战略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5353050" y="1981200"/>
            <a:ext cx="22764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愿景定义「去哪」，战略回答「怎么去」，</a:t>
            </a:r>
            <a:r>
              <a:rPr lang="en-US" sz="1350">
                <a:solidFill>
                  <a:srgbClr val="3A4050"/>
                </a:solidFill>
                <a:latin typeface="Microsoft YaHei"/>
                <a:ea typeface="Microsoft YaHei"/>
              </a:rPr>
              <a:t xml:space="preserve">KPI </a:t>
            </a: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锁定如何度量。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8096250" y="1381125"/>
            <a:ext cx="3533775" cy="2009775"/>
          </a:xfrm>
          <a:prstGeom prst="roundRect">
            <a:avLst>
              <a:gd name="adj" fmla="val 189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8096250" y="1381125"/>
            <a:ext cx="3533775" cy="2009775"/>
          </a:xfrm>
          <a:custGeom>
            <a:pathLst>
              <a:path w="371" h="211">
                <a:moveTo>
                  <a:pt x="5" y="211"/>
                </a:moveTo>
                <a:cubicBezTo>
                  <a:pt x="4" y="211"/>
                  <a:pt x="3" y="211"/>
                  <a:pt x="2" y="210"/>
                </a:cubicBezTo>
                <a:cubicBezTo>
                  <a:pt x="1" y="210"/>
                  <a:pt x="0" y="209"/>
                  <a:pt x="0" y="207"/>
                </a:cubicBezTo>
                <a:lnTo>
                  <a:pt x="0" y="207"/>
                </a:lnTo>
                <a:lnTo>
                  <a:pt x="0" y="20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8324850" y="1609725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9067800" y="1609725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1800" b="1">
                <a:solidFill>
                  <a:srgbClr val="0F1423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9067800" y="1981200"/>
            <a:ext cx="2286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价值流拆解与业务能力建模，输出能力地图与组织映射。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657225" y="3581400"/>
            <a:ext cx="3533775" cy="2000250"/>
          </a:xfrm>
          <a:prstGeom prst="roundRect">
            <a:avLst>
              <a:gd name="adj" fmla="val 1905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657225" y="3581400"/>
            <a:ext cx="3533775" cy="2000250"/>
          </a:xfrm>
          <a:custGeom>
            <a:pathLst>
              <a:path w="371" h="210">
                <a:moveTo>
                  <a:pt x="5" y="210"/>
                </a:moveTo>
                <a:cubicBezTo>
                  <a:pt x="4" y="210"/>
                  <a:pt x="3" y="210"/>
                  <a:pt x="2" y="209"/>
                </a:cubicBezTo>
                <a:cubicBezTo>
                  <a:pt x="1" y="209"/>
                  <a:pt x="0" y="208"/>
                  <a:pt x="0" y="206"/>
                </a:cubicBezTo>
                <a:lnTo>
                  <a:pt x="0" y="206"/>
                </a:lnTo>
                <a:lnTo>
                  <a:pt x="0" y="20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885825" y="3810000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1628775" y="3810000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1800" b="1">
                <a:solidFill>
                  <a:srgbClr val="0F1423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628775" y="4181475"/>
            <a:ext cx="2286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基于业务对象设计信息架构：目录、标准、模型、分布四组件。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4381500" y="3581400"/>
            <a:ext cx="3524250" cy="2000250"/>
          </a:xfrm>
          <a:prstGeom prst="roundRect">
            <a:avLst>
              <a:gd name="adj" fmla="val 1905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4381500" y="3581400"/>
            <a:ext cx="3524250" cy="2000250"/>
          </a:xfrm>
          <a:custGeom>
            <a:pathLst>
              <a:path w="370" h="210">
                <a:moveTo>
                  <a:pt x="5" y="210"/>
                </a:moveTo>
                <a:cubicBezTo>
                  <a:pt x="4" y="210"/>
                  <a:pt x="3" y="210"/>
                  <a:pt x="2" y="209"/>
                </a:cubicBezTo>
                <a:cubicBezTo>
                  <a:pt x="1" y="209"/>
                  <a:pt x="0" y="208"/>
                  <a:pt x="0" y="206"/>
                </a:cubicBezTo>
                <a:lnTo>
                  <a:pt x="0" y="206"/>
                </a:lnTo>
                <a:lnTo>
                  <a:pt x="0" y="20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4610100" y="3810000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5353050" y="3810000"/>
            <a:ext cx="2276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1800" b="1">
                <a:solidFill>
                  <a:srgbClr val="0F1423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5353050" y="4181475"/>
            <a:ext cx="22764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能力映射应用组合，以建</a:t>
            </a:r>
            <a:r>
              <a:rPr lang="en-US" sz="135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买</a:t>
            </a:r>
            <a:r>
              <a:rPr lang="en-US" sz="135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集成</a:t>
            </a:r>
            <a:r>
              <a:rPr lang="en-US" sz="135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退役四态决策治理。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8096250" y="3581400"/>
            <a:ext cx="3533775" cy="2000250"/>
          </a:xfrm>
          <a:prstGeom prst="roundRect">
            <a:avLst>
              <a:gd name="adj" fmla="val 1905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8096250" y="3581400"/>
            <a:ext cx="3533775" cy="2000250"/>
          </a:xfrm>
          <a:custGeom>
            <a:pathLst>
              <a:path w="371" h="210">
                <a:moveTo>
                  <a:pt x="5" y="210"/>
                </a:moveTo>
                <a:cubicBezTo>
                  <a:pt x="4" y="210"/>
                  <a:pt x="3" y="210"/>
                  <a:pt x="2" y="209"/>
                </a:cubicBezTo>
                <a:cubicBezTo>
                  <a:pt x="1" y="209"/>
                  <a:pt x="0" y="208"/>
                  <a:pt x="0" y="206"/>
                </a:cubicBezTo>
                <a:lnTo>
                  <a:pt x="0" y="206"/>
                </a:lnTo>
                <a:lnTo>
                  <a:pt x="0" y="20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8324850" y="3810000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4F24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9067800" y="3810000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1800" b="1">
                <a:solidFill>
                  <a:srgbClr val="0F1423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9067800" y="4181475"/>
            <a:ext cx="2286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以架构的确定性应对技术的不确定性，输出选型与演进路线。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02 / 26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四层架构共同回答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「战略如何落到系统」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业务架构是基础，数据架构是枢纽，应用架构是载体，技术架构是底座</a:t>
            </a:r>
            <a:endParaRPr/>
          </a:p>
        </p:txBody>
      </p:sp>
      <p:sp>
        <p:nvSpPr>
          <p:cNvPr id="81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2209800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600" b="1">
                <a:gradFill>
                  <a:gsLst>
                    <a:gs pos="0">
                      <a:srgbClr val="FA4F24"/>
                    </a:gs>
                    <a:gs pos="100000">
                      <a:srgbClr val="F87D2F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4A</a:t>
            </a:r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609600" y="3514725"/>
            <a:ext cx="2209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企业架构四层模型</a:t>
            </a:r>
            <a:endParaRPr/>
          </a:p>
        </p:txBody>
      </p:sp>
      <p:sp>
        <p:nvSpPr>
          <p:cNvPr id="819" name=""/>
          <p:cNvSpPr/>
          <p:nvPr/>
        </p:nvSpPr>
        <p:spPr>
          <a:xfrm rot="0" flipH="0" flipV="0">
            <a:off x="609600" y="3905250"/>
            <a:ext cx="533400" cy="381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609600" y="4095750"/>
            <a:ext cx="22098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逐层分解、双向校验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上层定「做什么」，下层答「怎么实现」。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03 / 26</a:t>
            </a:r>
            <a:endParaRPr/>
          </a:p>
        </p:txBody>
      </p:sp>
      <p:pic>
        <p:nvPicPr>
          <p:cNvPr id="8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124200" y="1381125"/>
            <a:ext cx="8001000" cy="3143250"/>
          </a:xfrm>
          <a:prstGeom prst="rect">
            <a:avLst/>
          </a:prstGeom>
          <a:ln/>
        </p:spPr>
      </p:pic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3390900" y="1552575"/>
            <a:ext cx="628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4210050" y="1514475"/>
            <a:ext cx="13620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4210050" y="1771650"/>
            <a:ext cx="1362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Business Architecture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9258300" y="1619250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做什么业务</a:t>
            </a:r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3390900" y="2371725"/>
            <a:ext cx="628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4210050" y="2333625"/>
            <a:ext cx="1114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4210050" y="259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Data Architecture</a:t>
            </a:r>
            <a:endParaRPr/>
          </a:p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9258300" y="2438400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需要什么数据</a:t>
            </a:r>
            <a:endParaRPr/>
          </a:p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3390900" y="3190875"/>
            <a:ext cx="628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F1423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4210050" y="3152775"/>
            <a:ext cx="1543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4210050" y="3409950"/>
            <a:ext cx="1543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4A34"/>
                </a:solidFill>
                <a:latin typeface="Microsoft YaHei"/>
                <a:ea typeface="Microsoft YaHei"/>
              </a:rPr>
              <a:t>Application Architecture</a:t>
            </a:r>
            <a:endParaRPr/>
          </a:p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9258300" y="3257550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用什么系统承载</a:t>
            </a:r>
            <a:endParaRPr/>
          </a:p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3390900" y="4010025"/>
            <a:ext cx="628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F1423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4210050" y="3971925"/>
            <a:ext cx="1552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4210050" y="4229100"/>
            <a:ext cx="1552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4A34"/>
                </a:solidFill>
                <a:latin typeface="Microsoft YaHei"/>
                <a:ea typeface="Microsoft YaHei"/>
              </a:rPr>
              <a:t>Technology Architecture</a:t>
            </a:r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9258300" y="4076700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用什么技术实现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8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571500" y="11239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7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844" name=""/>
          <p:cNvSpPr/>
          <p:nvPr/>
        </p:nvSpPr>
        <p:spPr>
          <a:xfrm rot="0" flipH="0" flipV="0">
            <a:off x="6096000" y="2552700"/>
            <a:ext cx="47625" cy="14478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6553200" y="2628900"/>
            <a:ext cx="51244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方法论总体介绍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6553200" y="3609975"/>
            <a:ext cx="512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METHODOLOGY OVERVIEW</a:t>
            </a:r>
            <a:endParaRPr/>
          </a:p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6553200" y="40481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以业务对象为锚点的方法论总纲与五步作业法</a:t>
            </a:r>
            <a:endParaRPr/>
          </a:p>
        </p:txBody>
      </p:sp>
      <p:sp>
        <p:nvSpPr>
          <p:cNvPr id="848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49" name=""/>
          <p:cNvSpPr/>
          <p:nvPr/>
        </p:nvSpPr>
        <p:spPr>
          <a:xfrm rot="0" flipH="0" flipV="0">
            <a:off x="6553200" y="6315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6781800" y="62960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8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方法论以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「业务对象」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为唯一锚点贯穿四层</a:t>
            </a:r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四层架构不是四份独立文档，而是同一套业务对象在不同抽象层的展开</a:t>
            </a:r>
            <a:endParaRPr/>
          </a:p>
        </p:txBody>
      </p:sp>
      <p:sp>
        <p:nvSpPr>
          <p:cNvPr id="85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609600" y="1400175"/>
            <a:ext cx="6962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三段式作业闭环：方法</a:t>
            </a:r>
            <a:r>
              <a:rPr lang="en-US" sz="16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内容</a:t>
            </a:r>
            <a:r>
              <a:rPr lang="en-US" sz="16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endParaRPr/>
          </a:p>
        </p:txBody>
      </p:sp>
      <p:sp>
        <p:nvSpPr>
          <p:cNvPr id="857" name=""/>
          <p:cNvSpPr/>
          <p:nvPr/>
        </p:nvSpPr>
        <p:spPr>
          <a:xfrm rot="0" flipH="0" flipV="0">
            <a:off x="657225" y="1809750"/>
            <a:ext cx="6962775" cy="1171575"/>
          </a:xfrm>
          <a:prstGeom prst="roundRect">
            <a:avLst>
              <a:gd name="adj" fmla="val 325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58" name=""/>
          <p:cNvSpPr/>
          <p:nvPr/>
        </p:nvSpPr>
        <p:spPr>
          <a:xfrm rot="0" flipH="0" flipV="0">
            <a:off x="657225" y="1809750"/>
            <a:ext cx="6962775" cy="1171575"/>
          </a:xfrm>
          <a:custGeom>
            <a:pathLst>
              <a:path w="731" h="123">
                <a:moveTo>
                  <a:pt x="5" y="123"/>
                </a:moveTo>
                <a:cubicBezTo>
                  <a:pt x="4" y="123"/>
                  <a:pt x="3" y="123"/>
                  <a:pt x="2" y="122"/>
                </a:cubicBezTo>
                <a:cubicBezTo>
                  <a:pt x="1" y="122"/>
                  <a:pt x="0" y="121"/>
                  <a:pt x="0" y="119"/>
                </a:cubicBezTo>
                <a:lnTo>
                  <a:pt x="0" y="119"/>
                </a:lnTo>
                <a:lnTo>
                  <a:pt x="0" y="11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885825" y="2171700"/>
            <a:ext cx="876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A4F24"/>
                </a:solidFill>
                <a:latin typeface="Microsoft YaHei"/>
                <a:ea typeface="Microsoft YaHei"/>
              </a:rPr>
              <a:t>方法</a:t>
            </a:r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885825" y="2476500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A8F99"/>
                </a:solidFill>
                <a:latin typeface="Microsoft YaHei"/>
                <a:ea typeface="Microsoft YaHei"/>
              </a:rPr>
              <a:t>METHOD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1952625" y="2076450"/>
            <a:ext cx="53911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回答「怎么做」。定义作业步骤、输入输出与判定标准，避免咨询成果因人而异。</a:t>
            </a:r>
            <a:endParaRPr/>
          </a:p>
        </p:txBody>
      </p:sp>
      <p:sp>
        <p:nvSpPr>
          <p:cNvPr id="862" name=""/>
          <p:cNvSpPr/>
          <p:nvPr/>
        </p:nvSpPr>
        <p:spPr>
          <a:xfrm rot="0" flipH="0" flipV="0">
            <a:off x="657225" y="3114675"/>
            <a:ext cx="6962775" cy="1162050"/>
          </a:xfrm>
          <a:prstGeom prst="roundRect">
            <a:avLst>
              <a:gd name="adj" fmla="val 327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63" name=""/>
          <p:cNvSpPr/>
          <p:nvPr/>
        </p:nvSpPr>
        <p:spPr>
          <a:xfrm rot="0" flipH="0" flipV="0">
            <a:off x="657225" y="3114675"/>
            <a:ext cx="6962775" cy="1162050"/>
          </a:xfrm>
          <a:custGeom>
            <a:pathLst>
              <a:path w="731" h="122">
                <a:moveTo>
                  <a:pt x="5" y="122"/>
                </a:moveTo>
                <a:cubicBezTo>
                  <a:pt x="4" y="122"/>
                  <a:pt x="3" y="122"/>
                  <a:pt x="2" y="121"/>
                </a:cubicBezTo>
                <a:cubicBezTo>
                  <a:pt x="1" y="121"/>
                  <a:pt x="0" y="120"/>
                  <a:pt x="0" y="118"/>
                </a:cubicBezTo>
                <a:lnTo>
                  <a:pt x="0" y="118"/>
                </a:lnTo>
                <a:lnTo>
                  <a:pt x="0" y="118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885825" y="3467100"/>
            <a:ext cx="876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87D2F"/>
                </a:solidFill>
                <a:latin typeface="Microsoft YaHei"/>
                <a:ea typeface="Microsoft YaHei"/>
              </a:rPr>
              <a:t>内容</a:t>
            </a:r>
            <a:endParaRPr/>
          </a:p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885825" y="3771900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A8F99"/>
                </a:solidFill>
                <a:latin typeface="Microsoft YaHei"/>
                <a:ea typeface="Microsoft YaHei"/>
              </a:rPr>
              <a:t>CONTENT</a:t>
            </a:r>
            <a:endParaRPr/>
          </a:p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1952625" y="3381375"/>
            <a:ext cx="53911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回答「做什么」。明确该层架构必须交付的结构化清单与关键要素，杜绝漏项。</a:t>
            </a:r>
            <a:endParaRPr/>
          </a:p>
        </p:txBody>
      </p:sp>
      <p:sp>
        <p:nvSpPr>
          <p:cNvPr id="867" name=""/>
          <p:cNvSpPr/>
          <p:nvPr/>
        </p:nvSpPr>
        <p:spPr>
          <a:xfrm rot="0" flipH="0" flipV="0">
            <a:off x="657225" y="4410075"/>
            <a:ext cx="6962775" cy="1171575"/>
          </a:xfrm>
          <a:prstGeom prst="roundRect">
            <a:avLst>
              <a:gd name="adj" fmla="val 325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68" name=""/>
          <p:cNvSpPr/>
          <p:nvPr/>
        </p:nvSpPr>
        <p:spPr>
          <a:xfrm rot="0" flipH="0" flipV="0">
            <a:off x="657225" y="4410075"/>
            <a:ext cx="6962775" cy="1171575"/>
          </a:xfrm>
          <a:custGeom>
            <a:pathLst>
              <a:path w="731" h="123">
                <a:moveTo>
                  <a:pt x="5" y="123"/>
                </a:moveTo>
                <a:cubicBezTo>
                  <a:pt x="4" y="123"/>
                  <a:pt x="3" y="123"/>
                  <a:pt x="2" y="122"/>
                </a:cubicBezTo>
                <a:cubicBezTo>
                  <a:pt x="1" y="122"/>
                  <a:pt x="0" y="121"/>
                  <a:pt x="0" y="119"/>
                </a:cubicBezTo>
                <a:lnTo>
                  <a:pt x="0" y="119"/>
                </a:lnTo>
                <a:lnTo>
                  <a:pt x="0" y="11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BA47A"/>
          </a:solidFill>
          <a:ln/>
        </p:spPr>
        <p:txBody>
          <a:bodyPr/>
          <a:p>
            <a:pPr/>
            <a:endParaRPr/>
          </a:p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885825" y="4772025"/>
            <a:ext cx="876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BA47A"/>
                </a:solidFill>
                <a:latin typeface="Microsoft YaHei"/>
                <a:ea typeface="Microsoft YaHei"/>
              </a:rPr>
              <a:t>模板</a:t>
            </a:r>
            <a:endParaRPr/>
          </a:p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885825" y="5076825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A8F99"/>
                </a:solidFill>
                <a:latin typeface="Microsoft YaHei"/>
                <a:ea typeface="Microsoft YaHei"/>
              </a:rPr>
              <a:t>TEMPLATE</a:t>
            </a:r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1952625" y="4676775"/>
            <a:ext cx="53911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回答「做成什么样」。给出标准样式与填写要求，保证跨项目、跨团队成果可比可复用。</a:t>
            </a:r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7839075" y="1400175"/>
            <a:ext cx="37433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三条设计总则</a:t>
            </a:r>
            <a:endParaRPr/>
          </a:p>
        </p:txBody>
      </p:sp>
      <p:sp>
        <p:nvSpPr>
          <p:cNvPr id="873" name=""/>
          <p:cNvSpPr/>
          <p:nvPr/>
        </p:nvSpPr>
        <p:spPr>
          <a:xfrm rot="0" flipH="0" flipV="0">
            <a:off x="7839075" y="1809750"/>
            <a:ext cx="3743325" cy="1171575"/>
          </a:xfrm>
          <a:prstGeom prst="roundRect">
            <a:avLst>
              <a:gd name="adj" fmla="val 3252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8029575" y="1981200"/>
            <a:ext cx="3362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A4F24"/>
                </a:solidFill>
                <a:latin typeface="Microsoft YaHei"/>
                <a:ea typeface="Microsoft YaHei"/>
              </a:rPr>
              <a:t>①</a:t>
            </a: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800" b="1">
                <a:solidFill>
                  <a:srgbClr val="FA4F24"/>
                </a:solidFill>
                <a:latin typeface="Microsoft YaHei"/>
                <a:ea typeface="Microsoft YaHei"/>
              </a:rPr>
              <a:t>业务主导</a:t>
            </a:r>
            <a:endParaRPr/>
          </a:p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8029575" y="2352675"/>
            <a:ext cx="33623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数据与架构的责任主体在业务，不在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IT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76" name=""/>
          <p:cNvSpPr/>
          <p:nvPr/>
        </p:nvSpPr>
        <p:spPr>
          <a:xfrm rot="0" flipH="0" flipV="0">
            <a:off x="7839075" y="3114675"/>
            <a:ext cx="3743325" cy="1162050"/>
          </a:xfrm>
          <a:prstGeom prst="roundRect">
            <a:avLst>
              <a:gd name="adj" fmla="val 3279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8029575" y="3286125"/>
            <a:ext cx="3362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A4F24"/>
                </a:solidFill>
                <a:latin typeface="Microsoft YaHei"/>
                <a:ea typeface="Microsoft YaHei"/>
              </a:rPr>
              <a:t>②</a:t>
            </a: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800" b="1">
                <a:solidFill>
                  <a:srgbClr val="FA4F24"/>
                </a:solidFill>
                <a:latin typeface="Microsoft YaHei"/>
                <a:ea typeface="Microsoft YaHei"/>
              </a:rPr>
              <a:t>企业视角</a:t>
            </a:r>
            <a:endParaRPr/>
          </a:p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8029575" y="3657600"/>
            <a:ext cx="33623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跳出部门与系统边界，避免新的烟囱式建设。</a:t>
            </a:r>
            <a:endParaRPr/>
          </a:p>
        </p:txBody>
      </p:sp>
      <p:sp>
        <p:nvSpPr>
          <p:cNvPr id="879" name=""/>
          <p:cNvSpPr/>
          <p:nvPr/>
        </p:nvSpPr>
        <p:spPr>
          <a:xfrm rot="0" flipH="0" flipV="0">
            <a:off x="7839075" y="4410075"/>
            <a:ext cx="3743325" cy="1171575"/>
          </a:xfrm>
          <a:prstGeom prst="roundRect">
            <a:avLst>
              <a:gd name="adj" fmla="val 3252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8029575" y="4581525"/>
            <a:ext cx="3362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A4F24"/>
                </a:solidFill>
                <a:latin typeface="Microsoft YaHei"/>
                <a:ea typeface="Microsoft YaHei"/>
              </a:rPr>
              <a:t>③</a:t>
            </a: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800" b="1">
                <a:solidFill>
                  <a:srgbClr val="FA4F24"/>
                </a:solidFill>
                <a:latin typeface="Microsoft YaHei"/>
                <a:ea typeface="Microsoft YaHei"/>
              </a:rPr>
              <a:t>同源共享</a:t>
            </a:r>
            <a:endParaRPr/>
          </a:p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8029575" y="4953000"/>
            <a:ext cx="33623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一个对象一个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Owner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，一份数据一个权威源。</a:t>
            </a:r>
            <a:endParaRPr/>
          </a:p>
        </p:txBody>
      </p:sp>
      <p:sp>
        <p:nvSpPr>
          <p:cNvPr id="882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05 / 26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8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咨询作业分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五步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：从愿景到路线图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每一步都以「可评审的交付物」收口，避免咨询成果停留在访谈纪要</a:t>
            </a:r>
            <a:endParaRPr/>
          </a:p>
        </p:txBody>
      </p:sp>
      <p:sp>
        <p:nvSpPr>
          <p:cNvPr id="88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890" name=""/>
          <p:cNvSpPr/>
          <p:nvPr/>
        </p:nvSpPr>
        <p:spPr>
          <a:xfrm rot="0" flipH="0" flipV="0">
            <a:off x="609600" y="1381125"/>
            <a:ext cx="3009900" cy="4200525"/>
          </a:xfrm>
          <a:prstGeom prst="roundRect">
            <a:avLst>
              <a:gd name="adj" fmla="val 1266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876300" y="1647825"/>
            <a:ext cx="247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CONSULTING PROCESS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876300" y="1952625"/>
            <a:ext cx="24765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五步法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作业流程</a:t>
            </a:r>
            <a:endParaRPr/>
          </a:p>
        </p:txBody>
      </p:sp>
      <p:sp>
        <p:nvSpPr>
          <p:cNvPr id="893" name=""/>
          <p:cNvSpPr/>
          <p:nvPr/>
        </p:nvSpPr>
        <p:spPr>
          <a:xfrm rot="0" flipH="0" flipV="0">
            <a:off x="876300" y="421957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876300" y="4410075"/>
            <a:ext cx="24765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先对齐愿景与战略，再逐层展开</a:t>
            </a:r>
            <a:r>
              <a:rPr lang="en-US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BA / DA / AA / TA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，最后收口为可执行的迁移路线图。</a:t>
            </a:r>
            <a:endParaRPr/>
          </a:p>
        </p:txBody>
      </p:sp>
      <p:sp>
        <p:nvSpPr>
          <p:cNvPr id="895" name=""/>
          <p:cNvSpPr/>
          <p:nvPr/>
        </p:nvSpPr>
        <p:spPr>
          <a:xfrm rot="0" flipH="0" flipV="0">
            <a:off x="3848100" y="1381125"/>
            <a:ext cx="7734300" cy="762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4019550" y="16668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Step 1</a:t>
            </a:r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4819650" y="165735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愿景与战略对齐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6781800" y="1504950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访谈高层，锁定业务愿景、战略目标与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KPI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基线，形成战略输入清单。</a:t>
            </a:r>
            <a:endParaRPr/>
          </a:p>
        </p:txBody>
      </p:sp>
      <p:sp>
        <p:nvSpPr>
          <p:cNvPr id="899" name=""/>
          <p:cNvSpPr/>
          <p:nvPr/>
        </p:nvSpPr>
        <p:spPr>
          <a:xfrm rot="0" flipH="0" flipV="0">
            <a:off x="9963150" y="1638300"/>
            <a:ext cx="1447800" cy="247650"/>
          </a:xfrm>
          <a:prstGeom prst="roundRect">
            <a:avLst>
              <a:gd name="adj" fmla="val 1153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10039350" y="1685925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战略输入清单</a:t>
            </a:r>
            <a:endParaRPr/>
          </a:p>
        </p:txBody>
      </p:sp>
      <p:sp>
        <p:nvSpPr>
          <p:cNvPr id="901" name=""/>
          <p:cNvSpPr/>
          <p:nvPr/>
        </p:nvSpPr>
        <p:spPr>
          <a:xfrm rot="0" flipH="0" flipV="0">
            <a:off x="3848100" y="2238375"/>
            <a:ext cx="7734300" cy="762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4019550" y="25241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Step 2</a:t>
            </a:r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4819650" y="251460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业务架构建模（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>BA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6781800" y="2362200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价值流拆解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能力识别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能力评估，输出业务能力地图。</a:t>
            </a:r>
            <a:endParaRPr/>
          </a:p>
        </p:txBody>
      </p:sp>
      <p:sp>
        <p:nvSpPr>
          <p:cNvPr id="905" name=""/>
          <p:cNvSpPr/>
          <p:nvPr/>
        </p:nvSpPr>
        <p:spPr>
          <a:xfrm rot="0" flipH="0" flipV="0">
            <a:off x="9963150" y="2495550"/>
            <a:ext cx="1447800" cy="247650"/>
          </a:xfrm>
          <a:prstGeom prst="roundRect">
            <a:avLst>
              <a:gd name="adj" fmla="val 1153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10039350" y="2543175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能力地图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价值流图</a:t>
            </a:r>
            <a:endParaRPr/>
          </a:p>
        </p:txBody>
      </p:sp>
      <p:sp>
        <p:nvSpPr>
          <p:cNvPr id="907" name=""/>
          <p:cNvSpPr/>
          <p:nvPr/>
        </p:nvSpPr>
        <p:spPr>
          <a:xfrm rot="0" flipH="0" flipV="0">
            <a:off x="3848100" y="3095625"/>
            <a:ext cx="7734300" cy="771525"/>
          </a:xfrm>
          <a:prstGeom prst="roundRect">
            <a:avLst>
              <a:gd name="adj" fmla="val 493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4019550" y="33813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Step 3</a:t>
            </a:r>
            <a:endParaRPr/>
          </a:p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4819650" y="337185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数据架构设计（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>DA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6781800" y="3228975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基于业务对象识别资产目录、统一定义标准、设计模型与分布。</a:t>
            </a:r>
            <a:endParaRPr/>
          </a:p>
        </p:txBody>
      </p:sp>
      <p:sp>
        <p:nvSpPr>
          <p:cNvPr id="911" name=""/>
          <p:cNvSpPr/>
          <p:nvPr/>
        </p:nvSpPr>
        <p:spPr>
          <a:xfrm rot="0" flipH="0" flipV="0">
            <a:off x="9963150" y="3362325"/>
            <a:ext cx="1447800" cy="247650"/>
          </a:xfrm>
          <a:prstGeom prst="roundRect">
            <a:avLst>
              <a:gd name="adj" fmla="val 1153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10039350" y="3409950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信息架构四件套</a:t>
            </a:r>
            <a:endParaRPr/>
          </a:p>
        </p:txBody>
      </p:sp>
      <p:sp>
        <p:nvSpPr>
          <p:cNvPr id="913" name=""/>
          <p:cNvSpPr/>
          <p:nvPr/>
        </p:nvSpPr>
        <p:spPr>
          <a:xfrm rot="0" flipH="0" flipV="0">
            <a:off x="3848100" y="3962400"/>
            <a:ext cx="7734300" cy="762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4019550" y="42481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Step 4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4819650" y="4124325"/>
            <a:ext cx="18097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应用与技术架构（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>AA/TA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6781800" y="4086225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能力映射应用组合、评估冗余；技术分层选型与部署视图设计。</a:t>
            </a:r>
            <a:endParaRPr/>
          </a:p>
        </p:txBody>
      </p:sp>
      <p:sp>
        <p:nvSpPr>
          <p:cNvPr id="917" name=""/>
          <p:cNvSpPr/>
          <p:nvPr/>
        </p:nvSpPr>
        <p:spPr>
          <a:xfrm rot="0" flipH="0" flipV="0">
            <a:off x="9963150" y="4143375"/>
            <a:ext cx="1447800" cy="400050"/>
          </a:xfrm>
          <a:prstGeom prst="roundRect">
            <a:avLst>
              <a:gd name="adj" fmla="val 7143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10039350" y="4191000"/>
            <a:ext cx="1295400" cy="3048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应用组合清单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技术标准</a:t>
            </a:r>
            <a:endParaRPr/>
          </a:p>
        </p:txBody>
      </p:sp>
      <p:sp>
        <p:nvSpPr>
          <p:cNvPr id="919" name=""/>
          <p:cNvSpPr/>
          <p:nvPr/>
        </p:nvSpPr>
        <p:spPr>
          <a:xfrm rot="0" flipH="0" flipV="0">
            <a:off x="3848100" y="4819650"/>
            <a:ext cx="7734300" cy="762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4019550" y="51054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Step 5</a:t>
            </a:r>
            <a:endParaRPr/>
          </a:p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4819650" y="5095875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差距分析与路线图</a:t>
            </a:r>
            <a:endParaRPr/>
          </a:p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6781800" y="4943475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AS-IS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TO-BE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对比，拆解为可排序、可投资、可考核的举措。</a:t>
            </a:r>
            <a:endParaRPr/>
          </a:p>
        </p:txBody>
      </p:sp>
      <p:sp>
        <p:nvSpPr>
          <p:cNvPr id="923" name=""/>
          <p:cNvSpPr/>
          <p:nvPr/>
        </p:nvSpPr>
        <p:spPr>
          <a:xfrm rot="0" flipH="0" flipV="0">
            <a:off x="9963150" y="5076825"/>
            <a:ext cx="1447800" cy="247650"/>
          </a:xfrm>
          <a:prstGeom prst="roundRect">
            <a:avLst>
              <a:gd name="adj" fmla="val 1153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10039350" y="5124450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架构路线图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投资建议</a:t>
            </a:r>
            <a:endParaRPr/>
          </a:p>
        </p:txBody>
      </p:sp>
      <p:sp>
        <p:nvSpPr>
          <p:cNvPr id="925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06 / 26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9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571500" y="11239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7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31" name=""/>
          <p:cNvSpPr/>
          <p:nvPr/>
        </p:nvSpPr>
        <p:spPr>
          <a:xfrm rot="0" flipH="0" flipV="0">
            <a:off x="6096000" y="2552700"/>
            <a:ext cx="47625" cy="14478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6553200" y="2628900"/>
            <a:ext cx="51244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业务愿景和战略</a:t>
            </a:r>
            <a:endParaRPr/>
          </a:p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6553200" y="3609975"/>
            <a:ext cx="512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VISION &amp; STRATEGY</a:t>
            </a:r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6553200" y="40481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愿景定义去哪，战略回答怎么去，</a:t>
            </a:r>
            <a:r>
              <a:rPr lang="en-US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战略同源同频</a:t>
            </a:r>
            <a:endParaRPr/>
          </a:p>
        </p:txBody>
      </p:sp>
      <p:sp>
        <p:nvSpPr>
          <p:cNvPr id="935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36" name=""/>
          <p:cNvSpPr/>
          <p:nvPr/>
        </p:nvSpPr>
        <p:spPr>
          <a:xfrm rot="0" flipH="0" flipV="0">
            <a:off x="6553200" y="6315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6781800" y="62960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愿景定义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「去哪」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，战略回答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「怎么去」</a:t>
            </a:r>
            <a:endParaRPr/>
          </a:p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五层递进：愿景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使命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战略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举措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KPI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，每一层都必须能被上一层追溯</a:t>
            </a:r>
            <a:endParaRPr/>
          </a:p>
        </p:txBody>
      </p:sp>
      <p:sp>
        <p:nvSpPr>
          <p:cNvPr id="94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7105650" y="1400175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三层解读</a:t>
            </a:r>
            <a:endParaRPr/>
          </a:p>
        </p:txBody>
      </p:sp>
      <p:sp>
        <p:nvSpPr>
          <p:cNvPr id="944" name=""/>
          <p:cNvSpPr/>
          <p:nvPr/>
        </p:nvSpPr>
        <p:spPr>
          <a:xfrm rot="0" flipH="0" flipV="0">
            <a:off x="7143750" y="1790700"/>
            <a:ext cx="4476750" cy="1190625"/>
          </a:xfrm>
          <a:prstGeom prst="roundRect">
            <a:avLst>
              <a:gd name="adj" fmla="val 32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45" name=""/>
          <p:cNvSpPr/>
          <p:nvPr/>
        </p:nvSpPr>
        <p:spPr>
          <a:xfrm rot="0" flipH="0" flipV="0">
            <a:off x="7143750" y="1790700"/>
            <a:ext cx="4476750" cy="1190625"/>
          </a:xfrm>
          <a:custGeom>
            <a:pathLst>
              <a:path w="470" h="125">
                <a:moveTo>
                  <a:pt x="4" y="125"/>
                </a:moveTo>
                <a:cubicBezTo>
                  <a:pt x="2" y="125"/>
                  <a:pt x="0" y="123"/>
                  <a:pt x="0" y="12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7334250" y="1943100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愿景与使命：定方向</a:t>
            </a:r>
            <a:endParaRPr/>
          </a:p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7334250" y="2238375"/>
            <a:ext cx="4057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愿景是不可量化的方向感，使命回答存在的意义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二者是战略的天花板。</a:t>
            </a:r>
            <a:endParaRPr/>
          </a:p>
        </p:txBody>
      </p:sp>
      <p:sp>
        <p:nvSpPr>
          <p:cNvPr id="948" name=""/>
          <p:cNvSpPr/>
          <p:nvPr/>
        </p:nvSpPr>
        <p:spPr>
          <a:xfrm rot="0" flipH="0" flipV="0">
            <a:off x="7143750" y="3114675"/>
            <a:ext cx="4476750" cy="1190625"/>
          </a:xfrm>
          <a:prstGeom prst="roundRect">
            <a:avLst>
              <a:gd name="adj" fmla="val 32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49" name=""/>
          <p:cNvSpPr/>
          <p:nvPr/>
        </p:nvSpPr>
        <p:spPr>
          <a:xfrm rot="0" flipH="0" flipV="0">
            <a:off x="7143750" y="3114675"/>
            <a:ext cx="4476750" cy="1190625"/>
          </a:xfrm>
          <a:custGeom>
            <a:pathLst>
              <a:path w="470" h="125">
                <a:moveTo>
                  <a:pt x="4" y="125"/>
                </a:moveTo>
                <a:cubicBezTo>
                  <a:pt x="2" y="125"/>
                  <a:pt x="0" y="123"/>
                  <a:pt x="0" y="12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7334250" y="326707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战略：定取舍</a:t>
            </a:r>
            <a:endParaRPr/>
          </a:p>
        </p:txBody>
      </p:sp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7334250" y="3562350"/>
            <a:ext cx="4057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战略的本质是「不做什么」。业务战略明确市场与模式选择，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战略明确支撑方式。</a:t>
            </a:r>
            <a:endParaRPr/>
          </a:p>
        </p:txBody>
      </p:sp>
      <p:sp>
        <p:nvSpPr>
          <p:cNvPr id="952" name=""/>
          <p:cNvSpPr/>
          <p:nvPr/>
        </p:nvSpPr>
        <p:spPr>
          <a:xfrm rot="0" flipH="0" flipV="0">
            <a:off x="7143750" y="4438650"/>
            <a:ext cx="4476750" cy="1190625"/>
          </a:xfrm>
          <a:prstGeom prst="roundRect">
            <a:avLst>
              <a:gd name="adj" fmla="val 32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53" name=""/>
          <p:cNvSpPr/>
          <p:nvPr/>
        </p:nvSpPr>
        <p:spPr>
          <a:xfrm rot="0" flipH="0" flipV="0">
            <a:off x="7143750" y="4438650"/>
            <a:ext cx="4476750" cy="1190625"/>
          </a:xfrm>
          <a:custGeom>
            <a:pathLst>
              <a:path w="470" h="125">
                <a:moveTo>
                  <a:pt x="4" y="125"/>
                </a:moveTo>
                <a:cubicBezTo>
                  <a:pt x="2" y="125"/>
                  <a:pt x="0" y="123"/>
                  <a:pt x="0" y="12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7334250" y="4591050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举措与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KPI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：定节奏</a:t>
            </a:r>
            <a:endParaRPr/>
          </a:p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7334250" y="4886325"/>
            <a:ext cx="4057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把战略拆成可投资的举措，再用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KPI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锁定度量口径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否则战略无法被验证。</a:t>
            </a:r>
            <a:endParaRPr/>
          </a:p>
        </p:txBody>
      </p:sp>
      <p:sp>
        <p:nvSpPr>
          <p:cNvPr id="956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08 / 26</a:t>
            </a:r>
            <a:endParaRPr/>
          </a:p>
        </p:txBody>
      </p:sp>
      <p:pic>
        <p:nvPicPr>
          <p:cNvPr id="9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1400175"/>
            <a:ext cx="6096000" cy="3810000"/>
          </a:xfrm>
          <a:prstGeom prst="rect">
            <a:avLst/>
          </a:prstGeom>
          <a:ln/>
        </p:spPr>
      </p:pic>
      <p:sp>
        <p:nvSpPr>
          <p:cNvPr id="960" name="" descr="{&quot;isTemplate&quot;:true,&quot;type&quot;:&quot;text&quot;}"/>
          <p:cNvSpPr txBox="1"/>
          <p:nvPr/>
        </p:nvSpPr>
        <p:spPr>
          <a:xfrm rot="0" flipH="0" flipV="0">
            <a:off x="3448050" y="15240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愿景</a:t>
            </a:r>
            <a:endParaRPr/>
          </a:p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3190875" y="18002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我们要成为什么</a:t>
            </a:r>
            <a:endParaRPr/>
          </a:p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3448050" y="223837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使命</a:t>
            </a:r>
            <a:endParaRPr/>
          </a:p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3124200" y="25146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我们为谁创造价值</a:t>
            </a:r>
            <a:endParaRPr/>
          </a:p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3448050" y="300037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战略</a:t>
            </a:r>
            <a:endParaRPr/>
          </a:p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3124200" y="32766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选择的路径与取舍</a:t>
            </a:r>
            <a:endParaRPr/>
          </a:p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3448050" y="376237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A1A0A"/>
                </a:solidFill>
                <a:latin typeface="Microsoft YaHei"/>
                <a:ea typeface="Microsoft YaHei"/>
              </a:rPr>
              <a:t>举措</a:t>
            </a:r>
            <a:endParaRPr/>
          </a:p>
        </p:txBody>
      </p:sp>
      <p:sp>
        <p:nvSpPr>
          <p:cNvPr id="967" name="" descr="{&quot;isTemplate&quot;:true,&quot;type&quot;:&quot;text&quot;}"/>
          <p:cNvSpPr txBox="1"/>
          <p:nvPr/>
        </p:nvSpPr>
        <p:spPr>
          <a:xfrm rot="0" flipH="0" flipV="0">
            <a:off x="3124200" y="40386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1A0A"/>
                </a:solidFill>
                <a:latin typeface="Microsoft YaHei"/>
                <a:ea typeface="Microsoft YaHei"/>
              </a:rPr>
              <a:t>可投资的关键动作</a:t>
            </a:r>
            <a:endParaRPr/>
          </a:p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3476625" y="4524375"/>
            <a:ext cx="361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A1A0A"/>
                </a:solidFill>
                <a:latin typeface="Microsoft YaHei"/>
                <a:ea typeface="Microsoft YaHei"/>
              </a:rPr>
              <a:t>KPI</a:t>
            </a:r>
            <a:endParaRPr/>
          </a:p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3257550" y="48006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1A0A"/>
                </a:solidFill>
                <a:latin typeface="Microsoft YaHei"/>
                <a:ea typeface="Microsoft YaHei"/>
              </a:rPr>
              <a:t>如何度量成功</a:t>
            </a:r>
            <a:endParaRPr/>
          </a:p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5905500" y="14382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FA4F24"/>
                </a:solidFill>
                <a:latin typeface="Microsoft YaHei"/>
                <a:ea typeface="Microsoft YaHei"/>
              </a:rPr>
              <a:t>↑</a:t>
            </a:r>
            <a:endParaRPr/>
          </a:p>
        </p:txBody>
      </p:sp>
      <p:sp>
        <p:nvSpPr>
          <p:cNvPr id="971" name=""/>
          <p:cNvSpPr/>
          <p:nvPr/>
        </p:nvSpPr>
        <p:spPr>
          <a:xfrm rot="0" flipH="0" flipV="0">
            <a:off x="5943600" y="1647825"/>
            <a:ext cx="19050" cy="3238500"/>
          </a:xfrm>
          <a:prstGeom prst="rect">
            <a:avLst/>
          </a:prstGeom>
          <a:solidFill>
            <a:srgbClr val="FA4F24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9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业务战略与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战略必须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双向对齐、同源同频</a:t>
            </a:r>
            <a:endParaRPr/>
          </a:p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每一条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投资都必须能追溯到一条业务目标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这是企业架构存在的唯一理由</a:t>
            </a:r>
            <a:endParaRPr/>
          </a:p>
        </p:txBody>
      </p:sp>
      <p:sp>
        <p:nvSpPr>
          <p:cNvPr id="97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609600" y="1400175"/>
            <a:ext cx="64103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业务战略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↔ IT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战略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映射矩阵</a:t>
            </a:r>
            <a:endParaRPr/>
          </a:p>
        </p:txBody>
      </p:sp>
      <p:sp>
        <p:nvSpPr>
          <p:cNvPr id="978" name=""/>
          <p:cNvSpPr/>
          <p:nvPr/>
        </p:nvSpPr>
        <p:spPr>
          <a:xfrm rot="0" flipH="0" flipV="0">
            <a:off x="609600" y="1781175"/>
            <a:ext cx="6410325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79" name="" descr="{&quot;isTemplate&quot;:true,&quot;type&quot;:&quot;text&quot;}"/>
          <p:cNvSpPr txBox="1"/>
          <p:nvPr/>
        </p:nvSpPr>
        <p:spPr>
          <a:xfrm rot="0" flipH="0" flipV="0">
            <a:off x="781050" y="1924050"/>
            <a:ext cx="150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4F24"/>
                </a:solidFill>
                <a:latin typeface="Microsoft YaHei"/>
                <a:ea typeface="Microsoft YaHei"/>
              </a:rPr>
              <a:t>市场增长</a:t>
            </a:r>
            <a:endParaRPr/>
          </a:p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781050" y="2143125"/>
            <a:ext cx="150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8F99"/>
                </a:solidFill>
                <a:latin typeface="Microsoft YaHei"/>
                <a:ea typeface="Microsoft YaHei"/>
              </a:rPr>
              <a:t>进入新区域</a:t>
            </a:r>
            <a:r>
              <a:rPr lang="en-US" sz="1125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A8F99"/>
                </a:solidFill>
                <a:latin typeface="Microsoft YaHei"/>
                <a:ea typeface="Microsoft YaHei"/>
              </a:rPr>
              <a:t>新客群</a:t>
            </a:r>
            <a:endParaRPr/>
          </a:p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2286000" y="2009775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C9CBD1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82" name="" descr="{&quot;isTemplate&quot;:true,&quot;type&quot;:&quot;text&quot;}"/>
          <p:cNvSpPr txBox="1"/>
          <p:nvPr/>
        </p:nvSpPr>
        <p:spPr>
          <a:xfrm rot="0" flipH="0" flipV="0">
            <a:off x="2667000" y="2019300"/>
            <a:ext cx="3609975" cy="200025"/>
          </a:xfrm>
          <a:prstGeom prst="rect"/>
        </p:spPr>
        <p:txBody>
          <a:bodyPr wrap="none" lIns="0" tIns="0" rIns="85725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多渠道前端</a:t>
            </a:r>
            <a:r>
              <a:rPr lang="en-US" sz="1275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数据洞察</a:t>
            </a:r>
            <a:endParaRPr/>
          </a:p>
        </p:txBody>
      </p:sp>
      <p:sp>
        <p:nvSpPr>
          <p:cNvPr id="983" name=""/>
          <p:cNvSpPr/>
          <p:nvPr/>
        </p:nvSpPr>
        <p:spPr>
          <a:xfrm rot="0" flipH="0" flipV="0">
            <a:off x="6353175" y="1990725"/>
            <a:ext cx="590550" cy="257175"/>
          </a:xfrm>
          <a:prstGeom prst="roundRect">
            <a:avLst>
              <a:gd name="adj" fmla="val 11111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6353175" y="203835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强</a:t>
            </a:r>
            <a:endParaRPr/>
          </a:p>
        </p:txBody>
      </p:sp>
      <p:sp>
        <p:nvSpPr>
          <p:cNvPr id="985" name=""/>
          <p:cNvSpPr/>
          <p:nvPr/>
        </p:nvSpPr>
        <p:spPr>
          <a:xfrm rot="0" flipH="0" flipV="0">
            <a:off x="609600" y="2543175"/>
            <a:ext cx="6410325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781050" y="2686050"/>
            <a:ext cx="150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4F24"/>
                </a:solidFill>
                <a:latin typeface="Microsoft YaHei"/>
                <a:ea typeface="Microsoft YaHei"/>
              </a:rPr>
              <a:t>成本领先</a:t>
            </a:r>
            <a:endParaRPr/>
          </a:p>
        </p:txBody>
      </p:sp>
      <p:sp>
        <p:nvSpPr>
          <p:cNvPr id="987" name="" descr="{&quot;isTemplate&quot;:true,&quot;type&quot;:&quot;text&quot;}"/>
          <p:cNvSpPr txBox="1"/>
          <p:nvPr/>
        </p:nvSpPr>
        <p:spPr>
          <a:xfrm rot="0" flipH="0" flipV="0">
            <a:off x="781050" y="2905125"/>
            <a:ext cx="150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8F99"/>
                </a:solidFill>
                <a:latin typeface="Microsoft YaHei"/>
                <a:ea typeface="Microsoft YaHei"/>
              </a:rPr>
              <a:t>流程自动化、集中采购</a:t>
            </a:r>
            <a:endParaRPr/>
          </a:p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2286000" y="2771775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C9CBD1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2667000" y="2781300"/>
            <a:ext cx="3609975" cy="200025"/>
          </a:xfrm>
          <a:prstGeom prst="rect"/>
        </p:spPr>
        <p:txBody>
          <a:bodyPr wrap="none" lIns="0" tIns="0" rIns="85725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流程引擎</a:t>
            </a:r>
            <a:r>
              <a:rPr lang="en-US" sz="1275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主数据统一</a:t>
            </a:r>
            <a:endParaRPr/>
          </a:p>
        </p:txBody>
      </p:sp>
      <p:sp>
        <p:nvSpPr>
          <p:cNvPr id="990" name=""/>
          <p:cNvSpPr/>
          <p:nvPr/>
        </p:nvSpPr>
        <p:spPr>
          <a:xfrm rot="0" flipH="0" flipV="0">
            <a:off x="6353175" y="2752725"/>
            <a:ext cx="590550" cy="257175"/>
          </a:xfrm>
          <a:prstGeom prst="roundRect">
            <a:avLst>
              <a:gd name="adj" fmla="val 11111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6353175" y="280035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强</a:t>
            </a:r>
            <a:endParaRPr/>
          </a:p>
        </p:txBody>
      </p:sp>
      <p:sp>
        <p:nvSpPr>
          <p:cNvPr id="992" name=""/>
          <p:cNvSpPr/>
          <p:nvPr/>
        </p:nvSpPr>
        <p:spPr>
          <a:xfrm rot="0" flipH="0" flipV="0">
            <a:off x="609600" y="3305175"/>
            <a:ext cx="6410325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781050" y="3362325"/>
            <a:ext cx="150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4F24"/>
                </a:solidFill>
                <a:latin typeface="Microsoft YaHei"/>
                <a:ea typeface="Microsoft YaHei"/>
              </a:rPr>
              <a:t>产品创新</a:t>
            </a:r>
            <a:endParaRPr/>
          </a:p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781050" y="3581400"/>
            <a:ext cx="150495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8A8F99"/>
                </a:solidFill>
                <a:latin typeface="Microsoft YaHei"/>
                <a:ea typeface="Microsoft YaHei"/>
              </a:rPr>
              <a:t>快速试错、缩短上市周期</a:t>
            </a:r>
            <a:endParaRPr/>
          </a:p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2286000" y="3533775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C9CBD1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2667000" y="3543300"/>
            <a:ext cx="3609975" cy="200025"/>
          </a:xfrm>
          <a:prstGeom prst="rect"/>
        </p:spPr>
        <p:txBody>
          <a:bodyPr wrap="none" lIns="0" tIns="0" rIns="85725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模块化应用</a:t>
            </a:r>
            <a:r>
              <a:rPr lang="en-US" sz="1275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云原生底座</a:t>
            </a:r>
            <a:endParaRPr/>
          </a:p>
        </p:txBody>
      </p:sp>
      <p:sp>
        <p:nvSpPr>
          <p:cNvPr id="997" name=""/>
          <p:cNvSpPr/>
          <p:nvPr/>
        </p:nvSpPr>
        <p:spPr>
          <a:xfrm rot="0" flipH="0" flipV="0">
            <a:off x="6353175" y="3514725"/>
            <a:ext cx="590550" cy="257175"/>
          </a:xfrm>
          <a:prstGeom prst="roundRect">
            <a:avLst>
              <a:gd name="adj" fmla="val 11111"/>
            </a:avLst>
          </a:prstGeom>
          <a:solidFill>
            <a:srgbClr val="FA4F24">
              <a:alpha val="2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98" name="" descr="{&quot;isTemplate&quot;:true,&quot;type&quot;:&quot;text&quot;}"/>
          <p:cNvSpPr txBox="1"/>
          <p:nvPr/>
        </p:nvSpPr>
        <p:spPr>
          <a:xfrm rot="0" flipH="0" flipV="0">
            <a:off x="6353175" y="356235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999" name=""/>
          <p:cNvSpPr/>
          <p:nvPr/>
        </p:nvSpPr>
        <p:spPr>
          <a:xfrm rot="0" flipH="0" flipV="0">
            <a:off x="609600" y="4067175"/>
            <a:ext cx="6410325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781050" y="4210050"/>
            <a:ext cx="150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4F24"/>
                </a:solidFill>
                <a:latin typeface="Microsoft YaHei"/>
                <a:ea typeface="Microsoft YaHei"/>
              </a:rPr>
              <a:t>风险合规</a:t>
            </a:r>
            <a:endParaRPr/>
          </a:p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781050" y="4429125"/>
            <a:ext cx="150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8F99"/>
                </a:solidFill>
                <a:latin typeface="Microsoft YaHei"/>
                <a:ea typeface="Microsoft YaHei"/>
              </a:rPr>
              <a:t>可信经营、审计可追溯</a:t>
            </a:r>
            <a:endParaRPr/>
          </a:p>
        </p:txBody>
      </p:sp>
      <p:sp>
        <p:nvSpPr>
          <p:cNvPr id="1002" name="" descr="{&quot;isTemplate&quot;:true,&quot;type&quot;:&quot;text&quot;}"/>
          <p:cNvSpPr txBox="1"/>
          <p:nvPr/>
        </p:nvSpPr>
        <p:spPr>
          <a:xfrm rot="0" flipH="0" flipV="0">
            <a:off x="2286000" y="4295775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C9CBD1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03" name="" descr="{&quot;isTemplate&quot;:true,&quot;type&quot;:&quot;text&quot;}"/>
          <p:cNvSpPr txBox="1"/>
          <p:nvPr/>
        </p:nvSpPr>
        <p:spPr>
          <a:xfrm rot="0" flipH="0" flipV="0">
            <a:off x="2667000" y="4305300"/>
            <a:ext cx="3609975" cy="200025"/>
          </a:xfrm>
          <a:prstGeom prst="rect"/>
        </p:spPr>
        <p:txBody>
          <a:bodyPr wrap="none" lIns="0" tIns="0" rIns="85725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数据安全分级</a:t>
            </a:r>
            <a:r>
              <a:rPr lang="en-US" sz="1275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血缘追溯</a:t>
            </a:r>
            <a:endParaRPr/>
          </a:p>
        </p:txBody>
      </p:sp>
      <p:sp>
        <p:nvSpPr>
          <p:cNvPr id="1004" name=""/>
          <p:cNvSpPr/>
          <p:nvPr/>
        </p:nvSpPr>
        <p:spPr>
          <a:xfrm rot="0" flipH="0" flipV="0">
            <a:off x="6353175" y="4276725"/>
            <a:ext cx="590550" cy="257175"/>
          </a:xfrm>
          <a:prstGeom prst="roundRect">
            <a:avLst>
              <a:gd name="adj" fmla="val 11111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6353175" y="432435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强</a:t>
            </a:r>
            <a:endParaRPr/>
          </a:p>
        </p:txBody>
      </p:sp>
      <p:sp>
        <p:nvSpPr>
          <p:cNvPr id="1006" name=""/>
          <p:cNvSpPr/>
          <p:nvPr/>
        </p:nvSpPr>
        <p:spPr>
          <a:xfrm rot="0" flipH="0" flipV="0">
            <a:off x="647700" y="4857750"/>
            <a:ext cx="6410325" cy="857250"/>
          </a:xfrm>
          <a:prstGeom prst="roundRect">
            <a:avLst>
              <a:gd name="adj" fmla="val 3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07" name=""/>
          <p:cNvSpPr/>
          <p:nvPr/>
        </p:nvSpPr>
        <p:spPr>
          <a:xfrm rot="0" flipH="0" flipV="0">
            <a:off x="647700" y="4857750"/>
            <a:ext cx="6410325" cy="857250"/>
          </a:xfrm>
          <a:custGeom>
            <a:pathLst>
              <a:path w="673" h="90">
                <a:moveTo>
                  <a:pt x="4" y="90"/>
                </a:moveTo>
                <a:cubicBezTo>
                  <a:pt x="3" y="90"/>
                  <a:pt x="2" y="90"/>
                  <a:pt x="1" y="89"/>
                </a:cubicBezTo>
                <a:cubicBezTo>
                  <a:pt x="0" y="88"/>
                  <a:pt x="0" y="88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8" name="" descr="{&quot;isTemplate&quot;:true,&quot;type&quot;:&quot;text&quot;}"/>
          <p:cNvSpPr txBox="1"/>
          <p:nvPr/>
        </p:nvSpPr>
        <p:spPr>
          <a:xfrm rot="0" flipH="0" flipV="0">
            <a:off x="838200" y="4991100"/>
            <a:ext cx="5991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判断：</a:t>
            </a: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对齐度不足的根因往往不是技术，而是业务战略本身没有说清优先级</a:t>
            </a:r>
            <a:r>
              <a:rPr lang="en-US" sz="1275">
                <a:solidFill>
                  <a:srgbClr val="0F1423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先补战略，再谈架构。</a:t>
            </a:r>
            <a:endParaRPr/>
          </a:p>
        </p:txBody>
      </p:sp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7305675" y="1400175"/>
            <a:ext cx="4276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四条对齐准则</a:t>
            </a:r>
            <a:endParaRPr/>
          </a:p>
        </p:txBody>
      </p:sp>
      <p:sp>
        <p:nvSpPr>
          <p:cNvPr id="1010" name=""/>
          <p:cNvSpPr/>
          <p:nvPr/>
        </p:nvSpPr>
        <p:spPr>
          <a:xfrm rot="0" flipH="0" flipV="0">
            <a:off x="7305675" y="1743075"/>
            <a:ext cx="4276725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1" name="" descr="{&quot;isTemplate&quot;:true,&quot;type&quot;:&quot;text&quot;}"/>
          <p:cNvSpPr txBox="1"/>
          <p:nvPr/>
        </p:nvSpPr>
        <p:spPr>
          <a:xfrm rot="0" flipH="0" flipV="0">
            <a:off x="7458075" y="1838325"/>
            <a:ext cx="4191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012" name="" descr="{&quot;isTemplate&quot;:true,&quot;type&quot;:&quot;text&quot;}"/>
          <p:cNvSpPr txBox="1"/>
          <p:nvPr/>
        </p:nvSpPr>
        <p:spPr>
          <a:xfrm rot="0" flipH="0" flipV="0">
            <a:off x="7991475" y="1838325"/>
            <a:ext cx="3438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目标可追溯</a:t>
            </a:r>
            <a:endParaRPr/>
          </a:p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7991475" y="2124075"/>
            <a:ext cx="343852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每个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项目挂载业务战略目标，无对应不予立项。</a:t>
            </a:r>
            <a:endParaRPr/>
          </a:p>
        </p:txBody>
      </p:sp>
      <p:sp>
        <p:nvSpPr>
          <p:cNvPr id="1014" name=""/>
          <p:cNvSpPr/>
          <p:nvPr/>
        </p:nvSpPr>
        <p:spPr>
          <a:xfrm rot="0" flipH="0" flipV="0">
            <a:off x="7305675" y="2714625"/>
            <a:ext cx="4276725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5" name="" descr="{&quot;isTemplate&quot;:true,&quot;type&quot;:&quot;text&quot;}"/>
          <p:cNvSpPr txBox="1"/>
          <p:nvPr/>
        </p:nvSpPr>
        <p:spPr>
          <a:xfrm rot="0" flipH="0" flipV="0">
            <a:off x="7458075" y="2809875"/>
            <a:ext cx="4191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7991475" y="2809875"/>
            <a:ext cx="3438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口径统一</a:t>
            </a:r>
            <a:endParaRPr/>
          </a:p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7991475" y="3095625"/>
            <a:ext cx="343852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业务与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共用一套业务对象与指标定义。</a:t>
            </a:r>
            <a:endParaRPr/>
          </a:p>
        </p:txBody>
      </p:sp>
      <p:sp>
        <p:nvSpPr>
          <p:cNvPr id="1018" name=""/>
          <p:cNvSpPr/>
          <p:nvPr/>
        </p:nvSpPr>
        <p:spPr>
          <a:xfrm rot="0" flipH="0" flipV="0">
            <a:off x="7305675" y="3686175"/>
            <a:ext cx="4276725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7458075" y="3781425"/>
            <a:ext cx="4191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020" name="" descr="{&quot;isTemplate&quot;:true,&quot;type&quot;:&quot;text&quot;}"/>
          <p:cNvSpPr txBox="1"/>
          <p:nvPr/>
        </p:nvSpPr>
        <p:spPr>
          <a:xfrm rot="0" flipH="0" flipV="0">
            <a:off x="7991475" y="3781425"/>
            <a:ext cx="3438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能力为桥</a:t>
            </a:r>
            <a:endParaRPr/>
          </a:p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7991475" y="4067175"/>
            <a:ext cx="343852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以业务能力为中间语言，翻译战略意图。</a:t>
            </a:r>
            <a:endParaRPr/>
          </a:p>
        </p:txBody>
      </p:sp>
      <p:sp>
        <p:nvSpPr>
          <p:cNvPr id="1022" name=""/>
          <p:cNvSpPr/>
          <p:nvPr/>
        </p:nvSpPr>
        <p:spPr>
          <a:xfrm rot="0" flipH="0" flipV="0">
            <a:off x="7305675" y="4657725"/>
            <a:ext cx="4276725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7458075" y="4752975"/>
            <a:ext cx="4191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024" name="" descr="{&quot;isTemplate&quot;:true,&quot;type&quot;:&quot;text&quot;}"/>
          <p:cNvSpPr txBox="1"/>
          <p:nvPr/>
        </p:nvSpPr>
        <p:spPr>
          <a:xfrm rot="0" flipH="0" flipV="0">
            <a:off x="7991475" y="4752975"/>
            <a:ext cx="3438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节奏匹配</a:t>
            </a:r>
            <a:endParaRPr/>
          </a:p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7991475" y="5038725"/>
            <a:ext cx="343852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交付节奏必须匹配业务窗口。</a:t>
            </a:r>
            <a:endParaRPr/>
          </a:p>
        </p:txBody>
      </p:sp>
      <p:sp>
        <p:nvSpPr>
          <p:cNvPr id="1026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7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09 / 26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71500" y="11239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7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096000" y="2552700"/>
            <a:ext cx="47625" cy="14478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553200" y="2628900"/>
            <a:ext cx="51244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553200" y="3609975"/>
            <a:ext cx="512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BUSINESS ARCHITECTURE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553200" y="40481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价值流与业务能力建模：方法、内容、模板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553200" y="6315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781800" y="62960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之方法：从价值流到能力地图的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能力建模法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业务架构回答「做什么业务」——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用能力地图替代部门清单，让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有稳定的对接面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09600" y="1381125"/>
            <a:ext cx="3200400" cy="4200525"/>
          </a:xfrm>
          <a:prstGeom prst="roundRect">
            <a:avLst>
              <a:gd name="adj" fmla="val 119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76300" y="1647825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BUSINESS ARCHITECTURE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76300" y="1952625"/>
            <a:ext cx="26670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BA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876300" y="421957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76300" y="4410075"/>
            <a:ext cx="26670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能力是与组织结构解耦的稳定层</a:t>
            </a:r>
            <a:r>
              <a:rPr lang="en-US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组织常变，能力少变，因此能力才是</a:t>
            </a:r>
            <a:r>
              <a:rPr lang="en-US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规划的正确锚点。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038600" y="1381125"/>
            <a:ext cx="7543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四步作业法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076700" y="17430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4076700" y="17430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267200" y="20097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972050" y="2066925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价值流分析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743700" y="1914525"/>
            <a:ext cx="3219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识别企业的核心价值流与端到端流程，明确价值创造的起点与终点。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10134600" y="2047875"/>
            <a:ext cx="12573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0210800" y="2105025"/>
            <a:ext cx="11049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价值流清单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4076700" y="27336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4076700" y="27336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267200" y="30003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972050" y="3057525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能力识别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743700" y="2905125"/>
            <a:ext cx="3219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从价值流中抽出稳定的业务能力（做什么），去除「谁在做」的组织干扰。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10134600" y="3038475"/>
            <a:ext cx="12573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0210800" y="3095625"/>
            <a:ext cx="11049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能力清单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076700" y="3724275"/>
            <a:ext cx="754380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4076700" y="3724275"/>
            <a:ext cx="7543800" cy="866775"/>
          </a:xfrm>
          <a:custGeom>
            <a:pathLst>
              <a:path w="792" h="91">
                <a:moveTo>
                  <a:pt x="4" y="91"/>
                </a:moveTo>
                <a:cubicBezTo>
                  <a:pt x="2" y="91"/>
                  <a:pt x="0" y="89"/>
                  <a:pt x="0" y="8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267200" y="39909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972050" y="4048125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能力评估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743700" y="3895725"/>
            <a:ext cx="3219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按战略重要度与当前成熟度两维打分，定位强项、短板与冗余能力。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10134600" y="4029075"/>
            <a:ext cx="12573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0210800" y="4086225"/>
            <a:ext cx="11049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能力热力图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076700" y="4705350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4076700" y="4705350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267200" y="497205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972050" y="5029200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能力地图构建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743700" y="4876800"/>
            <a:ext cx="3219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按能力域分层构建全景地图，并把能力映射到组织与流程。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10134600" y="5010150"/>
            <a:ext cx="12573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0210800" y="5067300"/>
            <a:ext cx="11049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业务能力地图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11 / 26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三类核心交付物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与关键要素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交付物不是文档堆砌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三类成果分别回答「有哪些能力」「怎么创造价值」「谁来承担」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09600" y="1419225"/>
            <a:ext cx="6638925" cy="1352550"/>
          </a:xfrm>
          <a:prstGeom prst="roundRect">
            <a:avLst>
              <a:gd name="adj" fmla="val 2817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09600" y="1419225"/>
            <a:ext cx="6638925" cy="1352550"/>
          </a:xfrm>
          <a:custGeom>
            <a:pathLst>
              <a:path w="697" h="142">
                <a:moveTo>
                  <a:pt x="693" y="0"/>
                </a:moveTo>
                <a:cubicBezTo>
                  <a:pt x="695" y="0"/>
                  <a:pt x="697" y="2"/>
                  <a:pt x="69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69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38200" y="15906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A4F24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181100" y="16002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业务能力地图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38200" y="1962150"/>
            <a:ext cx="6181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按「能力域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能力组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能力项」三层分解，形成可管理的企业能力全景。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838200" y="2257425"/>
            <a:ext cx="6181725" cy="304800"/>
          </a:xfrm>
          <a:prstGeom prst="roundRect">
            <a:avLst>
              <a:gd name="adj" fmla="val 9375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52500" y="2324100"/>
            <a:ext cx="595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关键要素：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能力域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能力项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成熟度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战略重要度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09600" y="2886075"/>
            <a:ext cx="6638925" cy="1352550"/>
          </a:xfrm>
          <a:prstGeom prst="roundRect">
            <a:avLst>
              <a:gd name="adj" fmla="val 2817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09600" y="2886075"/>
            <a:ext cx="6638925" cy="1352550"/>
          </a:xfrm>
          <a:custGeom>
            <a:pathLst>
              <a:path w="697" h="142">
                <a:moveTo>
                  <a:pt x="693" y="0"/>
                </a:moveTo>
                <a:cubicBezTo>
                  <a:pt x="695" y="0"/>
                  <a:pt x="697" y="2"/>
                  <a:pt x="69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69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38200" y="30575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A4F24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181100" y="306705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价值流图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38200" y="3429000"/>
            <a:ext cx="6181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描述端到端价值创造的阶段、参与角色与关键交付，识别断点与冗余。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838200" y="3724275"/>
            <a:ext cx="6181725" cy="304800"/>
          </a:xfrm>
          <a:prstGeom prst="roundRect">
            <a:avLst>
              <a:gd name="adj" fmla="val 9375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952500" y="3790950"/>
            <a:ext cx="595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关键要素：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价值阶段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触发事件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交付物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周期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09600" y="4352925"/>
            <a:ext cx="6638925" cy="1352550"/>
          </a:xfrm>
          <a:prstGeom prst="roundRect">
            <a:avLst>
              <a:gd name="adj" fmla="val 2817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09600" y="4352925"/>
            <a:ext cx="6638925" cy="1352550"/>
          </a:xfrm>
          <a:custGeom>
            <a:pathLst>
              <a:path w="697" h="142">
                <a:moveTo>
                  <a:pt x="693" y="0"/>
                </a:moveTo>
                <a:cubicBezTo>
                  <a:pt x="695" y="0"/>
                  <a:pt x="697" y="2"/>
                  <a:pt x="69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69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38200" y="45243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A4F24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181100" y="45339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组织映射表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38200" y="4895850"/>
            <a:ext cx="6181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把能力与组织单元、岗位对齐，明确能力责任主体与协同关系。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838200" y="5191125"/>
            <a:ext cx="6181725" cy="304800"/>
          </a:xfrm>
          <a:prstGeom prst="roundRect">
            <a:avLst>
              <a:gd name="adj" fmla="val 9375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52500" y="5257800"/>
            <a:ext cx="595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关键要素：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能力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责任部门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岗位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协同方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515225" y="1381125"/>
            <a:ext cx="4067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能力地图结构示意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7515225" y="1743075"/>
            <a:ext cx="4067175" cy="381000"/>
          </a:xfrm>
          <a:prstGeom prst="roundRect">
            <a:avLst>
              <a:gd name="adj" fmla="val 7500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648575" y="1838325"/>
            <a:ext cx="3933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L1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能力域（研发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供应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销售）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7515225" y="2200275"/>
            <a:ext cx="1304925" cy="704850"/>
          </a:xfrm>
          <a:prstGeom prst="roundRect">
            <a:avLst>
              <a:gd name="adj" fmla="val 4054"/>
            </a:avLst>
          </a:pr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877175" y="2466975"/>
            <a:ext cx="581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能力组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8896350" y="2200275"/>
            <a:ext cx="1304925" cy="704850"/>
          </a:xfrm>
          <a:prstGeom prst="roundRect">
            <a:avLst>
              <a:gd name="adj" fmla="val 4054"/>
            </a:avLst>
          </a:prstGeom>
          <a:solidFill>
            <a:srgbClr val="FBA47A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267825" y="2466975"/>
            <a:ext cx="571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3A1A0A"/>
                </a:solidFill>
                <a:latin typeface="Microsoft YaHei"/>
                <a:ea typeface="Microsoft YaHei"/>
              </a:rPr>
              <a:t>能力组</a:t>
            </a:r>
            <a:r>
              <a:rPr lang="en-US" sz="1125" b="1">
                <a:solidFill>
                  <a:srgbClr val="3A1A0A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10277475" y="2200275"/>
            <a:ext cx="1304925" cy="704850"/>
          </a:xfrm>
          <a:prstGeom prst="roundRect">
            <a:avLst>
              <a:gd name="adj" fmla="val 4054"/>
            </a:avLst>
          </a:prstGeom>
          <a:solidFill>
            <a:srgbClr val="FDD5B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0648950" y="2466975"/>
            <a:ext cx="571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3A1A0A"/>
                </a:solidFill>
                <a:latin typeface="Microsoft YaHei"/>
                <a:ea typeface="Microsoft YaHei"/>
              </a:rPr>
              <a:t>能力组</a:t>
            </a:r>
            <a:r>
              <a:rPr lang="en-US" sz="1125" b="1">
                <a:solidFill>
                  <a:srgbClr val="3A1A0A"/>
                </a:solidFill>
                <a:latin typeface="Microsoft YaHei"/>
                <a:ea typeface="Microsoft YaHei"/>
              </a:rPr>
              <a:t xml:space="preserve"> C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7515225" y="2981325"/>
            <a:ext cx="4067175" cy="285750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648575" y="3048000"/>
            <a:ext cx="3933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能力项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成熟度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3.5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7515225" y="3343275"/>
            <a:ext cx="4067175" cy="285750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648575" y="3409950"/>
            <a:ext cx="3933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能力项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成熟度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2.0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（短板）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7515225" y="3705225"/>
            <a:ext cx="4067175" cy="285750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648575" y="3771900"/>
            <a:ext cx="3933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能力项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成熟度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4.0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7515225" y="4067175"/>
            <a:ext cx="4067175" cy="285750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648575" y="4133850"/>
            <a:ext cx="3933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能力项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待建设（缺口）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7553325" y="4467225"/>
            <a:ext cx="4067175" cy="781050"/>
          </a:xfrm>
          <a:prstGeom prst="roundRect">
            <a:avLst>
              <a:gd name="adj" fmla="val 3659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7553325" y="4467225"/>
            <a:ext cx="4067175" cy="781050"/>
          </a:xfrm>
          <a:custGeom>
            <a:pathLst>
              <a:path w="427" h="82">
                <a:moveTo>
                  <a:pt x="4" y="82"/>
                </a:moveTo>
                <a:cubicBezTo>
                  <a:pt x="3" y="82"/>
                  <a:pt x="2" y="82"/>
                  <a:pt x="1" y="81"/>
                </a:cubicBezTo>
                <a:cubicBezTo>
                  <a:pt x="0" y="80"/>
                  <a:pt x="0" y="80"/>
                  <a:pt x="0" y="7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705725" y="4581525"/>
            <a:ext cx="37242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判断：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成熟度低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优先级高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须叠加战略重要度，才能定投资次序。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12 / 26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能力卡片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与价值流图标准样式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模板的价值在于「字段即标准」——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填不出某个字段，说明该能力还没真正被想清楚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09600" y="1343025"/>
            <a:ext cx="1097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业务能力卡片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09600" y="1685925"/>
            <a:ext cx="2247900" cy="1600200"/>
          </a:xfrm>
          <a:prstGeom prst="roundRect">
            <a:avLst>
              <a:gd name="adj" fmla="val 2381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81050" y="1857375"/>
            <a:ext cx="1905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CAPABILITY CARD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81050" y="2085975"/>
            <a:ext cx="1905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能力卡片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81050" y="2628900"/>
            <a:ext cx="1905000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示例：订单履约能力</a:t>
            </a:r>
            <a:endParaRPr/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能力域：供应链</a:t>
            </a:r>
            <a:r>
              <a:rPr lang="en-US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成熟度</a:t>
            </a:r>
            <a:r>
              <a:rPr lang="en-US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3.2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2971800" y="1685925"/>
            <a:ext cx="2066925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124200" y="1819275"/>
            <a:ext cx="176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能力编号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124200" y="2066925"/>
            <a:ext cx="176212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>BA-SCM-014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124200" y="300037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全局唯一，与资产目录一致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5153025" y="1685925"/>
            <a:ext cx="2066925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305425" y="1819275"/>
            <a:ext cx="176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能力定义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305425" y="2066925"/>
            <a:ext cx="176212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按承诺时点交付订单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305425" y="300037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一句话说清做什么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7334250" y="1685925"/>
            <a:ext cx="2066925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486650" y="1819275"/>
            <a:ext cx="176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业务规则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486650" y="2066925"/>
            <a:ext cx="176212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信用额度校验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库存锁定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486650" y="300037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规则数字化入口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9515475" y="1685925"/>
            <a:ext cx="2066925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9667875" y="1819275"/>
            <a:ext cx="176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度量指标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667875" y="2066925"/>
            <a:ext cx="176212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准时交付率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≥ 98%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667875" y="300037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可量化的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KPI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09600" y="3438525"/>
            <a:ext cx="1097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B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价值流图符号规范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609600" y="3781425"/>
            <a:ext cx="6734175" cy="1800225"/>
          </a:xfrm>
          <a:prstGeom prst="roundRect">
            <a:avLst>
              <a:gd name="adj" fmla="val 211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304925" y="4324350"/>
            <a:ext cx="1333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FA4F24"/>
                </a:solidFill>
                <a:latin typeface="Microsoft YaHei"/>
                <a:ea typeface="Microsoft YaHei"/>
              </a:rPr>
              <a:t>▭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085850" y="4686300"/>
            <a:ext cx="571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价值阶段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123950" y="4895850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标准矩形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2590800" y="4324350"/>
            <a:ext cx="1619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FA4F24"/>
                </a:solidFill>
                <a:latin typeface="Microsoft YaHei"/>
                <a:ea typeface="Microsoft YaHei"/>
              </a:rPr>
              <a:t>◆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2457450" y="4686300"/>
            <a:ext cx="4286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里程碑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2428875" y="4895850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菱形节点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3848100" y="4324350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FA4F24"/>
                </a:solidFill>
                <a:latin typeface="Microsoft YaHei"/>
                <a:ea typeface="Microsoft YaHei"/>
              </a:rPr>
              <a:t>▷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3762375" y="4686300"/>
            <a:ext cx="4286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交付物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3790950" y="4895850"/>
            <a:ext cx="3714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右三角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153025" y="4324350"/>
            <a:ext cx="2571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FA4F24"/>
                </a:solidFill>
                <a:latin typeface="Microsoft YaHei"/>
                <a:ea typeface="Microsoft YaHei"/>
              </a:rPr>
              <a:t>⟶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000625" y="4686300"/>
            <a:ext cx="571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流转方向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038725" y="4895850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实线箭头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457950" y="4324350"/>
            <a:ext cx="2571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FA4F24"/>
                </a:solidFill>
                <a:latin typeface="Microsoft YaHei"/>
                <a:ea typeface="Microsoft YaHei"/>
              </a:rPr>
              <a:t>⤳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267450" y="4686300"/>
            <a:ext cx="6477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断点</a:t>
            </a: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>/</a:t>
            </a: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返工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343650" y="4895850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虚线回路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7458075" y="3781425"/>
            <a:ext cx="4124325" cy="1800225"/>
          </a:xfrm>
          <a:prstGeom prst="roundRect">
            <a:avLst>
              <a:gd name="adj" fmla="val 2116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629525" y="4133850"/>
            <a:ext cx="3781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填写要求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629525" y="4400550"/>
            <a:ext cx="3781425" cy="828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0F1423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125">
                <a:solidFill>
                  <a:srgbClr val="0F1423"/>
                </a:solidFill>
                <a:latin typeface="Microsoft YaHei"/>
                <a:ea typeface="Microsoft YaHei"/>
              </a:rPr>
              <a:t>每个阶段必须标注输入与输出交付物；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0F1423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125">
                <a:solidFill>
                  <a:srgbClr val="0F1423"/>
                </a:solidFill>
                <a:latin typeface="Microsoft YaHei"/>
                <a:ea typeface="Microsoft YaHei"/>
              </a:rPr>
              <a:t>断点与返工必须显式画出，不得美化；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0F1423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125">
                <a:solidFill>
                  <a:srgbClr val="0F1423"/>
                </a:solidFill>
                <a:latin typeface="Microsoft YaHei"/>
                <a:ea typeface="Microsoft YaHei"/>
              </a:rPr>
              <a:t>阶段数控制在</a:t>
            </a:r>
            <a:r>
              <a:rPr lang="en-US" sz="1125">
                <a:solidFill>
                  <a:srgbClr val="0F1423"/>
                </a:solidFill>
                <a:latin typeface="Microsoft YaHei"/>
                <a:ea typeface="Microsoft YaHei"/>
              </a:rPr>
              <a:t xml:space="preserve"> 5–8 </a:t>
            </a:r>
            <a:r>
              <a:rPr lang="zh-CN" sz="1125">
                <a:solidFill>
                  <a:srgbClr val="0F1423"/>
                </a:solidFill>
                <a:latin typeface="Microsoft YaHei"/>
                <a:ea typeface="Microsoft YaHei"/>
              </a:rPr>
              <a:t>个，避免过细。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13 / 26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71500" y="11239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7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096000" y="2552700"/>
            <a:ext cx="47625" cy="14478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553200" y="2628900"/>
            <a:ext cx="51244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553200" y="3609975"/>
            <a:ext cx="512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DATA ARCHITECTURE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553200" y="40481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基于业务对象的信息架构四组件：方法、内容、模板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553200" y="6315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781800" y="62960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之方法：基于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业务对象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的信息架构设计法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业务对象是业务架构与数据架构的「共同语言」——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先定对象，再谈标准与模型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09600" y="1381125"/>
            <a:ext cx="3200400" cy="4200525"/>
          </a:xfrm>
          <a:prstGeom prst="roundRect">
            <a:avLst>
              <a:gd name="adj" fmla="val 119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76300" y="1647825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DATA ARCHITECTURE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76300" y="1952625"/>
            <a:ext cx="26670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DA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876300" y="391477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76300" y="4105275"/>
            <a:ext cx="266700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先有「治」（标准、模型、分布），才有「存」（按架构入湖落仓）。没有信息架构这张蓝图，数据底座就是一潭浑水。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038600" y="1381125"/>
            <a:ext cx="7543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四步作业法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4076700" y="17430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4076700" y="17430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267200" y="20097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972050" y="2066925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业务对象识别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743700" y="1914525"/>
            <a:ext cx="3028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按四标准判定：重要人事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物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唯一标识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相对独立有属性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可实例化。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9944100" y="2047875"/>
            <a:ext cx="14478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0020300" y="2105025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业务对象清单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4076700" y="27336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4076700" y="27336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267200" y="30003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972050" y="3057525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资产目录分层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743700" y="2905125"/>
            <a:ext cx="3028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按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L1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主题域分组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L2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主题域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L3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业务对象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L4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逻辑实体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L5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属性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五层落位。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9944100" y="3038475"/>
            <a:ext cx="14478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0020300" y="3095625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数据资产目录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4076700" y="3724275"/>
            <a:ext cx="754380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4076700" y="3724275"/>
            <a:ext cx="7543800" cy="866775"/>
          </a:xfrm>
          <a:custGeom>
            <a:pathLst>
              <a:path w="792" h="91">
                <a:moveTo>
                  <a:pt x="4" y="91"/>
                </a:moveTo>
                <a:cubicBezTo>
                  <a:pt x="2" y="91"/>
                  <a:pt x="0" y="89"/>
                  <a:pt x="0" y="8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267200" y="39909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972050" y="4048125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标准与模型设计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743700" y="3895725"/>
            <a:ext cx="3028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定业务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技术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管理三视角数据标准；设计概念、逻辑、物理三层模型。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9944100" y="4029075"/>
            <a:ext cx="14478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0020300" y="4086225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数据标准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三层模型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4076700" y="4705350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4076700" y="4705350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267200" y="497205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972050" y="5029200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数据分布规划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743700" y="4876800"/>
            <a:ext cx="3028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以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CRUD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矩阵锁定唯一权威数据源，理清信息链与数据流。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9944100" y="4933950"/>
            <a:ext cx="1447800" cy="419100"/>
          </a:xfrm>
          <a:prstGeom prst="roundRect">
            <a:avLst>
              <a:gd name="adj" fmla="val 681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0020300" y="4991100"/>
            <a:ext cx="1295400" cy="3048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数据分布图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数据源清单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15 / 26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信息架构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四组件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：目录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标准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模型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分布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四组件不是四份文档，而是回答「有哪些数据、怎么统一、如何关联、存在哪里」的一套规范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3209925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gradFill>
                  <a:gsLst>
                    <a:gs pos="0">
                      <a:srgbClr val="FA4F24"/>
                    </a:gs>
                    <a:gs pos="100000">
                      <a:srgbClr val="F87D2F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09600" y="3200400"/>
            <a:ext cx="3209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层数据资产目录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09600" y="3571875"/>
            <a:ext cx="495300" cy="381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09600" y="3743325"/>
            <a:ext cx="32099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L1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主题域分组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L2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主题域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L3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业务对象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L4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逻辑实体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L5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属性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09600" y="4467225"/>
            <a:ext cx="32099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L3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业务对象是信息架构的核心层，也是与</a:t>
            </a: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 BA / AA / TA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集成的接口。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4152900" y="1381125"/>
            <a:ext cx="7477125" cy="1047750"/>
          </a:xfrm>
          <a:prstGeom prst="roundRect">
            <a:avLst>
              <a:gd name="adj" fmla="val 3636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4152900" y="1381125"/>
            <a:ext cx="7477125" cy="1047750"/>
          </a:xfrm>
          <a:custGeom>
            <a:pathLst>
              <a:path w="785" h="110">
                <a:moveTo>
                  <a:pt x="5" y="110"/>
                </a:moveTo>
                <a:cubicBezTo>
                  <a:pt x="4" y="110"/>
                  <a:pt x="3" y="110"/>
                  <a:pt x="2" y="109"/>
                </a:cubicBezTo>
                <a:cubicBezTo>
                  <a:pt x="1" y="109"/>
                  <a:pt x="0" y="108"/>
                  <a:pt x="0" y="106"/>
                </a:cubicBezTo>
                <a:lnTo>
                  <a:pt x="0" y="106"/>
                </a:lnTo>
                <a:lnTo>
                  <a:pt x="0" y="10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343400" y="1733550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010150" y="1724025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数据资产目录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5010150" y="1952625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8A8F99"/>
                </a:solidFill>
                <a:latin typeface="Microsoft YaHei"/>
                <a:ea typeface="Microsoft YaHei"/>
              </a:rPr>
              <a:t>ASSET CATALOG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838950" y="1504950"/>
            <a:ext cx="30861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形成企业数据地图，识别数据管理责任、解决归属争议、避免重复建设。五层分类是它的骨架。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10077450" y="1771650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0153650" y="1828800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理清资产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识别责任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4152900" y="2524125"/>
            <a:ext cx="7477125" cy="104775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4152900" y="2524125"/>
            <a:ext cx="7477125" cy="1047750"/>
          </a:xfrm>
          <a:custGeom>
            <a:pathLst>
              <a:path w="785" h="110">
                <a:moveTo>
                  <a:pt x="5" y="110"/>
                </a:moveTo>
                <a:cubicBezTo>
                  <a:pt x="4" y="110"/>
                  <a:pt x="3" y="110"/>
                  <a:pt x="2" y="109"/>
                </a:cubicBezTo>
                <a:cubicBezTo>
                  <a:pt x="1" y="109"/>
                  <a:pt x="0" y="108"/>
                  <a:pt x="0" y="106"/>
                </a:cubicBezTo>
                <a:lnTo>
                  <a:pt x="0" y="106"/>
                </a:lnTo>
                <a:lnTo>
                  <a:pt x="0" y="10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4343400" y="2876550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5010150" y="2867025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数据标准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010150" y="3095625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8A8F99"/>
                </a:solidFill>
                <a:latin typeface="Microsoft YaHei"/>
                <a:ea typeface="Microsoft YaHei"/>
              </a:rPr>
              <a:t>DATA STANDARD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838950" y="2647950"/>
            <a:ext cx="30861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统一业务侧语言与理解，每个标准须覆盖业务视角（定义用途）、技术视角（类型长度）、管理视角（责任主体）。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10077450" y="2838450"/>
            <a:ext cx="1314450" cy="419100"/>
          </a:xfrm>
          <a:prstGeom prst="roundRect">
            <a:avLst>
              <a:gd name="adj" fmla="val 681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0153650" y="2895600"/>
            <a:ext cx="1162050" cy="3048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统一语言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三视角约束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4152900" y="3667125"/>
            <a:ext cx="7477125" cy="1038225"/>
          </a:xfrm>
          <a:prstGeom prst="roundRect">
            <a:avLst>
              <a:gd name="adj" fmla="val 367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4152900" y="3667125"/>
            <a:ext cx="7477125" cy="1038225"/>
          </a:xfrm>
          <a:custGeom>
            <a:pathLst>
              <a:path w="785" h="109">
                <a:moveTo>
                  <a:pt x="5" y="109"/>
                </a:moveTo>
                <a:cubicBezTo>
                  <a:pt x="4" y="109"/>
                  <a:pt x="3" y="109"/>
                  <a:pt x="2" y="108"/>
                </a:cubicBezTo>
                <a:cubicBezTo>
                  <a:pt x="1" y="108"/>
                  <a:pt x="0" y="107"/>
                  <a:pt x="0" y="105"/>
                </a:cubicBezTo>
                <a:lnTo>
                  <a:pt x="0" y="105"/>
                </a:lnTo>
                <a:lnTo>
                  <a:pt x="0" y="105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4343400" y="4019550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5010150" y="4000500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数据模型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5010150" y="4229100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8A8F99"/>
                </a:solidFill>
                <a:latin typeface="Microsoft YaHei"/>
                <a:ea typeface="Microsoft YaHei"/>
              </a:rPr>
              <a:t>DATA MODEL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838950" y="3790950"/>
            <a:ext cx="30861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从数据视角模拟现实世界：概念模型对齐业务对象、逻辑模型固化规则、物理模型落到表结构。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10077450" y="4057650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0153650" y="4114800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概念→逻辑→物理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4152900" y="4800600"/>
            <a:ext cx="7477125" cy="781050"/>
          </a:xfrm>
          <a:prstGeom prst="roundRect">
            <a:avLst>
              <a:gd name="adj" fmla="val 487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4152900" y="4800600"/>
            <a:ext cx="7477125" cy="781050"/>
          </a:xfrm>
          <a:custGeom>
            <a:pathLst>
              <a:path w="785" h="82">
                <a:moveTo>
                  <a:pt x="5" y="82"/>
                </a:moveTo>
                <a:cubicBezTo>
                  <a:pt x="4" y="82"/>
                  <a:pt x="3" y="82"/>
                  <a:pt x="2" y="81"/>
                </a:cubicBezTo>
                <a:cubicBezTo>
                  <a:pt x="1" y="81"/>
                  <a:pt x="0" y="80"/>
                  <a:pt x="0" y="78"/>
                </a:cubicBezTo>
                <a:lnTo>
                  <a:pt x="0" y="78"/>
                </a:lnTo>
                <a:lnTo>
                  <a:pt x="0" y="78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4343400" y="5019675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010150" y="5010150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数据分布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5010150" y="5238750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8A8F99"/>
                </a:solidFill>
                <a:latin typeface="Microsoft YaHei"/>
                <a:ea typeface="Microsoft YaHei"/>
              </a:rPr>
              <a:t>DATA DISTRIBUTION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838950" y="4924425"/>
            <a:ext cx="30861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定义唯一权威数据源与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CRUD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流转，描述信息链与数据流，让数据血缘可追溯。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10077450" y="4981575"/>
            <a:ext cx="1314450" cy="419100"/>
          </a:xfrm>
          <a:prstGeom prst="roundRect">
            <a:avLst>
              <a:gd name="adj" fmla="val 681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0153650" y="5038725"/>
            <a:ext cx="1162050" cy="3048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单一可信源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血缘可追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16 / 26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之模板：资产目录、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标准卡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CRUD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矩阵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CRUD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矩阵是过程性工具，数据源是结论性设计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发现多个「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>C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」才能锁定唯一权威源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6438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五层数据资产目录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09600" y="1724025"/>
            <a:ext cx="6438900" cy="285750"/>
          </a:xfrm>
          <a:prstGeom prst="roundRect">
            <a:avLst>
              <a:gd name="adj" fmla="val 10000"/>
            </a:avLst>
          </a:prstGeom>
          <a:solidFill>
            <a:srgbClr val="B32C0C"/>
          </a:solidFill>
          <a:ln/>
        </p:spPr>
        <p:txBody>
          <a:bodyPr/>
          <a:p>
            <a:pPr/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62000" y="177165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219200" y="1771650"/>
            <a:ext cx="2028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主题域分组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公司数据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Owner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09600" y="2066925"/>
            <a:ext cx="6438900" cy="285750"/>
          </a:xfrm>
          <a:prstGeom prst="roundRect">
            <a:avLst>
              <a:gd name="adj" fmla="val 10000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62000" y="211455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219200" y="2114550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主题域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领域数据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Owner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09600" y="2409825"/>
            <a:ext cx="6438900" cy="285750"/>
          </a:xfrm>
          <a:prstGeom prst="roundRect">
            <a:avLst>
              <a:gd name="adj" fmla="val 10000"/>
            </a:avLst>
          </a:pr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62000" y="245745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219200" y="2457450"/>
            <a:ext cx="2638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业务对象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业务对象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Owner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（核心层）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09600" y="2752725"/>
            <a:ext cx="6438900" cy="285750"/>
          </a:xfrm>
          <a:prstGeom prst="roundRect">
            <a:avLst>
              <a:gd name="adj" fmla="val 10000"/>
            </a:avLst>
          </a:prstGeom>
          <a:solidFill>
            <a:srgbClr val="FBA47A"/>
          </a:solidFill>
          <a:ln/>
        </p:spPr>
        <p:txBody>
          <a:bodyPr/>
          <a:p>
            <a:pPr/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62000" y="280035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A1A0A"/>
                </a:solidFill>
                <a:latin typeface="Microsoft YaHei"/>
                <a:ea typeface="Microsoft YaHei"/>
              </a:rPr>
              <a:t>L4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219200" y="2800350"/>
            <a:ext cx="1352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A1A0A"/>
                </a:solidFill>
                <a:latin typeface="Microsoft YaHei"/>
                <a:ea typeface="Microsoft YaHei"/>
              </a:rPr>
              <a:t>逻辑实体</a:t>
            </a:r>
            <a:r>
              <a:rPr lang="en-US" sz="1200">
                <a:solidFill>
                  <a:srgbClr val="3A1A0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3A1A0A"/>
                </a:solidFill>
                <a:latin typeface="Microsoft YaHei"/>
                <a:ea typeface="Microsoft YaHei"/>
              </a:rPr>
              <a:t>数据管家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09600" y="3095625"/>
            <a:ext cx="6438900" cy="285750"/>
          </a:xfrm>
          <a:prstGeom prst="roundRect">
            <a:avLst>
              <a:gd name="adj" fmla="val 10000"/>
            </a:avLst>
          </a:prstGeom>
          <a:solidFill>
            <a:srgbClr val="FDD5BE"/>
          </a:solidFill>
          <a:ln/>
        </p:spPr>
        <p:txBody>
          <a:bodyPr/>
          <a:p>
            <a:pPr/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62000" y="314325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A1A0A"/>
                </a:solidFill>
                <a:latin typeface="Microsoft YaHei"/>
                <a:ea typeface="Microsoft YaHei"/>
              </a:rPr>
              <a:t>L5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219200" y="314325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A1A0A"/>
                </a:solidFill>
                <a:latin typeface="Microsoft YaHei"/>
                <a:ea typeface="Microsoft YaHei"/>
              </a:rPr>
              <a:t>属性</a:t>
            </a:r>
            <a:r>
              <a:rPr lang="en-US" sz="1200">
                <a:solidFill>
                  <a:srgbClr val="3A1A0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3A1A0A"/>
                </a:solidFill>
                <a:latin typeface="Microsoft YaHei"/>
                <a:ea typeface="Microsoft YaHei"/>
              </a:rPr>
              <a:t>数据管家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09600" y="3514725"/>
            <a:ext cx="6438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B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数据标准卡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09600" y="3876675"/>
            <a:ext cx="6438900" cy="1704975"/>
          </a:xfrm>
          <a:prstGeom prst="roundRect">
            <a:avLst>
              <a:gd name="adj" fmla="val 2235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800100" y="4010025"/>
            <a:ext cx="1924050" cy="1438275"/>
          </a:xfrm>
          <a:custGeom>
            <a:pathLst>
              <a:path w="202" h="151">
                <a:moveTo>
                  <a:pt x="0" y="0"/>
                </a:moveTo>
                <a:lnTo>
                  <a:pt x="3" y="0"/>
                </a:lnTo>
                <a:lnTo>
                  <a:pt x="3" y="151"/>
                </a:lnTo>
                <a:lnTo>
                  <a:pt x="0" y="15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42975" y="4010025"/>
            <a:ext cx="1752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业务视角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42975" y="4286250"/>
            <a:ext cx="1752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业务定义与用途、业务规则、同义词（统一语言）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2886075" y="4010025"/>
            <a:ext cx="1914525" cy="1438275"/>
          </a:xfrm>
          <a:custGeom>
            <a:pathLst>
              <a:path w="201" h="151">
                <a:moveTo>
                  <a:pt x="0" y="0"/>
                </a:moveTo>
                <a:lnTo>
                  <a:pt x="3" y="0"/>
                </a:lnTo>
                <a:lnTo>
                  <a:pt x="3" y="151"/>
                </a:lnTo>
                <a:lnTo>
                  <a:pt x="0" y="15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3028950" y="4010025"/>
            <a:ext cx="1743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技术视角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3028950" y="4286250"/>
            <a:ext cx="17430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数据类型、长度、允许值（约束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实施）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4962525" y="4010025"/>
            <a:ext cx="1924050" cy="1438275"/>
          </a:xfrm>
          <a:custGeom>
            <a:pathLst>
              <a:path w="202" h="151">
                <a:moveTo>
                  <a:pt x="0" y="0"/>
                </a:moveTo>
                <a:lnTo>
                  <a:pt x="3" y="0"/>
                </a:lnTo>
                <a:lnTo>
                  <a:pt x="3" y="151"/>
                </a:lnTo>
                <a:lnTo>
                  <a:pt x="0" y="15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5105400" y="4010025"/>
            <a:ext cx="1752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管理视角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105400" y="4286250"/>
            <a:ext cx="1752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规则责任主体、维护主体、监控主体（明确责任）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296150" y="1362075"/>
            <a:ext cx="4286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C · CRUD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矩阵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7296150" y="1724025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业务对象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应用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9096375" y="1724025"/>
            <a:ext cx="590550" cy="323850"/>
          </a:xfrm>
          <a:prstGeom prst="roundRect">
            <a:avLst>
              <a:gd name="adj" fmla="val 5882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9096375" y="1809750"/>
            <a:ext cx="5905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ERP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9734550" y="1724025"/>
            <a:ext cx="581025" cy="323850"/>
          </a:xfrm>
          <a:prstGeom prst="roundRect">
            <a:avLst>
              <a:gd name="adj" fmla="val 5882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9734550" y="1809750"/>
            <a:ext cx="5810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CRM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10363200" y="1724025"/>
            <a:ext cx="590550" cy="323850"/>
          </a:xfrm>
          <a:prstGeom prst="roundRect">
            <a:avLst>
              <a:gd name="adj" fmla="val 5882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0363200" y="1809750"/>
            <a:ext cx="5905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MES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11001375" y="1724025"/>
            <a:ext cx="581025" cy="323850"/>
          </a:xfrm>
          <a:prstGeom prst="roundRect">
            <a:avLst>
              <a:gd name="adj" fmla="val 5882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1001375" y="1809750"/>
            <a:ext cx="5810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WMS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296150" y="2181225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423"/>
                </a:solidFill>
                <a:latin typeface="Microsoft YaHei"/>
                <a:ea typeface="Microsoft YaHei"/>
              </a:rPr>
              <a:t>客户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9096375" y="2095500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9096375" y="2181225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9734550" y="2095500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9734550" y="2181225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10363200" y="2095500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0363200" y="2181225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11001375" y="2095500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1001375" y="2181225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5A5F6B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7296150" y="2552700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423"/>
                </a:solidFill>
                <a:latin typeface="Microsoft YaHei"/>
                <a:ea typeface="Microsoft YaHei"/>
              </a:rPr>
              <a:t>销售订单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9096375" y="2466975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096375" y="255270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9734550" y="2466975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9734550" y="2552700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10363200" y="2466975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10363200" y="255270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11001375" y="2466975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1001375" y="2552700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7296150" y="2924175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423"/>
                </a:solidFill>
                <a:latin typeface="Microsoft YaHei"/>
                <a:ea typeface="Microsoft YaHei"/>
              </a:rPr>
              <a:t>物料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9096375" y="2838450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9096375" y="2924175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9734550" y="2838450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9734550" y="2924175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10363200" y="2838450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0363200" y="2924175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11001375" y="2838450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1001375" y="2924175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296150" y="3295650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423"/>
                </a:solidFill>
                <a:latin typeface="Microsoft YaHei"/>
                <a:ea typeface="Microsoft YaHei"/>
              </a:rPr>
              <a:t>库存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9096375" y="3209925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9096375" y="329565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9734550" y="3209925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9734550" y="3295650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5A5F6B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10363200" y="3209925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0363200" y="329565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11001375" y="3209925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11001375" y="3295650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296150" y="3667125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423"/>
                </a:solidFill>
                <a:latin typeface="Microsoft YaHei"/>
                <a:ea typeface="Microsoft YaHei"/>
              </a:rPr>
              <a:t>发票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9096375" y="3581400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9096375" y="3667125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9734550" y="3581400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9734550" y="3667125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10363200" y="3581400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10363200" y="3667125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5A5F6B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11001375" y="3581400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001375" y="3667125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5A5F6B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7334250" y="4019550"/>
            <a:ext cx="4286250" cy="1000125"/>
          </a:xfrm>
          <a:prstGeom prst="roundRect">
            <a:avLst>
              <a:gd name="adj" fmla="val 2857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7334250" y="4019550"/>
            <a:ext cx="4286250" cy="1000125"/>
          </a:xfrm>
          <a:custGeom>
            <a:pathLst>
              <a:path w="450" h="105">
                <a:moveTo>
                  <a:pt x="4" y="105"/>
                </a:moveTo>
                <a:cubicBezTo>
                  <a:pt x="3" y="105"/>
                  <a:pt x="2" y="105"/>
                  <a:pt x="1" y="104"/>
                </a:cubicBezTo>
                <a:cubicBezTo>
                  <a:pt x="0" y="103"/>
                  <a:pt x="0" y="103"/>
                  <a:pt x="0" y="10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7486650" y="4133850"/>
            <a:ext cx="3943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判断：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「客户」与「销售订单」均出现多个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C ——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数据源不清晰，必须治理到唯一创建方。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7486650" y="4743450"/>
            <a:ext cx="394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创建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R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读取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U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更新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D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删除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17 / 26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71500" y="11239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7000"/>
                  </a:srgbClr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6096000" y="2552700"/>
            <a:ext cx="47625" cy="14478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553200" y="2628900"/>
            <a:ext cx="51244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553200" y="3609975"/>
            <a:ext cx="512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APPLICATION ARCHITECTURE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553200" y="40481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能力映射应用组合与四态决策：方法、内容、模板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6553200" y="6315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6781800" y="62960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之方法：从能力热力图到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应用组合规划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应用架构回答「用什么系统承载」——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起点是业务能力，终点是可治理的应用组合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609600" y="1381125"/>
            <a:ext cx="3200400" cy="4200525"/>
          </a:xfrm>
          <a:prstGeom prst="roundRect">
            <a:avLst>
              <a:gd name="adj" fmla="val 119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76300" y="1647825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APPLICATION ARCHITECTURE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76300" y="1952625"/>
            <a:ext cx="26670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AA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876300" y="421957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876300" y="4410075"/>
            <a:ext cx="26670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应用不是越多越好</a:t>
            </a:r>
            <a:r>
              <a:rPr lang="en-US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数量增长是技术债的主要来源，组合治理比新建更重要。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4038600" y="1381125"/>
            <a:ext cx="7543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四步作业法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4076700" y="17430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4076700" y="17430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4267200" y="20097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972050" y="2066925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能力映射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553200" y="1914525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把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输出的业务能力逐项映射到承载它的应用系统，识别「一能力多系统」。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10077450" y="2047875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0153650" y="2105025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能力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-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应用映射表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4076700" y="27336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4076700" y="27336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4267200" y="30003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4972050" y="3057525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应用盘点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6553200" y="2905125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建立应用全景清单：上线年份、用户量、技术栈、维护成本、业务关键度。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10077450" y="3038475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10153650" y="3095625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应用组合清单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4076700" y="3724275"/>
            <a:ext cx="754380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4076700" y="3724275"/>
            <a:ext cx="7543800" cy="866775"/>
          </a:xfrm>
          <a:custGeom>
            <a:pathLst>
              <a:path w="792" h="91">
                <a:moveTo>
                  <a:pt x="4" y="91"/>
                </a:moveTo>
                <a:cubicBezTo>
                  <a:pt x="2" y="91"/>
                  <a:pt x="0" y="89"/>
                  <a:pt x="0" y="8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4267200" y="39909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4972050" y="4048125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热力图评估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6553200" y="3895725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以业务价值与技术健康度两维评估，定位高价值高风险、低价值冗余的应用。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10077450" y="4029075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10153650" y="4086225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应用热力图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4076700" y="4705350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4076700" y="4705350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4267200" y="497205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4972050" y="5029200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组合决策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6553200" y="4876800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对每个应用给出建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买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集成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退役四态决策，形成组合演进方向。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10077450" y="5010150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10153650" y="5067300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组合决策表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19 / 26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4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之内容：应用组合清单、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集成关系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与架构原则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清单解决「有什么」，关系图解决「怎么连」，架构原则解决「以后怎么建」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66389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交付物一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应用组合清单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609600" y="1724025"/>
            <a:ext cx="1085850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609600" y="178117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应用名称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1733550" y="1724025"/>
            <a:ext cx="2162175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733550" y="178117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承载能力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3933825" y="1724025"/>
            <a:ext cx="1076325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3933825" y="178117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技术健康度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5048250" y="1724025"/>
            <a:ext cx="1085850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5048250" y="178117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业务价值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6172200" y="1724025"/>
            <a:ext cx="1076325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172200" y="178117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决策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609600" y="20193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09600" y="20669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订单中心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1733550" y="20193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1733550" y="20669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订单履约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3933825" y="20193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3933825" y="20669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5048250" y="20193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5048250" y="20669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6172200" y="20193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6172200" y="20669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保留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609600" y="22860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609600" y="23336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CRM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旧版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1733550" y="22860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1733550" y="23336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客户管理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3933825" y="22860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3933825" y="23336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D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5048250" y="22860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5048250" y="23336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6172200" y="22860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172200" y="23336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退役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609600" y="25527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609600" y="26003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报表工具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X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1733550" y="25527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1733550" y="26003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经营分析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3933825" y="25527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3933825" y="26003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5048250" y="25527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5048250" y="26003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6172200" y="25527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172200" y="26003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集成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609600" y="28194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609600" y="28670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产线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MES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1733550" y="28194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1733550" y="28670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生产执行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3933825" y="28194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3933825" y="28670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5048250" y="28194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5048250" y="28670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6172200" y="28194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6172200" y="28670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保留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609600" y="3209925"/>
            <a:ext cx="66389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交付物二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应用集成关系图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609600" y="3571875"/>
            <a:ext cx="6638925" cy="2009775"/>
          </a:xfrm>
          <a:prstGeom prst="roundRect">
            <a:avLst>
              <a:gd name="adj" fmla="val 1896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742950" y="4010025"/>
            <a:ext cx="1143000" cy="495300"/>
          </a:xfrm>
          <a:prstGeom prst="roundRect">
            <a:avLst>
              <a:gd name="adj" fmla="val 5769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952500" y="4162425"/>
            <a:ext cx="72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CRM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前端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742950" y="4657725"/>
            <a:ext cx="1143000" cy="495300"/>
          </a:xfrm>
          <a:prstGeom prst="roundRect">
            <a:avLst>
              <a:gd name="adj" fmla="val 5769"/>
            </a:avLst>
          </a:prstGeom>
          <a:solidFill>
            <a:srgbClr val="FBA47A"/>
          </a:solidFill>
          <a:ln/>
        </p:spPr>
        <p:txBody>
          <a:bodyPr/>
          <a:p>
            <a:pPr/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971550" y="4810125"/>
            <a:ext cx="685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A1A0A"/>
                </a:solidFill>
                <a:latin typeface="Microsoft YaHei"/>
                <a:ea typeface="Microsoft YaHei"/>
              </a:rPr>
              <a:t xml:space="preserve">MES </a:t>
            </a:r>
            <a:r>
              <a:rPr lang="zh-CN" sz="1200" b="1">
                <a:solidFill>
                  <a:srgbClr val="3A1A0A"/>
                </a:solidFill>
                <a:latin typeface="Microsoft YaHei"/>
                <a:ea typeface="Microsoft YaHei"/>
              </a:rPr>
              <a:t>前端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981200" y="4476750"/>
            <a:ext cx="130492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350">
                <a:solidFill>
                  <a:srgbClr val="C9CBD1"/>
                </a:solidFill>
                <a:latin typeface="Microsoft YaHei"/>
                <a:ea typeface="Microsoft YaHei"/>
              </a:rPr>
              <a:t>⟶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3381375" y="4010025"/>
            <a:ext cx="1104900" cy="1143000"/>
          </a:xfrm>
          <a:prstGeom prst="roundRect">
            <a:avLst>
              <a:gd name="adj" fmla="val 2586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3609975" y="43815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集成总线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3562350" y="4638675"/>
            <a:ext cx="752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API Gateway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4581525" y="4476750"/>
            <a:ext cx="129540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350">
                <a:solidFill>
                  <a:srgbClr val="C9CBD1"/>
                </a:solidFill>
                <a:latin typeface="Microsoft YaHei"/>
                <a:ea typeface="Microsoft YaHei"/>
              </a:rPr>
              <a:t>⟶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5972175" y="4010025"/>
            <a:ext cx="1143000" cy="495300"/>
          </a:xfrm>
          <a:prstGeom prst="roundRect">
            <a:avLst>
              <a:gd name="adj" fmla="val 5769"/>
            </a:avLst>
          </a:pr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238875" y="41624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订单中心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5972175" y="4657725"/>
            <a:ext cx="1143000" cy="495300"/>
          </a:xfrm>
          <a:prstGeom prst="roundRect">
            <a:avLst>
              <a:gd name="adj" fmla="val 5769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6238875" y="48101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5F6B"/>
                </a:solidFill>
                <a:latin typeface="Microsoft YaHei"/>
                <a:ea typeface="Microsoft YaHei"/>
              </a:rPr>
              <a:t>数据底座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7515225" y="1362075"/>
            <a:ext cx="4067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交付物三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架构原则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7553325" y="17049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7553325" y="17049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7705725" y="18192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P1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7705725" y="20669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核心自建，非核采购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7705725" y="23241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核心能力定制获取差异化，非核心优先成熟产品。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7553325" y="27336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7553325" y="27336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7705725" y="28479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P2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7705725" y="30956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优先</a:t>
            </a: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SaaS 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而非自建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7705725" y="33528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无差异化诉求的能力不自建，降低维护负担。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7553325" y="37623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7553325" y="37623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7705725" y="38766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P3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7705725" y="41243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集成优于重建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7705725" y="43815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能通过接口复用的，不得另建平行系统。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7553325" y="47910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7553325" y="47910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7705725" y="49053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P4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7705725" y="51530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定期组合评审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7705725" y="54102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每年评估应用组合，淘汰冗余与过时应用。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20 / 26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5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之模板：应用卡片与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建·买·集成·退役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决策表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决策表把「拍脑袋」变成「按标准判定」——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四个字段就能定一个应用的去向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09600" y="1343025"/>
            <a:ext cx="1097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应用卡片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609600" y="1685925"/>
            <a:ext cx="2209800" cy="1571625"/>
          </a:xfrm>
          <a:prstGeom prst="roundRect">
            <a:avLst>
              <a:gd name="adj" fmla="val 2424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81050" y="1857375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APPLICATION CARD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781050" y="2085975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应用卡片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781050" y="2362200"/>
            <a:ext cx="18669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示例：订单中心</a:t>
            </a:r>
            <a:endParaRPr/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承载能力：订单履约</a:t>
            </a:r>
            <a:r>
              <a:rPr lang="en-US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决策：保留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2933700" y="1685925"/>
            <a:ext cx="2076450" cy="1562100"/>
          </a:xfrm>
          <a:prstGeom prst="roundRect">
            <a:avLst>
              <a:gd name="adj" fmla="val 243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3086100" y="181927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应用编号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3086100" y="2066925"/>
            <a:ext cx="17716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>AA-ORD-001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3086100" y="29622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全局唯一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5124450" y="1685925"/>
            <a:ext cx="2076450" cy="1562100"/>
          </a:xfrm>
          <a:prstGeom prst="roundRect">
            <a:avLst>
              <a:gd name="adj" fmla="val 243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5276850" y="181927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承载能力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5276850" y="2066925"/>
            <a:ext cx="1771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订单履约（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>BA-SCM-014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5276850" y="29622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必须挂到能力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7315200" y="1685925"/>
            <a:ext cx="2076450" cy="1562100"/>
          </a:xfrm>
          <a:prstGeom prst="roundRect">
            <a:avLst>
              <a:gd name="adj" fmla="val 243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7467600" y="181927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技术健康度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7467600" y="2066925"/>
            <a:ext cx="17716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>B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（主流栈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可维护）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7467600" y="29622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A→D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四级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9505950" y="1685925"/>
            <a:ext cx="2076450" cy="1562100"/>
          </a:xfrm>
          <a:prstGeom prst="roundRect">
            <a:avLst>
              <a:gd name="adj" fmla="val 243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9658350" y="181927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业务价值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9658350" y="2066925"/>
            <a:ext cx="17716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>A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（核心关键）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9658350" y="29622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与能力重要度一致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1097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B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建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买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集成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退役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决策表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609600" y="3781425"/>
            <a:ext cx="26574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609600" y="3781425"/>
            <a:ext cx="2657475" cy="1838325"/>
          </a:xfrm>
          <a:custGeom>
            <a:pathLst>
              <a:path w="279" h="19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781050" y="3933825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A4F24"/>
                </a:solidFill>
                <a:latin typeface="Microsoft YaHei"/>
                <a:ea typeface="Microsoft YaHei"/>
              </a:rPr>
              <a:t>建</a:t>
            </a: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Build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781050" y="4276725"/>
            <a:ext cx="23145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核心能力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无成熟产品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781050" y="5114925"/>
            <a:ext cx="2314575" cy="314325"/>
          </a:xfrm>
          <a:prstGeom prst="roundRect">
            <a:avLst>
              <a:gd name="adj" fmla="val 9091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876300" y="519112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判定信号：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战略价值高</a:t>
            </a:r>
            <a:r>
              <a:rPr lang="en-US" sz="1050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差异化强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3381375" y="3781425"/>
            <a:ext cx="26574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3381375" y="3781425"/>
            <a:ext cx="2657475" cy="1838325"/>
          </a:xfrm>
          <a:custGeom>
            <a:pathLst>
              <a:path w="279" h="19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3552825" y="3933825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7D2F"/>
                </a:solidFill>
                <a:latin typeface="Microsoft YaHei"/>
                <a:ea typeface="Microsoft YaHei"/>
              </a:rPr>
              <a:t>买</a:t>
            </a:r>
            <a:r>
              <a:rPr lang="en-US" sz="1500" b="1">
                <a:solidFill>
                  <a:srgbClr val="F87D2F"/>
                </a:solidFill>
                <a:latin typeface="Microsoft YaHei"/>
                <a:ea typeface="Microsoft YaHei"/>
              </a:rPr>
              <a:t xml:space="preserve"> Buy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3552825" y="4276725"/>
            <a:ext cx="23145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非核心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市场成熟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3552825" y="5114925"/>
            <a:ext cx="2314575" cy="314325"/>
          </a:xfrm>
          <a:prstGeom prst="roundRect">
            <a:avLst>
              <a:gd name="adj" fmla="val 9091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3648075" y="519112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判定信号：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可标准化</a:t>
            </a:r>
            <a:r>
              <a:rPr lang="en-US" sz="1050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采购成本优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6153150" y="3781425"/>
            <a:ext cx="26574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6153150" y="3781425"/>
            <a:ext cx="2657475" cy="1838325"/>
          </a:xfrm>
          <a:custGeom>
            <a:pathLst>
              <a:path w="279" h="19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FBA47A"/>
          </a:solidFill>
          <a:ln/>
        </p:spPr>
        <p:txBody>
          <a:bodyPr/>
          <a:p>
            <a:pPr/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6324600" y="3933825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BA47A"/>
                </a:solidFill>
                <a:latin typeface="Microsoft YaHei"/>
                <a:ea typeface="Microsoft YaHei"/>
              </a:rPr>
              <a:t>集成</a:t>
            </a:r>
            <a:r>
              <a:rPr lang="en-US" sz="1500" b="1">
                <a:solidFill>
                  <a:srgbClr val="FBA47A"/>
                </a:solidFill>
                <a:latin typeface="Microsoft YaHei"/>
                <a:ea typeface="Microsoft YaHei"/>
              </a:rPr>
              <a:t xml:space="preserve"> Integrate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6324600" y="4276725"/>
            <a:ext cx="23145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已有系统可复用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6324600" y="4953000"/>
            <a:ext cx="2314575" cy="476250"/>
          </a:xfrm>
          <a:prstGeom prst="roundRect">
            <a:avLst>
              <a:gd name="adj" fmla="val 6000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6419850" y="5029200"/>
            <a:ext cx="2124075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判定信号：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接口可打通</a:t>
            </a:r>
            <a:r>
              <a:rPr lang="en-US" sz="1050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改造成本低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8924925" y="3781425"/>
            <a:ext cx="26574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8924925" y="3781425"/>
            <a:ext cx="2657475" cy="1838325"/>
          </a:xfrm>
          <a:custGeom>
            <a:pathLst>
              <a:path w="279" h="19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9096375" y="3933825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退役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Retire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9096375" y="4276725"/>
            <a:ext cx="23145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低价值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高维护成本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9096375" y="5114925"/>
            <a:ext cx="2314575" cy="314325"/>
          </a:xfrm>
          <a:prstGeom prst="roundRect">
            <a:avLst>
              <a:gd name="adj" fmla="val 9091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9191625" y="519112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判定信号：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功能可替代</a:t>
            </a:r>
            <a:r>
              <a:rPr lang="en-US" sz="1050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用户少</a:t>
            </a:r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21 / 26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5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571500" y="11239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7000"/>
                  </a:srgbClr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6096000" y="2552700"/>
            <a:ext cx="47625" cy="14478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553200" y="2628900"/>
            <a:ext cx="51244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553200" y="3609975"/>
            <a:ext cx="512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TECHNOLOGY ARCHITECTURE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6553200" y="40481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以架构确定性应对技术不确定性：方法、内容、模板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6553200" y="6315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6781800" y="62960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6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之方法：以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架构确定性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应对技术不确定性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技术架构回答「用什么支撑」——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技术会过时，但分层与标准可以长期稳定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609600" y="1381125"/>
            <a:ext cx="3200400" cy="4200525"/>
          </a:xfrm>
          <a:prstGeom prst="roundRect">
            <a:avLst>
              <a:gd name="adj" fmla="val 119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876300" y="1647825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TECHNOLOGY ARCHITECTURE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876300" y="1952625"/>
            <a:ext cx="26670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TA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876300" y="421957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876300" y="4410075"/>
            <a:ext cx="26670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不在单点技术上押注，而在分层结构与接口标准上投资</a:t>
            </a:r>
            <a:r>
              <a:rPr lang="en-US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让技术换代不推翻业务。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4038600" y="1381125"/>
            <a:ext cx="7543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四步作业法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4076700" y="17430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4076700" y="17430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4267200" y="20097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4972050" y="2066925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需求输入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6553200" y="1914525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从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AA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的应用组合与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DA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的数据规模反推技术需求：并发、时延、容量、可用性。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10077450" y="2047875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10153650" y="2105025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技术需求基线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4076700" y="27336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4076700" y="27336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4267200" y="30003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4972050" y="3057525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分层设计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6553200" y="2905125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按基础设施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平台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数据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集成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安全五层划分，明确每层职责与层间接口。</a:t>
            </a:r>
            <a:endParaRPr/>
          </a:p>
        </p:txBody>
      </p:sp>
      <p:sp>
        <p:nvSpPr>
          <p:cNvPr id="629" name=""/>
          <p:cNvSpPr/>
          <p:nvPr/>
        </p:nvSpPr>
        <p:spPr>
          <a:xfrm rot="0" flipH="0" flipV="0">
            <a:off x="10077450" y="3038475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10153650" y="3095625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技术分层蓝图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4076700" y="3724275"/>
            <a:ext cx="754380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4076700" y="3724275"/>
            <a:ext cx="7543800" cy="866775"/>
          </a:xfrm>
          <a:custGeom>
            <a:pathLst>
              <a:path w="792" h="91">
                <a:moveTo>
                  <a:pt x="4" y="91"/>
                </a:moveTo>
                <a:cubicBezTo>
                  <a:pt x="2" y="91"/>
                  <a:pt x="0" y="89"/>
                  <a:pt x="0" y="8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4267200" y="39909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4972050" y="4048125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选型评估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553200" y="3895725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对候选技术做成熟度、生态、成本、锁定风险四维评估，给出推荐与理由。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10077450" y="4029075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10153650" y="4086225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选型评估矩阵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4076700" y="4705350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4076700" y="4705350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4267200" y="497205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4972050" y="5029200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演进路线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6553200" y="4876800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把目标态拆为三阶段，标注里程碑与退坡路径，避免一次性大替换。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10077450" y="5010150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10153650" y="5067300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技术演进路线图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23 / 26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6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之内容：技术组件、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部署视图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与标准规范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组件清单解决「用什么」，部署视图解决「放哪里」，标准规范解决「怎么管」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66389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交付物一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技术组件清单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609600" y="1724025"/>
            <a:ext cx="1085850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609600" y="178117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技术层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1733550" y="1724025"/>
            <a:ext cx="2162175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1733550" y="178117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代表性组件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3933825" y="1724025"/>
            <a:ext cx="1076325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3933825" y="178117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成熟度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5048250" y="1724025"/>
            <a:ext cx="1085850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5048250" y="178117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锁定风险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6172200" y="1724025"/>
            <a:ext cx="1076325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6172200" y="178117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609600" y="20193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609600" y="20669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基础设施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1733550" y="20193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1733550" y="20669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容器平台</a:t>
            </a: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云主机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3933825" y="20193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3933825" y="20669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5048250" y="20193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5048250" y="20669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6172200" y="20193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6172200" y="20669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云原生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609600" y="22860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609600" y="23336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数据平台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1733550" y="22860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1733550" y="23336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数据湖</a:t>
            </a: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数仓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3933825" y="22860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3933825" y="23336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5048250" y="22860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5048250" y="23336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低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6172200" y="22860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6172200" y="23336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湖仓一体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609600" y="25527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609600" y="26003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集成层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1733550" y="25527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1733550" y="26003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网关</a:t>
            </a: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消息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3933825" y="25527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3933825" y="26003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5048250" y="25527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5048250" y="26003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低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6172200" y="25527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6172200" y="26003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统一网关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609600" y="28194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609600" y="28670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安全层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1733550" y="28194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1733550" y="28670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统一身份</a:t>
            </a: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审计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3933825" y="28194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3933825" y="28670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5048250" y="28194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5048250" y="28670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低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6172200" y="28194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6172200" y="28670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零信任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609600" y="3209925"/>
            <a:ext cx="66389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交付物二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部署视图</a:t>
            </a:r>
            <a:endParaRPr/>
          </a:p>
        </p:txBody>
      </p:sp>
      <p:sp>
        <p:nvSpPr>
          <p:cNvPr id="705" name=""/>
          <p:cNvSpPr/>
          <p:nvPr/>
        </p:nvSpPr>
        <p:spPr>
          <a:xfrm rot="0" flipH="0" flipV="0">
            <a:off x="609600" y="3571875"/>
            <a:ext cx="6638925" cy="2009775"/>
          </a:xfrm>
          <a:prstGeom prst="roundRect">
            <a:avLst>
              <a:gd name="adj" fmla="val 1896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742950" y="3876675"/>
            <a:ext cx="6372225" cy="419100"/>
          </a:xfrm>
          <a:prstGeom prst="roundRect">
            <a:avLst>
              <a:gd name="adj" fmla="val 6818"/>
            </a:avLst>
          </a:prstGeom>
          <a:ln w="19050">
            <a:solidFill>
              <a:srgbClr val="C9CBD1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876300" y="4000500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A5F6B"/>
                </a:solidFill>
                <a:latin typeface="Microsoft YaHei"/>
                <a:ea typeface="Microsoft YaHei"/>
              </a:rPr>
              <a:t>生产环境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1866900" y="3981450"/>
            <a:ext cx="5114925" cy="209550"/>
          </a:xfrm>
          <a:prstGeom prst="roundRect">
            <a:avLst>
              <a:gd name="adj" fmla="val 9091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1866900" y="4019550"/>
            <a:ext cx="51149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核心应用集群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双活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742950" y="4371975"/>
            <a:ext cx="6372225" cy="419100"/>
          </a:xfrm>
          <a:prstGeom prst="roundRect">
            <a:avLst>
              <a:gd name="adj" fmla="val 6818"/>
            </a:avLst>
          </a:prstGeom>
          <a:ln w="19050">
            <a:solidFill>
              <a:srgbClr val="C9CBD1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876300" y="4495800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A5F6B"/>
                </a:solidFill>
                <a:latin typeface="Microsoft YaHei"/>
                <a:ea typeface="Microsoft YaHei"/>
              </a:rPr>
              <a:t>灾备中心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1866900" y="4476750"/>
            <a:ext cx="5114925" cy="209550"/>
          </a:xfrm>
          <a:prstGeom prst="roundRect">
            <a:avLst>
              <a:gd name="adj" fmla="val 9091"/>
            </a:avLst>
          </a:prstGeom>
          <a:solidFill>
            <a:srgbClr val="FBA47A"/>
          </a:solidFill>
          <a:ln/>
        </p:spPr>
        <p:txBody>
          <a:bodyPr/>
          <a:p>
            <a:pPr/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1866900" y="4514850"/>
            <a:ext cx="51149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3A1A0A"/>
                </a:solidFill>
                <a:latin typeface="Microsoft YaHei"/>
                <a:ea typeface="Microsoft YaHei"/>
              </a:rPr>
              <a:t>同城灾备</a:t>
            </a:r>
            <a:r>
              <a:rPr lang="en-US" sz="900">
                <a:solidFill>
                  <a:srgbClr val="3A1A0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3A1A0A"/>
                </a:solidFill>
                <a:latin typeface="Microsoft YaHei"/>
                <a:ea typeface="Microsoft YaHei"/>
              </a:rPr>
              <a:t>数据实时同步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742950" y="4867275"/>
            <a:ext cx="6372225" cy="419100"/>
          </a:xfrm>
          <a:prstGeom prst="roundRect">
            <a:avLst>
              <a:gd name="adj" fmla="val 6818"/>
            </a:avLst>
          </a:prstGeom>
          <a:ln w="19050">
            <a:solidFill>
              <a:srgbClr val="C9CBD1"/>
            </a:solidFill>
            <a:prstDash val="dash"/>
          </a:ln>
        </p:spPr>
        <p:txBody>
          <a:bodyPr/>
          <a:p>
            <a:pPr/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876300" y="4991100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A8F99"/>
                </a:solidFill>
                <a:latin typeface="Microsoft YaHei"/>
                <a:ea typeface="Microsoft YaHei"/>
              </a:rPr>
              <a:t>测试环境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1866900" y="4972050"/>
            <a:ext cx="5114925" cy="209550"/>
          </a:xfrm>
          <a:prstGeom prst="roundRect">
            <a:avLst>
              <a:gd name="adj" fmla="val 9091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1866900" y="5010150"/>
            <a:ext cx="51149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5F6B"/>
                </a:solidFill>
                <a:latin typeface="Microsoft YaHei"/>
                <a:ea typeface="Microsoft YaHei"/>
              </a:rPr>
              <a:t>与生产隔离</a:t>
            </a:r>
            <a:r>
              <a:rPr lang="en-US" sz="900">
                <a:solidFill>
                  <a:srgbClr val="5A5F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5A5F6B"/>
                </a:solidFill>
                <a:latin typeface="Microsoft YaHei"/>
                <a:ea typeface="Microsoft YaHei"/>
              </a:rPr>
              <a:t>数据脱敏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7515225" y="1362075"/>
            <a:ext cx="4067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交付物三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技术标准规范</a:t>
            </a:r>
            <a:endParaRPr/>
          </a:p>
        </p:txBody>
      </p:sp>
      <p:sp>
        <p:nvSpPr>
          <p:cNvPr id="719" name=""/>
          <p:cNvSpPr/>
          <p:nvPr/>
        </p:nvSpPr>
        <p:spPr>
          <a:xfrm rot="0" flipH="0" flipV="0">
            <a:off x="7553325" y="17049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7553325" y="17049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7705725" y="18192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S1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7705725" y="20669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技术选型标准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7705725" y="23241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明确各层准入技术清单与禁用清单，选型须走评估流程。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7553325" y="27336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25" name=""/>
          <p:cNvSpPr/>
          <p:nvPr/>
        </p:nvSpPr>
        <p:spPr>
          <a:xfrm rot="0" flipH="0" flipV="0">
            <a:off x="7553325" y="27336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7705725" y="28479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S2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7705725" y="30956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接口与集成标准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7705725" y="33528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统一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风格、版本策略、鉴权方式与错误码规范。</a:t>
            </a:r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7553325" y="37623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30" name=""/>
          <p:cNvSpPr/>
          <p:nvPr/>
        </p:nvSpPr>
        <p:spPr>
          <a:xfrm rot="0" flipH="0" flipV="0">
            <a:off x="7553325" y="37623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7705725" y="38766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S3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7705725" y="41243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部署与运维标准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7705725" y="43815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环境分层、发布流程、容量阈值与监控告警基线。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7553325" y="47910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35" name=""/>
          <p:cNvSpPr/>
          <p:nvPr/>
        </p:nvSpPr>
        <p:spPr>
          <a:xfrm rot="0" flipH="0" flipV="0">
            <a:off x="7553325" y="47910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7705725" y="49053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S4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7705725" y="51530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安全与合规标准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7705725" y="54102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数据分级、访问控制、日志留痕与等保合规要求。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24 / 26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7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之模板：技术组件卡片与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技术演进路线图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路线图把「目标态」拆成可验收的三阶段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每阶段都有明确的技术里程碑与退坡条件</a:t>
            </a:r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609600" y="1343025"/>
            <a:ext cx="1097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技术演进路线图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609600" y="1724025"/>
            <a:ext cx="10972800" cy="2209800"/>
          </a:xfrm>
          <a:prstGeom prst="roundRect">
            <a:avLst>
              <a:gd name="adj" fmla="val 1724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838200" y="1895475"/>
            <a:ext cx="28575" cy="247650"/>
          </a:xfrm>
          <a:prstGeom prst="rect">
            <a:avLst/>
          </a:prstGeom>
          <a:solidFill>
            <a:srgbClr val="C9CBD1"/>
          </a:solidFill>
          <a:ln/>
        </p:spPr>
        <p:txBody>
          <a:bodyPr/>
          <a:p>
            <a:pPr/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942975" y="19431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当前</a:t>
            </a:r>
            <a:endParaRPr/>
          </a:p>
        </p:txBody>
      </p:sp>
      <p:sp>
        <p:nvSpPr>
          <p:cNvPr id="751" name=""/>
          <p:cNvSpPr/>
          <p:nvPr/>
        </p:nvSpPr>
        <p:spPr>
          <a:xfrm rot="0" flipH="0" flipV="0">
            <a:off x="1209675" y="2009775"/>
            <a:ext cx="9744075" cy="28575"/>
          </a:xfrm>
          <a:prstGeom prst="rect">
            <a:avLst/>
          </a:prstGeom>
          <a:gradFill>
            <a:gsLst>
              <a:gs pos="0">
                <a:srgbClr val="C9CBD1"/>
              </a:gs>
              <a:gs pos="100000">
                <a:srgbClr val="FA4F24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10953750" y="19431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目标态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838200" y="2790825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容器化率</a:t>
            </a:r>
            <a:r>
              <a:rPr lang="en-US" sz="12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60%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838200" y="3038475"/>
            <a:ext cx="3429000" cy="876300"/>
          </a:xfrm>
          <a:prstGeom prst="roundRect">
            <a:avLst>
              <a:gd name="adj" fmla="val 3261"/>
            </a:avLst>
          </a:prstGeom>
          <a:solidFill>
            <a:srgbClr val="FDD5BE"/>
          </a:solidFill>
          <a:ln/>
        </p:spPr>
        <p:txBody>
          <a:bodyPr/>
          <a:p>
            <a:pPr/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971550" y="33242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A1A0A"/>
                </a:solidFill>
                <a:latin typeface="Microsoft YaHei"/>
                <a:ea typeface="Microsoft YaHei"/>
              </a:rPr>
              <a:t>夯实基础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4381500" y="2524125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数据中台上线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4381500" y="2771775"/>
            <a:ext cx="3429000" cy="1143000"/>
          </a:xfrm>
          <a:prstGeom prst="roundRect">
            <a:avLst>
              <a:gd name="adj" fmla="val 2500"/>
            </a:avLst>
          </a:prstGeom>
          <a:solidFill>
            <a:srgbClr val="FBA47A"/>
          </a:solidFill>
          <a:ln/>
        </p:spPr>
        <p:txBody>
          <a:bodyPr/>
          <a:p>
            <a:pPr/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4514850" y="30575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A1A0A"/>
                </a:solidFill>
                <a:latin typeface="Microsoft YaHei"/>
                <a:ea typeface="Microsoft YaHei"/>
              </a:rPr>
              <a:t>平台整合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7924800" y="2257425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应用云原生</a:t>
            </a: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80%</a:t>
            </a:r>
            <a:endParaRPr/>
          </a:p>
        </p:txBody>
      </p:sp>
      <p:sp>
        <p:nvSpPr>
          <p:cNvPr id="760" name=""/>
          <p:cNvSpPr/>
          <p:nvPr/>
        </p:nvSpPr>
        <p:spPr>
          <a:xfrm rot="0" flipH="0" flipV="0">
            <a:off x="7924800" y="2505075"/>
            <a:ext cx="3429000" cy="1409700"/>
          </a:xfrm>
          <a:prstGeom prst="roundRect">
            <a:avLst>
              <a:gd name="adj" fmla="val 2027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8058150" y="27908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云原生化</a:t>
            </a:r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609600" y="4067175"/>
            <a:ext cx="66865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B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技术组件卡片</a:t>
            </a:r>
            <a:endParaRPr/>
          </a:p>
        </p:txBody>
      </p:sp>
      <p:sp>
        <p:nvSpPr>
          <p:cNvPr id="763" name=""/>
          <p:cNvSpPr/>
          <p:nvPr/>
        </p:nvSpPr>
        <p:spPr>
          <a:xfrm rot="0" flipH="0" flipV="0">
            <a:off x="609600" y="4410075"/>
            <a:ext cx="6686550" cy="1209675"/>
          </a:xfrm>
          <a:prstGeom prst="roundRect">
            <a:avLst>
              <a:gd name="adj" fmla="val 315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64" name=""/>
          <p:cNvSpPr/>
          <p:nvPr/>
        </p:nvSpPr>
        <p:spPr>
          <a:xfrm rot="0" flipH="0" flipV="0">
            <a:off x="800100" y="4543425"/>
            <a:ext cx="1476375" cy="942975"/>
          </a:xfrm>
          <a:custGeom>
            <a:pathLst>
              <a:path w="155" h="99">
                <a:moveTo>
                  <a:pt x="0" y="0"/>
                </a:moveTo>
                <a:lnTo>
                  <a:pt x="3" y="0"/>
                </a:lnTo>
                <a:lnTo>
                  <a:pt x="3" y="99"/>
                </a:lnTo>
                <a:lnTo>
                  <a:pt x="0" y="9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942975" y="4543425"/>
            <a:ext cx="1304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组件定位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942975" y="4810125"/>
            <a:ext cx="13049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所属技术层、承担的架构职责</a:t>
            </a:r>
            <a:endParaRPr/>
          </a:p>
        </p:txBody>
      </p:sp>
      <p:sp>
        <p:nvSpPr>
          <p:cNvPr id="767" name=""/>
          <p:cNvSpPr/>
          <p:nvPr/>
        </p:nvSpPr>
        <p:spPr>
          <a:xfrm rot="0" flipH="0" flipV="0">
            <a:off x="2419350" y="4543425"/>
            <a:ext cx="1476375" cy="942975"/>
          </a:xfrm>
          <a:custGeom>
            <a:pathLst>
              <a:path w="155" h="99">
                <a:moveTo>
                  <a:pt x="0" y="0"/>
                </a:moveTo>
                <a:lnTo>
                  <a:pt x="3" y="0"/>
                </a:lnTo>
                <a:lnTo>
                  <a:pt x="3" y="99"/>
                </a:lnTo>
                <a:lnTo>
                  <a:pt x="0" y="9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2562225" y="4543425"/>
            <a:ext cx="1304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选型理由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2562225" y="4810125"/>
            <a:ext cx="13049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成熟度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生态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成本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锁定风险</a:t>
            </a:r>
            <a:endParaRPr/>
          </a:p>
        </p:txBody>
      </p:sp>
      <p:sp>
        <p:nvSpPr>
          <p:cNvPr id="770" name=""/>
          <p:cNvSpPr/>
          <p:nvPr/>
        </p:nvSpPr>
        <p:spPr>
          <a:xfrm rot="0" flipH="0" flipV="0">
            <a:off x="4038600" y="4543425"/>
            <a:ext cx="1476375" cy="942975"/>
          </a:xfrm>
          <a:custGeom>
            <a:pathLst>
              <a:path w="155" h="99">
                <a:moveTo>
                  <a:pt x="0" y="0"/>
                </a:moveTo>
                <a:lnTo>
                  <a:pt x="3" y="0"/>
                </a:lnTo>
                <a:lnTo>
                  <a:pt x="3" y="99"/>
                </a:lnTo>
                <a:lnTo>
                  <a:pt x="0" y="9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4181475" y="4543425"/>
            <a:ext cx="1304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部署要求</a:t>
            </a:r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4181475" y="4810125"/>
            <a:ext cx="13049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环境、规格、可用性等级</a:t>
            </a:r>
            <a:endParaRPr/>
          </a:p>
        </p:txBody>
      </p:sp>
      <p:sp>
        <p:nvSpPr>
          <p:cNvPr id="773" name=""/>
          <p:cNvSpPr/>
          <p:nvPr/>
        </p:nvSpPr>
        <p:spPr>
          <a:xfrm rot="0" flipH="0" flipV="0">
            <a:off x="5657850" y="4543425"/>
            <a:ext cx="1476375" cy="942975"/>
          </a:xfrm>
          <a:custGeom>
            <a:pathLst>
              <a:path w="155" h="99">
                <a:moveTo>
                  <a:pt x="0" y="0"/>
                </a:moveTo>
                <a:lnTo>
                  <a:pt x="3" y="0"/>
                </a:lnTo>
                <a:lnTo>
                  <a:pt x="3" y="99"/>
                </a:lnTo>
                <a:lnTo>
                  <a:pt x="0" y="9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5800725" y="4543425"/>
            <a:ext cx="1304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运维责任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5800725" y="4810125"/>
            <a:ext cx="13049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责任团队、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>SLA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、监控指标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7524750" y="4067175"/>
            <a:ext cx="4095750" cy="1552575"/>
          </a:xfrm>
          <a:prstGeom prst="roundRect">
            <a:avLst>
              <a:gd name="adj" fmla="val 2454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77" name=""/>
          <p:cNvSpPr/>
          <p:nvPr/>
        </p:nvSpPr>
        <p:spPr>
          <a:xfrm rot="0" flipH="0" flipV="0">
            <a:off x="7524750" y="4067175"/>
            <a:ext cx="4095750" cy="1552575"/>
          </a:xfrm>
          <a:custGeom>
            <a:pathLst>
              <a:path w="430" h="163">
                <a:moveTo>
                  <a:pt x="4" y="163"/>
                </a:moveTo>
                <a:cubicBezTo>
                  <a:pt x="2" y="163"/>
                  <a:pt x="0" y="161"/>
                  <a:pt x="0" y="15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6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7715250" y="4276725"/>
            <a:ext cx="3676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关键判断</a:t>
            </a:r>
            <a:endParaRPr/>
          </a:p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7715250" y="4562475"/>
            <a:ext cx="36766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技术路线的价值不在选了哪家产品，而在</a:t>
            </a: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每阶段都能退坡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若阶段目标不达标，可退回上一稳态而不致业务中断。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609600" y="596265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838200" y="594360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11125200" y="59436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25 / 26</a:t>
            </a:r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971550" y="3133725"/>
            <a:ext cx="316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1A0A">
                    <a:alpha val="85000"/>
                  </a:srgbClr>
                </a:solidFill>
                <a:latin typeface="Microsoft YaHei"/>
                <a:ea typeface="Microsoft YaHei"/>
              </a:rPr>
              <a:t>阶段一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971550" y="35909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1A0A">
                    <a:alpha val="90000"/>
                  </a:srgbClr>
                </a:solidFill>
                <a:latin typeface="Microsoft YaHei"/>
                <a:ea typeface="Microsoft YaHei"/>
              </a:rPr>
              <a:t>统一云底座与基础监控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4514850" y="2867025"/>
            <a:ext cx="316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1A0A">
                    <a:alpha val="85000"/>
                  </a:srgbClr>
                </a:solidFill>
                <a:latin typeface="Microsoft YaHei"/>
                <a:ea typeface="Microsoft YaHei"/>
              </a:rPr>
              <a:t>阶段二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4514850" y="33242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1A0A">
                    <a:alpha val="90000"/>
                  </a:srgbClr>
                </a:solidFill>
                <a:latin typeface="Microsoft YaHei"/>
                <a:ea typeface="Microsoft YaHei"/>
              </a:rPr>
              <a:t>统一数据底座与集成总线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8058150" y="2600325"/>
            <a:ext cx="316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阶段三</a:t>
            </a:r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8058150" y="30575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弹性伸缩与自动运维体系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7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91" name=""/>
          <p:cNvSpPr/>
          <p:nvPr/>
        </p:nvSpPr>
        <p:spPr>
          <a:xfrm rot="0" flipH="0" flipV="0">
            <a:off x="7715250" y="0"/>
            <a:ext cx="4476750" cy="6858000"/>
          </a:xfrm>
          <a:prstGeom prst="rect">
            <a:avLst/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6600000" scaled="1"/>
          </a:gradFill>
          <a:ln/>
        </p:spPr>
        <p:txBody>
          <a:bodyPr/>
          <a:p>
            <a:pPr/>
            <a:endParaRPr/>
          </a:p>
        </p:txBody>
      </p:sp>
      <p:grpSp>
        <p:nvGrpSpPr>
          <p:cNvPr id="792" name=""/>
          <p:cNvGrpSpPr/>
          <p:nvPr/>
        </p:nvGrpSpPr>
        <p:grpSpPr>
          <a:xfrm rot="-540000" flipH="0" flipV="0">
            <a:off x="7124700" y="0"/>
            <a:ext cx="1143000" cy="6858000"/>
            <a:chOff x="7124700" y="0"/>
            <a:chExt cx="1143000" cy="6858000"/>
          </a:xfrm>
        </p:grpSpPr>
        <p:sp>
          <p:nvSpPr>
            <p:cNvPr id="793" name=""/>
            <p:cNvSpPr/>
            <p:nvPr/>
          </p:nvSpPr>
          <p:spPr>
            <a:xfrm rot="0" flipH="0" flipV="0">
              <a:off x="7124700" y="0"/>
              <a:ext cx="1143000" cy="6858000"/>
            </a:xfrm>
            <a:prstGeom prst="rect">
              <a:avLst/>
            </a:prstGeom>
            <a:solidFill>
              <a:srgbClr val="0F1423"/>
            </a:solidFill>
            <a:ln/>
          </p:spPr>
          <p:txBody>
            <a:bodyPr/>
            <a:p>
              <a:pPr/>
              <a:endParaRPr/>
            </a:p>
          </p:txBody>
        </p:sp>
      </p:grp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10267950" y="685800"/>
            <a:ext cx="131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FFFFFF"/>
                </a:solidFill>
                <a:latin typeface="Microsoft YaHei"/>
                <a:ea typeface="Microsoft YaHei"/>
              </a:rPr>
              <a:t>BOULDERAI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9667875" y="971550"/>
            <a:ext cx="1914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TECHNOLOGIES · SOLUTION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838200" y="2038350"/>
            <a:ext cx="685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F87D2F"/>
                </a:solidFill>
                <a:latin typeface="Microsoft YaHei"/>
                <a:ea typeface="Microsoft YaHei"/>
              </a:rPr>
              <a:t xml:space="preserve">CONCLUSION · </a:t>
            </a:r>
            <a:r>
              <a:rPr lang="zh-CN" sz="1200" spc="300">
                <a:solidFill>
                  <a:srgbClr val="F87D2F"/>
                </a:solidFill>
                <a:latin typeface="Microsoft YaHei"/>
                <a:ea typeface="Microsoft YaHei"/>
              </a:rPr>
              <a:t>结语</a:t>
            </a:r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838200" y="2476500"/>
            <a:ext cx="6858000" cy="2447925"/>
          </a:xfrm>
          <a:prstGeom prst="rect"/>
        </p:spPr>
        <p:txBody>
          <a:bodyPr wrap="none" lIns="0" tIns="0" rIns="0" bIns="0"/>
          <a:p>
            <a:pPr>
              <a:lnSpc>
                <a:spcPct val="132000"/>
              </a:lnSpc>
            </a:pPr>
            <a:r>
              <a:rPr lang="zh-CN" sz="4050" b="1">
                <a:solidFill>
                  <a:srgbClr val="FFFFFF"/>
                </a:solidFill>
                <a:latin typeface="Microsoft YaHei"/>
                <a:ea typeface="Microsoft YaHei"/>
              </a:rPr>
              <a:t>架构的确定性，</a:t>
            </a:r>
            <a:endParaRPr/>
          </a:p>
          <a:p>
            <a:pPr>
              <a:lnSpc>
                <a:spcPct val="132000"/>
              </a:lnSpc>
            </a:pPr>
            <a:r>
              <a:rPr lang="zh-CN" sz="4050" b="1">
                <a:solidFill>
                  <a:srgbClr val="FFFFFF"/>
                </a:solidFill>
                <a:latin typeface="Microsoft YaHei"/>
                <a:ea typeface="Microsoft YaHei"/>
              </a:rPr>
              <a:t>是转型唯一</a:t>
            </a:r>
            <a:endParaRPr/>
          </a:p>
          <a:p>
            <a:pPr>
              <a:lnSpc>
                <a:spcPct val="132000"/>
              </a:lnSpc>
            </a:pPr>
            <a:r>
              <a:rPr lang="zh-CN" sz="4050" b="1">
                <a:solidFill>
                  <a:srgbClr val="FA4F24"/>
                </a:solidFill>
                <a:latin typeface="Microsoft YaHei"/>
                <a:ea typeface="Microsoft YaHei"/>
              </a:rPr>
              <a:t>可复用的资产。</a:t>
            </a:r>
            <a:endParaRPr/>
          </a:p>
        </p:txBody>
      </p:sp>
      <p:sp>
        <p:nvSpPr>
          <p:cNvPr id="798" name=""/>
          <p:cNvSpPr/>
          <p:nvPr/>
        </p:nvSpPr>
        <p:spPr>
          <a:xfrm rot="0" flipH="0" flipV="0">
            <a:off x="838200" y="5229225"/>
            <a:ext cx="10287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838200" y="5562600"/>
            <a:ext cx="6858000" cy="8001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5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业务会变、技术会换，唯有被清晰定义的架构可以沉淀下来</a:t>
            </a:r>
            <a:r>
              <a:rPr lang="en-US" sz="15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——</a:t>
            </a:r>
            <a:endParaRPr/>
          </a:p>
          <a:p>
            <a:pPr>
              <a:lnSpc>
                <a:spcPct val="165000"/>
              </a:lnSpc>
            </a:pPr>
            <a:r>
              <a:rPr lang="zh-CN" sz="15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让每一次转型都不必从零开始。</a:t>
            </a:r>
            <a:endParaRPr/>
          </a:p>
        </p:txBody>
      </p:sp>
      <p:sp>
        <p:nvSpPr>
          <p:cNvPr id="800" name=""/>
          <p:cNvSpPr/>
          <p:nvPr/>
        </p:nvSpPr>
        <p:spPr>
          <a:xfrm rot="0" flipH="0" flipV="0">
            <a:off x="838200" y="5810250"/>
            <a:ext cx="1114425" cy="323850"/>
          </a:xfrm>
          <a:prstGeom prst="roundRect">
            <a:avLst>
              <a:gd name="adj" fmla="val 8824"/>
            </a:avLst>
          </a:prstGeom>
          <a:ln w="127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990600" y="5886450"/>
            <a:ext cx="809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802" name=""/>
          <p:cNvSpPr/>
          <p:nvPr/>
        </p:nvSpPr>
        <p:spPr>
          <a:xfrm rot="0" flipH="0" flipV="0">
            <a:off x="2085975" y="5810250"/>
            <a:ext cx="1133475" cy="323850"/>
          </a:xfrm>
          <a:prstGeom prst="roundRect">
            <a:avLst>
              <a:gd name="adj" fmla="val 8824"/>
            </a:avLst>
          </a:prstGeom>
          <a:ln w="127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2238375" y="5886450"/>
            <a:ext cx="828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3352800" y="5810250"/>
            <a:ext cx="1123950" cy="323850"/>
          </a:xfrm>
          <a:prstGeom prst="roundRect">
            <a:avLst>
              <a:gd name="adj" fmla="val 8824"/>
            </a:avLst>
          </a:prstGeom>
          <a:ln w="127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3505200" y="5886450"/>
            <a:ext cx="81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806" name=""/>
          <p:cNvSpPr/>
          <p:nvPr/>
        </p:nvSpPr>
        <p:spPr>
          <a:xfrm rot="0" flipH="0" flipV="0">
            <a:off x="4610100" y="5810250"/>
            <a:ext cx="1095375" cy="323850"/>
          </a:xfrm>
          <a:prstGeom prst="roundRect">
            <a:avLst>
              <a:gd name="adj" fmla="val 8824"/>
            </a:avLst>
          </a:prstGeom>
          <a:ln w="127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4762500" y="5886450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9829800" y="4819650"/>
            <a:ext cx="1638300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600" b="1">
                <a:solidFill>
                  <a:srgbClr val="FFFFFF">
                    <a:alpha val="20000"/>
                  </a:srgbClr>
                </a:solidFill>
                <a:latin typeface="Microsoft YaHei"/>
                <a:ea typeface="Microsoft YaHei"/>
              </a:rPr>
              <a:t>EA</a:t>
            </a:r>
            <a:endParaRPr/>
          </a:p>
        </p:txBody>
      </p:sp>
      <p:sp>
        <p:nvSpPr>
          <p:cNvPr id="809" name=""/>
          <p:cNvSpPr/>
          <p:nvPr/>
        </p:nvSpPr>
        <p:spPr>
          <a:xfrm rot="0" flipH="0" flipV="0">
            <a:off x="838200" y="64674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1066800" y="64484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108966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26 / 26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2026-10-11T20:18:52Z</dcterms:created>
  <dcterms:modified xsi:type="dcterms:W3CDTF">2026-10-11T20:18:52Z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{"AIGC":{"Label":"1","ContentProducer":"00119111010856365494821B355","ProduceID":"01a12a55ed6c761baa354b844d37adc0","ReservedCode1":"","ContentPropagator":"00119111010856365494821B355","PropagateID":"01a12a55ed6c761baa354b844d37adc0","ReservedCode2":""}}</vt:lpwstr>
  </property>
</Properties>
</file>