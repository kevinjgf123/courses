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tableStyles" Target="tableStyles.xml"/><Relationship Id="rId3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上一册我们把技术架构讲完了，落到一句话就是「让技术换代不推翻业务」。今天这一册是四层架构之后的新东西。如果前面四层解决的是让企业看得见、动得起来，那今天要补的是最后一个断层：看得见了，动不了。</a:t>
            </a:r>
          </a:p>
          <a:p>
            <a:endParaRPr lang="zh-CN"/>
          </a:p>
          <a:p>
            <a:r>
              <a:rPr lang="zh-CN" sz="1200"/>
              <a:t>先说为什么现在才讲这个。前四层的方法论体系，参考的是《华为数据之道》，那本书成书的时候，大模型还没有进入企业的工作流。但最近两年，情况变了 —— AI 已经不是在旁边的实验室里跑 Demo，而是被要求交出结果：能不能把这个订单异常处理掉，能不能把这批设备的巡检排出来。</a:t>
            </a:r>
          </a:p>
          <a:p>
            <a:endParaRPr lang="zh-CN"/>
          </a:p>
          <a:p>
            <a:r>
              <a:rPr lang="zh-CN" sz="1200"/>
              <a:t>所以这一册叫 Ontology。有人一听这个词就觉得是学外语、又是概念。我先给大家一个我这两年内部判断：Ontology 不是一张新的图，也不是一个更漂亮的语义层。它是让数据、逻辑、行动、权限这四件事，在同一层上被定义清楚。定义清楚了，企业的决策才真正有地方可以执行。</a:t>
            </a:r>
          </a:p>
          <a:p>
            <a:endParaRPr lang="zh-CN"/>
          </a:p>
          <a:p>
            <a:r>
              <a:rPr lang="zh-CN" sz="1200"/>
              <a:t>左边这四个标签，是这一册要交付的东西：先做什么后做什么的作业路径、本体自己的 4A 架构、对象与行动的建模方法，以及 AI 消费闭环。底下写依据，Palantir 的官方文档 —— 这不是我编的一套概念，是已经在企业里跑了好几年的东西。</a:t>
            </a:r>
          </a:p>
          <a:p>
            <a:endParaRPr lang="zh-CN"/>
          </a:p>
          <a:p>
            <a:r>
              <a:rPr lang="zh-CN" sz="1200"/>
              <a:t>我今天想留给大家的一句话是：四层架构解决「看得见」，Ontology 解决「动得了」。这句话说完，大家先记着，等会儿每一章我都会回来看它。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这是全书的路线图，五部分。我按老规矩讲一下配比，你们会发现跟前四册的排法是同一套逻辑。</a:t>
            </a:r>
          </a:p>
          <a:p>
            <a:endParaRPr lang="zh-CN"/>
          </a:p>
          <a:p>
            <a:r>
              <a:rPr lang="zh-CN" sz="1200"/>
              <a:t>第一部分是总论，先讲它是什么、不是什么。为什么要专门讲「不是什么」？因为客户最容易犯的错，就是把本体理解成「再画一套好看的模型」。第二部分是我们这一册最有特色的地方：把本体当成一个业务应用，它自己也有 BA、DA、AA、TA。前四册是我给别人做架构，这一册是给本体做架构。</a:t>
            </a:r>
          </a:p>
          <a:p>
            <a:endParaRPr lang="zh-CN"/>
          </a:p>
          <a:p>
            <a:r>
              <a:rPr lang="zh-CN" sz="1200"/>
              <a:t>第三部分是语义建模，也就是对象、链接、接口、对象集合，这一部分是技术含量最高的。工程量也最大。</a:t>
            </a:r>
          </a:p>
          <a:p>
            <a:endParaRPr lang="zh-CN"/>
          </a:p>
          <a:p>
            <a:r>
              <a:rPr lang="zh-CN" sz="1200"/>
              <a:t>第四部分是动力学与治理，动作、函数、动态权限、写回、留痕。这一部分最容易被砍掉，但砍掉之后整个项目就废了，我待会儿会讲为什么。</a:t>
            </a:r>
          </a:p>
          <a:p>
            <a:endParaRPr lang="zh-CN"/>
          </a:p>
          <a:p>
            <a:r>
              <a:rPr lang="zh-CN" sz="1200"/>
              <a:t>第五部分讲应用、AI 和演进，包括怎么跟已有数据中台接、怎么从单个场景长到整个业务域。</a:t>
            </a:r>
          </a:p>
          <a:p>
            <a:endParaRPr lang="zh-CN"/>
          </a:p>
          <a:p>
            <a:r>
              <a:rPr lang="zh-CN" sz="1200"/>
              <a:t>每一部分都还是方法、内容、模板三段，跟前四册一致。右侧这个橙色的框是全册的主线，等一下讲每个坑的时候我都会回到这句话上。</a:t>
            </a:r>
          </a:p>
          <a:p>
            <a:endParaRPr lang="zh-CN"/>
          </a:p>
          <a:p>
            <a:r>
              <a:rPr lang="zh-CN" sz="1200"/>
              <a:t>第一个坑先埋在你们心里：多数客户现在处在第一级，也就是「只读语义」这一档 —— 模型建了，但没人敢让它写。从第一级直接谈「建全量本体」，一定被数据缺口拖死。所以我们的第一步永远是挑一个决策场景。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这一页是全册的动机，我把它讲得慢一点。</a:t>
            </a:r>
          </a:p>
          <a:p>
            <a:endParaRPr lang="zh-CN"/>
          </a:p>
          <a:p>
            <a:r>
              <a:rPr lang="zh-CN" sz="1200"/>
              <a:t>左边三面墙，是过去两年 AI 落地时反复撞到的。我挑三面最有代表性的。</a:t>
            </a:r>
          </a:p>
          <a:p>
            <a:endParaRPr lang="zh-CN"/>
          </a:p>
          <a:p>
            <a:r>
              <a:rPr lang="zh-CN" sz="1200"/>
              <a:t>第一面是语义墙。大模型能写 SQL，写得又快又好，但它不知道贵司嘴里说的「客户」「订单」「在途」到底指哪张表哪一列。这不是提示词写得不好，是模型的脑子里没有贵司的语言。</a:t>
            </a:r>
          </a:p>
          <a:p>
            <a:endParaRPr lang="zh-CN"/>
          </a:p>
          <a:p>
            <a:r>
              <a:rPr lang="zh-CN" sz="1200"/>
              <a:t>第二面是行动墙。这面墙更致命。AI 能给你建议，但不能真的把那个异常处理掉。为什么？因为没有任何一个被授权、可审计的方式让它去改真实系统。最后还是得人手工去点，点完就断了。</a:t>
            </a:r>
          </a:p>
          <a:p>
            <a:endParaRPr lang="zh-CN"/>
          </a:p>
          <a:p>
            <a:r>
              <a:rPr lang="zh-CN" sz="1200"/>
              <a:t>第三面是权限墙。同一套东西，换个人问就得到不同答案，安全评审一看到这儿就不敢放行。这在传统 BI 里靠权限体系解决，但在 AI 场景里几乎无解。</a:t>
            </a:r>
          </a:p>
          <a:p>
            <a:endParaRPr lang="zh-CN"/>
          </a:p>
          <a:p>
            <a:r>
              <a:rPr lang="zh-CN" sz="1200"/>
              <a:t>三面墙的共同点是：它们都不是模型能力问题，是模型之外缺少一个「把语义、行动和权限锁在一起」的层。这层就是我们今天要讲的东西。</a:t>
            </a:r>
          </a:p>
          <a:p>
            <a:endParaRPr lang="zh-CN"/>
          </a:p>
          <a:p>
            <a:r>
              <a:rPr lang="zh-CN" sz="1200"/>
              <a:t>右边把位置说清楚了。本体不是替代 BA、DA、AA、TA 的，它是这四层的一个汇流点。BA 在它这里体现为决策和价值流，DA 体现为对象和链接，AA 体现为承载决策的界面，TA 体现为对象存储和运行时。四个架构的成果全都能落进来。</a:t>
            </a:r>
          </a:p>
          <a:p>
            <a:endParaRPr lang="zh-CN"/>
          </a:p>
          <a:p>
            <a:r>
              <a:rPr lang="zh-CN" sz="1200"/>
              <a:t>下面三行是这一册的方法论三段式，跟前四册一样：方法给作业路径，内容给四条主线，模板给可交付的表格。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这一页是老外咨询公司常说的 Approach，我把它做成了七阶段。方法论咨询最容易被做成 PPT 上写满名词、落地时不知道从哪天开始干。Approach 页就是解决这件事的 —— 先做什么、后做什么、每一步交什么、什么条件下才能进下一步。</a:t>
            </a:r>
          </a:p>
          <a:p>
            <a:endParaRPr lang="zh-CN"/>
          </a:p>
          <a:p>
            <a:r>
              <a:rPr lang="zh-CN" sz="1200"/>
              <a:t>七阶段从 S1 到 S7，我快速过一遍，重点是产出物和退出条件那两列。</a:t>
            </a:r>
          </a:p>
          <a:p>
            <a:endParaRPr lang="zh-CN"/>
          </a:p>
          <a:p>
            <a:r>
              <a:rPr lang="zh-CN" sz="1200"/>
              <a:t>S1 是场景与决策定义。产出是场景清单加决策卡。退出条件很硬：每个场景你得能说出决策人是谁、时限是多少。说不出来，说明它不是决策场景，只是数据需求。</a:t>
            </a:r>
          </a:p>
          <a:p>
            <a:endParaRPr lang="zh-CN"/>
          </a:p>
          <a:p>
            <a:r>
              <a:rPr lang="zh-CN" sz="1200"/>
              <a:t>S2 是数据探查。注意这里的关键字是「逐字段」。不是看表有多少行，是每设计一个字段就立刻去确认能不能取到、口径对不对。产出是可用性报告加缺口清单。退出条件是关键字段八成以上有明确来源。</a:t>
            </a:r>
          </a:p>
          <a:p>
            <a:endParaRPr lang="zh-CN"/>
          </a:p>
          <a:p>
            <a:r>
              <a:rPr lang="zh-CN" sz="1200"/>
              <a:t>S3 是对象与链接建模，产出对象模型画布和链接矩阵。退出条件是业务方能无歧义地复述每个对象是什么意思 —— 如果你解释了十分钟他还皱眉，就是没建对。</a:t>
            </a:r>
          </a:p>
          <a:p>
            <a:endParaRPr lang="zh-CN"/>
          </a:p>
          <a:p>
            <a:r>
              <a:rPr lang="zh-CN" sz="1200"/>
              <a:t>S4 是动作与函数加权限。产出动作清单和权限矩阵。退出条件是每个动作都有责任人和回滚方案。</a:t>
            </a:r>
          </a:p>
          <a:p>
            <a:endParaRPr lang="zh-CN"/>
          </a:p>
          <a:p>
            <a:r>
              <a:rPr lang="zh-CN" sz="1200"/>
              <a:t>S5 是应用和 AI 消费，产出应用原型加场景验证记录。退出条件是 AI 只能调本体暴露的动作，不能有别的通路。</a:t>
            </a:r>
          </a:p>
          <a:p>
            <a:endParaRPr lang="zh-CN"/>
          </a:p>
          <a:p>
            <a:r>
              <a:rPr lang="zh-CN" sz="1200"/>
              <a:t>S6 是运营闭环与写回，产出写回链路和审计日志抽样。退出条件是写回成功率和回滚都要能验证，不能只是「理论上可行」。</a:t>
            </a:r>
          </a:p>
          <a:p>
            <a:endParaRPr lang="zh-CN"/>
          </a:p>
          <a:p>
            <a:r>
              <a:rPr lang="zh-CN" sz="1200"/>
              <a:t>S7 是演进与治理，产出本体版本规范和变更评审机制。退出条件是改一个属性，影响到哪些应用能查得出来。</a:t>
            </a:r>
          </a:p>
          <a:p>
            <a:endParaRPr lang="zh-CN"/>
          </a:p>
          <a:p>
            <a:r>
              <a:rPr lang="zh-CN" sz="1200"/>
              <a:t>底部橙条是三条硬规则，我希望大家记这三条，因为大部分失败都出在这：第一，先决策后对象，没有决策场景就不建对象；第二，先单域后跨域，跨域链接等单域跑通了再连；第三，先读后写，读路径先验证三个月，再开放写入。</a:t>
            </a:r>
          </a:p>
          <a:p>
            <a:endParaRPr lang="zh-CN"/>
          </a:p>
          <a:p>
            <a:r>
              <a:rPr lang="zh-CN" sz="1200"/>
              <a:t>这七阶段的顺序，我认为是这一册里最值钱的部分。后面所有内容都是它的展开。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正式进第一部分。总论这一章只回答两个问题：它是什么，它不是什么。</a:t>
            </a:r>
          </a:p>
          <a:p>
            <a:endParaRPr lang="zh-CN"/>
          </a:p>
          <a:p>
            <a:r>
              <a:rPr lang="zh-CN" sz="1200"/>
              <a:t>很多人一听这两章会觉得虚，觉得后面才是干货。我个人的经验恰恰相反 —— 前两个项目的失败，都是在「是什么」没对齐的情况下往前赶的。团队里十个人对 Ontology 有十种理解，你让谁去建模型？</a:t>
            </a:r>
          </a:p>
          <a:p>
            <a:endParaRPr lang="zh-CN"/>
          </a:p>
          <a:p>
            <a:r>
              <a:rPr lang="zh-CN" sz="1200"/>
              <a:t>这一章我会先讲它在架构里的位置，讲它的四重整合，然后重点讲「为什么它不是语义层」。这一页是五页内容里最需要慢讲的一页。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这一页是全册最重要的定义页，我尽量讲得准确。</a:t>
            </a:r>
          </a:p>
          <a:p>
            <a:endParaRPr lang="zh-CN"/>
          </a:p>
          <a:p>
            <a:r>
              <a:rPr lang="zh-CN" sz="1200"/>
              <a:t>上面这张图先看位置。源系统在最底下，采集器、连接器、数据集、清洗转换，然后是本体，本体之上是各类应用。Palantir 官方对它的定位是：组织的运行层，在很多场景里它就是组织的数字孪生。这句话的分量很重 —— 数字孪生意味着它不只是描述现状，还要能代表现状去运转。</a:t>
            </a:r>
          </a:p>
          <a:p>
            <a:endParaRPr lang="zh-CN"/>
          </a:p>
          <a:p>
            <a:r>
              <a:rPr lang="zh-CN" sz="1200"/>
              <a:t>左边这一栏我要强调「对象是实体，不是指标」。数仓回答的是发生了什么，本体回答的是现在是什么、能做什么。这两个问题听起来相近，其实差别巨大。</a:t>
            </a:r>
          </a:p>
          <a:p>
            <a:endParaRPr lang="zh-CN"/>
          </a:p>
          <a:p>
            <a:r>
              <a:rPr lang="zh-CN" sz="1200"/>
              <a:t>右边是四重整合，这是本体的完整表达方式，四件事缺一不可。</a:t>
            </a:r>
          </a:p>
          <a:p>
            <a:endParaRPr lang="zh-CN"/>
          </a:p>
          <a:p>
            <a:r>
              <a:rPr lang="zh-CN" sz="1200"/>
              <a:t>数据：对象的属性从底层数据集取，本体自己不另存一份完整数据。这一点很关键，后面第十四页会专门讲。</a:t>
            </a:r>
          </a:p>
          <a:p>
            <a:endParaRPr lang="zh-CN"/>
          </a:p>
          <a:p>
            <a:r>
              <a:rPr lang="zh-CN" sz="1200"/>
              <a:t>逻辑：函数承载校验和派生，类似数据库里的存储过程，但可以被应用和 AI 直接调用。</a:t>
            </a:r>
          </a:p>
          <a:p>
            <a:endParaRPr lang="zh-CN"/>
          </a:p>
          <a:p>
            <a:r>
              <a:rPr lang="zh-CN" sz="1200"/>
              <a:t>行动：任何写入必须经过 Action Type，这是本体的核心特征。</a:t>
            </a:r>
          </a:p>
          <a:p>
            <a:endParaRPr lang="zh-CN"/>
          </a:p>
          <a:p>
            <a:r>
              <a:rPr lang="zh-CN" sz="1200"/>
              <a:t>权限：可以做到对象甚至属性的粒度，而且这份权限会被 AI 继承。</a:t>
            </a:r>
          </a:p>
          <a:p>
            <a:endParaRPr lang="zh-CN"/>
          </a:p>
          <a:p>
            <a:r>
              <a:rPr lang="zh-CN" sz="1200"/>
              <a:t>最下面那个深色框是我个人最想传达的观点：为什么非要一个运行层？因为决策不是查询。查询可以只读，决策会改变真实世界。要让改变可控、可审计、可撤销，就必须有一层把「谁能对什么做什么」写死在模型里。没有这一层，你的组织就永远停在「看清楚了但不敢动」。</a:t>
            </a:r>
          </a:p>
          <a:p>
            <a:endParaRPr lang="zh-CN"/>
          </a:p>
          <a:p>
            <a:r>
              <a:rPr lang="zh-CN" sz="1200"/>
              <a:t>下一章我讲这个写死是怎么组织的。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这一页把本体的元素一分为二，语义元素和动力学元素。官方文档里就是这两个词，语义元素是对象、属性、链接，动力学元素是动作、函数、动态权限。</a:t>
            </a:r>
          </a:p>
          <a:p>
            <a:endParaRPr lang="zh-CN"/>
          </a:p>
          <a:p>
            <a:r>
              <a:rPr lang="zh-CN" sz="1200"/>
              <a:t>左半边回答「是什么」，右半边回答「能做什么」。这两半必须在同一层上同时定义，这才是本体和语义层的分水岭。</a:t>
            </a:r>
          </a:p>
          <a:p>
            <a:endParaRPr lang="zh-CN"/>
          </a:p>
          <a:p>
            <a:r>
              <a:rPr lang="zh-CN" sz="1200"/>
              <a:t>我讲两个漏掉的代价，这是给客户算账用的。</a:t>
            </a:r>
          </a:p>
          <a:p>
            <a:endParaRPr lang="zh-CN"/>
          </a:p>
          <a:p>
            <a:r>
              <a:rPr lang="zh-CN" sz="1200"/>
              <a:t>只建语义，模型很好看，字段很完整，属性很规范。代价是什么？每个应用各写一套字段名和口径，同一个问题在十张图里有十个答案。业务方不再相信模型，回到 Excel。你花三个月建的模型躺在那里没人用。</a:t>
            </a:r>
          </a:p>
          <a:p>
            <a:endParaRPr lang="zh-CN"/>
          </a:p>
          <a:p>
            <a:r>
              <a:rPr lang="zh-CN" sz="1200"/>
              <a:t>只建动力学，就是一堆散乱的接口。代价是什么？建议做得再准，也只能靠人手工去改系统。不落库、不留痕、不敢接 AI。这三样都做不到，AI 落地的路就彻底断了。</a:t>
            </a:r>
          </a:p>
          <a:p>
            <a:endParaRPr lang="zh-CN"/>
          </a:p>
          <a:p>
            <a:r>
              <a:rPr lang="zh-CN" sz="1200"/>
              <a:t>所以这个页面的判断标准很简单：你的项目是左边那栏还是右边那栏？如果还在右边，说明语义层已经建成，接下来往左补齐；如果你两边都做了，那是本体。</a:t>
            </a:r>
          </a:p>
          <a:p>
            <a:endParaRPr lang="zh-CN"/>
          </a:p>
          <a:p>
            <a:r>
              <a:rPr lang="zh-CN" sz="1200"/>
              <a:t>这三页里如果只能记住一句，就记住「语义与动力学合一」。这一句是整套方法论的根，后面所有模板、所有校验，都是在落实它。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这一页讲本体的三段构成：语言、引擎、工具链。这三段的分工，决定了我们交付什么、客户交付什么、平台方交付什么 —— 这是架构咨询必须掰扯清楚的一件事，否则后面全是扯皮。</a:t>
            </a:r>
          </a:p>
          <a:p>
            <a:endParaRPr lang="zh-CN"/>
          </a:p>
          <a:p>
            <a:r>
              <a:rPr lang="zh-CN" sz="1200"/>
              <a:t>第一段 Language，建语义对象和可执行的行动。这是本体建模的主要工作，也是我们咨询投入最大的地方。</a:t>
            </a:r>
          </a:p>
          <a:p>
            <a:endParaRPr lang="zh-CN"/>
          </a:p>
          <a:p>
            <a:r>
              <a:rPr lang="zh-CN" sz="1200"/>
              <a:t>第二段 Engine，可扩展的读写架构，负责查询、检索、聚合，以及所有写入的编排。这一段是平台方的责任。</a:t>
            </a:r>
          </a:p>
          <a:p>
            <a:endParaRPr lang="zh-CN"/>
          </a:p>
          <a:p>
            <a:r>
              <a:rPr lang="zh-CN" sz="1200"/>
              <a:t>第三段 Toolchain，通过 OSDK 让开发者直接在本体之上建应用。价值是不用重复造数据接入的轮子。</a:t>
            </a:r>
          </a:p>
          <a:p>
            <a:endParaRPr lang="zh-CN"/>
          </a:p>
          <a:p>
            <a:r>
              <a:rPr lang="zh-CN" sz="1200"/>
              <a:t>中间这一排服务，是引擎背后的真实构成，架构评审时必须能说清楚。</a:t>
            </a:r>
          </a:p>
          <a:p>
            <a:endParaRPr lang="zh-CN"/>
          </a:p>
          <a:p>
            <a:r>
              <a:rPr lang="zh-CN" sz="1200"/>
              <a:t>元数据服务管所有对象类型的定义和版本。对象存储这一栏要注意，当前权威存储是下一代版本，V1 已经是遗留 —— 两代并存是历史包袱，迁移期所有应用都得双读，这个必须验收。</a:t>
            </a:r>
          </a:p>
          <a:p>
            <a:endParaRPr lang="zh-CN"/>
          </a:p>
          <a:p>
            <a:r>
              <a:rPr lang="zh-CN" sz="1200"/>
              <a:t>对象集合服务负责把各种筛选条件解析成高效查询并做聚合。动作服务负责所有写入的校验、编排和落库。数据漏斗最容易被忽略，它编排数据源和用户编辑，保证索引始终是最新的 —— 索引一旦滞后，所有查询结果都不可信，而这种问题往往要很久才被发现。</a:t>
            </a:r>
          </a:p>
          <a:p>
            <a:endParaRPr lang="zh-CN"/>
          </a:p>
          <a:p>
            <a:r>
              <a:rPr lang="zh-CN" sz="1200"/>
              <a:t>底部橙色的交付边界，是我们咨询合同里会写清的一句话：我们交付 Language 和 Toolchain 上的应用；引擎虽然是平台方的责任，但客户必须能在评审时讲清楚「写入到底经过了什么」。这句话你们可以拿去用。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这一页是给客户高层听的，讲清楚一件事：我们做的和外面说的语义层，不是一回事。</a:t>
            </a:r>
          </a:p>
          <a:p>
            <a:endParaRPr lang="zh-CN"/>
          </a:p>
          <a:p>
            <a:r>
              <a:rPr lang="zh-CN" sz="1200"/>
              <a:t>五个维度，我快速过。</a:t>
            </a:r>
          </a:p>
          <a:p>
            <a:endParaRPr lang="zh-CN"/>
          </a:p>
          <a:p>
            <a:r>
              <a:rPr lang="zh-CN" sz="1200"/>
              <a:t>核心对象：语义层的核心是表、字段、指标、口径；本体的核心是业务对象、关系、状态机。</a:t>
            </a:r>
          </a:p>
          <a:p>
            <a:endParaRPr lang="zh-CN"/>
          </a:p>
          <a:p>
            <a:r>
              <a:rPr lang="zh-CN" sz="1200"/>
              <a:t>写能力：语义层天然只读；本体有写，但必须经过 Action Type，受控且可审计。</a:t>
            </a:r>
          </a:p>
          <a:p>
            <a:endParaRPr lang="zh-CN"/>
          </a:p>
          <a:p>
            <a:r>
              <a:rPr lang="zh-CN" sz="1200"/>
              <a:t>权限粒度：语义层一般到库表行列级；本体能到对象与属性级，并且是随身份动态判定的。</a:t>
            </a:r>
          </a:p>
          <a:p>
            <a:endParaRPr lang="zh-CN"/>
          </a:p>
          <a:p>
            <a:r>
              <a:rPr lang="zh-CN" sz="1200"/>
              <a:t>逻辑位置：语义层的逻辑定义在语义层内部；本体的 Function 是独立元素，可以被应用和 AI 直接调用。</a:t>
            </a:r>
          </a:p>
          <a:p>
            <a:endParaRPr lang="zh-CN"/>
          </a:p>
          <a:p>
            <a:r>
              <a:rPr lang="zh-CN" sz="1200"/>
              <a:t>交付对象：语义层交付给分析师和报表；本体交付给决策者、执行系统，以及 AI Agent。</a:t>
            </a:r>
          </a:p>
          <a:p>
            <a:endParaRPr lang="zh-CN"/>
          </a:p>
          <a:p>
            <a:r>
              <a:rPr lang="zh-CN" sz="1200"/>
              <a:t>最后这一条判据，我认为是全册最实用的一句话，因为它可以当场用。你在任何一个界面上问客户一个问题：用户在这个界面上按下按钮之后，系统会发生什么？</a:t>
            </a:r>
          </a:p>
          <a:p>
            <a:endParaRPr lang="zh-CN"/>
          </a:p>
          <a:p>
            <a:r>
              <a:rPr lang="zh-CN" sz="1200"/>
              <a:t>如果他答不出来 —— 你做的是语义层，需要补 Action 和 Function 再谈本体。</a:t>
            </a:r>
          </a:p>
          <a:p>
            <a:endParaRPr lang="zh-CN"/>
          </a:p>
          <a:p>
            <a:r>
              <a:rPr lang="zh-CN" sz="1200"/>
              <a:t>如果他答得出来，但写回不受控、没留痕 —— 也还不是本体，只差治理。</a:t>
            </a:r>
          </a:p>
          <a:p>
            <a:endParaRPr lang="zh-CN"/>
          </a:p>
          <a:p>
            <a:r>
              <a:rPr lang="zh-CN" sz="1200"/>
              <a:t>这两句话能帮你在项目启动会上省掉后面三个月的无用功。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这一页是可交付的模板，成熟度五级诊断。它解决一个很实际的问题：客户来找你做本体，你第一件事不是画模型，是先给现状定级。</a:t>
            </a:r>
          </a:p>
          <a:p>
            <a:endParaRPr lang="zh-CN"/>
          </a:p>
          <a:p>
            <a:r>
              <a:rPr lang="zh-CN" sz="1200"/>
              <a:t>左边是五级阶梯，按总分落级。</a:t>
            </a:r>
          </a:p>
          <a:p>
            <a:endParaRPr lang="zh-CN"/>
          </a:p>
          <a:p>
            <a:r>
              <a:rPr lang="zh-CN" sz="1200"/>
              <a:t>L0 无本体，只有表和报表，没有对象概念，得 0 到 4 分。建议是选一个决策场景做试点。</a:t>
            </a:r>
          </a:p>
          <a:p>
            <a:endParaRPr lang="zh-CN"/>
          </a:p>
          <a:p>
            <a:r>
              <a:rPr lang="zh-CN" sz="1200"/>
              <a:t>L1 只读语义，建了对象模型，但没人敢让它写，5 到 8 分。建议是补 Action 和权限矩阵。</a:t>
            </a:r>
          </a:p>
          <a:p>
            <a:endParaRPr lang="zh-CN"/>
          </a:p>
          <a:p>
            <a:r>
              <a:rPr lang="zh-CN" sz="1200"/>
              <a:t>L2 可写但不治理，能写回，但动作散在各个应用里，9 到 12 分。建议是把动作收敛成 Action Type。</a:t>
            </a:r>
          </a:p>
          <a:p>
            <a:endParaRPr lang="zh-CN"/>
          </a:p>
          <a:p>
            <a:r>
              <a:rPr lang="zh-CN" sz="1200"/>
              <a:t>L3 受控闭环，写入受控、留痕、可审计可回滚，13 到 16 分。建议是接 AI，先只读后写。</a:t>
            </a:r>
          </a:p>
          <a:p>
            <a:endParaRPr lang="zh-CN"/>
          </a:p>
          <a:p>
            <a:r>
              <a:rPr lang="zh-CN" sz="1200"/>
              <a:t>L4 AI 原生，AI 只调本体动作，决策可被捕获，17 到 18 分。建议是按域复制，扩到多个业务域。</a:t>
            </a:r>
          </a:p>
          <a:p>
            <a:endParaRPr lang="zh-CN"/>
          </a:p>
          <a:p>
            <a:r>
              <a:rPr lang="zh-CN" sz="1200"/>
              <a:t>右边是六项打分卡，每项 0 到 3 分：对象覆盖、语义一致、行动定义、权限内嵌、写回闭环、AI 可用。</a:t>
            </a:r>
          </a:p>
          <a:p>
            <a:endParaRPr lang="zh-CN"/>
          </a:p>
          <a:p>
            <a:r>
              <a:rPr lang="zh-CN" sz="1200"/>
              <a:t>下面这个黑框是输出物格式，我给大家看一下：现状得分 5 分，满分 18，落级 L1「只读语义」。建议是本季度只推「订单交付异常处置」这一个场景，把行动定义这一项提到 2 分之后再来评审。</a:t>
            </a:r>
          </a:p>
          <a:p>
            <a:endParaRPr lang="zh-CN"/>
          </a:p>
          <a:p>
            <a:r>
              <a:rPr lang="zh-CN" sz="1200"/>
              <a:t>注意这句话里有两个东西：得分、建议、以及「提到 2 分之后再评审」这个条件。这就是咨询交付和评分的区别 —— 不是打完分就完了，是打完分给出可执行的下一步和复评时间点。</a:t>
            </a:r>
          </a:p>
          <a:p>
            <a:endParaRPr lang="zh-CN"/>
          </a:p>
          <a:p>
            <a:r>
              <a:rPr lang="zh-CN" sz="1200"/>
              <a:t>最后提醒一句：多数客户就在 L1。L1 谈全量建设，数据缺口会把项目拖死。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第一部分到这里结束。接下来是这一册最有特色的部分。</a:t>
            </a:r>
          </a:p>
          <a:p>
            <a:endParaRPr lang="zh-CN"/>
          </a:p>
          <a:p>
            <a:r>
              <a:rPr lang="zh-CN" sz="1200"/>
              <a:t>前面四册，我们是用四层架构去解剖客户的企业。这一册反过来 —— 把本体当成一个业务应用，它自己也有四层架构。</a:t>
            </a:r>
          </a:p>
          <a:p>
            <a:endParaRPr lang="zh-CN"/>
          </a:p>
          <a:p>
            <a:r>
              <a:rPr lang="zh-CN" sz="1200"/>
              <a:t>这听起来像是在玩概念，但我认为它有非常实用的价值。前四册的方法论里，哪一层最容易被跳过、哪一层最容易做浅，我们已经很清楚了。把同样的追问用在本体上，会发现大量「看起来做完」的本体项目，其实是四层里只做了一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这一页是本体 4A 的总览图，我认为是全册第二重要的一页。</a:t>
            </a:r>
          </a:p>
          <a:p>
            <a:endParaRPr lang="zh-CN"/>
          </a:p>
          <a:p>
            <a:r>
              <a:rPr lang="zh-CN" sz="1200"/>
              <a:t>最上面这一条是数据流向主干，从源系统一路走到写回：源系统、连接器、数据集、清洗转换、本体对象、应用、决策、Action、写回。这条链上任何一环断了，决策就落不了地。</a:t>
            </a:r>
          </a:p>
          <a:p>
            <a:endParaRPr lang="zh-CN"/>
          </a:p>
          <a:p>
            <a:r>
              <a:rPr lang="zh-CN" sz="1200"/>
              <a:t>中间四行是四个架构切面。</a:t>
            </a:r>
          </a:p>
          <a:p>
            <a:endParaRPr lang="zh-CN"/>
          </a:p>
          <a:p>
            <a:r>
              <a:rPr lang="zh-CN" sz="1200"/>
              <a:t>BA 视角，本体回答什么决策。对象就是业务能力与实体，链接就是价值流与责任关系，Action 就是组织里真实的动作与审批。</a:t>
            </a:r>
          </a:p>
          <a:p>
            <a:endParaRPr lang="zh-CN"/>
          </a:p>
          <a:p>
            <a:r>
              <a:rPr lang="zh-CN" sz="1200"/>
              <a:t>DA 视角，本体怎么用数据。对象约等于数据集模式，对象约等于行，链接约等于关联。关键在最后半句：对象层不另存一份完整数据，只存定义与映射。</a:t>
            </a:r>
          </a:p>
          <a:p>
            <a:endParaRPr lang="zh-CN"/>
          </a:p>
          <a:p>
            <a:r>
              <a:rPr lang="zh-CN" sz="1200"/>
              <a:t>AA 视角，谁在消费本体。本体平台本身就是一个应用，承载工作台、自定义页面、分析，以及面向外部的 SDK。</a:t>
            </a:r>
          </a:p>
          <a:p>
            <a:endParaRPr lang="zh-CN"/>
          </a:p>
          <a:p>
            <a:r>
              <a:rPr lang="zh-CN" sz="1200"/>
              <a:t>TA 视角，本体怎么跑得动。对象存储、元数据服务、索引与查询编排、写入漏斗，以及权限计算的性能边界。</a:t>
            </a:r>
          </a:p>
          <a:p>
            <a:endParaRPr lang="zh-CN"/>
          </a:p>
          <a:p>
            <a:r>
              <a:rPr lang="zh-CN" sz="1200"/>
              <a:t>最下面这个橙条，是这一页真正的落点 —— 本体特殊在哪。五条：语义与动力学同层、读写同层、权限内嵌且被 AI 继承、模型即资产被直接消费、决策可捕获。</a:t>
            </a:r>
          </a:p>
          <a:p>
            <a:endParaRPr lang="zh-CN"/>
          </a:p>
          <a:p>
            <a:r>
              <a:rPr lang="zh-CN" sz="1200"/>
              <a:t>右边我特意写了一句话：传统 4A 是分层的，本体是合层的。</a:t>
            </a:r>
          </a:p>
          <a:p>
            <a:endParaRPr lang="zh-CN"/>
          </a:p>
          <a:p>
            <a:r>
              <a:rPr lang="zh-CN" sz="1200"/>
              <a:t>这是本体和前四册最根本的区别。传统架构每层各管一段，层与层之间靠接口约定。本体是把这些合到一起了 —— 所以它对建模质量的要求反而更高，四个维度任何一维做浅，合层的优势就立刻被抵消。</a:t>
            </a:r>
          </a:p>
          <a:p>
            <a:endParaRPr lang="zh-CN"/>
          </a:p>
          <a:p>
            <a:r>
              <a:rPr lang="zh-CN" sz="1200"/>
              <a:t>接下来四页，一页一个切面。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先看 BA 视角。这三组映射关系是本体里做 BA 的核心。</a:t>
            </a:r>
          </a:p>
          <a:p>
            <a:endParaRPr lang="zh-CN"/>
          </a:p>
          <a:p>
            <a:r>
              <a:rPr lang="zh-CN" sz="1200"/>
              <a:t>对象对应业务能力或实体。客户在本体里不是一列字段，而是能承接一整套动作与责任的主体。</a:t>
            </a:r>
          </a:p>
          <a:p>
            <a:endParaRPr lang="zh-CN"/>
          </a:p>
          <a:p>
            <a:r>
              <a:rPr lang="zh-CN" sz="1200"/>
              <a:t>链接对应价值流与责任关系。订单到交付到回款，这条链本身就是本体的链接串起来的结果 —— 注意这里，价值流不是画出来的，是链接自然呈现的。</a:t>
            </a:r>
          </a:p>
          <a:p>
            <a:endParaRPr lang="zh-CN"/>
          </a:p>
          <a:p>
            <a:r>
              <a:rPr lang="zh-CN" sz="1200"/>
              <a:t>动作对应组织里真实的动作。「交付异常处置」是一个动作类型，它带着审批、时限和责任人。</a:t>
            </a:r>
          </a:p>
          <a:p>
            <a:endParaRPr lang="zh-CN"/>
          </a:p>
          <a:p>
            <a:r>
              <a:rPr lang="zh-CN" sz="1200"/>
              <a:t>下面的黑框是 BA 交付物的差别，这是我要给做 BA 咨询的同事提个醒：传统 BA 交能力地图和流程图；本体里的 BA 还要多交两样 —— 对象清单带责任人，动作清单带审批和时限。这两样才是能真正落地的部分。</a:t>
            </a:r>
          </a:p>
          <a:p>
            <a:endParaRPr lang="zh-CN"/>
          </a:p>
          <a:p>
            <a:r>
              <a:rPr lang="zh-CN" sz="1200"/>
              <a:t>右边是一个例子。一条决策链在本体里长什么样：系统发现交付异常，生成待处置对象；Function 校验影响面和责任归属；动态权限判定谁能处置这一条；Action Type 写回处置结果并留痕。</a:t>
            </a:r>
          </a:p>
          <a:p>
            <a:endParaRPr lang="zh-CN"/>
          </a:p>
          <a:p>
            <a:r>
              <a:rPr lang="zh-CN" sz="1200"/>
              <a:t>这条链的价值在于：中间两步以前散落在代码和审批流里，现在在模型里，可以被查到、可以被复用、可以被 AI 理解。</a:t>
            </a:r>
          </a:p>
          <a:p>
            <a:endParaRPr lang="zh-CN"/>
          </a:p>
          <a:p>
            <a:r>
              <a:rPr lang="zh-CN" sz="1200"/>
              <a:t>下面三个 BA 空转，我见过太多次了：把对象建成数据表，字段有了但没有动作，模型只能看不能动；链接只连主外键，连了关系却没连责任和时效，价值流出不来；动作挂在应用里，同一个审批在五个应用里做了五遍，口径必然分叉。</a:t>
            </a:r>
          </a:p>
          <a:p>
            <a:endParaRPr lang="zh-CN"/>
          </a:p>
          <a:p>
            <a:r>
              <a:rPr lang="zh-CN" sz="1200"/>
              <a:t>这三条，本质上都是把 BA 该干的事推给了技术。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DA 视角是这一章里技术含量最高的一页，我讲得细一点。</a:t>
            </a:r>
          </a:p>
          <a:p>
            <a:endParaRPr lang="zh-CN"/>
          </a:p>
          <a:p>
            <a:r>
              <a:rPr lang="zh-CN" sz="1200"/>
              <a:t>先看左边这张对照表。工程上它们高度等价：数据集模式约等于对象类型，数据行约等于对象实例，外键和 Join 约等于链接类型，视图和物化视图约等于对象集合。熟悉数据建模的同事一看就懂。</a:t>
            </a:r>
          </a:p>
          <a:p>
            <a:endParaRPr lang="zh-CN"/>
          </a:p>
          <a:p>
            <a:r>
              <a:rPr lang="zh-CN" sz="1200"/>
              <a:t>但右边的黑框里写的是哲学上的差别，这是这一页最值钱的一句：数据建模关注「变化中的不变」—— 字段存进库就稳定；本体关注「变化中的实体」—— 设备归属会变、订单状态会变、客户会重组，但对象的身份不变。</a:t>
            </a:r>
          </a:p>
          <a:p>
            <a:endParaRPr lang="zh-CN"/>
          </a:p>
          <a:p>
            <a:r>
              <a:rPr lang="zh-CN" sz="1200"/>
              <a:t>这句话解释了很多事情。比如为什么对象主键不能用自增 ID —— 自增 ID 在跨系统合并时会崩，因为对象的身份必须稳定。业务编码才是身份。</a:t>
            </a:r>
          </a:p>
          <a:p>
            <a:endParaRPr lang="zh-CN"/>
          </a:p>
          <a:p>
            <a:r>
              <a:rPr lang="zh-CN" sz="1200"/>
              <a:t>右边存储策略，这是本体和传统建模最大的分歧点，也是最容易被架构师质疑的一条：本体不另存一份完整数据，只存对象定义和指向数据集的映射。</a:t>
            </a:r>
          </a:p>
          <a:p>
            <a:endParaRPr lang="zh-CN"/>
          </a:p>
          <a:p>
            <a:r>
              <a:rPr lang="zh-CN" sz="1200"/>
              <a:t>三个层次：数据进平台后持久化落地，作为唯一事实来源；对象层只存定义与指向，查属性时读底层数据集；用户编辑叠加在数据源之上，由数据漏斗保持索引最新。</a:t>
            </a:r>
          </a:p>
          <a:p>
            <a:endParaRPr lang="zh-CN"/>
          </a:p>
          <a:p>
            <a:r>
              <a:rPr lang="zh-CN" sz="1200"/>
              <a:t>不复制数据省掉了同步一致性这个老大难，但代价必须说清楚：模型和数据的边界要划得非常清楚，否则半年后没人说得清某个字段到底是数据源的错还是模型的错。</a:t>
            </a:r>
          </a:p>
          <a:p>
            <a:endParaRPr lang="zh-CN"/>
          </a:p>
          <a:p>
            <a:r>
              <a:rPr lang="zh-CN" sz="1200"/>
              <a:t>所以右下角这三个问题，是架构评审必问的：数据源还没到位就先建了对象，答案是返工；同一个对象跨几个源系统，答案是主数据归属必须先定；历史数据和实时数据怎么切，答案是用有效期而不是覆盖历史。</a:t>
            </a:r>
          </a:p>
          <a:p>
            <a:endParaRPr lang="zh-CN"/>
          </a:p>
          <a:p>
            <a:r>
              <a:rPr lang="zh-CN" sz="1200"/>
              <a:t>第二个问题我在项目上见得最多。三家系统各有一份客户主档，本体建模时你不定归属，建出来的对象就是个假的。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AA 视角的角度不一样：把本体平台当成一个应用来管。</a:t>
            </a:r>
          </a:p>
          <a:p>
            <a:endParaRPr lang="zh-CN"/>
          </a:p>
          <a:p>
            <a:r>
              <a:rPr lang="zh-CN" sz="1200"/>
              <a:t>左边五类消费入口。Workshop 是低代码工作台，业务人员自己搭界面，不等 IT 排期。Slate 用自定义页面，适合高度定制的决策页。Quiver 是分析视图，给分析师做切片和对比。Object Explorer 是对象检索，按对象和属性搜到实例，替代翻表。OSDK 是本体 SDK，把对象、链接、动作暴露成接口给外部系统。</a:t>
            </a:r>
          </a:p>
          <a:p>
            <a:endParaRPr lang="zh-CN"/>
          </a:p>
          <a:p>
            <a:r>
              <a:rPr lang="zh-CN" sz="1200"/>
              <a:t>五类入口的定位不一样：前四类面向内部，OSDK 面向外部。</a:t>
            </a:r>
          </a:p>
          <a:p>
            <a:endParaRPr lang="zh-CN"/>
          </a:p>
          <a:p>
            <a:r>
              <a:rPr lang="zh-CN" sz="1200"/>
              <a:t>下面这个橙框是 AA 的核心判断，我认为是这一页最该被记住的一句：五类入口不是五套逻辑。所有写操作都必须回到 Action Type，谁的界面都一样。</a:t>
            </a:r>
          </a:p>
          <a:p>
            <a:endParaRPr lang="zh-CN"/>
          </a:p>
          <a:p>
            <a:r>
              <a:rPr lang="zh-CN" sz="1200"/>
              <a:t>这条守住了，它才叫平台；破了，它就是五个应用。</a:t>
            </a:r>
          </a:p>
          <a:p>
            <a:endParaRPr lang="zh-CN"/>
          </a:p>
          <a:p>
            <a:r>
              <a:rPr lang="zh-CN" sz="1200"/>
              <a:t>我把这句话说得这么重，是因为见过太多这样的项目：Workshop 里写了一套校验，Slate 里又写了一套，两个地方逻辑还不一样。最后没人知道哪个是对的。</a:t>
            </a:r>
          </a:p>
          <a:p>
            <a:endParaRPr lang="zh-CN"/>
          </a:p>
          <a:p>
            <a:r>
              <a:rPr lang="zh-CN" sz="1200"/>
              <a:t>右边是应用组合四问，这是我们做应用架构的老方法，直接搬过来：两个界面在解决同一个决策吗，是就得合并；这个功能该不该做在本体层，不该做就说明它只是展示；谁负责这个应用的生命周期，无人认领的自助应用半年后就是没人敢动的孤儿；它的迭代排在谁后面，本体变更是它变更的前置条件，排序不能反。</a:t>
            </a:r>
          </a:p>
          <a:p>
            <a:endParaRPr lang="zh-CN"/>
          </a:p>
          <a:p>
            <a:r>
              <a:rPr lang="zh-CN" sz="1200"/>
              <a:t>最下面这条是交付边界提醒。咨询阶段只做两件事：定入口分工，定接入本体的接口规范。界面实现方式和排期不在架构交付范围内。这句话能挡掉很多后期扯皮。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TA 视角是这一章里客户最容易忽略、但后期代价最大的一页。</a:t>
            </a:r>
          </a:p>
          <a:p>
            <a:endParaRPr lang="zh-CN"/>
          </a:p>
          <a:p>
            <a:r>
              <a:rPr lang="zh-CN" sz="1200"/>
              <a:t>上面这一排是运行链路的五个组件，从左到右：元数据服务、对象存储、对象集合服务、动作服务、数据漏斗。</a:t>
            </a:r>
          </a:p>
          <a:p>
            <a:endParaRPr lang="zh-CN"/>
          </a:p>
          <a:p>
            <a:r>
              <a:rPr lang="zh-CN" sz="1200"/>
              <a:t>关于对象存储，我要专门提一句：当前权威存储是下一代版本，V1 已经是遗留。两代并存是历史包袱，迁移期所有应用都得双读。所以技术验收的时候，必须看到双写与回退方案 —— 只有「理论上可迁移」的方案，在项目结束时一定会出事。</a:t>
            </a:r>
          </a:p>
          <a:p>
            <a:endParaRPr lang="zh-CN"/>
          </a:p>
          <a:p>
            <a:r>
              <a:rPr lang="zh-CN" sz="1200"/>
              <a:t>数据漏斗这个组件最容易被漏掉。它编排数据源和用户编辑，保证索引始终是最新的。索引滞后这件事很隐蔽：功能全都正常，只是查询结果慢慢开始不对。往往要很久以后才被发现，那时的数据已经影响了决策。</a:t>
            </a:r>
          </a:p>
          <a:p>
            <a:endParaRPr lang="zh-CN"/>
          </a:p>
          <a:p>
            <a:r>
              <a:rPr lang="zh-CN" sz="1200"/>
              <a:t>左边技术选型三问。读写比是多少 —— 读多写少和写多读少，存储与索引策略完全不同。一致性要求多高 —— 库存、在途这类数字不容许脏读，但审批状态可以最终一致。索引能撑多大对象集 —— 这个上限决定了哪些场景必须预聚合。</a:t>
            </a:r>
          </a:p>
          <a:p>
            <a:endParaRPr lang="zh-CN"/>
          </a:p>
          <a:p>
            <a:r>
              <a:rPr lang="zh-CN" sz="1200"/>
              <a:t>右边是我认为最值得讲的一段：本体的非功能要求和常规应用不同在哪。</a:t>
            </a:r>
          </a:p>
          <a:p>
            <a:endParaRPr lang="zh-CN"/>
          </a:p>
          <a:p>
            <a:r>
              <a:rPr lang="zh-CN" sz="1200"/>
              <a:t>性能：常规应用看响应时间，本体还看链接展开深度。一跳慢 200 毫秒，三跳就不可用了 —— 因为人点开一个订单会顺着链接看客户、看设备、看历史，一次点五层。</a:t>
            </a:r>
          </a:p>
          <a:p>
            <a:endParaRPr lang="zh-CN"/>
          </a:p>
          <a:p>
            <a:r>
              <a:rPr lang="zh-CN" sz="1200"/>
              <a:t>可用性：单个服务挂掉，常规应用就是那一个功能不可用；本体挂了，所有决策界面全停，等于整个组织失去运营能力。</a:t>
            </a:r>
          </a:p>
          <a:p>
            <a:endParaRPr lang="zh-CN"/>
          </a:p>
          <a:p>
            <a:r>
              <a:rPr lang="zh-CN" sz="1200"/>
              <a:t>容量：常规应用按请求量估算，本体按对象实例和链接条数估算，增长来自业务扩张，不是访问量。</a:t>
            </a:r>
          </a:p>
          <a:p>
            <a:endParaRPr lang="zh-CN"/>
          </a:p>
          <a:p>
            <a:r>
              <a:rPr lang="zh-CN" sz="1200"/>
              <a:t>恢复：常规应用恢复数据库即可，本体要恢复的是「哪条决策在什么时候被谁改了」的完整链条。这句话是我给做备份方案的人最好的提醒。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这一页是可交付的评审清单，16 项，分 BA、DA、AA、TA 四组，每组四项。</a:t>
            </a:r>
          </a:p>
          <a:p>
            <a:endParaRPr lang="zh-CN"/>
          </a:p>
          <a:p>
            <a:r>
              <a:rPr lang="zh-CN" sz="1200"/>
              <a:t>用法的规则很简单：每项填「有、半有、无」。半有必须写清缺口和补齐日期。无的直接进缺口台账，不允许口头带过。</a:t>
            </a:r>
          </a:p>
          <a:p>
            <a:endParaRPr lang="zh-CN"/>
          </a:p>
          <a:p>
            <a:r>
              <a:rPr lang="zh-CN" sz="1200"/>
              <a:t>我挑几条说。</a:t>
            </a:r>
          </a:p>
          <a:p>
            <a:endParaRPr lang="zh-CN"/>
          </a:p>
          <a:p>
            <a:r>
              <a:rPr lang="zh-CN" sz="1200"/>
              <a:t>B1：每个对象都能说清它承接什么决策。这条不过，后面全白做。</a:t>
            </a:r>
          </a:p>
          <a:p>
            <a:endParaRPr lang="zh-CN"/>
          </a:p>
          <a:p>
            <a:r>
              <a:rPr lang="zh-CN" sz="1200"/>
              <a:t>B3：链接连出了价值流而不只是主外键。这是 BA 和 DA 之间的接缝。</a:t>
            </a:r>
          </a:p>
          <a:p>
            <a:endParaRPr lang="zh-CN"/>
          </a:p>
          <a:p>
            <a:r>
              <a:rPr lang="zh-CN" sz="1200"/>
              <a:t>D2：建模与取数同步推进，无大量待补字段。这条是判断项目健康度的最好指标 —— 如果待补字段超过三成，这个模型一定会大规模返工。</a:t>
            </a:r>
          </a:p>
          <a:p>
            <a:endParaRPr lang="zh-CN"/>
          </a:p>
          <a:p>
            <a:r>
              <a:rPr lang="zh-CN" sz="1200"/>
              <a:t>A2：所有写操作统一回到 Action Type。这条是平台的生死线。</a:t>
            </a:r>
          </a:p>
          <a:p>
            <a:endParaRPr lang="zh-CN"/>
          </a:p>
          <a:p>
            <a:r>
              <a:rPr lang="zh-CN" sz="1200"/>
              <a:t>T2：链接展开深度与对象集规模有上限约束。这条如果没定，性能问题一定在上线后爆发。</a:t>
            </a:r>
          </a:p>
          <a:p>
            <a:endParaRPr lang="zh-CN"/>
          </a:p>
          <a:p>
            <a:r>
              <a:rPr lang="zh-CN" sz="1200"/>
              <a:t>T4：决策留痕数据的保留期与恢复流程已定。这条通常会被漏，因为不漏就不影响上线。但半年后审计来找你要，你就知道它的分量了。</a:t>
            </a:r>
          </a:p>
          <a:p>
            <a:endParaRPr lang="zh-CN"/>
          </a:p>
          <a:p>
            <a:r>
              <a:rPr lang="zh-CN" sz="1200"/>
              <a:t>我建议把这张表做成一次正式评审的 agenda，不是发下去让人自己填。现场逐条过，当场定缺口的责任人和日期。填完的表没有责任人跟日期，等于没填。</a:t>
            </a:r>
          </a:p>
          <a:p>
            <a:endParaRPr lang="zh-CN"/>
          </a:p>
          <a:p>
            <a:r>
              <a:rPr lang="zh-CN" sz="1200"/>
              <a:t>前四册各有一张类似的清单，四本合起来是一套完整的架构评审工具。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第三部分进语义建模，这是工程量最大、也最需要方法论约束的一章。</a:t>
            </a:r>
          </a:p>
          <a:p>
            <a:endParaRPr lang="zh-CN"/>
          </a:p>
          <a:p>
            <a:r>
              <a:rPr lang="zh-CN" sz="1200"/>
              <a:t>这一章我会讲到对象类型怎么定、属性怎么拆、链接怎么连、接口怎么用、集合怎么选。工具链层面其实很浅，难的是判断 —— 判断一个东西该不该建成对象、判断一个字段该不该拆开、判断一条链接是真的关系还是只是外键。</a:t>
            </a:r>
          </a:p>
          <a:p>
            <a:endParaRPr lang="zh-CN"/>
          </a:p>
          <a:p>
            <a:r>
              <a:rPr lang="zh-CN" sz="1200"/>
              <a:t>这些判断没有工具能帮忙，全靠有没有一套能讲出来的标准。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 Object Type 五问，我认为是整册最实用的一页。任何一个东西要不要建成对象，套这五条过一遍，答案基本就出来了。</a:t>
            </a:r>
          </a:p>
          <a:p>
            <a:endParaRPr lang="zh-CN"/>
          </a:p>
          <a:p>
            <a:r>
              <a:rPr lang="zh-CN" sz="1200"/>
              <a:t>顺序不能颠倒，这是我要强调的第一件事。</a:t>
            </a:r>
          </a:p>
          <a:p>
            <a:endParaRPr lang="zh-CN"/>
          </a:p>
          <a:p>
            <a:r>
              <a:rPr lang="zh-CN" sz="1200"/>
              <a:t>Q1，它有身份吗？能被唯一指认，而且这个指认在业务上成立。没身份，它就是属性，不是对象。</a:t>
            </a:r>
          </a:p>
          <a:p>
            <a:endParaRPr lang="zh-CN"/>
          </a:p>
          <a:p>
            <a:r>
              <a:rPr lang="zh-CN" sz="1200"/>
              <a:t>Q2，它有状态吗？会随时间变化，且变化对业务有意义。无状态，多半是日志或流水。</a:t>
            </a:r>
          </a:p>
          <a:p>
            <a:endParaRPr lang="zh-CN"/>
          </a:p>
          <a:p>
            <a:r>
              <a:rPr lang="zh-CN" sz="1200"/>
              <a:t>Q3，它能独立承接动作吗？不依赖别人就能被创建、修改、撤销。不能，说明它可能只是另一个对象的属性。</a:t>
            </a:r>
          </a:p>
          <a:p>
            <a:endParaRPr lang="zh-CN"/>
          </a:p>
          <a:p>
            <a:r>
              <a:rPr lang="zh-CN" sz="1200"/>
              <a:t>Q4，它的边界清楚吗？说得清它包含什么、不包含什么。说不清，边界争议必然后患 —— 这个我在客户那里见过，一个「客户」对象，五个人五种理解，最后谁也说不服谁。</a:t>
            </a:r>
          </a:p>
          <a:p>
            <a:endParaRPr lang="zh-CN"/>
          </a:p>
          <a:p>
            <a:r>
              <a:rPr lang="zh-CN" sz="1200"/>
              <a:t>Q5，它有生命周期吗？生、老、状态流转、最终归档。没有，它只是一张快照表。</a:t>
            </a:r>
          </a:p>
          <a:p>
            <a:endParaRPr lang="zh-CN"/>
          </a:p>
          <a:p>
            <a:r>
              <a:rPr lang="zh-CN" sz="1200"/>
              <a:t>为什么顺序不能颠倒？先判身份再建边界。如果你先画出一堆字段，再去论证它是不是对象 —— 这个论证永远能成立，因为总能找到理由。模型就这么错下去了，而且很难有人发现。</a:t>
            </a:r>
          </a:p>
          <a:p>
            <a:endParaRPr lang="zh-CN"/>
          </a:p>
          <a:p>
            <a:r>
              <a:rPr lang="zh-CN" sz="1200"/>
              <a:t>右边三个判例。订单和订单行：订单行没有独立身份，它离开订单就不成立，所以应该是属性或者子对象，不要建成独立对象。客户和联系人：联系人是客户的属性集合，不是一个能独立决策的主体，应该合成一个对象。在途库存：它有状态、有生命周期、有归属，每天都在动 —— 这是标准的对象，建。</a:t>
            </a:r>
          </a:p>
          <a:p>
            <a:endParaRPr lang="zh-CN"/>
          </a:p>
          <a:p>
            <a:r>
              <a:rPr lang="zh-CN" sz="1200"/>
              <a:t>下面是属性拆分的唯一标准，三条：会被单独引用吗，升为属性对象；会被单独授权吗，必须拆；会被单独审计吗，必须拆。三条都不满足的，就老老实实当基础属性，别造对象。</a:t>
            </a:r>
          </a:p>
          <a:p>
            <a:endParaRPr lang="zh-CN"/>
          </a:p>
          <a:p>
            <a:r>
              <a:rPr lang="zh-CN" sz="1200"/>
              <a:t>这一页的建议是，现场拿客户现有的十张表，一起来过这一页，你会发现有一半的表根本不该是表。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这一页讲链接和接口。对象决定「有哪些东西」，链接决定「它们怎么连」，接口决定「怎么统一地连」。</a:t>
            </a:r>
          </a:p>
          <a:p>
            <a:endParaRPr lang="zh-CN"/>
          </a:p>
          <a:p>
            <a:r>
              <a:rPr lang="zh-CN" sz="1200"/>
              <a:t>左边三种基数。1 对 1 用得少，因为大多数关系最终是多对多。1 对 N 是最常见的从属关系，比如订单到订单行。M 对 N 必须用中间对象承载 —— 这里很多人做错，直接在两边各存一个 ID 数组，结果查询和一致性都做不好。</a:t>
            </a:r>
          </a:p>
          <a:p>
            <a:endParaRPr lang="zh-CN"/>
          </a:p>
          <a:p>
            <a:r>
              <a:rPr lang="zh-CN" sz="1200"/>
              <a:t>下面这个黑框是本体比外键强的地方：关系本身也能带属性。客户和合同这条关系上可以挂签约日期、份额、变更记录。换成传统建模，只能再开一张关联表 —— 而这张表十有八九没人愿意维护，最后那个字段就永远是空的。</a:t>
            </a:r>
          </a:p>
          <a:p>
            <a:endParaRPr lang="zh-CN"/>
          </a:p>
          <a:p>
            <a:r>
              <a:rPr lang="zh-CN" sz="1200"/>
              <a:t>所以判断两个东西之间是真正的领域关系还是仅仅数据上的外键，一个实用的办法就是看这条关系上有没有需要被管理的属性。有，就该建成链接；没有，可能只是外键。</a:t>
            </a:r>
          </a:p>
          <a:p>
            <a:endParaRPr lang="zh-CN"/>
          </a:p>
          <a:p>
            <a:r>
              <a:rPr lang="zh-CN" sz="1200"/>
              <a:t>右边是接口。这是很多人会忽略、但决定本体能不能长大的东西。</a:t>
            </a:r>
          </a:p>
          <a:p>
            <a:endParaRPr lang="zh-CN"/>
          </a:p>
          <a:p>
            <a:r>
              <a:rPr lang="zh-CN" sz="1200"/>
              <a:t>接口描述对象类型的形状与能力：只承诺「有属性、有链接、能被某动作处理」，不关心具体实现。</a:t>
            </a:r>
          </a:p>
          <a:p>
            <a:endParaRPr lang="zh-CN"/>
          </a:p>
          <a:p>
            <a:r>
              <a:rPr lang="zh-CN" sz="1200"/>
              <a:t>多态：一个动作可以作用于多种对象。「审批」能同时作用于合同、报价、请假单，只要它们实现了同一个接口。</a:t>
            </a:r>
          </a:p>
          <a:p>
            <a:endParaRPr lang="zh-CN"/>
          </a:p>
          <a:p>
            <a:r>
              <a:rPr lang="zh-CN" sz="1200"/>
              <a:t>价值：新增一种对象的时候不用改已有动作。这是本体能长大的关键，也是与「每接一个系统改一次」的分水岭。</a:t>
            </a:r>
          </a:p>
          <a:p>
            <a:endParaRPr lang="zh-CN"/>
          </a:p>
          <a:p>
            <a:r>
              <a:rPr lang="zh-CN" sz="1200"/>
              <a:t>最下面三件真正要动手的事：命名用业务方嘴里说的词，不翻译不缩写；主键优先用业务编码，自增 ID 在跨系统合并时会崩；状态值从业务规则里抠出来，别自己编一套。</a:t>
            </a:r>
          </a:p>
          <a:p>
            <a:endParaRPr lang="zh-CN"/>
          </a:p>
          <a:p>
            <a:r>
              <a:rPr lang="zh-CN" sz="1200"/>
              <a:t>这三件看起来是小事，但项目里 80% 的返工都出在这三件上。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这一页讲对象集合和建模节奏，两件事，但都容易做错。</a:t>
            </a:r>
          </a:p>
          <a:p>
            <a:endParaRPr lang="zh-CN"/>
          </a:p>
          <a:p>
            <a:r>
              <a:rPr lang="zh-CN" sz="1200"/>
              <a:t>对象集合有两个维度：静态和动态，永久和临时。</a:t>
            </a:r>
          </a:p>
          <a:p>
            <a:endParaRPr lang="zh-CN"/>
          </a:p>
          <a:p>
            <a:r>
              <a:rPr lang="zh-CN" sz="1200"/>
              <a:t>我觉得最常用的是动态乘永久 —— 按条件实时算出来，比如「当前所有超期未交付订单」，随数据自动变化。</a:t>
            </a:r>
          </a:p>
          <a:p>
            <a:endParaRPr lang="zh-CN"/>
          </a:p>
          <a:p>
            <a:r>
              <a:rPr lang="zh-CN" sz="1200"/>
              <a:t>动态乘临时要注意：这类集合算出来只活 24 小时。比如一次排查算出的可疑对象清单，过期就销毁。</a:t>
            </a:r>
          </a:p>
          <a:p>
            <a:endParaRPr lang="zh-CN"/>
          </a:p>
          <a:p>
            <a:r>
              <a:rPr lang="zh-CN" sz="1200"/>
              <a:t>静态乘永久：固定的名单，比如纳入本轮考核的分公司。它要能被引用和追溯，所以变更得走流程。</a:t>
            </a:r>
          </a:p>
          <a:p>
            <a:endParaRPr lang="zh-CN"/>
          </a:p>
          <a:p>
            <a:r>
              <a:rPr lang="zh-CN" sz="1200"/>
              <a:t>静态乘临时：一次性取数的快照，比如某次导出的对账清单。这类最容易出争议 —— 因为大家看到的是一个数字，却不知道它是按哪一刻的时点算出来的。所以下面那个橙框里的事故，我见过不止一次：把临时集合当永久口径用，三个月后没人说得清那个数字是按哪一刻的时点算的。对账的时候，一笔差异从天而降。</a:t>
            </a:r>
          </a:p>
          <a:p>
            <a:endParaRPr lang="zh-CN"/>
          </a:p>
          <a:p>
            <a:r>
              <a:rPr lang="zh-CN" sz="1200"/>
              <a:t>所以我的建议是：所有对外汇报用过的集合，必须固化下来并标注生成时点。</a:t>
            </a:r>
          </a:p>
          <a:p>
            <a:endParaRPr lang="zh-CN"/>
          </a:p>
          <a:p>
            <a:r>
              <a:rPr lang="zh-CN" sz="1200"/>
              <a:t>右边是建模与取数同步推进的三个动作。</a:t>
            </a:r>
          </a:p>
          <a:p>
            <a:endParaRPr lang="zh-CN"/>
          </a:p>
          <a:p>
            <a:r>
              <a:rPr lang="zh-CN" sz="1200"/>
              <a:t>并行，一个字段一个字段地验。每设计一个对象，立刻去确认它的属性能不能取到、取到的口径对不对。</a:t>
            </a:r>
          </a:p>
          <a:p>
            <a:endParaRPr lang="zh-CN"/>
          </a:p>
          <a:p>
            <a:r>
              <a:rPr lang="zh-CN" sz="1200"/>
              <a:t>标记，给字段打状态标签。已确认、待确认、确认不存在，三种状态分开记。别用「基本都有」这种话 —— 这是咨询项目里最常见的自欺。</a:t>
            </a:r>
          </a:p>
          <a:p>
            <a:endParaRPr lang="zh-CN"/>
          </a:p>
          <a:p>
            <a:r>
              <a:rPr lang="zh-CN" sz="1200"/>
              <a:t>取舍，先做有数据的对象。数据缺口大但业务很想要的对象，先挂起，别让一个缺口拖住整个场景。</a:t>
            </a:r>
          </a:p>
          <a:p>
            <a:endParaRPr lang="zh-CN"/>
          </a:p>
          <a:p>
            <a:r>
              <a:rPr lang="zh-CN" sz="1200"/>
              <a:t>下面为什么不能先抽象后找数，答案是这样：业务方描述的对象，是他们记忆里的理想模型。真正落到系统里的那个东西，字段可能少一半、状态少一半、多出三个他们没提过的状态。你先抽象，抽象出来的就是一个不存在的对象，后面每一处都要返工。</a:t>
            </a:r>
          </a:p>
          <a:p>
            <a:endParaRPr lang="zh-CN"/>
          </a:p>
          <a:p>
            <a:r>
              <a:rPr lang="zh-CN" sz="1200"/>
              <a:t>这个道理我一般用一句话说服客户：你的业务方不是骗你，他们只是太久没打开系统看过了。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这一页是对象卡的模板。左边是合格的样例，右边是不合格的样例，我拿对比着讲。</a:t>
            </a:r>
          </a:p>
          <a:p>
            <a:endParaRPr lang="zh-CN"/>
          </a:p>
          <a:p>
            <a:r>
              <a:rPr lang="zh-CN" sz="1200"/>
              <a:t>一个对象卡有七格，缺一格就算建模没完成。</a:t>
            </a:r>
          </a:p>
          <a:p>
            <a:endParaRPr lang="zh-CN"/>
          </a:p>
          <a:p>
            <a:r>
              <a:rPr lang="zh-CN" sz="1200"/>
              <a:t>一句话定义：客户下达、承诺交付日期、可被追责的履约单元。这句话要能被业务方自己说出来才算合格。</a:t>
            </a:r>
          </a:p>
          <a:p>
            <a:endParaRPr lang="zh-CN"/>
          </a:p>
          <a:p>
            <a:r>
              <a:rPr lang="zh-CN" sz="1200"/>
              <a:t>主键与身份：业务编码，不用自增 ID。</a:t>
            </a:r>
          </a:p>
          <a:p>
            <a:endParaRPr lang="zh-CN"/>
          </a:p>
          <a:p>
            <a:r>
              <a:rPr lang="zh-CN" sz="1200"/>
              <a:t>关键属性：客户、交付日期、状态、金额、责任销售，每个属性都要标数据来源。这一条是我最看重的 —— 不标来源的属性，三个月后没人敢用。</a:t>
            </a:r>
          </a:p>
          <a:p>
            <a:endParaRPr lang="zh-CN"/>
          </a:p>
          <a:p>
            <a:r>
              <a:rPr lang="zh-CN" sz="1200"/>
              <a:t>链接：属于客户、包含订单行、触发交付任务、关联合同。</a:t>
            </a:r>
          </a:p>
          <a:p>
            <a:endParaRPr lang="zh-CN"/>
          </a:p>
          <a:p>
            <a:r>
              <a:rPr lang="zh-CN" sz="1200"/>
              <a:t>生命周期：草稿、已确认、生产中、已交付、已回款、关闭。</a:t>
            </a:r>
          </a:p>
          <a:p>
            <a:endParaRPr lang="zh-CN"/>
          </a:p>
          <a:p>
            <a:r>
              <a:rPr lang="zh-CN" sz="1200"/>
              <a:t>可承受的动作：确认订单、变更交期、关闭订单、发起验收。</a:t>
            </a:r>
          </a:p>
          <a:p>
            <a:endParaRPr lang="zh-CN"/>
          </a:p>
          <a:p>
            <a:r>
              <a:rPr lang="zh-CN" sz="1200"/>
              <a:t>敏感与权限：金额字段限财务与销售经理，客户联系方式限客服。</a:t>
            </a:r>
          </a:p>
          <a:p>
            <a:endParaRPr lang="zh-CN"/>
          </a:p>
          <a:p>
            <a:r>
              <a:rPr lang="zh-CN" sz="1200"/>
              <a:t>右边这张不合格的，我逐条念一下：定义写「订单表」，主键写「id 自增」，属性写「见数据库」，链接写「暂无」，生命周期写「—」，动作写「增删改查」，权限写「—」。</a:t>
            </a:r>
          </a:p>
          <a:p>
            <a:endParaRPr lang="zh-CN"/>
          </a:p>
          <a:p>
            <a:r>
              <a:rPr lang="zh-CN" sz="1200"/>
              <a:t>我在下面给了判据：这张卡上如果找不到任何一个「谁在什么时候可以对它做什么」，它就还不是对象模型，只是一张数据字典。</a:t>
            </a:r>
          </a:p>
          <a:p>
            <a:endParaRPr lang="zh-CN"/>
          </a:p>
          <a:p>
            <a:r>
              <a:rPr lang="zh-CN" sz="1200"/>
              <a:t>命名规范四条：用业务原词，不翻译不缩写，「交付异常」不要写成 DelivExcept；对象用单数；链接用动宾结构，belongsTo、contains、triggers，不要用 hasA；动作用动宾结构，动作名必须说明「对什么做了什么」。</a:t>
            </a:r>
          </a:p>
          <a:p>
            <a:endParaRPr lang="zh-CN"/>
          </a:p>
          <a:p>
            <a:r>
              <a:rPr lang="zh-CN" sz="1200"/>
              <a:t>画布交付要求三条：一格一对象，不允许一张卡片写三个对象；关系画箭头并标注基数，双向关系要标明各自角色；标注数据成熟度，每个属性旁标已确认或待确认。</a:t>
            </a:r>
          </a:p>
          <a:p>
            <a:endParaRPr lang="zh-CN"/>
          </a:p>
          <a:p>
            <a:r>
              <a:rPr lang="zh-CN" sz="1200"/>
              <a:t>把这张卡做成模板，发给所有建模人，比开十次会有用。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第四部分是动力学与治理。前面三部分建的全是「是什么」，这一部分建「能做什么」。</a:t>
            </a:r>
          </a:p>
          <a:p>
            <a:endParaRPr lang="zh-CN"/>
          </a:p>
          <a:p>
            <a:r>
              <a:rPr lang="zh-CN" sz="1200"/>
              <a:t>我先说清楚一件事：这一部分在项目里最容易被砍。因为它不产出图，看起来不直观，还涉及很多跨部门的事务 —— 审批怎么写、权限谁来定、失败怎么办，很多人在这一页会打退堂鼓，说我们先把模型建完再说。</a:t>
            </a:r>
          </a:p>
          <a:p>
            <a:endParaRPr lang="zh-CN"/>
          </a:p>
          <a:p>
            <a:r>
              <a:rPr lang="zh-CN" sz="1200"/>
              <a:t>结果就是模型建完了，写不进去，整个项目停在原地。</a:t>
            </a:r>
          </a:p>
          <a:p>
            <a:endParaRPr lang="zh-CN"/>
          </a:p>
          <a:p>
            <a:r>
              <a:rPr lang="zh-CN" sz="1200"/>
              <a:t>所以这一章我只讲一件事：怎么让决策真的跑起来。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 Action Type 设计七问。Action Type 是写入的唯一合法入口 —— 任何改变真实世界的行为，都必须是一个被命名、被授权、被留痕的动作类型。</a:t>
            </a:r>
          </a:p>
          <a:p>
            <a:endParaRPr lang="zh-CN"/>
          </a:p>
          <a:p>
            <a:r>
              <a:rPr lang="zh-CN" sz="1200"/>
              <a:t>A1，它改变的是哪个对象的什么状态？说不清，就不是一个合格的动作。</a:t>
            </a:r>
          </a:p>
          <a:p>
            <a:endParaRPr lang="zh-CN"/>
          </a:p>
          <a:p>
            <a:r>
              <a:rPr lang="zh-CN" sz="1200"/>
              <a:t>A2，谁可以发起？谁必须审批？权限和审批是模型的一部分，不是流程之外的事。很多项目把它推给 OA，推给审批流，然后本体这边就永远拿不到「这个动作被谁批准了」的信息。</a:t>
            </a:r>
          </a:p>
          <a:p>
            <a:endParaRPr lang="zh-CN"/>
          </a:p>
          <a:p>
            <a:r>
              <a:rPr lang="zh-CN" sz="1200"/>
              <a:t>A3，前置条件是什么？校验写在函数里，不靠调用方自觉。</a:t>
            </a:r>
          </a:p>
          <a:p>
            <a:endParaRPr lang="zh-CN"/>
          </a:p>
          <a:p>
            <a:r>
              <a:rPr lang="zh-CN" sz="1200"/>
              <a:t>A4，执行后要写回哪些外部系统？写回路径必须显式声明，不能靠约定。</a:t>
            </a:r>
          </a:p>
          <a:p>
            <a:endParaRPr lang="zh-CN"/>
          </a:p>
          <a:p>
            <a:r>
              <a:rPr lang="zh-CN" sz="1200"/>
              <a:t>A5，失败了怎么办？必须有明确的失败态和补偿动作。这条是最常被漏的。</a:t>
            </a:r>
          </a:p>
          <a:p>
            <a:endParaRPr lang="zh-CN"/>
          </a:p>
          <a:p>
            <a:r>
              <a:rPr lang="zh-CN" sz="1200"/>
              <a:t>A6，重复提交会怎样？没有幂等设计就不允许上线。用户手抖点两下，订单改两次，这种事出过不止一次。</a:t>
            </a:r>
          </a:p>
          <a:p>
            <a:endParaRPr lang="zh-CN"/>
          </a:p>
          <a:p>
            <a:r>
              <a:rPr lang="zh-CN" sz="1200"/>
              <a:t>A7，事后怎么查到是谁改的？留痕不是可选项，是动作的一部分。</a:t>
            </a:r>
          </a:p>
          <a:p>
            <a:endParaRPr lang="zh-CN"/>
          </a:p>
          <a:p>
            <a:r>
              <a:rPr lang="zh-CN" sz="1200"/>
              <a:t>下面的判据我请大家记住：七问里有两问答不上来，这个动作就不要建。先把它变成一个流程说明，留到治理成熟后再收进本体。</a:t>
            </a:r>
          </a:p>
          <a:p>
            <a:endParaRPr lang="zh-CN"/>
          </a:p>
          <a:p>
            <a:r>
              <a:rPr lang="zh-CN" sz="1200"/>
              <a:t>这句话听起来像是打退堂鼓，其实是保护。做一堆建在沙上的动作，比不做更危险 —— 因为它会让大家以为这条路已经通了。</a:t>
            </a:r>
          </a:p>
          <a:p>
            <a:endParaRPr lang="zh-CN"/>
          </a:p>
          <a:p>
            <a:r>
              <a:rPr lang="zh-CN" sz="1200"/>
              <a:t>右边这个黑框是本章最重要的一段，我再重复一次：大模型不能直接操作外部系统，只能调用预先定义并经权限审核的动作类型；权限与校验在建模阶段固化，不依赖模型自己判断该不该做、有没有权限；每一次调用天然留痕，谁、何时、对哪个对象、做了什么、结果如何。</a:t>
            </a:r>
          </a:p>
          <a:p>
            <a:endParaRPr lang="zh-CN"/>
          </a:p>
          <a:p>
            <a:r>
              <a:rPr lang="zh-CN" sz="1200"/>
              <a:t>这三条是本体能接 AI 的全部前提。缺任何一条，AI 就只能停在给建议的阶段。</a:t>
            </a:r>
          </a:p>
          <a:p>
            <a:endParaRPr lang="zh-CN"/>
          </a:p>
          <a:p>
            <a:r>
              <a:rPr lang="zh-CN" sz="1200"/>
              <a:t>最后三个必须落到动作里的校验：状态校验，只有「生产中」的订单才允许改交期；权限校验，这条改的是 A 区订单，售前的改不了；完整性校验，改交期必须同时给出理由，否则不落库。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这一页讲函数和动态权限，这两件事也是被推给应用层的重灾区。</a:t>
            </a:r>
          </a:p>
          <a:p>
            <a:endParaRPr lang="zh-CN"/>
          </a:p>
          <a:p>
            <a:r>
              <a:rPr lang="zh-CN" sz="1200"/>
              <a:t>函数是服务端的业务逻辑，复杂度不限，可以算、可以调外部、可以写库。它和存储过程像，但有两个关键差别：可以被应用和 AI 直接调用，不需要先造一个界面才能用上；以及一处定义多处复用。</a:t>
            </a:r>
          </a:p>
          <a:p>
            <a:endParaRPr lang="zh-CN"/>
          </a:p>
          <a:p>
            <a:r>
              <a:rPr lang="zh-CN" sz="1200"/>
              <a:t>「交期是否可承诺」这个判断，不允许在五个应用里各写一遍。这句话我在客户那里说了不止一次 —— 一旦分叉，本体就成了又一层没人敢信的东西。</a:t>
            </a:r>
          </a:p>
          <a:p>
            <a:endParaRPr lang="zh-CN"/>
          </a:p>
          <a:p>
            <a:r>
              <a:rPr lang="zh-CN" sz="1200"/>
              <a:t>典型用途：算可用库存、判断交期可行性、生成审批路径、算出责任销售。这四个我一般建议客户先写出来，因为它们往往就是最核心的业务知识，只是散在各个人的脑子里。</a:t>
            </a:r>
          </a:p>
          <a:p>
            <a:endParaRPr lang="zh-CN"/>
          </a:p>
          <a:p>
            <a:r>
              <a:rPr lang="zh-CN" sz="1200"/>
              <a:t>下面橙框讲函数的边界在哪。纯展示的格式化不要写进函数。函数只放「业务上必须一致」的那部分逻辑，否则它会变成一个没人敢动的垃圾场。</a:t>
            </a:r>
          </a:p>
          <a:p>
            <a:endParaRPr lang="zh-CN"/>
          </a:p>
          <a:p>
            <a:r>
              <a:rPr lang="zh-CN" sz="1200"/>
              <a:t>右边是动态权限。左边静态权限和右边动态权限的区别，一句话：静态是页面隐藏按钮、菜单不可见，换个入口就绕过去了；动态是按用户属性和对象状态实时判定，同一个人对不同对象结论不同。</a:t>
            </a:r>
          </a:p>
          <a:p>
            <a:endParaRPr lang="zh-CN"/>
          </a:p>
          <a:p>
            <a:r>
              <a:rPr lang="zh-CN" sz="1200"/>
              <a:t>三条必须内嵌到模型的规则。</a:t>
            </a:r>
          </a:p>
          <a:p>
            <a:endParaRPr lang="zh-CN"/>
          </a:p>
          <a:p>
            <a:r>
              <a:rPr lang="zh-CN" sz="1200"/>
              <a:t>R1，到属性粒度：不是「能看订单」，而是「能看订单但看不到折扣金额」。</a:t>
            </a:r>
          </a:p>
          <a:p>
            <a:endParaRPr lang="zh-CN"/>
          </a:p>
          <a:p>
            <a:r>
              <a:rPr lang="zh-CN" sz="1200"/>
              <a:t>R2，随身份继承给 AI：模型看不到的东西，AI 也看不到；AI 能做的，人也一定能做。这一条是 AI 落地的安全底线 —— 如果出现「AI 能做到人做不到的事」，那这套东西绝对不能上生产。</a:t>
            </a:r>
          </a:p>
          <a:p>
            <a:endParaRPr lang="zh-CN"/>
          </a:p>
          <a:p>
            <a:r>
              <a:rPr lang="zh-CN" sz="1200"/>
              <a:t>R3，随对象状态变化：已关闭的订单谁都别想再改，包括管理员。我见过太多「管理员万能」的写法，最后审计问起来，没人愿意解释。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这一页讲写回和决策留痕。我个人觉得这是本体最容易被低估的价值点 —— 大部分人盯着「对象建得对不对」，忽略了「动作做完了之后剩下什么」。</a:t>
            </a:r>
          </a:p>
          <a:p>
            <a:endParaRPr lang="zh-CN"/>
          </a:p>
          <a:p>
            <a:r>
              <a:rPr lang="zh-CN" sz="1200"/>
              <a:t>先说三种写回机制怎么选。</a:t>
            </a:r>
          </a:p>
          <a:p>
            <a:endParaRPr lang="zh-CN"/>
          </a:p>
          <a:p>
            <a:r>
              <a:rPr lang="zh-CN" sz="1200"/>
              <a:t>第一种，回调推送。动作触发后由本体直接调用外部系统接口。实时性好，代价是外部系统不稳定时会失败重试，对接方必须实现幂等。</a:t>
            </a:r>
          </a:p>
          <a:p>
            <a:endParaRPr lang="zh-CN"/>
          </a:p>
          <a:p>
            <a:r>
              <a:rPr lang="zh-CN" sz="1200"/>
              <a:t>第二种，出站数据集。动作结果落成一张出站数据集，由外部系统来取。解耦最彻底，代价是有延迟，不适合要求秒级的动作。</a:t>
            </a:r>
          </a:p>
          <a:p>
            <a:endParaRPr lang="zh-CN"/>
          </a:p>
          <a:p>
            <a:r>
              <a:rPr lang="zh-CN" sz="1200"/>
              <a:t>第三种，事件流。动作结果以事件形式广播，订阅方自行消费。最适合多方监听，代价是需要约定事件契约，而改契约就是破坏性变更。</a:t>
            </a:r>
          </a:p>
          <a:p>
            <a:endParaRPr lang="zh-CN"/>
          </a:p>
          <a:p>
            <a:r>
              <a:rPr lang="zh-CN" sz="1200"/>
              <a:t>怎么选我的建议是：单个外部系统、要求实时，用第一种；多个系统各取所需，用第二种；有多个下游要实时订阅各自的场景，用第三种。</a:t>
            </a:r>
          </a:p>
          <a:p>
            <a:endParaRPr lang="zh-CN"/>
          </a:p>
          <a:p>
            <a:r>
              <a:rPr lang="zh-CN" sz="1200"/>
              <a:t>然后是决策留痕。一次动作要留下五样东西：谁（发起人和审批人，各自的时间戳）、对什么（对象实例的标识和变更前的状态）、做了什么（动作名称、参数、理由说明）、结果（成功失败、失败原因、重试次数）、链路（这一条影响了下游哪些对象的哪些字段）。</a:t>
            </a:r>
          </a:p>
          <a:p>
            <a:endParaRPr lang="zh-CN"/>
          </a:p>
          <a:p>
            <a:r>
              <a:rPr lang="zh-CN" sz="1200"/>
              <a:t>最后这一条「链路」最难做到，但价值最大 —— 它记的是因果关系，不只是结果。</a:t>
            </a:r>
          </a:p>
          <a:p>
            <a:endParaRPr lang="zh-CN"/>
          </a:p>
          <a:p>
            <a:r>
              <a:rPr lang="zh-CN" sz="1200"/>
              <a:t>这些留痕合起来就是组织的决策日志，能回答那个最有价值的问题：当时谁基于什么信息做了什么决定。</a:t>
            </a:r>
          </a:p>
          <a:p>
            <a:endParaRPr lang="zh-CN"/>
          </a:p>
          <a:p>
            <a:r>
              <a:rPr lang="zh-CN" sz="1200"/>
              <a:t>右边这三条是我认为最值钱的：复盘有依据，不再靠回忆对齐口径；异常可追责，出了错能定位到具体动作；模型可训练 —— 历史决策是 AI 最稀缺的语料。</a:t>
            </a:r>
          </a:p>
          <a:p>
            <a:endParaRPr lang="zh-CN"/>
          </a:p>
          <a:p>
            <a:r>
              <a:rPr lang="zh-CN" sz="1200"/>
              <a:t>第三条容易被忽略。你训练行业模型，最缺的就是这种带上下文和结果的真实决策样本，而它每天都在本体的动作日志里产生。这是本体对 AI 最容易被低估的贡献。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这一页是可交付的模板：动作与角色权限矩阵，加上六个反模式。</a:t>
            </a:r>
          </a:p>
          <a:p>
            <a:endParaRPr lang="zh-CN"/>
          </a:p>
          <a:p>
            <a:r>
              <a:rPr lang="zh-CN" sz="1200"/>
              <a:t>矩阵的读法很简单。行是动作类型，列是角色，每个格填三种符号。实心圆表示可以执行并留痕。空心圆表示可以查看但不可执行。空白表示不可见，直接在模型层拒绝 —— 注意不是界面上藏起来，是模型层就拒绝。</a:t>
            </a:r>
          </a:p>
          <a:p>
            <a:endParaRPr lang="zh-CN"/>
          </a:p>
          <a:p>
            <a:r>
              <a:rPr lang="zh-CN" sz="1200"/>
              <a:t>我为什么强调最后一行：空白格必须真的存在。如果一个矩阵里连一个空白都没有，说明所有人都能改，那这个矩阵等于没做。这是我评审时第一眼就看的。</a:t>
            </a:r>
          </a:p>
          <a:p>
            <a:endParaRPr lang="zh-CN"/>
          </a:p>
          <a:p>
            <a:r>
              <a:rPr lang="zh-CN" sz="1200"/>
              <a:t>下面这条图例也说明一件事：空白是模型层的拒绝。这意味着无论从哪个入口来、走 SDK 还是走 AI，都一样被拒。这是本体平台和传统权限体系最本质的区别。</a:t>
            </a:r>
          </a:p>
          <a:p>
            <a:endParaRPr lang="zh-CN"/>
          </a:p>
          <a:p>
            <a:r>
              <a:rPr lang="zh-CN" sz="1200"/>
              <a:t>右边六个反模式，我逐条说。</a:t>
            </a:r>
          </a:p>
          <a:p>
            <a:endParaRPr lang="zh-CN"/>
          </a:p>
          <a:p>
            <a:r>
              <a:rPr lang="zh-CN" sz="1200"/>
              <a:t>矩阵里没有空白格，等于没做权限。权限只在界面上，换个入口或走 SDK 就绕过去了。动作里塞了业务规则，规则写在代码里，改一次要发一次版。写回失败无补偿，外部系统没更新，本体状态却已经变了，这是最容易造成对不上账的坑。AI 直接写外部系统，绕过动作就绕过了全部校验和留痕。留痕不留上下文，只记「改了」，不记「当时看到什么才这么改」—— 后面这一条半年后审计一定会追上来。</a:t>
            </a:r>
          </a:p>
          <a:p>
            <a:endParaRPr lang="zh-CN"/>
          </a:p>
          <a:p>
            <a:r>
              <a:rPr lang="zh-CN" sz="1200"/>
              <a:t>最后这句话我请大家记住：这六条里有任意一条成立，本体就还只是「一个语义层加一个系统集成」。</a:t>
            </a:r>
          </a:p>
          <a:p>
            <a:endParaRPr lang="zh-CN"/>
          </a:p>
          <a:p>
            <a:r>
              <a:rPr lang="zh-CN" sz="1200"/>
              <a:t>这句话是对客户最诚实的技术判断，也是我们跟竞争对手拉开差距的地方。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第五部分，讲应用、AI 和演进。这一章比较短，但都是实操层面最常被问到的问题。</a:t>
            </a:r>
          </a:p>
          <a:p>
            <a:endParaRPr lang="zh-CN"/>
          </a:p>
          <a:p>
            <a:r>
              <a:rPr lang="zh-CN" sz="1200"/>
              <a:t>两页。前面一页讲 AI 怎么接进本体 —— 这是当前最热的话题，也是最容易被做成玄学的地方。后面一页是收口，讲怎么跟已有数据中台接、怎么按步骤长，以及最常踩的五个坑。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这一页讲 AI 怎么接进本体。我先说一个判断：AI 接进本体，不是给大模型套个壳，也不是再灌一批语料。</a:t>
            </a:r>
          </a:p>
          <a:p>
            <a:endParaRPr lang="zh-CN"/>
          </a:p>
          <a:p>
            <a:r>
              <a:rPr lang="zh-CN" sz="1200"/>
              <a:t>本体给 AI 的，是「可以调用的动作」加「已经锁死的边界」。这两样东西，是任何外部方案都给不了的。</a:t>
            </a:r>
          </a:p>
          <a:p>
            <a:endParaRPr lang="zh-CN"/>
          </a:p>
          <a:p>
            <a:r>
              <a:rPr lang="zh-CN" sz="1200"/>
              <a:t>上面四张卡是四条通路。</a:t>
            </a:r>
          </a:p>
          <a:p>
            <a:endParaRPr lang="zh-CN"/>
          </a:p>
          <a:p>
            <a:r>
              <a:rPr lang="zh-CN" sz="1200"/>
              <a:t>第一，语义取数。模型只通过本体接口取结构化事实，而不是从文档里猜。这一条是所有准确性问题的根。</a:t>
            </a:r>
          </a:p>
          <a:p>
            <a:endParaRPr lang="zh-CN"/>
          </a:p>
          <a:p>
            <a:r>
              <a:rPr lang="zh-CN" sz="1200"/>
              <a:t>第二，实体关系检索。查的是实体、关系、时间线和因果链，不是文本向量碎片。这一条是下一张图要展开的。</a:t>
            </a:r>
          </a:p>
          <a:p>
            <a:endParaRPr lang="zh-CN"/>
          </a:p>
          <a:p>
            <a:r>
              <a:rPr lang="zh-CN" sz="1200"/>
              <a:t>第三，调用受控动作。AI 只能调用已定义并经审核的动作，影响力被圈在模型里。</a:t>
            </a:r>
          </a:p>
          <a:p>
            <a:endParaRPr lang="zh-CN"/>
          </a:p>
          <a:p>
            <a:r>
              <a:rPr lang="zh-CN" sz="1200"/>
              <a:t>第四，反向补全本体。AI 从使用痕迹里发现新对象和缺失的属性，帮助模型长大。这一条是很多人没想到的 —— 本体的建设不完全靠人，AI 也能反哺。这块现在还很新，但方向是对的。</a:t>
            </a:r>
          </a:p>
          <a:p>
            <a:endParaRPr lang="zh-CN"/>
          </a:p>
          <a:p>
            <a:r>
              <a:rPr lang="zh-CN" sz="1200"/>
              <a:t>左下这块是我认为最需要讲清楚的地方：和「给大模型接个知识库」的差别。</a:t>
            </a:r>
          </a:p>
          <a:p>
            <a:endParaRPr lang="zh-CN"/>
          </a:p>
          <a:p>
            <a:r>
              <a:rPr lang="zh-CN" sz="1200"/>
              <a:t>向量检索是按语义相似度召回文本片段，答错了无法定位。本体检索是按实体和关系取事实，能回答「谁在什么时候把什么改成了什么」。</a:t>
            </a:r>
          </a:p>
          <a:p>
            <a:endParaRPr lang="zh-CN"/>
          </a:p>
          <a:p>
            <a:r>
              <a:rPr lang="zh-CN" sz="1200"/>
              <a:t>答案来源也不同：文本片段指向文档，本体对象指向源系统记录，可以一直追到原始单据。</a:t>
            </a:r>
          </a:p>
          <a:p>
            <a:endParaRPr lang="zh-CN"/>
          </a:p>
          <a:p>
            <a:r>
              <a:rPr lang="zh-CN" sz="1200"/>
              <a:t>权限那一条最关键：检索不区分人，本体里的权限判断对模型同样生效。</a:t>
            </a:r>
          </a:p>
          <a:p>
            <a:endParaRPr lang="zh-CN"/>
          </a:p>
          <a:p>
            <a:r>
              <a:rPr lang="zh-CN" sz="1200"/>
              <a:t>一句话区别：知识库回答「文档说了什么」，本体回答「现在实际是什么、能做什么」。</a:t>
            </a:r>
          </a:p>
          <a:p>
            <a:endParaRPr lang="zh-CN"/>
          </a:p>
          <a:p>
            <a:r>
              <a:rPr lang="zh-CN" sz="1200"/>
              <a:t>右下这四步的顺序不能颠倒：只读接入、给建议、审批执行、受限自主。我给客户的建议是，每一步至少跑三个月再进下一步。急着跳到第四步的项目，我没见过几个成功的。</a:t>
            </a:r>
          </a:p>
          <a:p>
            <a:endParaRPr lang="zh-CN"/>
          </a:p>
          <a:p>
            <a:r>
              <a:rPr lang="zh-CN" sz="1200"/>
              <a:t>受限自主那一步的划分标准是「低风险动作自动执行，高风险仍需人」。什么叫低风险，得由业务自己定，这一句不能由我们替客户定。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zh-CN" sz="1200"/>
              <a:t>最后一页收口。左边是与已有数据中台的三种接法，右上是演进四步，右下是五个坑和全册收束。</a:t>
            </a:r>
          </a:p>
          <a:p>
            <a:endParaRPr lang="zh-CN"/>
          </a:p>
          <a:p>
            <a:r>
              <a:rPr lang="zh-CN" sz="1200"/>
              <a:t>三种接法。</a:t>
            </a:r>
          </a:p>
          <a:p>
            <a:endParaRPr lang="zh-CN"/>
          </a:p>
          <a:p>
            <a:r>
              <a:rPr lang="zh-CN" sz="1200"/>
              <a:t>作为消费方，接进现有数仓的加工结果。这是推荐做法，矛盾最小，见效最快。</a:t>
            </a:r>
          </a:p>
          <a:p>
            <a:endParaRPr lang="zh-CN"/>
          </a:p>
          <a:p>
            <a:r>
              <a:rPr lang="zh-CN" sz="1200"/>
              <a:t>并行双轨，两边同时跑，先对齐数据目录口径。这是过渡方案，但必须有退出日期 —— 我在下面第五个坑里会再说这件事。</a:t>
            </a:r>
          </a:p>
          <a:p>
            <a:endParaRPr lang="zh-CN"/>
          </a:p>
          <a:p>
            <a:r>
              <a:rPr lang="zh-CN" sz="1200"/>
              <a:t>承担中台职能，本体平台自己就是中台。只有数据治理已经成熟的客户才可考虑，而且要极其慎重。</a:t>
            </a:r>
          </a:p>
          <a:p>
            <a:endParaRPr lang="zh-CN"/>
          </a:p>
          <a:p>
            <a:r>
              <a:rPr lang="zh-CN" sz="1200"/>
              <a:t>演进四步，每一步都有退出条件。</a:t>
            </a:r>
          </a:p>
          <a:p>
            <a:endParaRPr lang="zh-CN"/>
          </a:p>
          <a:p>
            <a:r>
              <a:rPr lang="zh-CN" sz="1200"/>
              <a:t>第一步，单场景只读，退出条件是业务方能无歧义复述每个对象。</a:t>
            </a:r>
          </a:p>
          <a:p>
            <a:endParaRPr lang="zh-CN"/>
          </a:p>
          <a:p>
            <a:r>
              <a:rPr lang="zh-CN" sz="1200"/>
              <a:t>第二步，单场景可写，退出条件是写回成功率可验证、回滚演练做过。注意「演练过」这三个字，没演练过的回滚方案等于没有。</a:t>
            </a:r>
          </a:p>
          <a:p>
            <a:endParaRPr lang="zh-CN"/>
          </a:p>
          <a:p>
            <a:r>
              <a:rPr lang="zh-CN" sz="1200"/>
              <a:t>第三步，单域成体系，退出条件是本域动作收齐、权限矩阵无空白。</a:t>
            </a:r>
          </a:p>
          <a:p>
            <a:endParaRPr lang="zh-CN"/>
          </a:p>
          <a:p>
            <a:r>
              <a:rPr lang="zh-CN" sz="1200"/>
              <a:t>第四步，跨域加 AI，退出条件是 AI 全程只经动作、不越权。</a:t>
            </a:r>
          </a:p>
          <a:p>
            <a:endParaRPr lang="zh-CN"/>
          </a:p>
          <a:p>
            <a:r>
              <a:rPr lang="zh-CN" sz="1200"/>
              <a:t>下面这五个坑，是这一路做下来最常踩的。</a:t>
            </a:r>
          </a:p>
          <a:p>
            <a:endParaRPr lang="zh-CN"/>
          </a:p>
          <a:p>
            <a:r>
              <a:rPr lang="zh-CN" sz="1200"/>
              <a:t>先建全量模型再找场景，结果是一个没人用的大图。只建语义不建行动，结果是一张漂亮但推不动的图。动作定义在应用里，结果每接一个系统改一次。权限只做到页面，结果一次穿透，AI 接入直接停摆。双轨没有退出日期，结果永远并行，系统数量翻倍。</a:t>
            </a:r>
          </a:p>
          <a:p>
            <a:endParaRPr lang="zh-CN"/>
          </a:p>
          <a:p>
            <a:r>
              <a:rPr lang="zh-CN" sz="1200"/>
              <a:t>最后一个坑我多说一句。我见过客户在双轨上待了三年，两套系统口径永远对不齐，最后没人敢用任何一套。所以我在模板里加了一条硬要求：过渡方案必须写退出日期，写不出来的，就说明它不是过渡方案，那是永久方案，那就要按永久方案的成本和治理强度来对待。</a:t>
            </a:r>
          </a:p>
          <a:p>
            <a:endParaRPr lang="zh-CN"/>
          </a:p>
          <a:p>
            <a:r>
              <a:rPr lang="zh-CN" sz="1200"/>
              <a:t>最后是全册收束。我把这六本书的主线串一次：BA 说清要做什么决策，DA 说清数据从哪来，AA 说清谁在用，TA 说清跑不跑得动。这四句话，前面四册各讲了一遍。今天本体让这四件事落在同一层上 —— 语义与动力学合一，组织的决策才真正跑得起来。</a:t>
            </a:r>
          </a:p>
          <a:p>
            <a:endParaRPr lang="zh-CN"/>
          </a:p>
          <a:p>
            <a:r>
              <a:rPr lang="zh-CN" sz="1200"/>
              <a:t>六册讲完了。主册加五个专册，从业务愿景一路走到本体。下一步如果客户问「那我们什么时候开始」，答案永远是第 04 页的第一行：先挑一个决策场景。</a:t>
            </a:r>
          </a:p>
          <a:p>
            <a:endParaRPr lang="zh-CN"/>
          </a:p>
          <a:p>
            <a:r>
              <a:rPr lang="zh-CN" sz="1200"/>
              <a:t>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 }}&gt;&#10;    {/* 左侧橙红几何带 */}&#10;    &lt;Box style={{ position: 'absolute', left: 0, top: 0, width: 460, height: 720, background: 'linear-gradient(160deg, #FA4F24 0%, #F87D2F 100%)' }} /&gt;&#10;    &lt;Box style={{ position: 'absolute', left: 400, top: 0, width: 120, height: 720, background: 'linear-gradient(160deg, rgba(250,79,36,0.35) 0%, rgba(248,125,47,0) 100%)' }} /&gt;&#10;&#10;    {/* 左侧品牌文字 */}&#10;    &lt;Box style={{ position: 'absolute', left: 64, top: 64, flexDirection: 'column' }}&gt;&#10;        &lt;Text style={{ fontSize: 16, color: 'rgba(255,255,255,0.85)', letterSpacing: 3 }}&gt;BOULDERAI&lt;/Text&gt;&#10;        &lt;Text style={{ fontSize: 13, color: 'rgba(255,255,255,0.65)', letterSpacing: 2, marginTop: 4 }}&gt;TECHNOLOGIES · SOLUTION&lt;/Text&gt;&#10;    &lt;/Box&gt;&#10;    &lt;Box style={{ position: 'absolute', left: 64, bottom: 72, flexDirection: 'column' }}&gt;&#10;        &lt;Box style={{ width: 56, height: 4, background: 'rgba(255,255,255,0.8)' }} /&gt;&#10;        &lt;Text style={{ fontSize: 20, color: '#FFFFFF', fontWeight: 'bold', marginTop: 18 }}&gt;硕磐智能&lt;/Text&gt;&#10;        &lt;Text style={{ fontSize: 14, color: 'rgba(255,255,255,0.8)', marginTop: 6 }}&gt;咨询交付版 · ONTOLOGY&lt;/Text&gt;&#10;    &lt;/Box&gt;&#10;&#10;    {/* 右侧主标题 */}&#10;    &lt;Box style={{ position: 'absolute', left: 540, top: 150, width: 680, flexDirection: 'column' }}&gt;&#10;        &lt;Text style={{ fontSize: 76, fontWeight: 'bold', color: '#FA4F24', lineHeight: 1.0 }}&gt;Ontology&lt;/Text&gt;&#10;        &lt;Text style={{ fontSize: 44, fontWeight: 'bold', color: '#0F1423', marginTop: 18, lineHeight: 1.2 }}&gt;本体咨询方法论&lt;/Text&gt;&#10;        &lt;Box style={{ width: 88, height: 5, background: '#FA4F24', marginTop: 26 }} /&gt;&#10;        &lt;Text style={{ fontSize: 21, color: '#3A4050', marginTop: 26, lineHeight: 1.6 }}&gt;&#10;            语义与动力学合一，让企业的决策真正被执行&#10;        &lt;/Text&gt;&#10;    &lt;/Box&gt;&#10;&#10;    {/* 底部四个标签 */}&#10;    &lt;Box style={{ position: 'absolute', left: 540, top: 560, flexDirection: 'row', gap: 12 }}&gt;&#10;        {['Approach 作业路径', '自身 4A 架构', '对象与行动建模', 'AI 消费闭环'].map((t, i) =&gt; (&#10;            &lt;Box key={i} style={{ background: 'rgba(250,79,36,0.08)', borderRadius: 3, padding: '8px 18px' }}&gt;&#10;                &lt;Text style={{ fontSize: 16, color: '#C43A17', fontWeight: 'bold' }}&gt;{t}&lt;/Text&gt;&#10;            &lt;/Box&gt;&#10;        ))}&#10;    &lt;/Box&gt;&#10;&#10;    {/* 依据说明 */}&#10;    &lt;Box style={{ position: 'absolute', left: 540, bottom: 78, flexDirection: 'row', alignItems: 'center', gap: 10 }}&gt;&#10;        &lt;Box style={{ width: 4, height: 18, background: '#F87D2F' }} /&gt;&#10;        &lt;Text style={{ fontSize: 14, color: '#8A8F99' }}&gt;方法论依据：Palantir Ontology 官方文档 · 4A 架构实践延伸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3810000" y="0"/>
            <a:ext cx="1143000" cy="6858000"/>
          </a:xfrm>
          <a:prstGeom prst="rect">
            <a:avLst/>
          </a:prstGeom>
          <a:gradFill>
            <a:gsLst>
              <a:gs pos="0">
                <a:srgbClr val="FA4F24">
                  <a:alpha val="35000"/>
                </a:srgbClr>
              </a:gs>
              <a:gs pos="100000">
                <a:srgbClr val="F87D2F">
                  <a:alpha val="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838200"/>
            <a:ext cx="2133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5514975"/>
            <a:ext cx="533400" cy="381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5724525"/>
            <a:ext cx="1533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硕磐智能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010275"/>
            <a:ext cx="1533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咨询交付版</a:t>
            </a: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ONTOLOGY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143500" y="1428750"/>
            <a:ext cx="64770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A4F24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143500" y="2476500"/>
            <a:ext cx="64770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0F1423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143500" y="3333750"/>
            <a:ext cx="8382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143500" y="3629025"/>
            <a:ext cx="64770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3A4050"/>
                </a:solidFill>
                <a:latin typeface="Microsoft YaHei"/>
                <a:ea typeface="Microsoft YaHei"/>
              </a:rPr>
              <a:t>语义与动力学合一，让企业的决策真正被执行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143500" y="5334000"/>
            <a:ext cx="1743075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314950" y="5410200"/>
            <a:ext cx="1400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Approach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作业路径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7000875" y="5334000"/>
            <a:ext cx="12573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172325" y="54102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自身</a:t>
            </a: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372475" y="5334000"/>
            <a:ext cx="14097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543925" y="54102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对象与行动建模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9896475" y="5334000"/>
            <a:ext cx="1171575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067925" y="5410200"/>
            <a:ext cx="828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消费闭环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143500" y="5943600"/>
            <a:ext cx="38100" cy="1714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276850" y="5953125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方法论依据：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Palantir Ontology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官方文档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4A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架构实践延伸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52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本册覆盖&lt;span style={{ color: '#FA4F24' }}&gt;五个部分&lt;/span&gt;，把本体从概念拆到可交付的建模作业&#10;        &lt;/Text&gt;&#10;        &lt;Text style={{ fontSize: 20, color: '#8A8F99', marginTop: 8 }}&gt;&#10;            总论 · 自身 4A · 语义建模 · 动力学治理 · 应用与 AI，每部分均含「方法 · 内容 · 模板」&#10;        &lt;/Text&gt;&#10;    &lt;/Box&gt;&#10;    &lt;Box style={{ height: 1, background: '#E8E8E8' }} /&gt;&#10;&#10;    {/* B 区 */}&#10;    &lt;Box style={{ paddingTop: 26, paddingBottom: 14, height: 479, flexDirection: 'row', gap: 20 }}&gt;&#10;        {/* 左 60% 三条 */}&#10;        &lt;Box style={{ width: 680, flexDirection: 'column', gap: 13 }}&gt;&#10;            {[&#10;                { n: '01', t: 'Ontology 总论', d: '运行层定位、语义与动力学二元划分、Language/Engine/Toolchain', tag: 'P05–10' },&#10;                { n: '02', t: 'Ontology 自身的 4A', d: 'BA/DA/AA/TA 四层在本体里各自长什么样', tag: 'P11–17' },&#10;                { n: '03', t: '语义建模', d: 'Object Type 五问、Link Type、Interface、Object Set', tag: 'P18–22' },&#10;            ].map((it, i) =&gt; (&#10;                &lt;Box key={i} style={{ flex: 1, flexDirection: 'row', alignItems: 'center', background: '#F7F7F8', borderRadius: 4, padding: '0 20px', gap: 16 }}&gt;&#10;                    &lt;Text style={{ fontSize: 28, fontWeight: 'bold', color: '#FA4F24', width: 48 }}&gt;{it.n}&lt;/Text&gt;&#10;                    &lt;Box style={{ width: 208 }}&gt;&#10;                        &lt;Text style={{ fontSize: 19, fontWeight: 'bold', color: '#0F1423' }}&gt;{it.t}&lt;/Text&gt;&#10;                    &lt;/Box&gt;&#10;                    &lt;Text style={{ fontSize: 15, color: '#3A4050', lineHeight: 1.4, flex: 1 }}&gt;{it.d}&lt;/Text&gt;&#10;                    &lt;Text style={{ fontSize: 13, color: '#C43A17', width: 64, textAlign: 'right' }}&gt;{it.tag}&lt;/Text&gt;&#10;                &lt;/Box&gt;&#10;            ))}&#10;        &lt;/Box&gt;&#10;&#10;        {/* 右 40% 两条 + 收口 */}&#10;        &lt;Box style={{ flex: 1, flexDirection: 'column', gap: 13 }}&gt;&#10;            {[&#10;                { n: '04', t: '动力学与治理', d: 'Action Type、Function、动态权限、写回与决策留痕', tag: 'P23–27' },&#10;                { n: '05', t: '应用、AI 与演进', d: '谁来消费、怎么集成、怎么随组织长大', tag: 'P28–30' },&#10;            ].map((it, i) =&gt; (&#10;                &lt;Box key={i} style={{ flex: 1, flexDirection: 'column', justifyContent: 'center', background: '#F7F7F8', borderRadius: 4, padding: '0 20px' }}&gt;&#10;                    &lt;Box style={{ flexDirection: 'row', alignItems: 'baseline', gap: 14 }}&gt;&#10;                        &lt;Text style={{ fontSize: 28, fontWeight: 'bold', color: '#FA4F24' }}&gt;{it.n}&lt;/Text&gt;&#10;                        &lt;Text style={{ fontSize: 19, fontWeight: 'bold', color: '#0F1423' }}&gt;{it.t}&lt;/Text&gt;&#10;                    &lt;/Box&gt;&#10;                    &lt;Text style={{ fontSize: 15, color: '#3A4050', lineHeight: 1.45, marginTop: 8 }}&gt;{it.d}&lt;/Text&gt;&#10;                    &lt;Text style={{ fontSize: 13, color: '#C43A17', marginTop: 6 }}&gt;{it.tag}&lt;/Text&gt;&#10;                &lt;/Box&gt;&#10;            ))}&#10;            &lt;Box style={{ flex: 1, background: 'linear-gradient(160deg, #FA4F24 0%, #F87D2F 100%)', borderRadius: 4, padding: '18px 20px', flexDirection: 'column', justifyContent: 'center' }}&gt;&#10;                &lt;Text style={{ fontSize: 17, fontWeight: 'bold', color: '#FFFFFF' }}&gt;全册一条主线&lt;/Text&gt;&#10;                &lt;Text style={{ fontSize: 15, color: 'rgba(255,255,255,0.92)', lineHeight: 1.5, marginTop: 8 }}&gt;&#10;                    四层架构解决「看得见」，Ontology 解决「动得了」——语义与动力学合一，决策才谈得上被执行&#10;                &lt;/Text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Ontology本体咨询方法论&lt;/Text&gt;&#10;        &lt;/Box&gt;&#10;        &lt;Text style={{ fontSize: 14, color: '#8A8F99' }}&gt;02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本册覆盖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五个部分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，把本体从概念拆到可交付的建模作业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总论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自身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4A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语义建模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动力学治理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应用与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，每部分均含「方法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模板」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57" name=""/>
          <p:cNvSpPr/>
          <p:nvPr/>
        </p:nvSpPr>
        <p:spPr>
          <a:xfrm rot="0" flipH="0" flipV="0">
            <a:off x="609600" y="1400175"/>
            <a:ext cx="6477000" cy="1314450"/>
          </a:xfrm>
          <a:prstGeom prst="roundRect">
            <a:avLst>
              <a:gd name="adj" fmla="val 2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409700" y="1952625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Ontology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总论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3543300" y="1819275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运行层定位、语义与动力学二元划分、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>Language/Engine/Toolchain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286500" y="1981200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P05–10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09600" y="2838450"/>
            <a:ext cx="6477000" cy="1304925"/>
          </a:xfrm>
          <a:prstGeom prst="roundRect">
            <a:avLst>
              <a:gd name="adj" fmla="val 292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00100" y="333375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1409700" y="3381375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Ontology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自身的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3543300" y="3248025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BA/DA/AA/TA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四层在本体里各自长什么样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6286500" y="341947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P11–17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609600" y="4267200"/>
            <a:ext cx="6477000" cy="1314450"/>
          </a:xfrm>
          <a:prstGeom prst="roundRect">
            <a:avLst>
              <a:gd name="adj" fmla="val 2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00100" y="476250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1409700" y="4819650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语义建模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3543300" y="4686300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Object Type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五问、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>Link Type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>Interface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>Object Set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286500" y="484822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P18–22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7277100" y="1400175"/>
            <a:ext cx="4305300" cy="121920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7467600" y="15811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7934325" y="1581150"/>
            <a:ext cx="10858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动力学与治理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7467600" y="1981200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>Action Type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>Function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、动态权限、写回与决策留痕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7467600" y="2295525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P23–27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7277100" y="2743200"/>
            <a:ext cx="4305300" cy="1228725"/>
          </a:xfrm>
          <a:prstGeom prst="roundRect">
            <a:avLst>
              <a:gd name="adj" fmla="val 31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467600" y="29241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7934325" y="2924175"/>
            <a:ext cx="13430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应用、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与演进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7467600" y="3324225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谁来消费、怎么集成、怎么随组织长大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7467600" y="3638550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P28–30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7277100" y="4095750"/>
            <a:ext cx="4305300" cy="1485900"/>
          </a:xfrm>
          <a:prstGeom prst="roundRect">
            <a:avLst>
              <a:gd name="adj" fmla="val 256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7467600" y="444817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全册一条主线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7467600" y="4724400"/>
            <a:ext cx="3924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四层架构解决「看得见」，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Ontology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解决「动得了」——语义与动力学合一，决策才谈得上被执行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02 / 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54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序论：四层架构都齐了，为什么还是&lt;span style={{ color: '#FA4F24' }}&gt;动不了&lt;/span&gt;&#10;        &lt;/Text&gt;&#10;        &lt;Text style={{ fontSize: 20, color: '#8A8F99', marginTop: 8 }}&gt;&#10;    AI 让「决策」第一次成了瓶颈 —— 从看得见，到动得了&#10;        &lt;/Text&gt;&#10;    &lt;/Box&gt;&#10; &lt;Box style={{ height: 1, background: '#E8E8E8' }} /&gt;&#10;&#10;    {/* B 区 */}&#10;    &lt;Box style={{ paddingTop: 22, paddingBottom: 12, height: 479, flexDirection: 'row', gap: 20 }}&gt;&#10;        {/* 左：AI 撞墙三处 */}&#10;        &lt;Box style={{ width: 560, flexDirection: 'column', gap: 9 }}&gt;&#10;            &lt;Text style={{ fontSize: 20, fontWeight: 'bold', color: '#0F1423' }}&gt;AI 落地时反复撞到的三处墙&lt;/Text&gt;&#10;            {[&#10;    { n: '墙一', t: '语义墙', d: '模型能写 SQL，却不知道「客户」「订单」「在途」在贵司口径里指什么', c: '#0F1423' },&#10;            { n: '墙二', t: '行动墙', d: 'AI 能给建议，但没有任何被授权、可审计的方式去改变真实系统', c: '#2A2F3D' },&#10;    { n: '墙三', t: '权限墙', d: '同一个模型，换个人问就得到不同答案，安全评审不敢放行', c: '#5A6072' },&#10;      ].map((it, i) =&gt; (&#10;          &lt;Box key={i} style={{ flex: 1, background: it.c, borderRadius: 4, flexDirection: 'row', alignItems: 'center', padding: '0 18px', gap: 14 }}&gt;&#10;     &lt;Text style={{ fontSize: 15, fontWeight: 'bold', color: '#FBA15C', width: 44 }}&gt;{it.n}&lt;/Text&gt;&#10;  &lt;Text style={{ fontSize: 16, fontWeight: 'bold', color: '#FFFFFF', width: 76 }}&gt;{it.t}&lt;/Text&gt;&#10;            &lt;Text style={{ fontSize: 13, color: 'rgba(255,255,255,0.88)', flex: 1, lineHeight: 1.45 }}&gt;{it.d}&lt;/Text&gt;&#10;    &lt;/Box&gt;&#10;          ))}&#10;            &lt;Box style={{ height: 74, background: '#F7F7F8', borderRadius: 4, padding: '0 18px', flexDirection: 'column', justifyContent: 'center', borderLeft: '4px solid #FA4F24' }}&gt;&#10;     &lt;Text style={{ fontSize: 13, fontWeight: 'bold', color: '#C43A17' }}&gt;★ 本体要解的题&lt;/Text&gt;&#10;                &lt;Text style={{ fontSize: 13, color: '#3A4050', flex: 1, lineHeight: 1.45, marginTop: 4 }}&gt;&#10;   把「是什么」「能做什么」「谁可以做什么」定义在同一层，让 AI 只能在被授权的语义范围内行动。&#10;       &lt;/Text&gt;&#10;            &lt;/Box&gt;&#10;      &lt;/Box&gt;&#10;&#10;{/* 右：定位 + 沿革 */}&#10;&lt;Box style={{ flex: 1, flexDirection: 'column', gap: 9 }}&gt;&#10;            &lt;Text style={{ fontSize: 20, fontWeight: 'bold', color: '#0F1423' }}&gt;定位：它在 4A 里的位置&lt;/Text&gt;&#10;      &lt;Box style={{ height: 168, background: '#FFF3EE', borderRadius: 4, padding: '14px 18px', flexDirection: 'column', justifyContent: 'center' }}&gt;&#10;    {[&#10;   { l: 'BA', t: '决策与价值流 —— 本体回答「组织要做什么决定」' },&#10;     { l: 'DA', t: '对象与链接 —— 本体把数据资产变成业务对象' },&#10;          { l: 'AA', t: '本体平台本身就是一个应用，承载决策界面' },&#10;        { l: 'TA', t: '对象存储 / 索引 / 运行时 —— 本体必须跑得动' },&#10;   ].map((it, i) =&gt; (&#10;     &lt;Box key={i} style={{ flexDirection: 'row', alignItems: 'flex-start', marginTop: i === 0 ? 0 : 9 }}&gt;&#10;       &lt;Text style={{ fontSize: 14, fontWeight: 'bold', color: '#FA4F24', width: 30 }}&gt;{it.l}&lt;/Text&gt;&#10;   &lt;Text style={{ fontSize: 13, color: '#3A2000', flex: 1, lineHeight: 1.4 }}&gt;{it.t}&lt;/Text&gt;&#10;        &lt;/Box&gt;&#10; ))}&#10;            &lt;/Box&gt;&#10;            &lt;Text style={{ fontSize: 20, fontWeight: 'bold', color: '#0F1423', marginTop: 6 }}&gt;三段式方法在这一册的样子&lt;/Text&gt;&#10;  {[&#10;   { t: '方法', d: 'Approach 七阶段作业路径（第 04 页）' },&#10;      { t: '内容', d: '对象 · 链接 · 行动 · 权限四条主线' },&#10;    { t: '模板', d: '成熟度诊断、评审清单、权限矩阵' },&#10;      ].map((it, i) =&gt; (&#10;    &lt;Box key={i} style={{ flex: 1, flexDirection: 'column', justifyContent: 'center', background: '#F7F7F8', borderRadius: 4, padding: '0 16px', borderLeft: '4px solid #F87D2F' }}&gt;&#10;          &lt;Box style={{ flexDirection: 'row', alignItems: 'baseline', gap: 12 }}&gt;&#10;            &lt;Text style={{ fontSize: 15, fontWeight: 'bold', color: '#C43A17', width: 40 }}&gt;{it.t}&lt;/Text&gt;&#10;    &lt;Text style={{ fontSize: 14, color: '#3A4050', flex: 1, lineHeight: 1.4 }}&gt;{it.d}&lt;/Text&gt;&#10;    &lt;/Box&gt;&#10;       &lt;/Box&gt;&#10;      ))}&#10;      &lt;/Box&gt;&#10; &lt;/Box&gt;&#10;&#10;    {/* C 区 */}&#10;    &lt;Box style={{ height: 58, flexDirection: 'row', alignItems: 'center', borderTop: '1px solid #E8E8E8' }}&gt;&#10;      &lt;Box style={{ width: 10, height: 10, background: '#FA4F24' }} /&gt;&#10;      &lt;Text style={{ fontSize: 13, color: '#8A8F99', marginLeft: 12 }}&gt;硕磐机密 · Ontology本体咨询方法论&lt;/Text&gt;&#10;        &lt;Text style={{ fontSize: 13, color: '#8A8F99', marginLeft: 'auto' }}&gt;03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序论：四层架构都齐了，为什么还是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动不了</a:t>
            </a:r>
            <a:endParaRPr/>
          </a:p>
        </p:txBody>
      </p:sp>
      <p:sp>
        <p:nvSpPr>
          <p:cNvPr id="125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让「决策」第一次成了瓶颈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从看得见，到动得了</a:t>
            </a:r>
            <a:endParaRPr/>
          </a:p>
        </p:txBody>
      </p:sp>
      <p:sp>
        <p:nvSpPr>
          <p:cNvPr id="125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33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落地时反复撞到的三处墙</a:t>
            </a:r>
            <a:endParaRPr/>
          </a:p>
        </p:txBody>
      </p:sp>
      <p:sp>
        <p:nvSpPr>
          <p:cNvPr id="1260" name=""/>
          <p:cNvSpPr/>
          <p:nvPr/>
        </p:nvSpPr>
        <p:spPr>
          <a:xfrm rot="0" flipH="0" flipV="0">
            <a:off x="609600" y="1676400"/>
            <a:ext cx="5334000" cy="1133475"/>
          </a:xfrm>
          <a:prstGeom prst="roundRect">
            <a:avLst>
              <a:gd name="adj" fmla="val 33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781050" y="21621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墙一</a:t>
            </a:r>
            <a:endParaRPr/>
          </a:p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1333500" y="2152650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语义墙</a:t>
            </a:r>
            <a:endParaRPr/>
          </a:p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2190750" y="2028825"/>
            <a:ext cx="35814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模型能写</a:t>
            </a: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 SQL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，却不知道「客户」「订单」「在途」在贵司口径里指什么</a:t>
            </a:r>
            <a:endParaRPr/>
          </a:p>
        </p:txBody>
      </p:sp>
      <p:sp>
        <p:nvSpPr>
          <p:cNvPr id="1264" name=""/>
          <p:cNvSpPr/>
          <p:nvPr/>
        </p:nvSpPr>
        <p:spPr>
          <a:xfrm rot="0" flipH="0" flipV="0">
            <a:off x="609600" y="2895600"/>
            <a:ext cx="5334000" cy="914400"/>
          </a:xfrm>
          <a:prstGeom prst="roundRect">
            <a:avLst>
              <a:gd name="adj" fmla="val 4167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1265" name="" descr="{&quot;isTemplate&quot;:true,&quot;type&quot;:&quot;text&quot;}"/>
          <p:cNvSpPr txBox="1"/>
          <p:nvPr/>
        </p:nvSpPr>
        <p:spPr>
          <a:xfrm rot="0" flipH="0" flipV="0">
            <a:off x="781050" y="32670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墙二</a:t>
            </a:r>
            <a:endParaRPr/>
          </a:p>
        </p:txBody>
      </p:sp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1333500" y="3257550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行动墙</a:t>
            </a:r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2190750" y="3248025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能给建议，但没有任何被授权、可审计的方式去改变真实系统</a:t>
            </a:r>
            <a:endParaRPr/>
          </a:p>
        </p:txBody>
      </p:sp>
      <p:sp>
        <p:nvSpPr>
          <p:cNvPr id="1268" name=""/>
          <p:cNvSpPr/>
          <p:nvPr/>
        </p:nvSpPr>
        <p:spPr>
          <a:xfrm rot="0" flipH="0" flipV="0">
            <a:off x="609600" y="3895725"/>
            <a:ext cx="5334000" cy="914400"/>
          </a:xfrm>
          <a:prstGeom prst="roundRect">
            <a:avLst>
              <a:gd name="adj" fmla="val 4167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269" name="" descr="{&quot;isTemplate&quot;:true,&quot;type&quot;:&quot;text&quot;}"/>
          <p:cNvSpPr txBox="1"/>
          <p:nvPr/>
        </p:nvSpPr>
        <p:spPr>
          <a:xfrm rot="0" flipH="0" flipV="0">
            <a:off x="781050" y="426720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墙三</a:t>
            </a:r>
            <a:endParaRPr/>
          </a:p>
        </p:txBody>
      </p:sp>
      <p:sp>
        <p:nvSpPr>
          <p:cNvPr id="1270" name="" descr="{&quot;isTemplate&quot;:true,&quot;type&quot;:&quot;text&quot;}"/>
          <p:cNvSpPr txBox="1"/>
          <p:nvPr/>
        </p:nvSpPr>
        <p:spPr>
          <a:xfrm rot="0" flipH="0" flipV="0">
            <a:off x="1333500" y="4257675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权限墙</a:t>
            </a:r>
            <a:endParaRPr/>
          </a:p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2190750" y="4248150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同一个模型，换个人问就得到不同答案，安全评审不敢放行</a:t>
            </a:r>
            <a:endParaRPr/>
          </a:p>
        </p:txBody>
      </p:sp>
      <p:sp>
        <p:nvSpPr>
          <p:cNvPr id="1272" name=""/>
          <p:cNvSpPr/>
          <p:nvPr/>
        </p:nvSpPr>
        <p:spPr>
          <a:xfrm rot="0" flipH="0" flipV="0">
            <a:off x="647700" y="4895850"/>
            <a:ext cx="5334000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3" name=""/>
          <p:cNvSpPr/>
          <p:nvPr/>
        </p:nvSpPr>
        <p:spPr>
          <a:xfrm rot="0" flipH="0" flipV="0">
            <a:off x="647700" y="4895850"/>
            <a:ext cx="5334000" cy="704850"/>
          </a:xfrm>
          <a:custGeom>
            <a:pathLst>
              <a:path w="560" h="74">
                <a:moveTo>
                  <a:pt x="4" y="74"/>
                </a:moveTo>
                <a:cubicBezTo>
                  <a:pt x="2" y="74"/>
                  <a:pt x="0" y="72"/>
                  <a:pt x="0" y="7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74" name="" descr="{&quot;isTemplate&quot;:true,&quot;type&quot;:&quot;text&quot;}"/>
          <p:cNvSpPr txBox="1"/>
          <p:nvPr/>
        </p:nvSpPr>
        <p:spPr>
          <a:xfrm rot="0" flipH="0" flipV="0">
            <a:off x="819150" y="4895850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本体要解的题</a:t>
            </a:r>
            <a:endParaRPr/>
          </a:p>
        </p:txBody>
      </p:sp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819150" y="5086350"/>
            <a:ext cx="4953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把「是什么」「能做什么」「谁可以做什么」定义在同一层，让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只能在被授权的语义范围内行动。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6134100" y="136207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定位：它在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里的位置</a:t>
            </a:r>
            <a:endParaRPr/>
          </a:p>
        </p:txBody>
      </p:sp>
      <p:sp>
        <p:nvSpPr>
          <p:cNvPr id="1277" name=""/>
          <p:cNvSpPr/>
          <p:nvPr/>
        </p:nvSpPr>
        <p:spPr>
          <a:xfrm rot="0" flipH="0" flipV="0">
            <a:off x="6134100" y="1676400"/>
            <a:ext cx="5448300" cy="1600200"/>
          </a:xfrm>
          <a:prstGeom prst="roundRect">
            <a:avLst>
              <a:gd name="adj" fmla="val 238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78" name="" descr="{&quot;isTemplate&quot;:true,&quot;type&quot;:&quot;text&quot;}"/>
          <p:cNvSpPr txBox="1"/>
          <p:nvPr/>
        </p:nvSpPr>
        <p:spPr>
          <a:xfrm rot="0" flipH="0" flipV="0">
            <a:off x="6305550" y="19335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6591300" y="1933575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决策与价值流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本体回答「组织要做什么决定」</a:t>
            </a:r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6305550" y="22288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281" name="" descr="{&quot;isTemplate&quot;:true,&quot;type&quot;:&quot;text&quot;}"/>
          <p:cNvSpPr txBox="1"/>
          <p:nvPr/>
        </p:nvSpPr>
        <p:spPr>
          <a:xfrm rot="0" flipH="0" flipV="0">
            <a:off x="6591300" y="222885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对象与链接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本体把数据资产变成业务对象</a:t>
            </a:r>
            <a:endParaRPr/>
          </a:p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6305550" y="25241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6591300" y="2524125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本体平台本身就是一个应用，承载决策界面</a:t>
            </a:r>
            <a:endParaRPr/>
          </a:p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6305550" y="28194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6591300" y="28194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对象存储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索引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运行时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本体必须跑得动</a:t>
            </a:r>
            <a:endParaRPr/>
          </a:p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6134100" y="341947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三段式方法在这一册的样子</a:t>
            </a:r>
            <a:endParaRPr/>
          </a:p>
        </p:txBody>
      </p:sp>
      <p:sp>
        <p:nvSpPr>
          <p:cNvPr id="1287" name=""/>
          <p:cNvSpPr/>
          <p:nvPr/>
        </p:nvSpPr>
        <p:spPr>
          <a:xfrm rot="0" flipH="0" flipV="0">
            <a:off x="6172200" y="3733800"/>
            <a:ext cx="5448300" cy="561975"/>
          </a:xfrm>
          <a:prstGeom prst="roundRect">
            <a:avLst>
              <a:gd name="adj" fmla="val 678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88" name=""/>
          <p:cNvSpPr/>
          <p:nvPr/>
        </p:nvSpPr>
        <p:spPr>
          <a:xfrm rot="0" flipH="0" flipV="0">
            <a:off x="6172200" y="3733800"/>
            <a:ext cx="5448300" cy="561975"/>
          </a:xfrm>
          <a:custGeom>
            <a:pathLst>
              <a:path w="572" h="59">
                <a:moveTo>
                  <a:pt x="4" y="59"/>
                </a:moveTo>
                <a:cubicBezTo>
                  <a:pt x="2" y="59"/>
                  <a:pt x="0" y="57"/>
                  <a:pt x="0" y="5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9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6324600" y="39052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6819900" y="3905250"/>
            <a:ext cx="46101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Approach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七阶段作业路径（第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04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页）</a:t>
            </a:r>
            <a:endParaRPr/>
          </a:p>
        </p:txBody>
      </p:sp>
      <p:sp>
        <p:nvSpPr>
          <p:cNvPr id="1291" name=""/>
          <p:cNvSpPr/>
          <p:nvPr/>
        </p:nvSpPr>
        <p:spPr>
          <a:xfrm rot="0" flipH="0" flipV="0">
            <a:off x="6172200" y="4381500"/>
            <a:ext cx="5448300" cy="571500"/>
          </a:xfrm>
          <a:prstGeom prst="roundRect">
            <a:avLst>
              <a:gd name="adj" fmla="val 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2" name=""/>
          <p:cNvSpPr/>
          <p:nvPr/>
        </p:nvSpPr>
        <p:spPr>
          <a:xfrm rot="0" flipH="0" flipV="0">
            <a:off x="6172200" y="4381500"/>
            <a:ext cx="5448300" cy="571500"/>
          </a:xfrm>
          <a:custGeom>
            <a:pathLst>
              <a:path w="572" h="60">
                <a:moveTo>
                  <a:pt x="4" y="60"/>
                </a:moveTo>
                <a:cubicBezTo>
                  <a:pt x="2" y="60"/>
                  <a:pt x="0" y="58"/>
                  <a:pt x="0" y="5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6324600" y="45529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内容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6819900" y="4552950"/>
            <a:ext cx="46101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对象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链接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行动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权限四条主线</a:t>
            </a:r>
            <a:endParaRPr/>
          </a:p>
        </p:txBody>
      </p:sp>
      <p:sp>
        <p:nvSpPr>
          <p:cNvPr id="1295" name=""/>
          <p:cNvSpPr/>
          <p:nvPr/>
        </p:nvSpPr>
        <p:spPr>
          <a:xfrm rot="0" flipH="0" flipV="0">
            <a:off x="6172200" y="5038725"/>
            <a:ext cx="5448300" cy="561975"/>
          </a:xfrm>
          <a:prstGeom prst="roundRect">
            <a:avLst>
              <a:gd name="adj" fmla="val 678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6" name=""/>
          <p:cNvSpPr/>
          <p:nvPr/>
        </p:nvSpPr>
        <p:spPr>
          <a:xfrm rot="0" flipH="0" flipV="0">
            <a:off x="6172200" y="5038725"/>
            <a:ext cx="5448300" cy="561975"/>
          </a:xfrm>
          <a:custGeom>
            <a:pathLst>
              <a:path w="572" h="59">
                <a:moveTo>
                  <a:pt x="4" y="59"/>
                </a:moveTo>
                <a:cubicBezTo>
                  <a:pt x="2" y="59"/>
                  <a:pt x="0" y="57"/>
                  <a:pt x="0" y="5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9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6324600" y="52101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6819900" y="5210175"/>
            <a:ext cx="46101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成熟度诊断、评审清单、权限矩阵</a:t>
            </a:r>
            <a:endParaRPr/>
          </a:p>
        </p:txBody>
      </p:sp>
      <p:sp>
        <p:nvSpPr>
          <p:cNvPr id="129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0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0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03 / 30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67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之方法：&lt;span style={{ color: '#FA4F24' }}&gt;Ontology Approach 七阶段&lt;/span&gt;，先做什么后做什么，每步产出什么&#10;        &lt;/Text&gt;&#10;   &lt;Text style={{ fontSize: 20, color: '#8A8F99', marginTop: 8 }}&gt;&#10;     每一阶段都有明确的交付物与退出条件，不允许「边建边想」&#10;        &lt;/Text&gt;&#10;    &lt;/Box&gt;&#10;    &lt;Box style={{ height: 1, background: '#E8E8E8' }} /&gt;&#10;&#10;    {/* B 区 */}&#10;    &lt;Box style={{ paddingTop: 20, paddingBottom: 12, height: 479, flexDirection: 'column', gap: 10 }}&gt;&#10;        {/* 七阶段表格头 */}&#10;        &lt;Box style={{ flexDirection: 'row', gap: 6 }}&gt;&#10;            {['阶段', '做什么', '产出物', '退出条件'].map((h, i) =&gt; (&#10;    &lt;Box key={i} style={{ flex: i === 1 ? 2.1 : i === 2 ? 2.3 : 1.5, background: '#0F1423', padding: '9px 12px' }}&gt;&#10;    &lt;Text style={{ fontSize: 14, fontWeight: 'bold', color: '#FFFFFF', letterSpacing: 1 }}&gt;{h}&lt;/Text&gt;&#10;                &lt;/Box&gt;&#10;          ))}&#10;     &lt;/Box&gt;&#10;        {/* 七行 */}&#10;        {[&#10;  { n: 'S1', a: '场景与决策定义', b: '找出真正需要人做决定的场景', c: '场景清单 + 决策卡', d: '每个场景能说出决策人与时限' },&#10;    { n: 'S2', a: '数据探查与可用性', b: '对每个决策逐字段验证可得性', c: '数据可用性报告 + 缺口清单', d: '关键字段 80% 以上有明确来源' },&#10;            { n: 'S3', a: 'Object / Link 建模', b: '把业务语言翻译成对象与链接', c: '对象模型画布 + 链接矩阵', d: '业务方能无歧义复述每个对象' },&#10;         { n: 'S4', a: 'Action / Function', b: '定义可写入的动作与校验规则', c: '动作清单 + 权限矩阵', d: '每个动作都有责任人与回滚方案' },&#10;        { n: 'S5', a: '应用与 AI 消费', b: '做界面并把 AI 接到本体上', c: '应用原型 + 场景验证记录', d: 'AI 只能调本体暴露的动作' },&#10;            { n: 'S6', a: '运营闭环与写回', b: '打通回写与决策留痕', c: '写回链路 + 审计日志抽样', d: '写回成功率与回滚可验证' },&#10;      { n: 'S7', a: '演进与治理', b: '定版本规则与变更评审', c: '本体版本规范 + 评审机制', d: '改一个属性影响哪些应用可查' },&#10;        ].map((it, i) =&gt; (&#10;       &lt;Box key={i} style={{ flex: 1, flexDirection: 'row', gap: 6 }}&gt;&#10;      &lt;Box style={{ flex: 1.5, background: i % 2 === 0 ? '#F7F7F8' : '#FFF3EE', padding: '8px 12px', flexDirection: 'row', alignItems: 'center', gap: 8 }}&gt;&#10;  &lt;Text style={{ fontSize: 14, fontWeight: 'bold', color: '#FA4F24', width: 26 }}&gt;{it.n}&lt;/Text&gt;&#10;    &lt;Text style={{ fontSize: 14, color: '#0F1423', fontWeight: 'bold' }}&gt;{it.a}&lt;/Text&gt;&#10;   &lt;/Box&gt;&#10;      &lt;Box style={{ flex: 2.1, background: i % 2 === 0 ? '#F7F7F8' : '#FFF3EE', padding: '8px 12px', justifyContent: 'center' }}&gt;&#10;  &lt;Text style={{ fontSize: 13, color: '#3A4050', lineHeight: 1.35 }}&gt;{it.b}&lt;/Text&gt;&#10;        &lt;/Box&gt;&#10;         &lt;Box style={{ flex: 2.3, background: i % 2 === 0 ? '#F7F7F8' : '#FFF3EE', padding: '8px 12px', justifyContent: 'center' }}&gt;&#10;     &lt;Text style={{ fontSize: 13, color: '#C43A17', lineHeight: 1.35 }}&gt;{it.c}&lt;/Text&gt;&#10;        &lt;/Box&gt;&#10;         &lt;Box style={{ flex: 1.5, background: i % 2 === 0 ? '#F7F7F8' : '#FFF3EE', padding: '8px 12px', justifyContent: 'center' }}&gt;&#10;    &lt;Text style={{ fontSize: 13, color: '#3A4050', lineHeight: 1.35 }}&gt;{it.d}&lt;/Text&gt;&#10;     &lt;/Box&gt;&#10;        &lt;/Box&gt;&#10;      ))}&#10;   {/* 三条硬规则 */}&#10;    &lt;Box style={{ height: 52, background: 'linear-gradient(90deg, #FA4F24 0%, #F87D2F 100%)', borderRadius: 4, flexDirection: 'row', alignItems: 'center', padding: '0 18px', gap: 18 }}&gt;&#10;    &lt;Text style={{ fontSize: 14, fontWeight: 'bold', color: '#FFFFFF', letterSpacing: 1 }}&gt;三条硬规则&lt;/Text&gt;&#10;      {['先决策后对象 —— 没有决策场景就不建对象', '先单域后跨域 —— 跨域链接等单域跑通再连', '先读后写 —— 读路径验证三个月再开放写入'].map((t, i) =&gt; (&#10;     &lt;Box key={i} style={{ flexDirection: 'row', alignItems: 'center', gap: 7 }}&gt;&#10;            &lt;Box style={{ width: 5, height: 5, background: '#FFFFFF', borderRadius: 3 }} /&gt;&#10;    &lt;Text style={{ fontSize: 13, color: 'rgba(255,255,255,0.95)' }}&gt;{t}&lt;/Text&gt;&#10; &lt;/Box&gt;&#10;    ))}&#10;      &lt;/Box&gt;&#10;    &lt;/Box&gt;&#10;&#10;    {/* C 区 */}&#10;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Ontology本体咨询方法论&lt;/Text&gt;&#10;     &lt;Text style={{ fontSize: 13, color: '#8A8F99', marginLeft: 'auto' }}&gt;04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Ontology Approach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七阶段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，先做什么后做什么，每步产出什么</a:t>
            </a:r>
            <a:endParaRPr/>
          </a:p>
        </p:txBody>
      </p:sp>
      <p:sp>
        <p:nvSpPr>
          <p:cNvPr id="137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每一阶段都有明确的交付物与退出条件，不允许「边建边想」</a:t>
            </a:r>
            <a:endParaRPr/>
          </a:p>
        </p:txBody>
      </p:sp>
      <p:sp>
        <p:nvSpPr>
          <p:cNvPr id="137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72" name=""/>
          <p:cNvSpPr/>
          <p:nvPr/>
        </p:nvSpPr>
        <p:spPr>
          <a:xfrm rot="0" flipH="0" flipV="0">
            <a:off x="609600" y="1343025"/>
            <a:ext cx="2190750" cy="3333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723900" y="1428750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  <a:endParaRPr/>
          </a:p>
        </p:txBody>
      </p:sp>
      <p:sp>
        <p:nvSpPr>
          <p:cNvPr id="1374" name=""/>
          <p:cNvSpPr/>
          <p:nvPr/>
        </p:nvSpPr>
        <p:spPr>
          <a:xfrm rot="0" flipH="0" flipV="0">
            <a:off x="2857500" y="1343025"/>
            <a:ext cx="3067050" cy="3333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75" name="" descr="{&quot;isTemplate&quot;:true,&quot;type&quot;:&quot;text&quot;}"/>
          <p:cNvSpPr txBox="1"/>
          <p:nvPr/>
        </p:nvSpPr>
        <p:spPr>
          <a:xfrm rot="0" flipH="0" flipV="0">
            <a:off x="2971800" y="1428750"/>
            <a:ext cx="2838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做什么</a:t>
            </a:r>
            <a:endParaRPr/>
          </a:p>
        </p:txBody>
      </p:sp>
      <p:sp>
        <p:nvSpPr>
          <p:cNvPr id="1376" name=""/>
          <p:cNvSpPr/>
          <p:nvPr/>
        </p:nvSpPr>
        <p:spPr>
          <a:xfrm rot="0" flipH="0" flipV="0">
            <a:off x="5981700" y="1343025"/>
            <a:ext cx="3352800" cy="3333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77" name="" descr="{&quot;isTemplate&quot;:true,&quot;type&quot;:&quot;text&quot;}"/>
          <p:cNvSpPr txBox="1"/>
          <p:nvPr/>
        </p:nvSpPr>
        <p:spPr>
          <a:xfrm rot="0" flipH="0" flipV="0">
            <a:off x="6096000" y="1428750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378" name=""/>
          <p:cNvSpPr/>
          <p:nvPr/>
        </p:nvSpPr>
        <p:spPr>
          <a:xfrm rot="0" flipH="0" flipV="0">
            <a:off x="9391650" y="1343025"/>
            <a:ext cx="2190750" cy="3333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9505950" y="1428750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退出条件</a:t>
            </a:r>
            <a:endParaRPr/>
          </a:p>
        </p:txBody>
      </p:sp>
      <p:sp>
        <p:nvSpPr>
          <p:cNvPr id="1380" name=""/>
          <p:cNvSpPr/>
          <p:nvPr/>
        </p:nvSpPr>
        <p:spPr>
          <a:xfrm rot="0" flipH="0" flipV="0">
            <a:off x="609600" y="1771650"/>
            <a:ext cx="21907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723900" y="188595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S1</a:t>
            </a:r>
            <a:endParaRPr/>
          </a:p>
        </p:txBody>
      </p:sp>
      <p:sp>
        <p:nvSpPr>
          <p:cNvPr id="1382" name="" descr="{&quot;isTemplate&quot;:true,&quot;type&quot;:&quot;text&quot;}"/>
          <p:cNvSpPr txBox="1"/>
          <p:nvPr/>
        </p:nvSpPr>
        <p:spPr>
          <a:xfrm rot="0" flipH="0" flipV="0">
            <a:off x="1047750" y="18859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场景与决策定义</a:t>
            </a:r>
            <a:endParaRPr/>
          </a:p>
        </p:txBody>
      </p:sp>
      <p:sp>
        <p:nvSpPr>
          <p:cNvPr id="1383" name=""/>
          <p:cNvSpPr/>
          <p:nvPr/>
        </p:nvSpPr>
        <p:spPr>
          <a:xfrm rot="0" flipH="0" flipV="0">
            <a:off x="2857500" y="1771650"/>
            <a:ext cx="30670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2971800" y="185737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找出真正需要人做决定的场景</a:t>
            </a:r>
            <a:endParaRPr/>
          </a:p>
        </p:txBody>
      </p:sp>
      <p:sp>
        <p:nvSpPr>
          <p:cNvPr id="1385" name=""/>
          <p:cNvSpPr/>
          <p:nvPr/>
        </p:nvSpPr>
        <p:spPr>
          <a:xfrm rot="0" flipH="0" flipV="0">
            <a:off x="5981700" y="1771650"/>
            <a:ext cx="335280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6096000" y="185737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场景清单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决策卡</a:t>
            </a:r>
            <a:endParaRPr/>
          </a:p>
        </p:txBody>
      </p:sp>
      <p:sp>
        <p:nvSpPr>
          <p:cNvPr id="1387" name=""/>
          <p:cNvSpPr/>
          <p:nvPr/>
        </p:nvSpPr>
        <p:spPr>
          <a:xfrm rot="0" flipH="0" flipV="0">
            <a:off x="9391650" y="1771650"/>
            <a:ext cx="21907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8" name="" descr="{&quot;isTemplate&quot;:true,&quot;type&quot;:&quot;text&quot;}"/>
          <p:cNvSpPr txBox="1"/>
          <p:nvPr/>
        </p:nvSpPr>
        <p:spPr>
          <a:xfrm rot="0" flipH="0" flipV="0">
            <a:off x="9505950" y="185737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每个场景能说出决策人与时限</a:t>
            </a:r>
            <a:endParaRPr/>
          </a:p>
        </p:txBody>
      </p:sp>
      <p:sp>
        <p:nvSpPr>
          <p:cNvPr id="1389" name=""/>
          <p:cNvSpPr/>
          <p:nvPr/>
        </p:nvSpPr>
        <p:spPr>
          <a:xfrm rot="0" flipH="0" flipV="0">
            <a:off x="609600" y="2247900"/>
            <a:ext cx="21907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723900" y="23622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S2</a:t>
            </a:r>
            <a:endParaRPr/>
          </a:p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1047750" y="23622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数据探查与可用性</a:t>
            </a:r>
            <a:endParaRPr/>
          </a:p>
        </p:txBody>
      </p:sp>
      <p:sp>
        <p:nvSpPr>
          <p:cNvPr id="1392" name=""/>
          <p:cNvSpPr/>
          <p:nvPr/>
        </p:nvSpPr>
        <p:spPr>
          <a:xfrm rot="0" flipH="0" flipV="0">
            <a:off x="2857500" y="2247900"/>
            <a:ext cx="30670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2971800" y="233362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对每个决策逐字段验证可得性</a:t>
            </a:r>
            <a:endParaRPr/>
          </a:p>
        </p:txBody>
      </p:sp>
      <p:sp>
        <p:nvSpPr>
          <p:cNvPr id="1394" name=""/>
          <p:cNvSpPr/>
          <p:nvPr/>
        </p:nvSpPr>
        <p:spPr>
          <a:xfrm rot="0" flipH="0" flipV="0">
            <a:off x="5981700" y="2247900"/>
            <a:ext cx="335280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6096000" y="233362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数据可用性报告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缺口清单</a:t>
            </a:r>
            <a:endParaRPr/>
          </a:p>
        </p:txBody>
      </p:sp>
      <p:sp>
        <p:nvSpPr>
          <p:cNvPr id="1396" name=""/>
          <p:cNvSpPr/>
          <p:nvPr/>
        </p:nvSpPr>
        <p:spPr>
          <a:xfrm rot="0" flipH="0" flipV="0">
            <a:off x="9391650" y="2247900"/>
            <a:ext cx="21907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9505950" y="233362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关键字段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80%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以上有明确来源</a:t>
            </a:r>
            <a:endParaRPr/>
          </a:p>
        </p:txBody>
      </p:sp>
      <p:sp>
        <p:nvSpPr>
          <p:cNvPr id="1398" name=""/>
          <p:cNvSpPr/>
          <p:nvPr/>
        </p:nvSpPr>
        <p:spPr>
          <a:xfrm rot="0" flipH="0" flipV="0">
            <a:off x="609600" y="2724150"/>
            <a:ext cx="21907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99" name="" descr="{&quot;isTemplate&quot;:true,&quot;type&quot;:&quot;text&quot;}"/>
          <p:cNvSpPr txBox="1"/>
          <p:nvPr/>
        </p:nvSpPr>
        <p:spPr>
          <a:xfrm rot="0" flipH="0" flipV="0">
            <a:off x="723900" y="283845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S3</a:t>
            </a:r>
            <a:endParaRPr/>
          </a:p>
        </p:txBody>
      </p:sp>
      <p:sp>
        <p:nvSpPr>
          <p:cNvPr id="1400" name="" descr="{&quot;isTemplate&quot;:true,&quot;type&quot;:&quot;text&quot;}"/>
          <p:cNvSpPr txBox="1"/>
          <p:nvPr/>
        </p:nvSpPr>
        <p:spPr>
          <a:xfrm rot="0" flipH="0" flipV="0">
            <a:off x="1047750" y="283845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Object / Link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建模</a:t>
            </a:r>
            <a:endParaRPr/>
          </a:p>
        </p:txBody>
      </p:sp>
      <p:sp>
        <p:nvSpPr>
          <p:cNvPr id="1401" name=""/>
          <p:cNvSpPr/>
          <p:nvPr/>
        </p:nvSpPr>
        <p:spPr>
          <a:xfrm rot="0" flipH="0" flipV="0">
            <a:off x="2857500" y="2724150"/>
            <a:ext cx="30670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02" name="" descr="{&quot;isTemplate&quot;:true,&quot;type&quot;:&quot;text&quot;}"/>
          <p:cNvSpPr txBox="1"/>
          <p:nvPr/>
        </p:nvSpPr>
        <p:spPr>
          <a:xfrm rot="0" flipH="0" flipV="0">
            <a:off x="2971800" y="280987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把业务语言翻译成对象与链接</a:t>
            </a:r>
            <a:endParaRPr/>
          </a:p>
        </p:txBody>
      </p:sp>
      <p:sp>
        <p:nvSpPr>
          <p:cNvPr id="1403" name=""/>
          <p:cNvSpPr/>
          <p:nvPr/>
        </p:nvSpPr>
        <p:spPr>
          <a:xfrm rot="0" flipH="0" flipV="0">
            <a:off x="5981700" y="2724150"/>
            <a:ext cx="335280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04" name="" descr="{&quot;isTemplate&quot;:true,&quot;type&quot;:&quot;text&quot;}"/>
          <p:cNvSpPr txBox="1"/>
          <p:nvPr/>
        </p:nvSpPr>
        <p:spPr>
          <a:xfrm rot="0" flipH="0" flipV="0">
            <a:off x="6096000" y="280987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对象模型画布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链接矩阵</a:t>
            </a:r>
            <a:endParaRPr/>
          </a:p>
        </p:txBody>
      </p:sp>
      <p:sp>
        <p:nvSpPr>
          <p:cNvPr id="1405" name=""/>
          <p:cNvSpPr/>
          <p:nvPr/>
        </p:nvSpPr>
        <p:spPr>
          <a:xfrm rot="0" flipH="0" flipV="0">
            <a:off x="9391650" y="2724150"/>
            <a:ext cx="21907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06" name="" descr="{&quot;isTemplate&quot;:true,&quot;type&quot;:&quot;text&quot;}"/>
          <p:cNvSpPr txBox="1"/>
          <p:nvPr/>
        </p:nvSpPr>
        <p:spPr>
          <a:xfrm rot="0" flipH="0" flipV="0">
            <a:off x="9505950" y="280987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业务方能无歧义复述每个对象</a:t>
            </a:r>
            <a:endParaRPr/>
          </a:p>
        </p:txBody>
      </p:sp>
      <p:sp>
        <p:nvSpPr>
          <p:cNvPr id="1407" name=""/>
          <p:cNvSpPr/>
          <p:nvPr/>
        </p:nvSpPr>
        <p:spPr>
          <a:xfrm rot="0" flipH="0" flipV="0">
            <a:off x="609600" y="3200400"/>
            <a:ext cx="21907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08" name="" descr="{&quot;isTemplate&quot;:true,&quot;type&quot;:&quot;text&quot;}"/>
          <p:cNvSpPr txBox="1"/>
          <p:nvPr/>
        </p:nvSpPr>
        <p:spPr>
          <a:xfrm rot="0" flipH="0" flipV="0">
            <a:off x="723900" y="33147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S4</a:t>
            </a:r>
            <a:endParaRPr/>
          </a:p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1047750" y="33147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Action / Function</a:t>
            </a:r>
            <a:endParaRPr/>
          </a:p>
        </p:txBody>
      </p:sp>
      <p:sp>
        <p:nvSpPr>
          <p:cNvPr id="1410" name=""/>
          <p:cNvSpPr/>
          <p:nvPr/>
        </p:nvSpPr>
        <p:spPr>
          <a:xfrm rot="0" flipH="0" flipV="0">
            <a:off x="2857500" y="3200400"/>
            <a:ext cx="30670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2971800" y="328612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定义可写入的动作与校验规则</a:t>
            </a:r>
            <a:endParaRPr/>
          </a:p>
        </p:txBody>
      </p:sp>
      <p:sp>
        <p:nvSpPr>
          <p:cNvPr id="1412" name=""/>
          <p:cNvSpPr/>
          <p:nvPr/>
        </p:nvSpPr>
        <p:spPr>
          <a:xfrm rot="0" flipH="0" flipV="0">
            <a:off x="5981700" y="3200400"/>
            <a:ext cx="335280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13" name="" descr="{&quot;isTemplate&quot;:true,&quot;type&quot;:&quot;text&quot;}"/>
          <p:cNvSpPr txBox="1"/>
          <p:nvPr/>
        </p:nvSpPr>
        <p:spPr>
          <a:xfrm rot="0" flipH="0" flipV="0">
            <a:off x="6096000" y="328612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动作清单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权限矩阵</a:t>
            </a:r>
            <a:endParaRPr/>
          </a:p>
        </p:txBody>
      </p:sp>
      <p:sp>
        <p:nvSpPr>
          <p:cNvPr id="1414" name=""/>
          <p:cNvSpPr/>
          <p:nvPr/>
        </p:nvSpPr>
        <p:spPr>
          <a:xfrm rot="0" flipH="0" flipV="0">
            <a:off x="9391650" y="3200400"/>
            <a:ext cx="21907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9505950" y="328612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每个动作都有责任人与回滚方案</a:t>
            </a:r>
            <a:endParaRPr/>
          </a:p>
        </p:txBody>
      </p:sp>
      <p:sp>
        <p:nvSpPr>
          <p:cNvPr id="1416" name=""/>
          <p:cNvSpPr/>
          <p:nvPr/>
        </p:nvSpPr>
        <p:spPr>
          <a:xfrm rot="0" flipH="0" flipV="0">
            <a:off x="609600" y="3676650"/>
            <a:ext cx="21907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7" name="" descr="{&quot;isTemplate&quot;:true,&quot;type&quot;:&quot;text&quot;}"/>
          <p:cNvSpPr txBox="1"/>
          <p:nvPr/>
        </p:nvSpPr>
        <p:spPr>
          <a:xfrm rot="0" flipH="0" flipV="0">
            <a:off x="723900" y="379095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S5</a:t>
            </a:r>
            <a:endParaRPr/>
          </a:p>
        </p:txBody>
      </p:sp>
      <p:sp>
        <p:nvSpPr>
          <p:cNvPr id="1418" name="" descr="{&quot;isTemplate&quot;:true,&quot;type&quot;:&quot;text&quot;}"/>
          <p:cNvSpPr txBox="1"/>
          <p:nvPr/>
        </p:nvSpPr>
        <p:spPr>
          <a:xfrm rot="0" flipH="0" flipV="0">
            <a:off x="1047750" y="379095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应用与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消费</a:t>
            </a:r>
            <a:endParaRPr/>
          </a:p>
        </p:txBody>
      </p:sp>
      <p:sp>
        <p:nvSpPr>
          <p:cNvPr id="1419" name=""/>
          <p:cNvSpPr/>
          <p:nvPr/>
        </p:nvSpPr>
        <p:spPr>
          <a:xfrm rot="0" flipH="0" flipV="0">
            <a:off x="2857500" y="3676650"/>
            <a:ext cx="30670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20" name="" descr="{&quot;isTemplate&quot;:true,&quot;type&quot;:&quot;text&quot;}"/>
          <p:cNvSpPr txBox="1"/>
          <p:nvPr/>
        </p:nvSpPr>
        <p:spPr>
          <a:xfrm rot="0" flipH="0" flipV="0">
            <a:off x="2971800" y="376237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做界面并把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接到本体上</a:t>
            </a:r>
            <a:endParaRPr/>
          </a:p>
        </p:txBody>
      </p:sp>
      <p:sp>
        <p:nvSpPr>
          <p:cNvPr id="1421" name=""/>
          <p:cNvSpPr/>
          <p:nvPr/>
        </p:nvSpPr>
        <p:spPr>
          <a:xfrm rot="0" flipH="0" flipV="0">
            <a:off x="5981700" y="3676650"/>
            <a:ext cx="335280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6096000" y="376237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应用原型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场景验证记录</a:t>
            </a:r>
            <a:endParaRPr/>
          </a:p>
        </p:txBody>
      </p:sp>
      <p:sp>
        <p:nvSpPr>
          <p:cNvPr id="1423" name=""/>
          <p:cNvSpPr/>
          <p:nvPr/>
        </p:nvSpPr>
        <p:spPr>
          <a:xfrm rot="0" flipH="0" flipV="0">
            <a:off x="9391650" y="3676650"/>
            <a:ext cx="21907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24" name="" descr="{&quot;isTemplate&quot;:true,&quot;type&quot;:&quot;text&quot;}"/>
          <p:cNvSpPr txBox="1"/>
          <p:nvPr/>
        </p:nvSpPr>
        <p:spPr>
          <a:xfrm rot="0" flipH="0" flipV="0">
            <a:off x="9505950" y="376237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只能调本体暴露的动作</a:t>
            </a:r>
            <a:endParaRPr/>
          </a:p>
        </p:txBody>
      </p:sp>
      <p:sp>
        <p:nvSpPr>
          <p:cNvPr id="1425" name=""/>
          <p:cNvSpPr/>
          <p:nvPr/>
        </p:nvSpPr>
        <p:spPr>
          <a:xfrm rot="0" flipH="0" flipV="0">
            <a:off x="609600" y="4152900"/>
            <a:ext cx="21907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26" name="" descr="{&quot;isTemplate&quot;:true,&quot;type&quot;:&quot;text&quot;}"/>
          <p:cNvSpPr txBox="1"/>
          <p:nvPr/>
        </p:nvSpPr>
        <p:spPr>
          <a:xfrm rot="0" flipH="0" flipV="0">
            <a:off x="723900" y="42672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S6</a:t>
            </a:r>
            <a:endParaRPr/>
          </a:p>
        </p:txBody>
      </p:sp>
      <p:sp>
        <p:nvSpPr>
          <p:cNvPr id="1427" name="" descr="{&quot;isTemplate&quot;:true,&quot;type&quot;:&quot;text&quot;}"/>
          <p:cNvSpPr txBox="1"/>
          <p:nvPr/>
        </p:nvSpPr>
        <p:spPr>
          <a:xfrm rot="0" flipH="0" flipV="0">
            <a:off x="1047750" y="42672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运营闭环与写回</a:t>
            </a:r>
            <a:endParaRPr/>
          </a:p>
        </p:txBody>
      </p:sp>
      <p:sp>
        <p:nvSpPr>
          <p:cNvPr id="1428" name=""/>
          <p:cNvSpPr/>
          <p:nvPr/>
        </p:nvSpPr>
        <p:spPr>
          <a:xfrm rot="0" flipH="0" flipV="0">
            <a:off x="2857500" y="4152900"/>
            <a:ext cx="30670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29" name="" descr="{&quot;isTemplate&quot;:true,&quot;type&quot;:&quot;text&quot;}"/>
          <p:cNvSpPr txBox="1"/>
          <p:nvPr/>
        </p:nvSpPr>
        <p:spPr>
          <a:xfrm rot="0" flipH="0" flipV="0">
            <a:off x="2971800" y="423862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打通回写与决策留痕</a:t>
            </a:r>
            <a:endParaRPr/>
          </a:p>
        </p:txBody>
      </p:sp>
      <p:sp>
        <p:nvSpPr>
          <p:cNvPr id="1430" name=""/>
          <p:cNvSpPr/>
          <p:nvPr/>
        </p:nvSpPr>
        <p:spPr>
          <a:xfrm rot="0" flipH="0" flipV="0">
            <a:off x="5981700" y="4152900"/>
            <a:ext cx="335280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6096000" y="423862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写回链路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审计日志抽样</a:t>
            </a:r>
            <a:endParaRPr/>
          </a:p>
        </p:txBody>
      </p:sp>
      <p:sp>
        <p:nvSpPr>
          <p:cNvPr id="1432" name=""/>
          <p:cNvSpPr/>
          <p:nvPr/>
        </p:nvSpPr>
        <p:spPr>
          <a:xfrm rot="0" flipH="0" flipV="0">
            <a:off x="9391650" y="4152900"/>
            <a:ext cx="2190750" cy="3810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33" name="" descr="{&quot;isTemplate&quot;:true,&quot;type&quot;:&quot;text&quot;}"/>
          <p:cNvSpPr txBox="1"/>
          <p:nvPr/>
        </p:nvSpPr>
        <p:spPr>
          <a:xfrm rot="0" flipH="0" flipV="0">
            <a:off x="9505950" y="423862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写回成功率与回滚可验证</a:t>
            </a:r>
            <a:endParaRPr/>
          </a:p>
        </p:txBody>
      </p:sp>
      <p:sp>
        <p:nvSpPr>
          <p:cNvPr id="1434" name=""/>
          <p:cNvSpPr/>
          <p:nvPr/>
        </p:nvSpPr>
        <p:spPr>
          <a:xfrm rot="0" flipH="0" flipV="0">
            <a:off x="609600" y="4629150"/>
            <a:ext cx="21907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723900" y="474345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S7</a:t>
            </a:r>
            <a:endParaRPr/>
          </a:p>
        </p:txBody>
      </p:sp>
      <p:sp>
        <p:nvSpPr>
          <p:cNvPr id="1436" name="" descr="{&quot;isTemplate&quot;:true,&quot;type&quot;:&quot;text&quot;}"/>
          <p:cNvSpPr txBox="1"/>
          <p:nvPr/>
        </p:nvSpPr>
        <p:spPr>
          <a:xfrm rot="0" flipH="0" flipV="0">
            <a:off x="1047750" y="47434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演进与治理</a:t>
            </a:r>
            <a:endParaRPr/>
          </a:p>
        </p:txBody>
      </p:sp>
      <p:sp>
        <p:nvSpPr>
          <p:cNvPr id="1437" name=""/>
          <p:cNvSpPr/>
          <p:nvPr/>
        </p:nvSpPr>
        <p:spPr>
          <a:xfrm rot="0" flipH="0" flipV="0">
            <a:off x="2857500" y="4629150"/>
            <a:ext cx="30670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2971800" y="471487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定版本规则与变更评审</a:t>
            </a:r>
            <a:endParaRPr/>
          </a:p>
        </p:txBody>
      </p:sp>
      <p:sp>
        <p:nvSpPr>
          <p:cNvPr id="1439" name=""/>
          <p:cNvSpPr/>
          <p:nvPr/>
        </p:nvSpPr>
        <p:spPr>
          <a:xfrm rot="0" flipH="0" flipV="0">
            <a:off x="5981700" y="4629150"/>
            <a:ext cx="335280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40" name="" descr="{&quot;isTemplate&quot;:true,&quot;type&quot;:&quot;text&quot;}"/>
          <p:cNvSpPr txBox="1"/>
          <p:nvPr/>
        </p:nvSpPr>
        <p:spPr>
          <a:xfrm rot="0" flipH="0" flipV="0">
            <a:off x="6096000" y="471487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本体版本规范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评审机制</a:t>
            </a:r>
            <a:endParaRPr/>
          </a:p>
        </p:txBody>
      </p:sp>
      <p:sp>
        <p:nvSpPr>
          <p:cNvPr id="1441" name=""/>
          <p:cNvSpPr/>
          <p:nvPr/>
        </p:nvSpPr>
        <p:spPr>
          <a:xfrm rot="0" flipH="0" flipV="0">
            <a:off x="9391650" y="4629150"/>
            <a:ext cx="2190750" cy="3810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42" name="" descr="{&quot;isTemplate&quot;:true,&quot;type&quot;:&quot;text&quot;}"/>
          <p:cNvSpPr txBox="1"/>
          <p:nvPr/>
        </p:nvSpPr>
        <p:spPr>
          <a:xfrm rot="0" flipH="0" flipV="0">
            <a:off x="9505950" y="471487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改一个属性影响哪些应用可查</a:t>
            </a:r>
            <a:endParaRPr/>
          </a:p>
        </p:txBody>
      </p:sp>
      <p:sp>
        <p:nvSpPr>
          <p:cNvPr id="1443" name=""/>
          <p:cNvSpPr/>
          <p:nvPr/>
        </p:nvSpPr>
        <p:spPr>
          <a:xfrm rot="0" flipH="0" flipV="0">
            <a:off x="609600" y="5105400"/>
            <a:ext cx="10972800" cy="4953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44" name="" descr="{&quot;isTemplate&quot;:true,&quot;type&quot;:&quot;text&quot;}"/>
          <p:cNvSpPr txBox="1"/>
          <p:nvPr/>
        </p:nvSpPr>
        <p:spPr>
          <a:xfrm rot="0" flipH="0" flipV="0">
            <a:off x="781050" y="5276850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三条硬规则</a:t>
            </a:r>
            <a:endParaRPr/>
          </a:p>
        </p:txBody>
      </p:sp>
      <p:sp>
        <p:nvSpPr>
          <p:cNvPr id="1445" name=""/>
          <p:cNvSpPr/>
          <p:nvPr/>
        </p:nvSpPr>
        <p:spPr>
          <a:xfrm rot="0" flipH="0" flipV="0">
            <a:off x="1666875" y="53340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1781175" y="5276850"/>
            <a:ext cx="2447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先决策后对象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没有决策场景就不建对象</a:t>
            </a:r>
            <a:endParaRPr/>
          </a:p>
        </p:txBody>
      </p:sp>
      <p:sp>
        <p:nvSpPr>
          <p:cNvPr id="1447" name=""/>
          <p:cNvSpPr/>
          <p:nvPr/>
        </p:nvSpPr>
        <p:spPr>
          <a:xfrm rot="0" flipH="0" flipV="0">
            <a:off x="4400550" y="53340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8" name="" descr="{&quot;isTemplate&quot;:true,&quot;type&quot;:&quot;text&quot;}"/>
          <p:cNvSpPr txBox="1"/>
          <p:nvPr/>
        </p:nvSpPr>
        <p:spPr>
          <a:xfrm rot="0" flipH="0" flipV="0">
            <a:off x="4514850" y="5276850"/>
            <a:ext cx="2447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先单域后跨域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跨域链接等单域跑通再连</a:t>
            </a:r>
            <a:endParaRPr/>
          </a:p>
        </p:txBody>
      </p:sp>
      <p:sp>
        <p:nvSpPr>
          <p:cNvPr id="1449" name=""/>
          <p:cNvSpPr/>
          <p:nvPr/>
        </p:nvSpPr>
        <p:spPr>
          <a:xfrm rot="0" flipH="0" flipV="0">
            <a:off x="7134225" y="53340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0" name="" descr="{&quot;isTemplate&quot;:true,&quot;type&quot;:&quot;text&quot;}"/>
          <p:cNvSpPr txBox="1"/>
          <p:nvPr/>
        </p:nvSpPr>
        <p:spPr>
          <a:xfrm rot="0" flipH="0" flipV="0">
            <a:off x="7248525" y="5276850"/>
            <a:ext cx="2447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先读后写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读路径验证三个月再开放写入</a:t>
            </a:r>
            <a:endParaRPr/>
          </a:p>
        </p:txBody>
      </p:sp>
      <p:sp>
        <p:nvSpPr>
          <p:cNvPr id="145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5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5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04 / 30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455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    &lt;Box style={{ position: 'absolute', right: 70, top: 110 }}&gt;&#10;        &lt;Text style={{ fontSize: 300, fontWeight: 'bold', color: 'rgba(255,255,255,0.08)', lineHeight: 1.0 }}&gt;01&lt;/Text&gt;&#10;    &lt;/Box&gt;&#10;    &lt;Box style={{ position: 'absolute', left: 88, top: 232, width: 660, flexDirection: 'column' }}&gt;&#10;        &lt;Text style={{ fontSize: 15, color: 'rgba(255,255,255,0.5)', letterSpacing: 3 }}&gt;PART 01&lt;/Text&gt;&#10;        &lt;Box style={{ width: 72, height: 5, background: '#FA4F24', marginTop: 22 }} /&gt;&#10;    &lt;Text style={{ fontSize: 58, fontWeight: 'bold', color: '#FFFFFF', marginTop: 28, lineHeight: 1.15 }}&gt;Ontology 总论&lt;/Text&gt;&#10;        &lt;Text style={{ fontSize: 17, color: 'rgba(255,255,255,0.62)', letterSpacing: 2, marginTop: 20 }}&gt;ONTOLOGY OVERVIEW&lt;/Text&gt;&#10;   &lt;Text style={{ fontSize: 19, color: 'rgba(255,255,255,0.85)', marginTop: 26, lineHeight: 1.6 }}&gt;它是什么、不是什么，以及为什么不是语义层&lt;/Text&gt;&#10;  &lt;/Box&gt;&#10;    &lt;Box style={{ position: 'absolute', right: 88, bottom: 64, flexDirection: 'row', alignItems: 'center', gap: 12 }}&gt;&#10;   &lt;Box style={{ width: 14, height: 14, background: '#FA4F24' }} /&gt;&#10;        &lt;Text style={{ fontSize: 14, color: 'rgba(255,255,255,0.5)' }}&gt;硕磐机密 · Ontology本体咨询方法论&lt;/Text&gt;&#10;        &lt;Text style={{ fontSize: 14, color: 'rgba(255,255,255,0.5)', marginLeft: 12 }}&gt;05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58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1461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62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Ontology </a:t>
            </a: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总论</a:t>
            </a:r>
            <a:endParaRPr/>
          </a:p>
        </p:txBody>
      </p:sp>
      <p:sp>
        <p:nvSpPr>
          <p:cNvPr id="1463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ONTOLOGY OVERVIEW</a:t>
            </a:r>
            <a:endParaRPr/>
          </a:p>
        </p:txBody>
      </p:sp>
      <p:sp>
        <p:nvSpPr>
          <p:cNvPr id="1464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它是什么、不是什么，以及为什么不是语义层</a:t>
            </a:r>
            <a:endParaRPr/>
          </a:p>
        </p:txBody>
      </p:sp>
      <p:sp>
        <p:nvSpPr>
          <p:cNvPr id="1465" name=""/>
          <p:cNvSpPr/>
          <p:nvPr/>
        </p:nvSpPr>
        <p:spPr>
          <a:xfrm rot="0" flipH="0" flipV="0">
            <a:off x="82391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66" name="" descr="{&quot;isTemplate&quot;:true,&quot;type&quot;:&quot;text&quot;}"/>
          <p:cNvSpPr txBox="1"/>
          <p:nvPr/>
        </p:nvSpPr>
        <p:spPr>
          <a:xfrm rot="0" flipH="0" flipV="0">
            <a:off x="8486775" y="60864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467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05 / 30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468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之方法：&lt;span style={{ color: '#FA4F24' }}&gt;把 Ontology 定位为组织的运行层&lt;/span&gt;，而不是又一层图&#10;        &lt;/Text&gt;&#10;     &lt;Text style={{ fontSize: 20, color: '#8A8F99', marginTop: 8 }}&gt;&#10;    坐在数据集之上，把现实世界的对象与行动接进来 —— 在很多场景里它就是组织的数字孪生&#10;     &lt;/Text&gt;&#10;    &lt;/Box&gt;&#10;    &lt;Box style={{ height: 1, background: '#E8E8E8' }} /&gt;&#10;&#10;    &lt;Box style={{ paddingTop: 22, paddingBottom: 12, height: 479, flexDirection: 'row', gap: 20 }}&gt;&#10;      {/* 左：分层位置 */}&#10;        &lt;Box style={{ width: 520, flexDirection: 'column', gap: 8 }}&gt;&#10;   &lt;Text style={{ fontSize: 20, fontWeight: 'bold', color: '#0F1423' }}&gt;它坐在哪一层&lt;/Text&gt;&#10;      {[&#10; { n: '应用层', t: '决策界面：工作台、看板、自定义应用、AI Agent', c: '#0F1423' },&#10; { n: 'Ontology', t: '运行层：对象 · 链接 · 行动 · 权限', c: '#FA4F24', hl: true },&#10;    { n: '数据层', t: '数据集、虚拟表、模型', c: '#5A6072' },&#10; { n: '源系统', t: 'ERP / CRM / 工单 / 财务 / 供应链', c: '#C9CCD4', tc: '#3A4050' },&#10;            ].map((it, i) =&gt; (&#10;   &lt;Box key={i} style={{ flex: 1, background: it.c, borderRadius: 4, flexDirection: 'row', alignItems: 'center', padding: '0 16px', gap: 12 }}&gt;&#10;         &lt;Text style={{ fontSize: 15, fontWeight: 'bold', color: it.tc || '#FFFFFF', width: 82 }}&gt;{it.n}&lt;/Text&gt;&#10;       &lt;Text style={{ fontSize: 13, color: it.tc || 'rgba(255,255,255,0.92)', flex: 1, lineHeight: 1.4 }}&gt;{it.t}&lt;/Text&gt;&#10;      {it.hl &amp;&amp; &lt;Text style={{ fontSize: 13, color: '#FFFFFF', background: 'rgba(255,255,255,0.25)', padding: '3px 8px', borderRadius: 2 }}&gt;本册主题&lt;/Text&gt;}&#10;         &lt;/Box&gt;&#10;       ))}&#10;    &lt;Box style={{ height: 62, background: '#F7F7F8', borderRadius: 4, padding: '0 16px', flexDirection: 'column', justifyContent: 'center', borderLeft: '4px solid #FA4F24' }}&gt;&#10;      &lt;Text style={{ fontSize: 13, fontWeight: 'bold', color: '#C43A17' }}&gt;★ 关键区别&lt;/Text&gt;&#10;    &lt;Text style={{ fontSize: 13, color: '#3A4050', lineHeight: 1.45, marginTop: 4 }}&gt;&#10;   数仓回答「发生了什么」，本体回答「现在是什么、能做什么」——它的对象是实体，不是指标。&#10;       &lt;/Text&gt;&#10;  &lt;/Box&gt;&#10;      &lt;/Box&gt;&#10;&#10;      {/* 右：四重整合 + 数字孪生 */}&#10;        &lt;Box style={{ flex: 1, flexDirection: 'column', gap: 8 }}&gt;&#10;       &lt;Text style={{ fontSize: 20, fontWeight: 'bold', color: '#0F1423' }}&gt;四重整合：企业复杂决策的表达方式&lt;/Text&gt;&#10; {[&#10;      { l: 'Data', t: '数据', d: '对象从数据集取属性，不另存一份' },&#10;    { l: 'Logic', t: '逻辑', d: '函数承载校验与派生，像存储过程' },&#10;   { l: 'Action', t: '行动', d: '写入必须经过受控的 Action Type' },&#10;   { l: 'Security', t: '权限', d: '可到对象与属性粒度，且被 AI 继承' },&#10;       ].map((it, i) =&gt; (&#10;        &lt;Box key={i} style={{ flex: 1, background: '#F7F7F8', borderRadius: 4, padding: '0 16px', flexDirection: 'row', alignItems: 'center', gap: 12 }}&gt;&#10;   &lt;Text style={{ fontSize: 14, fontWeight: 'bold', color: '#FA4F24', width: 64 }}&gt;{it.l}&lt;/Text&gt;&#10;          &lt;Text style={{ fontSize: 15, fontWeight: 'bold', color: '#0F1423', width: 40 }}&gt;{it.t}&lt;/Text&gt;&#10;        &lt;Text style={{ fontSize: 13, color: '#3A4050', flex: 1, lineHeight: 1.4 }}&gt;{it.d}&lt;/Text&gt;&#10;       &lt;/Box&gt;&#10;       ))}&#10;   &lt;Box style={{ height: 92, background: '#FFF3EE', borderRadius: 4, padding: '12px 16px', flexDirection: 'column', justifyContent: 'center', borderLeft: '4px solid #FBA15C' }}&gt;&#10;     &lt;Text style={{ fontSize: 15, fontWeight: 'bold', color: '#C43A17' }}&gt;为什么非要一个「运行层」&lt;/Text&gt;&#10;   &lt;Text style={{ fontSize: 13, color: '#3A2000', lineHeight: 1.5, marginTop: 6 }}&gt;&#10; 决策不是查询。查询可以只读，决策会改变真实世界。要让改变可控、可审计、可撤销，就必须有一层把「谁能对什么做什么」写死在模型里 —— 这层就是本体。&#10;          &lt;/Text&gt;&#10;      &lt;/Box&gt;&#10;    &lt;/Box&gt;&#10;    &lt;/Box&gt;&#10;&#10;    &lt;Box style={{ height: 58, flexDirection: 'row', alignItems: 'center', borderTop: '1px solid #E8E8E8' }}&gt;&#10;        &lt;Box style={{ width: 10, height: 10, background: '#FA4F24' }} /&gt;&#10;  &lt;Text style={{ fontSize: 13, color: '#8A8F99', marginLeft: 12 }}&gt;硕磐机密 · Ontology本体咨询方法论&lt;/Text&gt;&#10;        &lt;Text style={{ fontSize: 13, color: '#8A8F99', marginLeft: 'auto' }}&gt;06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7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把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Ontology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定位为组织的运行层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，而不是又一层图</a:t>
            </a:r>
            <a:endParaRPr/>
          </a:p>
        </p:txBody>
      </p:sp>
      <p:sp>
        <p:nvSpPr>
          <p:cNvPr id="147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坐在数据集之上，把现实世界的对象与行动接进来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在很多场景里它就是组织的数字孪生</a:t>
            </a:r>
            <a:endParaRPr/>
          </a:p>
        </p:txBody>
      </p:sp>
      <p:sp>
        <p:nvSpPr>
          <p:cNvPr id="147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73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它坐在哪一层</a:t>
            </a:r>
            <a:endParaRPr/>
          </a:p>
        </p:txBody>
      </p:sp>
      <p:sp>
        <p:nvSpPr>
          <p:cNvPr id="1474" name=""/>
          <p:cNvSpPr/>
          <p:nvPr/>
        </p:nvSpPr>
        <p:spPr>
          <a:xfrm rot="0" flipH="0" flipV="0">
            <a:off x="609600" y="1666875"/>
            <a:ext cx="4953000" cy="762000"/>
          </a:xfrm>
          <a:prstGeom prst="roundRect">
            <a:avLst>
              <a:gd name="adj" fmla="val 5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75" name="" descr="{&quot;isTemplate&quot;:true,&quot;type&quot;:&quot;text&quot;}"/>
          <p:cNvSpPr txBox="1"/>
          <p:nvPr/>
        </p:nvSpPr>
        <p:spPr>
          <a:xfrm rot="0" flipH="0" flipV="0">
            <a:off x="762000" y="1962150"/>
            <a:ext cx="781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1476" name="" descr="{&quot;isTemplate&quot;:true,&quot;type&quot;:&quot;text&quot;}"/>
          <p:cNvSpPr txBox="1"/>
          <p:nvPr/>
        </p:nvSpPr>
        <p:spPr>
          <a:xfrm rot="0" flipH="0" flipV="0">
            <a:off x="1657350" y="1943100"/>
            <a:ext cx="3752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决策界面：工作台、看板、自定义应用、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AI Agent</a:t>
            </a:r>
            <a:endParaRPr/>
          </a:p>
        </p:txBody>
      </p:sp>
      <p:sp>
        <p:nvSpPr>
          <p:cNvPr id="1477" name=""/>
          <p:cNvSpPr/>
          <p:nvPr/>
        </p:nvSpPr>
        <p:spPr>
          <a:xfrm rot="0" flipH="0" flipV="0">
            <a:off x="609600" y="2505075"/>
            <a:ext cx="4953000" cy="762000"/>
          </a:xfrm>
          <a:prstGeom prst="roundRect">
            <a:avLst>
              <a:gd name="adj" fmla="val 5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78" name="" descr="{&quot;isTemplate&quot;:true,&quot;type&quot;:&quot;text&quot;}"/>
          <p:cNvSpPr txBox="1"/>
          <p:nvPr/>
        </p:nvSpPr>
        <p:spPr>
          <a:xfrm rot="0" flipH="0" flipV="0">
            <a:off x="762000" y="2800350"/>
            <a:ext cx="781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1479" name="" descr="{&quot;isTemplate&quot;:true,&quot;type&quot;:&quot;text&quot;}"/>
          <p:cNvSpPr txBox="1"/>
          <p:nvPr/>
        </p:nvSpPr>
        <p:spPr>
          <a:xfrm rot="0" flipH="0" flipV="0">
            <a:off x="1657350" y="2781300"/>
            <a:ext cx="2990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运行层：对象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链接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行动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权限</a:t>
            </a:r>
            <a:endParaRPr/>
          </a:p>
        </p:txBody>
      </p:sp>
      <p:sp>
        <p:nvSpPr>
          <p:cNvPr id="1480" name=""/>
          <p:cNvSpPr/>
          <p:nvPr/>
        </p:nvSpPr>
        <p:spPr>
          <a:xfrm rot="0" flipH="0" flipV="0">
            <a:off x="4762500" y="2781300"/>
            <a:ext cx="647700" cy="209550"/>
          </a:xfrm>
          <a:prstGeom prst="roundRect">
            <a:avLst>
              <a:gd name="adj" fmla="val 9091"/>
            </a:avLst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481" name="" descr="{&quot;isTemplate&quot;:true,&quot;type&quot;:&quot;text&quot;}"/>
          <p:cNvSpPr txBox="1"/>
          <p:nvPr/>
        </p:nvSpPr>
        <p:spPr>
          <a:xfrm rot="0" flipH="0" flipV="0">
            <a:off x="4762500" y="2781300"/>
            <a:ext cx="647700" cy="209550"/>
          </a:xfrm>
          <a:prstGeom prst="rect"/>
        </p:spPr>
        <p:txBody>
          <a:bodyPr wrap="none" lIns="57150" tIns="21431" rIns="57150" bIns="21431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highlight>
                  <a:srgbClr val="FFFFFF">
                    <a:alpha val="25000"/>
                  </a:srgbClr>
                </a:highlight>
                <a:latin typeface="Microsoft YaHei"/>
                <a:ea typeface="Microsoft YaHei"/>
              </a:rPr>
              <a:t>本册主题</a:t>
            </a:r>
            <a:endParaRPr/>
          </a:p>
        </p:txBody>
      </p:sp>
      <p:sp>
        <p:nvSpPr>
          <p:cNvPr id="1482" name=""/>
          <p:cNvSpPr/>
          <p:nvPr/>
        </p:nvSpPr>
        <p:spPr>
          <a:xfrm rot="0" flipH="0" flipV="0">
            <a:off x="609600" y="3343275"/>
            <a:ext cx="4953000" cy="752475"/>
          </a:xfrm>
          <a:prstGeom prst="roundRect">
            <a:avLst>
              <a:gd name="adj" fmla="val 5063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483" name="" descr="{&quot;isTemplate&quot;:true,&quot;type&quot;:&quot;text&quot;}"/>
          <p:cNvSpPr txBox="1"/>
          <p:nvPr/>
        </p:nvSpPr>
        <p:spPr>
          <a:xfrm rot="0" flipH="0" flipV="0">
            <a:off x="762000" y="3638550"/>
            <a:ext cx="781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数据层</a:t>
            </a:r>
            <a:endParaRPr/>
          </a:p>
        </p:txBody>
      </p:sp>
      <p:sp>
        <p:nvSpPr>
          <p:cNvPr id="1484" name="" descr="{&quot;isTemplate&quot;:true,&quot;type&quot;:&quot;text&quot;}"/>
          <p:cNvSpPr txBox="1"/>
          <p:nvPr/>
        </p:nvSpPr>
        <p:spPr>
          <a:xfrm rot="0" flipH="0" flipV="0">
            <a:off x="1657350" y="3619500"/>
            <a:ext cx="3752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数据集、虚拟表、模型</a:t>
            </a:r>
            <a:endParaRPr/>
          </a:p>
        </p:txBody>
      </p:sp>
      <p:sp>
        <p:nvSpPr>
          <p:cNvPr id="1485" name=""/>
          <p:cNvSpPr/>
          <p:nvPr/>
        </p:nvSpPr>
        <p:spPr>
          <a:xfrm rot="0" flipH="0" flipV="0">
            <a:off x="609600" y="4171950"/>
            <a:ext cx="4953000" cy="762000"/>
          </a:xfrm>
          <a:prstGeom prst="roundRect">
            <a:avLst>
              <a:gd name="adj" fmla="val 5000"/>
            </a:avLst>
          </a:prstGeom>
          <a:solidFill>
            <a:srgbClr val="C9CCD4"/>
          </a:solidFill>
          <a:ln/>
        </p:spPr>
        <p:txBody>
          <a:bodyPr/>
          <a:p/>
        </p:txBody>
      </p:sp>
      <p:sp>
        <p:nvSpPr>
          <p:cNvPr id="1486" name="" descr="{&quot;isTemplate&quot;:true,&quot;type&quot;:&quot;text&quot;}"/>
          <p:cNvSpPr txBox="1"/>
          <p:nvPr/>
        </p:nvSpPr>
        <p:spPr>
          <a:xfrm rot="0" flipH="0" flipV="0">
            <a:off x="762000" y="4467225"/>
            <a:ext cx="781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源系统</a:t>
            </a:r>
            <a:endParaRPr/>
          </a:p>
        </p:txBody>
      </p:sp>
      <p:sp>
        <p:nvSpPr>
          <p:cNvPr id="1487" name="" descr="{&quot;isTemplate&quot;:true,&quot;type&quot;:&quot;text&quot;}"/>
          <p:cNvSpPr txBox="1"/>
          <p:nvPr/>
        </p:nvSpPr>
        <p:spPr>
          <a:xfrm rot="0" flipH="0" flipV="0">
            <a:off x="1657350" y="4448175"/>
            <a:ext cx="37528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ERP / CRM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工单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财务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供应链</a:t>
            </a:r>
            <a:endParaRPr/>
          </a:p>
        </p:txBody>
      </p:sp>
      <p:sp>
        <p:nvSpPr>
          <p:cNvPr id="1488" name=""/>
          <p:cNvSpPr/>
          <p:nvPr/>
        </p:nvSpPr>
        <p:spPr>
          <a:xfrm rot="0" flipH="0" flipV="0">
            <a:off x="647700" y="5010150"/>
            <a:ext cx="49530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89" name=""/>
          <p:cNvSpPr/>
          <p:nvPr/>
        </p:nvSpPr>
        <p:spPr>
          <a:xfrm rot="0" flipH="0" flipV="0">
            <a:off x="647700" y="5010150"/>
            <a:ext cx="4953000" cy="590550"/>
          </a:xfrm>
          <a:custGeom>
            <a:pathLst>
              <a:path w="520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90" name="" descr="{&quot;isTemplate&quot;:true,&quot;type&quot;:&quot;text&quot;}"/>
          <p:cNvSpPr txBox="1"/>
          <p:nvPr/>
        </p:nvSpPr>
        <p:spPr>
          <a:xfrm rot="0" flipH="0" flipV="0">
            <a:off x="800100" y="4991100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关键区别</a:t>
            </a:r>
            <a:endParaRPr/>
          </a:p>
        </p:txBody>
      </p:sp>
      <p:sp>
        <p:nvSpPr>
          <p:cNvPr id="1491" name="" descr="{&quot;isTemplate&quot;:true,&quot;type&quot;:&quot;text&quot;}"/>
          <p:cNvSpPr txBox="1"/>
          <p:nvPr/>
        </p:nvSpPr>
        <p:spPr>
          <a:xfrm rot="0" flipH="0" flipV="0">
            <a:off x="800100" y="5181600"/>
            <a:ext cx="46101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数仓回答「发生了什么」，本体回答「现在是什么、能做什么」——它的对象是实体，不是指标。</a:t>
            </a:r>
            <a:endParaRPr/>
          </a:p>
        </p:txBody>
      </p:sp>
      <p:sp>
        <p:nvSpPr>
          <p:cNvPr id="1492" name="" descr="{&quot;isTemplate&quot;:true,&quot;type&quot;:&quot;text&quot;}"/>
          <p:cNvSpPr txBox="1"/>
          <p:nvPr/>
        </p:nvSpPr>
        <p:spPr>
          <a:xfrm rot="0" flipH="0" flipV="0">
            <a:off x="5753100" y="1362075"/>
            <a:ext cx="5829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四重整合：企业复杂决策的表达方式</a:t>
            </a:r>
            <a:endParaRPr/>
          </a:p>
        </p:txBody>
      </p:sp>
      <p:sp>
        <p:nvSpPr>
          <p:cNvPr id="1493" name=""/>
          <p:cNvSpPr/>
          <p:nvPr/>
        </p:nvSpPr>
        <p:spPr>
          <a:xfrm rot="0" flipH="0" flipV="0">
            <a:off x="5753100" y="1666875"/>
            <a:ext cx="5829300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94" name="" descr="{&quot;isTemplate&quot;:true,&quot;type&quot;:&quot;text&quot;}"/>
          <p:cNvSpPr txBox="1"/>
          <p:nvPr/>
        </p:nvSpPr>
        <p:spPr>
          <a:xfrm rot="0" flipH="0" flipV="0">
            <a:off x="5905500" y="1933575"/>
            <a:ext cx="60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Data</a:t>
            </a:r>
            <a:endParaRPr/>
          </a:p>
        </p:txBody>
      </p:sp>
      <p:sp>
        <p:nvSpPr>
          <p:cNvPr id="1495" name="" descr="{&quot;isTemplate&quot;:true,&quot;type&quot;:&quot;text&quot;}"/>
          <p:cNvSpPr txBox="1"/>
          <p:nvPr/>
        </p:nvSpPr>
        <p:spPr>
          <a:xfrm rot="0" flipH="0" flipV="0">
            <a:off x="6629400" y="1924050"/>
            <a:ext cx="38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1496" name="" descr="{&quot;isTemplate&quot;:true,&quot;type&quot;:&quot;text&quot;}"/>
          <p:cNvSpPr txBox="1"/>
          <p:nvPr/>
        </p:nvSpPr>
        <p:spPr>
          <a:xfrm rot="0" flipH="0" flipV="0">
            <a:off x="7124700" y="190500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对象从数据集取属性，不另存一份</a:t>
            </a:r>
            <a:endParaRPr/>
          </a:p>
        </p:txBody>
      </p:sp>
      <p:sp>
        <p:nvSpPr>
          <p:cNvPr id="1497" name=""/>
          <p:cNvSpPr/>
          <p:nvPr/>
        </p:nvSpPr>
        <p:spPr>
          <a:xfrm rot="0" flipH="0" flipV="0">
            <a:off x="5753100" y="2428875"/>
            <a:ext cx="582930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98" name="" descr="{&quot;isTemplate&quot;:true,&quot;type&quot;:&quot;text&quot;}"/>
          <p:cNvSpPr txBox="1"/>
          <p:nvPr/>
        </p:nvSpPr>
        <p:spPr>
          <a:xfrm rot="0" flipH="0" flipV="0">
            <a:off x="5905500" y="2695575"/>
            <a:ext cx="60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Logic</a:t>
            </a:r>
            <a:endParaRPr/>
          </a:p>
        </p:txBody>
      </p:sp>
      <p:sp>
        <p:nvSpPr>
          <p:cNvPr id="1499" name="" descr="{&quot;isTemplate&quot;:true,&quot;type&quot;:&quot;text&quot;}"/>
          <p:cNvSpPr txBox="1"/>
          <p:nvPr/>
        </p:nvSpPr>
        <p:spPr>
          <a:xfrm rot="0" flipH="0" flipV="0">
            <a:off x="6629400" y="2695575"/>
            <a:ext cx="38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逻辑</a:t>
            </a:r>
            <a:endParaRPr/>
          </a:p>
        </p:txBody>
      </p:sp>
      <p:sp>
        <p:nvSpPr>
          <p:cNvPr id="1500" name="" descr="{&quot;isTemplate&quot;:true,&quot;type&quot;:&quot;text&quot;}"/>
          <p:cNvSpPr txBox="1"/>
          <p:nvPr/>
        </p:nvSpPr>
        <p:spPr>
          <a:xfrm rot="0" flipH="0" flipV="0">
            <a:off x="7124700" y="2676525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函数承载校验与派生，像存储过程</a:t>
            </a:r>
            <a:endParaRPr/>
          </a:p>
        </p:txBody>
      </p:sp>
      <p:sp>
        <p:nvSpPr>
          <p:cNvPr id="1501" name=""/>
          <p:cNvSpPr/>
          <p:nvPr/>
        </p:nvSpPr>
        <p:spPr>
          <a:xfrm rot="0" flipH="0" flipV="0">
            <a:off x="5753100" y="3200400"/>
            <a:ext cx="5829300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02" name="" descr="{&quot;isTemplate&quot;:true,&quot;type&quot;:&quot;text&quot;}"/>
          <p:cNvSpPr txBox="1"/>
          <p:nvPr/>
        </p:nvSpPr>
        <p:spPr>
          <a:xfrm rot="0" flipH="0" flipV="0">
            <a:off x="5905500" y="3467100"/>
            <a:ext cx="60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Action</a:t>
            </a:r>
            <a:endParaRPr/>
          </a:p>
        </p:txBody>
      </p:sp>
      <p:sp>
        <p:nvSpPr>
          <p:cNvPr id="1503" name="" descr="{&quot;isTemplate&quot;:true,&quot;type&quot;:&quot;text&quot;}"/>
          <p:cNvSpPr txBox="1"/>
          <p:nvPr/>
        </p:nvSpPr>
        <p:spPr>
          <a:xfrm rot="0" flipH="0" flipV="0">
            <a:off x="6629400" y="3457575"/>
            <a:ext cx="38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行动</a:t>
            </a:r>
            <a:endParaRPr/>
          </a:p>
        </p:txBody>
      </p:sp>
      <p:sp>
        <p:nvSpPr>
          <p:cNvPr id="1504" name="" descr="{&quot;isTemplate&quot;:true,&quot;type&quot;:&quot;text&quot;}"/>
          <p:cNvSpPr txBox="1"/>
          <p:nvPr/>
        </p:nvSpPr>
        <p:spPr>
          <a:xfrm rot="0" flipH="0" flipV="0">
            <a:off x="7124700" y="3438525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写入必须经过受控的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Action Type</a:t>
            </a:r>
            <a:endParaRPr/>
          </a:p>
        </p:txBody>
      </p:sp>
      <p:sp>
        <p:nvSpPr>
          <p:cNvPr id="1505" name=""/>
          <p:cNvSpPr/>
          <p:nvPr/>
        </p:nvSpPr>
        <p:spPr>
          <a:xfrm rot="0" flipH="0" flipV="0">
            <a:off x="5753100" y="3962400"/>
            <a:ext cx="5829300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06" name="" descr="{&quot;isTemplate&quot;:true,&quot;type&quot;:&quot;text&quot;}"/>
          <p:cNvSpPr txBox="1"/>
          <p:nvPr/>
        </p:nvSpPr>
        <p:spPr>
          <a:xfrm rot="0" flipH="0" flipV="0">
            <a:off x="5905500" y="4229100"/>
            <a:ext cx="609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Security</a:t>
            </a:r>
            <a:endParaRPr/>
          </a:p>
        </p:txBody>
      </p:sp>
      <p:sp>
        <p:nvSpPr>
          <p:cNvPr id="1507" name="" descr="{&quot;isTemplate&quot;:true,&quot;type&quot;:&quot;text&quot;}"/>
          <p:cNvSpPr txBox="1"/>
          <p:nvPr/>
        </p:nvSpPr>
        <p:spPr>
          <a:xfrm rot="0" flipH="0" flipV="0">
            <a:off x="6629400" y="4219575"/>
            <a:ext cx="38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权限</a:t>
            </a:r>
            <a:endParaRPr/>
          </a:p>
        </p:txBody>
      </p:sp>
      <p:sp>
        <p:nvSpPr>
          <p:cNvPr id="1508" name="" descr="{&quot;isTemplate&quot;:true,&quot;type&quot;:&quot;text&quot;}"/>
          <p:cNvSpPr txBox="1"/>
          <p:nvPr/>
        </p:nvSpPr>
        <p:spPr>
          <a:xfrm rot="0" flipH="0" flipV="0">
            <a:off x="7124700" y="4200525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可到对象与属性粒度，且被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继承</a:t>
            </a:r>
            <a:endParaRPr/>
          </a:p>
        </p:txBody>
      </p:sp>
      <p:sp>
        <p:nvSpPr>
          <p:cNvPr id="1509" name=""/>
          <p:cNvSpPr/>
          <p:nvPr/>
        </p:nvSpPr>
        <p:spPr>
          <a:xfrm rot="0" flipH="0" flipV="0">
            <a:off x="5791200" y="4724400"/>
            <a:ext cx="5829300" cy="876300"/>
          </a:xfrm>
          <a:prstGeom prst="roundRect">
            <a:avLst>
              <a:gd name="adj" fmla="val 434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10" name=""/>
          <p:cNvSpPr/>
          <p:nvPr/>
        </p:nvSpPr>
        <p:spPr>
          <a:xfrm rot="0" flipH="0" flipV="0">
            <a:off x="5791200" y="4724400"/>
            <a:ext cx="5829300" cy="876300"/>
          </a:xfrm>
          <a:custGeom>
            <a:pathLst>
              <a:path w="61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11" name="" descr="{&quot;isTemplate&quot;:true,&quot;type&quot;:&quot;text&quot;}"/>
          <p:cNvSpPr txBox="1"/>
          <p:nvPr/>
        </p:nvSpPr>
        <p:spPr>
          <a:xfrm rot="0" flipH="0" flipV="0">
            <a:off x="5943600" y="4829175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为什么非要一个「运行层」</a:t>
            </a:r>
            <a:endParaRPr/>
          </a:p>
        </p:txBody>
      </p:sp>
      <p:sp>
        <p:nvSpPr>
          <p:cNvPr id="1512" name="" descr="{&quot;isTemplate&quot;:true,&quot;type&quot;:&quot;text&quot;}"/>
          <p:cNvSpPr txBox="1"/>
          <p:nvPr/>
        </p:nvSpPr>
        <p:spPr>
          <a:xfrm rot="0" flipH="0" flipV="0">
            <a:off x="5943600" y="5057775"/>
            <a:ext cx="54864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决策不是查询。查询可以只读，决策会改变真实世界。要让改变可控、可审计、可撤销，就必须有一层把「谁能对什么做什么」写死在模型里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这层就是本体。</a:t>
            </a:r>
            <a:endParaRPr/>
          </a:p>
        </p:txBody>
      </p:sp>
      <p:sp>
        <p:nvSpPr>
          <p:cNvPr id="151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1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1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51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06 / 30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51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之内容：&lt;span style={{ color: '#FA4F24' }}&gt;语义元素与动力学元素&lt;/span&gt;，本体就是这两类东西的合体&#10;     &lt;/Text&gt;&#10;        &lt;Text style={{ fontSize: 20, color: '#8A8F99', marginTop: 8 }}&gt;&#10; 只建语义，就是个漂亮的只读模型；只建行动，就是个散乱的接口集合 —— 两类必须同时定义&#10;        &lt;/Text&gt;&#10;    &lt;/Box&gt;&#10;    &lt;Box style={{ height: 1, background: '#E8E8E8' }} /&gt;&#10;&#10;    &lt;Box style={{ paddingTop: 22, paddingBottom: 12, height: 479, flexDirection: 'row', gap: 18 }}&gt;&#10;      {/* 左：语义 */}&#10;      &lt;Box style={{ flex: 1, flexDirection: 'column', gap: 8 }}&gt;&#10;   &lt;Box style={{ height: 40, background: '#0F1423', borderRadius: 4, flexDirection: 'row', alignItems: 'center', padding: '0 14px', gap: 10 }}&gt;&#10;          &lt;Text style={{ fontSize: 15, fontWeight: 'bold', color: '#FFFFFF' }}&gt;语义元素 · 是什么&lt;/Text&gt;&#10;      &lt;Text style={{ fontSize: 12, color: 'rgba(255,255,255,0.6)' }}&gt;SEMANTIC&lt;/Text&gt;&#10;  &lt;/Box&gt;&#10;        {[&#10;          { n: 'Object Type', t: '对象类型', d: '现实实体或事件的模式定义，如 Employee、Order、Device' },&#10;  { n: 'Property', t: '属性', d: '对象的字段，可以是简单值，也可以是复杂结构' },&#10;          { n: 'Link Type', t: '链接类型', d: '对象之间的关系，支持 1:1 / 1:N / M:N，关系本身也能带属性' },&#10;        ].map((it, i) =&gt; (&#10;          &lt;Box key={i} style={{ flex: 1, background: '#F7F7F8', borderRadius: 4, padding: '10px 14px', flexDirection: 'column', justifyContent: 'center', borderLeft: '4px solid #0F1423' }}&gt;&#10;    &lt;Box style={{ flexDirection: 'row', alignItems: 'baseline', gap: 10 }}&gt;&#10;      &lt;Text style={{ fontSize: 14, fontWeight: 'bold', color: '#0F1423' }}&gt;{it.n}&lt;/Text&gt;&#10;         &lt;Text style={{ fontSize: 14, fontWeight: 'bold', color: '#FA4F24' }}&gt;{it.t}&lt;/Text&gt;&#10;       &lt;/Box&gt;&#10;     &lt;Text style={{ fontSize: 13, color: '#3A4050', lineHeight: 1.45, marginTop: 5 }}&gt;{it.d}&lt;/Text&gt;&#10;     &lt;/Box&gt;&#10;     ))}&#10;    &lt;Box style={{ flex: 1, background: '#F7F7F8', borderRadius: 4, padding: '0 14px', flexDirection: 'row', alignItems: 'center' }}&gt;&#10;          &lt;Text style={{ fontSize: 13, color: '#8A8F99', flex: 1, lineHeight: 1.45 }}&gt;&#10;     漏掉语义层的代价：每个应用各写一套字段名与口径，同一个问题在十张图里有十个答案&#10;   &lt;/Text&gt;&#10;   &lt;/Box&gt;&#10;      &lt;/Box&gt;&#10;&#10;      {/* 右：动力学 */}&#10;      &lt;Box style={{ flex: 1, flexDirection: 'column', gap: 8 }}&gt;&#10;    &lt;Box style={{ height: 40, background: '#FA4F24', borderRadius: 4, flexDirection: 'row', alignItems: 'center', padding: '0 14px', gap: 10 }}&gt;&#10;   &lt;Text style={{ fontSize: 15, fontWeight: 'bold', color: '#FFFFFF' }}&gt;动力学元素 · 能做什么&lt;/Text&gt;&#10;     &lt;Text style={{ fontSize: 12, color: 'rgba(255,255,255,0.75)' }}&gt;KINETIC&lt;/Text&gt;&#10;        &lt;/Box&gt;&#10; {[&#10;          { n: 'Action Type', t: '动作类型', d: '用户可对对象做的结构化受控变更集合，写入的唯一合法入口' },&#10;     { n: 'Function', t: '函数', d: '服务端业务逻辑，复杂度不限，类似数据库里的存储过程' },&#10;          { n: 'Dynamic Security', t: '动态权限', d: '可按用户属性与对象状态动态判定，不只是静态角色' },&#10;        ].map((it, i) =&gt; (&#10;   &lt;Box key={i} style={{ flex: 1, background: '#FFF3EE', borderRadius: 4, padding: '10px 14px', flexDirection: 'column', justifyContent: 'center', borderLeft: '4px solid #FA4F24' }}&gt;&#10;       &lt;Box style={{ flexDirection: 'row', alignItems: 'baseline', gap: 10 }}&gt;&#10; &lt;Text style={{ fontSize: 14, fontWeight: 'bold', color: '#3A2000' }}&gt;{it.n}&lt;/Text&gt;&#10;     &lt;Text style={{ fontSize: 14, fontWeight: 'bold', color: '#C43A17' }}&gt;{it.t}&lt;/Text&gt;&#10;    &lt;/Box&gt;&#10;    &lt;Text style={{ fontSize: 13, color: '#3A2000', lineHeight: 1.45, marginTop: 5 }}&gt;{it.d}&lt;/Text&gt;&#10;   &lt;/Box&gt;&#10;    ))}&#10;     &lt;Box style={{ flex: 1, background: '#FFF3EE', borderRadius: 4, padding: '0 14px', flexDirection: 'row', alignItems: 'center' }}&gt;&#10; &lt;Text style={{ fontSize: 13, color: '#8A5A20', flex: 1, lineHeight: 1.45 }}&gt;&#10;   漏掉动力学层的代价：建议做得再准，也只能靠人手工去改系统 —— 不落库、不留痕、不敢接 AI&#10;        &lt;/Text&gt;&#10;     &lt;/Box&gt;&#10;      &lt;/Box&gt;&#10;    &lt;/Box&gt;&#10;&#10;    {/* 中间结论条 */}&#10;    &lt;Box style={{ position: 'absolute', left: 470, top: 636, width: 340, height: 1, background: '#E8E8E8' }} /&gt;&#10;&#10;    &lt;Box style={{ height: 58, flexDirection: 'row', alignItems: 'center', borderTop: '1px solid #E8E8E8' }}&gt;&#10;     &lt;Box style={{ width: 10, height: 10, background: '#FA4F24' }} /&gt;&#10;   &lt;Text style={{ fontSize: 13, color: '#8A8F99', marginLeft: 12 }}&gt;硕磐机密 · Ontology本体咨询方法论&lt;/Text&gt;&#10; &lt;Text style={{ fontSize: 13, color: '#8A8F99', marginLeft: 'auto' }}&gt;07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1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语义元素与动力学元素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，本体就是这两类东西的合体</a:t>
            </a:r>
            <a:endParaRPr/>
          </a:p>
        </p:txBody>
      </p:sp>
      <p:sp>
        <p:nvSpPr>
          <p:cNvPr id="152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只建语义，就是个漂亮的只读模型；只建行动，就是个散乱的接口集合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两类必须同时定义</a:t>
            </a:r>
            <a:endParaRPr/>
          </a:p>
        </p:txBody>
      </p:sp>
      <p:sp>
        <p:nvSpPr>
          <p:cNvPr id="152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22" name=""/>
          <p:cNvSpPr/>
          <p:nvPr/>
        </p:nvSpPr>
        <p:spPr>
          <a:xfrm rot="0" flipH="0" flipV="0">
            <a:off x="609600" y="1362075"/>
            <a:ext cx="5400675" cy="381000"/>
          </a:xfrm>
          <a:prstGeom prst="roundRect">
            <a:avLst>
              <a:gd name="adj" fmla="val 10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23" name="" descr="{&quot;isTemplate&quot;:true,&quot;type&quot;:&quot;text&quot;}"/>
          <p:cNvSpPr txBox="1"/>
          <p:nvPr/>
        </p:nvSpPr>
        <p:spPr>
          <a:xfrm rot="0" flipH="0" flipV="0">
            <a:off x="742950" y="1466850"/>
            <a:ext cx="115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语义元素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是什么</a:t>
            </a:r>
            <a:endParaRPr/>
          </a:p>
        </p:txBody>
      </p:sp>
      <p:sp>
        <p:nvSpPr>
          <p:cNvPr id="1524" name="" descr="{&quot;isTemplate&quot;:true,&quot;type&quot;:&quot;text&quot;}"/>
          <p:cNvSpPr txBox="1"/>
          <p:nvPr/>
        </p:nvSpPr>
        <p:spPr>
          <a:xfrm rot="0" flipH="0" flipV="0">
            <a:off x="1990725" y="14859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SEMANTIC</a:t>
            </a:r>
            <a:endParaRPr/>
          </a:p>
        </p:txBody>
      </p:sp>
      <p:sp>
        <p:nvSpPr>
          <p:cNvPr id="1525" name=""/>
          <p:cNvSpPr/>
          <p:nvPr/>
        </p:nvSpPr>
        <p:spPr>
          <a:xfrm rot="0" flipH="0" flipV="0">
            <a:off x="647700" y="1819275"/>
            <a:ext cx="5400675" cy="990600"/>
          </a:xfrm>
          <a:prstGeom prst="roundRect">
            <a:avLst>
              <a:gd name="adj" fmla="val 384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26" name=""/>
          <p:cNvSpPr/>
          <p:nvPr/>
        </p:nvSpPr>
        <p:spPr>
          <a:xfrm rot="0" flipH="0" flipV="0">
            <a:off x="647700" y="1819275"/>
            <a:ext cx="5400675" cy="990600"/>
          </a:xfrm>
          <a:custGeom>
            <a:pathLst>
              <a:path w="567" h="104">
                <a:moveTo>
                  <a:pt x="4" y="104"/>
                </a:moveTo>
                <a:cubicBezTo>
                  <a:pt x="2" y="104"/>
                  <a:pt x="0" y="102"/>
                  <a:pt x="0" y="10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4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27" name="" descr="{&quot;isTemplate&quot;:true,&quot;type&quot;:&quot;text&quot;}"/>
          <p:cNvSpPr txBox="1"/>
          <p:nvPr/>
        </p:nvSpPr>
        <p:spPr>
          <a:xfrm rot="0" flipH="0" flipV="0">
            <a:off x="781050" y="21050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Object Type</a:t>
            </a:r>
            <a:endParaRPr/>
          </a:p>
        </p:txBody>
      </p:sp>
      <p:sp>
        <p:nvSpPr>
          <p:cNvPr id="1528" name="" descr="{&quot;isTemplate&quot;:true,&quot;type&quot;:&quot;text&quot;}"/>
          <p:cNvSpPr txBox="1"/>
          <p:nvPr/>
        </p:nvSpPr>
        <p:spPr>
          <a:xfrm rot="0" flipH="0" flipV="0">
            <a:off x="1676400" y="21050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对象类型</a:t>
            </a:r>
            <a:endParaRPr/>
          </a:p>
        </p:txBody>
      </p:sp>
      <p:sp>
        <p:nvSpPr>
          <p:cNvPr id="1529" name="" descr="{&quot;isTemplate&quot;:true,&quot;type&quot;:&quot;text&quot;}"/>
          <p:cNvSpPr txBox="1"/>
          <p:nvPr/>
        </p:nvSpPr>
        <p:spPr>
          <a:xfrm rot="0" flipH="0" flipV="0">
            <a:off x="781050" y="2314575"/>
            <a:ext cx="50958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现实实体或事件的模式定义，如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Employee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Order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Device</a:t>
            </a:r>
            <a:endParaRPr/>
          </a:p>
        </p:txBody>
      </p:sp>
      <p:sp>
        <p:nvSpPr>
          <p:cNvPr id="1530" name=""/>
          <p:cNvSpPr/>
          <p:nvPr/>
        </p:nvSpPr>
        <p:spPr>
          <a:xfrm rot="0" flipH="0" flipV="0">
            <a:off x="647700" y="2886075"/>
            <a:ext cx="5400675" cy="990600"/>
          </a:xfrm>
          <a:prstGeom prst="roundRect">
            <a:avLst>
              <a:gd name="adj" fmla="val 384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31" name=""/>
          <p:cNvSpPr/>
          <p:nvPr/>
        </p:nvSpPr>
        <p:spPr>
          <a:xfrm rot="0" flipH="0" flipV="0">
            <a:off x="647700" y="2886075"/>
            <a:ext cx="5400675" cy="990600"/>
          </a:xfrm>
          <a:custGeom>
            <a:pathLst>
              <a:path w="567" h="104">
                <a:moveTo>
                  <a:pt x="4" y="104"/>
                </a:moveTo>
                <a:cubicBezTo>
                  <a:pt x="2" y="104"/>
                  <a:pt x="0" y="102"/>
                  <a:pt x="0" y="10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4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32" name="" descr="{&quot;isTemplate&quot;:true,&quot;type&quot;:&quot;text&quot;}"/>
          <p:cNvSpPr txBox="1"/>
          <p:nvPr/>
        </p:nvSpPr>
        <p:spPr>
          <a:xfrm rot="0" flipH="0" flipV="0">
            <a:off x="781050" y="3171825"/>
            <a:ext cx="59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Property</a:t>
            </a:r>
            <a:endParaRPr/>
          </a:p>
        </p:txBody>
      </p:sp>
      <p:sp>
        <p:nvSpPr>
          <p:cNvPr id="1533" name="" descr="{&quot;isTemplate&quot;:true,&quot;type&quot;:&quot;text&quot;}"/>
          <p:cNvSpPr txBox="1"/>
          <p:nvPr/>
        </p:nvSpPr>
        <p:spPr>
          <a:xfrm rot="0" flipH="0" flipV="0">
            <a:off x="1466850" y="31718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属性</a:t>
            </a:r>
            <a:endParaRPr/>
          </a:p>
        </p:txBody>
      </p:sp>
      <p:sp>
        <p:nvSpPr>
          <p:cNvPr id="1534" name="" descr="{&quot;isTemplate&quot;:true,&quot;type&quot;:&quot;text&quot;}"/>
          <p:cNvSpPr txBox="1"/>
          <p:nvPr/>
        </p:nvSpPr>
        <p:spPr>
          <a:xfrm rot="0" flipH="0" flipV="0">
            <a:off x="781050" y="3381375"/>
            <a:ext cx="50958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对象的字段，可以是简单值，也可以是复杂结构</a:t>
            </a:r>
            <a:endParaRPr/>
          </a:p>
        </p:txBody>
      </p:sp>
      <p:sp>
        <p:nvSpPr>
          <p:cNvPr id="1535" name=""/>
          <p:cNvSpPr/>
          <p:nvPr/>
        </p:nvSpPr>
        <p:spPr>
          <a:xfrm rot="0" flipH="0" flipV="0">
            <a:off x="647700" y="3952875"/>
            <a:ext cx="5400675" cy="981075"/>
          </a:xfrm>
          <a:prstGeom prst="roundRect">
            <a:avLst>
              <a:gd name="adj" fmla="val 388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36" name=""/>
          <p:cNvSpPr/>
          <p:nvPr/>
        </p:nvSpPr>
        <p:spPr>
          <a:xfrm rot="0" flipH="0" flipV="0">
            <a:off x="647700" y="3952875"/>
            <a:ext cx="5400675" cy="981075"/>
          </a:xfrm>
          <a:custGeom>
            <a:pathLst>
              <a:path w="567" h="103">
                <a:moveTo>
                  <a:pt x="4" y="103"/>
                </a:moveTo>
                <a:cubicBezTo>
                  <a:pt x="2" y="103"/>
                  <a:pt x="0" y="101"/>
                  <a:pt x="0" y="9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3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37" name="" descr="{&quot;isTemplate&quot;:true,&quot;type&quot;:&quot;text&quot;}"/>
          <p:cNvSpPr txBox="1"/>
          <p:nvPr/>
        </p:nvSpPr>
        <p:spPr>
          <a:xfrm rot="0" flipH="0" flipV="0">
            <a:off x="781050" y="422910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Link Type</a:t>
            </a:r>
            <a:endParaRPr/>
          </a:p>
        </p:txBody>
      </p:sp>
      <p:sp>
        <p:nvSpPr>
          <p:cNvPr id="1538" name="" descr="{&quot;isTemplate&quot;:true,&quot;type&quot;:&quot;text&quot;}"/>
          <p:cNvSpPr txBox="1"/>
          <p:nvPr/>
        </p:nvSpPr>
        <p:spPr>
          <a:xfrm rot="0" flipH="0" flipV="0">
            <a:off x="1514475" y="42291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链接类型</a:t>
            </a:r>
            <a:endParaRPr/>
          </a:p>
        </p:txBody>
      </p:sp>
      <p:sp>
        <p:nvSpPr>
          <p:cNvPr id="1539" name="" descr="{&quot;isTemplate&quot;:true,&quot;type&quot;:&quot;text&quot;}"/>
          <p:cNvSpPr txBox="1"/>
          <p:nvPr/>
        </p:nvSpPr>
        <p:spPr>
          <a:xfrm rot="0" flipH="0" flipV="0">
            <a:off x="781050" y="4438650"/>
            <a:ext cx="50958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对象之间的关系，支持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1:1 / 1:N / M:N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，关系本身也能带属性</a:t>
            </a:r>
            <a:endParaRPr/>
          </a:p>
        </p:txBody>
      </p:sp>
      <p:sp>
        <p:nvSpPr>
          <p:cNvPr id="1540" name=""/>
          <p:cNvSpPr/>
          <p:nvPr/>
        </p:nvSpPr>
        <p:spPr>
          <a:xfrm rot="0" flipH="0" flipV="0">
            <a:off x="609600" y="5010150"/>
            <a:ext cx="5400675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41" name="" descr="{&quot;isTemplate&quot;:true,&quot;type&quot;:&quot;text&quot;}"/>
          <p:cNvSpPr txBox="1"/>
          <p:nvPr/>
        </p:nvSpPr>
        <p:spPr>
          <a:xfrm rot="0" flipH="0" flipV="0">
            <a:off x="742950" y="5200650"/>
            <a:ext cx="51339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漏掉语义层的代价：每个应用各写一套字段名与口径，同一个问题在十张图里有十个答案</a:t>
            </a:r>
            <a:endParaRPr/>
          </a:p>
        </p:txBody>
      </p:sp>
      <p:sp>
        <p:nvSpPr>
          <p:cNvPr id="1542" name=""/>
          <p:cNvSpPr/>
          <p:nvPr/>
        </p:nvSpPr>
        <p:spPr>
          <a:xfrm rot="0" flipH="0" flipV="0">
            <a:off x="6181725" y="1362075"/>
            <a:ext cx="5400675" cy="38100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43" name="" descr="{&quot;isTemplate&quot;:true,&quot;type&quot;:&quot;text&quot;}"/>
          <p:cNvSpPr txBox="1"/>
          <p:nvPr/>
        </p:nvSpPr>
        <p:spPr>
          <a:xfrm rot="0" flipH="0" flipV="0">
            <a:off x="6315075" y="1466850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动力学元素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能做什么</a:t>
            </a:r>
            <a:endParaRPr/>
          </a:p>
        </p:txBody>
      </p:sp>
      <p:sp>
        <p:nvSpPr>
          <p:cNvPr id="1544" name="" descr="{&quot;isTemplate&quot;:true,&quot;type&quot;:&quot;text&quot;}"/>
          <p:cNvSpPr txBox="1"/>
          <p:nvPr/>
        </p:nvSpPr>
        <p:spPr>
          <a:xfrm rot="0" flipH="0" flipV="0">
            <a:off x="7848600" y="1485900"/>
            <a:ext cx="438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KINETIC</a:t>
            </a:r>
            <a:endParaRPr/>
          </a:p>
        </p:txBody>
      </p:sp>
      <p:sp>
        <p:nvSpPr>
          <p:cNvPr id="1545" name=""/>
          <p:cNvSpPr/>
          <p:nvPr/>
        </p:nvSpPr>
        <p:spPr>
          <a:xfrm rot="0" flipH="0" flipV="0">
            <a:off x="6219825" y="1819275"/>
            <a:ext cx="5400675" cy="933450"/>
          </a:xfrm>
          <a:prstGeom prst="roundRect">
            <a:avLst>
              <a:gd name="adj" fmla="val 40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46" name=""/>
          <p:cNvSpPr/>
          <p:nvPr/>
        </p:nvSpPr>
        <p:spPr>
          <a:xfrm rot="0" flipH="0" flipV="0">
            <a:off x="6219825" y="1819275"/>
            <a:ext cx="5400675" cy="933450"/>
          </a:xfrm>
          <a:custGeom>
            <a:pathLst>
              <a:path w="56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47" name="" descr="{&quot;isTemplate&quot;:true,&quot;type&quot;:&quot;text&quot;}"/>
          <p:cNvSpPr txBox="1"/>
          <p:nvPr/>
        </p:nvSpPr>
        <p:spPr>
          <a:xfrm rot="0" flipH="0" flipV="0">
            <a:off x="6353175" y="20764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A2000"/>
                </a:solidFill>
                <a:latin typeface="Microsoft YaHei"/>
                <a:ea typeface="Microsoft YaHei"/>
              </a:rPr>
              <a:t>Action Type</a:t>
            </a:r>
            <a:endParaRPr/>
          </a:p>
        </p:txBody>
      </p:sp>
      <p:sp>
        <p:nvSpPr>
          <p:cNvPr id="1548" name="" descr="{&quot;isTemplate&quot;:true,&quot;type&quot;:&quot;text&quot;}"/>
          <p:cNvSpPr txBox="1"/>
          <p:nvPr/>
        </p:nvSpPr>
        <p:spPr>
          <a:xfrm rot="0" flipH="0" flipV="0">
            <a:off x="7248525" y="20764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动作类型</a:t>
            </a:r>
            <a:endParaRPr/>
          </a:p>
        </p:txBody>
      </p:sp>
      <p:sp>
        <p:nvSpPr>
          <p:cNvPr id="1549" name="" descr="{&quot;isTemplate&quot;:true,&quot;type&quot;:&quot;text&quot;}"/>
          <p:cNvSpPr txBox="1"/>
          <p:nvPr/>
        </p:nvSpPr>
        <p:spPr>
          <a:xfrm rot="0" flipH="0" flipV="0">
            <a:off x="6353175" y="2286000"/>
            <a:ext cx="50958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用户可对对象做的结构化受控变更集合，写入的唯一合法入口</a:t>
            </a:r>
            <a:endParaRPr/>
          </a:p>
        </p:txBody>
      </p:sp>
      <p:sp>
        <p:nvSpPr>
          <p:cNvPr id="1550" name=""/>
          <p:cNvSpPr/>
          <p:nvPr/>
        </p:nvSpPr>
        <p:spPr>
          <a:xfrm rot="0" flipH="0" flipV="0">
            <a:off x="6219825" y="2828925"/>
            <a:ext cx="5400675" cy="933450"/>
          </a:xfrm>
          <a:prstGeom prst="roundRect">
            <a:avLst>
              <a:gd name="adj" fmla="val 40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51" name=""/>
          <p:cNvSpPr/>
          <p:nvPr/>
        </p:nvSpPr>
        <p:spPr>
          <a:xfrm rot="0" flipH="0" flipV="0">
            <a:off x="6219825" y="2828925"/>
            <a:ext cx="5400675" cy="933450"/>
          </a:xfrm>
          <a:custGeom>
            <a:pathLst>
              <a:path w="56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52" name="" descr="{&quot;isTemplate&quot;:true,&quot;type&quot;:&quot;text&quot;}"/>
          <p:cNvSpPr txBox="1"/>
          <p:nvPr/>
        </p:nvSpPr>
        <p:spPr>
          <a:xfrm rot="0" flipH="0" flipV="0">
            <a:off x="6353175" y="3086100"/>
            <a:ext cx="59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A2000"/>
                </a:solidFill>
                <a:latin typeface="Microsoft YaHei"/>
                <a:ea typeface="Microsoft YaHei"/>
              </a:rPr>
              <a:t>Function</a:t>
            </a:r>
            <a:endParaRPr/>
          </a:p>
        </p:txBody>
      </p:sp>
      <p:sp>
        <p:nvSpPr>
          <p:cNvPr id="1553" name="" descr="{&quot;isTemplate&quot;:true,&quot;type&quot;:&quot;text&quot;}"/>
          <p:cNvSpPr txBox="1"/>
          <p:nvPr/>
        </p:nvSpPr>
        <p:spPr>
          <a:xfrm rot="0" flipH="0" flipV="0">
            <a:off x="7038975" y="30861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函数</a:t>
            </a:r>
            <a:endParaRPr/>
          </a:p>
        </p:txBody>
      </p:sp>
      <p:sp>
        <p:nvSpPr>
          <p:cNvPr id="1554" name="" descr="{&quot;isTemplate&quot;:true,&quot;type&quot;:&quot;text&quot;}"/>
          <p:cNvSpPr txBox="1"/>
          <p:nvPr/>
        </p:nvSpPr>
        <p:spPr>
          <a:xfrm rot="0" flipH="0" flipV="0">
            <a:off x="6353175" y="3295650"/>
            <a:ext cx="50958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服务端业务逻辑，复杂度不限，类似数据库里的存储过程</a:t>
            </a:r>
            <a:endParaRPr/>
          </a:p>
        </p:txBody>
      </p:sp>
      <p:sp>
        <p:nvSpPr>
          <p:cNvPr id="1555" name=""/>
          <p:cNvSpPr/>
          <p:nvPr/>
        </p:nvSpPr>
        <p:spPr>
          <a:xfrm rot="0" flipH="0" flipV="0">
            <a:off x="6219825" y="3838575"/>
            <a:ext cx="5400675" cy="933450"/>
          </a:xfrm>
          <a:prstGeom prst="roundRect">
            <a:avLst>
              <a:gd name="adj" fmla="val 40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56" name=""/>
          <p:cNvSpPr/>
          <p:nvPr/>
        </p:nvSpPr>
        <p:spPr>
          <a:xfrm rot="0" flipH="0" flipV="0">
            <a:off x="6219825" y="3838575"/>
            <a:ext cx="5400675" cy="933450"/>
          </a:xfrm>
          <a:custGeom>
            <a:pathLst>
              <a:path w="56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57" name="" descr="{&quot;isTemplate&quot;:true,&quot;type&quot;:&quot;text&quot;}"/>
          <p:cNvSpPr txBox="1"/>
          <p:nvPr/>
        </p:nvSpPr>
        <p:spPr>
          <a:xfrm rot="0" flipH="0" flipV="0">
            <a:off x="6353175" y="409575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A2000"/>
                </a:solidFill>
                <a:latin typeface="Microsoft YaHei"/>
                <a:ea typeface="Microsoft YaHei"/>
              </a:rPr>
              <a:t>Dynamic Security</a:t>
            </a:r>
            <a:endParaRPr/>
          </a:p>
        </p:txBody>
      </p:sp>
      <p:sp>
        <p:nvSpPr>
          <p:cNvPr id="1558" name="" descr="{&quot;isTemplate&quot;:true,&quot;type&quot;:&quot;text&quot;}"/>
          <p:cNvSpPr txBox="1"/>
          <p:nvPr/>
        </p:nvSpPr>
        <p:spPr>
          <a:xfrm rot="0" flipH="0" flipV="0">
            <a:off x="7620000" y="40957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动态权限</a:t>
            </a:r>
            <a:endParaRPr/>
          </a:p>
        </p:txBody>
      </p:sp>
      <p:sp>
        <p:nvSpPr>
          <p:cNvPr id="1559" name="" descr="{&quot;isTemplate&quot;:true,&quot;type&quot;:&quot;text&quot;}"/>
          <p:cNvSpPr txBox="1"/>
          <p:nvPr/>
        </p:nvSpPr>
        <p:spPr>
          <a:xfrm rot="0" flipH="0" flipV="0">
            <a:off x="6353175" y="4305300"/>
            <a:ext cx="50958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可按用户属性与对象状态动态判定，不只是静态角色</a:t>
            </a:r>
            <a:endParaRPr/>
          </a:p>
        </p:txBody>
      </p:sp>
      <p:sp>
        <p:nvSpPr>
          <p:cNvPr id="1560" name=""/>
          <p:cNvSpPr/>
          <p:nvPr/>
        </p:nvSpPr>
        <p:spPr>
          <a:xfrm rot="0" flipH="0" flipV="0">
            <a:off x="6181725" y="4848225"/>
            <a:ext cx="5400675" cy="752475"/>
          </a:xfrm>
          <a:prstGeom prst="roundRect">
            <a:avLst>
              <a:gd name="adj" fmla="val 506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61" name="" descr="{&quot;isTemplate&quot;:true,&quot;type&quot;:&quot;text&quot;}"/>
          <p:cNvSpPr txBox="1"/>
          <p:nvPr/>
        </p:nvSpPr>
        <p:spPr>
          <a:xfrm rot="0" flipH="0" flipV="0">
            <a:off x="6315075" y="5010150"/>
            <a:ext cx="51339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8A5A20"/>
                </a:solidFill>
                <a:latin typeface="Microsoft YaHei"/>
                <a:ea typeface="Microsoft YaHei"/>
              </a:rPr>
              <a:t>漏掉动力学层的代价：建议做得再准，也只能靠人手工去改系统</a:t>
            </a:r>
            <a:r>
              <a:rPr lang="en-US" sz="975">
                <a:solidFill>
                  <a:srgbClr val="8A5A2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8A5A20"/>
                </a:solidFill>
                <a:latin typeface="Microsoft YaHei"/>
                <a:ea typeface="Microsoft YaHei"/>
              </a:rPr>
              <a:t>不落库、不留痕、不敢接</a:t>
            </a:r>
            <a:r>
              <a:rPr lang="en-US" sz="975">
                <a:solidFill>
                  <a:srgbClr val="8A5A20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156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6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6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56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07 / 30</a:t>
            </a:r>
            <a:endParaRPr/>
          </a:p>
        </p:txBody>
      </p:sp>
      <p:sp>
        <p:nvSpPr>
          <p:cNvPr id="1566" name=""/>
          <p:cNvSpPr/>
          <p:nvPr/>
        </p:nvSpPr>
        <p:spPr>
          <a:xfrm rot="0" flipH="0" flipV="0">
            <a:off x="4476750" y="6057900"/>
            <a:ext cx="32385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567" name="" descr="&lt;Slide style={{ width: 1280, height: 720, background: '#FFFFFF', padding: '24px 64px 0' }}&gt;&#10;    &lt;Box style={{ height: 96, flexDirection: 'column', justifyContent: 'flex-start' }}&gt;&#10;    &lt;Text style={{ fontSize: 32, fontWeight: 'bold', color: '#0F1423' }}&gt;&#10;   之内容：&lt;span style={{ color: '#FA4F24' }}&gt;Language / Engine / Toolchain&lt;/span&gt;，三段构成决定了交付边界&#10;        &lt;/Text&gt;&#10;        &lt;Text style={{ fontSize: 20, color: '#8A8F99', marginTop: 8 }}&gt;&#10;    咨询要分清哪段是客户要建模的、哪段是平台提供的、哪段是我们要交付接口的&#10;        &lt;/Text&gt;&#10;    &lt;/Box&gt;&#10;    &lt;Box style={{ height: 1, background: '#E8E8E8' }} /&gt;&#10;&#10;    &lt;Box style={{ paddingTop: 22, paddingBottom: 12, height: 479, flexDirection: 'column', gap: 10 }}&gt;&#10;      {/* 三段横条 */}&#10;      {[&#10;        { n: '01', t: 'Language 语言', d: '建语义对象与可执行的行动 —— 这是本体建模的主要工作，也是咨询投入最大的地方', mine: true },&#10;   { n: '02', t: 'Engine 引擎', d: '可扩展的读写架构 —— 负责查询、检索、聚合，以及所有写入的编排', mine: false },&#10;        { n: '03', t: 'Toolchain 工具链', d: '通过 OSDK 让开发者直接在本体之上建应用，不重复造数据接入的轮子', mine: false },&#10;      ].map((it, i) =&gt; (&#10;        &lt;Box key={i} style={{ flex: 1, background: it.mine ? 'linear-gradient(90deg, #FA4F24 0%, #F87D2F 100%)' : '#F7F7F8', borderRadius: 4, padding: '0 20px', flexDirection: 'row', alignItems: 'center', gap: 16 }}&gt;&#10;          &lt;Text style={{ fontSize: 26, fontWeight: 'bold', color: it.mine ? 'rgba(255,255,255,0.55)' : '#C9CCD4' }}&gt;{it.n}&lt;/Text&gt;&#10;    &lt;Box style={{ width: 172 }}&gt;&#10;            &lt;Text style={{ fontSize: 18, fontWeight: 'bold', color: it.mine ? '#FFFFFF' : '#0F1423' }}&gt;{it.t}&lt;/Text&gt;&#10;          &lt;/Box&gt;&#10;          &lt;Text style={{ fontSize: 14, color: it.mine ? 'rgba(255,255,255,0.95)' : '#3A4050', flex: 1, lineHeight: 1.45 }}&gt;{it.d}&lt;/Text&gt;&#10;     {it.mine &amp;&amp; &lt;Text style={{ fontSize: 13, color: '#FFFFFF', background: 'rgba(255,255,255,0.25)', padding: '4px 10px', borderRadius: 2 }}&gt;建模交付主体&lt;/Text&gt;}&#10; &lt;/Box&gt;&#10;    ))}&#10;&#10; {/* 后端服务带 */}&#10;        &lt;Text style={{ fontSize: 18, fontWeight: 'bold', color: '#0F1423', marginTop: 4 }}&gt;引擎背后的服务构成（架构评审要看清这层）&lt;/Text&gt;&#10;    &lt;Box style={{ height: 96, flexDirection: 'row', gap: 8 }}&gt;&#10;      {[&#10;        { n: 'OMS', d: '元数据服务：管所有对象类型的定义' },&#10;   { n: 'Object Store', d: '对象存储 V1 遗留 / V2 下一代权威存储' },&#10;        { n: 'OSS', d: '对象集合服务：处理各种对象集合查询' },&#10;      { n: 'Actions', d: '动作服务：所有写入的编排与校验' },&#10;        { n: 'Data Funnel', d: '数据漏斗：编排数据源与用户编辑并保持索引最新' },&#10;      ].map((it, i) =&gt; (&#10;      &lt;Box key={i} style={{ flex: 1, background: '#F7F7F8', borderRadius: 4, padding: '10px 12px', flexDirection: 'column', justifyContent: 'center' }}&gt;&#10;       &lt;Text style={{ fontSize: 14, fontWeight: 'bold', color: '#0F1423' }}&gt;{it.n}&lt;/Text&gt;&#10;   &lt;Text style={{ fontSize: 12, color: '#3A4050', lineHeight: 1.4, marginTop: 4 }}&gt;{it.d}&lt;/Text&gt;&#10;     &lt;/Box&gt;&#10;      ))}&#10;     &lt;/Box&gt;&#10;&#10;        &lt;Box style={{ height: 50, background: '#FFF3EE', borderRadius: 4, padding: '0 18px', flexDirection: 'row', alignItems: 'center', gap: 12, borderLeft: '4px solid #FBA15C' }}&gt;&#10;          &lt;Text style={{ fontSize: 13, fontWeight: 'bold', color: '#C43A17' }}&gt;★ 交付边界&lt;/Text&gt;&#10;          &lt;Text style={{ fontSize: 13, color: '#3A2000', flex: 1, lineHeight: 1.4 }}&gt;&#10;   我们交付 Language 与 Toolchain 上的应用；引擎是平台方责任，但客户必须能在评审时说清「写入到底经过了什么」&#10;          &lt;/Text&gt;&#10;        &lt;/Box&gt;&#10;    &lt;/Box&gt;&#10;&#10;  &lt;Box style={{ height: 58, flexDirection: 'row', alignItems: 'center', borderTop: '1px solid #E8E8E8' }}&gt;&#10;        &lt;Box style={{ width: 10, height: 10, background: '#FA4F24' }} /&gt;&#10;   &lt;Text style={{ fontSize: 13, color: '#8A8F99', marginLeft: 12 }}&gt;硕磐机密 · Ontology本体咨询方法论&lt;/Text&gt;&#10;        &lt;Text style={{ fontSize: 13, color: '#8A8F99', marginLeft: 'auto' }}&gt;08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>Language / Engine / Toolchain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，三段构成决定了交付边界</a:t>
            </a:r>
            <a:endParaRPr/>
          </a:p>
        </p:txBody>
      </p:sp>
      <p:sp>
        <p:nvSpPr>
          <p:cNvPr id="157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咨询要分清哪段是客户要建模的、哪段是平台提供的、哪段是我们要交付接口的</a:t>
            </a:r>
            <a:endParaRPr/>
          </a:p>
        </p:txBody>
      </p:sp>
      <p:sp>
        <p:nvSpPr>
          <p:cNvPr id="157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72" name=""/>
          <p:cNvSpPr/>
          <p:nvPr/>
        </p:nvSpPr>
        <p:spPr>
          <a:xfrm rot="0" flipH="0" flipV="0">
            <a:off x="609600" y="1362075"/>
            <a:ext cx="10972800" cy="704850"/>
          </a:xfrm>
          <a:prstGeom prst="roundRect">
            <a:avLst>
              <a:gd name="adj" fmla="val 5405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573" name="" descr="{&quot;isTemplate&quot;:true,&quot;type&quot;:&quot;text&quot;}"/>
          <p:cNvSpPr txBox="1"/>
          <p:nvPr/>
        </p:nvSpPr>
        <p:spPr>
          <a:xfrm rot="0" flipH="0" flipV="0">
            <a:off x="800100" y="156210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574" name="" descr="{&quot;isTemplate&quot;:true,&quot;type&quot;:&quot;text&quot;}"/>
          <p:cNvSpPr txBox="1"/>
          <p:nvPr/>
        </p:nvSpPr>
        <p:spPr>
          <a:xfrm rot="0" flipH="0" flipV="0">
            <a:off x="1266825" y="1609725"/>
            <a:ext cx="1638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Language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语言</a:t>
            </a:r>
            <a:endParaRPr/>
          </a:p>
        </p:txBody>
      </p:sp>
      <p:sp>
        <p:nvSpPr>
          <p:cNvPr id="1575" name="" descr="{&quot;isTemplate&quot;:true,&quot;type&quot;:&quot;text&quot;}"/>
          <p:cNvSpPr txBox="1"/>
          <p:nvPr/>
        </p:nvSpPr>
        <p:spPr>
          <a:xfrm rot="0" flipH="0" flipV="0">
            <a:off x="3057525" y="1600200"/>
            <a:ext cx="72485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建语义对象与可执行的行动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这是本体建模的主要工作，也是咨询投入最大的地方</a:t>
            </a:r>
            <a:endParaRPr/>
          </a:p>
        </p:txBody>
      </p:sp>
      <p:sp>
        <p:nvSpPr>
          <p:cNvPr id="1576" name=""/>
          <p:cNvSpPr/>
          <p:nvPr/>
        </p:nvSpPr>
        <p:spPr>
          <a:xfrm rot="0" flipH="0" flipV="0">
            <a:off x="10458450" y="1600200"/>
            <a:ext cx="933450" cy="228600"/>
          </a:xfrm>
          <a:prstGeom prst="roundRect">
            <a:avLst>
              <a:gd name="adj" fmla="val 8333"/>
            </a:avLst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577" name="" descr="{&quot;isTemplate&quot;:true,&quot;type&quot;:&quot;text&quot;}"/>
          <p:cNvSpPr txBox="1"/>
          <p:nvPr/>
        </p:nvSpPr>
        <p:spPr>
          <a:xfrm rot="0" flipH="0" flipV="0">
            <a:off x="10458450" y="1600200"/>
            <a:ext cx="933450" cy="228600"/>
          </a:xfrm>
          <a:prstGeom prst="rect"/>
        </p:spPr>
        <p:txBody>
          <a:bodyPr wrap="none" lIns="71438" tIns="28575" rIns="71438" bIns="28575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highlight>
                  <a:srgbClr val="FFFFFF">
                    <a:alpha val="25000"/>
                  </a:srgbClr>
                </a:highlight>
                <a:latin typeface="Microsoft YaHei"/>
                <a:ea typeface="Microsoft YaHei"/>
              </a:rPr>
              <a:t>建模交付主体</a:t>
            </a:r>
            <a:endParaRPr/>
          </a:p>
        </p:txBody>
      </p:sp>
      <p:sp>
        <p:nvSpPr>
          <p:cNvPr id="1578" name=""/>
          <p:cNvSpPr/>
          <p:nvPr/>
        </p:nvSpPr>
        <p:spPr>
          <a:xfrm rot="0" flipH="0" flipV="0">
            <a:off x="609600" y="2162175"/>
            <a:ext cx="10972800" cy="714375"/>
          </a:xfrm>
          <a:prstGeom prst="roundRect">
            <a:avLst>
              <a:gd name="adj" fmla="val 5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79" name="" descr="{&quot;isTemplate&quot;:true,&quot;type&quot;:&quot;text&quot;}"/>
          <p:cNvSpPr txBox="1"/>
          <p:nvPr/>
        </p:nvSpPr>
        <p:spPr>
          <a:xfrm rot="0" flipH="0" flipV="0">
            <a:off x="800100" y="237172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C9CCD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580" name="" descr="{&quot;isTemplate&quot;:true,&quot;type&quot;:&quot;text&quot;}"/>
          <p:cNvSpPr txBox="1"/>
          <p:nvPr/>
        </p:nvSpPr>
        <p:spPr>
          <a:xfrm rot="0" flipH="0" flipV="0">
            <a:off x="1266825" y="2419350"/>
            <a:ext cx="1638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Engine </a:t>
            </a: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1581" name="" descr="{&quot;isTemplate&quot;:true,&quot;type&quot;:&quot;text&quot;}"/>
          <p:cNvSpPr txBox="1"/>
          <p:nvPr/>
        </p:nvSpPr>
        <p:spPr>
          <a:xfrm rot="0" flipH="0" flipV="0">
            <a:off x="3057525" y="2400300"/>
            <a:ext cx="83343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可扩展的读写架构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负责查询、检索、聚合，以及所有写入的编排</a:t>
            </a:r>
            <a:endParaRPr/>
          </a:p>
        </p:txBody>
      </p:sp>
      <p:sp>
        <p:nvSpPr>
          <p:cNvPr id="1582" name=""/>
          <p:cNvSpPr/>
          <p:nvPr/>
        </p:nvSpPr>
        <p:spPr>
          <a:xfrm rot="0" flipH="0" flipV="0">
            <a:off x="609600" y="2971800"/>
            <a:ext cx="10972800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83" name="" descr="{&quot;isTemplate&quot;:true,&quot;type&quot;:&quot;text&quot;}"/>
          <p:cNvSpPr txBox="1"/>
          <p:nvPr/>
        </p:nvSpPr>
        <p:spPr>
          <a:xfrm rot="0" flipH="0" flipV="0">
            <a:off x="800100" y="317182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C9CCD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84" name="" descr="{&quot;isTemplate&quot;:true,&quot;type&quot;:&quot;text&quot;}"/>
          <p:cNvSpPr txBox="1"/>
          <p:nvPr/>
        </p:nvSpPr>
        <p:spPr>
          <a:xfrm rot="0" flipH="0" flipV="0">
            <a:off x="1266825" y="3219450"/>
            <a:ext cx="1638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Toolchain </a:t>
            </a: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工具链</a:t>
            </a:r>
            <a:endParaRPr/>
          </a:p>
        </p:txBody>
      </p:sp>
      <p:sp>
        <p:nvSpPr>
          <p:cNvPr id="1585" name="" descr="{&quot;isTemplate&quot;:true,&quot;type&quot;:&quot;text&quot;}"/>
          <p:cNvSpPr txBox="1"/>
          <p:nvPr/>
        </p:nvSpPr>
        <p:spPr>
          <a:xfrm rot="0" flipH="0" flipV="0">
            <a:off x="3057525" y="3209925"/>
            <a:ext cx="83343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通过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OSDK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让开发者直接在本体之上建应用，不重复造数据接入的轮子</a:t>
            </a:r>
            <a:endParaRPr/>
          </a:p>
        </p:txBody>
      </p:sp>
      <p:sp>
        <p:nvSpPr>
          <p:cNvPr id="1586" name="" descr="{&quot;isTemplate&quot;:true,&quot;type&quot;:&quot;text&quot;}"/>
          <p:cNvSpPr txBox="1"/>
          <p:nvPr/>
        </p:nvSpPr>
        <p:spPr>
          <a:xfrm rot="0" flipH="0" flipV="0">
            <a:off x="609600" y="381000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引擎背后的服务构成（架构评审要看清这层）</a:t>
            </a:r>
            <a:endParaRPr/>
          </a:p>
        </p:txBody>
      </p:sp>
      <p:sp>
        <p:nvSpPr>
          <p:cNvPr id="1587" name=""/>
          <p:cNvSpPr/>
          <p:nvPr/>
        </p:nvSpPr>
        <p:spPr>
          <a:xfrm rot="0" flipH="0" flipV="0">
            <a:off x="609600" y="4114800"/>
            <a:ext cx="2133600" cy="9144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88" name="" descr="{&quot;isTemplate&quot;:true,&quot;type&quot;:&quot;text&quot;}"/>
          <p:cNvSpPr txBox="1"/>
          <p:nvPr/>
        </p:nvSpPr>
        <p:spPr>
          <a:xfrm rot="0" flipH="0" flipV="0">
            <a:off x="723900" y="437197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OMS</a:t>
            </a:r>
            <a:endParaRPr/>
          </a:p>
        </p:txBody>
      </p:sp>
      <p:sp>
        <p:nvSpPr>
          <p:cNvPr id="1589" name="" descr="{&quot;isTemplate&quot;:true,&quot;type&quot;:&quot;text&quot;}"/>
          <p:cNvSpPr txBox="1"/>
          <p:nvPr/>
        </p:nvSpPr>
        <p:spPr>
          <a:xfrm rot="0" flipH="0" flipV="0">
            <a:off x="723900" y="45720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元数据服务：管所有对象类型的定义</a:t>
            </a:r>
            <a:endParaRPr/>
          </a:p>
        </p:txBody>
      </p:sp>
      <p:sp>
        <p:nvSpPr>
          <p:cNvPr id="1590" name=""/>
          <p:cNvSpPr/>
          <p:nvPr/>
        </p:nvSpPr>
        <p:spPr>
          <a:xfrm rot="0" flipH="0" flipV="0">
            <a:off x="2819400" y="4114800"/>
            <a:ext cx="2133600" cy="9144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1" name="" descr="{&quot;isTemplate&quot;:true,&quot;type&quot;:&quot;text&quot;}"/>
          <p:cNvSpPr txBox="1"/>
          <p:nvPr/>
        </p:nvSpPr>
        <p:spPr>
          <a:xfrm rot="0" flipH="0" flipV="0">
            <a:off x="2933700" y="427672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Object Store</a:t>
            </a:r>
            <a:endParaRPr/>
          </a:p>
        </p:txBody>
      </p:sp>
      <p:sp>
        <p:nvSpPr>
          <p:cNvPr id="1592" name="" descr="{&quot;isTemplate&quot;:true,&quot;type&quot;:&quot;text&quot;}"/>
          <p:cNvSpPr txBox="1"/>
          <p:nvPr/>
        </p:nvSpPr>
        <p:spPr>
          <a:xfrm rot="0" flipH="0" flipV="0">
            <a:off x="2933700" y="4476750"/>
            <a:ext cx="19050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对象存储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V1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遗留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V2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下一代权威存储</a:t>
            </a:r>
            <a:endParaRPr/>
          </a:p>
        </p:txBody>
      </p:sp>
      <p:sp>
        <p:nvSpPr>
          <p:cNvPr id="1593" name=""/>
          <p:cNvSpPr/>
          <p:nvPr/>
        </p:nvSpPr>
        <p:spPr>
          <a:xfrm rot="0" flipH="0" flipV="0">
            <a:off x="5029200" y="4114800"/>
            <a:ext cx="2133600" cy="9144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4" name="" descr="{&quot;isTemplate&quot;:true,&quot;type&quot;:&quot;text&quot;}"/>
          <p:cNvSpPr txBox="1"/>
          <p:nvPr/>
        </p:nvSpPr>
        <p:spPr>
          <a:xfrm rot="0" flipH="0" flipV="0">
            <a:off x="5143500" y="427672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OSS</a:t>
            </a:r>
            <a:endParaRPr/>
          </a:p>
        </p:txBody>
      </p:sp>
      <p:sp>
        <p:nvSpPr>
          <p:cNvPr id="1595" name="" descr="{&quot;isTemplate&quot;:true,&quot;type&quot;:&quot;text&quot;}"/>
          <p:cNvSpPr txBox="1"/>
          <p:nvPr/>
        </p:nvSpPr>
        <p:spPr>
          <a:xfrm rot="0" flipH="0" flipV="0">
            <a:off x="5143500" y="4476750"/>
            <a:ext cx="19050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对象集合服务：处理各种对象集合查询</a:t>
            </a:r>
            <a:endParaRPr/>
          </a:p>
        </p:txBody>
      </p:sp>
      <p:sp>
        <p:nvSpPr>
          <p:cNvPr id="1596" name=""/>
          <p:cNvSpPr/>
          <p:nvPr/>
        </p:nvSpPr>
        <p:spPr>
          <a:xfrm rot="0" flipH="0" flipV="0">
            <a:off x="7239000" y="4114800"/>
            <a:ext cx="2133600" cy="9144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7" name="" descr="{&quot;isTemplate&quot;:true,&quot;type&quot;:&quot;text&quot;}"/>
          <p:cNvSpPr txBox="1"/>
          <p:nvPr/>
        </p:nvSpPr>
        <p:spPr>
          <a:xfrm rot="0" flipH="0" flipV="0">
            <a:off x="7353300" y="437197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Actions</a:t>
            </a:r>
            <a:endParaRPr/>
          </a:p>
        </p:txBody>
      </p:sp>
      <p:sp>
        <p:nvSpPr>
          <p:cNvPr id="1598" name="" descr="{&quot;isTemplate&quot;:true,&quot;type&quot;:&quot;text&quot;}"/>
          <p:cNvSpPr txBox="1"/>
          <p:nvPr/>
        </p:nvSpPr>
        <p:spPr>
          <a:xfrm rot="0" flipH="0" flipV="0">
            <a:off x="7353300" y="45720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动作服务：所有写入的编排与校验</a:t>
            </a:r>
            <a:endParaRPr/>
          </a:p>
        </p:txBody>
      </p:sp>
      <p:sp>
        <p:nvSpPr>
          <p:cNvPr id="1599" name=""/>
          <p:cNvSpPr/>
          <p:nvPr/>
        </p:nvSpPr>
        <p:spPr>
          <a:xfrm rot="0" flipH="0" flipV="0">
            <a:off x="9448800" y="4114800"/>
            <a:ext cx="2133600" cy="914400"/>
          </a:xfrm>
          <a:prstGeom prst="roundRect">
            <a:avLst>
              <a:gd name="adj" fmla="val 41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00" name="" descr="{&quot;isTemplate&quot;:true,&quot;type&quot;:&quot;text&quot;}"/>
          <p:cNvSpPr txBox="1"/>
          <p:nvPr/>
        </p:nvSpPr>
        <p:spPr>
          <a:xfrm rot="0" flipH="0" flipV="0">
            <a:off x="9563100" y="427672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Data Funnel</a:t>
            </a:r>
            <a:endParaRPr/>
          </a:p>
        </p:txBody>
      </p:sp>
      <p:sp>
        <p:nvSpPr>
          <p:cNvPr id="1601" name="" descr="{&quot;isTemplate&quot;:true,&quot;type&quot;:&quot;text&quot;}"/>
          <p:cNvSpPr txBox="1"/>
          <p:nvPr/>
        </p:nvSpPr>
        <p:spPr>
          <a:xfrm rot="0" flipH="0" flipV="0">
            <a:off x="9563100" y="4476750"/>
            <a:ext cx="19050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数据漏斗：编排数据源与用户编辑并保持索引最新</a:t>
            </a:r>
            <a:endParaRPr/>
          </a:p>
        </p:txBody>
      </p:sp>
      <p:sp>
        <p:nvSpPr>
          <p:cNvPr id="1602" name=""/>
          <p:cNvSpPr/>
          <p:nvPr/>
        </p:nvSpPr>
        <p:spPr>
          <a:xfrm rot="0" flipH="0" flipV="0">
            <a:off x="647700" y="5124450"/>
            <a:ext cx="10972800" cy="476250"/>
          </a:xfrm>
          <a:prstGeom prst="roundRect">
            <a:avLst>
              <a:gd name="adj" fmla="val 8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03" name=""/>
          <p:cNvSpPr/>
          <p:nvPr/>
        </p:nvSpPr>
        <p:spPr>
          <a:xfrm rot="0" flipH="0" flipV="0">
            <a:off x="647700" y="5124450"/>
            <a:ext cx="10972800" cy="476250"/>
          </a:xfrm>
          <a:custGeom>
            <a:pathLst>
              <a:path w="1152" h="50">
                <a:moveTo>
                  <a:pt x="4" y="50"/>
                </a:moveTo>
                <a:cubicBezTo>
                  <a:pt x="2" y="50"/>
                  <a:pt x="0" y="48"/>
                  <a:pt x="0" y="4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04" name="" descr="{&quot;isTemplate&quot;:true,&quot;type&quot;:&quot;text&quot;}"/>
          <p:cNvSpPr txBox="1"/>
          <p:nvPr/>
        </p:nvSpPr>
        <p:spPr>
          <a:xfrm rot="0" flipH="0" flipV="0">
            <a:off x="819150" y="5286375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交付边界</a:t>
            </a:r>
            <a:endParaRPr/>
          </a:p>
        </p:txBody>
      </p:sp>
      <p:sp>
        <p:nvSpPr>
          <p:cNvPr id="1605" name="" descr="{&quot;isTemplate&quot;:true,&quot;type&quot;:&quot;text&quot;}"/>
          <p:cNvSpPr txBox="1"/>
          <p:nvPr/>
        </p:nvSpPr>
        <p:spPr>
          <a:xfrm rot="0" flipH="0" flipV="0">
            <a:off x="1571625" y="5257800"/>
            <a:ext cx="98393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我们交付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Language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Toolchain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上的应用；引擎是平台方责任，但客户必须能在评审时说清「写入到底经过了什么」</a:t>
            </a:r>
            <a:endParaRPr/>
          </a:p>
        </p:txBody>
      </p:sp>
      <p:sp>
        <p:nvSpPr>
          <p:cNvPr id="160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0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0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60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08 / 30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61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内容：&lt;span style={{ color: '#FA4F24' }}&gt;为什么它不是语义层&lt;/span&gt;，五维对比看清边界&#10;     &lt;/Text&gt;&#10;   &lt;Text style={{ fontSize: 20, color: '#8A8F99', marginTop: 8 }}&gt;&#10;      很多项目失败在把本体当成「更漂亮的语义层」，只做了上半截&#10;        &lt;/Text&gt;&#10;    &lt;/Box&gt;&#10;    &lt;Box style={{ height: 1, background: '#E8E8E8' }} /&gt;&#10;&#10;    &lt;Box style={{ paddingTop: 22, paddingBottom: 12, height: 479, flexDirection: 'column', gap: 10 }}&gt;&#10;      {/* 表头 */}&#10;      &lt;Box style={{ flexDirection: 'row', gap: 8 }}&gt;&#10;        &lt;Box style={{ flex: 1.15, background: '#0F1423', padding: '10px 14px' }}&gt;&#10;        &lt;Text style={{ fontSize: 14, fontWeight: 'bold', color: '#FFFFFF' }}&gt;对比维度&lt;/Text&gt;&#10;      &lt;/Box&gt;&#10;        &lt;Box style={{ flex: 2.2, background: '#5A6072', padding: '10px 14px' }}&gt;&#10;      &lt;Text style={{ fontSize: 14, fontWeight: 'bold', color: '#FFFFFF' }}&gt;传统语义层&lt;/Text&gt;&#10; &lt;/Box&gt;&#10;        &lt;Box style={{ flex: 2.4, background: '#FA4F24', padding: '10px 14px' }}&gt;&#10;   &lt;Text style={{ fontSize: 14, fontWeight: 'bold', color: '#FFFFFF' }}&gt;Ontology&lt;/Text&gt;&#10;    &lt;/Box&gt;&#10;   &lt;/Box&gt;&#10;      {/* 五行 */}&#10;      {[&#10; { d: '核心对象', a: '表、字段、指标、口径', b: '业务对象、关系、状态机' },&#10; { d: '写能力', a: '只读，天然如此', b: '写入必须经 Action Type，受控可审计' },&#10;        { d: '权限粒度', a: '到库表与行列级', b: '到对象与属性，且随身份动态判定' },&#10;     { d: '逻辑位置', a: '逻辑定义在语义层内部', b: 'Function 是独立元素，可被应用与 AI 直接调用' },&#10;      { d: '交付对象', a: '分析师与报表', b: '决策者、执行系统、以及 AI Agent' },&#10;      ].map((it, i) =&gt; (&#10;        &lt;Box key={i} style={{ flex: 1, flexDirection: 'row', gap: 8 }}&gt;&#10;    &lt;Box style={{ flex: 1.15, background: '#F7F7F8', padding: '10px 14px', justifyContent: 'center' }}&gt;&#10;   &lt;Text style={{ fontSize: 14, fontWeight: 'bold', color: '#0F1423' }}&gt;{it.d}&lt;/Text&gt;&#10;    &lt;/Box&gt;&#10;   &lt;Box style={{ flex: 2.2, background: '#F7F7F8', padding: '10px 14px', justifyContent: 'center' }}&gt;&#10;    &lt;Text style={{ fontSize: 13, color: '#5A6072', lineHeight: 1.4 }}&gt;{it.a}&lt;/Text&gt;&#10;  &lt;/Box&gt;&#10;    &lt;Box style={{ flex: 2.4, background: '#FFF3EE', padding: '10px 14px', justifyContent: 'center' }}&gt;&#10;        &lt;Text style={{ fontSize: 13, color: '#3A2000', lineHeight: 1.4 }}&gt;{it.b}&lt;/Text&gt;&#10;   &lt;/Box&gt;&#10;        &lt;/Box&gt;&#10;      ))}&#10;&#10;  {/* 三条判据 */}&#10; &lt;Text style={{ fontSize: 18, fontWeight: 'bold', color: '#0F1423', marginTop: 4 }}&gt;一条判据，当场就能分清&lt;/Text&gt;&#10;    &lt;Box style={{ flex: 1.35, flexDirection: 'row', gap: 8 }}&gt;&#10;     {[&#10;   { t: '问一句', d: '「用户在这个界面上按下按钮之后，系统会发生什么？」' },&#10;      { t: '答不出', d: '你做的是语义层。补 Action 与 Function，再谈本体。' },&#10;      { t: '答得出', d: '但写回不受控、没留痕 —— 也还不是本体，只差治理。' },&#10;      ].map((it, i) =&gt; (&#10;   &lt;Box key={i} style={{ flex: 1, background: i === 0 ? '#0F1423' : '#F7F7F8', borderRadius: 4, padding: '12px 16px', flexDirection: 'column', justifyContent: 'center' }}&gt;&#10;   &lt;Text style={{ fontSize: 14, fontWeight: 'bold', color: i === 0 ? '#FBA15C' : '#C43A17' }}&gt;{it.t}&lt;/Text&gt;&#10;     &lt;Text style={{ fontSize: 13, color: i === 0 ? '#FFFFFF' : '#3A4050', lineHeight: 1.45, marginTop: 5 }}&gt;{it.d}&lt;/Text&gt;&#10;     &lt;/Box&gt;&#10;       ))}&#10;    &lt;/Box&gt;&#10;    &lt;/Box&gt;&#10;&#10;    &lt;Box style={{ height: 58, flexDirection: 'row', alignItems: 'center', borderTop: '1px solid #E8E8E8' }}&gt;&#10;    &lt;Box style={{ width: 10, height: 10, background: '#FA4F24' }} /&gt;&#10;        &lt;Text style={{ fontSize: 13, color: '#8A8F99', marginLeft: 12 }}&gt;硕磐机密 · Ontology本体咨询方法论&lt;/Text&gt;&#10;        &lt;Text style={{ fontSize: 13, color: '#8A8F99', marginLeft: 'auto' }}&gt;09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为什么它不是语义层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，五维对比看清边界</a:t>
            </a:r>
            <a:endParaRPr/>
          </a:p>
        </p:txBody>
      </p:sp>
      <p:sp>
        <p:nvSpPr>
          <p:cNvPr id="161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很多项目失败在把本体当成「更漂亮的语义层」，只做了上半截</a:t>
            </a:r>
            <a:endParaRPr/>
          </a:p>
        </p:txBody>
      </p:sp>
      <p:sp>
        <p:nvSpPr>
          <p:cNvPr id="161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15" name=""/>
          <p:cNvSpPr/>
          <p:nvPr/>
        </p:nvSpPr>
        <p:spPr>
          <a:xfrm rot="0" flipH="0" flipV="0">
            <a:off x="609600" y="1362075"/>
            <a:ext cx="2162175" cy="35242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16" name="" descr="{&quot;isTemplate&quot;:true,&quot;type&quot;:&quot;text&quot;}"/>
          <p:cNvSpPr txBox="1"/>
          <p:nvPr/>
        </p:nvSpPr>
        <p:spPr>
          <a:xfrm rot="0" flipH="0" flipV="0">
            <a:off x="742950" y="1457325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对比维度</a:t>
            </a:r>
            <a:endParaRPr/>
          </a:p>
        </p:txBody>
      </p:sp>
      <p:sp>
        <p:nvSpPr>
          <p:cNvPr id="1617" name=""/>
          <p:cNvSpPr/>
          <p:nvPr/>
        </p:nvSpPr>
        <p:spPr>
          <a:xfrm rot="0" flipH="0" flipV="0">
            <a:off x="2847975" y="1362075"/>
            <a:ext cx="4143375" cy="352425"/>
          </a:xfrm>
          <a:prstGeom prst="rect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618" name="" descr="{&quot;isTemplate&quot;:true,&quot;type&quot;:&quot;text&quot;}"/>
          <p:cNvSpPr txBox="1"/>
          <p:nvPr/>
        </p:nvSpPr>
        <p:spPr>
          <a:xfrm rot="0" flipH="0" flipV="0">
            <a:off x="2981325" y="1457325"/>
            <a:ext cx="387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传统语义层</a:t>
            </a:r>
            <a:endParaRPr/>
          </a:p>
        </p:txBody>
      </p:sp>
      <p:sp>
        <p:nvSpPr>
          <p:cNvPr id="1619" name=""/>
          <p:cNvSpPr/>
          <p:nvPr/>
        </p:nvSpPr>
        <p:spPr>
          <a:xfrm rot="0" flipH="0" flipV="0">
            <a:off x="7067550" y="1362075"/>
            <a:ext cx="4514850" cy="3524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20" name="" descr="{&quot;isTemplate&quot;:true,&quot;type&quot;:&quot;text&quot;}"/>
          <p:cNvSpPr txBox="1"/>
          <p:nvPr/>
        </p:nvSpPr>
        <p:spPr>
          <a:xfrm rot="0" flipH="0" flipV="0">
            <a:off x="7200900" y="1457325"/>
            <a:ext cx="4248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1621" name=""/>
          <p:cNvSpPr/>
          <p:nvPr/>
        </p:nvSpPr>
        <p:spPr>
          <a:xfrm rot="0" flipH="0" flipV="0">
            <a:off x="609600" y="1809750"/>
            <a:ext cx="216217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22" name="" descr="{&quot;isTemplate&quot;:true,&quot;type&quot;:&quot;text&quot;}"/>
          <p:cNvSpPr txBox="1"/>
          <p:nvPr/>
        </p:nvSpPr>
        <p:spPr>
          <a:xfrm rot="0" flipH="0" flipV="0">
            <a:off x="742950" y="1952625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核心对象</a:t>
            </a:r>
            <a:endParaRPr/>
          </a:p>
        </p:txBody>
      </p:sp>
      <p:sp>
        <p:nvSpPr>
          <p:cNvPr id="1623" name=""/>
          <p:cNvSpPr/>
          <p:nvPr/>
        </p:nvSpPr>
        <p:spPr>
          <a:xfrm rot="0" flipH="0" flipV="0">
            <a:off x="2847975" y="1809750"/>
            <a:ext cx="414337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24" name="" descr="{&quot;isTemplate&quot;:true,&quot;type&quot;:&quot;text&quot;}"/>
          <p:cNvSpPr txBox="1"/>
          <p:nvPr/>
        </p:nvSpPr>
        <p:spPr>
          <a:xfrm rot="0" flipH="0" flipV="0">
            <a:off x="2981325" y="1933575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表、字段、指标、口径</a:t>
            </a:r>
            <a:endParaRPr/>
          </a:p>
        </p:txBody>
      </p:sp>
      <p:sp>
        <p:nvSpPr>
          <p:cNvPr id="1625" name=""/>
          <p:cNvSpPr/>
          <p:nvPr/>
        </p:nvSpPr>
        <p:spPr>
          <a:xfrm rot="0" flipH="0" flipV="0">
            <a:off x="7067550" y="1809750"/>
            <a:ext cx="4514850" cy="4476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26" name="" descr="{&quot;isTemplate&quot;:true,&quot;type&quot;:&quot;text&quot;}"/>
          <p:cNvSpPr txBox="1"/>
          <p:nvPr/>
        </p:nvSpPr>
        <p:spPr>
          <a:xfrm rot="0" flipH="0" flipV="0">
            <a:off x="7200900" y="1933575"/>
            <a:ext cx="4248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业务对象、关系、状态机</a:t>
            </a:r>
            <a:endParaRPr/>
          </a:p>
        </p:txBody>
      </p:sp>
      <p:sp>
        <p:nvSpPr>
          <p:cNvPr id="1627" name=""/>
          <p:cNvSpPr/>
          <p:nvPr/>
        </p:nvSpPr>
        <p:spPr>
          <a:xfrm rot="0" flipH="0" flipV="0">
            <a:off x="609600" y="2352675"/>
            <a:ext cx="216217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28" name="" descr="{&quot;isTemplate&quot;:true,&quot;type&quot;:&quot;text&quot;}"/>
          <p:cNvSpPr txBox="1"/>
          <p:nvPr/>
        </p:nvSpPr>
        <p:spPr>
          <a:xfrm rot="0" flipH="0" flipV="0">
            <a:off x="742950" y="249555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写能力</a:t>
            </a:r>
            <a:endParaRPr/>
          </a:p>
        </p:txBody>
      </p:sp>
      <p:sp>
        <p:nvSpPr>
          <p:cNvPr id="1629" name=""/>
          <p:cNvSpPr/>
          <p:nvPr/>
        </p:nvSpPr>
        <p:spPr>
          <a:xfrm rot="0" flipH="0" flipV="0">
            <a:off x="2847975" y="2352675"/>
            <a:ext cx="414337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30" name="" descr="{&quot;isTemplate&quot;:true,&quot;type&quot;:&quot;text&quot;}"/>
          <p:cNvSpPr txBox="1"/>
          <p:nvPr/>
        </p:nvSpPr>
        <p:spPr>
          <a:xfrm rot="0" flipH="0" flipV="0">
            <a:off x="2981325" y="247650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只读，天然如此</a:t>
            </a:r>
            <a:endParaRPr/>
          </a:p>
        </p:txBody>
      </p:sp>
      <p:sp>
        <p:nvSpPr>
          <p:cNvPr id="1631" name=""/>
          <p:cNvSpPr/>
          <p:nvPr/>
        </p:nvSpPr>
        <p:spPr>
          <a:xfrm rot="0" flipH="0" flipV="0">
            <a:off x="7067550" y="2352675"/>
            <a:ext cx="4514850" cy="4476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32" name="" descr="{&quot;isTemplate&quot;:true,&quot;type&quot;:&quot;text&quot;}"/>
          <p:cNvSpPr txBox="1"/>
          <p:nvPr/>
        </p:nvSpPr>
        <p:spPr>
          <a:xfrm rot="0" flipH="0" flipV="0">
            <a:off x="7200900" y="2476500"/>
            <a:ext cx="4248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写入必须经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Action Type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，受控可审计</a:t>
            </a:r>
            <a:endParaRPr/>
          </a:p>
        </p:txBody>
      </p:sp>
      <p:sp>
        <p:nvSpPr>
          <p:cNvPr id="1633" name=""/>
          <p:cNvSpPr/>
          <p:nvPr/>
        </p:nvSpPr>
        <p:spPr>
          <a:xfrm rot="0" flipH="0" flipV="0">
            <a:off x="609600" y="2895600"/>
            <a:ext cx="216217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34" name="" descr="{&quot;isTemplate&quot;:true,&quot;type&quot;:&quot;text&quot;}"/>
          <p:cNvSpPr txBox="1"/>
          <p:nvPr/>
        </p:nvSpPr>
        <p:spPr>
          <a:xfrm rot="0" flipH="0" flipV="0">
            <a:off x="742950" y="30480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权限粒度</a:t>
            </a:r>
            <a:endParaRPr/>
          </a:p>
        </p:txBody>
      </p:sp>
      <p:sp>
        <p:nvSpPr>
          <p:cNvPr id="1635" name=""/>
          <p:cNvSpPr/>
          <p:nvPr/>
        </p:nvSpPr>
        <p:spPr>
          <a:xfrm rot="0" flipH="0" flipV="0">
            <a:off x="2847975" y="2895600"/>
            <a:ext cx="414337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36" name="" descr="{&quot;isTemplate&quot;:true,&quot;type&quot;:&quot;text&quot;}"/>
          <p:cNvSpPr txBox="1"/>
          <p:nvPr/>
        </p:nvSpPr>
        <p:spPr>
          <a:xfrm rot="0" flipH="0" flipV="0">
            <a:off x="2981325" y="3019425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到库表与行列级</a:t>
            </a:r>
            <a:endParaRPr/>
          </a:p>
        </p:txBody>
      </p:sp>
      <p:sp>
        <p:nvSpPr>
          <p:cNvPr id="1637" name=""/>
          <p:cNvSpPr/>
          <p:nvPr/>
        </p:nvSpPr>
        <p:spPr>
          <a:xfrm rot="0" flipH="0" flipV="0">
            <a:off x="7067550" y="2895600"/>
            <a:ext cx="4514850" cy="4572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38" name="" descr="{&quot;isTemplate&quot;:true,&quot;type&quot;:&quot;text&quot;}"/>
          <p:cNvSpPr txBox="1"/>
          <p:nvPr/>
        </p:nvSpPr>
        <p:spPr>
          <a:xfrm rot="0" flipH="0" flipV="0">
            <a:off x="7200900" y="3019425"/>
            <a:ext cx="4248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到对象与属性，且随身份动态判定</a:t>
            </a:r>
            <a:endParaRPr/>
          </a:p>
        </p:txBody>
      </p:sp>
      <p:sp>
        <p:nvSpPr>
          <p:cNvPr id="1639" name=""/>
          <p:cNvSpPr/>
          <p:nvPr/>
        </p:nvSpPr>
        <p:spPr>
          <a:xfrm rot="0" flipH="0" flipV="0">
            <a:off x="609600" y="3448050"/>
            <a:ext cx="216217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40" name="" descr="{&quot;isTemplate&quot;:true,&quot;type&quot;:&quot;text&quot;}"/>
          <p:cNvSpPr txBox="1"/>
          <p:nvPr/>
        </p:nvSpPr>
        <p:spPr>
          <a:xfrm rot="0" flipH="0" flipV="0">
            <a:off x="742950" y="3590925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逻辑位置</a:t>
            </a:r>
            <a:endParaRPr/>
          </a:p>
        </p:txBody>
      </p:sp>
      <p:sp>
        <p:nvSpPr>
          <p:cNvPr id="1641" name=""/>
          <p:cNvSpPr/>
          <p:nvPr/>
        </p:nvSpPr>
        <p:spPr>
          <a:xfrm rot="0" flipH="0" flipV="0">
            <a:off x="2847975" y="3448050"/>
            <a:ext cx="414337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42" name="" descr="{&quot;isTemplate&quot;:true,&quot;type&quot;:&quot;text&quot;}"/>
          <p:cNvSpPr txBox="1"/>
          <p:nvPr/>
        </p:nvSpPr>
        <p:spPr>
          <a:xfrm rot="0" flipH="0" flipV="0">
            <a:off x="2981325" y="3571875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逻辑定义在语义层内部</a:t>
            </a:r>
            <a:endParaRPr/>
          </a:p>
        </p:txBody>
      </p:sp>
      <p:sp>
        <p:nvSpPr>
          <p:cNvPr id="1643" name=""/>
          <p:cNvSpPr/>
          <p:nvPr/>
        </p:nvSpPr>
        <p:spPr>
          <a:xfrm rot="0" flipH="0" flipV="0">
            <a:off x="7067550" y="3448050"/>
            <a:ext cx="4514850" cy="4476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44" name="" descr="{&quot;isTemplate&quot;:true,&quot;type&quot;:&quot;text&quot;}"/>
          <p:cNvSpPr txBox="1"/>
          <p:nvPr/>
        </p:nvSpPr>
        <p:spPr>
          <a:xfrm rot="0" flipH="0" flipV="0">
            <a:off x="7200900" y="3571875"/>
            <a:ext cx="4248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Function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是独立元素，可被应用与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直接调用</a:t>
            </a:r>
            <a:endParaRPr/>
          </a:p>
        </p:txBody>
      </p:sp>
      <p:sp>
        <p:nvSpPr>
          <p:cNvPr id="1645" name=""/>
          <p:cNvSpPr/>
          <p:nvPr/>
        </p:nvSpPr>
        <p:spPr>
          <a:xfrm rot="0" flipH="0" flipV="0">
            <a:off x="609600" y="3990975"/>
            <a:ext cx="216217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46" name="" descr="{&quot;isTemplate&quot;:true,&quot;type&quot;:&quot;text&quot;}"/>
          <p:cNvSpPr txBox="1"/>
          <p:nvPr/>
        </p:nvSpPr>
        <p:spPr>
          <a:xfrm rot="0" flipH="0" flipV="0">
            <a:off x="742950" y="413385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交付对象</a:t>
            </a:r>
            <a:endParaRPr/>
          </a:p>
        </p:txBody>
      </p:sp>
      <p:sp>
        <p:nvSpPr>
          <p:cNvPr id="1647" name=""/>
          <p:cNvSpPr/>
          <p:nvPr/>
        </p:nvSpPr>
        <p:spPr>
          <a:xfrm rot="0" flipH="0" flipV="0">
            <a:off x="2847975" y="3990975"/>
            <a:ext cx="414337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48" name="" descr="{&quot;isTemplate&quot;:true,&quot;type&quot;:&quot;text&quot;}"/>
          <p:cNvSpPr txBox="1"/>
          <p:nvPr/>
        </p:nvSpPr>
        <p:spPr>
          <a:xfrm rot="0" flipH="0" flipV="0">
            <a:off x="2981325" y="411480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分析师与报表</a:t>
            </a:r>
            <a:endParaRPr/>
          </a:p>
        </p:txBody>
      </p:sp>
      <p:sp>
        <p:nvSpPr>
          <p:cNvPr id="1649" name=""/>
          <p:cNvSpPr/>
          <p:nvPr/>
        </p:nvSpPr>
        <p:spPr>
          <a:xfrm rot="0" flipH="0" flipV="0">
            <a:off x="7067550" y="3990975"/>
            <a:ext cx="4514850" cy="4476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50" name="" descr="{&quot;isTemplate&quot;:true,&quot;type&quot;:&quot;text&quot;}"/>
          <p:cNvSpPr txBox="1"/>
          <p:nvPr/>
        </p:nvSpPr>
        <p:spPr>
          <a:xfrm rot="0" flipH="0" flipV="0">
            <a:off x="7200900" y="4114800"/>
            <a:ext cx="42481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决策者、执行系统、以及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AI Agent</a:t>
            </a:r>
            <a:endParaRPr/>
          </a:p>
        </p:txBody>
      </p:sp>
      <p:sp>
        <p:nvSpPr>
          <p:cNvPr id="1651" name="" descr="{&quot;isTemplate&quot;:true,&quot;type&quot;:&quot;text&quot;}"/>
          <p:cNvSpPr txBox="1"/>
          <p:nvPr/>
        </p:nvSpPr>
        <p:spPr>
          <a:xfrm rot="0" flipH="0" flipV="0">
            <a:off x="609600" y="457200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一条判据，当场就能分清</a:t>
            </a:r>
            <a:endParaRPr/>
          </a:p>
        </p:txBody>
      </p:sp>
      <p:sp>
        <p:nvSpPr>
          <p:cNvPr id="1652" name=""/>
          <p:cNvSpPr/>
          <p:nvPr/>
        </p:nvSpPr>
        <p:spPr>
          <a:xfrm rot="0" flipH="0" flipV="0">
            <a:off x="609600" y="4876800"/>
            <a:ext cx="3609975" cy="723900"/>
          </a:xfrm>
          <a:prstGeom prst="roundRect">
            <a:avLst>
              <a:gd name="adj" fmla="val 526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53" name="" descr="{&quot;isTemplate&quot;:true,&quot;type&quot;:&quot;text&quot;}"/>
          <p:cNvSpPr txBox="1"/>
          <p:nvPr/>
        </p:nvSpPr>
        <p:spPr>
          <a:xfrm rot="0" flipH="0" flipV="0">
            <a:off x="762000" y="5029200"/>
            <a:ext cx="3305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问一句</a:t>
            </a:r>
            <a:endParaRPr/>
          </a:p>
        </p:txBody>
      </p:sp>
      <p:sp>
        <p:nvSpPr>
          <p:cNvPr id="1654" name="" descr="{&quot;isTemplate&quot;:true,&quot;type&quot;:&quot;text&quot;}"/>
          <p:cNvSpPr txBox="1"/>
          <p:nvPr/>
        </p:nvSpPr>
        <p:spPr>
          <a:xfrm rot="0" flipH="0" flipV="0">
            <a:off x="762000" y="5238750"/>
            <a:ext cx="33051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「用户在这个界面上按下按钮之后，系统会发生什么？」</a:t>
            </a:r>
            <a:endParaRPr/>
          </a:p>
        </p:txBody>
      </p:sp>
      <p:sp>
        <p:nvSpPr>
          <p:cNvPr id="1655" name=""/>
          <p:cNvSpPr/>
          <p:nvPr/>
        </p:nvSpPr>
        <p:spPr>
          <a:xfrm rot="0" flipH="0" flipV="0">
            <a:off x="4295775" y="4876800"/>
            <a:ext cx="3600450" cy="723900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56" name="" descr="{&quot;isTemplate&quot;:true,&quot;type&quot;:&quot;text&quot;}"/>
          <p:cNvSpPr txBox="1"/>
          <p:nvPr/>
        </p:nvSpPr>
        <p:spPr>
          <a:xfrm rot="0" flipH="0" flipV="0">
            <a:off x="4448175" y="5029200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答不出</a:t>
            </a:r>
            <a:endParaRPr/>
          </a:p>
        </p:txBody>
      </p:sp>
      <p:sp>
        <p:nvSpPr>
          <p:cNvPr id="1657" name="" descr="{&quot;isTemplate&quot;:true,&quot;type&quot;:&quot;text&quot;}"/>
          <p:cNvSpPr txBox="1"/>
          <p:nvPr/>
        </p:nvSpPr>
        <p:spPr>
          <a:xfrm rot="0" flipH="0" flipV="0">
            <a:off x="4448175" y="5238750"/>
            <a:ext cx="32956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你做的是语义层。补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Function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，再谈本体。</a:t>
            </a:r>
            <a:endParaRPr/>
          </a:p>
        </p:txBody>
      </p:sp>
      <p:sp>
        <p:nvSpPr>
          <p:cNvPr id="1658" name=""/>
          <p:cNvSpPr/>
          <p:nvPr/>
        </p:nvSpPr>
        <p:spPr>
          <a:xfrm rot="0" flipH="0" flipV="0">
            <a:off x="7972425" y="4876800"/>
            <a:ext cx="3609975" cy="723900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59" name="" descr="{&quot;isTemplate&quot;:true,&quot;type&quot;:&quot;text&quot;}"/>
          <p:cNvSpPr txBox="1"/>
          <p:nvPr/>
        </p:nvSpPr>
        <p:spPr>
          <a:xfrm rot="0" flipH="0" flipV="0">
            <a:off x="8124825" y="5029200"/>
            <a:ext cx="3305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答得出</a:t>
            </a:r>
            <a:endParaRPr/>
          </a:p>
        </p:txBody>
      </p:sp>
      <p:sp>
        <p:nvSpPr>
          <p:cNvPr id="1660" name="" descr="{&quot;isTemplate&quot;:true,&quot;type&quot;:&quot;text&quot;}"/>
          <p:cNvSpPr txBox="1"/>
          <p:nvPr/>
        </p:nvSpPr>
        <p:spPr>
          <a:xfrm rot="0" flipH="0" flipV="0">
            <a:off x="8124825" y="5238750"/>
            <a:ext cx="33051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但写回不受控、没留痕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也还不是本体，只差治理。</a:t>
            </a:r>
            <a:endParaRPr/>
          </a:p>
        </p:txBody>
      </p:sp>
      <p:sp>
        <p:nvSpPr>
          <p:cNvPr id="166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6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6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66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09 / 30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style={{ width: 1280, height: 720, background: '#FFFFFF', padding: '24px 64px 0' }}&gt;&#10;    &lt;Box style={{ height: 96, flexDirection: 'column', justifyContent: 'flex-start' }}&gt;&#10;    &lt;Text style={{ fontSize: 32, fontWeight: 'bold', color: '#0F1423' }}&gt;&#10;    之模板：&lt;span style={{ color: '#FA4F24' }}&gt;本体成熟度五级诊断&lt;/span&gt;，先给现状定级再谈建设&#10;        &lt;/Text&gt;&#10;        &lt;Text style={{ fontSize: 20, color: '#8A8F99', marginTop: 8 }}&gt;&#10;    六项打分（每项 0–3 分）→ 总分落级 → 给出该级下的处置动作，不做「一步到位」的规划&#10;        &lt;/Text&gt;&#10;    &lt;/Box&gt;&#10;    &lt;Box style={{ height: 1, background: '#E8E8E8' }} /&gt;&#10;&#10;    &lt;Box style={{ paddingTop: 22, paddingBottom: 12, height: 479, flexDirection: 'row', gap: 20 }}&gt;&#10; {/* 左：五级阶梯 */}&#10;      &lt;Box style={{ width: 500, flexDirection: 'column', gap: 6 }}&gt;&#10;        &lt;Text style={{ fontSize: 20, fontWeight: 'bold', color: '#0F1423' }}&gt;五级阶梯（按总分落级）&lt;/Text&gt;&#10;      {[&#10;   { lv: 'L0', r: '0–4', t: '无本体', d: '只有表与报表，没有对象概念', c: '#C9CCD4', tc: '#3A4050', act: '选 1 个决策场景做试点' },&#10;        { lv: 'L1', r: '5–8', t: '只读语义', d: '建了对象模型，但没人敢让它写', c: '#8A8F99', act: '补 Action 与权限矩阵' },&#10;   { lv: 'L2', r: '9–12', t: '可写但不治理', d: '能写回，但动作散在应用里', c: '#5A6072', act: '把动作收敛成 Action Type' },&#10;    { lv: 'L3', r: '13–16', t: '受控闭环', d: '写入受控、留痕、可审计可回滚', c: '#2A2F3D', act: '接 AI，先只读后写' },&#10;     { lv: 'L4', r: '17–18', t: 'AI 原生', d: 'AI 只调本体动作，决策可被捕获', c: '#FA4F24', act: '按域复制，扩到多业务域' },&#10;        ].map((it, i) =&gt; (&#10;  &lt;Box key={i} style={{ flex: 1, background: it.c, borderRadius: 4, flexDirection: 'row', alignItems: 'center', padding: '0 16px', gap: 12 }}&gt;&#10;   &lt;Text style={{ fontSize: 22, fontWeight: 'bold', color: it.tc, width: 44 }}&gt;{it.lv}&lt;/Text&gt;&#10;            &lt;Box style={{ width: 128 }}&gt;&#10;    &lt;Text style={{ fontSize: 15, fontWeight: 'bold', color: it.tc }}&gt;{it.t}&lt;/Text&gt;&#10;       &lt;Text style={{ fontSize: 12, color: it.tc, opacity: 0.8 }}&gt;{it.r} 分&lt;/Text&gt;&#10;     &lt;/Box&gt;&#10;            &lt;Text style={{ fontSize: 12, color: it.tc, opacity: 0.92, flex: 1, lineHeight: 1.35 }}&gt;{it.d}&lt;/Text&gt;&#10;    &lt;Text style={{ fontSize: 12, color: it.tc, opacity: 0.95, width: 148, lineHeight: 1.3 }}&gt;{it.act}&lt;/Text&gt;&#10;     &lt;/Box&gt;&#10;    ))}&#10;        &lt;Box style={{ height: 48, background: '#F7F7F8', borderRadius: 4, padding: '0 16px', flexDirection: 'row', alignItems: 'center', gap: 12, borderLeft: '4px solid #FA4F24' }}&gt;&#10;    &lt;Text style={{ fontSize: 13, fontWeight: 'bold', color: '#C43A17' }}&gt;★ 用法&lt;/Text&gt;&#10;    &lt;Text style={{ fontSize: 13, color: '#3A4050', flex: 1, lineHeight: 1.4 }}&gt;&#10;  多数客户落在 L1。直接从 L1 谈「建全量本体」会被数据缺口拖死，先把一个场景推到 L2 再扩面。&#10;      &lt;/Text&gt;&#10;        &lt;/Box&gt;&#10;      &lt;/Box&gt;&#10;&#10;      {/* 右：六项打分表 */}&#10;        &lt;Box style={{ flex: 1, flexDirection: 'column', gap: 8 }}&gt;&#10;          &lt;Text style={{ fontSize: 20, fontWeight: 'bold', color: '#0F1423' }}&gt;六项打分卡（每项 0–3）&lt;/Text&gt;&#10;          {[&#10;            { n: 'M1', t: '对象覆盖', d: '核心决策涉及的对象是否都已定义', s: 2 },&#10;   { n: 'M2', t: '语义一致', d: '同一实体在不同应用里是否是同一个对象', s: 1 },&#10;  { n: 'M3', t: '行动定义', d: '是否每个改变世界的动作都有 Action Type', s: 1 },&#10;   { n: 'M4', t: '权限内嵌', d: '权限是否落在对象与属性上，而非页面隐藏', s: 0 },&#10;   { n: 'M5', t: '写回闭环', d: '写入能否到源系统，失败能否回滚', s: 1 },&#10;    { n: 'M6', t: 'AI 可用', d: 'AI 是否只能通过本体动作影响世界', s: 0 },&#10;          ].map((it, i) =&gt; (&#10;       &lt;Box key={i} style={{ flex: 1, background: '#F7F7F8', borderRadius: 4, padding: '0 14px', flexDirection: 'row', alignItems: 'center', gap: 12 }}&gt;&#10;     &lt;Text style={{ fontSize: 14, fontWeight: 'bold', color: '#FA4F24', width: 28 }}&gt;{it.n}&lt;/Text&gt;&#10;      &lt;Box style={{ width: 84 }}&gt;&#10;              &lt;Text style={{ fontSize: 14, fontWeight: 'bold', color: '#0F1423' }}&gt;{it.t}&lt;/Text&gt;&#10;     &lt;/Box&gt;&#10;   &lt;Text style={{ fontSize: 12, color: '#3A4050', flex: 1, lineHeight: 1.35 }}&gt;{it.d}&lt;/Text&gt;&#10;              &lt;Box style={{ flexDirection: 'row', gap: 3, width: 52 }}&gt;&#10;  {[0, 1, 2].map(k =&gt; (&#10;     &lt;Box key={k} style={{ width: 15, height: 15, borderRadius: 2, background: k &lt; it.s ? '#FA4F24' : '#E8E8E8' }} /&gt;&#10;       ))}&#10;          &lt;/Box&gt;&#10;         &lt;/Box&gt;&#10;    ))}&#10;     &lt;Box style={{ height: 76, background: '#0F1423', borderRadius: 4, padding: '12px 16px', flexDirection: 'column', justifyContent: 'center' }}&gt;&#10;            &lt;Text style={{ fontSize: 14, fontWeight: 'bold', color: '#FBA15C' }}&gt;输出物格式&lt;/Text&gt;&#10;            &lt;Text style={{ fontSize: 13, color: 'rgba(255,255,255,0.9)', lineHeight: 1.5, marginTop: 6 }}&gt;&#10;      现状得分 5 / 18，落级 L1「只读语义」。建议：本季度只推「订单交付异常处置」一个场景，把 M3 提到 2 分后再评审。&#10;          &lt;/Text&gt;&#10;      &lt;/Box&gt;&#10;   &lt;/Box&gt;&#10;    &lt;/Box&gt;&#10;&#10;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Ontology本体咨询方法论&lt;/Text&gt;&#10;        &lt;Text style={{ fontSize: 13, color: '#8A8F99', marginLeft: 'auto' }}&gt;10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本体成熟度五级诊断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，先给现状定级再谈建设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六项打分（每项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0–3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分）→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总分落级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给出该级下的处置动作，不做「一步到位」的规划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五级阶梯（按总分落级）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647825"/>
            <a:ext cx="4762500" cy="638175"/>
          </a:xfrm>
          <a:prstGeom prst="roundRect">
            <a:avLst>
              <a:gd name="adj" fmla="val 5970"/>
            </a:avLst>
          </a:prstGeom>
          <a:solidFill>
            <a:srgbClr val="C9CCD4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62000" y="18383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4050"/>
                </a:solidFill>
                <a:latin typeface="Microsoft YaHei"/>
                <a:ea typeface="Microsoft YaHei"/>
              </a:rPr>
              <a:t>L0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295400" y="18097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A4050"/>
                </a:solidFill>
                <a:latin typeface="Microsoft YaHei"/>
                <a:ea typeface="Microsoft YaHei"/>
              </a:rPr>
              <a:t>无本体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23431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62000" y="25431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chemeClr val="tx1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295400" y="251460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chemeClr val="tx1"/>
                </a:solidFill>
                <a:latin typeface="Microsoft YaHei"/>
                <a:ea typeface="Microsoft YaHei"/>
              </a:rPr>
              <a:t>只读语义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09600" y="3048000"/>
            <a:ext cx="4762500" cy="638175"/>
          </a:xfrm>
          <a:prstGeom prst="roundRect">
            <a:avLst>
              <a:gd name="adj" fmla="val 5970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62000" y="32385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chemeClr val="tx1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295400" y="320992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chemeClr val="tx1"/>
                </a:solidFill>
                <a:latin typeface="Microsoft YaHei"/>
                <a:ea typeface="Microsoft YaHei"/>
              </a:rPr>
              <a:t>可写但不治理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3743325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62000" y="39433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chemeClr val="tx1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295400" y="39147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chemeClr val="tx1"/>
                </a:solidFill>
                <a:latin typeface="Microsoft YaHei"/>
                <a:ea typeface="Microsoft YaHei"/>
              </a:rPr>
              <a:t>受控闭环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4448175"/>
            <a:ext cx="4762500" cy="638175"/>
          </a:xfrm>
          <a:prstGeom prst="roundRect">
            <a:avLst>
              <a:gd name="adj" fmla="val 597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62000" y="46386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chemeClr val="tx1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295400" y="461010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chemeClr val="tx1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>
                <a:solidFill>
                  <a:schemeClr val="tx1"/>
                </a:solidFill>
                <a:latin typeface="Microsoft YaHei"/>
                <a:ea typeface="Microsoft YaHei"/>
              </a:rPr>
              <a:t>原生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47700" y="5143500"/>
            <a:ext cx="4762500" cy="457200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647700" y="5143500"/>
            <a:ext cx="4762500" cy="457200"/>
          </a:xfrm>
          <a:custGeom>
            <a:pathLst>
              <a:path w="500" h="48">
                <a:moveTo>
                  <a:pt x="4" y="48"/>
                </a:moveTo>
                <a:cubicBezTo>
                  <a:pt x="2" y="48"/>
                  <a:pt x="0" y="46"/>
                  <a:pt x="0" y="4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00100" y="5295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用法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304925" y="5162550"/>
            <a:ext cx="39147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多数客户落在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L1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。直接从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谈「建全量本体」会被数据缺口拖死，先把一个场景推到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L2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再扩面。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562600" y="1362075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六项打分卡（每项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0–3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562600" y="1666875"/>
            <a:ext cx="6019800" cy="457200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695950" y="18192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M1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76950" y="18192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对象覆盖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991350" y="1800225"/>
            <a:ext cx="38481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核心决策涉及的对象是否都已定义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10953750" y="18288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11125200" y="18288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11296650" y="18288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5562600" y="2200275"/>
            <a:ext cx="6019800" cy="457200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695950" y="23526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M2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76950" y="23526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语义一致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991350" y="2333625"/>
            <a:ext cx="38481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同一实体在不同应用里是否是同一个对象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10953750" y="23622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11125200" y="23622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11296650" y="23622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5562600" y="2733675"/>
            <a:ext cx="6019800" cy="466725"/>
          </a:xfrm>
          <a:prstGeom prst="roundRect">
            <a:avLst>
              <a:gd name="adj" fmla="val 81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695950" y="28860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M3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76950" y="28860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行动定义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991350" y="2876550"/>
            <a:ext cx="38481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是否每个改变世界的动作都有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Action Type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10953750" y="28956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11125200" y="28956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11296650" y="2895600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5562600" y="3276600"/>
            <a:ext cx="6019800" cy="457200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695950" y="34290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M4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76950" y="34290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权限内嵌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991350" y="3409950"/>
            <a:ext cx="38481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权限是否落在对象与属性上，而非页面隐藏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10953750" y="3438525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11125200" y="3438525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11296650" y="3438525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5562600" y="3810000"/>
            <a:ext cx="6019800" cy="457200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695950" y="39624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M5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76950" y="39624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写回闭环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991350" y="3943350"/>
            <a:ext cx="38481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写入能否到源系统，失败能否回滚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10953750" y="3971925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11125200" y="3971925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11296650" y="3971925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5562600" y="4343400"/>
            <a:ext cx="6019800" cy="457200"/>
          </a:xfrm>
          <a:prstGeom prst="roundRect">
            <a:avLst>
              <a:gd name="adj" fmla="val 8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695950" y="44958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M6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76950" y="44958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可用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991350" y="4476750"/>
            <a:ext cx="38481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是否只能通过本体动作影响世界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10953750" y="4505325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11125200" y="4505325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11296650" y="4505325"/>
            <a:ext cx="142875" cy="142875"/>
          </a:xfrm>
          <a:prstGeom prst="roundRect">
            <a:avLst>
              <a:gd name="adj" fmla="val 13333"/>
            </a:avLst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5562600" y="4876800"/>
            <a:ext cx="6019800" cy="723900"/>
          </a:xfrm>
          <a:prstGeom prst="roundRect">
            <a:avLst>
              <a:gd name="adj" fmla="val 526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715000" y="4905375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输出物格式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715000" y="5124450"/>
            <a:ext cx="57150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现状得分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5 / 18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，落级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L1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「只读语义」。建议：本季度只推「订单交付异常处置」一个场景，把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M3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提到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分后再评审。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10 / 30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295400" y="1981200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3A4050">
                    <a:alpha val="80000"/>
                  </a:srgbClr>
                </a:solidFill>
                <a:latin typeface="Microsoft YaHei"/>
                <a:ea typeface="Microsoft YaHei"/>
              </a:rPr>
              <a:t>0–4</a:t>
            </a:r>
            <a:r>
              <a:rPr lang="en-US" sz="900">
                <a:solidFill>
                  <a:srgbClr val="3A4050">
                    <a:alpha val="8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3A4050">
                    <a:alpha val="80000"/>
                  </a:srgbClr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2628900" y="1781175"/>
            <a:ext cx="10668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>
                    <a:alpha val="92000"/>
                  </a:srgbClr>
                </a:solidFill>
                <a:latin typeface="Microsoft YaHei"/>
                <a:ea typeface="Microsoft YaHei"/>
              </a:rPr>
              <a:t>只有表与报表，没有对象概念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810000" y="1876425"/>
            <a:ext cx="14097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3A4050">
                    <a:alpha val="95000"/>
                  </a:srgbClr>
                </a:solidFill>
                <a:latin typeface="Microsoft YaHei"/>
                <a:ea typeface="Microsoft YaHei"/>
              </a:rPr>
              <a:t>选</a:t>
            </a:r>
            <a:r>
              <a:rPr lang="en-US" sz="900">
                <a:solidFill>
                  <a:srgbClr val="3A4050">
                    <a:alpha val="95000"/>
                  </a:srgbClr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00">
                <a:solidFill>
                  <a:srgbClr val="3A4050">
                    <a:alpha val="95000"/>
                  </a:srgbClr>
                </a:solidFill>
                <a:latin typeface="Microsoft YaHei"/>
                <a:ea typeface="Microsoft YaHei"/>
              </a:rPr>
              <a:t>个决策场景做试点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295400" y="2686050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>5–8</a:t>
            </a:r>
            <a:r>
              <a:rPr lang="en-US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2628900" y="2486025"/>
            <a:ext cx="10668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00">
                <a:solidFill>
                  <a:schemeClr val="tx1">
                    <a:alpha val="92000"/>
                  </a:schemeClr>
                </a:solidFill>
                <a:latin typeface="Microsoft YaHei"/>
                <a:ea typeface="Microsoft YaHei"/>
              </a:rPr>
              <a:t>建了对象模型，但没人敢让它写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10000" y="2581275"/>
            <a:ext cx="14097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chemeClr val="tx1">
                    <a:alpha val="95000"/>
                  </a:schemeClr>
                </a:solidFill>
                <a:latin typeface="Microsoft YaHei"/>
                <a:ea typeface="Microsoft YaHei"/>
              </a:rPr>
              <a:t>补</a:t>
            </a:r>
            <a:r>
              <a:rPr lang="en-US" sz="900">
                <a:solidFill>
                  <a:schemeClr val="tx1">
                    <a:alpha val="95000"/>
                  </a:schemeClr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900">
                <a:solidFill>
                  <a:schemeClr val="tx1">
                    <a:alpha val="95000"/>
                  </a:schemeClr>
                </a:solidFill>
                <a:latin typeface="Microsoft YaHei"/>
                <a:ea typeface="Microsoft YaHei"/>
              </a:rPr>
              <a:t>与权限矩阵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295400" y="3381375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>9–12</a:t>
            </a:r>
            <a:r>
              <a:rPr lang="en-US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2628900" y="3181350"/>
            <a:ext cx="10668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00">
                <a:solidFill>
                  <a:schemeClr val="tx1">
                    <a:alpha val="92000"/>
                  </a:schemeClr>
                </a:solidFill>
                <a:latin typeface="Microsoft YaHei"/>
                <a:ea typeface="Microsoft YaHei"/>
              </a:rPr>
              <a:t>能写回，但动作散在应用里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10000" y="3276600"/>
            <a:ext cx="14097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chemeClr val="tx1">
                    <a:alpha val="95000"/>
                  </a:schemeClr>
                </a:solidFill>
                <a:latin typeface="Microsoft YaHei"/>
                <a:ea typeface="Microsoft YaHei"/>
              </a:rPr>
              <a:t>把动作收敛成</a:t>
            </a:r>
            <a:r>
              <a:rPr lang="en-US" sz="900">
                <a:solidFill>
                  <a:schemeClr val="tx1">
                    <a:alpha val="95000"/>
                  </a:schemeClr>
                </a:solidFill>
                <a:latin typeface="Microsoft YaHei"/>
                <a:ea typeface="Microsoft YaHei"/>
              </a:rPr>
              <a:t xml:space="preserve"> Action Type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295400" y="4086225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>13–16</a:t>
            </a:r>
            <a:r>
              <a:rPr lang="en-US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2628900" y="3886200"/>
            <a:ext cx="10668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00">
                <a:solidFill>
                  <a:schemeClr val="tx1">
                    <a:alpha val="92000"/>
                  </a:schemeClr>
                </a:solidFill>
                <a:latin typeface="Microsoft YaHei"/>
                <a:ea typeface="Microsoft YaHei"/>
              </a:rPr>
              <a:t>写入受控、留痕、可审计可回滚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3810000" y="3981450"/>
            <a:ext cx="14097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chemeClr val="tx1">
                    <a:alpha val="95000"/>
                  </a:schemeClr>
                </a:solidFill>
                <a:latin typeface="Microsoft YaHei"/>
                <a:ea typeface="Microsoft YaHei"/>
              </a:rPr>
              <a:t>接</a:t>
            </a:r>
            <a:r>
              <a:rPr lang="en-US" sz="900">
                <a:solidFill>
                  <a:schemeClr val="tx1">
                    <a:alpha val="95000"/>
                  </a:schemeClr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900">
                <a:solidFill>
                  <a:schemeClr val="tx1">
                    <a:alpha val="95000"/>
                  </a:schemeClr>
                </a:solidFill>
                <a:latin typeface="Microsoft YaHei"/>
                <a:ea typeface="Microsoft YaHei"/>
              </a:rPr>
              <a:t>，先只读后写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295400" y="4781550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>17–18</a:t>
            </a:r>
            <a:r>
              <a:rPr lang="en-US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chemeClr val="tx1">
                    <a:alpha val="80000"/>
                  </a:schemeClr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2628900" y="4581525"/>
            <a:ext cx="10668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900">
                <a:solidFill>
                  <a:schemeClr val="tx1">
                    <a:alpha val="92000"/>
                  </a:scheme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00">
                <a:solidFill>
                  <a:schemeClr val="tx1">
                    <a:alpha val="92000"/>
                  </a:schemeClr>
                </a:solidFill>
                <a:latin typeface="Microsoft YaHei"/>
                <a:ea typeface="Microsoft YaHei"/>
              </a:rPr>
              <a:t>只调本体动作，决策可被捕获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810000" y="4676775"/>
            <a:ext cx="14097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chemeClr val="tx1">
                    <a:alpha val="95000"/>
                  </a:schemeClr>
                </a:solidFill>
                <a:latin typeface="Microsoft YaHei"/>
                <a:ea typeface="Microsoft YaHei"/>
              </a:rPr>
              <a:t>按域复制，扩到多业务域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14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    &lt;Box style={{ position: 'absolute', right: 70, top: 110 }}&gt;&#10;    &lt;Text style={{ fontSize: 300, fontWeight: 'bold', color: 'rgba(255,255,255,0.08)', lineHeight: 1.0 }}&gt;02&lt;/Text&gt;&#10;    &lt;/Box&gt;&#10; &lt;Box style={{ position: 'absolute', left: 88, top: 232, width: 660, flexDirection: 'column' }}&gt;&#10;        &lt;Text style={{ fontSize: 15, color: 'rgba(255,255,255,0.5)', letterSpacing: 3 }}&gt;PART 02&lt;/Text&gt;&#10;   &lt;Box style={{ width: 72, height: 5, background: '#FA4F24', marginTop: 22 }} /&gt;&#10;     &lt;Text style={{ fontSize: 58, fontWeight: 'bold', color: '#FFFFFF', marginTop: 28, lineHeight: 1.15 }}&gt;Ontology 自身的 4A&lt;/Text&gt;&#10;        &lt;Text style={{ fontSize: 17, color: 'rgba(255,255,255,0.62)', letterSpacing: 2, marginTop: 20 }}&gt;ONTOLOGY AS AN APPLICATION&lt;/Text&gt;&#10;        &lt;Text style={{ fontSize: 19, color: 'rgba(255,255,255,0.85)', marginTop: 26, lineHeight: 1.6 }}&gt;把本体当成一个业务应用，它自己也有 BA / DA / AA / TA&lt;/Text&gt;&#10;    &lt;/Box&gt;&#10;    &lt;Box style={{ position: 'absolute', right: 88, bottom: 64, flexDirection: 'row', alignItems: 'center', gap: 12 }}&gt;&#10;    &lt;Box style={{ width: 14, height: 14, background: '#FA4F24' }} /&gt;&#10;      &lt;Text style={{ fontSize: 14, color: 'rgba(255,255,255,0.5)' }}&gt;硕磐机密 · Ontology本体咨询方法论&lt;/Text&gt;&#10;        &lt;Text style={{ fontSize: 14, color: 'rgba(255,255,255,0.5)', marginLeft: 12 }}&gt;11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Ontology </a:t>
            </a: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自身的</a:t>
            </a:r>
            <a:r>
              <a:rPr lang="en-US" sz="4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ONTOLOGY AS AN APPLICATION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把本体当成一个业务应用，它自己也有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BA / DA / AA / TA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82391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486775" y="60864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11 / 30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27" name="" descr="&lt;Slide style={{ width: 1280, height: 720, background: '#FFFFFF', padding: '24px 64px 0' }}&gt;&#10;    &lt;Box style={{ height: 96, flexDirection: 'column', justifyContent: 'flex-start' }}&gt;&#10;    &lt;Text style={{ fontSize: 32, fontWeight: 'bold', color: '#0F1423' }}&gt;&#10;     之方法：&lt;span style={{ color: '#FA4F24' }}&gt;本体 4A 映射总览&lt;/span&gt;，四个架构各自回答什么&#10;     &lt;/Text&gt;&#10;      &lt;Text style={{ fontSize: 20, color: '#8A8F99', marginTop: 8 }}&gt;&#10;   同一个本体，在四层架构里看到的是四个不同的切面 —— 评审时别把它们混在一起谈&#10;        &lt;/Text&gt;&#10;  &lt;/Box&gt;&#10;    &lt;Box style={{ height: 1, background: '#E8E8E8' }} /&gt;&#10;&#10;    &lt;Box style={{ paddingTop: 22, paddingBottom: 12, height: 479, flexDirection: 'column', gap: 9 }}&gt;&#10;    {/* 数据流主干 */}&#10;      &lt;Box style={{ height: 62, flexDirection: 'row', alignItems: 'center', gap: 10, background: '#F7F7F8', borderRadius: 4, padding: '0 18px' }}&gt;&#10;        &lt;Text style={{ fontSize: 13, fontWeight: 'bold', color: '#0F1423', width: 92 }}&gt;数据流向主干&lt;/Text&gt;&#10;        {['源系统', '连接器', '数据集', '清洗转换', '本体对象', '应用', '决策', 'Action', '写回'].map((t, i, arr) =&gt; (&#10;       &lt;Box key={i} style={{ flexDirection: 'row', alignItems: 'center', gap: 10, flex: i &gt;= 4 &amp;&amp; i &lt;= 5 ? 1.5 : 1 }}&gt;&#10;     &lt;Text style={{ fontSize: 13, color: i &gt;= 4 &amp;&amp; i &lt;= 5 ? '#C43A17' : '#3A4050', fontWeight: i &gt;= 4 &amp;&amp; i &lt;= 5 ? 'bold' : 'normal' }}&gt;{t}&lt;/Text&gt;&#10;        {i &lt; arr.length - 1 &amp;&amp; &lt;Text style={{ fontSize: 13, color: '#C9CCD4' }}&gt;→&lt;/Text&gt;}&#10;     &lt;/Box&gt;&#10;    ))}&#10;    &lt;/Box&gt;&#10;&#10;      {/* 四行 4A */}&#10;      {[&#10;        { k: 'BA', q: '本体回答什么决策', v: '对象 = 业务能力与实体；链接 = 价值流与责任关系；Action = 组织里真实的动作与审批', hl: '#FA4F24' },&#10;        { k: 'DA', q: '本体怎么用数据', v: '对象 ≈ 数据集模式，对象 ≈ 行，链接 ≈ 关联；对象层不另存一份完整数据，只存定义与映射', hl: '#F87D2F' },&#10;        { k: 'AA', q: '谁在消费本体', v: '本体平台本身就是一个应用，承载工作台、自定义页面、分析与面向外部的 SDK', hl: '#E8600F' },&#10;        { k: 'TA', q: '本体怎么跑得动', v: '对象存储、元数据服务、索引与查询编排、写入漏斗，以及权限计算的性能边界', hl: '#C43A17' },&#10;      ].map((it, i) =&gt; (&#10;   &lt;Box key={i} style={{ flex: 1, flexDirection: 'row', alignItems: 'center', gap: 14, background: '#F7F7F8', borderRadius: 4, padding: '0 18px', borderLeft: '4px solid ' + it.hl }}&gt;&#10;     &lt;Text style={{ fontSize: 24, fontWeight: 'bold', color: it.hl, width: 46 }}&gt;{it.k}&lt;/Text&gt;&#10;   &lt;Text style={{ fontSize: 15, fontWeight: 'bold', color: '#0F1423', width: 168 }}&gt;{it.q}&lt;/Text&gt;&#10;      &lt;Text style={{ fontSize: 13, color: '#3A4050', flex: 1, lineHeight: 1.45 }}&gt;{it.v}&lt;/Text&gt;&#10;     &lt;/Box&gt;&#10;    ))}&#10;&#10;      {/* 特殊之处 */}&#10;      &lt;Box style={{ flex: 1.25, background: 'linear-gradient(90deg, #FA4F24 0%, #F87D2F 100%)', borderRadius: 4, flexDirection: 'row', alignItems: 'center', padding: '0 18px', gap: 16 }}&gt;&#10;     &lt;Text style={{ fontSize: 15, fontWeight: 'bold', color: '#FFFFFF', width: 108 }}&gt;它特殊在哪&lt;/Text&gt;&#10;        &lt;Box style={{ flexDirection: 'row', flex: 1, gap: 12 }}&gt;&#10;          {['语义与动力学同层', '读写同层', '权限内嵌且被 AI 继承', '模型即资产被直接消费', '决策可捕获'].map((t, i) =&gt; (&#10;    &lt;Box key={i} style={{ flexDirection: 'row', alignItems: 'center', gap: 6 }}&gt;&#10;    &lt;Box style={{ width: 5, height: 5, background: '#FFFFFF', borderRadius: 3 }} /&gt;&#10;       &lt;Text style={{ fontSize: 13, color: '#FFFFFF' }}&gt;{t}&lt;/Text&gt;&#10;            &lt;/Box&gt;&#10;    ))}&#10;        &lt;/Box&gt;&#10;  &lt;Text style={{ fontSize: 12, color: 'rgba(255,255,255,0.85)', width: 172, textAlign: 'right', lineHeight: 1.35 }}&gt;传统 4A 是分层的，本体是合层的&lt;/Text&gt;&#10;      &lt;/Box&gt;&#10;    &lt;/Box&gt;&#10;&#10;  &lt;Box style={{ height: 58, flexDirection: 'row', alignItems: 'center', borderTop: '1px solid #E8E8E8' }}&gt;&#10;        &lt;Box style={{ width: 10, height: 10, background: '#FA4F24' }} /&gt;&#10;      &lt;Text style={{ fontSize: 13, color: '#8A8F99', marginLeft: 12 }}&gt;硕磐机密 · Ontology本体咨询方法论&lt;/Text&gt;&#10;        &lt;Text style={{ fontSize: 13, color: '#8A8F99', marginLeft: 'auto' }}&gt;12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本体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映射总览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，四个架构各自回答什么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同一个本体，在四层架构里看到的是四个不同的切面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评审时别把它们混在一起谈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09600" y="1362075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81050" y="158115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数据流向主干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752600" y="15811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源系统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2219325" y="15811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2733675" y="15811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连接器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3200400" y="15811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724275" y="15811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数据集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191000" y="15811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705350" y="15811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清洗转换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295900" y="15811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695950" y="15811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本体对象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286500" y="15811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124700" y="15811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467600" y="15811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553450" y="15811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决策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896350" y="15811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534525" y="158115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Action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020300" y="15811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525125" y="15811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写回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47700" y="2038350"/>
            <a:ext cx="10972800" cy="6096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647700" y="2038350"/>
            <a:ext cx="10972800" cy="609600"/>
          </a:xfrm>
          <a:custGeom>
            <a:pathLst>
              <a:path w="1152" h="64">
                <a:moveTo>
                  <a:pt x="4" y="64"/>
                </a:moveTo>
                <a:cubicBezTo>
                  <a:pt x="2" y="64"/>
                  <a:pt x="0" y="62"/>
                  <a:pt x="0" y="6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9150" y="2209800"/>
            <a:ext cx="438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390650" y="225742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本体回答什么决策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124200" y="2238375"/>
            <a:ext cx="8286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业务能力与实体；链接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价值流与责任关系；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Action =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组织里真实的动作与审批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47700" y="2733675"/>
            <a:ext cx="10972800" cy="6096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647700" y="2733675"/>
            <a:ext cx="10972800" cy="609600"/>
          </a:xfrm>
          <a:custGeom>
            <a:pathLst>
              <a:path w="1152" h="64">
                <a:moveTo>
                  <a:pt x="4" y="64"/>
                </a:moveTo>
                <a:cubicBezTo>
                  <a:pt x="2" y="64"/>
                  <a:pt x="0" y="62"/>
                  <a:pt x="0" y="6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4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19150" y="2905125"/>
            <a:ext cx="438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87D2F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390650" y="2952750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本体怎么用数据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124200" y="2933700"/>
            <a:ext cx="8286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数据集模式，对象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行，链接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关联；对象层不另存一份完整数据，只存定义与映射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47700" y="3429000"/>
            <a:ext cx="10972800" cy="6096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47700" y="3429000"/>
            <a:ext cx="10972800" cy="609600"/>
          </a:xfrm>
          <a:custGeom>
            <a:pathLst>
              <a:path w="1152" h="64">
                <a:moveTo>
                  <a:pt x="4" y="64"/>
                </a:moveTo>
                <a:cubicBezTo>
                  <a:pt x="2" y="64"/>
                  <a:pt x="0" y="62"/>
                  <a:pt x="0" y="6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4"/>
                </a:lnTo>
                <a:close/>
              </a:path>
            </a:pathLst>
          </a:custGeom>
          <a:solidFill>
            <a:srgbClr val="E8600F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19150" y="3600450"/>
            <a:ext cx="438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600F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390650" y="364807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谁在消费本体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124200" y="3629025"/>
            <a:ext cx="8286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本体平台本身就是一个应用，承载工作台、自定义页面、分析与面向外部的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SDK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47700" y="4124325"/>
            <a:ext cx="10972800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647700" y="4124325"/>
            <a:ext cx="10972800" cy="600075"/>
          </a:xfrm>
          <a:custGeom>
            <a:pathLst>
              <a:path w="1152" h="63">
                <a:moveTo>
                  <a:pt x="4" y="63"/>
                </a:moveTo>
                <a:cubicBezTo>
                  <a:pt x="2" y="63"/>
                  <a:pt x="0" y="61"/>
                  <a:pt x="0" y="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3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19150" y="4286250"/>
            <a:ext cx="438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43A17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390650" y="4343400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本体怎么跑得动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124200" y="4314825"/>
            <a:ext cx="8286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对象存储、元数据服务、索引与查询编排、写入漏斗，以及权限计算的性能边界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4810125"/>
            <a:ext cx="10972800" cy="790575"/>
          </a:xfrm>
          <a:prstGeom prst="roundRect">
            <a:avLst>
              <a:gd name="adj" fmla="val 4819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81050" y="5124450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它特殊在哪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1962150" y="51911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066925" y="513397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语义与动力学同层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3171825" y="51911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276600" y="51339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读写同层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3886200" y="51911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990975" y="5133975"/>
            <a:ext cx="1190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权限内嵌且被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继承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295900" y="51911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400675" y="5133975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模型即资产被直接消费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753225" y="51911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858000" y="51339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决策可捕获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772650" y="5019675"/>
            <a:ext cx="1638300" cy="37147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传统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是分层的，本体是合层的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12 / 30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88" name="" descr="&lt;Slide style={{ width: 1280, height: 720, background: '#FFFFFF', padding: '24px 64px 0' }}&gt;&#10;    &lt;Box style={{ height: 96, flexDirection: 'column', justifyContent: 'flex-start' }}&gt;&#10;    &lt;Text style={{ fontSize: 32, fontWeight: 'bold', color: '#0F1423' }}&gt;&#10;     之内容：BA 视角 —— &lt;span style={{ color: '#FA4F24' }}&gt;对象即业务能力&lt;/span&gt;，动作即组织里的真实动作&#10;        &lt;/Text&gt;&#10;        &lt;Text style={{ fontSize: 20, color: '#8A8F99', marginTop: 8 }}&gt;&#10;    在本体里做 BA，跟在组织架构图上做 BA 的差别是：必须落到「谁对哪一个对象做什么」&#10;      &lt;/Text&gt;&#10;  &lt;/Box&gt;&#10;    &lt;Box style={{ height: 1, background: '#E8E8E8' }} /&gt;&#10;&#10;    &lt;Box style={{ paddingTop: 22, paddingBottom: 12, height: 479, flexDirection: 'row', gap: 18 }}&gt;&#10;    {/* 左 三条映射 */}&#10;        &lt;Box style={{ flex: 1, flexDirection: 'column', gap: 8 }}&gt;&#10;            &lt;Text style={{ fontSize: 20, fontWeight: 'bold', color: '#0F1423' }}&gt;三组映射关系&lt;/Text&gt;&#10;            {[&#10;        { k: '对象', v: '业务能力或实体', d: '客户不是一列字段，而是能承接一整套动作与责任的主体', c: '#0F1423' },&#10;   { k: '链接', v: '价值流与责任关系', d: '订单 → 交付 → 回款，这条链本身就是本体的链接串起来的结果', c: '#2A2F3D' },&#10;       { k: '动作', v: '组织里真实的动作', d: '「交付异常处置」是动作类型，它带着审批、时限与责任人', c: '#5A6072' },&#10; ].map((it, i) =&gt; (&#10;            &lt;Box key={i} style={{ flex: 1, background: it.c, borderRadius: 4, padding: '0 16px', flexDirection: 'row', alignItems: 'center', gap: 14 }}&gt;&#10;     &lt;Text style={{ fontSize: 18, fontWeight: 'bold', color: '#FBA15C', width: 44 }}&gt;{it.k}&lt;/Text&gt;&#10;      &lt;Box style={{ width: 118 }}&gt;&#10;           &lt;Text style={{ fontSize: 14, fontWeight: 'bold', color: '#FFFFFF' }}&gt;{it.v}&lt;/Text&gt;&#10;   &lt;/Box&gt;&#10;       &lt;Text style={{ fontSize: 13, color: 'rgba(255,255,255,0.9)', flex: 1, lineHeight: 1.45 }}&gt;{it.d}&lt;/Text&gt;&#10;   &lt;/Box&gt;&#10;       ))}&#10;   &lt;Box style={{ height: 78, background: '#F7F7F8', borderRadius: 4, padding: '12px 16px', flexDirection: 'column', justifyContent: 'center', borderLeft: '4px solid #FA4F24' }}&gt;&#10;      &lt;Text style={{ fontSize: 14, fontWeight: 'bold', color: '#C43A17' }}&gt;BA 交付物差别&lt;/Text&gt;&#10;         &lt;Text style={{ fontSize: 13, color: '#3A4050', lineHeight: 1.5, marginTop: 5 }}&gt;&#10; 传统 BA 交能力地图与流程图；本体里的 BA 还要多交两样 —— 对象清单带责任人，动作清单带审批与时限。这两样才是能落地的部分。&#10;        &lt;/Text&gt;&#10;      &lt;/Box&gt;&#10;        &lt;/Box&gt;&#10;&#10;        {/* 右 决策链 + 缺口 */}&#10;     &lt;Box style={{ flex: 1, flexDirection: 'column', gap: 8 }}&gt;&#10;       &lt;Text style={{ fontSize: 20, fontWeight: 'bold', color: '#0F1423' }}&gt;一条决策链在本体里长什么样&lt;/Text&gt;&#10;          &lt;Box style={{ height: 152, background: '#F7F7F8', borderRadius: 4, padding: '12px 16px', flexDirection: 'column', justifyContent: 'center', gap: 7 }}&gt;&#10;            {[&#10;              { n: '发现', t: '系统发现交付异常，生成待处置对象', c: '#0F1423' },&#10;   { n: '判断', t: 'Function 校验影响面与责任归属', c: '#2A2F3D' },&#10;         { n: '授权', t: '动态权限判定谁能处置这一条', c: '#5A6072' },&#10;   { n: '行动', t: 'Action Type 写回处置结果并留痕', c: '#FA4F24' },&#10;       ].map((it, i) =&gt; (&#10;     &lt;Box key={i} style={{ flexDirection: 'row', alignItems: 'center', gap: 10 }}&gt;&#10;  &lt;Box style={{ width: 8, height: 8, background: it.c, borderRadius: 4 }} /&gt;&#10;     &lt;Text style={{ fontSize: 14, fontWeight: 'bold', color: it.c, width: 44 }}&gt;{it.n}&lt;/Text&gt;&#10;      &lt;Text style={{ fontSize: 13, color: '#3A4050', flex: 1, lineHeight: 1.35 }}&gt;{it.t}&lt;/Text&gt;&#10;        {i &lt; 3 &amp;&amp; &lt;Text style={{ fontSize: 12, color: '#C9CCD4' }}&gt;↓&lt;/Text&gt;}&#10;      &lt;/Box&gt;&#10;          ))}&#10;       &lt;/Box&gt;&#10;            &lt;Text style={{ fontSize: 20, fontWeight: 'bold', color: '#0F1423', marginTop: 4 }}&gt;三种常见的 BA 空转&lt;/Text&gt;&#10;            {[&#10;    { t: '把对象建成数据表', d: '字段有了，但没有动作，模型只能看不能动' },&#10;         { t: '链接只连主外键', d: '连了关系，却没连责任与时效，价值流出不来' },&#10;            { t: '动作挂在应用里', d: '同一个审批在五个应用里做了五遍，口径必然分叉' },&#10;       ].map((it, i) =&gt; (&#10;       &lt;Box key={i} style={{ flex: 1, background: '#FFF3EE', borderRadius: 4, padding: '0 16px', flexDirection: 'column', justifyContent: 'center', borderLeft: '4px solid #FBA15C' }}&gt;&#10;          &lt;Text style={{ fontSize: 14, fontWeight: 'bold', color: '#C43A17' }}&gt;{it.t}&lt;/Text&gt;&#10;      &lt;Text style={{ fontSize: 13, color: '#3A2000', lineHeight: 1.4, marginTop: 3 }}&gt;{it.d}&lt;/Text&gt;&#10;       &lt;/Box&gt;&#10;      ))}&#10;  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Ontology本体咨询方法论&lt;/Text&gt;&#10;        &lt;Text style={{ fontSize: 13, color: '#8A8F99', marginLeft: 'auto' }}&gt;13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视角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对象即业务能力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，动作即组织里的真实动作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在本体里做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，跟在组织架构图上做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的差别是：必须落到「谁对哪一个对象做什么」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三组映射关系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1666875"/>
            <a:ext cx="5400675" cy="914400"/>
          </a:xfrm>
          <a:prstGeom prst="roundRect">
            <a:avLst>
              <a:gd name="adj" fmla="val 41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62000" y="2019300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BA15C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314450" y="20478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业务能力或实体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571750" y="2019300"/>
            <a:ext cx="3286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客户不是一列字段，而是能承接一整套动作与责任的主体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2657475"/>
            <a:ext cx="5400675" cy="1133475"/>
          </a:xfrm>
          <a:prstGeom prst="roundRect">
            <a:avLst>
              <a:gd name="adj" fmla="val 3361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62000" y="3124200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BA15C"/>
                </a:solidFill>
                <a:latin typeface="Microsoft YaHei"/>
                <a:ea typeface="Microsoft YaHei"/>
              </a:rPr>
              <a:t>链接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314450" y="314325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价值流与责任关系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2571750" y="3009900"/>
            <a:ext cx="328612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订单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交付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回款，这条链本身就是本体的链接串起来的结果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09600" y="3867150"/>
            <a:ext cx="5400675" cy="914400"/>
          </a:xfrm>
          <a:prstGeom prst="roundRect">
            <a:avLst>
              <a:gd name="adj" fmla="val 4167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62000" y="4219575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BA15C"/>
                </a:solidFill>
                <a:latin typeface="Microsoft YaHei"/>
                <a:ea typeface="Microsoft YaHei"/>
              </a:rPr>
              <a:t>动作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314450" y="424815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组织里真实的动作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2571750" y="4219575"/>
            <a:ext cx="32861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「交付异常处置」是动作类型，它带着审批、时限与责任人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47700" y="4857750"/>
            <a:ext cx="5400675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647700" y="4857750"/>
            <a:ext cx="5400675" cy="742950"/>
          </a:xfrm>
          <a:custGeom>
            <a:pathLst>
              <a:path w="567" h="78">
                <a:moveTo>
                  <a:pt x="4" y="78"/>
                </a:moveTo>
                <a:cubicBezTo>
                  <a:pt x="2" y="78"/>
                  <a:pt x="0" y="76"/>
                  <a:pt x="0" y="7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00100" y="4905375"/>
            <a:ext cx="505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交付物差别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00100" y="5114925"/>
            <a:ext cx="50577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传统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交能力地图与流程图；本体里的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还要多交两样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对象清单带责任人，动作清单带审批与时限。这两样才是能落地的部分。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181725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一条决策链在本体里长什么样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181725" y="1666875"/>
            <a:ext cx="5400675" cy="1447800"/>
          </a:xfrm>
          <a:prstGeom prst="roundRect">
            <a:avLst>
              <a:gd name="adj" fmla="val 26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6334125" y="1943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505575" y="190500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发现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019925" y="1876425"/>
            <a:ext cx="42576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系统发现交付异常，生成待处置对象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372850" y="1914525"/>
            <a:ext cx="5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9CCD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334125" y="2219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505575" y="218122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A2F3D"/>
                </a:solidFill>
                <a:latin typeface="Microsoft YaHei"/>
                <a:ea typeface="Microsoft YaHei"/>
              </a:rPr>
              <a:t>判断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019925" y="2152650"/>
            <a:ext cx="42576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Function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校验影响面与责任归属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372850" y="2190750"/>
            <a:ext cx="5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9CCD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334125" y="2495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505575" y="24574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A6072"/>
                </a:solidFill>
                <a:latin typeface="Microsoft YaHei"/>
                <a:ea typeface="Microsoft YaHei"/>
              </a:rPr>
              <a:t>授权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019925" y="2428875"/>
            <a:ext cx="42576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动态权限判定谁能处置这一条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372850" y="2466975"/>
            <a:ext cx="5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9CCD4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334125" y="2771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505575" y="273367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行动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019925" y="2705100"/>
            <a:ext cx="44100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Action Type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写回处置结果并留痕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181725" y="32289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三种常见的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空转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219825" y="3533775"/>
            <a:ext cx="5400675" cy="638175"/>
          </a:xfrm>
          <a:prstGeom prst="roundRect">
            <a:avLst>
              <a:gd name="adj" fmla="val 597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6219825" y="3533775"/>
            <a:ext cx="5400675" cy="638175"/>
          </a:xfrm>
          <a:custGeom>
            <a:pathLst>
              <a:path w="567" h="67">
                <a:moveTo>
                  <a:pt x="4" y="67"/>
                </a:move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372225" y="3657600"/>
            <a:ext cx="505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把对象建成数据表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372225" y="3848100"/>
            <a:ext cx="5057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字段有了，但没有动作，模型只能看不能动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219825" y="4248150"/>
            <a:ext cx="5400675" cy="638175"/>
          </a:xfrm>
          <a:prstGeom prst="roundRect">
            <a:avLst>
              <a:gd name="adj" fmla="val 597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6219825" y="4248150"/>
            <a:ext cx="5400675" cy="638175"/>
          </a:xfrm>
          <a:custGeom>
            <a:pathLst>
              <a:path w="567" h="67">
                <a:moveTo>
                  <a:pt x="4" y="67"/>
                </a:move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372225" y="4371975"/>
            <a:ext cx="505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链接只连主外键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372225" y="4562475"/>
            <a:ext cx="5057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连了关系，却没连责任与时效，价值流出不来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219825" y="4962525"/>
            <a:ext cx="5400675" cy="638175"/>
          </a:xfrm>
          <a:prstGeom prst="roundRect">
            <a:avLst>
              <a:gd name="adj" fmla="val 597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219825" y="4962525"/>
            <a:ext cx="5400675" cy="638175"/>
          </a:xfrm>
          <a:custGeom>
            <a:pathLst>
              <a:path w="567" h="67">
                <a:moveTo>
                  <a:pt x="4" y="67"/>
                </a:moveTo>
                <a:cubicBezTo>
                  <a:pt x="2" y="67"/>
                  <a:pt x="0" y="65"/>
                  <a:pt x="0" y="6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372225" y="5086350"/>
            <a:ext cx="505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动作挂在应用里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372225" y="5276850"/>
            <a:ext cx="5057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同一个审批在五个应用里做了五遍，口径必然分叉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13 / 30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44" name="" descr="&lt;Slide style={{ width: 1280, height: 720, background: '#FFFFFF', padding: '24px 64px 0' }}&gt;&#10;    &lt;Box style={{ height: 96, flexDirection: 'column', justifyContent: 'flex-start' }}&gt;&#10;     &lt;Text style={{ fontSize: 32, fontWeight: 'bold', color: '#0F1423' }}&gt;&#10;      之内容：DA 视角 —— &lt;span style={{ color: '#FA4F24' }}&gt;本体不另存一份数据&lt;/span&gt;，只存定义与映射&#10;     &lt;/Text&gt;&#10;        &lt;Text style={{ fontSize: 20, color: '#8A8F99', marginTop: 8 }}&gt;&#10;            这是本体与传统数据建模最大的分歧点，也是最容易被架构师质疑的一条&#10;      &lt;/Text&gt;&#10;    &lt;/Box&gt;&#10;    &lt;Box style={{ height: 1, background: '#E8E8E8' }} /&gt;&#10;&#10;    &lt;Box style={{ paddingTop: 22, paddingBottom: 12, height: 479, flexDirection: 'row', gap: 18 }}&gt;&#10;   {/* 左 工程等价 */}&#10;        &lt;Box style={{ width: 500, flexDirection: 'column', gap: 8 }}&gt;&#10;     &lt;Text style={{ fontSize: 20, fontWeight: 'bold', color: '#0F1423' }}&gt;与实体数据模型的工程等价&lt;/Text&gt;&#10;  {[&#10;    { a: 'Dataset Schema', b: 'Object Type', d: '字段与类型的定义方式高度相似' },&#10;      { a: 'Row / Record', b: 'Object Instance', d: '对象实例就是数据行，只是换了业务名' },&#10; { a: 'Foreign Key / Join', b: 'Link Type', d: '链接可带属性，比外键表达力更强' },&#10;    { a: 'View / Materialized View', b: 'Object Set', d: '动态对象集 ≈ 运行时筛选结果' },&#10;  ].map((it, i) =&gt; (&#10;  &lt;Box key={i} style={{ flex: 1, background: '#F7F7F8', borderRadius: 4, padding: '0 16px', flexDirection: 'column', justifyContent: 'center' }}&gt;&#10;      &lt;Box style={{ flexDirection: 'row', alignItems: 'center', gap: 10 }}&gt;&#10;   &lt;Text style={{ fontSize: 13, fontFamily: 'monospace', color: '#8A8F99', width: 150 }}&gt;{it.a}&lt;/Text&gt;&#10;   &lt;Text style={{ fontSize: 13, color: '#FA4F24' }}&gt;≈&lt;/Text&gt;&#10;     &lt;Text style={{ fontSize: 14, fontWeight: 'bold', color: '#0F1423', flex: 1 }}&gt;{it.b}&lt;/Text&gt;&#10;     &lt;/Box&gt;&#10;  &lt;Text style={{ fontSize: 12, color: '#3A4050', lineHeight: 1.4, marginTop: 4 }}&gt;{it.d}&lt;/Text&gt;&#10;   &lt;/Box&gt;&#10;   ))}&#10;    &lt;Box style={{ height: 72, background: '#0F1423', borderRadius: 4, padding: '12px 16px', flexDirection: 'column', justifyContent: 'center' }}&gt;&#10;       &lt;Text style={{ fontSize: 14, fontWeight: 'bold', color: '#FBA15C' }}&gt;哲学上的差别&lt;/Text&gt;&#10;   &lt;Text style={{ fontSize: 13, color: 'rgba(255,255,255,0.9)', lineHeight: 1.5, marginTop: 5 }}&gt;&#10;      数据建模关注「变化中的不变」——字段存进库就稳定；本体关注「变化中的实体」——设备归属会变、订单状态会变、客户会重组，但对象身份不变。&#10;    &lt;/Text&gt;&#10;     &lt;/Box&gt;&#10;        &lt;/Box&gt;&#10;&#10;   {/* 右 存储策略 + 风险 */}&#10;   &lt;Box style={{ flex: 1, flexDirection: 'column', gap: 8 }}&gt;&#10;            &lt;Text style={{ fontSize: 20, fontWeight: 'bold', color: '#0F1423' }}&gt;存储策略：不复制数据的后果与代价&lt;/Text&gt;&#10;            &lt;Box style={{ height: 128, background: '#FFF3EE', borderRadius: 4, padding: '12px 16px', flexDirection: 'column', justifyContent: 'center', gap: 8 }}&gt;&#10;          {[&#10;  { t: '数据进平台后持久化落地', d: '原始与加工后的数据集都在，作为唯一事实来源' },&#10;   { t: '对象层只存定义与指向', d: '查属性时读底层数据集，不另存一份完整副本' },&#10;     { t: '用户编辑走对象层', d: '用户改动叠加在数据源之上，由数据漏斗保持索引最新' },&#10;   ].map((it, i) =&gt; (&#10;       &lt;Box key={i} style={{ flexDirection: 'row', alignItems: 'flex-start', gap: 8 }}&gt;&#10;     &lt;Box style={{ width: 5, height: 5, background: '#FA4F24', borderRadius: 3, marginTop: 6 }} /&gt;&#10;        &lt;Text style={{ fontSize: 13, color: '#3A2000', flex: 1, lineHeight: 1.45 }}&gt;&#10;        &lt;Text style={{ fontWeight: 'bold' }}&gt;{it.t}&lt;/Text&gt;　{it.d}&#10;  &lt;/Text&gt;&#10;     &lt;/Box&gt;&#10;  ))}&#10;       &lt;/Box&gt;&#10;       &lt;Text style={{ fontSize: 20, fontWeight: 'bold', color: '#0F1423', marginTop: 4 }}&gt;架构评审要问的三个问题&lt;/Text&gt;&#10;            {[&#10;    { t: '数据源还没到位就先建了对象？', d: '建模与取数必须同步推进，否则模型会大面积返工' },&#10;    { t: '同一对象跨几个源系统？', d: '主数据归属必须先定，否则会出现互相打架的两份主档' },&#10;      { t: '历史数据与实时数据怎么切？', d: '对象属性有新旧口径时，要用有效期而不是覆盖历史' },&#10;    ].map((it, i) =&gt; (&#10;      &lt;Box key={i} style={{ flex: 1, background: '#F7F7F8', borderRadius: 4, padding: '0 16px', flexDirection: 'column', justifyContent: 'center', borderLeft: '4px solid #FA4F24' }}&gt;&#10;     &lt;Text style={{ fontSize: 14, fontWeight: 'bold', color: '#0F1423' }}&gt;{it.t}&lt;/Text&gt;&#10;   &lt;Text style={{ fontSize: 13, color: '#3A4050', lineHeight: 1.4, marginTop: 3 }}&gt;{it.d}&lt;/Text&gt;&#10;    &lt;/Box&gt;&#10;  ))}&#10;        &lt;/Box&gt;&#10;    &lt;/Box&gt;&#10;&#10;    &lt;Box style={{ height: 58, flexDirection: 'row', alignItems: 'center', borderTop: '1px solid #E8E8E8' }}&gt;&#10;    &lt;Box style={{ width: 10, height: 10, background: '#FA4F24' }} /&gt;&#10; &lt;Text style={{ fontSize: 13, color: '#8A8F99', marginLeft: 12 }}&gt;硕磐机密 · Ontology本体咨询方法论&lt;/Text&gt;&#10;    &lt;Text style={{ fontSize: 13, color: '#8A8F99', marginLeft: 'auto' }}&gt;14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视角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本体不另存一份数据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，只存定义与映射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这是本体与传统数据建模最大的分歧点，也是最容易被架构师质疑的一条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与实体数据模型的工程等价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1666875"/>
            <a:ext cx="4762500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62000" y="18288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onospace"/>
                <a:ea typeface="monospace"/>
              </a:rPr>
              <a:t>Dataset Schema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286000" y="1828800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A4F24"/>
                </a:solidFill>
                <a:latin typeface="Microsoft YaHei"/>
                <a:ea typeface="Microsoft YaHei"/>
              </a:rPr>
              <a:t>≈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2476500" y="1819275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Object Type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62000" y="2019300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字段与类型的定义方式高度相似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09600" y="2447925"/>
            <a:ext cx="476250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62000" y="26098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onospace"/>
                <a:ea typeface="monospace"/>
              </a:rPr>
              <a:t>Row / Record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2286000" y="2609850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A4F24"/>
                </a:solidFill>
                <a:latin typeface="Microsoft YaHei"/>
                <a:ea typeface="Microsoft YaHei"/>
              </a:rPr>
              <a:t>≈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2476500" y="2600325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Object Instance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62000" y="2800350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对象实例就是数据行，只是换了业务名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3219450"/>
            <a:ext cx="4762500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62000" y="3381375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onospace"/>
                <a:ea typeface="monospace"/>
              </a:rPr>
              <a:t>Foreign Key / Join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2286000" y="3381375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A4F24"/>
                </a:solidFill>
                <a:latin typeface="Microsoft YaHei"/>
                <a:ea typeface="Microsoft YaHei"/>
              </a:rPr>
              <a:t>≈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2476500" y="337185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Link Type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62000" y="35718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链接可带属性，比外键表达力更强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09600" y="4000500"/>
            <a:ext cx="4762500" cy="838200"/>
          </a:xfrm>
          <a:prstGeom prst="roundRect">
            <a:avLst>
              <a:gd name="adj" fmla="val 454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62000" y="4152900"/>
            <a:ext cx="14287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onospace"/>
                <a:ea typeface="monospace"/>
              </a:rPr>
              <a:t>View / Materialized View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2286000" y="4229100"/>
            <a:ext cx="95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FA4F24"/>
                </a:solidFill>
                <a:latin typeface="Microsoft YaHei"/>
                <a:ea typeface="Microsoft YaHei"/>
              </a:rPr>
              <a:t>≈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2476500" y="422910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Object Set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62000" y="4495800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动态对象集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≈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运行时筛选结果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09600" y="4914900"/>
            <a:ext cx="4762500" cy="685800"/>
          </a:xfrm>
          <a:prstGeom prst="roundRect">
            <a:avLst>
              <a:gd name="adj" fmla="val 555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62000" y="493395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哲学上的差别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62000" y="5143500"/>
            <a:ext cx="44577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数据建模关注「变化中的不变」——字段存进库就稳定；本体关注「变化中的实体」——设备归属会变、订单状态会变、客户会重组，但对象身份不变。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543550" y="1362075"/>
            <a:ext cx="6038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存储策略：不复制数据的后果与代价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543550" y="1666875"/>
            <a:ext cx="6038850" cy="1219200"/>
          </a:xfrm>
          <a:prstGeom prst="roundRect">
            <a:avLst>
              <a:gd name="adj" fmla="val 312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5695950" y="19335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819775" y="1876425"/>
            <a:ext cx="56102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数据进平台后持久化落地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原始与加工后的数据集都在，作为唯一事实来源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5695950" y="22288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819775" y="2171700"/>
            <a:ext cx="56102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对象层只存定义与指向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查属性时读底层数据集，不另存一份完整副本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695950" y="25241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819775" y="2466975"/>
            <a:ext cx="56102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用户编辑走对象层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用户改动叠加在数据源之上，由数据漏斗保持索引最新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543550" y="3000375"/>
            <a:ext cx="6038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架构评审要问的三个问题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5581650" y="3305175"/>
            <a:ext cx="6038850" cy="714375"/>
          </a:xfrm>
          <a:prstGeom prst="roundRect">
            <a:avLst>
              <a:gd name="adj" fmla="val 5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5581650" y="3305175"/>
            <a:ext cx="6038850" cy="714375"/>
          </a:xfrm>
          <a:custGeom>
            <a:pathLst>
              <a:path w="634" h="75">
                <a:moveTo>
                  <a:pt x="4" y="75"/>
                </a:move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734050" y="3467100"/>
            <a:ext cx="569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数据源还没到位就先建了对象？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734050" y="3657600"/>
            <a:ext cx="5695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建模与取数必须同步推进，否则模型会大面积返工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5581650" y="4095750"/>
            <a:ext cx="6038850" cy="714375"/>
          </a:xfrm>
          <a:prstGeom prst="roundRect">
            <a:avLst>
              <a:gd name="adj" fmla="val 5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5581650" y="4095750"/>
            <a:ext cx="6038850" cy="714375"/>
          </a:xfrm>
          <a:custGeom>
            <a:pathLst>
              <a:path w="634" h="75">
                <a:moveTo>
                  <a:pt x="4" y="75"/>
                </a:move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734050" y="4257675"/>
            <a:ext cx="569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同一对象跨几个源系统？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734050" y="4448175"/>
            <a:ext cx="5695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主数据归属必须先定，否则会出现互相打架的两份主档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5581650" y="4886325"/>
            <a:ext cx="6038850" cy="714375"/>
          </a:xfrm>
          <a:prstGeom prst="roundRect">
            <a:avLst>
              <a:gd name="adj" fmla="val 5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5581650" y="4886325"/>
            <a:ext cx="6038850" cy="714375"/>
          </a:xfrm>
          <a:custGeom>
            <a:pathLst>
              <a:path w="634" h="75">
                <a:moveTo>
                  <a:pt x="4" y="75"/>
                </a:move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734050" y="5048250"/>
            <a:ext cx="569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历史数据与实时数据怎么切？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734050" y="5238750"/>
            <a:ext cx="56959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对象属性有新旧口径时，要用有效期而不是覆盖历史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14 / 30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98" name="" descr="&lt;Slide style={{ width: 1280, height: 720, background: '#FFFFFF', padding: '24px 64px 0' }}&gt;&#10;    &lt;Box style={{ height: 96, flexDirection: 'column', justifyContent: 'flex-start' }}&gt;&#10; &lt;Text style={{ fontSize: 32, fontWeight: 'bold', color: '#0F1423' }}&gt;&#10;     之内容：AA 视角 —— &lt;span style={{ color: '#FA4F24' }}&gt;本体平台本身就是一个应用&lt;/span&gt;&#10;        &lt;/Text&gt;&#10;        &lt;Text style={{ fontSize: 20, color: '#8A8F99', marginTop: 8 }}&gt;&#10;    按应用架构的规矩来管它：谁在用、用哪几个入口、组合是否重复、迭代怎么排&#10;        &lt;/Text&gt;&#10;    &lt;/Box&gt;&#10;    &lt;Box style={{ height: 1, background: '#E8E8E8' }} /&gt;&#10;&#10;&lt;Box style={{ paddingTop: 22, paddingBottom: 12, height: 479, flexDirection: 'row', gap: 18 }}&gt;&#10;      {/* 左 五类应用 */}&#10;  &lt;Box style={{ flex: 1.15, flexDirection: 'column', gap: 7 }}&gt;&#10;      &lt;Text style={{ fontSize: 20, fontWeight: 'bold', color: '#0F1423' }}&gt;五类消费入口，各管一段&lt;/Text&gt;&#10;        {[&#10;        { n: 'Workshop', t: '低代码工作台', d: '业务人员直接搭界面，不等 IT 排期', tag: '自助' },&#10;          { n: 'Slate', t: '自定义页面', d: '用 HTML / CSS / JS 做高度定制的决策页', tag: '前端工程' },&#10;     { n: 'Quiver', t: '分析视图', d: '面向分析师的切片与对比分析', tag: '分析' },&#10;      { n: 'Object Explorer', t: '对象检索', d: '按对象与属性搜到实例，替代翻表', tag: '通用入口' },&#10;          { n: 'OSDK', t: '本体 SDK', d: '把对象、链接、动作暴露成接口，供外部系统调用', tag: '对外集成' },&#10;        ].map((it, i) =&gt; (&#10;          &lt;Box key={i} style={{ flex: 1, background: '#F7F7F8', borderRadius: 4, padding: '0 14px', flexDirection: 'row', alignItems: 'center', gap: 11 }}&gt;&#10;     &lt;Text style={{ fontSize: 14, fontWeight: 'bold', color: '#0F1423', width: 128 }}&gt;{it.n}&lt;/Text&gt;&#10;            &lt;Text style={{ fontSize: 14, fontWeight: 'bold', color: '#FA4F24', width: 104 }}&gt;{it.t}&lt;/Text&gt;&#10;   &lt;Text style={{ fontSize: 12, color: '#3A4050', flex: 1, lineHeight: 1.35 }}&gt;{it.d}&lt;/Text&gt;&#10;  &lt;Text style={{ fontSize: 12, color: '#8A8F99' }}&gt;{it.tag}&lt;/Text&gt;&#10;      &lt;/Box&gt;&#10;        ))}&#10;        &lt;Box style={{ height: 62, background: '#FFF3EE', borderRadius: 4, padding: '10px 14px', flexDirection: 'column', justifyContent: 'center', borderLeft: '4px solid #FBA15C' }}&gt;&#10;          &lt;Text style={{ fontSize: 13, fontWeight: 'bold', color: '#C43A17' }}&gt;★ AA 的核心判断&lt;/Text&gt;&#10;      &lt;Text style={{ fontSize: 13, color: '#3A2000', lineHeight: 1.45, marginTop: 4 }}&gt;&#10;    五类入口不是五套逻辑。所有写操作都必须回到 Action Type，谁的界面都一样 —— 这条守住了，才叫平台，破了就是五个应用。&#10;          &lt;/Text&gt;&#10;        &lt;/Box&gt;&#10;      &lt;/Box&gt;&#10;&#10;        {/* 右 应用组合治理 */}&#10;        &lt;Box style={{ flex: 1, flexDirection: 'column', gap: 8 }}&gt;&#10;        &lt;Text style={{ fontSize: 20, fontWeight: 'bold', color: '#0F1423' }}&gt;应用组合四问（照搬 AA 打法）&lt;/Text&gt;&#10;    {[&#10;            { q: '两个界面在解决同一个决策吗？', d: '是 → 合并成入口，不是各自演进' },&#10;       { q: '这个功能该不该做在本体层？', d: '不该 → 它只是展示，不该新增对象或动作' },&#10;     { q: '谁负责这个应用的生命周期？', d: '无人认领的自助应用，是半年后没人敢动的孤儿' },&#10;    { q: '它的迭代排在谁后面？', d: '本体变更是它变更的前置条件，排序不能反' },&#10; ].map((it, i) =&gt; (&#10;      &lt;Box key={i} style={{ flex: 1, background: '#F7F7F8', borderRadius: 4, padding: '0 16px', flexDirection: 'column', justifyContent: 'center', borderLeft: '4px solid #FA4F24' }}&gt;&#10;            &lt;Text style={{ fontSize: 15, fontWeight: 'bold', color: '#0F1423' }}&gt;{it.q}&lt;/Text&gt;&#10;     &lt;Text style={{ fontSize: 13, color: '#3A4050', lineHeight: 1.4, marginTop: 3 }}&gt;{it.d}&lt;/Text&gt;&#10;          &lt;/Box&gt;&#10;    ))}&#10;          &lt;Box style={{ height: 92, background: '#0F1423', borderRadius: 4, padding: '12px 16px', flexDirection: 'column', justifyContent: 'center' }}&gt;&#10;   &lt;Text style={{ fontSize: 14, fontWeight: 'bold', color: '#FBA15C' }}&gt;交付边界提醒&lt;/Text&gt;&#10;    &lt;Text style={{ fontSize: 13, color: 'rgba(255,255,255,0.9)', lineHeight: 1.5, marginTop: 5 }}&gt;&#10;   咨询阶段只做两件事：定入口分工（谁做什么、哪两个必须合并），定应用接入本体的接口规范。界面实现方式与排期不在架构交付范围内。&#10;        &lt;/Text&gt;&#10;    &lt;/Box&gt;&#10;        &lt;/Box&gt;&#10;    &lt;/Box&gt;&#10;&#10;  &lt;Box style={{ height: 58, flexDirection: 'row', alignItems: 'center', borderTop: '1px solid #E8E8E8' }}&gt;&#10;        &lt;Box style={{ width: 10, height: 10, background: '#FA4F24' }} /&gt;&#10;     &lt;Text style={{ fontSize: 13, color: '#8A8F99', marginLeft: 12 }}&gt;硕磐机密 · Ontology本体咨询方法论&lt;/Text&gt;&#10;        &lt;Text style={{ fontSize: 13, color: '#8A8F99', marginLeft: 'auto' }}&gt;15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视角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本体平台本身就是一个应用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按应用架构的规矩来管它：谁在用、用哪几个入口、组合是否重复、迭代怎么排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781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五类消费入口，各管一段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09600" y="1657350"/>
            <a:ext cx="5781675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42950" y="187642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Workshop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2066925" y="1876425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低代码工作台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162300" y="1866900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业务人员直接搭界面，不等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排期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029325" y="188595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自助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09600" y="2324100"/>
            <a:ext cx="5781675" cy="6096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42950" y="2552700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Slate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2066925" y="255270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自定义页面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3162300" y="2533650"/>
            <a:ext cx="25336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用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HTML / CSS / JS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做高度定制的决策页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800725" y="25622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前端工程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09600" y="3000375"/>
            <a:ext cx="5781675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742950" y="3219450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Quiver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2066925" y="32194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分析视图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3162300" y="3209925"/>
            <a:ext cx="2762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面向分析师的切片与对比分析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29325" y="32289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609600" y="3667125"/>
            <a:ext cx="5781675" cy="609600"/>
          </a:xfrm>
          <a:prstGeom prst="roundRect">
            <a:avLst>
              <a:gd name="adj" fmla="val 62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42950" y="389572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Object Explorer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2066925" y="3895725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对象检索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3162300" y="3876675"/>
            <a:ext cx="25336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按对象与属性搜到实例，替代翻表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800725" y="39052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通用入口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09600" y="4343400"/>
            <a:ext cx="5781675" cy="600075"/>
          </a:xfrm>
          <a:prstGeom prst="roundRect">
            <a:avLst>
              <a:gd name="adj" fmla="val 634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42950" y="456247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OSDK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2066925" y="4562475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本体</a:t>
            </a: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SDK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162300" y="4552950"/>
            <a:ext cx="25336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把对象、链接、动作暴露成接口，供外部系统调用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800725" y="45720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对外集成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647700" y="5010150"/>
            <a:ext cx="5781675" cy="59055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647700" y="5010150"/>
            <a:ext cx="5781675" cy="590550"/>
          </a:xfrm>
          <a:custGeom>
            <a:pathLst>
              <a:path w="607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81050" y="4991100"/>
            <a:ext cx="5476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AA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的核心判断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81050" y="5181600"/>
            <a:ext cx="54768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五类入口不是五套逻辑。所有写操作都必须回到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Action Type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，谁的界面都一样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这条守住了，才叫平台，破了就是五个应用。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562725" y="1362075"/>
            <a:ext cx="5019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应用组合四问（照搬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AA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打法）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600825" y="1666875"/>
            <a:ext cx="5019675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6600825" y="1666875"/>
            <a:ext cx="5019675" cy="685800"/>
          </a:xfrm>
          <a:custGeom>
            <a:pathLst>
              <a:path w="527" h="72">
                <a:moveTo>
                  <a:pt x="4" y="72"/>
                </a:moveTo>
                <a:cubicBezTo>
                  <a:pt x="2" y="72"/>
                  <a:pt x="0" y="70"/>
                  <a:pt x="0" y="6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753225" y="1809750"/>
            <a:ext cx="4676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两个界面在解决同一个决策吗？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753225" y="2009775"/>
            <a:ext cx="4676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是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合并成入口，不是各自演进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600825" y="2428875"/>
            <a:ext cx="5019675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6600825" y="2428875"/>
            <a:ext cx="5019675" cy="695325"/>
          </a:xfrm>
          <a:custGeom>
            <a:pathLst>
              <a:path w="527" h="73">
                <a:moveTo>
                  <a:pt x="4" y="73"/>
                </a:moveTo>
                <a:cubicBezTo>
                  <a:pt x="2" y="73"/>
                  <a:pt x="0" y="71"/>
                  <a:pt x="0" y="6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753225" y="2571750"/>
            <a:ext cx="4676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这个功能该不该做在本体层？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753225" y="2771775"/>
            <a:ext cx="4676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不该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它只是展示，不该新增对象或动作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600825" y="3200400"/>
            <a:ext cx="5019675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6600825" y="3200400"/>
            <a:ext cx="5019675" cy="685800"/>
          </a:xfrm>
          <a:custGeom>
            <a:pathLst>
              <a:path w="527" h="72">
                <a:moveTo>
                  <a:pt x="4" y="72"/>
                </a:moveTo>
                <a:cubicBezTo>
                  <a:pt x="2" y="72"/>
                  <a:pt x="0" y="70"/>
                  <a:pt x="0" y="6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753225" y="3343275"/>
            <a:ext cx="4676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谁负责这个应用的生命周期？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753225" y="3543300"/>
            <a:ext cx="4676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无人认领的自助应用，是半年后没人敢动的孤儿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600825" y="3962400"/>
            <a:ext cx="5019675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6600825" y="3962400"/>
            <a:ext cx="5019675" cy="685800"/>
          </a:xfrm>
          <a:custGeom>
            <a:pathLst>
              <a:path w="527" h="72">
                <a:moveTo>
                  <a:pt x="4" y="72"/>
                </a:moveTo>
                <a:cubicBezTo>
                  <a:pt x="2" y="72"/>
                  <a:pt x="0" y="70"/>
                  <a:pt x="0" y="6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753225" y="4105275"/>
            <a:ext cx="4676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它的迭代排在谁后面？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753225" y="4305300"/>
            <a:ext cx="4676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本体变更是它变更的前置条件，排序不能反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562725" y="4724400"/>
            <a:ext cx="5019675" cy="876300"/>
          </a:xfrm>
          <a:prstGeom prst="roundRect">
            <a:avLst>
              <a:gd name="adj" fmla="val 43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715125" y="4838700"/>
            <a:ext cx="471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交付边界提醒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715125" y="5048250"/>
            <a:ext cx="47148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咨询阶段只做两件事：定入口分工（谁做什么、哪两个必须合并），定应用接入本体的接口规范。界面实现方式与排期不在架构交付范围内。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15 / 30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35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之内容：TA 视角 —— &lt;span style={{ color: '#FA4F24' }}&gt;对象存储、写入漏斗与索引&lt;/span&gt;，本体的运行底座&#10;        &lt;/Text&gt;&#10;        &lt;Text style={{ fontSize: 20, color: '#8A8F99', marginTop: 8 }}&gt;&#10;   语义层的问题从来不是画不出来，而是写得进去、查得回来、扛得住并发&#10;     &lt;/Text&gt;&#10;    &lt;/Box&gt;&#10;    &lt;Box style={{ height: 1, background: '#E8E8E8' }} /&gt;&#10;&#10;    &lt;Box style={{ paddingTop: 22, paddingBottom: 12, height: 479, flexDirection: 'column', gap: 9 }}&gt;&#10;    {/* 运行链路 */}&#10;      &lt;Box style={{ height: 108, flexDirection: 'row', gap: 8 }}&gt;&#10; {[&#10;   { n: '元数据服务', d: '所有对象类型的定义、版本与依赖都在这里', k: 'OMS' },&#10;          { n: '对象存储', d: '当前权威存储是下一代版本，老版本仅作遗留兼容', k: 'Store V2' },&#10;   { n: '对象集合服务', d: '把各种筛选条件解析成高效查询并做聚合', k: 'OSS' },&#10;    { n: '动作服务', d: '所有写入的校验、编排与落库都从这里走', k: 'Actions' },&#10;   { n: '数据漏斗', d: '编排数据源与用户编辑，保证索引始终是最新的', k: 'Funnel' },&#10;      ].map((it, i) =&gt; (&#10;  &lt;Box key={i} style={{ flex: 1, background: i === 4 ? '#FA4F24' : '#0F1423', borderRadius: 4, padding: '12px 13px', flexDirection: 'column', justifyContent: 'center' }}&gt;&#10;     &lt;Text style={{ fontSize: 12, color: i === 4 ? 'rgba(255,255,255,0.8)' : 'rgba(255,255,255,0.55)', letterSpacing: 1 }}&gt;{it.k}&lt;/Text&gt;&#10;      &lt;Text style={{ fontSize: 15, fontWeight: 'bold', color: '#FFFFFF', marginTop: 4 }}&gt;{it.n}&lt;/Text&gt;&#10;    &lt;Text style={{ fontSize: 12, color: 'rgba(255,255,255,0.82)', lineHeight: 1.4, marginTop: 6 }}&gt;{it.d}&lt;/Text&gt;&#10;    &lt;/Box&gt;&#10;       ))}&#10;  &lt;/Box&gt;&#10;&#10;      &lt;Box style={{ flex: 1, flexDirection: 'row', gap: 18 }}&gt;&#10;      {/* 左：技术选型三问 */}&#10;      &lt;Box style={{ width: 480, flexDirection: 'column', gap: 8 }}&gt;&#10;  &lt;Text style={{ fontSize: 20, fontWeight: 'bold', color: '#0F1423' }}&gt;技术选型三问&lt;/Text&gt;&#10;          {[&#10;     { q: '读写比是多少？', d: '读多写少与写多读少，选的存储与索引策略完全不同' },&#10;     { q: '一致性要求多高？', d: '库存、在途这类数字不容许脏读；审批状态可以最终一致' },&#10;            { q: '索引能撑多大对象集？', d: '对象集合的规模上限，决定哪些场景必须预聚合' },&#10;     ].map((it, i) =&gt; (&#10;   &lt;Box key={i} style={{ flex: 1, background: '#F7F7F8', borderRadius: 4, padding: '0 16px', flexDirection: 'column', justifyContent: 'center', borderLeft: '4px solid #FA4F24' }}&gt;&#10;    &lt;Text style={{ fontSize: 15, fontWeight: 'bold', color: '#0F1423' }}&gt;{it.q}&lt;/Text&gt;&#10;    &lt;Text style={{ fontSize: 13, color: '#3A4050', lineHeight: 1.4, marginTop: 3 }}&gt;{it.d}&lt;/Text&gt;&#10;   &lt;/Box&gt;&#10;          ))}&#10;   &lt;Box style={{ height: 56, background: '#F7F7F8', borderRadius: 4, padding: '0 16px', flexDirection: 'row', alignItems: 'center', gap: 12, borderLeft: '4px solid #FA4F24' }}&gt;&#10;     &lt;Text style={{ fontSize: 13, fontWeight: 'bold', color: '#C43A17', width: 96 }}&gt;★ 遗留成本&lt;/Text&gt;&#10;   &lt;Text style={{ fontSize: 13, color: '#3A4050', flex: 1, lineHeight: 1.4 }}&gt;&#10;  两代对象存储并存是历史包袱：迁移期所有应用都得双读，验收必须看到双写与回退方案&#10; &lt;/Text&gt;&#10;          &lt;/Box&gt;&#10;        &lt;/Box&gt;&#10;&#10;        {/* 右：非功能四维 */}&#10;   &lt;Box style={{ flex: 1, flexDirection: 'column', gap: 8 }}&gt;&#10;      &lt;Text style={{ fontSize: 20, fontWeight: 'bold', color: '#0F1423' }}&gt;本体的非功能要求与常规应用不同在哪&lt;/Text&gt;&#10;          {[&#10;  { d: '性能', r: '普通应用看响应时间', x: '本体还看链接展开深度 —— 一跳慢 200ms，三跳就不可用了' },&#10;   { d: '可用性', r: '单个服务挂掉就挂了', x: '本体挂了所有决策界面全停，等于整个组织失去运营能力' },&#10;      { d: '容量', r: '按请求量估算', x: '按对象实例与链接条数估算，增长来自业务扩张不是访问量' },&#10;            { d: '恢复', r: '恢复数据库即可', x: '要恢复的是「哪条决策在什么时候被谁改了」的完整链条' },&#10;          ].map((it, i) =&gt; (&#10;  &lt;Box key={i} style={{ flex: 1, background: '#FFF3EE', borderRadius: 4, padding: '0 16px', flexDirection: 'row', alignItems: 'center', gap: 12 }}&gt;&#10;       &lt;Text style={{ fontSize: 15, fontWeight: 'bold', color: '#C43A17', width: 48 }}&gt;{it.d}&lt;/Text&gt;&#10; &lt;Box style={{ width: 150 }}&gt;&#10;      &lt;Text style={{ fontSize: 12, color: '#8A5A20', lineHeight: 1.35 }}&gt;{it.r}&lt;/Text&gt;&#10;         &lt;/Box&gt;&#10;        &lt;Text style={{ fontSize: 12, color: '#3A2000', flex: 1, lineHeight: 1.4 }}&gt;{it.x}&lt;/Text&gt;&#10;      &lt;/Box&gt;&#10;  ))}&#10;        &lt;/Box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Ontology本体咨询方法论&lt;/Text&gt;&#10;      &lt;Text style={{ fontSize: 13, color: '#8A8F99', marginLeft: 'auto' }}&gt;16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视角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对象存储、写入漏斗与索引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，本体的运行底座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语义层的问题从来不是画不出来，而是写得进去、查得回来、扛得住并发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609600" y="1362075"/>
            <a:ext cx="2133600" cy="1028700"/>
          </a:xfrm>
          <a:prstGeom prst="roundRect">
            <a:avLst>
              <a:gd name="adj" fmla="val 370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33425" y="14763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OMS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33425" y="165735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元数据服务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33425" y="1885950"/>
            <a:ext cx="18859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所有对象类型的定义、版本与依赖都在这里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2819400" y="1362075"/>
            <a:ext cx="2133600" cy="1028700"/>
          </a:xfrm>
          <a:prstGeom prst="roundRect">
            <a:avLst>
              <a:gd name="adj" fmla="val 370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2943225" y="14763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Store V2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2943225" y="165735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对象存储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2943225" y="1885950"/>
            <a:ext cx="18859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当前权威存储是下一代版本，老版本仅作遗留兼容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5029200" y="1362075"/>
            <a:ext cx="2133600" cy="1028700"/>
          </a:xfrm>
          <a:prstGeom prst="roundRect">
            <a:avLst>
              <a:gd name="adj" fmla="val 370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153025" y="14763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OSS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153025" y="165735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对象集合服务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153025" y="1885950"/>
            <a:ext cx="18859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把各种筛选条件解析成高效查询并做聚合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7239000" y="1362075"/>
            <a:ext cx="2133600" cy="1028700"/>
          </a:xfrm>
          <a:prstGeom prst="roundRect">
            <a:avLst>
              <a:gd name="adj" fmla="val 370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362825" y="14763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Actions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362825" y="165735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动作服务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362825" y="1885950"/>
            <a:ext cx="18859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所有写入的校验、编排与落库都从这里走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9448800" y="1362075"/>
            <a:ext cx="2133600" cy="1028700"/>
          </a:xfrm>
          <a:prstGeom prst="roundRect">
            <a:avLst>
              <a:gd name="adj" fmla="val 3704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572625" y="1476375"/>
            <a:ext cx="1885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Funnel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572625" y="165735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数据漏斗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9572625" y="1885950"/>
            <a:ext cx="18859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编排数据源与用户编辑，保证索引始终是最新的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2476500"/>
            <a:ext cx="457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技术选型三问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47700" y="2781300"/>
            <a:ext cx="4572000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647700" y="2781300"/>
            <a:ext cx="4572000" cy="685800"/>
          </a:xfrm>
          <a:custGeom>
            <a:pathLst>
              <a:path w="480" h="72">
                <a:moveTo>
                  <a:pt x="4" y="72"/>
                </a:moveTo>
                <a:cubicBezTo>
                  <a:pt x="2" y="72"/>
                  <a:pt x="0" y="70"/>
                  <a:pt x="0" y="6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00100" y="2924175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读写比是多少？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00100" y="3124200"/>
            <a:ext cx="42291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读多写少与写多读少，选的存储与索引策略完全不同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47700" y="3543300"/>
            <a:ext cx="4572000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8" name=""/>
          <p:cNvSpPr/>
          <p:nvPr/>
        </p:nvSpPr>
        <p:spPr>
          <a:xfrm rot="0" flipH="0" flipV="0">
            <a:off x="647700" y="3543300"/>
            <a:ext cx="4572000" cy="685800"/>
          </a:xfrm>
          <a:custGeom>
            <a:pathLst>
              <a:path w="480" h="72">
                <a:moveTo>
                  <a:pt x="4" y="72"/>
                </a:moveTo>
                <a:cubicBezTo>
                  <a:pt x="2" y="72"/>
                  <a:pt x="0" y="70"/>
                  <a:pt x="0" y="6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00100" y="3686175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一致性要求多高？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00100" y="3886200"/>
            <a:ext cx="42291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库存、在途这类数字不容许脏读；审批状态可以最终一致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647700" y="4305300"/>
            <a:ext cx="4572000" cy="6858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92" name=""/>
          <p:cNvSpPr/>
          <p:nvPr/>
        </p:nvSpPr>
        <p:spPr>
          <a:xfrm rot="0" flipH="0" flipV="0">
            <a:off x="647700" y="4305300"/>
            <a:ext cx="4572000" cy="685800"/>
          </a:xfrm>
          <a:custGeom>
            <a:pathLst>
              <a:path w="480" h="72">
                <a:moveTo>
                  <a:pt x="4" y="72"/>
                </a:moveTo>
                <a:cubicBezTo>
                  <a:pt x="2" y="72"/>
                  <a:pt x="0" y="70"/>
                  <a:pt x="0" y="6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00100" y="4448175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索引能撑多大对象集？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00100" y="4648200"/>
            <a:ext cx="42291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对象集合的规模上限，决定哪些场景必须预聚合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47700" y="5067300"/>
            <a:ext cx="4572000" cy="533400"/>
          </a:xfrm>
          <a:prstGeom prst="roundRect">
            <a:avLst>
              <a:gd name="adj" fmla="val 71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647700" y="5067300"/>
            <a:ext cx="4572000" cy="533400"/>
          </a:xfrm>
          <a:custGeom>
            <a:pathLst>
              <a:path w="480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00100" y="52578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遗留成本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828800" y="5124450"/>
            <a:ext cx="32004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两代对象存储并存是历史包袱：迁移期所有应用都得双读，验收必须看到双写与回退方案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353050" y="2476500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本体的非功能要求与常规应用不同在哪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5353050" y="2781300"/>
            <a:ext cx="6229350" cy="647700"/>
          </a:xfrm>
          <a:prstGeom prst="roundRect">
            <a:avLst>
              <a:gd name="adj" fmla="val 58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505450" y="3019425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性能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076950" y="30099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普通应用看响应时间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620000" y="300990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本体还看链接展开深度</a:t>
            </a:r>
            <a:r>
              <a:rPr lang="en-US" sz="900">
                <a:solidFill>
                  <a:srgbClr val="3A200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一跳慢</a:t>
            </a:r>
            <a:r>
              <a:rPr lang="en-US" sz="900">
                <a:solidFill>
                  <a:srgbClr val="3A2000"/>
                </a:solidFill>
                <a:latin typeface="Microsoft YaHei"/>
                <a:ea typeface="Microsoft YaHei"/>
              </a:rPr>
              <a:t xml:space="preserve"> 200ms</a:t>
            </a: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，三跳就不可用了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5353050" y="3505200"/>
            <a:ext cx="6229350" cy="647700"/>
          </a:xfrm>
          <a:prstGeom prst="roundRect">
            <a:avLst>
              <a:gd name="adj" fmla="val 58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505450" y="3743325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可用性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076950" y="37338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单个服务挂掉就挂了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620000" y="373380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本体挂了所有决策界面全停，等于整个组织失去运营能力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5353050" y="4229100"/>
            <a:ext cx="6229350" cy="647700"/>
          </a:xfrm>
          <a:prstGeom prst="roundRect">
            <a:avLst>
              <a:gd name="adj" fmla="val 58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505450" y="4467225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容量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076950" y="44577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按请求量估算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620000" y="445770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按对象实例与链接条数估算，增长来自业务扩张不是访问量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5353050" y="4953000"/>
            <a:ext cx="6229350" cy="647700"/>
          </a:xfrm>
          <a:prstGeom prst="roundRect">
            <a:avLst>
              <a:gd name="adj" fmla="val 58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505450" y="5191125"/>
            <a:ext cx="45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恢复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076950" y="51816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恢复数据库即可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620000" y="5181600"/>
            <a:ext cx="38100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要恢复的是「哪条决策在什么时候被谁改了」的完整链条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16 / 30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42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之模板：&lt;span style={{ color: '#FA4F24' }}&gt;本体 4A 评审清单&lt;/span&gt;，16 项逐条过，缺项不许进入下一阶段&#10;        &lt;/Text&gt;&#10;        &lt;Text style={{ fontSize: 20, color: '#8A8F99', marginTop: 8 }}&gt;&#10;      每项填「有 / 半有 / 无」，半有必须写清缺口与补齐日期，无项直接进缺口台账&#10;     &lt;/Text&gt;&#10;    &lt;/Box&gt;&#10;    &lt;Box style={{ height: 1, background: '#E8E8E8' }} /&gt;&#10;&#10;    &lt;Box style={{ paddingTop: 18, paddingBottom: 12, height: 479, flexDirection: 'row', gap: 18 }}&gt;&#10;        {/* 左：BA + DA */}&#10;        &lt;Box style={{ flex: 1, flexDirection: 'column', gap: 10 }}&gt;&#10;            {[&#10;    { g: 'BA', sub: '业务架构', bg: '#F7F7F8', hb: '#FA4F24', tc: '#0F1423', bc: '#C9CCD4', qc: '#3A4050', items: [&#10;    { n: 'B1', q: '每个对象都能说清它承接什么决策' },&#10;      { n: 'B2', q: '动作清单带责任人、审批与时限' },&#10; { n: 'B3', q: '链接连出了价值流而不只是主外键' },&#10;        { n: 'B4', q: '组织调整后对象归属有明确规则' },&#10;        ] },&#10;     { g: 'DA', sub: '数据架构', bg: '#F7F7F8', hb: '#F87D2F', tc: '#0F1423', bc: '#C9CCD4', qc: '#3A4050', items: [&#10;   { n: 'D1', q: '每个对象都有唯一权威数据来源' },&#10;        { n: 'D2', q: '建模与取数同步推进，无大量待补字段' },&#10;     { n: 'D3', q: '主数据归属明确，没有互相打架的主档' },&#10;        { n: 'D4', q: '历史口径用有效期管理，未覆盖历史' },&#10;        ] },&#10;].map((grp, gi) =&gt; (&#10;          &lt;Box key={gi} style={{ flex: 1, background: grp.bg, borderRadius: 4, padding: '12px 14px', flexDirection: 'column' }}&gt;&#10;     &lt;Box style={{ height: 26, flexDirection: 'row', alignItems: 'center', gap: 10 }}&gt;&#10;   &lt;Text style={{ fontSize: 17, fontWeight: 'bold', color: grp.hb }}&gt;{grp.g}&lt;/Text&gt;&#10;          &lt;Text style={{ fontSize: 12, color: '#8A8F99' }}&gt;{grp.sub}&lt;/Text&gt;&#10;    &lt;Box style={{ flex: 1, height: 1, background: '#E8E8E8' }} /&gt;&#10;  &lt;/Box&gt;&#10;              {grp.items.map((it, i) =&gt; (&#10;  &lt;Box key={i} style={{ flex: 1, flexDirection: 'row', alignItems: 'center', gap: 10 }}&gt;&#10;    &lt;Text style={{ fontSize: 13, fontWeight: 'bold', color: grp.hb, width: 26 }}&gt;{it.n}&lt;/Text&gt;&#10;          &lt;Text style={{ fontSize: 13, color: grp.qc, flex: 1, lineHeight: 1.35 }}&gt;{it.q}&lt;/Text&gt;&#10;     &lt;Box style={{ flexDirection: 'row', gap: 4 }}&gt;&#10;     {['有', '半', '无'].map((s, k) =&gt; (&#10;          &lt;Box key={k} style={{ width: 22, height: 18, borderRadius: 2, border: '1px solid ' + grp.bc, alignItems: 'center', justifyContent: 'center' }}&gt;&#10;      &lt;Text style={{ fontSize: 11, color: '#8A8F99' }}&gt;{s}&lt;/Text&gt;&#10;    &lt;/Box&gt;&#10;       ))}&#10;         &lt;/Box&gt;&#10;      &lt;/Box&gt;&#10;     ))}&#10;     &lt;/Box&gt;&#10;    ))}&#10;     &lt;/Box&gt;&#10;&#10;  {/* 右：AA + TA */}&#10;    &lt;Box style={{ flex: 1, flexDirection: 'column', gap: 10 }}&gt;&#10;            {[&#10;    { g: 'AA', sub: '应用架构', bg: '#FFF3EE', hb: '#C43A17', bc: '#E0B088', qc: '#3A2000', items: [&#10;     { n: 'A1', q: '五类入口分工清楚，不存在两界面做同一决策' },&#10;   { n: 'A2', q: '所有写操作统一回到 Action Type' },&#10;            { n: 'A3', q: '每个应用有明确责任人与生命周期约定' },&#10;       { n: 'A4', q: '对外集成走 OSDK，不直连底层数据集' },&#10;        ] },&#10;        { g: 'TA', sub: '技术架构', bg: '#FFF3EE', hb: '#8A5A20', bc: '#E0B088', qc: '#3A2000', items: [&#10;    { n: 'T1', q: '读写比与一致性要求已量化' },&#10;    { n: 'T2', q: '链接展开深度与对象集规模有上限约束' },&#10;       { n: 'T3', q: '两代存储并存期有双写与回退方案' },&#10;       { n: 'T4', q: '决策留痕数据的保留期与恢复流程已定' },&#10;        ] },&#10;      ].map((grp, gi) =&gt; (&#10;        &lt;Box key={gi} style={{ flex: 1, background: grp.bg, borderRadius: 4, padding: '12px 14px', flexDirection: 'column' }}&gt;&#10;      &lt;Box style={{ height: 26, flexDirection: 'row', alignItems: 'center', gap: 10 }}&gt;&#10;       &lt;Text style={{ fontSize: 17, fontWeight: 'bold', color: grp.hb }}&gt;{grp.g}&lt;/Text&gt;&#10;       &lt;Text style={{ fontSize: 12, color: '#B08050' }}&gt;{grp.sub}&lt;/Text&gt;&#10;      &lt;Box style={{ flex: 1, height: 1, background: '#E8C9B0' }} /&gt;&#10;         &lt;/Box&gt;&#10;      {grp.items.map((it, i) =&gt; (&#10;            &lt;Box key={i} style={{ flex: 1, flexDirection: 'row', alignItems: 'center', gap: 10 }}&gt;&#10;     &lt;Text style={{ fontSize: 13, fontWeight: 'bold', color: grp.hb, width: 26 }}&gt;{it.n}&lt;/Text&gt;&#10;      &lt;Text style={{ fontSize: 13, color: grp.qc, flex: 1, lineHeight: 1.35 }}&gt;{it.q}&lt;/Text&gt;&#10;       &lt;Box style={{ flexDirection: 'row', gap: 4 }}&gt;&#10;  {['有', '半', '无'].map((s, k) =&gt; (&#10;  &lt;Box key={k} style={{ width: 22, height: 18, borderRadius: 2, border: '1px solid ' + grp.bc, alignItems: 'center', justifyContent: 'center' }}&gt;&#10;         &lt;Text style={{ fontSize: 11, color: '#B08050' }}&gt;{s}&lt;/Text&gt;&#10;     &lt;/Box&gt;&#10;        ))}&#10;       &lt;/Box&gt;&#10;         &lt;/Box&gt;&#10;   ))}&#10;    &lt;/Box&gt;&#10;    ))}&#10;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Ontology本体咨询方法论&lt;/Text&gt;&#10;        &lt;Text style={{ fontSize: 13, color: '#8A8F99', marginLeft: 'auto' }}&gt;17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本体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评审清单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16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项逐条过，缺项不许进入下一阶段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每项填「有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半有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无」，半有必须写清缺口与补齐日期，无项直接进缺口台账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609600" y="1323975"/>
            <a:ext cx="5400675" cy="2095500"/>
          </a:xfrm>
          <a:prstGeom prst="roundRect">
            <a:avLst>
              <a:gd name="adj" fmla="val 18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42950" y="1466850"/>
            <a:ext cx="23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076325" y="14954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1628775" y="1562100"/>
            <a:ext cx="424815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742950" y="18192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B1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085850" y="1790700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每个对象都能说清它承接什么决策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5172075" y="18097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5229225" y="18288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5419725" y="18097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476875" y="18288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5667375" y="18097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724525" y="18288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42950" y="22193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B2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085850" y="2190750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动作清单带责任人、审批与时限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5172075" y="22098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5229225" y="22288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5419725" y="22098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5476875" y="22288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5667375" y="22098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5724525" y="22288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42950" y="26289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B3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085850" y="2600325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链接连出了价值流而不只是主外键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5172075" y="26193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5229225" y="26384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5419725" y="26193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5476875" y="26384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5667375" y="26193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5724525" y="26384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42950" y="30289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A4F24"/>
                </a:solidFill>
                <a:latin typeface="Microsoft YaHei"/>
                <a:ea typeface="Microsoft YaHei"/>
              </a:rPr>
              <a:t>B4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085850" y="3000375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组织调整后对象归属有明确规则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5172075" y="301942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5229225" y="30384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5419725" y="301942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5476875" y="30384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5667375" y="301942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5724525" y="30384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09600" y="3514725"/>
            <a:ext cx="5400675" cy="2085975"/>
          </a:xfrm>
          <a:prstGeom prst="roundRect">
            <a:avLst>
              <a:gd name="adj" fmla="val 18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742950" y="3657600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7D2F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085850" y="36861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1638300" y="3752850"/>
            <a:ext cx="4238625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42950" y="40005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87D2F"/>
                </a:solidFill>
                <a:latin typeface="Microsoft YaHei"/>
                <a:ea typeface="Microsoft YaHei"/>
              </a:rPr>
              <a:t>D1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085850" y="3971925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每个对象都有唯一权威数据来源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5172075" y="39909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5229225" y="40100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5419725" y="39909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476875" y="40100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5667375" y="39909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5724525" y="40100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742950" y="44100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87D2F"/>
                </a:solidFill>
                <a:latin typeface="Microsoft YaHei"/>
                <a:ea typeface="Microsoft YaHei"/>
              </a:rPr>
              <a:t>D2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085850" y="4381500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建模与取数同步推进，无大量待补字段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5172075" y="44005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5229225" y="44196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5419725" y="44005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5476875" y="44196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5667375" y="44005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724525" y="44196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742950" y="4810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87D2F"/>
                </a:solidFill>
                <a:latin typeface="Microsoft YaHei"/>
                <a:ea typeface="Microsoft YaHei"/>
              </a:rPr>
              <a:t>D3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1085850" y="4781550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主数据归属明确，没有互相打架的主档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5172075" y="48006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5229225" y="4819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5419725" y="48006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476875" y="4819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5667375" y="48006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5724525" y="4819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742950" y="5210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87D2F"/>
                </a:solidFill>
                <a:latin typeface="Microsoft YaHei"/>
                <a:ea typeface="Microsoft YaHei"/>
              </a:rPr>
              <a:t>D4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085850" y="5181600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历史口径用有效期管理，未覆盖历史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5172075" y="52006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229225" y="52197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5419725" y="52006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476875" y="52197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5667375" y="52006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C9CCD4"/>
            </a:solidFill>
            <a:prstDash val="solid"/>
          </a:ln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5724525" y="52197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181725" y="1323975"/>
            <a:ext cx="5400675" cy="2095500"/>
          </a:xfrm>
          <a:prstGeom prst="roundRect">
            <a:avLst>
              <a:gd name="adj" fmla="val 181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315075" y="1466850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3A17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6657975" y="14954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08050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7210425" y="1562100"/>
            <a:ext cx="4238625" cy="9525"/>
          </a:xfrm>
          <a:prstGeom prst="rect">
            <a:avLst/>
          </a:prstGeom>
          <a:solidFill>
            <a:srgbClr val="E8C9B0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315075" y="18192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A1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657975" y="1790700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五类入口分工清楚，不存在两界面做同一决策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10744200" y="18097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0801350" y="18288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10991850" y="18097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1049000" y="18288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11239500" y="18097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1296650" y="18288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315075" y="22193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A2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6657975" y="2190750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所有写操作统一回到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Action Type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10744200" y="22098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0801350" y="22288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10991850" y="22098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1049000" y="22288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11239500" y="22098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1296650" y="22288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315075" y="26289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A3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657975" y="2600325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每个应用有明确责任人与生命周期约定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10744200" y="26193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0801350" y="26384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10991850" y="26193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1049000" y="26384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11239500" y="26193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1296650" y="26384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315075" y="30289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>A4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657975" y="3000375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对外集成走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OSDK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，不直连底层数据集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10744200" y="301942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0801350" y="30384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10991850" y="301942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1049000" y="30384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11239500" y="301942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1296650" y="30384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6181725" y="3514725"/>
            <a:ext cx="5400675" cy="2085975"/>
          </a:xfrm>
          <a:prstGeom prst="roundRect">
            <a:avLst>
              <a:gd name="adj" fmla="val 182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315075" y="3657600"/>
            <a:ext cx="219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8A5A20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6629400" y="36861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08050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7181850" y="3752850"/>
            <a:ext cx="4267200" cy="9525"/>
          </a:xfrm>
          <a:prstGeom prst="rect">
            <a:avLst/>
          </a:prstGeom>
          <a:solidFill>
            <a:srgbClr val="E8C9B0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315075" y="40005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5A20"/>
                </a:solidFill>
                <a:latin typeface="Microsoft YaHei"/>
                <a:ea typeface="Microsoft YaHei"/>
              </a:rPr>
              <a:t>T1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657975" y="3971925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读写比与一致性要求已量化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10744200" y="39909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0801350" y="40100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10991850" y="39909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1049000" y="40100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11239500" y="3990975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11296650" y="40100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315075" y="44100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5A20"/>
                </a:solidFill>
                <a:latin typeface="Microsoft YaHei"/>
                <a:ea typeface="Microsoft YaHei"/>
              </a:rPr>
              <a:t>T2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6657975" y="4381500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链接展开深度与对象集规模有上限约束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10744200" y="44005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10801350" y="44196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10991850" y="44005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1049000" y="44196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11239500" y="44005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11296650" y="44196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315075" y="4810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5A20"/>
                </a:solidFill>
                <a:latin typeface="Microsoft YaHei"/>
                <a:ea typeface="Microsoft YaHei"/>
              </a:rPr>
              <a:t>T3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657975" y="4781550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两代存储并存期有双写与回退方案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10744200" y="48006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10801350" y="4819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10991850" y="48006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1049000" y="4819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11239500" y="480060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1296650" y="4819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315075" y="5210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8A5A20"/>
                </a:solidFill>
                <a:latin typeface="Microsoft YaHei"/>
                <a:ea typeface="Microsoft YaHei"/>
              </a:rPr>
              <a:t>T4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6657975" y="5181600"/>
            <a:ext cx="39909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决策留痕数据的保留期与恢复流程已定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10744200" y="52006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0801350" y="52197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10991850" y="52006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1049000" y="52197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11239500" y="5200650"/>
            <a:ext cx="209550" cy="171450"/>
          </a:xfrm>
          <a:prstGeom prst="roundRect">
            <a:avLst>
              <a:gd name="adj" fmla="val 11111"/>
            </a:avLst>
          </a:prstGeom>
          <a:ln w="12700">
            <a:solidFill>
              <a:srgbClr val="E0B088"/>
            </a:solidFill>
            <a:prstDash val="solid"/>
          </a:ln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11296650" y="52197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B08050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7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17 / 30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573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    &lt;Box style={{ position: 'absolute', right: 70, top: 110 }}&gt;&#10;        &lt;Text style={{ fontSize: 300, fontWeight: 'bold', color: 'rgba(255,255,255,0.08)', lineHeight: 1.0 }}&gt;03&lt;/Text&gt;&#10;    &lt;/Box&gt;&#10;    &lt;Box style={{ position: 'absolute', left: 88, top: 232, width: 660, flexDirection: 'column' }}&gt;&#10;        &lt;Text style={{ fontSize: 15, color: 'rgba(255,255,255,0.5)', letterSpacing: 3 }}&gt;PART 03&lt;/Text&gt;&#10;        &lt;Box style={{ width: 72, height: 5, background: '#FA4F24', marginTop: 22 }} /&gt;&#10;        &lt;Text style={{ fontSize: 58, fontWeight: 'bold', color: '#FFFFFF', marginTop: 28, lineHeight: 1.15 }}&gt;语义建模&lt;/Text&gt;&#10;        &lt;Text style={{ fontSize: 17, color: 'rgba(255,255,255,0.62)', letterSpacing: 2, marginTop: 20 }}&gt;SEMANTIC MODELING&lt;/Text&gt;&#10;        &lt;Text style={{ fontSize: 19, color: 'rgba(255,255,255,0.85)', marginTop: 26, lineHeight: 1.6 }}&gt;对象、链接、接口与对象集合&lt;/Text&gt;&#10;    &lt;/Box&gt;&#10;    &lt;Box style={{ position: 'absolute', right: 88, bottom: 64, flexDirection: 'row', alignItems: 'center', gap: 12 }}&gt;&#10;        &lt;Box style={{ width: 14, height: 14, background: '#FA4F24' }} /&gt;&#10;        &lt;Text style={{ fontSize: 14, color: 'rgba(255,255,255,0.5)' }}&gt;硕磐机密 · Ontology本体咨询方法论&lt;/Text&gt;&#10;        &lt;Text style={{ fontSize: 14, color: 'rgba(255,255,255,0.5)', marginLeft: 12 }}&gt;18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语义建模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SEMANTIC MODELING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对象、链接、接口与对象集合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82391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486775" y="60864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18 / 30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586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之方法：&lt;span style={{ color: '#FA4F24' }}&gt;Object Type 五问&lt;/span&gt;，判断一个东西该不该成为对象&#10;        &lt;/Text&gt;&#10;        &lt;Text style={{ fontSize: 20, color: '#8A8F99', marginTop: 8 }}&gt;&#10;      建模失败多数不是画错，而是把不该建成对象的东西建成了对象&#10;        &lt;/Text&gt;&#10;    &lt;/Box&gt;&#10;    &lt;Box style={{ height: 1, background: '#E8E8E8' }} /&gt;&#10;&#10;    &lt;Box style={{ paddingTop: 22, paddingBottom: 12, height: 479, flexDirection: 'row', gap: 20 }}&gt;&#10;        {/* 左 五问 */}&#10;   &lt;Box style={{ width: 560, flexDirection: 'column', gap: 8 }}&gt;&#10;    &lt;Text style={{ fontSize: 20, fontWeight: 'bold', color: '#0F1423' }}&gt;五问：顺序不能颠倒&lt;/Text&gt;&#10;            {[&#10;   { n: 'Q1', t: '它有身份吗？', d: '能被唯一指认，且这个指认在业务上成立', why: '没身份 → 它是属性，不是对象' },&#10;     { n: 'Q2', t: '它有状态吗？', d: '会随时间变化，且变化对业务有意义', why: '无状态 → 多半是日志或流水' },&#10;   { n: 'Q3', t: '它能独立承接动作吗？', d: '能不依赖别人被创建、修改、撤销', why: '不能 → 可能是另一个对象的属性' },&#10;         { n: 'Q4', t: '它的边界清楚吗？', d: '说得清它包含什么、不包含什么', why: '说不清 → 边界争议必然后患' },&#10;        { n: 'Q5', t: '它有生命周期吗？', d: '生、老、状态流转、最终归档', why: '没有 → 它只是一张快照表' },&#10;       ].map((it, i) =&gt; (&#10;    &lt;Box key={i} style={{ flex: 1, background: '#F7F7F8', borderRadius: 4, padding: '0 16px', flexDirection: 'row', alignItems: 'center', gap: 13 }}&gt;&#10;     &lt;Text style={{ fontSize: 15, fontWeight: 'bold', color: '#FA4F24', width: 30 }}&gt;{it.n}&lt;/Text&gt;&#10;          &lt;Box style={{ width: 168 }}&gt;&#10;&lt;Text style={{ fontSize: 15, fontWeight: 'bold', color: '#0F1423' }}&gt;{it.t}&lt;/Text&gt;&#10;       &lt;/Box&gt;&#10;         &lt;Box style={{ flex: 1 }}&gt;&#10;          &lt;Text style={{ fontSize: 13, color: '#3A4050', lineHeight: 1.35 }}&gt;{it.d}&lt;/Text&gt;&#10;       &lt;/Box&gt;&#10;    &lt;Text style={{ fontSize: 12, color: '#8A8F99', width: 152, lineHeight: 1.3 }}&gt;{it.why}&lt;/Text&gt;&#10;     &lt;/Box&gt;&#10;    ))}&#10;    &lt;Box style={{ height: 46, background: '#0F1423', borderRadius: 4, padding: '0 16px', flexDirection: 'row', alignItems: 'center', gap: 12 }}&gt;&#10;          &lt;Text style={{ fontSize: 13, fontWeight: 'bold', color: '#FBA15C', width: 96 }}&gt;★ 顺序理由&lt;/Text&gt;&#10;    &lt;Text style={{ fontSize: 13, color: 'rgba(255,255,255,0.9)', flex: 1, lineHeight: 1.4 }}&gt;&#10; 先判身份再建边界。顺序颠倒的话，你会先画出一堆字段，再去论证它是不是对象 —— 论证永远成立，模型就这么错下去了&#10;          &lt;/Text&gt;&#10;   &lt;/Box&gt;&#10;      &lt;/Box&gt;&#10;&#10;      {/* 右 判例 + 属性拆分 */}&#10;      &lt;Box style={{ flex: 1, flexDirection: 'column', gap: 8 }}&gt;&#10;            &lt;Text style={{ fontSize: 20, fontWeight: 'bold', color: '#0F1423' }}&gt;三个判例&lt;/Text&gt;&#10;  {[&#10;      { t: '订单 / 订单行', v: '订单行没有独立身份 —— 它离开订单就不成立 → 属性或子对象', r: '拆成两个对象' },&#10;   { t: '客户 / 联系人', v: '联系人是客户的属性集合，不是一个可独立决策的主体', r: '合成一个对象' },&#10;          { t: '在途库存', v: '它有状态、有生命周期、有归属，且每天都在动 → 是对象', r: '建成对象' },&#10;      ].map((it, i) =&gt; (&#10;   &lt;Box key={i} style={{ flex: 1, background: '#FFF3EE', borderRadius: 4, padding: '0 16px', flexDirection: 'column', justifyContent: 'center', borderLeft: '4px solid #FBA15C' }}&gt;&#10;  &lt;Box style={{ flexDirection: 'row', alignItems: 'center', gap: 10 }}&gt;&#10;     &lt;Text style={{ fontSize: 14, fontWeight: 'bold', color: '#C43A17' }}&gt;{it.t}&lt;/Text&gt;&#10;     &lt;Text style={{ fontSize: 12, color: '#8A5A20', background: 'rgba(250,79,36,0.12)', padding: '2px 7px', borderRadius: 2 }}&gt;{it.r}&lt;/Text&gt;&#10;      &lt;/Box&gt;&#10;   &lt;Text style={{ fontSize: 13, color: '#3A2000', lineHeight: 1.4, marginTop: 4 }}&gt;{it.v}&lt;/Text&gt;&#10;  &lt;/Box&gt;&#10;        ))}&#10;            &lt;Text style={{ fontSize: 20, fontWeight: 'bold', color: '#0F1423', marginTop: 4 }}&gt;属性拆分的唯一标准&lt;/Text&gt;&#10;            &lt;Box style={{ flex: 1.4, background: '#F7F7F8', borderRadius: 4, padding: '12px 16px', flexDirection: 'column', justifyContent: 'center' }}&gt;&#10;        {[&#10;        { t: '会被单独引用吗？', d: '会 → 升为属性对象，比如「收货地址」' },&#10;   { t: '会被单独授权吗？', d: '会 → 必须拆，权限要落到属性粒度' },&#10;    { t: '会被单独审计吗？', d: '会 → 必须拆，留痕要求独立' },&#10;              ].map((it, i) =&gt; (&#10;        &lt;Box key={i} style={{ flexDirection: 'row', alignItems: 'flex-start', marginTop: i === 0 ? 0 : 8 }}&gt;&#10;    &lt;Box style={{ width: 5, height: 5, background: '#FA4F24', borderRadius: 3, marginTop: 6 }} /&gt;&#10;             &lt;Text style={{ fontSize: 13, color: '#3A4050', flex: 1, lineHeight: 1.45 }}&gt;&#10;      &lt;Text style={{ fontWeight: 'bold', color: '#0F1423' }}&gt;{it.t}&lt;/Text&gt;　{it.d}&#10;        &lt;/Text&gt;&#10;          &lt;/Box&gt;&#10;    ))}&#10;   &lt;Text style={{ fontSize: 12, color: '#8A8F99', lineHeight: 1.4, marginTop: 8 }}&gt;&#10;     三条都不满足的，就老老实实当基础属性，别造对象&#10;      &lt;/Text&gt;&#10;       &lt;/Box&gt;&#10;      &lt;/Box&gt;&#10;    &lt;/Box&gt;&#10;&#10;    &lt;Box style={{ height: 58, flexDirection: 'row', alignItems: 'center', borderTop: '1px solid #E8E8E8' }}&gt;&#10;   &lt;Box style={{ width: 10, height: 10, background: '#FA4F24' }} /&gt;&#10;        &lt;Text style={{ fontSize: 13, color: '#8A8F99', marginLeft: 12 }}&gt;硕磐机密 · Ontology本体咨询方法论&lt;/Text&gt;&#10;     &lt;Text style={{ fontSize: 13, color: '#8A8F99', marginLeft: 'auto' }}&gt;19 / 3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Object Type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五问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，判断一个东西该不该成为对象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建模失败多数不是画错，而是把不该建成对象的东西建成了对象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33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五问：顺序不能颠倒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1666875"/>
            <a:ext cx="5334000" cy="619125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62000" y="18954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Q1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171575" y="189547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它有身份吗？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2895600" y="1771650"/>
            <a:ext cx="13239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能被唯一指认，且这个指认在业务上成立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4343400" y="1800225"/>
            <a:ext cx="144780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没身份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它是属性，不是对象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09600" y="2362200"/>
            <a:ext cx="53340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62000" y="25908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Q2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171575" y="2590800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它有状态吗？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2895600" y="2476500"/>
            <a:ext cx="13239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会随时间变化，且变化对业务有意义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4343400" y="2590800"/>
            <a:ext cx="14478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无状态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多半是日志或流水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09600" y="3067050"/>
            <a:ext cx="5334000" cy="619125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62000" y="32956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Q3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1171575" y="3295650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它能独立承接动作吗？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2895600" y="3171825"/>
            <a:ext cx="13239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能不依赖别人被创建、修改、撤销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4343400" y="3200400"/>
            <a:ext cx="144780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不能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可能是另一个对象的属性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09600" y="3762375"/>
            <a:ext cx="5334000" cy="628650"/>
          </a:xfrm>
          <a:prstGeom prst="roundRect">
            <a:avLst>
              <a:gd name="adj" fmla="val 60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62000" y="39909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Q4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71575" y="399097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它的边界清楚吗？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2895600" y="3876675"/>
            <a:ext cx="13239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说得清它包含什么、不包含什么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4343400" y="3990975"/>
            <a:ext cx="14478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说不清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边界争议必然后患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09600" y="4467225"/>
            <a:ext cx="5334000" cy="619125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762000" y="46958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Q5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171575" y="4695825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它有生命周期吗？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2895600" y="4572000"/>
            <a:ext cx="13239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生、老、状态流转、最终归档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4343400" y="4686300"/>
            <a:ext cx="14478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没有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它只是一张快照表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09600" y="5162550"/>
            <a:ext cx="5334000" cy="438150"/>
          </a:xfrm>
          <a:prstGeom prst="roundRect">
            <a:avLst>
              <a:gd name="adj" fmla="val 869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762000" y="530542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顺序理由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1790700" y="5172075"/>
            <a:ext cx="40005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先判身份再建边界。顺序颠倒的话，你会先画出一堆字段，再去论证它是不是对象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论证永远成立，模型就这么错下去了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134100" y="136207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三个判例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6172200" y="1666875"/>
            <a:ext cx="5448300" cy="600075"/>
          </a:xfrm>
          <a:prstGeom prst="roundRect">
            <a:avLst>
              <a:gd name="adj" fmla="val 634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22" name=""/>
          <p:cNvSpPr/>
          <p:nvPr/>
        </p:nvSpPr>
        <p:spPr>
          <a:xfrm rot="0" flipH="0" flipV="0">
            <a:off x="6172200" y="1666875"/>
            <a:ext cx="5448300" cy="600075"/>
          </a:xfrm>
          <a:custGeom>
            <a:pathLst>
              <a:path w="572" h="63">
                <a:moveTo>
                  <a:pt x="4" y="63"/>
                </a:moveTo>
                <a:cubicBezTo>
                  <a:pt x="2" y="63"/>
                  <a:pt x="0" y="61"/>
                  <a:pt x="0" y="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3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324600" y="1762125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订单</a:t>
            </a: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订单行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7229475" y="1752600"/>
            <a:ext cx="819150" cy="180975"/>
          </a:xfrm>
          <a:prstGeom prst="roundRect">
            <a:avLst>
              <a:gd name="adj" fmla="val 10526"/>
            </a:avLst>
          </a:prstGeom>
          <a:solidFill>
            <a:srgbClr val="FA4F24">
              <a:alpha val="12000"/>
            </a:srgbClr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229475" y="1752600"/>
            <a:ext cx="819150" cy="180975"/>
          </a:xfrm>
          <a:prstGeom prst="rect"/>
        </p:spPr>
        <p:txBody>
          <a:bodyPr wrap="none" lIns="50006" tIns="14288" rIns="50006" bIns="14288"/>
          <a:p>
            <a:pPr>
              <a:lnSpc>
                <a:spcPct val="100000"/>
              </a:lnSpc>
            </a:pPr>
            <a:r>
              <a:rPr lang="zh-CN" sz="900">
                <a:solidFill>
                  <a:srgbClr val="8A5A20"/>
                </a:solidFill>
                <a:highlight>
                  <a:srgbClr val="FA4F24">
                    <a:alpha val="12000"/>
                  </a:srgbClr>
                </a:highlight>
                <a:latin typeface="Microsoft YaHei"/>
                <a:ea typeface="Microsoft YaHei"/>
              </a:rPr>
              <a:t>拆成两个对象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324600" y="1971675"/>
            <a:ext cx="5105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订单行没有独立身份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它离开订单就不成立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属性或子对象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172200" y="2343150"/>
            <a:ext cx="5448300" cy="600075"/>
          </a:xfrm>
          <a:prstGeom prst="roundRect">
            <a:avLst>
              <a:gd name="adj" fmla="val 634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6172200" y="2343150"/>
            <a:ext cx="5448300" cy="600075"/>
          </a:xfrm>
          <a:custGeom>
            <a:pathLst>
              <a:path w="572" h="63">
                <a:moveTo>
                  <a:pt x="4" y="63"/>
                </a:moveTo>
                <a:cubicBezTo>
                  <a:pt x="2" y="63"/>
                  <a:pt x="0" y="61"/>
                  <a:pt x="0" y="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3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324600" y="243840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客户</a:t>
            </a: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联系人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7229475" y="2428875"/>
            <a:ext cx="819150" cy="180975"/>
          </a:xfrm>
          <a:prstGeom prst="roundRect">
            <a:avLst>
              <a:gd name="adj" fmla="val 10526"/>
            </a:avLst>
          </a:prstGeom>
          <a:solidFill>
            <a:srgbClr val="FA4F24">
              <a:alpha val="12000"/>
            </a:srgbClr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229475" y="2428875"/>
            <a:ext cx="819150" cy="180975"/>
          </a:xfrm>
          <a:prstGeom prst="rect"/>
        </p:spPr>
        <p:txBody>
          <a:bodyPr wrap="none" lIns="50006" tIns="14288" rIns="50006" bIns="14288"/>
          <a:p>
            <a:pPr>
              <a:lnSpc>
                <a:spcPct val="100000"/>
              </a:lnSpc>
            </a:pPr>
            <a:r>
              <a:rPr lang="zh-CN" sz="900">
                <a:solidFill>
                  <a:srgbClr val="8A5A20"/>
                </a:solidFill>
                <a:highlight>
                  <a:srgbClr val="FA4F24">
                    <a:alpha val="12000"/>
                  </a:srgbClr>
                </a:highlight>
                <a:latin typeface="Microsoft YaHei"/>
                <a:ea typeface="Microsoft YaHei"/>
              </a:rPr>
              <a:t>合成一个对象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324600" y="2647950"/>
            <a:ext cx="5105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联系人是客户的属性集合，不是一个可独立决策的主体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172200" y="3019425"/>
            <a:ext cx="5448300" cy="609600"/>
          </a:xfrm>
          <a:prstGeom prst="roundRect">
            <a:avLst>
              <a:gd name="adj" fmla="val 625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6172200" y="3019425"/>
            <a:ext cx="5448300" cy="609600"/>
          </a:xfrm>
          <a:custGeom>
            <a:pathLst>
              <a:path w="572" h="64">
                <a:moveTo>
                  <a:pt x="4" y="64"/>
                </a:moveTo>
                <a:cubicBezTo>
                  <a:pt x="2" y="64"/>
                  <a:pt x="0" y="62"/>
                  <a:pt x="0" y="6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4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在途库存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953250" y="3114675"/>
            <a:ext cx="590550" cy="180975"/>
          </a:xfrm>
          <a:prstGeom prst="roundRect">
            <a:avLst>
              <a:gd name="adj" fmla="val 10526"/>
            </a:avLst>
          </a:prstGeom>
          <a:solidFill>
            <a:srgbClr val="FA4F24">
              <a:alpha val="12000"/>
            </a:srgbClr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6953250" y="3114675"/>
            <a:ext cx="590550" cy="180975"/>
          </a:xfrm>
          <a:prstGeom prst="rect"/>
        </p:spPr>
        <p:txBody>
          <a:bodyPr wrap="none" lIns="50006" tIns="14288" rIns="50006" bIns="14288"/>
          <a:p>
            <a:pPr>
              <a:lnSpc>
                <a:spcPct val="100000"/>
              </a:lnSpc>
            </a:pPr>
            <a:r>
              <a:rPr lang="zh-CN" sz="900">
                <a:solidFill>
                  <a:srgbClr val="8A5A20"/>
                </a:solidFill>
                <a:highlight>
                  <a:srgbClr val="FA4F24">
                    <a:alpha val="12000"/>
                  </a:srgbClr>
                </a:highlight>
                <a:latin typeface="Microsoft YaHei"/>
                <a:ea typeface="Microsoft YaHei"/>
              </a:rPr>
              <a:t>建成对象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324600" y="3333750"/>
            <a:ext cx="5105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它有状态、有生命周期、有归属，且每天都在动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是对象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6134100" y="374332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属性拆分的唯一标准</a:t>
            </a:r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6134100" y="4048125"/>
            <a:ext cx="5448300" cy="1552575"/>
          </a:xfrm>
          <a:prstGeom prst="roundRect">
            <a:avLst>
              <a:gd name="adj" fmla="val 245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41" name=""/>
          <p:cNvSpPr/>
          <p:nvPr/>
        </p:nvSpPr>
        <p:spPr>
          <a:xfrm rot="0" flipH="0" flipV="0">
            <a:off x="6286500" y="43434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334125" y="4286250"/>
            <a:ext cx="50958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会被单独引用吗？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会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升为属性对象，比如「收货地址」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6286500" y="46386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334125" y="4581525"/>
            <a:ext cx="50958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会被单独授权吗？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会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必须拆，权限要落到属性粒度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286500" y="49339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334125" y="4876800"/>
            <a:ext cx="50958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会被单独审计吗？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会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必须拆，留痕要求独立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286500" y="5172075"/>
            <a:ext cx="5143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三条都不满足的，就老老实实当基础属性，别造对象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19 / 30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688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之内容：&lt;span style={{ color: '#FA4F24' }}&gt;Link Type 与 Interface&lt;/span&gt;，关系能带属性，接口能多态&#10;        &lt;/Text&gt;&#10;   &lt;Text style={{ fontSize: 20, color: '#8A8F99', marginTop: 8 }}&gt;&#10;     对象决定「有哪些东西」，链接决定「它们怎么连」，接口决定「怎么统一地连」&#10;        &lt;/Text&gt;&#10;    &lt;/Box&gt;&#10;    &lt;Box style={{ height: 1, background: '#E8E8E8' }} /&gt;&#10;&#10;    &lt;Box style={{ paddingTop: 22, paddingBottom: 12, height: 479, flexDirection: 'row', gap: 18 }}&gt;&#10;   {/* 左：三种基数 + 关系属性 */}&#10; &lt;Box style={{ flex: 1, flexDirection: 'column', gap: 8 }}&gt;&#10;            &lt;Text style={{ fontSize: 20, fontWeight: 'bold', color: '#0F1423' }}&gt;链接类型的三种基数&lt;/Text&gt;&#10;      {[&#10;   { c: '1 : 1', t: '一对一', d: '如「员工的直接上级」', ex: '用得少，因为大多数关系最终是多对多' },&#10;  { c: '1 : N', t: '一对多', d: '如「订单 → 订单行」', ex: '最常见的从属关系' },&#10;     { c: 'M : N', t: '多对多', d: '如「客户 ↔ 合同」', ex: '必须用中间对象承载，不能只建外键' },&#10;        ].map((it, i) =&gt; (&#10;      &lt;Box key={i} style={{ flex: 1, background: '#F7F7F8', borderRadius: 4, padding: '0 16px', flexDirection: 'row', alignItems: 'center', gap: 14 }}&gt;&#10;   &lt;Text style={{ fontSize: 19, fontWeight: 'bold', color: '#FA4F24', width: 62 }}&gt;{it.c}&lt;/Text&gt;&#10;      &lt;Box style={{ width: 92 }}&gt;&#10;         &lt;Text style={{ fontSize: 15, fontWeight: 'bold', color: '#0F1423' }}&gt;{it.t}&lt;/Text&gt;&#10;        &lt;/Box&gt;&#10; &lt;Box style={{ flex: 1 }}&gt;&#10;   &lt;Text style={{ fontSize: 13, color: '#3A4050', lineHeight: 1.35 }}&gt;{it.d}&lt;/Text&gt;&#10;          &lt;Text style={{ fontSize: 12, color: '#8A8F99', lineHeight: 1.35, marginTop: 2 }}&gt;{it.ex}&lt;/Text&gt;&#10;       &lt;/Box&gt;&#10;  &lt;/Box&gt;&#10;   ))}&#10;       &lt;Box style={{ height: 96, background: '#0F1423', borderRadius: 4, padding: '12px 16px', flexDirection: 'column', justifyContent: 'center' }}&gt;&#10;   &lt;Text style={{ fontSize: 14, fontWeight: 'bold', color: '#FBA15C' }}&gt;关系本身也能带属性&lt;/Text&gt;&#10;     &lt;Text style={{ fontSize: 13, color: 'rgba(255,255,255,0.9)', lineHeight: 1.5, marginTop: 6 }}&gt;&#10;        这是本体比外键强的地方。「客户—合同」这条关系上可以挂签约日期、份额、变更记录。换成传统建模，只能再开一张关联表，而这张表十有八九没人愿意维护。&#10;  &lt;/Text&gt;&#10;   &lt;/Box&gt;&#10;        &lt;/Box&gt;&#10;&#10;        {/* 右：Interface + 建模动作 */}&#10; &lt;Box style={{ flex: 1, flexDirection: 'column', gap: 8 }}&gt;&#10;   &lt;Text style={{ fontSize: 20, fontWeight: 'bold', color: '#0F1423' }}&gt;接口：让不同类型的对象用同一种方式被操作&lt;/Text&gt;&#10;            &lt;Box style={{ flex: 1.15, background: '#FFF3EE', borderRadius: 4, padding: '0 16px', flexDirection: 'column', justifyContent: 'center' }}&gt;&#10;    {[&#10;   { t: '接口描述对象类型的形状与能力', d: '只承诺「有属性、有链接、能被某动作处理」，不关心具体实现' },&#10;        { t: '多态：一个动作可作用于多种对象', d: '「审批」能同时作用于合同、报价、请假单' },&#10;    ].map((it, i) =&gt; (&#10;        &lt;Box key={i} style={{ flexDirection: 'row', alignItems: 'flex-start', gap: 8 }}&gt;&#10;   &lt;Box style={{ width: 5, height: 5, background: '#FA4F24', borderRadius: 3, marginTop: 6 }} /&gt;&#10;     &lt;Text style={{ fontSize: 13, color: '#3A2000', flex: 1, lineHeight: 1.45 }}&gt;&#10;    &lt;Text style={{ fontWeight: 'bold' }}&gt;{it.t}&lt;/Text&gt;　{it.d}&#10;     &lt;/Text&gt;&#10;       &lt;/Box&gt;&#10;     ))}&#10;    &lt;Box style={{ flexDirection: 'row', alignItems: 'flex-start', gap: 8 }}&gt;&#10;    &lt;Box style={{ width: 5, height: 5, background: '#FA4F24', borderRadius: 3, marginTop: 6 }} /&gt;&#10;        &lt;Text style={{ fontSize: 13, color: '#3A2000', flex: 1, lineHeight: 1.45 }}&gt;&#10;     &lt;Text style={{ fontWeight: 'bold' }}&gt;价值：新增对象时不用改已有动作&lt;/Text&gt;　这是本体能长大的关键&#10;     &lt;/Text&gt;&#10;      &lt;/Box&gt;&#10;      &lt;/Box&gt;&#10;            &lt;Text style={{ fontSize: 20, fontWeight: 'bold', color: '#0F1423', marginTop: 4 }}&gt;建模时真正要动手的三件事&lt;/Text&gt;&#10;      {[&#10;  { t: '命名', d: '对象名用业务方嘴里说的词，不翻译、不缩写' },&#10;            { t: '主键', d: '优先用业务编码而不是自增 ID，自增 ID 在跨系统合并时会崩' },&#10;            { t: '状态', d: '状态值从业务规则里抠出来，别自己编一套' },&#10;        ].map((it, i) =&gt; (&#10; &lt;Box key={i} style={{ flex: 1, background: '#F7F7F8', borderRadius: 4, padding: '0 16px', flexDirection: 'column', justifyContent: 'center', borderLeft: '4px solid #FA4F24' }}&gt;&#10;            &lt;Text style={{ fontSize: 14, fontWeight: 'bold', color: '#0F1423' }}&gt;{it.t}&lt;/Text&gt;&#10;    &lt;Text style={{ fontSize: 13, color: '#3A4050', lineHeight: 1.4, marginTop: 3 }}&gt;{it.d}&lt;/Text&gt;&#10;      &lt;/Box&gt;&#10;      ))}&#10;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Ontology本体咨询方法论&lt;/Text&gt;&#10;        &lt;Text style={{ fontSize: 13, color: '#8A8F99', marginLeft: 'auto' }}&gt;20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Link Type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与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Interface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，关系能带属性，接口能多态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对象决定「有哪些东西」，链接决定「它们怎么连」，接口决定「怎么统一地连」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链接类型的三种基数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09600" y="1666875"/>
            <a:ext cx="54006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762000" y="2028825"/>
            <a:ext cx="590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A4F24"/>
                </a:solidFill>
                <a:latin typeface="Microsoft YaHei"/>
                <a:ea typeface="Microsoft YaHei"/>
              </a:rPr>
              <a:t>1 : 1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1485900" y="204787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一对一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2495550" y="1924050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如「员工的直接上级」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2495550" y="2152650"/>
            <a:ext cx="33623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用得少，因为大多数关系最终是多对多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609600" y="2676525"/>
            <a:ext cx="5400675" cy="923925"/>
          </a:xfrm>
          <a:prstGeom prst="roundRect">
            <a:avLst>
              <a:gd name="adj" fmla="val 41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762000" y="3028950"/>
            <a:ext cx="590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A4F24"/>
                </a:solidFill>
                <a:latin typeface="Microsoft YaHei"/>
                <a:ea typeface="Microsoft YaHei"/>
              </a:rPr>
              <a:t>1 : N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485900" y="305752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一对多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2495550" y="2933700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如「订单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订单行」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2495550" y="3162300"/>
            <a:ext cx="33623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最常见的从属关系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09600" y="3676650"/>
            <a:ext cx="54006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62000" y="4038600"/>
            <a:ext cx="590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A4F24"/>
                </a:solidFill>
                <a:latin typeface="Microsoft YaHei"/>
                <a:ea typeface="Microsoft YaHei"/>
              </a:rPr>
              <a:t>M : N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1485900" y="405765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多对多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2495550" y="3933825"/>
            <a:ext cx="33623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如「客户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↔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合同」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2495550" y="4162425"/>
            <a:ext cx="33623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必须用中间对象承载，不能只建外键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09600" y="4686300"/>
            <a:ext cx="5400675" cy="914400"/>
          </a:xfrm>
          <a:prstGeom prst="roundRect">
            <a:avLst>
              <a:gd name="adj" fmla="val 416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762000" y="4810125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关系本身也能带属性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762000" y="5029200"/>
            <a:ext cx="50958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这是本体比外键强的地方。「客户—合同」这条关系上可以挂签约日期、份额、变更记录。换成传统建模，只能再开一张关联表，而这张表十有八九没人愿意维护。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6181725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接口：让不同类型的对象用同一种方式被操作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6181725" y="1666875"/>
            <a:ext cx="5400675" cy="1228725"/>
          </a:xfrm>
          <a:prstGeom prst="roundRect">
            <a:avLst>
              <a:gd name="adj" fmla="val 310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14" name=""/>
          <p:cNvSpPr/>
          <p:nvPr/>
        </p:nvSpPr>
        <p:spPr>
          <a:xfrm rot="0" flipH="0" flipV="0">
            <a:off x="6334125" y="19050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6457950" y="1847850"/>
            <a:ext cx="49720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接口描述对象类型的形状与能力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只承诺「有属性、有链接、能被某动作处理」，不关心具体实现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6334125" y="23431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6457950" y="2286000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多态：一个动作可作用于多种对象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「审批」能同时作用于合同、报价、请假单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6334125" y="25622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457950" y="2505075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价值：新增对象时不用改已有动作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　这是本体能长大的关键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6181725" y="3009900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建模时真正要动手的三件事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6219825" y="3314700"/>
            <a:ext cx="5400675" cy="714375"/>
          </a:xfrm>
          <a:prstGeom prst="roundRect">
            <a:avLst>
              <a:gd name="adj" fmla="val 5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6219825" y="3314700"/>
            <a:ext cx="5400675" cy="714375"/>
          </a:xfrm>
          <a:custGeom>
            <a:pathLst>
              <a:path w="567" h="75">
                <a:moveTo>
                  <a:pt x="4" y="75"/>
                </a:move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372225" y="3476625"/>
            <a:ext cx="505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命名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372225" y="3667125"/>
            <a:ext cx="5057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对象名用业务方嘴里说的词，不翻译、不缩写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6219825" y="4105275"/>
            <a:ext cx="5400675" cy="704850"/>
          </a:xfrm>
          <a:prstGeom prst="roundRect">
            <a:avLst>
              <a:gd name="adj" fmla="val 54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6" name=""/>
          <p:cNvSpPr/>
          <p:nvPr/>
        </p:nvSpPr>
        <p:spPr>
          <a:xfrm rot="0" flipH="0" flipV="0">
            <a:off x="6219825" y="4105275"/>
            <a:ext cx="5400675" cy="704850"/>
          </a:xfrm>
          <a:custGeom>
            <a:pathLst>
              <a:path w="567" h="74">
                <a:moveTo>
                  <a:pt x="4" y="74"/>
                </a:moveTo>
                <a:cubicBezTo>
                  <a:pt x="2" y="74"/>
                  <a:pt x="0" y="72"/>
                  <a:pt x="0" y="7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6372225" y="4257675"/>
            <a:ext cx="505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主键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6372225" y="4448175"/>
            <a:ext cx="5057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优先用业务编码而不是自增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，自增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在跨系统合并时会崩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6219825" y="4886325"/>
            <a:ext cx="5400675" cy="714375"/>
          </a:xfrm>
          <a:prstGeom prst="roundRect">
            <a:avLst>
              <a:gd name="adj" fmla="val 5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0" name=""/>
          <p:cNvSpPr/>
          <p:nvPr/>
        </p:nvSpPr>
        <p:spPr>
          <a:xfrm rot="0" flipH="0" flipV="0">
            <a:off x="6219825" y="4886325"/>
            <a:ext cx="5400675" cy="714375"/>
          </a:xfrm>
          <a:custGeom>
            <a:pathLst>
              <a:path w="567" h="75">
                <a:moveTo>
                  <a:pt x="4" y="75"/>
                </a:moveTo>
                <a:cubicBezTo>
                  <a:pt x="2" y="75"/>
                  <a:pt x="0" y="73"/>
                  <a:pt x="0" y="7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372225" y="5048250"/>
            <a:ext cx="505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372225" y="5238750"/>
            <a:ext cx="50577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状态值从业务规则里抠出来，别自己编一套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3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20 / 30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73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之内容：&lt;span style={{ color: '#FA4F24' }}&gt;Object Set 与建模节奏&lt;/span&gt;，集合是查询的产物，不是设计出来的&#10;        &lt;/Text&gt;&#10;        &lt;Text style={{ fontSize: 20, color: '#8A8F99', marginTop: 8 }}&gt;&#10;          另一个常被忽略的纪律：建模与取数必须同步推进，不能先抽象完再去凑数据&#10;     &lt;/Text&gt;&#10;    &lt;/Box&gt;&#10;    &lt;Box style={{ height: 1, background: '#E8E8E8' }} /&gt;&#10;&#10;    &lt;Box style={{ paddingTop: 22, paddingBottom: 12, height: 479, flexDirection: 'row', gap: 18 }}&gt;&#10;        {/* 左：四象限 */}&#10;&lt;Box style={{ flex: 1, flexDirection: 'column', gap: 8 }}&gt;&#10;&lt;Text style={{ fontSize: 20, fontWeight: 'bold', color: '#0F1423' }}&gt;对象集合的两个维度&lt;/Text&gt;&#10;        {[&#10;    { l: '动态 × 永久', t: '按条件实时算出来的集合', d: '如「当前所有超期未交付订单」', ex: '随数据自动变化，最常用', hot: true },&#10;        { l: '动态 × 临时', t: '算出来只活 24 小时', d: '如一次排查算出的可疑对象清单', ex: '过期即销毁，别拿来当正式口径', hot: true },&#10;       { l: '静态 × 永久', t: '固定的名单', d: '如「纳入本轮考核的分公司」', ex: '要能被引用与追溯，变更需走流程', hot: false },&#10;        { l: '静态 × 临时', t: '一次性取数的快照', d: '如某次导出的对账清单', ex: '最容易出争议，务必带上生成时间', hot: false },&#10;     ].map((it, i) =&gt; (&#10;   &lt;Box key={i} style={{ flex: 1, background: '#F7F7F8', borderRadius: 4, padding: '0 14px', flexDirection: 'row', alignItems: 'center', gap: 12, borderLeft: '4px solid ' + (it.hot ? '#FA4F24' : '#C9CCD4') }}&gt;&#10;     &lt;Text style={{ fontSize: 13, fontWeight: 'bold', color: it.hot ? '#C43A17' : '#8A8F99', width: 116 }}&gt;{it.l}&lt;/Text&gt;&#10;    &lt;Box style={{ width: 148 }}&gt;&#10;     &lt;Text style={{ fontSize: 14, fontWeight: 'bold', color: '#0F1423' }}&gt;{it.t}&lt;/Text&gt;&#10;        &lt;/Box&gt;&#10;     &lt;Box style={{ flex: 1 }}&gt;&#10;     &lt;Text style={{ fontSize: 13, color: '#3A4050', lineHeight: 1.35 }}&gt;{it.d}&lt;/Text&gt;&#10;       &lt;Text style={{ fontSize: 12, color: '#8A8F99', lineHeight: 1.3, marginTop: 2 }}&gt;{it.ex}&lt;/Text&gt;&#10;     &lt;/Box&gt;&#10;   &lt;/Box&gt;&#10;      ))}&#10;    &lt;Box style={{ height: 48, background: '#FFF3EE', borderRadius: 4, padding: '0 16px', flexDirection: 'row', alignItems: 'center', gap: 12, borderLeft: '4px solid #FBA15C' }}&gt;&#10;     &lt;Text style={{ fontSize: 13, fontWeight: 'bold', color: '#C43A17', width: 108 }}&gt;★ 常见事故&lt;/Text&gt;&#10;    &lt;Text style={{ fontSize: 13, color: '#3A2000', flex: 1, lineHeight: 1.4 }}&gt;&#10;     把临时集合当永久口径用，三个月后没人说得清那个数字是按哪一刻的时点算的&#10;          &lt;/Text&gt;&#10;      &lt;/Box&gt;&#10;   &lt;/Box&gt;&#10;&#10;    {/* 右：建模与取数同步 */}&#10;    &lt;Box style={{ flex: 1, flexDirection: 'column', gap: 8 }}&gt;&#10;     &lt;Text style={{ fontSize: 20, fontWeight: 'bold', color: '#0F1423' }}&gt;建模与取数同步推进：三个动作&lt;/Text&gt;&#10;      {[&#10;  { n: '并行', t: '一个字段一个字段地验', d: '每设计一个对象，立刻去确认它的属性能不能取到、取到的口径对不对' },&#10;  { n: '标记', t: '给字段打状态标签', d: '已确认 / 待确认 / 确认不存在，三种状态分开记，别用「基本都有」这种话' },&#10; { n: '取舍', t: '先做有数据的对象', d: '数据缺口大但业务很想要的对象，先挂起，别让一个缺口拖住整个场景' },&#10;        ].map((it, i) =&gt; (&#10;          &lt;Box key={i} style={{ flex: 1, background: '#F7F7F8', borderRadius: 4, padding: '0 16px', flexDirection: 'row', alignItems: 'center', gap: 13 }}&gt;&#10;            &lt;Text style={{ fontSize: 15, fontWeight: 'bold', color: '#FA4F24', width: 38 }}&gt;{it.n}&lt;/Text&gt;&#10;     &lt;Box style={{ flex: 1 }}&gt;&#10;        &lt;Text style={{ fontSize: 14, fontWeight: 'bold', color: '#0F1423' }}&gt;{it.t}&lt;/Text&gt;&#10;    &lt;Text style={{ fontSize: 13, color: '#3A4050', lineHeight: 1.4, marginTop: 3 }}&gt;{it.d}&lt;/Text&gt;&#10;       &lt;/Box&gt;&#10;   &lt;/Box&gt;&#10;      ))}&#10;     &lt;Box style={{ height: 108, background: '#0F1423', borderRadius: 4, padding: '14px 16px', flexDirection: 'column', justifyContent: 'center' }}&gt;&#10;        &lt;Text style={{ fontSize: 14, fontWeight: 'bold', color: '#FBA15C' }}&gt;为什么不能先抽象后找数&lt;/Text&gt;&#10;      &lt;Text style={{ fontSize: 13, color: 'rgba(255,255,255,0.9)', lineHeight: 1.55, marginTop: 6 }}&gt;&#10;     因为业务方描述的对象，是他们记忆里的理想模型。真正落到系统里的那个东西，往往字段少一半、状态少一半、多出三个没提过的状态。先抽象，抽象出来的就是一个不存在的对象，后面每一处都要返工。&#10;  &lt;/Text&gt;&#10;      &lt;/Box&gt;&#10;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Ontology本体咨询方法论&lt;/Text&gt;&#10;     &lt;Text style={{ fontSize: 13, color: '#8A8F99', marginLeft: 'auto' }}&gt;21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Object Set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与建模节奏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，集合是查询的产物，不是设计出来的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另一个常被忽略的纪律：建模与取数必须同步推进，不能先抽象完再去凑数据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对象集合的两个维度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647700" y="1666875"/>
            <a:ext cx="5400675" cy="790575"/>
          </a:xfrm>
          <a:prstGeom prst="roundRect">
            <a:avLst>
              <a:gd name="adj" fmla="val 48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44" name=""/>
          <p:cNvSpPr/>
          <p:nvPr/>
        </p:nvSpPr>
        <p:spPr>
          <a:xfrm rot="0" flipH="0" flipV="0">
            <a:off x="647700" y="1666875"/>
            <a:ext cx="5400675" cy="790575"/>
          </a:xfrm>
          <a:custGeom>
            <a:pathLst>
              <a:path w="567" h="83">
                <a:moveTo>
                  <a:pt x="4" y="83"/>
                </a:moveTo>
                <a:cubicBezTo>
                  <a:pt x="2" y="83"/>
                  <a:pt x="0" y="81"/>
                  <a:pt x="0" y="7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81050" y="1990725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动态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永久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2000250" y="1905000"/>
            <a:ext cx="14097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按条件实时算出来的集合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3524250" y="1857375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如「当前所有超期未交付订单」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3524250" y="2085975"/>
            <a:ext cx="235267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随数据自动变化，最常用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647700" y="2533650"/>
            <a:ext cx="5400675" cy="800100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0" name=""/>
          <p:cNvSpPr/>
          <p:nvPr/>
        </p:nvSpPr>
        <p:spPr>
          <a:xfrm rot="0" flipH="0" flipV="0">
            <a:off x="647700" y="2533650"/>
            <a:ext cx="5400675" cy="800100"/>
          </a:xfrm>
          <a:custGeom>
            <a:pathLst>
              <a:path w="567" h="84">
                <a:moveTo>
                  <a:pt x="4" y="84"/>
                </a:moveTo>
                <a:cubicBezTo>
                  <a:pt x="2" y="84"/>
                  <a:pt x="0" y="82"/>
                  <a:pt x="0" y="8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781050" y="2857500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动态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临时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2000250" y="285750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算出来只活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24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3524250" y="2733675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如一次排查算出的可疑对象清单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3524250" y="2962275"/>
            <a:ext cx="235267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过期即销毁，别拿来当正式口径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647700" y="3409950"/>
            <a:ext cx="5400675" cy="790575"/>
          </a:xfrm>
          <a:prstGeom prst="roundRect">
            <a:avLst>
              <a:gd name="adj" fmla="val 48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6" name=""/>
          <p:cNvSpPr/>
          <p:nvPr/>
        </p:nvSpPr>
        <p:spPr>
          <a:xfrm rot="0" flipH="0" flipV="0">
            <a:off x="647700" y="3409950"/>
            <a:ext cx="5400675" cy="790575"/>
          </a:xfrm>
          <a:custGeom>
            <a:pathLst>
              <a:path w="567" h="83">
                <a:moveTo>
                  <a:pt x="4" y="83"/>
                </a:moveTo>
                <a:cubicBezTo>
                  <a:pt x="2" y="83"/>
                  <a:pt x="0" y="81"/>
                  <a:pt x="0" y="7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3"/>
                </a:lnTo>
                <a:close/>
              </a:path>
            </a:pathLst>
          </a:custGeom>
          <a:solidFill>
            <a:srgbClr val="C9CCD4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781050" y="3733800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8F99"/>
                </a:solidFill>
                <a:latin typeface="Microsoft YaHei"/>
                <a:ea typeface="Microsoft YaHei"/>
              </a:rPr>
              <a:t>静态</a:t>
            </a: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 b="1">
                <a:solidFill>
                  <a:srgbClr val="8A8F99"/>
                </a:solidFill>
                <a:latin typeface="Microsoft YaHei"/>
                <a:ea typeface="Microsoft YaHei"/>
              </a:rPr>
              <a:t>永久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2000250" y="3724275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固定的名单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3524250" y="3600450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如「纳入本轮考核的分公司」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3524250" y="3829050"/>
            <a:ext cx="235267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要能被引用与追溯，变更需走流程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647700" y="4276725"/>
            <a:ext cx="5400675" cy="790575"/>
          </a:xfrm>
          <a:prstGeom prst="roundRect">
            <a:avLst>
              <a:gd name="adj" fmla="val 48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2" name=""/>
          <p:cNvSpPr/>
          <p:nvPr/>
        </p:nvSpPr>
        <p:spPr>
          <a:xfrm rot="0" flipH="0" flipV="0">
            <a:off x="647700" y="4276725"/>
            <a:ext cx="5400675" cy="790575"/>
          </a:xfrm>
          <a:custGeom>
            <a:pathLst>
              <a:path w="567" h="83">
                <a:moveTo>
                  <a:pt x="4" y="83"/>
                </a:moveTo>
                <a:cubicBezTo>
                  <a:pt x="2" y="83"/>
                  <a:pt x="0" y="81"/>
                  <a:pt x="0" y="7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83"/>
                </a:lnTo>
                <a:close/>
              </a:path>
            </a:pathLst>
          </a:custGeom>
          <a:solidFill>
            <a:srgbClr val="C9CCD4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781050" y="4600575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8F99"/>
                </a:solidFill>
                <a:latin typeface="Microsoft YaHei"/>
                <a:ea typeface="Microsoft YaHei"/>
              </a:rPr>
              <a:t>静态</a:t>
            </a:r>
            <a:r>
              <a:rPr lang="en-US" sz="975" b="1">
                <a:solidFill>
                  <a:srgbClr val="8A8F99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 b="1">
                <a:solidFill>
                  <a:srgbClr val="8A8F99"/>
                </a:solidFill>
                <a:latin typeface="Microsoft YaHei"/>
                <a:ea typeface="Microsoft YaHei"/>
              </a:rPr>
              <a:t>临时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2000250" y="459105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一次性取数的快照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3524250" y="4467225"/>
            <a:ext cx="23526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如某次导出的对账清单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3524250" y="4695825"/>
            <a:ext cx="235267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最容易出争议，务必带上生成时间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647700" y="5143500"/>
            <a:ext cx="5400675" cy="457200"/>
          </a:xfrm>
          <a:prstGeom prst="roundRect">
            <a:avLst>
              <a:gd name="adj" fmla="val 8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68" name=""/>
          <p:cNvSpPr/>
          <p:nvPr/>
        </p:nvSpPr>
        <p:spPr>
          <a:xfrm rot="0" flipH="0" flipV="0">
            <a:off x="647700" y="5143500"/>
            <a:ext cx="5400675" cy="457200"/>
          </a:xfrm>
          <a:custGeom>
            <a:pathLst>
              <a:path w="567" h="48">
                <a:moveTo>
                  <a:pt x="4" y="48"/>
                </a:moveTo>
                <a:cubicBezTo>
                  <a:pt x="2" y="48"/>
                  <a:pt x="0" y="46"/>
                  <a:pt x="0" y="4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8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800100" y="5295900"/>
            <a:ext cx="102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常见事故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1943100" y="5162550"/>
            <a:ext cx="39147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把临时集合当永久口径用，三个月后没人说得清那个数字是按哪一刻的时点算的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6181725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建模与取数同步推进：三个动作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6181725" y="1666875"/>
            <a:ext cx="5400675" cy="895350"/>
          </a:xfrm>
          <a:prstGeom prst="roundRect">
            <a:avLst>
              <a:gd name="adj" fmla="val 425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6334125" y="2028825"/>
            <a:ext cx="36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并行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6819900" y="191452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一个字段一个字段地验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6819900" y="2105025"/>
            <a:ext cx="46101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每设计一个对象，立刻去确认它的属性能不能取到、取到的口径对不对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6181725" y="2638425"/>
            <a:ext cx="5400675" cy="885825"/>
          </a:xfrm>
          <a:prstGeom prst="roundRect">
            <a:avLst>
              <a:gd name="adj" fmla="val 430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6334125" y="3000375"/>
            <a:ext cx="36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标记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6819900" y="28860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给字段打状态标签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6819900" y="3076575"/>
            <a:ext cx="46101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已确认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待确认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确认不存在，三种状态分开记，别用「基本都有」这种话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6181725" y="3600450"/>
            <a:ext cx="5400675" cy="895350"/>
          </a:xfrm>
          <a:prstGeom prst="roundRect">
            <a:avLst>
              <a:gd name="adj" fmla="val 425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6334125" y="3962400"/>
            <a:ext cx="36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取舍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6819900" y="3848100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先做有数据的对象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6819900" y="4038600"/>
            <a:ext cx="46101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数据缺口大但业务很想要的对象，先挂起，别让一个缺口拖住整个场景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6181725" y="4572000"/>
            <a:ext cx="5400675" cy="1028700"/>
          </a:xfrm>
          <a:prstGeom prst="roundRect">
            <a:avLst>
              <a:gd name="adj" fmla="val 370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6334125" y="4629150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为什么不能先抽象后找数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6334125" y="4848225"/>
            <a:ext cx="50958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因为业务方描述的对象，是他们记忆里的理想模型。真正落到系统里的那个东西，往往字段少一半、状态少一半、多出三个没提过的状态。先抽象，抽象出来的就是一个不存在的对象，后面每一处都要返工。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88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21 / 30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791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之模板：&lt;span style={{ color: '#FA4F24' }}&gt;对象模型画布与命名规范&lt;/span&gt;，一份能评审的交付物长什么样&#10;        &lt;/Text&gt;&#10;   &lt;Text style={{ fontSize: 20, color: '#8A8F99', marginTop: 8 }}&gt;&#10;     每个对象一格，七格填满；命名不合规的对象不许进模型&#10;        &lt;/Text&gt;&#10;    &lt;/Box&gt;&#10;    &lt;Box style={{ height: 1, background: '#E8E8E8' }} /&gt;&#10;&#10;    &lt;Box style={{ paddingTop: 22, paddingBottom: 12, height: 479, flexDirection: 'row', gap: 20 }}&gt;&#10;        {/* 左：对象卡七格 */}&#10;        &lt;Box style={{ width: 620, flexDirection: 'column', gap: 8 }}&gt;&#10;  &lt;Text style={{ fontSize: 20, fontWeight: 'bold', color: '#0F1423' }}&gt;对象卡：七格填满才算建模完成&lt;/Text&gt;&#10;    &lt;Box style={{ background: '#F7F7F8', borderRadius: 4, padding: '14px 16px', flexDirection: 'column', flex: 1 }}&gt;&#10;       &lt;Box style={{ flexDirection: 'row', alignItems: 'center', gap: 10, marginBottom: 10 }}&gt;&#10;      &lt;Box style={{ width: 4, height: 20, background: '#FA4F24' }} /&gt;&#10;      &lt;Text style={{ fontSize: 19, fontWeight: 'bold', color: '#0F1423' }}&gt;订单&lt;/Text&gt;&#10;     &lt;Text style={{ fontSize: 12, color: '#8A8F99' }}&gt;Order · 对象编号 ORD-01 · 责任人 订单中心&lt;/Text&gt;&#10;       &lt;/Box&gt;&#10; {[&#10;   { k: '一句话定义', v: '客户下达、承诺交付日期、可被追责的履约单元' },&#10;   { k: '主键与身份', v: '业务编码 ORD-2024-001234（不用自增 ID）' },&#10;        { k: '关键属性', v: '客户 / 交付日期 / 状态 / 金额 / 责任销售 —— 均标数据来源' },&#10; { k: '链接', v: '属于客户 · 包含订单行 · 触发交付任务 · 关联合同' },&#10;        { k: '生命周期', v: '草稿 → 已确认 → 生产中 → 已交付 → 已回款 → 关闭' },&#10;   { k: '可承受的动作', v: '确认订单 · 变更交期 · 关闭订单 · 发起验收' },&#10;  { k: '敏感与权限', v: '金额字段限财务与销售经理；客户联系方式限客服' },&#10;       ].map((it, i) =&gt; (&#10;     &lt;Box key={i} style={{ flex: 1, flexDirection: 'row', alignItems: 'center', gap: 12, borderTop: i === 0 ? 'none' : '1px solid #E8E8E8' }}&gt;&#10;         &lt;Text style={{ fontSize: 13, fontWeight: 'bold', color: '#C43A17', width: 104 }}&gt;{it.k}&lt;/Text&gt;&#10;        &lt;Text style={{ fontSize: 13, color: '#3A4050', flex: 1, lineHeight: 1.4 }}&gt;{it.v}&lt;/Text&gt;&#10;         &lt;/Box&gt;&#10;     ))}&#10;            &lt;/Box&gt;&#10;   &lt;Text style={{ fontSize: 20, fontWeight: 'bold', color: '#0F1423', marginTop: 4 }}&gt;命名规范四条&lt;/Text&gt;&#10;      {[&#10;     { t: '用业务原词', d: '不翻译、不缩写，「交付异常」不要写成 DelivExcept' },&#10;        { t: '单数命名对象', d: 'Order 不是 Orders' },&#10;     { t: '链接用动宾结构', d: 'belongsTo / contains / triggers，不用 hasA' },&#10;     { t: '动作用动宾结构', d: '动作名必须说明「对什么做了什么」' },&#10;     ].map((it, i) =&gt; (&#10;      &lt;Box key={i} style={{ flex: 1, flexDirection: 'row', alignItems: 'center', gap: 12, background: '#F7F7F8', borderRadius: 4, padding: '0 16px' }}&gt;&#10;        &lt;Box style={{ width: 5, height: 5, background: '#FA4F24', borderRadius: 3 }} /&gt;&#10; &lt;Text style={{ fontSize: 13, fontWeight: 'bold', color: '#0F1423', width: 132 }}&gt;{it.t}&lt;/Text&gt;&#10;   &lt;Text style={{ fontSize: 13, color: '#3A4050', flex: 1, lineHeight: 1.35 }}&gt;{it.d}&lt;/Text&gt;&#10;   &lt;/Box&gt;&#10;  ))}&#10;  &lt;/Box&gt;&#10;&#10;        {/* 右：反例 + 交付要求 */}&#10;     &lt;Box style={{ flex: 1, flexDirection: 'column', gap: 8 }}&gt;&#10;   &lt;Text style={{ fontSize: 20, fontWeight: 'bold', color: '#0F1423' }}&gt;一份不合格的对象卡&lt;/Text&gt;&#10;     &lt;Box style={{ height: 150, background: '#FFF3EE', borderRadius: 4, padding: '10px 16px', flexDirection: 'column', borderLeft: '4px solid #FBA15C' }}&gt;&#10;     {[&#10;   { k: '一句话定义', v: '订单表', bad: true },&#10;    { k: '主键与身份', v: 'id（自增）', bad: true },&#10;    { k: '关键属性', v: '见数据库', bad: true },&#10;        { k: '链接', v: '暂无', bad: true },&#10;        { k: '生命周期', v: '—', bad: true },&#10;        { k: '可承受的动作', v: '增删改查', bad: true },&#10;       { k: '敏感与权限', v: '—', bad: true },&#10;   ].map((it, i) =&gt; (&#10;        &lt;Box key={i} style={{ flex: 1, flexDirection: 'row', alignItems: 'center', gap: 10, borderTop: i === 0 ? 'none' : '1px solid #F5D9C6' }}&gt;&#10;       &lt;Text style={{ fontSize: 12, color: '#8A5A20', width: 104 }}&gt;{it.k}&lt;/Text&gt;&#10;      &lt;Text style={{ fontSize: 12, color: '#C43A17', flex: 1, fontStyle: 'italic' }}&gt;{it.v}&lt;/Text&gt;&#10;  &lt;Text style={{ fontSize: 11, color: '#FA4F24' }}&gt;✕&lt;/Text&gt;&#10;     &lt;/Box&gt;&#10;      ))}&#10;  &lt;/Box&gt;&#10;      &lt;Box style={{ height: 88, background: '#0F1423', borderRadius: 4, padding: '14px 16px', flexDirection: 'column', justifyContent: 'center' }}&gt;&#10;      &lt;Text style={{ fontSize: 14, fontWeight: 'bold', color: '#FBA15C' }}&gt;它其实是数据字典，不是对象模型&lt;/Text&gt;&#10;      &lt;Text style={{ fontSize: 13, color: 'rgba(255,255,255,0.9)', lineHeight: 1.5, marginTop: 6 }}&gt;&#10;        判据很简单：这张卡上如果找不到任何一个「谁在什么时候可以对它做什么」，它就还不是对象。&#10;    &lt;/Text&gt;&#10;   &lt;/Box&gt;&#10;     &lt;Text style={{ fontSize: 20, fontWeight: 'bold', color: '#0F1423', marginTop: 4 }}&gt;画布交付要求&lt;/Text&gt;&#10;      {[&#10;      { t: '一格一对象', d: '不允许一张卡片写三个对象' },&#10;        { t: '关系画箭头并标注基数', d: '双向关系要标明各自角色' },&#10;      { t: '标注数据成熟度', d: '每个属性旁标已确认 / 待确认' },&#10;      ].map((it, i) =&gt; (&#10;     &lt;Box key={i} style={{ flex: 1, background: '#F7F7F8', borderRadius: 4, padding: '0 16px', flexDirection: 'column', justifyContent: 'center', borderLeft: '4px solid #FA4F24' }}&gt;&#10;    &lt;Text style={{ fontSize: 13, fontWeight: 'bold', color: '#0F1423' }}&gt;{it.t}&lt;/Text&gt;&#10;    &lt;Text style={{ fontSize: 12, color: '#3A4050', lineHeight: 1.35, marginTop: 2 }}&gt;{it.d}&lt;/Text&gt;&#10;       &lt;/Box&gt;&#10;   ))}&#10;      &lt;/Box&gt;&#10;    &lt;/Box&gt;&#10;&#10;    &lt;Box style={{ height: 58, flexDirection: 'row', alignItems: 'center', borderTop: '1px solid #E8E8E8' }}&gt;&#10;      &lt;Box style={{ width: 10, height: 10, background: '#FA4F24' }} /&gt;&#10;        &lt;Text style={{ fontSize: 13, color: '#8A8F99', marginLeft: 12 }}&gt;硕磐机密 · Ontology本体咨询方法论&lt;/Text&gt;&#10;     &lt;Text style={{ fontSize: 13, color: '#8A8F99', marginLeft: 'auto' }}&gt;22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对象模型画布与命名规范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，一份能评审的交付物长什么样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每个对象一格，七格填满；命名不合规的对象不许进模型</a:t>
            </a:r>
            <a:endParaRPr/>
          </a:p>
        </p:txBody>
      </p:sp>
      <p:sp>
        <p:nvSpPr>
          <p:cNvPr id="79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对象卡：七格填满才算建模完成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609600" y="1666875"/>
            <a:ext cx="5905500" cy="2171700"/>
          </a:xfrm>
          <a:prstGeom prst="roundRect">
            <a:avLst>
              <a:gd name="adj" fmla="val 175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98" name=""/>
          <p:cNvSpPr/>
          <p:nvPr/>
        </p:nvSpPr>
        <p:spPr>
          <a:xfrm rot="0" flipH="0" flipV="0">
            <a:off x="762000" y="1819275"/>
            <a:ext cx="38100" cy="1905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895350" y="180022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订单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1352550" y="1838325"/>
            <a:ext cx="2276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Order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对象编号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ORD-01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责任人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订单中心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762000" y="21526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一句话定义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1866900" y="212407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客户下达、承诺交付日期、可被追责的履约单元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762000" y="2333625"/>
            <a:ext cx="5600700" cy="238125"/>
          </a:xfrm>
          <a:custGeom>
            <a:pathLst>
              <a:path w="588" h="25">
                <a:moveTo>
                  <a:pt x="0" y="0"/>
                </a:moveTo>
                <a:lnTo>
                  <a:pt x="588" y="0"/>
                </a:lnTo>
                <a:lnTo>
                  <a:pt x="58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762000" y="23812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主键与身份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1866900" y="235267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业务编码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ORD-2024-001234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（不用自增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762000" y="2562225"/>
            <a:ext cx="5600700" cy="238125"/>
          </a:xfrm>
          <a:custGeom>
            <a:pathLst>
              <a:path w="588" h="25">
                <a:moveTo>
                  <a:pt x="0" y="0"/>
                </a:moveTo>
                <a:lnTo>
                  <a:pt x="588" y="0"/>
                </a:lnTo>
                <a:lnTo>
                  <a:pt x="58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762000" y="26098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关键属性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1866900" y="258127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客户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交付日期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状态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金额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责任销售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均标数据来源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762000" y="2790825"/>
            <a:ext cx="5600700" cy="238125"/>
          </a:xfrm>
          <a:custGeom>
            <a:pathLst>
              <a:path w="588" h="25">
                <a:moveTo>
                  <a:pt x="0" y="0"/>
                </a:moveTo>
                <a:lnTo>
                  <a:pt x="588" y="0"/>
                </a:lnTo>
                <a:lnTo>
                  <a:pt x="58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762000" y="28384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链接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1866900" y="280987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属于客户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包含订单行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触发交付任务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关联合同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762000" y="3019425"/>
            <a:ext cx="5600700" cy="238125"/>
          </a:xfrm>
          <a:custGeom>
            <a:pathLst>
              <a:path w="588" h="25">
                <a:moveTo>
                  <a:pt x="0" y="0"/>
                </a:moveTo>
                <a:lnTo>
                  <a:pt x="588" y="0"/>
                </a:lnTo>
                <a:lnTo>
                  <a:pt x="58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762000" y="30670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生命周期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1866900" y="303847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草稿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已确认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生产中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已交付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已回款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关闭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762000" y="3248025"/>
            <a:ext cx="5600700" cy="238125"/>
          </a:xfrm>
          <a:custGeom>
            <a:pathLst>
              <a:path w="588" h="25">
                <a:moveTo>
                  <a:pt x="0" y="0"/>
                </a:moveTo>
                <a:lnTo>
                  <a:pt x="588" y="0"/>
                </a:lnTo>
                <a:lnTo>
                  <a:pt x="58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762000" y="32956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可承受的动作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1866900" y="326707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确认订单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变更交期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关闭订单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发起验收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762000" y="3476625"/>
            <a:ext cx="5600700" cy="238125"/>
          </a:xfrm>
          <a:custGeom>
            <a:pathLst>
              <a:path w="588" h="25">
                <a:moveTo>
                  <a:pt x="0" y="0"/>
                </a:moveTo>
                <a:lnTo>
                  <a:pt x="588" y="0"/>
                </a:lnTo>
                <a:lnTo>
                  <a:pt x="58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762000" y="35242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敏感与权限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1866900" y="3495675"/>
            <a:ext cx="44958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金额字段限财务与销售经理；客户联系方式限客服</a:t>
            </a:r>
            <a:endParaRPr/>
          </a:p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609600" y="3952875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命名规范四条</a:t>
            </a:r>
            <a:endParaRPr/>
          </a:p>
        </p:txBody>
      </p:sp>
      <p:sp>
        <p:nvSpPr>
          <p:cNvPr id="822" name=""/>
          <p:cNvSpPr/>
          <p:nvPr/>
        </p:nvSpPr>
        <p:spPr>
          <a:xfrm rot="0" flipH="0" flipV="0">
            <a:off x="609600" y="4257675"/>
            <a:ext cx="5905500" cy="276225"/>
          </a:xfrm>
          <a:prstGeom prst="roundRect">
            <a:avLst>
              <a:gd name="adj" fmla="val 1379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23" name=""/>
          <p:cNvSpPr/>
          <p:nvPr/>
        </p:nvSpPr>
        <p:spPr>
          <a:xfrm rot="0" flipH="0" flipV="0">
            <a:off x="762000" y="43719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923925" y="432435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用业务原词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2295525" y="4295775"/>
            <a:ext cx="40671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不翻译、不缩写，「交付异常」不要写成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DelivExcept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609600" y="4610100"/>
            <a:ext cx="5905500" cy="285750"/>
          </a:xfrm>
          <a:prstGeom prst="roundRect">
            <a:avLst>
              <a:gd name="adj" fmla="val 133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27" name=""/>
          <p:cNvSpPr/>
          <p:nvPr/>
        </p:nvSpPr>
        <p:spPr>
          <a:xfrm rot="0" flipH="0" flipV="0">
            <a:off x="762000" y="47339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923925" y="4676775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单数命名对象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2295525" y="4648200"/>
            <a:ext cx="40671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Order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不是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Orders</a:t>
            </a:r>
            <a:endParaRPr/>
          </a:p>
        </p:txBody>
      </p:sp>
      <p:sp>
        <p:nvSpPr>
          <p:cNvPr id="830" name=""/>
          <p:cNvSpPr/>
          <p:nvPr/>
        </p:nvSpPr>
        <p:spPr>
          <a:xfrm rot="0" flipH="0" flipV="0">
            <a:off x="609600" y="4972050"/>
            <a:ext cx="5905500" cy="276225"/>
          </a:xfrm>
          <a:prstGeom prst="roundRect">
            <a:avLst>
              <a:gd name="adj" fmla="val 1379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31" name=""/>
          <p:cNvSpPr/>
          <p:nvPr/>
        </p:nvSpPr>
        <p:spPr>
          <a:xfrm rot="0" flipH="0" flipV="0">
            <a:off x="762000" y="50863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923925" y="5038725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链接用动宾结构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2295525" y="5010150"/>
            <a:ext cx="40671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>belongsTo / contains / triggers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，不用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hasA</a:t>
            </a:r>
            <a:endParaRPr/>
          </a:p>
        </p:txBody>
      </p:sp>
      <p:sp>
        <p:nvSpPr>
          <p:cNvPr id="834" name=""/>
          <p:cNvSpPr/>
          <p:nvPr/>
        </p:nvSpPr>
        <p:spPr>
          <a:xfrm rot="0" flipH="0" flipV="0">
            <a:off x="609600" y="5324475"/>
            <a:ext cx="5905500" cy="276225"/>
          </a:xfrm>
          <a:prstGeom prst="roundRect">
            <a:avLst>
              <a:gd name="adj" fmla="val 1379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35" name=""/>
          <p:cNvSpPr/>
          <p:nvPr/>
        </p:nvSpPr>
        <p:spPr>
          <a:xfrm rot="0" flipH="0" flipV="0">
            <a:off x="762000" y="54387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923925" y="5391150"/>
            <a:ext cx="125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动作用动宾结构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2295525" y="5362575"/>
            <a:ext cx="40671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动作名必须说明「对什么做了什么」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6705600" y="1362075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一份不合格的对象卡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6743700" y="1666875"/>
            <a:ext cx="4876800" cy="1428750"/>
          </a:xfrm>
          <a:prstGeom prst="roundRect">
            <a:avLst>
              <a:gd name="adj" fmla="val 26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40" name=""/>
          <p:cNvSpPr/>
          <p:nvPr/>
        </p:nvSpPr>
        <p:spPr>
          <a:xfrm rot="0" flipH="0" flipV="0">
            <a:off x="6743700" y="1666875"/>
            <a:ext cx="4876800" cy="1428750"/>
          </a:xfrm>
          <a:custGeom>
            <a:pathLst>
              <a:path w="512" h="150">
                <a:moveTo>
                  <a:pt x="4" y="150"/>
                </a:moveTo>
                <a:cubicBezTo>
                  <a:pt x="2" y="150"/>
                  <a:pt x="0" y="148"/>
                  <a:pt x="0" y="14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5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6896100" y="178117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一句话定义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7981950" y="1781175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C43A17"/>
                </a:solidFill>
                <a:latin typeface="Microsoft YaHei"/>
                <a:ea typeface="Microsoft YaHei"/>
              </a:rPr>
              <a:t>订单表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11325225" y="17811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6896100" y="1933575"/>
            <a:ext cx="4533900" cy="180975"/>
          </a:xfrm>
          <a:custGeom>
            <a:pathLst>
              <a:path w="476" h="19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D9C6"/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6896100" y="195262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主键与身份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7981950" y="1952625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i="1">
                <a:solidFill>
                  <a:srgbClr val="C43A17"/>
                </a:solidFill>
                <a:latin typeface="Microsoft YaHei"/>
                <a:ea typeface="Microsoft YaHei"/>
              </a:rPr>
              <a:t>id</a:t>
            </a:r>
            <a:r>
              <a:rPr lang="zh-CN" sz="900" i="1">
                <a:solidFill>
                  <a:srgbClr val="C43A17"/>
                </a:solidFill>
                <a:latin typeface="Microsoft YaHei"/>
                <a:ea typeface="Microsoft YaHei"/>
              </a:rPr>
              <a:t>（自增）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11325225" y="19621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48" name=""/>
          <p:cNvSpPr/>
          <p:nvPr/>
        </p:nvSpPr>
        <p:spPr>
          <a:xfrm rot="0" flipH="0" flipV="0">
            <a:off x="6896100" y="2105025"/>
            <a:ext cx="4533900" cy="190500"/>
          </a:xfrm>
          <a:custGeom>
            <a:pathLst>
              <a:path w="476" h="20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D9C6"/>
          </a:solidFill>
          <a:ln/>
        </p:spPr>
        <p:txBody>
          <a:bodyPr/>
          <a:p/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6896100" y="213360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关键属性</a:t>
            </a:r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7981950" y="2133600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C43A17"/>
                </a:solidFill>
                <a:latin typeface="Microsoft YaHei"/>
                <a:ea typeface="Microsoft YaHei"/>
              </a:rPr>
              <a:t>见数据库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11325225" y="21336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6896100" y="2286000"/>
            <a:ext cx="4533900" cy="190500"/>
          </a:xfrm>
          <a:custGeom>
            <a:pathLst>
              <a:path w="476" h="20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D9C6"/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6896100" y="231457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链接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7981950" y="2314575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C43A17"/>
                </a:solidFill>
                <a:latin typeface="Microsoft YaHei"/>
                <a:ea typeface="Microsoft YaHei"/>
              </a:rPr>
              <a:t>暂无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11325225" y="23145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6896100" y="2466975"/>
            <a:ext cx="4533900" cy="190500"/>
          </a:xfrm>
          <a:custGeom>
            <a:pathLst>
              <a:path w="476" h="20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D9C6"/>
          </a:solidFill>
          <a:ln/>
        </p:spPr>
        <p:txBody>
          <a:bodyPr/>
          <a:p/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6896100" y="249555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生命周期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7981950" y="2495550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i="1">
                <a:solidFill>
                  <a:srgbClr val="C43A17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11325225" y="24955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60" name=""/>
          <p:cNvSpPr/>
          <p:nvPr/>
        </p:nvSpPr>
        <p:spPr>
          <a:xfrm rot="0" flipH="0" flipV="0">
            <a:off x="6896100" y="2647950"/>
            <a:ext cx="4533900" cy="180975"/>
          </a:xfrm>
          <a:custGeom>
            <a:pathLst>
              <a:path w="476" h="19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D9C6"/>
          </a:solidFill>
          <a:ln/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6896100" y="2667000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可承受的动作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7981950" y="2667000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i="1">
                <a:solidFill>
                  <a:srgbClr val="C43A17"/>
                </a:solidFill>
                <a:latin typeface="Microsoft YaHei"/>
                <a:ea typeface="Microsoft YaHei"/>
              </a:rPr>
              <a:t>增删改查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11325225" y="26765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6896100" y="2819400"/>
            <a:ext cx="4533900" cy="190500"/>
          </a:xfrm>
          <a:custGeom>
            <a:pathLst>
              <a:path w="476" h="20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5D9C6"/>
          </a:solidFill>
          <a:ln/>
        </p:spPr>
        <p:txBody>
          <a:bodyPr/>
          <a:p/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6896100" y="284797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敏感与权限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7981950" y="2847975"/>
            <a:ext cx="3248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i="1">
                <a:solidFill>
                  <a:srgbClr val="C43A17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11325225" y="28479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FA4F24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6705600" y="3171825"/>
            <a:ext cx="4876800" cy="838200"/>
          </a:xfrm>
          <a:prstGeom prst="roundRect">
            <a:avLst>
              <a:gd name="adj" fmla="val 454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6858000" y="325755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它其实是数据字典，不是对象模型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6858000" y="3476625"/>
            <a:ext cx="45720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判据很简单：这张卡上如果找不到任何一个「谁在什么时候可以对它做什么」，它就还不是对象。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6705600" y="4124325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画布交付要求</a:t>
            </a:r>
            <a:endParaRPr/>
          </a:p>
        </p:txBody>
      </p:sp>
      <p:sp>
        <p:nvSpPr>
          <p:cNvPr id="872" name=""/>
          <p:cNvSpPr/>
          <p:nvPr/>
        </p:nvSpPr>
        <p:spPr>
          <a:xfrm rot="0" flipH="0" flipV="0">
            <a:off x="6743700" y="4429125"/>
            <a:ext cx="487680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73" name=""/>
          <p:cNvSpPr/>
          <p:nvPr/>
        </p:nvSpPr>
        <p:spPr>
          <a:xfrm rot="0" flipH="0" flipV="0">
            <a:off x="6743700" y="4429125"/>
            <a:ext cx="4876800" cy="361950"/>
          </a:xfrm>
          <a:custGeom>
            <a:pathLst>
              <a:path w="512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6896100" y="442912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一格一对象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6896100" y="46005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不允许一张卡片写三个对象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6743700" y="4867275"/>
            <a:ext cx="487680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77" name=""/>
          <p:cNvSpPr/>
          <p:nvPr/>
        </p:nvSpPr>
        <p:spPr>
          <a:xfrm rot="0" flipH="0" flipV="0">
            <a:off x="6743700" y="4867275"/>
            <a:ext cx="4876800" cy="361950"/>
          </a:xfrm>
          <a:custGeom>
            <a:pathLst>
              <a:path w="512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6896100" y="486727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关系画箭头并标注基数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6896100" y="503872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双向关系要标明各自角色</a:t>
            </a:r>
            <a:endParaRPr/>
          </a:p>
        </p:txBody>
      </p:sp>
      <p:sp>
        <p:nvSpPr>
          <p:cNvPr id="880" name=""/>
          <p:cNvSpPr/>
          <p:nvPr/>
        </p:nvSpPr>
        <p:spPr>
          <a:xfrm rot="0" flipH="0" flipV="0">
            <a:off x="6743700" y="5305425"/>
            <a:ext cx="487680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81" name=""/>
          <p:cNvSpPr/>
          <p:nvPr/>
        </p:nvSpPr>
        <p:spPr>
          <a:xfrm rot="0" flipH="0" flipV="0">
            <a:off x="6743700" y="5305425"/>
            <a:ext cx="4876800" cy="361950"/>
          </a:xfrm>
          <a:custGeom>
            <a:pathLst>
              <a:path w="512" h="38">
                <a:moveTo>
                  <a:pt x="4" y="38"/>
                </a:moveTo>
                <a:cubicBezTo>
                  <a:pt x="2" y="38"/>
                  <a:pt x="0" y="36"/>
                  <a:pt x="0" y="3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3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6896100" y="5305425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标注数据成熟度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6896100" y="54768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每个属性旁标已确认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待确认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8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22 / 30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888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  &lt;Box style={{ position: 'absolute', right: 70, top: 110 }}&gt;&#10;    &lt;Text style={{ fontSize: 300, fontWeight: 'bold', color: 'rgba(255,255,255,0.08)', lineHeight: 1.0 }}&gt;04&lt;/Text&gt;&#10;    &lt;/Box&gt;&#10;    &lt;Box style={{ position: 'absolute', left: 88, top: 232, width: 660, flexDirection: 'column' }}&gt;&#10;        &lt;Text style={{ fontSize: 15, color: 'rgba(255,255,255,0.5)', letterSpacing: 3 }}&gt;PART 04&lt;/Text&gt;&#10;  &lt;Box style={{ width: 72, height: 5, background: '#FA4F24', marginTop: 22 }} /&gt;&#10;      &lt;Text style={{ fontSize: 58, fontWeight: 'bold', color: '#FFFFFF', marginTop: 28, lineHeight: 1.15 }}&gt;动力学与治理&lt;/Text&gt;&#10;        &lt;Text style={{ fontSize: 17, color: 'rgba(255,255,255,0.62)', letterSpacing: 2, marginTop: 20 }}&gt;KINETICS &amp; GOVERNANCE&lt;/Text&gt;&#10;        &lt;Text style={{ fontSize: 19, color: 'rgba(255,255,255,0.85)', marginTop: 26, lineHeight: 1.6 }}&gt;Action、Function、动态权限、写回与决策留痕&lt;/Text&gt;&#10;    &lt;/Box&gt;&#10;    &lt;Box style={{ position: 'absolute', right: 88, bottom: 64, flexDirection: 'row', alignItems: 'center', gap: 12 }}&gt;&#10;   &lt;Box style={{ width: 14, height: 14, background: '#FA4F24' }} /&gt;&#10;   &lt;Text style={{ fontSize: 14, color: 'rgba(255,255,255,0.5)' }}&gt;硕磐机密 · Ontology本体咨询方法论&lt;/Text&gt;&#10;        &lt;Text style={{ fontSize: 14, color: 'rgba(255,255,255,0.5)', marginLeft: 12 }}&gt;23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91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894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动力学与治理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KINETICS &amp; GOVERNANCE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Action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Function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、动态权限、写回与决策留痕</a:t>
            </a:r>
            <a:endParaRPr/>
          </a:p>
        </p:txBody>
      </p:sp>
      <p:sp>
        <p:nvSpPr>
          <p:cNvPr id="898" name=""/>
          <p:cNvSpPr/>
          <p:nvPr/>
        </p:nvSpPr>
        <p:spPr>
          <a:xfrm rot="0" flipH="0" flipV="0">
            <a:off x="82391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8486775" y="60864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23 / 30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901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之方法：&lt;span style={{ color: '#FA4F24' }}&gt;Action Type 设计七问&lt;/span&gt;，写入的唯一合法入口&#10;        &lt;/Text&gt;&#10;        &lt;Text style={{ fontSize: 20, color: '#8A8F99', marginTop: 8 }}&gt;&#10;      任何改变真实世界的行为，都必须是一个被命名、被授权、被留痕的动作类型&#10;        &lt;/Text&gt;&#10;  &lt;/Box&gt;&#10;    &lt;Box style={{ height: 1, background: '#E8E8E8' }} /&gt;&#10;&#10;    &lt;Box style={{ paddingTop: 22, paddingBottom: 12, height: 479, flexDirection: 'row', gap: 20 }}&gt;&#10;  {/* 左 七问 */}&#10;        &lt;Box style={{ width: 600, flexDirection: 'column', gap: 6 }}&gt;&#10;        &lt;Text style={{ fontSize: 20, fontWeight: 'bold', color: '#0F1423' }}&gt;设计一个动作要回答的七件事&lt;/Text&gt;&#10;      {[&#10;        { n: 'A1', q: '它改变的是哪个对象的什么状态？', why: '说不清就不是一个合格的动作' },&#10;        { n: 'A2', q: '谁可以发起？谁必须审批？', why: '权限与审批是模型的一部分，不是流程外的事' },&#10;     { n: 'A3', q: '前置条件是什么？', why: '校验写在函数里，不靠调用方自觉' },&#10;   { n: 'A4', q: '执行后要写回哪些外部系统？', why: '写回路径必须显式声明，不能靠约定' },&#10;        { n: 'A5', q: '失败了怎么办？', why: '必须有明确的失败态与补偿动作' },&#10;        { n: 'A6', q: '重复提交会怎样？', why: '没有幂等设计就不允许上线' },&#10;        { n: 'A7', q: '事后怎么查到是谁改的？', why: '留痕不是可选项，是动作的一部分' },&#10;    ].map((it, i) =&gt; (&#10;      &lt;Box key={i} style={{ flex: 1, background: i &lt; 4 ? '#F7F7F8' : '#FFF3EE', borderRadius: 4, padding: '0 16px', flexDirection: 'row', alignItems: 'center', gap: 12 }}&gt;&#10;  &lt;Text style={{ fontSize: 14, fontWeight: 'bold', color: '#FA4F24', width: 28 }}&gt;{it.n}&lt;/Text&gt;&#10;   &lt;Text style={{ fontSize: 14, fontWeight: 'bold', color: '#0F1423', flex: 1, lineHeight: 1.35 }}&gt;{it.q}&lt;/Text&gt;&#10;   &lt;Text style={{ fontSize: 12, color: '#8A8F99', width: 178, lineHeight: 1.3 }}&gt;{it.why}&lt;/Text&gt;&#10;   &lt;/Box&gt;&#10;    ))}&#10;    &lt;Box style={{ height: 46, background: '#0F1423', borderRadius: 4, padding: '0 16px', flexDirection: 'row', alignItems: 'center', gap: 12 }}&gt;&#10;          &lt;Text style={{ fontSize: 13, fontWeight: 'bold', color: '#FBA15C', width: 84 }}&gt;★ 判据&lt;/Text&gt;&#10;          &lt;Text style={{ fontSize: 13, color: 'rgba(255,255,255,0.9)', flex: 1, lineHeight: 1.4 }}&gt;&#10;            七问里有两问答不上来，这个动作就不要建 —— 先把它变成一个流程说明，留到治理成熟后再收进本体&#10;    &lt;/Text&gt;&#10;      &lt;/Box&gt;&#10;  &lt;/Box&gt;&#10;&#10;      {/* 右：为什么必须经 Action */}&#10;   &lt;Box style={{ flex: 1, flexDirection: 'column', gap: 8 }}&gt;&#10;       &lt;Text style={{ fontSize: 20, fontWeight: 'bold', color: '#0F1423' }}&gt;为什么不能让 AI 或应用直连&lt;/Text&gt;&#10;            &lt;Box style={{ height: 148, background: '#0F1423', borderRadius: 4, padding: '14px 16px', flexDirection: 'column', justifyContent: 'center', gap: 9 }}&gt;&#10;      {[&#10;        { t: '大模型不能直接操作外部系统', d: '只能调用预先定义并经权限审核的动作类型' },&#10;     { t: '权限与校验在建模阶段固化', d: '不依赖模型自己判断该不该做、有没有权限' },&#10;   { t: '每一次调用天然留痕', d: '谁、何时、对哪个对象、做了什么、结果如何' },&#10;  ].map((it, i) =&gt; (&#10;      &lt;Box key={i} style={{ flexDirection: 'row', alignItems: 'flex-start', gap: 9 }}&gt;&#10;    &lt;Box style={{ width: 6, height: 6, background: '#FA4F24', borderRadius: 3, marginTop: 7 }} /&gt;&#10;     &lt;Text style={{ fontSize: 13, color: 'rgba(255,255,255,0.92)', flex: 1, lineHeight: 1.5 }}&gt;&#10;     &lt;Text style={{ fontWeight: 'bold' }}&gt;{it.t}&lt;/Text&gt;　{it.d}&#10;     &lt;/Text&gt;&#10;    &lt;/Box&gt;&#10;          ))}&#10;       &lt;/Box&gt;&#10;        &lt;Text style={{ fontSize: 20, fontWeight: 'bold', color: '#0F1423', marginTop: 4 }}&gt;三个必须落到动作里的校验&lt;/Text&gt;&#10;   {[&#10; { t: '状态校验', d: '只有「生产中」的订单才允许改交期' },&#10;        { t: '权限校验', d: '这条改的是 A 区订单，售前的改不了' },&#10;        { t: '完整性校验', d: '改交期必须同时给出理由，否则不落库' },&#10;        ].map((it, i) =&gt; (&#10;          &lt;Box key={i} style={{ flex: 1, background: '#F7F7F8', borderRadius: 4, padding: '0 16px', flexDirection: 'column', justifyContent: 'center', borderLeft: '4px solid #FA4F24' }}&gt;&#10;       &lt;Text style={{ fontSize: 14, fontWeight: 'bold', color: '#0F1423' }}&gt;{it.t}&lt;/Text&gt;&#10;        &lt;Text style={{ fontSize: 13, color: '#3A4050', lineHeight: 1.4, marginTop: 3 }}&gt;{it.d}&lt;/Text&gt;&#10;      &lt;/Box&gt;&#10;   ))}&#10;      &lt;/Box&gt;&#10;    &lt;/Box&gt;&#10;&#10;  &lt;Box style={{ height: 58, flexDirection: 'row', alignItems: 'center', borderTop: '1px solid #E8E8E8' }}&gt;&#10;  &lt;Box style={{ width: 10, height: 10, background: '#FA4F24' }} /&gt;&#10;  &lt;Text style={{ fontSize: 13, color: '#8A8F99', marginLeft: 12 }}&gt;硕磐机密 · Ontology本体咨询方法论&lt;/Text&gt;&#10;        &lt;Text style={{ fontSize: 13, color: '#8A8F99', marginLeft: 'auto' }}&gt;24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Action Type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设计七问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，写入的唯一合法入口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任何改变真实世界的行为，都必须是一个被命名、被授权、被留痕的动作类型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71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设计一个动作要回答的七件事</a:t>
            </a:r>
            <a:endParaRPr/>
          </a:p>
        </p:txBody>
      </p:sp>
      <p:sp>
        <p:nvSpPr>
          <p:cNvPr id="907" name=""/>
          <p:cNvSpPr/>
          <p:nvPr/>
        </p:nvSpPr>
        <p:spPr>
          <a:xfrm rot="0" flipH="0" flipV="0">
            <a:off x="609600" y="1647825"/>
            <a:ext cx="5715000" cy="361950"/>
          </a:xfrm>
          <a:prstGeom prst="roundRect">
            <a:avLst>
              <a:gd name="adj" fmla="val 105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762000" y="17526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A1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1143000" y="1724025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它改变的是哪个对象的什么状态？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4476750" y="1743075"/>
            <a:ext cx="16954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说不清就不是一个合格的动作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609600" y="2066925"/>
            <a:ext cx="5715000" cy="504825"/>
          </a:xfrm>
          <a:prstGeom prst="roundRect">
            <a:avLst>
              <a:gd name="adj" fmla="val 754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762000" y="22383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A2</a:t>
            </a:r>
            <a:endParaRPr/>
          </a:p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1143000" y="2209800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谁可以发起？谁必须审批？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4476750" y="2143125"/>
            <a:ext cx="169545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权限与审批是模型的一部分，不是流程外的事</a:t>
            </a:r>
            <a:endParaRPr/>
          </a:p>
        </p:txBody>
      </p:sp>
      <p:sp>
        <p:nvSpPr>
          <p:cNvPr id="915" name=""/>
          <p:cNvSpPr/>
          <p:nvPr/>
        </p:nvSpPr>
        <p:spPr>
          <a:xfrm rot="0" flipH="0" flipV="0">
            <a:off x="609600" y="2628900"/>
            <a:ext cx="5715000" cy="504825"/>
          </a:xfrm>
          <a:prstGeom prst="roundRect">
            <a:avLst>
              <a:gd name="adj" fmla="val 754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762000" y="28003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A3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1143000" y="2771775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前置条件是什么？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4476750" y="2705100"/>
            <a:ext cx="169545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校验写在函数里，不靠调用方自觉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609600" y="3190875"/>
            <a:ext cx="5715000" cy="514350"/>
          </a:xfrm>
          <a:prstGeom prst="roundRect">
            <a:avLst>
              <a:gd name="adj" fmla="val 740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762000" y="33718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A4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1143000" y="3343275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执行后要写回哪些外部系统？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4476750" y="3267075"/>
            <a:ext cx="169545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写回路径必须显式声明，不能靠约定</a:t>
            </a:r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609600" y="3762375"/>
            <a:ext cx="5715000" cy="361950"/>
          </a:xfrm>
          <a:prstGeom prst="roundRect">
            <a:avLst>
              <a:gd name="adj" fmla="val 1052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762000" y="38671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A5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1143000" y="3838575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失败了怎么办？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4476750" y="3857625"/>
            <a:ext cx="16954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必须有明确的失败态与补偿动作</a:t>
            </a:r>
            <a:endParaRPr/>
          </a:p>
        </p:txBody>
      </p:sp>
      <p:sp>
        <p:nvSpPr>
          <p:cNvPr id="927" name=""/>
          <p:cNvSpPr/>
          <p:nvPr/>
        </p:nvSpPr>
        <p:spPr>
          <a:xfrm rot="0" flipH="0" flipV="0">
            <a:off x="609600" y="4181475"/>
            <a:ext cx="5715000" cy="361950"/>
          </a:xfrm>
          <a:prstGeom prst="roundRect">
            <a:avLst>
              <a:gd name="adj" fmla="val 10526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762000" y="42862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A6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1143000" y="4257675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重复提交会怎样？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4476750" y="4276725"/>
            <a:ext cx="16954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没有幂等设计就不允许上线</a:t>
            </a:r>
            <a:endParaRPr/>
          </a:p>
        </p:txBody>
      </p:sp>
      <p:sp>
        <p:nvSpPr>
          <p:cNvPr id="931" name=""/>
          <p:cNvSpPr/>
          <p:nvPr/>
        </p:nvSpPr>
        <p:spPr>
          <a:xfrm rot="0" flipH="0" flipV="0">
            <a:off x="609600" y="4600575"/>
            <a:ext cx="5715000" cy="504825"/>
          </a:xfrm>
          <a:prstGeom prst="roundRect">
            <a:avLst>
              <a:gd name="adj" fmla="val 754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762000" y="47720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A7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1143000" y="4743450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事后怎么查到是谁改的？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4476750" y="4676775"/>
            <a:ext cx="169545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留痕不是可选项，是动作的一部分</a:t>
            </a:r>
            <a:endParaRPr/>
          </a:p>
        </p:txBody>
      </p:sp>
      <p:sp>
        <p:nvSpPr>
          <p:cNvPr id="935" name=""/>
          <p:cNvSpPr/>
          <p:nvPr/>
        </p:nvSpPr>
        <p:spPr>
          <a:xfrm rot="0" flipH="0" flipV="0">
            <a:off x="609600" y="5162550"/>
            <a:ext cx="5715000" cy="438150"/>
          </a:xfrm>
          <a:prstGeom prst="roundRect">
            <a:avLst>
              <a:gd name="adj" fmla="val 869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762000" y="530542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1676400" y="5172075"/>
            <a:ext cx="44958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七问里有两问答不上来，这个动作就不要建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先把它变成一个流程说明，留到治理成熟后再收进本体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6515100" y="1362075"/>
            <a:ext cx="5067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为什么不能让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或应用直连</a:t>
            </a:r>
            <a:endParaRPr/>
          </a:p>
        </p:txBody>
      </p:sp>
      <p:sp>
        <p:nvSpPr>
          <p:cNvPr id="939" name=""/>
          <p:cNvSpPr/>
          <p:nvPr/>
        </p:nvSpPr>
        <p:spPr>
          <a:xfrm rot="0" flipH="0" flipV="0">
            <a:off x="6515100" y="1666875"/>
            <a:ext cx="5067300" cy="1409700"/>
          </a:xfrm>
          <a:prstGeom prst="roundRect">
            <a:avLst>
              <a:gd name="adj" fmla="val 270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40" name=""/>
          <p:cNvSpPr/>
          <p:nvPr/>
        </p:nvSpPr>
        <p:spPr>
          <a:xfrm rot="0" flipH="0" flipV="0">
            <a:off x="6667500" y="20097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6810375" y="1943100"/>
            <a:ext cx="46196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大模型不能直接操作外部系统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只能调用预先定义并经权限审核的动作类型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6667500" y="2324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6810375" y="2257425"/>
            <a:ext cx="46196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权限与校验在建模阶段固化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不依赖模型自己判断该不该做、有没有权限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6667500" y="2638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6810375" y="2571750"/>
            <a:ext cx="46196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每一次调用天然留痕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谁、何时、对哪个对象、做了什么、结果如何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6515100" y="3190875"/>
            <a:ext cx="5067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三个必须落到动作里的校验</a:t>
            </a:r>
            <a:endParaRPr/>
          </a:p>
        </p:txBody>
      </p:sp>
      <p:sp>
        <p:nvSpPr>
          <p:cNvPr id="947" name=""/>
          <p:cNvSpPr/>
          <p:nvPr/>
        </p:nvSpPr>
        <p:spPr>
          <a:xfrm rot="0" flipH="0" flipV="0">
            <a:off x="6553200" y="3495675"/>
            <a:ext cx="50673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48" name=""/>
          <p:cNvSpPr/>
          <p:nvPr/>
        </p:nvSpPr>
        <p:spPr>
          <a:xfrm rot="0" flipH="0" flipV="0">
            <a:off x="6553200" y="3495675"/>
            <a:ext cx="5067300" cy="647700"/>
          </a:xfrm>
          <a:custGeom>
            <a:pathLst>
              <a:path w="532" h="68">
                <a:moveTo>
                  <a:pt x="4" y="68"/>
                </a:move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6705600" y="3619500"/>
            <a:ext cx="472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状态校验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6705600" y="3810000"/>
            <a:ext cx="4724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只有「生产中」的订单才允许改交期</a:t>
            </a:r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6553200" y="4219575"/>
            <a:ext cx="50673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2" name=""/>
          <p:cNvSpPr/>
          <p:nvPr/>
        </p:nvSpPr>
        <p:spPr>
          <a:xfrm rot="0" flipH="0" flipV="0">
            <a:off x="6553200" y="4219575"/>
            <a:ext cx="5067300" cy="657225"/>
          </a:xfrm>
          <a:custGeom>
            <a:pathLst>
              <a:path w="532" h="69">
                <a:moveTo>
                  <a:pt x="4" y="69"/>
                </a:moveTo>
                <a:cubicBezTo>
                  <a:pt x="2" y="69"/>
                  <a:pt x="0" y="67"/>
                  <a:pt x="0" y="6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6705600" y="4352925"/>
            <a:ext cx="472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权限校验</a:t>
            </a:r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6705600" y="4543425"/>
            <a:ext cx="4724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这条改的是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区订单，售前的改不了</a:t>
            </a:r>
            <a:endParaRPr/>
          </a:p>
        </p:txBody>
      </p:sp>
      <p:sp>
        <p:nvSpPr>
          <p:cNvPr id="955" name=""/>
          <p:cNvSpPr/>
          <p:nvPr/>
        </p:nvSpPr>
        <p:spPr>
          <a:xfrm rot="0" flipH="0" flipV="0">
            <a:off x="6553200" y="4953000"/>
            <a:ext cx="5067300" cy="647700"/>
          </a:xfrm>
          <a:prstGeom prst="roundRect">
            <a:avLst>
              <a:gd name="adj" fmla="val 58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6" name=""/>
          <p:cNvSpPr/>
          <p:nvPr/>
        </p:nvSpPr>
        <p:spPr>
          <a:xfrm rot="0" flipH="0" flipV="0">
            <a:off x="6553200" y="4953000"/>
            <a:ext cx="5067300" cy="647700"/>
          </a:xfrm>
          <a:custGeom>
            <a:pathLst>
              <a:path w="532" h="68">
                <a:moveTo>
                  <a:pt x="4" y="68"/>
                </a:move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6705600" y="5076825"/>
            <a:ext cx="472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完整性校验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6705600" y="5267325"/>
            <a:ext cx="4724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改交期必须同时给出理由，否则不落库</a:t>
            </a:r>
            <a:endParaRPr/>
          </a:p>
        </p:txBody>
      </p:sp>
      <p:sp>
        <p:nvSpPr>
          <p:cNvPr id="95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24 / 30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963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内容：&lt;span style={{ color: '#FA4F24' }}&gt;Function 与动态权限&lt;/span&gt;，逻辑与边界在建模期就定死&#10;        &lt;/Text&gt;&#10;        &lt;Text style={{ fontSize: 20, color: '#8A8F99', marginTop: 8 }}&gt;&#10;   把这两件事交给应用层做，本体就退化成一张只能看的图&#10;        &lt;/Text&gt;&#10;    &lt;/Box&gt;&#10;    &lt;Box style={{ height: 1, background: '#E8E8E8' }} /&gt;&#10;&#10;    &lt;Box style={{ paddingTop: 22, paddingBottom: 12, height: 479, flexDirection: 'row', gap: 18 }}&gt;&#10;      {/* 左 Function */}&#10;        &lt;Box style={{ flex: 1, flexDirection: 'column', gap: 8 }}&gt;&#10;    &lt;Text style={{ fontSize: 20, fontWeight: 'bold', color: '#0F1423' }}&gt;Function：服务端的业务逻辑&lt;/Text&gt;&#10;      &lt;Box style={{ flex: 1, background: '#F7F7F8', borderRadius: 4, padding: '14px 16px', flexDirection: 'column', justifyContent: 'center', gap: 9 }}&gt;&#10;       {[&#10;      { t: '像存储过程一样放在服务端', d: '复杂度不限，可以算、可以调外部、可以写库' },&#10;   { t: '可被应用与 AI 直接调用', d: '不需要先造一个界面才能用上这段逻辑' },&#10;    { t: '一处定义，多处复用', d: '同一个「交期是否可承诺」的判断，不允许在五个应用里各写一遍' },&#10;        ].map((it, i) =&gt; (&#10;       &lt;Box key={i} style={{ flexDirection: 'row', alignItems: 'flex-start', gap: 9 }}&gt;&#10;       &lt;Box style={{ width: 6, height: 6, background: '#FA4F24', borderRadius: 3, marginTop: 7 }} /&gt;&#10;      &lt;Text style={{ fontSize: 13, color: '#3A4050', flex: 1, lineHeight: 1.5 }}&gt;&#10;      &lt;Text style={{ fontWeight: 'bold', color: '#0F1423' }}&gt;{it.t}&lt;/Text&gt;　{it.d}&#10;      &lt;/Text&gt;&#10;       &lt;/Box&gt;&#10;    ))}&#10;     &lt;Box style={{ flexDirection: 'row', alignItems: 'flex-start', gap: 9, marginTop: 4 }}&gt;&#10;     &lt;Box style={{ width: 6, height: 6, background: '#FA4F24', borderRadius: 3, marginTop: 7 }} /&gt;&#10;    &lt;Text style={{ fontSize: 13, color: '#3A4050', flex: 1, lineHeight: 1.5 }}&gt;&#10;    &lt;Text style={{ fontWeight: 'bold', color: '#0F1423' }}&gt;典型用途&lt;/Text&gt;　算可用库存、判断交期可行性、生成审批路径、算出责任销售&#10;     &lt;/Text&gt;&#10;     &lt;/Box&gt;&#10;      &lt;/Box&gt;&#10;          &lt;Box style={{ height: 62, background: '#FFF3EE', borderRadius: 4, padding: '10px 16px', flexDirection: 'row', alignItems: 'center', gap: 12, borderLeft: '4px solid #FBA15C' }}&gt;&#10;   &lt;Text style={{ fontSize: 13, fontWeight: 'bold', color: '#C43A17', width: 118 }}&gt;★ 边界在哪&lt;/Text&gt;&#10;     &lt;Text style={{ fontSize: 13, color: '#3A2000', flex: 1, lineHeight: 1.4 }}&gt;&#10;   纯展示的格式化不要写进函数。函数只放「业务上必须一致」的那部分逻辑，否则它会变成没人敢动的垃圾场&#10;        &lt;/Text&gt;&#10;      &lt;/Box&gt;&#10;    &lt;/Box&gt;&#10;&#10;    {/* 右 动态权限 */}&#10; &lt;Box style={{ flex: 1, flexDirection: 'column', gap: 8 }}&gt;&#10;      &lt;Text style={{ fontSize: 20, fontWeight: 'bold', color: '#0F1423' }}&gt;动态权限：不是角色表，是实时判定&lt;/Text&gt;&#10;            {[&#10;              { a: '静态权限', b: '页面隐藏按钮、菜单不可见。换个入口就绕过去了' },&#10;       { a: '动态权限', b: '按用户属性与对象状态实时判定，同一个人对不同对象结论不同' },&#10;    ].map((it, i) =&gt; (&#10;       &lt;Box key={i} style={{ flex: 1, background: i === 0 ? '#F7F7F8' : '#FA4F24', borderRadius: 4, padding: '0 16px', flexDirection: 'column', justifyContent: 'center' }}&gt;&#10;    &lt;Text style={{ fontSize: 15, fontWeight: 'bold', color: i === 0 ? '#5A6072' : '#FFFFFF' }}&gt;{it.a}&lt;/Text&gt;&#10;            &lt;Text style={{ fontSize: 13, color: i === 0 ? '#3A4050' : 'rgba(255,255,255,0.95)', lineHeight: 1.4, marginTop: 4 }}&gt;{it.b}&lt;/Text&gt;&#10;     &lt;/Box&gt;&#10;  ))}&#10;            &lt;Text style={{ fontSize: 20, fontWeight: 'bold', color: '#0F1423', marginTop: 4 }}&gt;三条必须内嵌到模型的规则&lt;/Text&gt;&#10;       {[&#10;        { n: 'R1', t: '到属性粒度', d: '不是「能看订单」，而是「能看订单但看不到折扣金额」' },&#10;   { n: 'R2', t: '随身份继承给 AI', d: '模型看不到的东西，AI 也看不到；AI 能做的，人也一定能做' },&#10;        { n: 'R3', t: '随对象状态变化', d: '已关闭的订单谁都别想再改，包括管理员' },&#10;    ].map((it, i) =&gt; (&#10;      &lt;Box key={i} style={{ flex: 1, background: '#FFF3EE', borderRadius: 4, padding: '0 16px', flexDirection: 'row', alignItems: 'center', gap: 12 }}&gt;&#10; &lt;Text style={{ fontSize: 14, fontWeight: 'bold', color: '#C43A17', width: 30 }}&gt;{it.n}&lt;/Text&gt;&#10;     &lt;Box style={{ width: 148 }}&gt;&#10;   &lt;Text style={{ fontSize: 14, fontWeight: 'bold', color: '#0F1423' }}&gt;{it.t}&lt;/Text&gt;&#10;    &lt;/Box&gt;&#10;   &lt;Text style={{ fontSize: 13, color: '#3A2000', flex: 1, lineHeight: 1.4 }}&gt;{it.d}&lt;/Text&gt;&#10;    &lt;/Box&gt;&#10;   ))}&#10;  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Ontology本体咨询方法论&lt;/Text&gt;&#10;        &lt;Text style={{ fontSize: 13, color: '#8A8F99', marginLeft: 'auto' }}&gt;25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Function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与动态权限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，逻辑与边界在建模期就定死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把这两件事交给应用层做，本体就退化成一张只能看的图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>Function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：服务端的业务逻辑</a:t>
            </a:r>
            <a:endParaRPr/>
          </a:p>
        </p:txBody>
      </p:sp>
      <p:sp>
        <p:nvSpPr>
          <p:cNvPr id="969" name=""/>
          <p:cNvSpPr/>
          <p:nvPr/>
        </p:nvSpPr>
        <p:spPr>
          <a:xfrm rot="0" flipH="0" flipV="0">
            <a:off x="609600" y="1666875"/>
            <a:ext cx="5400675" cy="3267075"/>
          </a:xfrm>
          <a:prstGeom prst="roundRect">
            <a:avLst>
              <a:gd name="adj" fmla="val 116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70" name=""/>
          <p:cNvSpPr/>
          <p:nvPr/>
        </p:nvSpPr>
        <p:spPr>
          <a:xfrm rot="0" flipH="0" flipV="0">
            <a:off x="762000" y="2762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904875" y="2695575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像存储过程一样放在服务端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复杂度不限，可以算、可以调外部、可以写库</a:t>
            </a:r>
            <a:endParaRPr/>
          </a:p>
        </p:txBody>
      </p:sp>
      <p:sp>
        <p:nvSpPr>
          <p:cNvPr id="972" name=""/>
          <p:cNvSpPr/>
          <p:nvPr/>
        </p:nvSpPr>
        <p:spPr>
          <a:xfrm rot="0" flipH="0" flipV="0">
            <a:off x="762000" y="3076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904875" y="300990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可被应用与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直接调用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不需要先造一个界面才能用上这段逻辑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762000" y="3390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904875" y="3324225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一处定义，多处复用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同一个「交期是否可承诺」的判断，不允许在五个应用里各写一遍</a:t>
            </a:r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762000" y="37433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904875" y="36766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典型用途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　算可用库存、判断交期可行性、生成审批路径、算出责任销售</a:t>
            </a:r>
            <a:endParaRPr/>
          </a:p>
        </p:txBody>
      </p:sp>
      <p:sp>
        <p:nvSpPr>
          <p:cNvPr id="978" name=""/>
          <p:cNvSpPr/>
          <p:nvPr/>
        </p:nvSpPr>
        <p:spPr>
          <a:xfrm rot="0" flipH="0" flipV="0">
            <a:off x="647700" y="5010150"/>
            <a:ext cx="5400675" cy="59055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79" name=""/>
          <p:cNvSpPr/>
          <p:nvPr/>
        </p:nvSpPr>
        <p:spPr>
          <a:xfrm rot="0" flipH="0" flipV="0">
            <a:off x="647700" y="5010150"/>
            <a:ext cx="5400675" cy="590550"/>
          </a:xfrm>
          <a:custGeom>
            <a:pathLst>
              <a:path w="567" h="62">
                <a:moveTo>
                  <a:pt x="4" y="62"/>
                </a:moveTo>
                <a:cubicBezTo>
                  <a:pt x="2" y="62"/>
                  <a:pt x="0" y="60"/>
                  <a:pt x="0" y="5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800100" y="52292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边界在哪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2038350" y="5095875"/>
            <a:ext cx="38195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纯展示的格式化不要写进函数。函数只放「业务上必须一致」的那部分逻辑，否则它会变成没人敢动的垃圾场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6181725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动态权限：不是角色表，是实时判定</a:t>
            </a:r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6181725" y="1666875"/>
            <a:ext cx="5400675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6334125" y="1828800"/>
            <a:ext cx="509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A6072"/>
                </a:solidFill>
                <a:latin typeface="Microsoft YaHei"/>
                <a:ea typeface="Microsoft YaHei"/>
              </a:rPr>
              <a:t>静态权限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6334125" y="2038350"/>
            <a:ext cx="50958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页面隐藏按钮、菜单不可见。换个入口就绕过去了</a:t>
            </a:r>
            <a:endParaRPr/>
          </a:p>
        </p:txBody>
      </p:sp>
      <p:sp>
        <p:nvSpPr>
          <p:cNvPr id="986" name=""/>
          <p:cNvSpPr/>
          <p:nvPr/>
        </p:nvSpPr>
        <p:spPr>
          <a:xfrm rot="0" flipH="0" flipV="0">
            <a:off x="6181725" y="2486025"/>
            <a:ext cx="5400675" cy="742950"/>
          </a:xfrm>
          <a:prstGeom prst="roundRect">
            <a:avLst>
              <a:gd name="adj" fmla="val 5128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6334125" y="2647950"/>
            <a:ext cx="509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动态权限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6334125" y="2857500"/>
            <a:ext cx="50958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按用户属性与对象状态实时判定，同一个人对不同对象结论不同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6181725" y="33432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三条必须内嵌到模型的规则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6181725" y="3648075"/>
            <a:ext cx="5400675" cy="523875"/>
          </a:xfrm>
          <a:prstGeom prst="roundRect">
            <a:avLst>
              <a:gd name="adj" fmla="val 727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6334125" y="38290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>R1</a:t>
            </a:r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6734175" y="382905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到属性粒度</a:t>
            </a:r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8258175" y="3810000"/>
            <a:ext cx="31718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不是「能看订单」，而是「能看订单但看不到折扣金额」</a:t>
            </a:r>
            <a:endParaRPr/>
          </a:p>
        </p:txBody>
      </p:sp>
      <p:sp>
        <p:nvSpPr>
          <p:cNvPr id="994" name=""/>
          <p:cNvSpPr/>
          <p:nvPr/>
        </p:nvSpPr>
        <p:spPr>
          <a:xfrm rot="0" flipH="0" flipV="0">
            <a:off x="6181725" y="4248150"/>
            <a:ext cx="5400675" cy="742950"/>
          </a:xfrm>
          <a:prstGeom prst="roundRect">
            <a:avLst>
              <a:gd name="adj" fmla="val 512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6334125" y="45434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>R2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6734175" y="4543425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随身份继承给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8258175" y="4410075"/>
            <a:ext cx="31718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模型看不到的东西，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也看不到；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能做的，人也一定能做</a:t>
            </a:r>
            <a:endParaRPr/>
          </a:p>
        </p:txBody>
      </p:sp>
      <p:sp>
        <p:nvSpPr>
          <p:cNvPr id="998" name=""/>
          <p:cNvSpPr/>
          <p:nvPr/>
        </p:nvSpPr>
        <p:spPr>
          <a:xfrm rot="0" flipH="0" flipV="0">
            <a:off x="6181725" y="5067300"/>
            <a:ext cx="5400675" cy="5334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6334125" y="52578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>R3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6734175" y="525780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随对象状态变化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8258175" y="5229225"/>
            <a:ext cx="31718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已关闭的订单谁都别想再改，包括管理员</a:t>
            </a:r>
            <a:endParaRPr/>
          </a:p>
        </p:txBody>
      </p:sp>
      <p:sp>
        <p:nvSpPr>
          <p:cNvPr id="100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0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25 / 30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006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之内容：&lt;span style={{ color: '#FA4F24' }}&gt;三种写回机制与决策留痕&lt;/span&gt;，动作落下去之后还剩什么&#10;        &lt;/Text&gt;&#10;        &lt;Text style={{ fontSize: 20, color: '#8A8F99', marginTop: 8 }}&gt;&#10;    写回不是终点。把写回方式选对，闭环才成立 —— 这是本体最容易被忽略的价值点&#10;        &lt;/Text&gt;&#10;    &lt;/Box&gt;&#10;  &lt;Box style={{ height: 1, background: '#E8E8E8' }} /&gt;&#10;&#10;    &lt;Box style={{ paddingTop: 22, paddingBottom: 12, height: 479, flexDirection: 'column', gap: 9 }}&gt;&#10;      {/* 三种写回 */}&#10;      &lt;Text style={{ fontSize: 20, fontWeight: 'bold', color: '#0F1423' }}&gt;三种写回机制，怎么选&lt;/Text&gt;&#10;      &lt;Box style={{ height: 158, flexDirection: 'row', gap: 10 }}&gt;&#10;        {[&#10;          { n: '①', t: '回调推送', d: '动作触发后由本体直接调用外部系统的接口', p: '实时性好', r: '外部系统不稳定时会失败重试，对接方要有幂等', c: '#0F1423' },&#10;        { n: '②', t: '出站数据集', d: '动作结果落成一张出站数据集，由外部系统来取', p: '解耦最彻底', r: '有延迟，不适合要求秒级的动作', c: '#2A2F3D' },&#10;          { n: '③', t: '事件流', d: '动作结果以事件形式广播，订阅方自行消费', p: '最适合多方监听', r: '需要约定事件契约，改契约就是破坏性变更', c: '#5A6072' },&#10;     ].map((it, i) =&gt; (&#10;          &lt;Box key={i} style={{ flex: 1, background: it.c, borderRadius: 4, padding: '13px 15px', flexDirection: 'column', justifyContent: 'center', gap: 5 }}&gt;&#10;     &lt;Text style={{ fontSize: 18, fontWeight: 'bold', color: '#FBA15C' }}&gt;{it.n}&lt;/Text&gt;&#10;     &lt;Text style={{ fontSize: 16, fontWeight: 'bold', color: '#FFFFFF' }}&gt;{it.t}&lt;/Text&gt;&#10;     &lt;Text style={{ fontSize: 13, color: 'rgba(255,255,255,0.9)', lineHeight: 1.4 }}&gt;{it.d}&lt;/Text&gt;&#10;         &lt;Text style={{ fontSize: 12, color: 'rgba(255,255,255,0.7)', lineHeight: 1.35, marginTop: 2 }}&gt;优势：{it.p}&lt;/Text&gt;&#10;          &lt;Text style={{ fontSize: 12, color: 'rgba(255,255,255,0.7)', lineHeight: 1.35 }}&gt;代价：{it.r}&lt;/Text&gt;&#10;          &lt;/Box&gt;&#10;   ))}&#10;      &lt;/Box&gt;&#10;&#10;  &lt;Box style={{ flex: 1, flexDirection: 'row', gap: 10 }}&gt;&#10;        {/* 决策留痕 */}&#10;        &lt;Box style={{ flex: 1.25, background: '#F7F7F8', borderRadius: 4, padding: '14px 16px', flexDirection: 'column' }}&gt;&#10;      &lt;Box style={{ flexDirection: 'row', alignItems: 'center', gap: 10, marginBottom: 8 }}&gt;&#10;    &lt;Text style={{ fontSize: 20, fontWeight: 'bold', color: '#0F1423' }}&gt;决策可捕获：一次动作留下什么&lt;/Text&gt;&#10;  &lt;Box style={{ flex: 1, height: 1, background: '#E8E8E8' }} /&gt;&#10;    &lt;/Box&gt;&#10;        {[&#10;          { k: '谁', v: '发起人与审批人，各自的时间戳' },&#10;       { k: '对什么', v: '对象实例的标识与变更前的状态' },&#10;            { k: '做了什么', v: '动作名称、参数、理由说明' },&#10;     { k: '结果', v: '成功失败、失败原因、重试次数' },&#10;    { k: '链路', v: '这一条影响了下游哪些对象的哪些字段' },&#10;        ].map((it, i) =&gt; (&#10;          &lt;Box key={i} style={{ flex: 1, flexDirection: 'row', alignItems: 'center', gap: 12 }}&gt;&#10;         &lt;Text style={{ fontSize: 13, fontWeight: 'bold', color: '#C43A17', width: 68 }}&gt;{it.k}&lt;/Text&gt;&#10;            &lt;Text style={{ fontSize: 13, color: '#3A4050', flex: 1, lineHeight: 1.35 }}&gt;{it.v}&lt;/Text&gt;&#10;       &lt;/Box&gt;&#10;     ))}&#10;   &lt;Box style={{ height: 46, background: '#0F1423', borderRadius: 4, padding: '0 14px', flexDirection: 'row', alignItems: 'center', marginTop: 8 }}&gt;&#10;    &lt;Text style={{ fontSize: 13, color: 'rgba(255,255,255,0.95)', flex: 1, lineHeight: 1.4 }}&gt;&#10;  这些留痕合起来，就是组织的决策日志 —— 它能回答「当时谁基于什么信息做了什么决定」&#10;     &lt;/Text&gt;&#10;     &lt;/Box&gt;&#10;      &lt;/Box&gt;&#10;&#10;    {/* 价值 */}&#10;        &lt;Box style={{ flex: 1, background: 'linear-gradient(160deg, #FA4F24 0%, #F87D2F 100%)', borderRadius: 4, padding: '16px 18px', flexDirection: 'column', justifyContent: 'center' }}&gt;&#10;        &lt;Text style={{ fontSize: 20, fontWeight: 'bold', color: '#FFFFFF' }}&gt;这件事为什么值钱&lt;/Text&gt;&#10;          {[&#10;  { t: '复盘有依据', d: '不再靠回忆对齐口径' },&#10;    { t: '异常可追责', d: '出了错能定位到具体动作' },&#10;  { t: '模型可训练', d: '历史决策是 AI 最稀缺的语料' },&#10;       ].map((it, i) =&gt; (&#10;        &lt;Box key={i} style={{ flexDirection: 'row', alignItems: 'flex-start', gap: 9, marginTop: i === 0 ? 10 : 12 }}&gt;&#10;   &lt;Box style={{ width: 6, height: 6, background: '#FFFFFF', borderRadius: 3, marginTop: 7 }} /&gt;&#10;    &lt;Text style={{ fontSize: 14, color: 'rgba(255,255,255,0.95)', flex: 1, lineHeight: 1.45 }}&gt;&#10;     &lt;Text style={{ fontWeight: 'bold' }}&gt;{it.t}&lt;/Text&gt;　{it.d}&#10;     &lt;/Text&gt;&#10;          &lt;/Box&gt;&#10;       ))}&#10;   &lt;/Box&gt;&#10;  &lt;/Box&gt;&#10;    &lt;/Box&gt;&#10;&#10;    &lt;Box style={{ height: 58, flexDirection: 'row', alignItems: 'center', borderTop: '1px solid #E8E8E8' }}&gt;&#10;        &lt;Box style={{ width: 10, height: 10, background: '#FA4F24' }} /&gt;&#10; &lt;Text style={{ fontSize: 13, color: '#8A8F99', marginLeft: 12 }}&gt;硕磐机密 · Ontology本体咨询方法论&lt;/Text&gt;&#10;        &lt;Text style={{ fontSize: 13, color: '#8A8F99', marginLeft: 'auto' }}&gt;26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三种写回机制与决策留痕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，动作落下去之后还剩什么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写回不是终点。把写回方式选对，闭环才成立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这是本体最容易被忽略的价值点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三种写回机制，怎么选</a:t>
            </a:r>
            <a:endParaRPr/>
          </a:p>
        </p:txBody>
      </p:sp>
      <p:sp>
        <p:nvSpPr>
          <p:cNvPr id="1012" name=""/>
          <p:cNvSpPr/>
          <p:nvPr/>
        </p:nvSpPr>
        <p:spPr>
          <a:xfrm rot="0" flipH="0" flipV="0">
            <a:off x="609600" y="1676400"/>
            <a:ext cx="3590925" cy="1504950"/>
          </a:xfrm>
          <a:prstGeom prst="roundRect">
            <a:avLst>
              <a:gd name="adj" fmla="val 253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752475" y="1828800"/>
            <a:ext cx="3305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BA15C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752475" y="2085975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回调推送</a:t>
            </a:r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752475" y="2324100"/>
            <a:ext cx="33051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动作触发后由本体直接调用外部系统的接口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752475" y="2600325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优势：</a:t>
            </a: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实时性好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752475" y="2838450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代价：</a:t>
            </a: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外部系统不稳定时会失败重试，对接方要有幂等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4295775" y="1676400"/>
            <a:ext cx="3600450" cy="1504950"/>
          </a:xfrm>
          <a:prstGeom prst="roundRect">
            <a:avLst>
              <a:gd name="adj" fmla="val 2532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4438650" y="1828800"/>
            <a:ext cx="3314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BA15C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4438650" y="2085975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出站数据集</a:t>
            </a:r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4438650" y="2324100"/>
            <a:ext cx="33147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动作结果落成一张出站数据集，由外部系统来取</a:t>
            </a:r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4438650" y="2600325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优势：</a:t>
            </a: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解耦最彻底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4438650" y="2838450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代价：</a:t>
            </a: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有延迟，不适合要求秒级的动作</a:t>
            </a:r>
            <a:endParaRPr/>
          </a:p>
        </p:txBody>
      </p:sp>
      <p:sp>
        <p:nvSpPr>
          <p:cNvPr id="1024" name=""/>
          <p:cNvSpPr/>
          <p:nvPr/>
        </p:nvSpPr>
        <p:spPr>
          <a:xfrm rot="0" flipH="0" flipV="0">
            <a:off x="7991475" y="1676400"/>
            <a:ext cx="3590925" cy="1504950"/>
          </a:xfrm>
          <a:prstGeom prst="roundRect">
            <a:avLst>
              <a:gd name="adj" fmla="val 2532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8134350" y="1828800"/>
            <a:ext cx="3305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BA15C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8134350" y="2085975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事件流</a:t>
            </a:r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8134350" y="2324100"/>
            <a:ext cx="33051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动作结果以事件形式广播，订阅方自行消费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8134350" y="2600325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优势：</a:t>
            </a: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最适合多方监听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8134350" y="2838450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代价：</a:t>
            </a: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需要约定事件契约，改契约就是破坏性变更</a:t>
            </a:r>
            <a:endParaRPr/>
          </a:p>
        </p:txBody>
      </p:sp>
      <p:sp>
        <p:nvSpPr>
          <p:cNvPr id="1030" name=""/>
          <p:cNvSpPr/>
          <p:nvPr/>
        </p:nvSpPr>
        <p:spPr>
          <a:xfrm rot="0" flipH="0" flipV="0">
            <a:off x="609600" y="3267075"/>
            <a:ext cx="6038850" cy="2333625"/>
          </a:xfrm>
          <a:prstGeom prst="roundRect">
            <a:avLst>
              <a:gd name="adj" fmla="val 163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762000" y="3400425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决策可捕获：一次动作留下什么</a:t>
            </a:r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3524250" y="3514725"/>
            <a:ext cx="2971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762000" y="3752850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谁</a:t>
            </a:r>
            <a:endParaRPr/>
          </a:p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1524000" y="372427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发起人与审批人，各自的时间戳</a:t>
            </a:r>
            <a:endParaRPr/>
          </a:p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762000" y="4000500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对什么</a:t>
            </a:r>
            <a:endParaRPr/>
          </a:p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1524000" y="397192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对象实例的标识与变更前的状态</a:t>
            </a:r>
            <a:endParaRPr/>
          </a:p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762000" y="4257675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做了什么</a:t>
            </a:r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1524000" y="422910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动作名称、参数、理由说明</a:t>
            </a:r>
            <a:endParaRPr/>
          </a:p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762000" y="4505325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1524000" y="447675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成功失败、失败原因、重试次数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762000" y="4752975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链路</a:t>
            </a:r>
            <a:endParaRPr/>
          </a:p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1524000" y="472440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这一条影响了下游哪些对象的哪些字段</a:t>
            </a:r>
            <a:endParaRPr/>
          </a:p>
        </p:txBody>
      </p:sp>
      <p:sp>
        <p:nvSpPr>
          <p:cNvPr id="1043" name=""/>
          <p:cNvSpPr/>
          <p:nvPr/>
        </p:nvSpPr>
        <p:spPr>
          <a:xfrm rot="0" flipH="0" flipV="0">
            <a:off x="762000" y="5029200"/>
            <a:ext cx="5734050" cy="438150"/>
          </a:xfrm>
          <a:prstGeom prst="roundRect">
            <a:avLst>
              <a:gd name="adj" fmla="val 869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895350" y="5143500"/>
            <a:ext cx="5467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这些留痕合起来，就是组织的决策日志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它能回答「当时谁基于什么信息做了什么决定」</a:t>
            </a:r>
            <a:endParaRPr/>
          </a:p>
        </p:txBody>
      </p:sp>
      <p:sp>
        <p:nvSpPr>
          <p:cNvPr id="1045" name=""/>
          <p:cNvSpPr/>
          <p:nvPr/>
        </p:nvSpPr>
        <p:spPr>
          <a:xfrm rot="0" flipH="0" flipV="0">
            <a:off x="6743700" y="3267075"/>
            <a:ext cx="4838700" cy="2333625"/>
          </a:xfrm>
          <a:prstGeom prst="roundRect">
            <a:avLst>
              <a:gd name="adj" fmla="val 1633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6915150" y="3800475"/>
            <a:ext cx="4495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这件事为什么值钱</a:t>
            </a:r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6915150" y="41910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7058025" y="4124325"/>
            <a:ext cx="43529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复盘有依据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　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不再靠回忆对齐口径</a:t>
            </a:r>
            <a:endParaRPr/>
          </a:p>
        </p:txBody>
      </p:sp>
      <p:sp>
        <p:nvSpPr>
          <p:cNvPr id="1049" name=""/>
          <p:cNvSpPr/>
          <p:nvPr/>
        </p:nvSpPr>
        <p:spPr>
          <a:xfrm rot="0" flipH="0" flipV="0">
            <a:off x="6915150" y="45434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7058025" y="4476750"/>
            <a:ext cx="43529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异常可追责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　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出了错能定位到具体动作</a:t>
            </a:r>
            <a:endParaRPr/>
          </a:p>
        </p:txBody>
      </p:sp>
      <p:sp>
        <p:nvSpPr>
          <p:cNvPr id="1051" name=""/>
          <p:cNvSpPr/>
          <p:nvPr/>
        </p:nvSpPr>
        <p:spPr>
          <a:xfrm rot="0" flipH="0" flipV="0">
            <a:off x="6915150" y="48958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7058025" y="4829175"/>
            <a:ext cx="43529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模型可训练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　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历史决策是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最稀缺的语料</a:t>
            </a:r>
            <a:endParaRPr/>
          </a:p>
        </p:txBody>
      </p:sp>
      <p:sp>
        <p:nvSpPr>
          <p:cNvPr id="105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5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26 / 30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05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之模板：&lt;span style={{ color: '#FA4F24' }}&gt;动作与权限矩阵&lt;/span&gt;，加上六个必须避开的反模式&#10;        &lt;/Text&gt;&#10;        &lt;Text style={{ fontSize: 20, color: '#8A8F99', marginTop: 8 }}&gt;&#10; 矩阵填不满，说明权限还在某个人的脑子里，模型就还不该开放写入&#10;        &lt;/Text&gt;&#10;    &lt;/Box&gt;&#10;    &lt;Box style={{ height: 1, background: '#E8E8E8' }} /&gt;&#10;&#10;    &lt;Box style={{ paddingTop: 20, paddingBottom: 12, height: 479, flexDirection: 'row', gap: 18 }}&gt;&#10;      {/* 左 矩阵 */}&#10;        &lt;Box style={{ flex: 1.35, flexDirection: 'column', gap: 8 }}&gt;&#10; &lt;Text style={{ fontSize: 20, fontWeight: 'bold', color: '#0F1423' }}&gt;动作 × 角色 权限矩阵&lt;/Text&gt;&#10;     &lt;Box style={{ flexDirection: 'row', gap: 4, height: 28 }}&gt;&#10;    &lt;Box style={{ flex: 1.5, background: '#0F1423', alignItems: 'center', justifyContent: 'center' }}&gt;&#10;          &lt;Text style={{ fontSize: 12, color: '#FFFFFF' }}&gt;动作类型&lt;/Text&gt;&#10;            &lt;/Box&gt;&#10;            {['销售', '销售经理', '生产', '财务', '客服'].map((r, i) =&gt; (&#10;        &lt;Box key={i} style={{ flex: 1, background: '#0F1423', alignItems: 'center', justifyContent: 'center' }}&gt;&#10;   &lt;Text style={{ fontSize: 12, color: '#FFFFFF' }}&gt;{r}&lt;/Text&gt;&#10;       &lt;/Box&gt;&#10;     ))}&#10; &lt;/Box&gt;&#10;   {[&#10;   { a: '确认订单', v: ['●', '●', '○', '○', '○'] },&#10;      { a: '变更交期', v: ['○', '●', '●', '○', '○'] },&#10;        { a: '审批折扣', v: ['○', '●', '○', '●', '○'] },&#10;      { a: '关闭订单', v: ['○', '●', '○', '○', '○'] },&#10;        { a: '发起验收', v: ['○', '○', '●', '○', '●'] },&#10;        { a: '查看金额', v: ['●', '●', '○', '●', '○'] },&#10;        ].map((it, i) =&gt; (&#10;      &lt;Box key={i} style={{ flex: 1, flexDirection: 'row', gap: 4 }}&gt;&#10;  &lt;Box style={{ flex: 1.5, background: '#F7F7F8', padding: '0 10px', justifyContent: 'center' }}&gt;&#10;   &lt;Text style={{ fontSize: 13, color: '#0F1423' }}&gt;{it.a}&lt;/Text&gt;&#10;          &lt;/Box&gt;&#10;            {it.v.map((s, k) =&gt; (&#10;   &lt;Box key={k} style={{ flex: 1, background: '#F7F7F8', alignItems: 'center', justifyContent: 'center' }}&gt;&#10;     &lt;Text style={{ fontSize: 14, fontWeight: 'bold', color: s === '●' ? '#FA4F24' : '#C9CCD4' }}&gt;{s}&lt;/Text&gt;&#10;       &lt;/Box&gt;&#10;        ))}&#10; &lt;/Box&gt;&#10;   ))}&#10;       &lt;Box style={{ height: 44, background: '#0F1423', borderRadius: 4, padding: '0 14px', flexDirection: 'row', alignItems: 'center', gap: 14 }}&gt;&#10;          &lt;Text style={{ fontSize: 12, color: 'rgba(255,255,255,0.9)' }}&gt;● 可执行并留痕&lt;/Text&gt;&#10;            &lt;Text style={{ fontSize: 12, color: 'rgba(255,255,255,0.9)' }}&gt;○ 可查看不可执行&lt;/Text&gt;&#10;            &lt;Text style={{ fontSize: 12, color: 'rgba(255,255,255,0.9)' }}&gt;空白 = 不可见，直接在模型层拒绝&lt;/Text&gt;&#10;  &lt;/Box&gt;&#10;        &lt;/Box&gt;&#10;&#10;     {/* 右 六坑 */}&#10;      &lt;Box style={{ flex: 1, flexDirection: 'column', gap: 7 }}&gt;&#10;       &lt;Text style={{ fontSize: 20, fontWeight: 'bold', color: '#0F1423' }}&gt;六个必须避开的反模式&lt;/Text&gt;&#10;    {[&#10;   { t: '矩阵里没有空白格', d: '说明所有人都能改，那矩阵等于没做' },&#10;     { t: '权限只在界面上', d: '换个入口或走 SDK 就绕过去了' },&#10;     { t: '动作里塞了业务规则', d: '规则写在代码里，改一次要发一次版' },&#10;     { t: '写回失败无补偿', d: '外部系统没更新，本体状态却已变' },&#10;    { t: 'AI 直接写外部系统', d: '绕过动作，就绕过了全部校验与留痕' },&#10;        { t: '留痕不留上下文', d: '只记「改了」，不记「当时看到什么才这么改」' },&#10;      ].map((it, i) =&gt; (&#10;    &lt;Box key={i} style={{ flex: 1, background: '#FFF3EE', borderRadius: 4, padding: '0 14px', flexDirection: 'column', justifyContent: 'center', borderLeft: '4px solid #FBA15C' }}&gt;&#10;       &lt;Text style={{ fontSize: 13, fontWeight: 'bold', color: '#C43A17' }}&gt;{it.t}&lt;/Text&gt;&#10;      &lt;Text style={{ fontSize: 12, color: '#3A2000', lineHeight: 1.35, marginTop: 2 }}&gt;{it.d}&lt;/Text&gt;&#10;   &lt;/Box&gt;&#10;  ))}&#10;    &lt;Box style={{ height: 40, background: '#F7F7F8', borderRadius: 4, padding: '0 14px', flexDirection: 'row', alignItems: 'center' }}&gt;&#10;          &lt;Text style={{ fontSize: 12, color: '#8A8F99', flex: 1, lineHeight: 1.35 }}&gt;&#10;     这六条里有任意一条成立，本体就还只是「一个语义层 + 一个系统集成」&#10;          &lt;/Text&gt;&#10;     &lt;/Box&gt;&#10;   &lt;/Box&gt;&#10;    &lt;/Box&gt;&#10;&#10;    &lt;Box style={{ height: 58, flexDirection: 'row', alignItems: 'center', borderTop: '1px solid #E8E8E8' }}&gt;&#10;   &lt;Box style={{ width: 10, height: 10, background: '#FA4F24' }} /&gt;&#10;        &lt;Text style={{ fontSize: 13, color: '#8A8F99', marginLeft: 12 }}&gt;硕磐机密 · Ontology本体咨询方法论&lt;/Text&gt;&#10;   &lt;Text style={{ fontSize: 13, color: '#8A8F99', marginLeft: 'auto' }}&gt;27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动作与权限矩阵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，加上六个必须避开的反模式</a:t>
            </a:r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矩阵填不满，说明权限还在某个人的脑子里，模型就还不该开放写入</a:t>
            </a:r>
            <a:endParaRPr/>
          </a:p>
        </p:txBody>
      </p:sp>
      <p:sp>
        <p:nvSpPr>
          <p:cNvPr id="106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6200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动作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角色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权限矩阵</a:t>
            </a:r>
            <a:endParaRPr/>
          </a:p>
        </p:txBody>
      </p:sp>
      <p:sp>
        <p:nvSpPr>
          <p:cNvPr id="1063" name=""/>
          <p:cNvSpPr/>
          <p:nvPr/>
        </p:nvSpPr>
        <p:spPr>
          <a:xfrm rot="0" flipH="0" flipV="0">
            <a:off x="609600" y="1647825"/>
            <a:ext cx="1390650" cy="2667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1076325" y="17145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动作类型</a:t>
            </a:r>
            <a:endParaRPr/>
          </a:p>
        </p:txBody>
      </p:sp>
      <p:sp>
        <p:nvSpPr>
          <p:cNvPr id="1065" name=""/>
          <p:cNvSpPr/>
          <p:nvPr/>
        </p:nvSpPr>
        <p:spPr>
          <a:xfrm rot="0" flipH="0" flipV="0">
            <a:off x="2038350" y="1647825"/>
            <a:ext cx="923925" cy="2667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2390775" y="17145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销售</a:t>
            </a:r>
            <a:endParaRPr/>
          </a:p>
        </p:txBody>
      </p:sp>
      <p:sp>
        <p:nvSpPr>
          <p:cNvPr id="1067" name=""/>
          <p:cNvSpPr/>
          <p:nvPr/>
        </p:nvSpPr>
        <p:spPr>
          <a:xfrm rot="0" flipH="0" flipV="0">
            <a:off x="3000375" y="1647825"/>
            <a:ext cx="923925" cy="2667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3238500" y="17145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销售经理</a:t>
            </a:r>
            <a:endParaRPr/>
          </a:p>
        </p:txBody>
      </p:sp>
      <p:sp>
        <p:nvSpPr>
          <p:cNvPr id="1069" name=""/>
          <p:cNvSpPr/>
          <p:nvPr/>
        </p:nvSpPr>
        <p:spPr>
          <a:xfrm rot="0" flipH="0" flipV="0">
            <a:off x="3962400" y="1647825"/>
            <a:ext cx="923925" cy="2667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4314825" y="17145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生产</a:t>
            </a:r>
            <a:endParaRPr/>
          </a:p>
        </p:txBody>
      </p:sp>
      <p:sp>
        <p:nvSpPr>
          <p:cNvPr id="1071" name=""/>
          <p:cNvSpPr/>
          <p:nvPr/>
        </p:nvSpPr>
        <p:spPr>
          <a:xfrm rot="0" flipH="0" flipV="0">
            <a:off x="4924425" y="1647825"/>
            <a:ext cx="923925" cy="2667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5276850" y="17145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财务</a:t>
            </a:r>
            <a:endParaRPr/>
          </a:p>
        </p:txBody>
      </p:sp>
      <p:sp>
        <p:nvSpPr>
          <p:cNvPr id="1073" name=""/>
          <p:cNvSpPr/>
          <p:nvPr/>
        </p:nvSpPr>
        <p:spPr>
          <a:xfrm rot="0" flipH="0" flipV="0">
            <a:off x="5886450" y="1647825"/>
            <a:ext cx="923925" cy="2667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6238875" y="1714500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客服</a:t>
            </a:r>
            <a:endParaRPr/>
          </a:p>
        </p:txBody>
      </p:sp>
      <p:sp>
        <p:nvSpPr>
          <p:cNvPr id="1075" name=""/>
          <p:cNvSpPr/>
          <p:nvPr/>
        </p:nvSpPr>
        <p:spPr>
          <a:xfrm rot="0" flipH="0" flipV="0">
            <a:off x="609600" y="1990725"/>
            <a:ext cx="1390650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704850" y="2143125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确认订单</a:t>
            </a:r>
            <a:endParaRPr/>
          </a:p>
        </p:txBody>
      </p:sp>
      <p:sp>
        <p:nvSpPr>
          <p:cNvPr id="1077" name=""/>
          <p:cNvSpPr/>
          <p:nvPr/>
        </p:nvSpPr>
        <p:spPr>
          <a:xfrm rot="0" flipH="0" flipV="0">
            <a:off x="2038350" y="19907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2457450" y="2143125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079" name=""/>
          <p:cNvSpPr/>
          <p:nvPr/>
        </p:nvSpPr>
        <p:spPr>
          <a:xfrm rot="0" flipH="0" flipV="0">
            <a:off x="3000375" y="19907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3419475" y="2143125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081" name=""/>
          <p:cNvSpPr/>
          <p:nvPr/>
        </p:nvSpPr>
        <p:spPr>
          <a:xfrm rot="0" flipH="0" flipV="0">
            <a:off x="3962400" y="19907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4381500" y="21431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083" name=""/>
          <p:cNvSpPr/>
          <p:nvPr/>
        </p:nvSpPr>
        <p:spPr>
          <a:xfrm rot="0" flipH="0" flipV="0">
            <a:off x="4924425" y="19907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5343525" y="21431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085" name=""/>
          <p:cNvSpPr/>
          <p:nvPr/>
        </p:nvSpPr>
        <p:spPr>
          <a:xfrm rot="0" flipH="0" flipV="0">
            <a:off x="5886450" y="19907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6305550" y="21431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087" name=""/>
          <p:cNvSpPr/>
          <p:nvPr/>
        </p:nvSpPr>
        <p:spPr>
          <a:xfrm rot="0" flipH="0" flipV="0">
            <a:off x="609600" y="2524125"/>
            <a:ext cx="1390650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704850" y="2676525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变更交期</a:t>
            </a:r>
            <a:endParaRPr/>
          </a:p>
        </p:txBody>
      </p:sp>
      <p:sp>
        <p:nvSpPr>
          <p:cNvPr id="1089" name=""/>
          <p:cNvSpPr/>
          <p:nvPr/>
        </p:nvSpPr>
        <p:spPr>
          <a:xfrm rot="0" flipH="0" flipV="0">
            <a:off x="2038350" y="25241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2457450" y="26765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091" name=""/>
          <p:cNvSpPr/>
          <p:nvPr/>
        </p:nvSpPr>
        <p:spPr>
          <a:xfrm rot="0" flipH="0" flipV="0">
            <a:off x="3000375" y="25241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3419475" y="2676525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093" name=""/>
          <p:cNvSpPr/>
          <p:nvPr/>
        </p:nvSpPr>
        <p:spPr>
          <a:xfrm rot="0" flipH="0" flipV="0">
            <a:off x="3962400" y="25241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4381500" y="2676525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095" name=""/>
          <p:cNvSpPr/>
          <p:nvPr/>
        </p:nvSpPr>
        <p:spPr>
          <a:xfrm rot="0" flipH="0" flipV="0">
            <a:off x="4924425" y="25241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5343525" y="26765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097" name=""/>
          <p:cNvSpPr/>
          <p:nvPr/>
        </p:nvSpPr>
        <p:spPr>
          <a:xfrm rot="0" flipH="0" flipV="0">
            <a:off x="5886450" y="25241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6305550" y="26765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099" name=""/>
          <p:cNvSpPr/>
          <p:nvPr/>
        </p:nvSpPr>
        <p:spPr>
          <a:xfrm rot="0" flipH="0" flipV="0">
            <a:off x="609600" y="3057525"/>
            <a:ext cx="1390650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704850" y="3209925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审批折扣</a:t>
            </a:r>
            <a:endParaRPr/>
          </a:p>
        </p:txBody>
      </p:sp>
      <p:sp>
        <p:nvSpPr>
          <p:cNvPr id="1101" name=""/>
          <p:cNvSpPr/>
          <p:nvPr/>
        </p:nvSpPr>
        <p:spPr>
          <a:xfrm rot="0" flipH="0" flipV="0">
            <a:off x="2038350" y="30575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2457450" y="32099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03" name=""/>
          <p:cNvSpPr/>
          <p:nvPr/>
        </p:nvSpPr>
        <p:spPr>
          <a:xfrm rot="0" flipH="0" flipV="0">
            <a:off x="3000375" y="30575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3419475" y="3209925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105" name=""/>
          <p:cNvSpPr/>
          <p:nvPr/>
        </p:nvSpPr>
        <p:spPr>
          <a:xfrm rot="0" flipH="0" flipV="0">
            <a:off x="3962400" y="30575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4381500" y="32099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07" name=""/>
          <p:cNvSpPr/>
          <p:nvPr/>
        </p:nvSpPr>
        <p:spPr>
          <a:xfrm rot="0" flipH="0" flipV="0">
            <a:off x="4924425" y="30575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5343525" y="3209925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109" name=""/>
          <p:cNvSpPr/>
          <p:nvPr/>
        </p:nvSpPr>
        <p:spPr>
          <a:xfrm rot="0" flipH="0" flipV="0">
            <a:off x="5886450" y="3057525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6305550" y="32099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11" name=""/>
          <p:cNvSpPr/>
          <p:nvPr/>
        </p:nvSpPr>
        <p:spPr>
          <a:xfrm rot="0" flipH="0" flipV="0">
            <a:off x="609600" y="3590925"/>
            <a:ext cx="1390650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704850" y="3743325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关闭订单</a:t>
            </a:r>
            <a:endParaRPr/>
          </a:p>
        </p:txBody>
      </p:sp>
      <p:sp>
        <p:nvSpPr>
          <p:cNvPr id="1113" name=""/>
          <p:cNvSpPr/>
          <p:nvPr/>
        </p:nvSpPr>
        <p:spPr>
          <a:xfrm rot="0" flipH="0" flipV="0">
            <a:off x="2038350" y="3590925"/>
            <a:ext cx="92392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2457450" y="37338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15" name=""/>
          <p:cNvSpPr/>
          <p:nvPr/>
        </p:nvSpPr>
        <p:spPr>
          <a:xfrm rot="0" flipH="0" flipV="0">
            <a:off x="3000375" y="3590925"/>
            <a:ext cx="92392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3419475" y="3733800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117" name=""/>
          <p:cNvSpPr/>
          <p:nvPr/>
        </p:nvSpPr>
        <p:spPr>
          <a:xfrm rot="0" flipH="0" flipV="0">
            <a:off x="3962400" y="3590925"/>
            <a:ext cx="92392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4381500" y="37338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19" name=""/>
          <p:cNvSpPr/>
          <p:nvPr/>
        </p:nvSpPr>
        <p:spPr>
          <a:xfrm rot="0" flipH="0" flipV="0">
            <a:off x="4924425" y="3590925"/>
            <a:ext cx="92392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5343525" y="37338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21" name=""/>
          <p:cNvSpPr/>
          <p:nvPr/>
        </p:nvSpPr>
        <p:spPr>
          <a:xfrm rot="0" flipH="0" flipV="0">
            <a:off x="5886450" y="3590925"/>
            <a:ext cx="923925" cy="4476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6305550" y="37338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23" name=""/>
          <p:cNvSpPr/>
          <p:nvPr/>
        </p:nvSpPr>
        <p:spPr>
          <a:xfrm rot="0" flipH="0" flipV="0">
            <a:off x="609600" y="4114800"/>
            <a:ext cx="1390650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704850" y="4267200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发起验收</a:t>
            </a:r>
            <a:endParaRPr/>
          </a:p>
        </p:txBody>
      </p:sp>
      <p:sp>
        <p:nvSpPr>
          <p:cNvPr id="1125" name=""/>
          <p:cNvSpPr/>
          <p:nvPr/>
        </p:nvSpPr>
        <p:spPr>
          <a:xfrm rot="0" flipH="0" flipV="0">
            <a:off x="2038350" y="4114800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2457450" y="42672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27" name=""/>
          <p:cNvSpPr/>
          <p:nvPr/>
        </p:nvSpPr>
        <p:spPr>
          <a:xfrm rot="0" flipH="0" flipV="0">
            <a:off x="3000375" y="4114800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3419475" y="42672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29" name=""/>
          <p:cNvSpPr/>
          <p:nvPr/>
        </p:nvSpPr>
        <p:spPr>
          <a:xfrm rot="0" flipH="0" flipV="0">
            <a:off x="3962400" y="4114800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4381500" y="4267200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131" name=""/>
          <p:cNvSpPr/>
          <p:nvPr/>
        </p:nvSpPr>
        <p:spPr>
          <a:xfrm rot="0" flipH="0" flipV="0">
            <a:off x="4924425" y="4114800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5343525" y="42672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33" name=""/>
          <p:cNvSpPr/>
          <p:nvPr/>
        </p:nvSpPr>
        <p:spPr>
          <a:xfrm rot="0" flipH="0" flipV="0">
            <a:off x="5886450" y="4114800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6305550" y="4267200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135" name=""/>
          <p:cNvSpPr/>
          <p:nvPr/>
        </p:nvSpPr>
        <p:spPr>
          <a:xfrm rot="0" flipH="0" flipV="0">
            <a:off x="609600" y="4648200"/>
            <a:ext cx="1390650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704850" y="4800600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查看金额</a:t>
            </a:r>
            <a:endParaRPr/>
          </a:p>
        </p:txBody>
      </p:sp>
      <p:sp>
        <p:nvSpPr>
          <p:cNvPr id="1137" name=""/>
          <p:cNvSpPr/>
          <p:nvPr/>
        </p:nvSpPr>
        <p:spPr>
          <a:xfrm rot="0" flipH="0" flipV="0">
            <a:off x="2038350" y="4648200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2457450" y="4800600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139" name=""/>
          <p:cNvSpPr/>
          <p:nvPr/>
        </p:nvSpPr>
        <p:spPr>
          <a:xfrm rot="0" flipH="0" flipV="0">
            <a:off x="3000375" y="4648200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3419475" y="4800600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141" name=""/>
          <p:cNvSpPr/>
          <p:nvPr/>
        </p:nvSpPr>
        <p:spPr>
          <a:xfrm rot="0" flipH="0" flipV="0">
            <a:off x="3962400" y="4648200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4381500" y="48006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43" name=""/>
          <p:cNvSpPr/>
          <p:nvPr/>
        </p:nvSpPr>
        <p:spPr>
          <a:xfrm rot="0" flipH="0" flipV="0">
            <a:off x="4924425" y="4648200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5343525" y="4800600"/>
            <a:ext cx="9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FA4F24"/>
                </a:solidFill>
                <a:latin typeface="Microsoft YaHei"/>
                <a:ea typeface="Microsoft YaHei"/>
              </a:rPr>
              <a:t>●</a:t>
            </a:r>
            <a:endParaRPr/>
          </a:p>
        </p:txBody>
      </p:sp>
      <p:sp>
        <p:nvSpPr>
          <p:cNvPr id="1145" name=""/>
          <p:cNvSpPr/>
          <p:nvPr/>
        </p:nvSpPr>
        <p:spPr>
          <a:xfrm rot="0" flipH="0" flipV="0">
            <a:off x="5886450" y="4648200"/>
            <a:ext cx="923925" cy="4572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6305550" y="48006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9CCD4"/>
                </a:solidFill>
                <a:latin typeface="Microsoft YaHei"/>
                <a:ea typeface="Microsoft YaHei"/>
              </a:rPr>
              <a:t>○</a:t>
            </a:r>
            <a:endParaRPr/>
          </a:p>
        </p:txBody>
      </p:sp>
      <p:sp>
        <p:nvSpPr>
          <p:cNvPr id="1147" name=""/>
          <p:cNvSpPr/>
          <p:nvPr/>
        </p:nvSpPr>
        <p:spPr>
          <a:xfrm rot="0" flipH="0" flipV="0">
            <a:off x="609600" y="5181600"/>
            <a:ext cx="6200775" cy="419100"/>
          </a:xfrm>
          <a:prstGeom prst="roundRect">
            <a:avLst>
              <a:gd name="adj" fmla="val 909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742950" y="53244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●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可执行并留痕</a:t>
            </a:r>
            <a:endParaRPr/>
          </a:p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1676400" y="5324475"/>
            <a:ext cx="904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○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可查看不可执行</a:t>
            </a:r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2714625" y="5324475"/>
            <a:ext cx="1762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空白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不可见，直接在模型层拒绝</a:t>
            </a:r>
            <a:endParaRPr/>
          </a:p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6981825" y="1343025"/>
            <a:ext cx="4600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六个必须避开的反模式</a:t>
            </a:r>
            <a:endParaRPr/>
          </a:p>
        </p:txBody>
      </p:sp>
      <p:sp>
        <p:nvSpPr>
          <p:cNvPr id="1152" name=""/>
          <p:cNvSpPr/>
          <p:nvPr/>
        </p:nvSpPr>
        <p:spPr>
          <a:xfrm rot="0" flipH="0" flipV="0">
            <a:off x="7019925" y="1638300"/>
            <a:ext cx="4600575" cy="5334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53" name=""/>
          <p:cNvSpPr/>
          <p:nvPr/>
        </p:nvSpPr>
        <p:spPr>
          <a:xfrm rot="0" flipH="0" flipV="0">
            <a:off x="7019925" y="1638300"/>
            <a:ext cx="4600575" cy="533400"/>
          </a:xfrm>
          <a:custGeom>
            <a:pathLst>
              <a:path w="483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7153275" y="1724025"/>
            <a:ext cx="429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矩阵里没有空白格</a:t>
            </a:r>
            <a:endParaRPr/>
          </a:p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7153275" y="1895475"/>
            <a:ext cx="42957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说明所有人都能改，那矩阵等于没做</a:t>
            </a:r>
            <a:endParaRPr/>
          </a:p>
        </p:txBody>
      </p:sp>
      <p:sp>
        <p:nvSpPr>
          <p:cNvPr id="1156" name=""/>
          <p:cNvSpPr/>
          <p:nvPr/>
        </p:nvSpPr>
        <p:spPr>
          <a:xfrm rot="0" flipH="0" flipV="0">
            <a:off x="7019925" y="2238375"/>
            <a:ext cx="4600575" cy="523875"/>
          </a:xfrm>
          <a:prstGeom prst="roundRect">
            <a:avLst>
              <a:gd name="adj" fmla="val 727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57" name=""/>
          <p:cNvSpPr/>
          <p:nvPr/>
        </p:nvSpPr>
        <p:spPr>
          <a:xfrm rot="0" flipH="0" flipV="0">
            <a:off x="7019925" y="2238375"/>
            <a:ext cx="4600575" cy="523875"/>
          </a:xfrm>
          <a:custGeom>
            <a:pathLst>
              <a:path w="483" h="55">
                <a:moveTo>
                  <a:pt x="4" y="55"/>
                </a:moveTo>
                <a:cubicBezTo>
                  <a:pt x="2" y="55"/>
                  <a:pt x="0" y="53"/>
                  <a:pt x="0" y="5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7153275" y="2324100"/>
            <a:ext cx="429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权限只在界面上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7153275" y="2495550"/>
            <a:ext cx="42957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换个入口或走</a:t>
            </a:r>
            <a:r>
              <a:rPr lang="en-US" sz="900">
                <a:solidFill>
                  <a:srgbClr val="3A2000"/>
                </a:solidFill>
                <a:latin typeface="Microsoft YaHei"/>
                <a:ea typeface="Microsoft YaHei"/>
              </a:rPr>
              <a:t xml:space="preserve"> SDK </a:t>
            </a: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就绕过去了</a:t>
            </a:r>
            <a:endParaRPr/>
          </a:p>
        </p:txBody>
      </p:sp>
      <p:sp>
        <p:nvSpPr>
          <p:cNvPr id="1160" name=""/>
          <p:cNvSpPr/>
          <p:nvPr/>
        </p:nvSpPr>
        <p:spPr>
          <a:xfrm rot="0" flipH="0" flipV="0">
            <a:off x="7019925" y="2828925"/>
            <a:ext cx="4600575" cy="5334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61" name=""/>
          <p:cNvSpPr/>
          <p:nvPr/>
        </p:nvSpPr>
        <p:spPr>
          <a:xfrm rot="0" flipH="0" flipV="0">
            <a:off x="7019925" y="2828925"/>
            <a:ext cx="4600575" cy="533400"/>
          </a:xfrm>
          <a:custGeom>
            <a:pathLst>
              <a:path w="483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7153275" y="2914650"/>
            <a:ext cx="429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动作里塞了业务规则</a:t>
            </a:r>
            <a:endParaRPr/>
          </a:p>
        </p:txBody>
      </p:sp>
      <p:sp>
        <p:nvSpPr>
          <p:cNvPr id="1163" name="" descr="{&quot;isTemplate&quot;:true,&quot;type&quot;:&quot;text&quot;}"/>
          <p:cNvSpPr txBox="1"/>
          <p:nvPr/>
        </p:nvSpPr>
        <p:spPr>
          <a:xfrm rot="0" flipH="0" flipV="0">
            <a:off x="7153275" y="3086100"/>
            <a:ext cx="42957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规则写在代码里，改一次要发一次版</a:t>
            </a:r>
            <a:endParaRPr/>
          </a:p>
        </p:txBody>
      </p:sp>
      <p:sp>
        <p:nvSpPr>
          <p:cNvPr id="1164" name=""/>
          <p:cNvSpPr/>
          <p:nvPr/>
        </p:nvSpPr>
        <p:spPr>
          <a:xfrm rot="0" flipH="0" flipV="0">
            <a:off x="7019925" y="3429000"/>
            <a:ext cx="4600575" cy="5334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65" name=""/>
          <p:cNvSpPr/>
          <p:nvPr/>
        </p:nvSpPr>
        <p:spPr>
          <a:xfrm rot="0" flipH="0" flipV="0">
            <a:off x="7019925" y="3429000"/>
            <a:ext cx="4600575" cy="533400"/>
          </a:xfrm>
          <a:custGeom>
            <a:pathLst>
              <a:path w="483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7153275" y="3514725"/>
            <a:ext cx="429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写回失败无补偿</a:t>
            </a:r>
            <a:endParaRPr/>
          </a:p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7153275" y="3686175"/>
            <a:ext cx="42957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外部系统没更新，本体状态却已变</a:t>
            </a:r>
            <a:endParaRPr/>
          </a:p>
        </p:txBody>
      </p:sp>
      <p:sp>
        <p:nvSpPr>
          <p:cNvPr id="1168" name=""/>
          <p:cNvSpPr/>
          <p:nvPr/>
        </p:nvSpPr>
        <p:spPr>
          <a:xfrm rot="0" flipH="0" flipV="0">
            <a:off x="7019925" y="4029075"/>
            <a:ext cx="4600575" cy="523875"/>
          </a:xfrm>
          <a:prstGeom prst="roundRect">
            <a:avLst>
              <a:gd name="adj" fmla="val 727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69" name=""/>
          <p:cNvSpPr/>
          <p:nvPr/>
        </p:nvSpPr>
        <p:spPr>
          <a:xfrm rot="0" flipH="0" flipV="0">
            <a:off x="7019925" y="4029075"/>
            <a:ext cx="4600575" cy="523875"/>
          </a:xfrm>
          <a:custGeom>
            <a:pathLst>
              <a:path w="483" h="55">
                <a:moveTo>
                  <a:pt x="4" y="55"/>
                </a:moveTo>
                <a:cubicBezTo>
                  <a:pt x="2" y="55"/>
                  <a:pt x="0" y="53"/>
                  <a:pt x="0" y="5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5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7153275" y="4114800"/>
            <a:ext cx="429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直接写外部系统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7153275" y="4286250"/>
            <a:ext cx="42957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绕过动作，就绕过了全部校验与留痕</a:t>
            </a:r>
            <a:endParaRPr/>
          </a:p>
        </p:txBody>
      </p:sp>
      <p:sp>
        <p:nvSpPr>
          <p:cNvPr id="1172" name=""/>
          <p:cNvSpPr/>
          <p:nvPr/>
        </p:nvSpPr>
        <p:spPr>
          <a:xfrm rot="0" flipH="0" flipV="0">
            <a:off x="7019925" y="4619625"/>
            <a:ext cx="4600575" cy="533400"/>
          </a:xfrm>
          <a:prstGeom prst="roundRect">
            <a:avLst>
              <a:gd name="adj" fmla="val 714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73" name=""/>
          <p:cNvSpPr/>
          <p:nvPr/>
        </p:nvSpPr>
        <p:spPr>
          <a:xfrm rot="0" flipH="0" flipV="0">
            <a:off x="7019925" y="4619625"/>
            <a:ext cx="4600575" cy="533400"/>
          </a:xfrm>
          <a:custGeom>
            <a:pathLst>
              <a:path w="483" h="56">
                <a:moveTo>
                  <a:pt x="4" y="56"/>
                </a:moveTo>
                <a:cubicBezTo>
                  <a:pt x="2" y="56"/>
                  <a:pt x="0" y="54"/>
                  <a:pt x="0" y="5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7153275" y="4705350"/>
            <a:ext cx="429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留痕不留上下文</a:t>
            </a:r>
            <a:endParaRPr/>
          </a:p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7153275" y="4876800"/>
            <a:ext cx="42957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只记「改了」，不记「当时看到什么才这么改」</a:t>
            </a:r>
            <a:endParaRPr/>
          </a:p>
        </p:txBody>
      </p:sp>
      <p:sp>
        <p:nvSpPr>
          <p:cNvPr id="1176" name=""/>
          <p:cNvSpPr/>
          <p:nvPr/>
        </p:nvSpPr>
        <p:spPr>
          <a:xfrm rot="0" flipH="0" flipV="0">
            <a:off x="6981825" y="5219700"/>
            <a:ext cx="4600575" cy="381000"/>
          </a:xfrm>
          <a:prstGeom prst="roundRect">
            <a:avLst>
              <a:gd name="adj" fmla="val 10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7115175" y="5314950"/>
            <a:ext cx="43338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这六条里有任意一条成立，本体就还只是「一个语义层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一个系统集成」</a:t>
            </a:r>
            <a:endParaRPr/>
          </a:p>
        </p:txBody>
      </p:sp>
      <p:sp>
        <p:nvSpPr>
          <p:cNvPr id="117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7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8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27 / 30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182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    &lt;Box style={{ position: 'absolute', right: 70, top: 110 }}&gt;&#10;        &lt;Text style={{ fontSize: 300, fontWeight: 'bold', color: 'rgba(255,255,255,0.08)', lineHeight: 1.0 }}&gt;05&lt;/Text&gt;&#10;    &lt;/Box&gt;&#10;    &lt;Box style={{ position: 'absolute', left: 88, top: 232, width: 660, flexDirection: 'column' }}&gt;&#10;        &lt;Text style={{ fontSize: 15, color: 'rgba(255,255,255,0.5)', letterSpacing: 3 }}&gt;PART 05&lt;/Text&gt;&#10;        &lt;Box style={{ width: 72, height: 5, background: '#FA4F24', marginTop: 22 }} /&gt;&#10;        &lt;Text style={{ fontSize: 58, fontWeight: 'bold', color: '#FFFFFF', marginTop: 28, lineHeight: 1.15 }}&gt;应用、AI 与演进&lt;/Text&gt;&#10;        &lt;Text style={{ fontSize: 17, color: 'rgba(255,255,255,0.62)', letterSpacing: 2, marginTop: 20 }}&gt;APPLICATION · AI · EVOLUTION&lt;/Text&gt;&#10;        &lt;Text style={{ fontSize: 19, color: 'rgba(255,255,255,0.85)', marginTop: 26, lineHeight: 1.6 }}&gt;谁来消费、怎么集成、怎么随组织长大&lt;/Text&gt;&#10;    &lt;/Box&gt;&#10;    &lt;Box style={{ position: 'absolute', right: 88, bottom: 64, flexDirection: 'row', alignItems: 'center', gap: 12 }}&gt;&#10;        &lt;Box style={{ width: 14, height: 14, background: '#FA4F24' }} /&gt;&#10;      &lt;Text style={{ fontSize: 14, color: 'rgba(255,255,255,0.5)' }}&gt;硕磐机密 · Ontology本体咨询方法论&lt;/Text&gt;&#10;     &lt;Text style={{ fontSize: 14, color: 'rgba(255,255,255,0.5)', marginLeft: 12 }}&gt;28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85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05</a:t>
            </a:r>
            <a:endParaRPr/>
          </a:p>
        </p:txBody>
      </p:sp>
      <p:sp>
        <p:nvSpPr>
          <p:cNvPr id="1188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89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应用、</a:t>
            </a:r>
            <a:r>
              <a:rPr lang="en-US" sz="4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与演进</a:t>
            </a:r>
            <a:endParaRPr/>
          </a:p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APPLICATION · AI · EVOLUTION</a:t>
            </a:r>
            <a:endParaRPr/>
          </a:p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谁来消费、怎么集成、怎么随组织长大</a:t>
            </a:r>
            <a:endParaRPr/>
          </a:p>
        </p:txBody>
      </p:sp>
      <p:sp>
        <p:nvSpPr>
          <p:cNvPr id="1192" name=""/>
          <p:cNvSpPr/>
          <p:nvPr/>
        </p:nvSpPr>
        <p:spPr>
          <a:xfrm rot="0" flipH="0" flipV="0">
            <a:off x="82391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8486775" y="60864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28 / 30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195" name="" descr="&lt;Slide style={{ width: 1280, height: 720, background: '#FFFFFF', padding: '24px 64px 0' }}&gt;&#10;    &lt;Box style={{ height: 96, flexDirection: 'column', justifyContent: 'flex-start' }}&gt;&#10;  &lt;Text style={{ fontSize: 32, fontWeight: 'bold', color: '#0F1423' }}&gt;&#10;     之内容：&lt;span style={{ color: '#FA4F24' }}&gt;AI 怎么接进本体&lt;/span&gt;，为什么这不是给大模型套个壳&#10;        &lt;/Text&gt;&#10;   &lt;Text style={{ fontSize: 20, color: '#8A8F99', marginTop: 8 }}&gt;&#10;   本体给 AI 的不是知识，是「可以调用的动作 + 已经锁死的边界」&#10;   &lt;/Text&gt;&#10;    &lt;/Box&gt;&#10;    &lt;Box style={{ height: 1, background: '#E8E8E8' }} /&gt;&#10;&#10;    &lt;Box style={{ paddingTop: 22, paddingBottom: 12, height: 479, flexDirection: 'column', gap: 10 }}&gt;&#10;   {/* 上：AI 四条通路 */}&#10;      &lt;Box style={{ flex: 1, flexDirection: 'row', gap: 10 }}&gt;&#10;   {[&#10;        { n: '1', t: '语义取数', d: '模型只通过本体接口取结构化事实，而不是从文档里猜', c: '#0F1423' },&#10;      { n: '2', t: '实体关系检索', d: '查的是实体、关系、时间线与因果链，不是文本向量碎片', c: '#2A2F3D' },&#10;   { n: '3', t: '调用受控动作', d: 'AI 只能调用已定义并经审核的动作，影响力被圈在模型里', c: '#5A6072' },&#10;     { n: '4', t: '反向补全本体', d: 'AI 从使用痕迹里发现新对象与缺失的属性，帮助模型长大', c: '#FA4F24' },&#10;      ].map((it, i) =&gt; (&#10;          &lt;Box key={i} style={{ flex: 1, background: it.c, borderRadius: 4, padding: '14px 15px', flexDirection: 'column', justifyContent: 'center' }}&gt;&#10;      &lt;Text style={{ fontSize: 22, fontWeight: 'bold', color: 'rgba(255,255,255,0.5)' }}&gt;{it.n}&lt;/Text&gt;&#10;        &lt;Text style={{ fontSize: 16, fontWeight: 'bold', color: '#FFFFFF', marginTop: 6 }}&gt;{it.t}&lt;/Text&gt;&#10;            &lt;Text style={{ fontSize: 13, color: 'rgba(255,255,255,0.9)', lineHeight: 1.45, marginTop: 8 }}&gt;{it.d}&lt;/Text&gt;&#10;          &lt;/Box&gt;&#10;     ))}&#10;      &lt;/Box&gt;&#10;&#10;      &lt;Box style={{ flex: 1.3, flexDirection: 'row', gap: 18 }}&gt;&#10;    {/* 左：与传统 RAG 区别 */}&#10;        &lt;Box style={{ flex: 1.1, background: '#F7F7F8', borderRadius: 4, padding: '14px 16px', flexDirection: 'column' }}&gt;&#10;     &lt;Box style={{ flexDirection: 'row', alignItems: 'center', gap: 10, marginBottom: 8 }}&gt;&#10;            &lt;Text style={{ fontSize: 19, fontWeight: 'bold', color: '#0F1423' }}&gt;和「给大模型接个知识库」的差别&lt;/Text&gt;&#10;            &lt;Box style={{ flex: 1, height: 1, background: '#E8E8E8' }} /&gt;&#10;          &lt;/Box&gt;&#10;   {[&#10; { a: '向量检索', b: '按语义相似度召回文本片段，答错了无法定位', hot: false },&#10;   { a: '本体检索', b: '按实体与关系取事实，能回答「谁在什么时候把什么改成了什么」', hot: true },&#10;     { a: '答案来源', b: '文本片段指向文档，本体对象指向源系统记录，可追到原始单据', hot: true },&#10; { a: '权限', b: '检索不区分人，本体里的权限判断对模型同样生效', hot: true },&#10;      ].map((it, i) =&gt; (&#10;        &lt;Box key={i} style={{ flex: 1, background: it.hot ? '#FFF3EE' : '#FFFFFF', borderRadius: 3, padding: '0 12px', flexDirection: 'row', alignItems: 'center', gap: 12, marginTop: i === 0 ? 0 : 6 }}&gt;&#10;       &lt;Text style={{ fontSize: 12, fontWeight: 'bold', color: it.hot ? '#C43A17' : '#8A8F99', width: 74 }}&gt;{it.a}&lt;/Text&gt;&#10;     &lt;Text style={{ fontSize: 13, color: it.hot ? '#3A2000' : '#5A6072', flex: 1, lineHeight: 1.35 }}&gt;{it.b}&lt;/Text&gt;&#10;   &lt;/Box&gt;&#10;    ))}&#10;   &lt;Box style={{ height: 40, background: '#0F1423', borderRadius: 3, padding: '0 12px', flexDirection: 'row', alignItems: 'center', marginTop: 8 }}&gt;&#10;          &lt;Text style={{ fontSize: 12, color: 'rgba(255,255,255,0.92)', flex: 1, lineHeight: 1.35 }}&gt;&#10;     一句话区别：知识库回答「文档说了什么」，本体回答「现在实际是什么、能做什么」&#10;     &lt;/Text&gt;&#10;        &lt;/Box&gt;&#10;        &lt;/Box&gt;&#10;&#10;        {/* 右：接入四步 */}&#10;    &lt;Box style={{ flex: 1, background: '#0F1423', borderRadius: 4, padding: '14px 16px', flexDirection: 'column' }}&gt;&#10;      &lt;Text style={{ fontSize: 19, fontWeight: 'bold', color: '#FBA15C', marginBottom: 8 }}&gt;接入的四步顺序不能颠倒&lt;/Text&gt;&#10;   {[&#10;       { n: '①', t: '只读接入', d: '模型先只能看，不能动，跑三到六个月' },&#10;        { n: '②', t: '给建议', d: '输出方案给人类，由人决定是否执行' },&#10;   { n: '③', t: '审批执行', d: '模型调用动作，人做审批' },&#10;      { n: '④', t: '受限自主', d: '低风险动作自动执行，高风险仍需人' },&#10;  ].map((it, i) =&gt; (&#10;            &lt;Box key={i} style={{ flex: 1, flexDirection: 'row', alignItems: 'center', gap: 12, borderTop: i === 0 ? 'none' : '1px solid rgba(255,255,255,0.14)' }}&gt;&#10;        &lt;Text style={{ fontSize: 16, fontWeight: 'bold', color: '#FA4F24', width: 26 }}&gt;{it.n}&lt;/Text&gt;&#10;              &lt;Text style={{ fontSize: 14, fontWeight: 'bold', color: '#FFFFFF', width: 88 }}&gt;{it.t}&lt;/Text&gt;&#10;     &lt;Text style={{ fontSize: 12, color: 'rgba(255,255,255,0.8)', flex: 1, lineHeight: 1.35 }}&gt;{it.d}&lt;/Text&gt;&#10;       &lt;/Box&gt;&#10;     ))}&#10;        &lt;/Box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Ontology本体咨询方法论&lt;/Text&gt;&#10;        &lt;Text style={{ fontSize: 13, color: '#8A8F99', marginLeft: 'auto' }}&gt;29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怎么接进本体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，为什么这不是给大模型套个壳</a:t>
            </a:r>
            <a:endParaRPr/>
          </a:p>
        </p:txBody>
      </p:sp>
      <p:sp>
        <p:nvSpPr>
          <p:cNvPr id="119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本体给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的不是知识，是「可以调用的动作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已经锁死的边界」</a:t>
            </a:r>
            <a:endParaRPr/>
          </a:p>
        </p:txBody>
      </p:sp>
      <p:sp>
        <p:nvSpPr>
          <p:cNvPr id="119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00" name=""/>
          <p:cNvSpPr/>
          <p:nvPr/>
        </p:nvSpPr>
        <p:spPr>
          <a:xfrm rot="0" flipH="0" flipV="0">
            <a:off x="609600" y="1362075"/>
            <a:ext cx="2676525" cy="1647825"/>
          </a:xfrm>
          <a:prstGeom prst="roundRect">
            <a:avLst>
              <a:gd name="adj" fmla="val 231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752475" y="1676400"/>
            <a:ext cx="2390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752475" y="1990725"/>
            <a:ext cx="239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语义取数</a:t>
            </a:r>
            <a:endParaRPr/>
          </a:p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752475" y="2257425"/>
            <a:ext cx="23907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模型只通过本体接口取结构化事实，而不是从文档里猜</a:t>
            </a:r>
            <a:endParaRPr/>
          </a:p>
        </p:txBody>
      </p:sp>
      <p:sp>
        <p:nvSpPr>
          <p:cNvPr id="1204" name=""/>
          <p:cNvSpPr/>
          <p:nvPr/>
        </p:nvSpPr>
        <p:spPr>
          <a:xfrm rot="0" flipH="0" flipV="0">
            <a:off x="3381375" y="1362075"/>
            <a:ext cx="2667000" cy="1647825"/>
          </a:xfrm>
          <a:prstGeom prst="roundRect">
            <a:avLst>
              <a:gd name="adj" fmla="val 2312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3524250" y="1676400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06" name="" descr="{&quot;isTemplate&quot;:true,&quot;type&quot;:&quot;text&quot;}"/>
          <p:cNvSpPr txBox="1"/>
          <p:nvPr/>
        </p:nvSpPr>
        <p:spPr>
          <a:xfrm rot="0" flipH="0" flipV="0">
            <a:off x="3524250" y="1990725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实体关系检索</a:t>
            </a:r>
            <a:endParaRPr/>
          </a:p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3524250" y="2257425"/>
            <a:ext cx="23812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查的是实体、关系、时间线与因果链，不是文本向量碎片</a:t>
            </a:r>
            <a:endParaRPr/>
          </a:p>
        </p:txBody>
      </p:sp>
      <p:sp>
        <p:nvSpPr>
          <p:cNvPr id="1208" name=""/>
          <p:cNvSpPr/>
          <p:nvPr/>
        </p:nvSpPr>
        <p:spPr>
          <a:xfrm rot="0" flipH="0" flipV="0">
            <a:off x="6143625" y="1362075"/>
            <a:ext cx="2676525" cy="1647825"/>
          </a:xfrm>
          <a:prstGeom prst="roundRect">
            <a:avLst>
              <a:gd name="adj" fmla="val 2312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6286500" y="1676400"/>
            <a:ext cx="2390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10" name="" descr="{&quot;isTemplate&quot;:true,&quot;type&quot;:&quot;text&quot;}"/>
          <p:cNvSpPr txBox="1"/>
          <p:nvPr/>
        </p:nvSpPr>
        <p:spPr>
          <a:xfrm rot="0" flipH="0" flipV="0">
            <a:off x="6286500" y="1990725"/>
            <a:ext cx="239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调用受控动作</a:t>
            </a:r>
            <a:endParaRPr/>
          </a:p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6286500" y="2257425"/>
            <a:ext cx="23907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只能调用已定义并经审核的动作，影响力被圈在模型里</a:t>
            </a:r>
            <a:endParaRPr/>
          </a:p>
        </p:txBody>
      </p:sp>
      <p:sp>
        <p:nvSpPr>
          <p:cNvPr id="1212" name=""/>
          <p:cNvSpPr/>
          <p:nvPr/>
        </p:nvSpPr>
        <p:spPr>
          <a:xfrm rot="0" flipH="0" flipV="0">
            <a:off x="8915400" y="1362075"/>
            <a:ext cx="2667000" cy="1647825"/>
          </a:xfrm>
          <a:prstGeom prst="roundRect">
            <a:avLst>
              <a:gd name="adj" fmla="val 2312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9058275" y="1676400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9058275" y="1990725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反向补全本体</a:t>
            </a:r>
            <a:endParaRPr/>
          </a:p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9058275" y="2257425"/>
            <a:ext cx="23812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从使用痕迹里发现新对象与缺失的属性，帮助模型长大</a:t>
            </a:r>
            <a:endParaRPr/>
          </a:p>
        </p:txBody>
      </p:sp>
      <p:sp>
        <p:nvSpPr>
          <p:cNvPr id="1216" name=""/>
          <p:cNvSpPr/>
          <p:nvPr/>
        </p:nvSpPr>
        <p:spPr>
          <a:xfrm rot="0" flipH="0" flipV="0">
            <a:off x="609600" y="3105150"/>
            <a:ext cx="5657850" cy="2495550"/>
          </a:xfrm>
          <a:prstGeom prst="roundRect">
            <a:avLst>
              <a:gd name="adj" fmla="val 152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762000" y="3238500"/>
            <a:ext cx="2714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和「给大模型接个知识库」的差别</a:t>
            </a:r>
            <a:endParaRPr/>
          </a:p>
        </p:txBody>
      </p:sp>
      <p:sp>
        <p:nvSpPr>
          <p:cNvPr id="1218" name=""/>
          <p:cNvSpPr/>
          <p:nvPr/>
        </p:nvSpPr>
        <p:spPr>
          <a:xfrm rot="0" flipH="0" flipV="0">
            <a:off x="3571875" y="3343275"/>
            <a:ext cx="2543175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19" name=""/>
          <p:cNvSpPr/>
          <p:nvPr/>
        </p:nvSpPr>
        <p:spPr>
          <a:xfrm rot="0" flipH="0" flipV="0">
            <a:off x="762000" y="3533775"/>
            <a:ext cx="535305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876300" y="3629025"/>
            <a:ext cx="70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8A8F99"/>
                </a:solidFill>
                <a:latin typeface="Microsoft YaHei"/>
                <a:ea typeface="Microsoft YaHei"/>
              </a:rPr>
              <a:t>向量检索</a:t>
            </a:r>
            <a:endParaRPr/>
          </a:p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1695450" y="3590925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按语义相似度召回文本片段，答错了无法定位</a:t>
            </a:r>
            <a:endParaRPr/>
          </a:p>
        </p:txBody>
      </p:sp>
      <p:sp>
        <p:nvSpPr>
          <p:cNvPr id="1222" name=""/>
          <p:cNvSpPr/>
          <p:nvPr/>
        </p:nvSpPr>
        <p:spPr>
          <a:xfrm rot="0" flipH="0" flipV="0">
            <a:off x="762000" y="3914775"/>
            <a:ext cx="5353050" cy="333375"/>
          </a:xfrm>
          <a:prstGeom prst="roundRect">
            <a:avLst>
              <a:gd name="adj" fmla="val 857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23" name="" descr="{&quot;isTemplate&quot;:true,&quot;type&quot;:&quot;text&quot;}"/>
          <p:cNvSpPr txBox="1"/>
          <p:nvPr/>
        </p:nvSpPr>
        <p:spPr>
          <a:xfrm rot="0" flipH="0" flipV="0">
            <a:off x="876300" y="4010025"/>
            <a:ext cx="70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本体检索</a:t>
            </a:r>
            <a:endParaRPr/>
          </a:p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1695450" y="398145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按实体与关系取事实，能回答「谁在什么时候把什么改成了什么」</a:t>
            </a:r>
            <a:endParaRPr/>
          </a:p>
        </p:txBody>
      </p:sp>
      <p:sp>
        <p:nvSpPr>
          <p:cNvPr id="1225" name=""/>
          <p:cNvSpPr/>
          <p:nvPr/>
        </p:nvSpPr>
        <p:spPr>
          <a:xfrm rot="0" flipH="0" flipV="0">
            <a:off x="762000" y="4305300"/>
            <a:ext cx="5353050" cy="323850"/>
          </a:xfrm>
          <a:prstGeom prst="roundRect">
            <a:avLst>
              <a:gd name="adj" fmla="val 882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876300" y="4400550"/>
            <a:ext cx="70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答案来源</a:t>
            </a:r>
            <a:endParaRPr/>
          </a:p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1695450" y="436245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文本片段指向文档，本体对象指向源系统记录，可追到原始单据</a:t>
            </a:r>
            <a:endParaRPr/>
          </a:p>
        </p:txBody>
      </p:sp>
      <p:sp>
        <p:nvSpPr>
          <p:cNvPr id="1228" name=""/>
          <p:cNvSpPr/>
          <p:nvPr/>
        </p:nvSpPr>
        <p:spPr>
          <a:xfrm rot="0" flipH="0" flipV="0">
            <a:off x="762000" y="4686300"/>
            <a:ext cx="5353050" cy="323850"/>
          </a:xfrm>
          <a:prstGeom prst="roundRect">
            <a:avLst>
              <a:gd name="adj" fmla="val 882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876300" y="4781550"/>
            <a:ext cx="70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权限</a:t>
            </a:r>
            <a:endParaRPr/>
          </a:p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1695450" y="474345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检索不区分人，本体里的权限判断对模型同样生效</a:t>
            </a:r>
            <a:endParaRPr/>
          </a:p>
        </p:txBody>
      </p:sp>
      <p:sp>
        <p:nvSpPr>
          <p:cNvPr id="1231" name=""/>
          <p:cNvSpPr/>
          <p:nvPr/>
        </p:nvSpPr>
        <p:spPr>
          <a:xfrm rot="0" flipH="0" flipV="0">
            <a:off x="762000" y="5086350"/>
            <a:ext cx="5353050" cy="381000"/>
          </a:xfrm>
          <a:prstGeom prst="roundRect">
            <a:avLst>
              <a:gd name="adj" fmla="val 75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876300" y="5181600"/>
            <a:ext cx="51244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一句话区别：知识库回答「文档说了什么」，本体回答「现在实际是什么、能做什么」</a:t>
            </a:r>
            <a:endParaRPr/>
          </a:p>
        </p:txBody>
      </p:sp>
      <p:sp>
        <p:nvSpPr>
          <p:cNvPr id="1233" name=""/>
          <p:cNvSpPr/>
          <p:nvPr/>
        </p:nvSpPr>
        <p:spPr>
          <a:xfrm rot="0" flipH="0" flipV="0">
            <a:off x="6438900" y="3105150"/>
            <a:ext cx="5143500" cy="2495550"/>
          </a:xfrm>
          <a:prstGeom prst="roundRect">
            <a:avLst>
              <a:gd name="adj" fmla="val 152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6591300" y="3238500"/>
            <a:ext cx="4838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BA15C"/>
                </a:solidFill>
                <a:latin typeface="Microsoft YaHei"/>
                <a:ea typeface="Microsoft YaHei"/>
              </a:rPr>
              <a:t>接入的四步顺序不能颠倒</a:t>
            </a:r>
            <a:endParaRPr/>
          </a:p>
        </p:txBody>
      </p:sp>
      <p:sp>
        <p:nvSpPr>
          <p:cNvPr id="1235" name="" descr="{&quot;isTemplate&quot;:true,&quot;type&quot;:&quot;text&quot;}"/>
          <p:cNvSpPr txBox="1"/>
          <p:nvPr/>
        </p:nvSpPr>
        <p:spPr>
          <a:xfrm rot="0" flipH="0" flipV="0">
            <a:off x="6591300" y="3676650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6953250" y="3695700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只读接入</a:t>
            </a:r>
            <a:endParaRPr/>
          </a:p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7905750" y="3676650"/>
            <a:ext cx="3524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模型先只能看，不能动，跑三到六个月</a:t>
            </a:r>
            <a:endParaRPr/>
          </a:p>
        </p:txBody>
      </p:sp>
      <p:sp>
        <p:nvSpPr>
          <p:cNvPr id="1238" name=""/>
          <p:cNvSpPr/>
          <p:nvPr/>
        </p:nvSpPr>
        <p:spPr>
          <a:xfrm rot="0" flipH="0" flipV="0">
            <a:off x="6591300" y="4010025"/>
            <a:ext cx="4838700" cy="495300"/>
          </a:xfrm>
          <a:custGeom>
            <a:pathLst>
              <a:path w="508" h="52">
                <a:moveTo>
                  <a:pt x="0" y="0"/>
                </a:moveTo>
                <a:lnTo>
                  <a:pt x="508" y="0"/>
                </a:lnTo>
                <a:lnTo>
                  <a:pt x="50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6591300" y="4162425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240" name="" descr="{&quot;isTemplate&quot;:true,&quot;type&quot;:&quot;text&quot;}"/>
          <p:cNvSpPr txBox="1"/>
          <p:nvPr/>
        </p:nvSpPr>
        <p:spPr>
          <a:xfrm rot="0" flipH="0" flipV="0">
            <a:off x="6953250" y="418147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7905750" y="4162425"/>
            <a:ext cx="3524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输出方案给人类，由人决定是否执行</a:t>
            </a:r>
            <a:endParaRPr/>
          </a:p>
        </p:txBody>
      </p:sp>
      <p:sp>
        <p:nvSpPr>
          <p:cNvPr id="1242" name=""/>
          <p:cNvSpPr/>
          <p:nvPr/>
        </p:nvSpPr>
        <p:spPr>
          <a:xfrm rot="0" flipH="0" flipV="0">
            <a:off x="6591300" y="4495800"/>
            <a:ext cx="4838700" cy="495300"/>
          </a:xfrm>
          <a:custGeom>
            <a:pathLst>
              <a:path w="508" h="52">
                <a:moveTo>
                  <a:pt x="0" y="0"/>
                </a:moveTo>
                <a:lnTo>
                  <a:pt x="508" y="0"/>
                </a:lnTo>
                <a:lnTo>
                  <a:pt x="50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243" name="" descr="{&quot;isTemplate&quot;:true,&quot;type&quot;:&quot;text&quot;}"/>
          <p:cNvSpPr txBox="1"/>
          <p:nvPr/>
        </p:nvSpPr>
        <p:spPr>
          <a:xfrm rot="0" flipH="0" flipV="0">
            <a:off x="6591300" y="4648200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244" name="" descr="{&quot;isTemplate&quot;:true,&quot;type&quot;:&quot;text&quot;}"/>
          <p:cNvSpPr txBox="1"/>
          <p:nvPr/>
        </p:nvSpPr>
        <p:spPr>
          <a:xfrm rot="0" flipH="0" flipV="0">
            <a:off x="6953250" y="4667250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审批执行</a:t>
            </a:r>
            <a:endParaRPr/>
          </a:p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7905750" y="4648200"/>
            <a:ext cx="3524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模型调用动作，人做审批</a:t>
            </a:r>
            <a:endParaRPr/>
          </a:p>
        </p:txBody>
      </p:sp>
      <p:sp>
        <p:nvSpPr>
          <p:cNvPr id="1246" name=""/>
          <p:cNvSpPr/>
          <p:nvPr/>
        </p:nvSpPr>
        <p:spPr>
          <a:xfrm rot="0" flipH="0" flipV="0">
            <a:off x="6591300" y="4981575"/>
            <a:ext cx="4838700" cy="495300"/>
          </a:xfrm>
          <a:custGeom>
            <a:pathLst>
              <a:path w="508" h="52">
                <a:moveTo>
                  <a:pt x="0" y="0"/>
                </a:moveTo>
                <a:lnTo>
                  <a:pt x="508" y="0"/>
                </a:lnTo>
                <a:lnTo>
                  <a:pt x="50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6591300" y="5133975"/>
            <a:ext cx="24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FA4F24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6953250" y="515302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受限自主</a:t>
            </a:r>
            <a:endParaRPr/>
          </a:p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7905750" y="5133975"/>
            <a:ext cx="35242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低风险动作自动执行，高风险仍需人</a:t>
            </a:r>
            <a:endParaRPr/>
          </a:p>
        </p:txBody>
      </p:sp>
      <p:sp>
        <p:nvSpPr>
          <p:cNvPr id="125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5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5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2028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29 / 30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303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&#10;    &lt;Box style={{ position: 'absolute', left: 64, top: 46, right: 64, height: 118, flexDirection: 'column' }}&gt;&#10;    &lt;Text style={{ fontSize: 15, color: 'rgba(255,255,255,0.5)', letterSpacing: 3 }}&gt;结语&lt;/Text&gt;&#10;      &lt;Text style={{ fontSize: 32, fontWeight: 'bold', color: '#FFFFFF', marginTop: 14, lineHeight: 1.35 }}&gt;&#10;     接三种集成模式、走四步演进、避五个坑 —— &lt;span style={{ color: '#FA4F24' }}&gt;本体是长出来的，不是建出来的&lt;/span&gt;&#10;    &lt;/Text&gt;&#10; &lt;/Box&gt;&#10;&#10;  &lt;Box style={{ position: 'absolute', left: 64, top: 176, width: 640, height: 470, flexDirection: 'column', gap: 10 }}&gt;&#10;      &lt;Box style={{ background: 'rgba(255,255,255,0.06)', borderRadius: 4, padding: '12px 14px', flexDirection: 'column', flex: 1 }}&gt;&#10;   &lt;Box style={{ flexDirection: 'row', alignItems: 'center', gap: 10, marginBottom: 6 }}&gt;&#10;       &lt;Text style={{ fontSize: 15, fontWeight: 'bold', color: '#FA4F24' }}&gt;与已有数据中层的三种接法&lt;/Text&gt;&#10;  &lt;Box style={{ flex: 1, height: 1, background: 'rgba(255,255,255,0.16)' }} /&gt;&#10;   &lt;/Box&gt;&#10;   {[&#10;  { t: '作为消费方', d: '接进现有数仓的加工结果', m: '推荐：矛盾最小，见效最快' },&#10;        { t: '并行双轨', d: '两边同时跑，先对齐数据目录口径', m: '过渡方案：必须设退出日期' },&#10;     { t: '承担中台职能', d: '本体平台自己就是中台', m: '只有数据治理已成熟才可考虑' },&#10;        ].map((it, i) =&gt; (&#10;   &lt;Box key={i} style={{ flex: 1, flexDirection: 'row', alignItems: 'center', gap: 12 }}&gt;&#10;    &lt;Text style={{ fontSize: 14, fontWeight: 'bold', color: '#FFFFFF', width: 116 }}&gt;{it.t}&lt;/Text&gt;&#10;     &lt;Text style={{ fontSize: 12, color: 'rgba(255,255,255,0.72)', flex: 1, lineHeight: 1.35 }}&gt;{it.d}&lt;/Text&gt;&#10;      &lt;Text style={{ fontSize: 12, color: '#FBA15C', width: 178, lineHeight: 1.3 }}&gt;{it.m}&lt;/Text&gt;&#10;    &lt;/Box&gt;&#10;   ))}&#10;      &lt;/Box&gt;&#10;&#10;        &lt;Box style={{ background: 'rgba(255,255,255,0.06)', borderRadius: 4, padding: '12px 14px', flexDirection: 'column', flex: 1.25 }}&gt;&#10;      &lt;Box style={{ flexDirection: 'row', alignItems: 'center', gap: 10, marginBottom: 8 }}&gt;&#10;        &lt;Text style={{ fontSize: 15, fontWeight: 'bold', color: '#FA4F24' }}&gt;演进四步与每步的退出条件&lt;/Text&gt;&#10;   &lt;Box style={{ flex: 1, height: 1, background: 'rgba(255,255,255,0.16)' }} /&gt;&#10;     &lt;/Box&gt;&#10;        {[&#10;        { n: '一', t: '单场景只读', x: '业务方能无歧义复述每个对象' },&#10;      { n: '二', t: '单场景可写', x: '写回成功率可验证，回滚演练过' },&#10;   { n: '三', t: '单域成体系', x: '本域动作收齐，权限矩阵无空白' },&#10;      { n: '四', t: '跨域 + AI', x: 'AI 全程只经动作，不越权' },&#10;        ].map((it, i) =&gt; (&#10;          &lt;Box key={i} style={{ flex: 1, flexDirection: 'row', alignItems: 'center', gap: 12 }}&gt;&#10;  &lt;Text style={{ fontSize: 15, fontWeight: 'bold', color: '#FA4F24', width: 24 }}&gt;{it.n}&lt;/Text&gt;&#10;      &lt;Text style={{ fontSize: 14, fontWeight: 'bold', color: '#FFFFFF', width: 146 }}&gt;{it.t}&lt;/Text&gt;&#10;     &lt;Text style={{ fontSize: 12, color: 'rgba(255,255,255,0.75)', flex: 1, lineHeight: 1.35 }}&gt;{it.x}&lt;/Text&gt;&#10;    {i &lt; 3 &amp;&amp; &lt;Text style={{ fontSize: 12, color: 'rgba(255,255,255,0.3)' }}&gt;→&lt;/Text&gt;}&#10;   &lt;/Box&gt;&#10;   ))}&#10;   &lt;/Box&gt;&#10;    &lt;/Box&gt;&#10;&#10;    {/* 右：五个坑 + 主线收束 */}&#10;    &lt;Box style={{ position: 'absolute', left: 736, top: 176, width: 480, height: 470, flexDirection: 'column', gap: 10 }}&gt;&#10;        &lt;Box style={{ background: 'rgba(250,79,36,0.16)', borderRadius: 4, padding: '12px 14px', flexDirection: 'column', flex: 1.6 }}&gt;&#10;      &lt;Text style={{ fontSize: 15, fontWeight: 'bold', color: '#FA4F24', marginBottom: 6 }}&gt;最常踩的五个坑&lt;/Text&gt;&#10;     {[&#10;  { t: '先建全量模型再找场景', d: '结果是一个没人用的大图' },&#10;    { t: '只建语义不建行动', d: '结果是一张漂亮但推不动的图' },&#10;  { t: '动作定义在应用里', d: '结果每接一个系统改一次' },&#10;     { t: '权限只做到页面', d: '结果一次穿透，AI 接入直接停摆' },&#10;      { t: '双轨没有退出日期', d: '结果永远并行，系统数量翻倍' },&#10;        ].map((it, i) =&gt; (&#10;  &lt;Box key={i} style={{ flex: 1, flexDirection: 'row', alignItems: 'center', gap: 10 }}&gt;&#10;   &lt;Box style={{ width: 5, height: 5, background: '#FA4F24', borderRadius: 3 }} /&gt;&#10;       &lt;Text style={{ fontSize: 13, fontWeight: 'bold', color: '#FFFFFF', width: 186 }}&gt;{it.t}&lt;/Text&gt;&#10;      &lt;Text style={{ fontSize: 12, color: 'rgba(255,255,255,0.75)', flex: 1, lineHeight: 1.3 }}&gt;{it.d}&lt;/Text&gt;&#10;     &lt;/Box&gt;&#10;   ))}&#10;   &lt;/Box&gt;&#10;&#10;    &lt;Box style={{ background: 'linear-gradient(160deg, #FA4F24 0%, #F87D2F 100%)', borderRadius: 4, padding: '16px 18px', flexDirection: 'column', flex: 1.4, justifyContent: 'center' }}&gt;&#10;      &lt;Text style={{ fontSize: 18, fontWeight: 'bold', color: '#FFFFFF' }}&gt;全册收束&lt;/Text&gt;&#10;   {[&#10;     'BA 说清要做什么决策',&#10;     'DA 说清数据从哪来',&#10;    'AA 说清谁在用',&#10;        'TA 说清跑不跑得动',&#10;      ].map((t, i) =&gt; (&#10;     &lt;Text key={i} style={{ fontSize: 13, color: 'rgba(255,255,255,0.94)', lineHeight: 1.5, marginTop: i === 0 ? 8 : 3 }}&gt;· {t}&lt;/Text&gt;&#10;   ))}&#10;      &lt;Box style={{ height: 1, background: 'rgba(255,255,255,0.35)', marginTop: 10 }} /&gt;&#10;    &lt;Text style={{ fontSize: 14, color: '#FFFFFF', lineHeight: 1.5, marginTop: 8, fontWeight: 'bold' }}&gt;&#10;        本体让这四件事落在同一层上 —— 语义与动力学合一，组织的决策才真正跑得起来。&#10;      &lt;/Text&gt;&#10;        &lt;/Box&gt;&#10;    &lt;/Box&gt;&#10;&#10;    &lt;Box style={{ position: 'absolute', right: 88, bottom: 56, flexDirection: 'row', alignItems: 'center', gap: 12 }}&gt;&#10;        &lt;Box style={{ width: 14, height: 14, background: '#FA4F24' }} /&gt;&#10;        &lt;Text style={{ fontSize: 14, color: 'rgba(255,255,255,0.5)' }}&gt;硕磐机密 · Ontology本体咨询方法论&lt;/Text&gt;&#10;        &lt;Text style={{ fontSize: 14, color: 'rgba(255,255,255,0.5)', marginLeft: 12 }}&gt;30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06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结语</a:t>
            </a:r>
            <a:endParaRPr/>
          </a:p>
        </p:txBody>
      </p:sp>
      <p:sp>
        <p:nvSpPr>
          <p:cNvPr id="1308" name="" descr="{&quot;isTemplate&quot;:true,&quot;type&quot;:&quot;text&quot;}"/>
          <p:cNvSpPr txBox="1"/>
          <p:nvPr/>
        </p:nvSpPr>
        <p:spPr>
          <a:xfrm rot="0" flipH="0" flipV="0">
            <a:off x="609600" y="742950"/>
            <a:ext cx="10972800" cy="4953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接三种集成模式、走四步演进、避五个坑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本体是长出来的，不是建出来的</a:t>
            </a:r>
            <a:endParaRPr/>
          </a:p>
        </p:txBody>
      </p:sp>
      <p:sp>
        <p:nvSpPr>
          <p:cNvPr id="1309" name=""/>
          <p:cNvSpPr/>
          <p:nvPr/>
        </p:nvSpPr>
        <p:spPr>
          <a:xfrm rot="0" flipH="0" flipV="0">
            <a:off x="609600" y="1676400"/>
            <a:ext cx="6096000" cy="1971675"/>
          </a:xfrm>
          <a:prstGeom prst="roundRect">
            <a:avLst>
              <a:gd name="adj" fmla="val 1932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310" name="" descr="{&quot;isTemplate&quot;:true,&quot;type&quot;:&quot;text&quot;}"/>
          <p:cNvSpPr txBox="1"/>
          <p:nvPr/>
        </p:nvSpPr>
        <p:spPr>
          <a:xfrm rot="0" flipH="0" flipV="0">
            <a:off x="742950" y="17907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与已有数据中层的三种接法</a:t>
            </a:r>
            <a:endParaRPr/>
          </a:p>
        </p:txBody>
      </p:sp>
      <p:sp>
        <p:nvSpPr>
          <p:cNvPr id="1311" name=""/>
          <p:cNvSpPr/>
          <p:nvPr/>
        </p:nvSpPr>
        <p:spPr>
          <a:xfrm rot="0" flipH="0" flipV="0">
            <a:off x="2552700" y="1876425"/>
            <a:ext cx="40195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742950" y="219075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作为消费方</a:t>
            </a:r>
            <a:endParaRPr/>
          </a:p>
        </p:txBody>
      </p:sp>
      <p:sp>
        <p:nvSpPr>
          <p:cNvPr id="1313" name="" descr="{&quot;isTemplate&quot;:true,&quot;type&quot;:&quot;text&quot;}"/>
          <p:cNvSpPr txBox="1"/>
          <p:nvPr/>
        </p:nvSpPr>
        <p:spPr>
          <a:xfrm rot="0" flipH="0" flipV="0">
            <a:off x="1962150" y="2181225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接进现有数仓的加工结果</a:t>
            </a:r>
            <a:endParaRPr/>
          </a:p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4876800" y="2181225"/>
            <a:ext cx="16954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推荐：矛盾最小，见效最快</a:t>
            </a:r>
            <a:endParaRPr/>
          </a:p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742950" y="2695575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并行双轨</a:t>
            </a:r>
            <a:endParaRPr/>
          </a:p>
        </p:txBody>
      </p:sp>
      <p:sp>
        <p:nvSpPr>
          <p:cNvPr id="1316" name="" descr="{&quot;isTemplate&quot;:true,&quot;type&quot;:&quot;text&quot;}"/>
          <p:cNvSpPr txBox="1"/>
          <p:nvPr/>
        </p:nvSpPr>
        <p:spPr>
          <a:xfrm rot="0" flipH="0" flipV="0">
            <a:off x="1962150" y="2686050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两边同时跑，先对齐数据目录口径</a:t>
            </a:r>
            <a:endParaRPr/>
          </a:p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4876800" y="2686050"/>
            <a:ext cx="16954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过渡方案：必须设退出日期</a:t>
            </a:r>
            <a:endParaRPr/>
          </a:p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742950" y="320040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承担中台职能</a:t>
            </a:r>
            <a:endParaRPr/>
          </a:p>
        </p:txBody>
      </p:sp>
      <p:sp>
        <p:nvSpPr>
          <p:cNvPr id="1319" name="" descr="{&quot;isTemplate&quot;:true,&quot;type&quot;:&quot;text&quot;}"/>
          <p:cNvSpPr txBox="1"/>
          <p:nvPr/>
        </p:nvSpPr>
        <p:spPr>
          <a:xfrm rot="0" flipH="0" flipV="0">
            <a:off x="1962150" y="3190875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本体平台自己就是中台</a:t>
            </a:r>
            <a:endParaRPr/>
          </a:p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4876800" y="3190875"/>
            <a:ext cx="169545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FBA15C"/>
                </a:solidFill>
                <a:latin typeface="Microsoft YaHei"/>
                <a:ea typeface="Microsoft YaHei"/>
              </a:rPr>
              <a:t>只有数据治理已成熟才可考虑</a:t>
            </a:r>
            <a:endParaRPr/>
          </a:p>
        </p:txBody>
      </p:sp>
      <p:sp>
        <p:nvSpPr>
          <p:cNvPr id="1321" name=""/>
          <p:cNvSpPr/>
          <p:nvPr/>
        </p:nvSpPr>
        <p:spPr>
          <a:xfrm rot="0" flipH="0" flipV="0">
            <a:off x="609600" y="3743325"/>
            <a:ext cx="6096000" cy="2409825"/>
          </a:xfrm>
          <a:prstGeom prst="roundRect">
            <a:avLst>
              <a:gd name="adj" fmla="val 1581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322" name="" descr="{&quot;isTemplate&quot;:true,&quot;type&quot;:&quot;text&quot;}"/>
          <p:cNvSpPr txBox="1"/>
          <p:nvPr/>
        </p:nvSpPr>
        <p:spPr>
          <a:xfrm rot="0" flipH="0" flipV="0">
            <a:off x="742950" y="38576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演进四步与每步的退出条件</a:t>
            </a:r>
            <a:endParaRPr/>
          </a:p>
        </p:txBody>
      </p:sp>
      <p:sp>
        <p:nvSpPr>
          <p:cNvPr id="1323" name=""/>
          <p:cNvSpPr/>
          <p:nvPr/>
        </p:nvSpPr>
        <p:spPr>
          <a:xfrm rot="0" flipH="0" flipV="0">
            <a:off x="2552700" y="3943350"/>
            <a:ext cx="40195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324" name="" descr="{&quot;isTemplate&quot;:true,&quot;type&quot;:&quot;text&quot;}"/>
          <p:cNvSpPr txBox="1"/>
          <p:nvPr/>
        </p:nvSpPr>
        <p:spPr>
          <a:xfrm rot="0" flipH="0" flipV="0">
            <a:off x="742950" y="4267200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1085850" y="4267200"/>
            <a:ext cx="139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单场景只读</a:t>
            </a:r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2590800" y="425767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业务方能无歧义复述每个对象</a:t>
            </a:r>
            <a:endParaRPr/>
          </a:p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6457950" y="42767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742950" y="4752975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1329" name="" descr="{&quot;isTemplate&quot;:true,&quot;type&quot;:&quot;text&quot;}"/>
          <p:cNvSpPr txBox="1"/>
          <p:nvPr/>
        </p:nvSpPr>
        <p:spPr>
          <a:xfrm rot="0" flipH="0" flipV="0">
            <a:off x="1085850" y="4752975"/>
            <a:ext cx="139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单场景可写</a:t>
            </a:r>
            <a:endParaRPr/>
          </a:p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2590800" y="4743450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写回成功率可验证，回滚演练过</a:t>
            </a:r>
            <a:endParaRPr/>
          </a:p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6457950" y="47625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32" name="" descr="{&quot;isTemplate&quot;:true,&quot;type&quot;:&quot;text&quot;}"/>
          <p:cNvSpPr txBox="1"/>
          <p:nvPr/>
        </p:nvSpPr>
        <p:spPr>
          <a:xfrm rot="0" flipH="0" flipV="0">
            <a:off x="742950" y="5229225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1085850" y="5238750"/>
            <a:ext cx="139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单域成体系</a:t>
            </a:r>
            <a:endParaRPr/>
          </a:p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2590800" y="5219700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本域动作收齐，权限矩阵无空白</a:t>
            </a:r>
            <a:endParaRPr/>
          </a:p>
        </p:txBody>
      </p:sp>
      <p:sp>
        <p:nvSpPr>
          <p:cNvPr id="1335" name="" descr="{&quot;isTemplate&quot;:true,&quot;type&quot;:&quot;text&quot;}"/>
          <p:cNvSpPr txBox="1"/>
          <p:nvPr/>
        </p:nvSpPr>
        <p:spPr>
          <a:xfrm rot="0" flipH="0" flipV="0">
            <a:off x="6457950" y="52482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FFFFF">
                    <a:alpha val="3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36" name="" descr="{&quot;isTemplate&quot;:true,&quot;type&quot;:&quot;text&quot;}"/>
          <p:cNvSpPr txBox="1"/>
          <p:nvPr/>
        </p:nvSpPr>
        <p:spPr>
          <a:xfrm rot="0" flipH="0" flipV="0">
            <a:off x="742950" y="5715000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四</a:t>
            </a:r>
            <a:endParaRPr/>
          </a:p>
        </p:txBody>
      </p:sp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1085850" y="5715000"/>
            <a:ext cx="139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跨域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AI</a:t>
            </a:r>
            <a:endParaRPr/>
          </a:p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2590800" y="5705475"/>
            <a:ext cx="39814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全程只经动作，不越权</a:t>
            </a:r>
            <a:endParaRPr/>
          </a:p>
        </p:txBody>
      </p:sp>
      <p:sp>
        <p:nvSpPr>
          <p:cNvPr id="1339" name=""/>
          <p:cNvSpPr/>
          <p:nvPr/>
        </p:nvSpPr>
        <p:spPr>
          <a:xfrm rot="0" flipH="0" flipV="0">
            <a:off x="7010400" y="1676400"/>
            <a:ext cx="4572000" cy="1771650"/>
          </a:xfrm>
          <a:prstGeom prst="roundRect">
            <a:avLst>
              <a:gd name="adj" fmla="val 2151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340" name="" descr="{&quot;isTemplate&quot;:true,&quot;type&quot;:&quot;text&quot;}"/>
          <p:cNvSpPr txBox="1"/>
          <p:nvPr/>
        </p:nvSpPr>
        <p:spPr>
          <a:xfrm rot="0" flipH="0" flipV="0">
            <a:off x="7143750" y="1790700"/>
            <a:ext cx="430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最常踩的五个坑</a:t>
            </a:r>
            <a:endParaRPr/>
          </a:p>
        </p:txBody>
      </p:sp>
      <p:sp>
        <p:nvSpPr>
          <p:cNvPr id="1341" name=""/>
          <p:cNvSpPr/>
          <p:nvPr/>
        </p:nvSpPr>
        <p:spPr>
          <a:xfrm rot="0" flipH="0" flipV="0">
            <a:off x="7143750" y="21336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42" name="" descr="{&quot;isTemplate&quot;:true,&quot;type&quot;:&quot;text&quot;}"/>
          <p:cNvSpPr txBox="1"/>
          <p:nvPr/>
        </p:nvSpPr>
        <p:spPr>
          <a:xfrm rot="0" flipH="0" flipV="0">
            <a:off x="7286625" y="2076450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先建全量模型再找场景</a:t>
            </a:r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9153525" y="2066925"/>
            <a:ext cx="229552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结果是一个没人用的大图</a:t>
            </a:r>
            <a:endParaRPr/>
          </a:p>
        </p:txBody>
      </p:sp>
      <p:sp>
        <p:nvSpPr>
          <p:cNvPr id="1344" name=""/>
          <p:cNvSpPr/>
          <p:nvPr/>
        </p:nvSpPr>
        <p:spPr>
          <a:xfrm rot="0" flipH="0" flipV="0">
            <a:off x="7143750" y="23907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45" name="" descr="{&quot;isTemplate&quot;:true,&quot;type&quot;:&quot;text&quot;}"/>
          <p:cNvSpPr txBox="1"/>
          <p:nvPr/>
        </p:nvSpPr>
        <p:spPr>
          <a:xfrm rot="0" flipH="0" flipV="0">
            <a:off x="7286625" y="2343150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只建语义不建行动</a:t>
            </a:r>
            <a:endParaRPr/>
          </a:p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9153525" y="2324100"/>
            <a:ext cx="229552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结果是一张漂亮但推不动的图</a:t>
            </a:r>
            <a:endParaRPr/>
          </a:p>
        </p:txBody>
      </p:sp>
      <p:sp>
        <p:nvSpPr>
          <p:cNvPr id="1347" name=""/>
          <p:cNvSpPr/>
          <p:nvPr/>
        </p:nvSpPr>
        <p:spPr>
          <a:xfrm rot="0" flipH="0" flipV="0">
            <a:off x="7143750" y="26574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48" name="" descr="{&quot;isTemplate&quot;:true,&quot;type&quot;:&quot;text&quot;}"/>
          <p:cNvSpPr txBox="1"/>
          <p:nvPr/>
        </p:nvSpPr>
        <p:spPr>
          <a:xfrm rot="0" flipH="0" flipV="0">
            <a:off x="7286625" y="26003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动作定义在应用里</a:t>
            </a:r>
            <a:endParaRPr/>
          </a:p>
        </p:txBody>
      </p:sp>
      <p:sp>
        <p:nvSpPr>
          <p:cNvPr id="1349" name="" descr="{&quot;isTemplate&quot;:true,&quot;type&quot;:&quot;text&quot;}"/>
          <p:cNvSpPr txBox="1"/>
          <p:nvPr/>
        </p:nvSpPr>
        <p:spPr>
          <a:xfrm rot="0" flipH="0" flipV="0">
            <a:off x="9153525" y="2590800"/>
            <a:ext cx="229552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结果每接一个系统改一次</a:t>
            </a:r>
            <a:endParaRPr/>
          </a:p>
        </p:txBody>
      </p:sp>
      <p:sp>
        <p:nvSpPr>
          <p:cNvPr id="1350" name=""/>
          <p:cNvSpPr/>
          <p:nvPr/>
        </p:nvSpPr>
        <p:spPr>
          <a:xfrm rot="0" flipH="0" flipV="0">
            <a:off x="7143750" y="29146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1" name="" descr="{&quot;isTemplate&quot;:true,&quot;type&quot;:&quot;text&quot;}"/>
          <p:cNvSpPr txBox="1"/>
          <p:nvPr/>
        </p:nvSpPr>
        <p:spPr>
          <a:xfrm rot="0" flipH="0" flipV="0">
            <a:off x="7286625" y="286702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权限只做到页面</a:t>
            </a:r>
            <a:endParaRPr/>
          </a:p>
        </p:txBody>
      </p:sp>
      <p:sp>
        <p:nvSpPr>
          <p:cNvPr id="1352" name="" descr="{&quot;isTemplate&quot;:true,&quot;type&quot;:&quot;text&quot;}"/>
          <p:cNvSpPr txBox="1"/>
          <p:nvPr/>
        </p:nvSpPr>
        <p:spPr>
          <a:xfrm rot="0" flipH="0" flipV="0">
            <a:off x="9153525" y="2847975"/>
            <a:ext cx="229552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结果一次穿透，</a:t>
            </a:r>
            <a:r>
              <a:rPr lang="en-US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接入直接停摆</a:t>
            </a:r>
            <a:endParaRPr/>
          </a:p>
        </p:txBody>
      </p:sp>
      <p:sp>
        <p:nvSpPr>
          <p:cNvPr id="1353" name=""/>
          <p:cNvSpPr/>
          <p:nvPr/>
        </p:nvSpPr>
        <p:spPr>
          <a:xfrm rot="0" flipH="0" flipV="0">
            <a:off x="7143750" y="31813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4" name="" descr="{&quot;isTemplate&quot;:true,&quot;type&quot;:&quot;text&quot;}"/>
          <p:cNvSpPr txBox="1"/>
          <p:nvPr/>
        </p:nvSpPr>
        <p:spPr>
          <a:xfrm rot="0" flipH="0" flipV="0">
            <a:off x="7286625" y="3124200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双轨没有退出日期</a:t>
            </a:r>
            <a:endParaRPr/>
          </a:p>
        </p:txBody>
      </p:sp>
      <p:sp>
        <p:nvSpPr>
          <p:cNvPr id="1355" name="" descr="{&quot;isTemplate&quot;:true,&quot;type&quot;:&quot;text&quot;}"/>
          <p:cNvSpPr txBox="1"/>
          <p:nvPr/>
        </p:nvSpPr>
        <p:spPr>
          <a:xfrm rot="0" flipH="0" flipV="0">
            <a:off x="9153525" y="3114675"/>
            <a:ext cx="2295525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结果永远并行，系统数量翻倍</a:t>
            </a:r>
            <a:endParaRPr/>
          </a:p>
        </p:txBody>
      </p:sp>
      <p:sp>
        <p:nvSpPr>
          <p:cNvPr id="1356" name=""/>
          <p:cNvSpPr/>
          <p:nvPr/>
        </p:nvSpPr>
        <p:spPr>
          <a:xfrm rot="0" flipH="0" flipV="0">
            <a:off x="7010400" y="3543300"/>
            <a:ext cx="4572000" cy="2609850"/>
          </a:xfrm>
          <a:prstGeom prst="roundRect">
            <a:avLst>
              <a:gd name="adj" fmla="val 146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7181850" y="3876675"/>
            <a:ext cx="422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全册收束</a:t>
            </a:r>
            <a:endParaRPr/>
          </a:p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7181850" y="4162425"/>
            <a:ext cx="4229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说清要做什么决策</a:t>
            </a:r>
            <a:endParaRPr/>
          </a:p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7181850" y="4419600"/>
            <a:ext cx="4229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说清数据从哪来</a:t>
            </a:r>
            <a:endParaRPr/>
          </a:p>
        </p:txBody>
      </p:sp>
      <p:sp>
        <p:nvSpPr>
          <p:cNvPr id="1360" name="" descr="{&quot;isTemplate&quot;:true,&quot;type&quot;:&quot;text&quot;}"/>
          <p:cNvSpPr txBox="1"/>
          <p:nvPr/>
        </p:nvSpPr>
        <p:spPr>
          <a:xfrm rot="0" flipH="0" flipV="0">
            <a:off x="7181850" y="4676775"/>
            <a:ext cx="4229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说清谁在用</a:t>
            </a:r>
            <a:endParaRPr/>
          </a:p>
        </p:txBody>
      </p:sp>
      <p:sp>
        <p:nvSpPr>
          <p:cNvPr id="1361" name="" descr="{&quot;isTemplate&quot;:true,&quot;type&quot;:&quot;text&quot;}"/>
          <p:cNvSpPr txBox="1"/>
          <p:nvPr/>
        </p:nvSpPr>
        <p:spPr>
          <a:xfrm rot="0" flipH="0" flipV="0">
            <a:off x="7181850" y="4933950"/>
            <a:ext cx="42291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· </a:t>
            </a:r>
            <a:r>
              <a:rPr lang="en-US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9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说清跑不跑得动</a:t>
            </a:r>
            <a:endParaRPr/>
          </a:p>
        </p:txBody>
      </p:sp>
      <p:sp>
        <p:nvSpPr>
          <p:cNvPr id="1362" name=""/>
          <p:cNvSpPr/>
          <p:nvPr/>
        </p:nvSpPr>
        <p:spPr>
          <a:xfrm rot="0" flipH="0" flipV="0">
            <a:off x="7181850" y="5257800"/>
            <a:ext cx="4229100" cy="952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7181850" y="5343525"/>
            <a:ext cx="4229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本体让这四件事落在同一层上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语义与动力学合一，组织的决策才真正跑得起来。</a:t>
            </a:r>
            <a:endParaRPr/>
          </a:p>
        </p:txBody>
      </p:sp>
      <p:sp>
        <p:nvSpPr>
          <p:cNvPr id="1364" name=""/>
          <p:cNvSpPr/>
          <p:nvPr/>
        </p:nvSpPr>
        <p:spPr>
          <a:xfrm rot="0" flipH="0" flipV="0">
            <a:off x="8239125" y="61817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5" name="" descr="{&quot;isTemplate&quot;:true,&quot;type&quot;:&quot;text&quot;}"/>
          <p:cNvSpPr txBox="1"/>
          <p:nvPr/>
        </p:nvSpPr>
        <p:spPr>
          <a:xfrm rot="0" flipH="0" flipV="0">
            <a:off x="8486775" y="61626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Ontology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本体咨询方法论</a:t>
            </a:r>
            <a:endParaRPr/>
          </a:p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10896600" y="6162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30 / 30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2026-10-12T05:45:16Z</dcterms:created>
  <dcterms:modified xsi:type="dcterms:W3CDTF">2026-10-12T05:45:16Z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{"AIGC":{"Label":"1","ContentProducer":"00119111010856365494821B355","ProduceID":"01a12ce0c36a7fddb2c1fa6b712bfc13","ReservedCode1":"","ContentPropagator":"00119111010856365494821B355","PropagateID":"01a12ce0c36a7fddb2c1fa6b712bfc13","ReservedCode2":""}}</vt:lpwstr>
  </property>
</Properties>
</file>