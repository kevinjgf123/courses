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9.xml" ContentType="application/vnd.openxmlformats-officedocument.presentationml.slide+xml"/>
  <Override PartName="/ppt/notesSlides/notesSlide26.xml" ContentType="application/vnd.openxmlformats-officedocument.presentationml.notesSlid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ppt/slides/slide16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notesSlides/notesSlide12.xml" ContentType="application/vnd.openxmlformats-officedocument.presentationml.notesSlide+xml"/>
  <Override PartName="/ppt/theme/theme1.xml" ContentType="application/vnd.openxmlformats-officedocument.them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8" Type="http://schemas.openxmlformats.org/officeDocument/2006/relationships/slide" Target="slides/slide28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26" Type="http://schemas.openxmlformats.org/officeDocument/2006/relationships/slide" Target="slides/slide26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33" Type="http://schemas.openxmlformats.org/officeDocument/2006/relationships/tableStyles" Target="tableStyles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4" Type="http://schemas.openxmlformats.org/officeDocument/2006/relationships/viewProps" Target="viewProps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32" Type="http://schemas.openxmlformats.org/officeDocument/2006/relationships/presProps" Target="presProps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7" Type="http://schemas.openxmlformats.org/officeDocument/2006/relationships/slide" Target="slides/slide27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notesMaster" Target="notesMasters/notesMaster1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0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0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4.xml.rels><?xml version="1.0" encoding="UTF-8" standalone="yes"?><Relationships xmlns="http://schemas.openxmlformats.org/package/2006/relationships"><Relationship Id="rId0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各位好，今天这一册我们只讲一件事：业务架构。翻开主文档大家看到 4A——BA、DA、AA、TA，主册里 BA 只有四页，DA 我们刚补完三十页。这一册是 BA 的完整版本。先说清楚我为什么把它单独拎出来做一本：因为在绝大多数企业里，DA、AA、TA 三家其实都能自己找顾问做，缺的恰恰是 BA——没人愿意接「你这个战略到底要做什么业务」这种听起来虚、实际上最难落地的问题。而这件事不做，后三段全是空中楼阁。这一册三十页，方法、内容、模板三段齐全，和 DA 那册是同一套体例。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现在讲价值流。左边是「合同签订」这条价值流的主干，我按触发、关键节点、支撑活动、产出四段来画。我要重点讲两个判断。第一是边界划在哪里——起点和终点都必须是企业外部，或者明确的责任交接点。如果你的起点写成「收到销售部转来的合同」，那你画出来的是内部流程图，不是价值流。业务架构要解决的是「跨部门这件事本身该长什么样」，不是「销售部内部怎么流转」。第二是节点数控制。一条主干超过七个节点，说明范围太大，应该按事前事中事后，或者按业务阶段拆成多条。节点越少，后面能力识别越容易收敛。右边六项必备要素是检查清单，注意最后一项「所承接的举措」——挂不上举措的流叫无源之流，它没有战略出处，做出来的能力也就没有优先级依据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给模板。价值流图的核心不是好看，是统一符号让大家读成同一个意思。左边这张符号规范表，我建议在项目启动第一周就定下来，全企业一套，不允许各项目自己发明。右栏三条使用要求里，第三条容易忽略——举措标签统一挂在图右侧，不允许挂在图上遮挡流向，因为一旦遮挡，跨部门的人就看不清主干在哪，会各自去解读局部。这张图真正的价值在最下面那句：规范的意义不在于好看，而在于可争议。当一张图各方都能按同一套符号读懂，争论才会回到业务本身，而不是停在「我理解的你画的不一样」。我见过项目因为这个卡了两周，问题不在业务，在符号不统一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第三部分，业务能力识别。这是 BA 的核心产出，一共四页。这部分的方法页我讲两问法，内容页讲三层分解，模板页给能力卡片。如果整册只能带走一页，我希望是这一部分的模板页——能力卡片。因为前面所有工作最终都收敛到这张卡上。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两问法。左边这句是这一页的核心：每个节点只问两句——这一步要什么？这一步给什么？我用报价这个节点举例。下面第一块：要什么，答案是客户信息、量价政策、库存与产能状态、成本底线；给什么，答案是报价单、价格有效期、承诺交期与违约条款。问完之后你会发现，能力是从答案里长出来的，不是拍出来的。这个做法的好处是可复现——换一个节点、换一个人来问，答案基本一致，因为它是结构化的。右下角三条去重规则，这是实操中最常用的。第一条，多条价值流问出同名能力，必须合并——重复出现就说明颗粒度不对。第二条，要什么和给什么问出同一个能力，说明这个节点不做实事，要考虑拆节点。第三条，如果一项能力只在一���条价值流里出现一次，它多半是活动不是能力，应该下沉到流程里去。这一条对应下一页要讲的三层分解里的颗粒度控制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三层分解。这里有个常见误解要澄清：三层不是简单的层级缩放，每一层承担的管理动作完全不同。能力域是 3 到 5 个，管的是「对齐业务战略方向、决定投资优先级」；能力组每个域 3 到 6 个，管的是「定义能力边界与协作关系」；能力项全量 60 到 120 个，管的是「评估成熟度、挂指标、进路线图」。只有能力项会变成一张几百行的清单，没法排优先级；只有能力域又太粗，落不到指标上。所以三层各管一件事，才好用。右栏三条判断里，第一条最容易被做错——能力域必须按价值流聚类来划，不能按部门划。同一部门的能力可以分属不同的域，同一个域的能力通常跨多个部门，这是正常现象。第二条关于数量：低于 40 个说明颗粒度过粗，高于 150 个说明把活动也当成能力了，60 到 120 是经验区间。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能力卡片，这张表是全册最实用的一张。我先讲字段怎么来的：编号跟能力地图一致，名称必须是动作加对象，能力层级给到域组项三级定位，定义写成完整句，支撑价值流至少一条，Owner 唯一，当前成熟度五级之一。右边填写要求里，第二条和第四条是评审时最常被打回的——定义不允许只写名词短语，「供应商管理」不行，要写「对供应商资质、产能、履约能力进行准入评估并动态维护名录」；指标不允许写「效率」「质量」，要落到可测数值，「准入周期」「一次通过率」才是指标。下面这句话我想强调：卡片的真正用法是带着它去访谈，填不出的字段就是下一轮要问的问题。尤其是「支撑价值流」和「度量指标」这两栏，如果它们填不出来，说明这项能力还没有真正被业务认可，只是架构师自己想出来的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第四部分，能力评估与热力图。这一部分解决的是「资源往哪投」的问题，也是管理层最关心的一页。四页里，17 页讲二维评估方法，18 页讲五级定义和判断依据，19 页给热力图和打分表模板。这一部分做完，架构才第一次能支持投资决策。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二维评估。两个维度独立打分、交叉定位。为什么必须两个维度——只评成熟度，会把不重要的能力也做成标杆，最后几百项能力全在提升，等于没有优先级；只评重要度，会对全部能力一视同仁地投钱，钱不够就随便砍，砍掉的恰好可能是最该做的。左边这个矩阵，纵轴是重要度分高中低，横轴是成熟度从低到高，九个格位我合并成四种打法。右上角「提升重点」是高重要加低成熟，投入产出比最高，路线图第一优先。右上「风险」格最值得注意：高重要但成熟度只有 L1，既要建能力又要补管理，风险最大，这种格位往往是最容易被忽略的，因为大家习惯性去看「提升重点」。右下角「收缩/外包」是最省钱的一格——低重要而且没固化，明确不做比什么都值钱。我见过企业不敢做这个决定，把所有能力都留着，结果每项都投不到位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五级定义，右边每一级的达标证据才是这张表的灵魂。我强调一遍：没有证据的评分一律降一级。访谈里业务负责人说「我们这块做得挺好」，这不构成证据。什么算证据？制度文件、流程文档、系统截图、连续 12 个月的指标数据——这些才算。所以左边第二列的描述要配合右边的证据一起看，L3 的定义不是「有流程」这么模糊，是「发布版流程文件加责任矩阵，能找到 Owner」。中间那条判断我要展开说：能力项之间成熟度可以高低并存，这是常态。同一家企业里 L5 和 L1 并存非常普遍，所以整体平均分没有意义，分布才有意义——你要看的是有多少项卡在 L1 和 L2，这些才是要投的。右边第三条关于评分由谁做，这条经验很值钱：必须由业务 Owner 主导、CFO 和外部标杆校准。IT 部门代评的结果一定会偏高，因为它按系统实现打分，不按业务效果打分——系统建得再全，业务效果不好照样是低成熟度。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模板页，热力图加打分表，两件套。左边热力图是给管理层汇报用的，一页纸讲清我们在哪、长板在哪、短板在哪；右边打分表是给流程用的，逐项列编号、成熟度、重要度、Owner、举措。我要说明为什么这两张表必须是同一份底稿：很多企业汇报用的图和考核用的表是两套数据，汇报时说得漂亮，落到考核就发现对不上，一年之后这套架构就没人信了。右下角两条硬规则：没有证据的评级一律降一级；重要度三因子得分必须写出来，不允许只给总分。第二条我解释一下为什么——只给总分的话，「88 分」这个数字没法讨论，必须能拆成战略紧密相关 40 加价值贡献 28 加客户可感知 20，评审时才能看出 88 分是怎么来的、是不是评高了。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先把结构交代清楚，免得大家听着没方向。这一册拆七个部分：总论、战略解码与价值流、业务能力识别、能力评估与热力图、能力地图与组织映射、能力落地与治理，最后一部分讲贯通和避坑。每个部分都是「方法—内容—模板」三页或三页一组。方法页讲怎么做的动作，内容页讲具体做出什么东西，模板页给出可以直接拿去用的表和图。这个体例和 DA 那册一模一样，方便大家对照着看。中间任何一页如果你觉得「这个我需要」，可以直接打断我。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五部分，能力地图与组织映射。这一部分解决的是「谁来做」，也是前面把能力跟组织解耦之后必须补上的一环。三页：方法页讲三线映射法，内容页讲能力地图绘制和四类缺口识别，模板页给组织映射表。这里有个认知要摆正——能力地图不是一张漂亮的大图，它的作用是让四类缺口自己暴露出来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三线映射。为什么必须显式画这张表？因为现实是多对多的——一份能力可以对应多个组织，一个组织也可以承担多项能力。示例这条「供应商准入管理」，能力编号 CAP-SC-03-012，成熟度 L3，重要度 88，对应三个组织单元和七个岗位。右下角这三类问题是映射表必须暴露出来的。孤儿能力：没有任何组织承接，通常是识别时凭空加的，应该删掉。无主能力：有多个组织协同但没有主责方，这种最麻烦，推进的时候会互相推诿，最后谁都不做，必须指定唯一主责。超载组织：一个组织承接的能力项超过二十五个，说明这个组织实际在做定位外的事，这在国企和大集团里特别常见，因为历史遗留的职能一直没清理。这三类问题在映射表上一眼能看出来，光看能力清单是看不出来的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能力地图的真正用途是暴露四类缺口。第一类能力空缺：战略要求但企业完全没有，比如要求具备全球供应链统筹能力，实际分散在各事业部没有任何一个部门真统筹。处置是「建」。第二类能力重复：多个组织各建同一项，三个事业部各建一套供应商管理系统，这个是过去十年 IT 建设最典型的后遗症。处置是「合」，而且要给出合并时点和责任人，否则永远是「建议整合」。第三类能力错配：能力有价值但放错了位置，比如把核心竞争力建在非战略重心的业务上。处置是「挪」。第四类能力虚胖：名字听起来很强，实际成熟度只有 L1 到 L2，比如叫「智能制造能力」，实际只有数据采集。处置是「实」——要么补齐，要么干脆改个诚实的名字。下面两个方框讲呈现方式：热力图是汇报用的，一页纸但看不出具体项，所以必须配明细表。明细表是执行用的，它是路线图和考核的直接输入。这两张不能互相替代，我见过只交热力图就结项的，后面 IT 部门问「所以要做哪张表」的时候无从下手。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组织映射表模板。我讲一下右下角四条使用要求背后的考虑。第一条主责必须唯一，空着就是无主能力，前面说过，这是最常见的坑。第二条协同组织最多三个，超过就说明职责边界没划清——协同一多就没有真正的协同，全是开会。第三条岗位数为零的能力项必须回退重审，一个没人干的能力不成立。第四条超载标注，这就是上一页说的那类问题。这张表我要特别说它的用途：组织调整方案评审的时候，先查这张表再看组织图。某个部门被撤并，直接读它的能力列——落在这些能力上的承接方必须同时指定，否则架构会在组织调整中悄悄断掉。举个具体的：很多企业合并了两个事业部，架构上没人动，看起来没影响，但半年后复盘发现两个事业部之间的能力交接全断了，因为承接方消失了，新部门默认谁都不管。所以这张表最大的价值不是给架构师看的，是给组织调整决策者看的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六部分，能力落地与治理。这一部分是前面五部分的收口，回答一个问题：架构交出去之后怎么活下去。三页分别讲路线图编排方法、运营机制与考核指标、运营看板模板。我先说一句判断：很多企业的业务架构不是做失败，是交付完就死了。这一部分讲的就是怎么让它活着。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路线图编排三步。第一步筛候选能力：从热力图的「提升重点」和「风险」两格里筛，通常占全量的百分之十五到二十五。这里有个常见错误是想全量都提升，全量都提升等于没有优先级，最后变成一个愿望清单。第二步定义跃迁目标：从 Ln 到 Lm。这里有个硬约束——跨级不宜超过两级，跨三级以上的项目周期长、风险高，必须拆成多个波次。我见过企业一次性把某项能力从 L1 提到 L5，结果做了两年没做成，最后不了了之。第三步编排波次与资源，按时间轴排，每波次明确预算、承接项目和责任高管。波次间隔我建议六到十二个月，中间要留出能力沉淀期——能力提升不是上一个系统就完了，得让人跑顺、指标稳定了才算真的提升。下面这张表是三波次的示例，条形长度就是能力跃迁所需周期。各位可以注意最后一行「全球寻源网络」从 L1 到 L3，跨度是七个周期，预算一千二百万——这类长周期的能力必须放在最后排，因为它最不确定。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运营机制。三段节奏：月度盯能力指标，Owner 月度上报数据跟目标比对，连续两个月偏离就启动根因分析；季度复核成熟度，重点能力重评 L 级，升级必须有证据，不接受自评提升；年度刷新架构，重估重要度、更新热力图、重排波次，把已完成的能力归档。这三段里最容易做的是月度，因为有数据；最容易断的是季度，因为没有强制要求；最容易糊弄的是年度，因为年度一忙就跳过了。左栏这句话是我最想强调的：业务架构的 Owner 必须是企业架构管理部门，不能是 IT 部门。IT 只能提供工具，维护责任一旦落到 IT，业务能力会退化成系统功能清单——这是我们见过最普遍的一种退化。右栏四类挂到高管考核的指标，如果不挂考核，前面所有工作半年后就白做了。最后这条经验值得单独说：我们见过不少企业，架构评审做得很漂亮，但因为没挂考核，半年后回看成熟度分几乎没动。根因是没有任何人有动机去更新它——架构不是靠维护出来的，是靠考核逼出来的。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运营看板，一屏看清架构是否在动。这页是给管理层看的，所以设计原则是让人三十秒内得出结论。上面四个数字是总量类：能力总数 118 项，加权平均成熟度 L2.8 较去年提升 0.4 级，L4 以上占比 23% 目标是明年到 35%，路线图覆盖 27 项占候选集的七成六。下面左边是状态灯，正常推进 17 项、进度滞后 6 项、需高层介入 3 项、已达成归档 1 项。这个分布我认为还算健康——如果全是绿的，说明评级标准太松。下面右边这一栏是整张看板最重要的部分：本期需高层决策事项。第一条全球寻源网络跨三个事业部需要明确唯一主责方，P1，这是组织问题不是架构问题；第二条智能制造能力 L2 虚胖需要决定撤还是补，这也是决策，架构团队不能自己定；第三条三套供应商系统重复建设必须完成合并，这是资源问题。这三条都不是架构团队能解决的，所以要显式放上看板。看板每月更新一次，跟经营例会合并汇报。如果只有一个 takeaway，就记住最下面那句：需要高层决策的事项，没人替架构团队做主。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四层贯通，是前面所有内容的验收标准。一条完整链路，我以「降本增效」为例走一遍：战略意图是三年内降本百分之十五，举措是采购成本优化，变革项目是集采平台上线，价值流是采购需求到下单，业务能力是采购成本分析从 L2 提到 L4，组织承接是采购部王某，度量指标是单位成本下降百分之六点八。这条链能走通，业务架构就算做成了。下面两个判断是双向的。向下可追溯：任一笔能力建设预算，都能逐级向上找到它承接的变革项目、举措和战略意图。做不到向上追溯，说明这笔钱是「想做的事」而不是「战略要做的事」，这类投入在企业里非常多。向上可追溯：每条战略意图必须能向下走到至少一项能力指标。走不到底的战略意图，本质上就是一句没打算落地的口号。这里我引一句业界说法：架构的价值不在于每一层单独正确，而在于四层之间能双向追溯。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五个坑，这一页我讲得最快，但可能最有用。这五条都是我们实际见过的翻车方式，每条我都标了代价。第一条，从组织架构图改名叫「能力地图」——把部门框改成能力框，内容完全不变，组织一调整架构就作废。第二条，能力名称后面挂括号写部门——「合同管理（法务部）」这类写法本质还是组织视角，只是套了个壳。第三条，把活动当成能力——「组织会议」「填写报表」写进清单，结果全量膨胀到几百项，评估失效，路线图排不出来。第四条，成熟度靠拍脑袋给分——没有证据就报 L4，结果整张热力图一片橙，管理层看完再也不信。第五条，架构交付完就结束——这第五条最常见，前面四部分都做对了，死在最后一跳。这五条的共同根因写在最下面：把业务架构当成一次性文档，而不是一套要长期活着的数据。数据必须有 Owner、有字段、有更新机制，架构同理。所以我在第 2 页就说，业务架构的 Owner 应该是企业架构管理部门——架构跟数据一样，是要有专人管的资产。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这一页是全册最重要的一页，我讲得慢一点。BA 回答四个问题里排第一个的那个——做什么业务、凭什么做。四个架构的关系不是并列的，是有先后的：BA 定方向，DA 才知道需要什么数据，AA 才知道系统该承载什么，TA 才知道技术怎么实现。下面那条链路是《华为数据之道》里的战略解码链，从战略意图一路走到岗位，这是 BA 的主干路线。下面三个判断是全册的论点支撑。最左那句「能力必须与组织解耦」，后面第 5 页、第 6 页会反复用到；中间那句「业务对象是四架构共同语言」，是 BA 交给 DA 的正式交付物；右边那句「战略不落地成能力等于没做」，是我们判断项目成败的标准。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最后收一下。这一册三十页，从总论讲到治理，从价值流讲到运营看板，最后落到五个坑。整册其实就一句话：先有「做什么」，才有「要什么」。四个关键词——价值流、能力、评估、映射——决定了一份战略能不能被拆到人、拆到钱、拆到每一年的考核里。如果各位记住四个问题就更好了：做什么业务（价值流），凭什么做（业务能力），做到哪一步（成熟度评估），谁来做（组织映射）。这四个问题的答案，就是业务架构的全部内容。后面还有 DA、AA、TA 三册，DA 那册已经做完了，AA 和 TA 我们按同一套体例继续做。如果这一册有想深挖的地方，比如战略解码的访谈提纲、或者热力图的实际打分过程，随时说，我们把那些细节单独展开。剩下的时间交给各位。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进入第一部分，总论。这一部分只有三页，但它是后面所有动作的判据。我要先讲清业务架构的四层结构，再给五条原则，最后说清 BA 和另外三个架构怎么接上。总论讲得越短越好，因为真正花时间的是后面五个部分。这里我提醒一句：很多企业做业务架构失败，不是因为不会画，而是因为总论这一层没想清楚就往下冲，导致后面全是返工。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先看四层结构。这四层不是随便定的，它每一层只回答一个问题：L1 战略意图层回答「往哪走」，L2 价值流层回答「做什么」，L3 能力层回答「凭什么做」，L4 组织层回答「谁来做」。注意能力层在组织层上面，这个顺序是刻意的。我见过太多企业把能力挂在组织下面，能力名字叫「营销部管理」「财务部核算」——这等于宣告能力随组织变。组织三年一调整，架构三年就作废一遍。正确做法是把能力独立出来：能力是「企业会做什么」，相对稳定；组织是「谁来做」，经常变。两者分开画、分开维护，通过映射关系连接。这张图还要能反过来用——任何一个岗位存在，都应该能向上找到它支撑的能力；找不到，说明这个岗位在架构里没有落点。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五条原则，我一条一条给代价。这五条不是理论，是我根据项目复盘写出来的，每一条背后都有一个真实的翻车项目。第一条，从战略出发不从组织出发——第一份价值流图必须脱离现有组织框画，否则你会把现有职责固化进架构。第二条，能力与组织解耦，就是上一页讲的。第三条，能力必须可度量——没指标的能力评估不了成熟度也进不了考核，只能算一句口号。第四条，颗粒度保持可比——同一层里不能既有「供应链管理」又有「打印」。第五条，业务对象是唯一接口——能力和能力的衔接必须通过业务对象说明，不能靠箭头意思一下。右边这一列是评审时的检查表：凡是要靠「我们是这样理解的」才能解释的关系，都是不合格的。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 BA 和另外三个架构怎么接。核心就一句话：BA 交付的业务对象，是 DA、AA、TA 的共同起点。往下看四段传递——BA 识别的业务对象，在 DA 里是资产目录的 L3 核心层，这个说法我在 DA 那册讲过；再往下决定应用的功能边界；再往下决定技术上的存储单元粒度。我要强调的是右边这四条断链风险。这些断裂在项目里都出现过，而且都是到集成阶段才暴露，那时候改的成本是设计阶段的十倍。第一条「BA 只交组织图」，后面三段只能靠猜；第二条「BA 交能力但无对象」，数据架构就会另起一套名字，然后四架构永远对不上；第三条「对象没有业务定义」，同名不同义，集成时爆雷；第四条「能力与对象无关联」，你就没法回答「这个能力要动哪些数据」这个在 DA 阶段一定会被问到的问题。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第二部分，战略解码与价值流。这是 BA 的主干作业，一共四页：方法页讲战略解码五步法，内容页讲价值流识别与绘制，模板页给价值流图和符号规范。我先说一句：这一部分是整个 BA 里最需要访谈的环节，前面的总论可以纸上谈兵，这里不行。你必须拉着业务部门的人坐下来，一个节点一个节点地问。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战略解码五步，从战略意图一路收敛到价值流。我要强调的是它是一个收敛过程，每一步都在缩小范围，而不是平铺。第一步提取战略意图：把战略文本压缩成五到八条可判断真假的陈述句。这里有个硬标准——每条必须能回答「做成了什么样算成功」。如果一句话没法判断真假，它就是口号。第二步识别举措，每条意图对应一到三个举措。不做举措分解就会直接跳到项目，这是最常见的跳级。第三步圈定变革项目，举措落成项目，项目必须绑定业务范围。像「提升效率」这种无边界描述，必须被砍掉或者重写。第四步识别价值流，这时候才开始画，而且先不画组织框。第五步校验闭环，这是最容易被跳过但最有价值的一步：每条举措必须至少挂一条价值流，每条价值流必须至少承接一条举措。挂不上或者接不住，就是解码缺口，得回头补。左栏这句话是这一页的重点——「降本增效」是口号不是战略意图，只有解码到具体变革项目、能挂上指标，才叫完成解码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5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6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7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9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0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5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6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7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9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0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2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4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3810000" y="0"/>
            <a:ext cx="1143000" cy="6858000"/>
          </a:xfrm>
          <a:prstGeom prst="rect">
            <a:avLst/>
          </a:prstGeom>
          <a:gradFill>
            <a:gsLst>
              <a:gs pos="0">
                <a:srgbClr val="FA4F24">
                  <a:alpha val="35000"/>
                </a:srgbClr>
              </a:gs>
              <a:gs pos="100000">
                <a:srgbClr val="F87D2F">
                  <a:alpha val="0"/>
                </a:srgbClr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2133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514975"/>
            <a:ext cx="533400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硕磐智能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010275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BUSINESS ARCHITECTURE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143500" y="1428750"/>
            <a:ext cx="6286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143500" y="2609850"/>
            <a:ext cx="628650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0F1423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143500" y="3495675"/>
            <a:ext cx="8382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3790950"/>
            <a:ext cx="62865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3A4050"/>
                </a:solidFill>
                <a:latin typeface="Microsoft YaHei"/>
                <a:ea typeface="Microsoft YaHei"/>
              </a:rPr>
              <a:t>从战略意图到价值流，从业务能力到组织承接，构建可落地、可度量、可演进的业务架构体系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143500" y="5334000"/>
            <a:ext cx="8001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14950" y="54102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价值流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0579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2293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1247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2961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能力评估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1915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629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组织映射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143500" y="5943600"/>
            <a:ext cx="38100" cy="1714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76850" y="5953125"/>
            <a:ext cx="351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方法论依据：《华为数据之道》（华为公司数据管理部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著）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七个部分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，把业务架构从战略解码到能力落地逐一拆到可交付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从总论到价值流、能力、评估、映射与治理，每部分均含「方法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模板」三段式作业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1400175"/>
            <a:ext cx="64770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00100" y="160972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409700" y="16573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业务架构总论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276600" y="16478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四层结构骨架、五条原则与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贯通关系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286500" y="169545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P04–07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2257425"/>
            <a:ext cx="6477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409700" y="2524125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战略解码与价值流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276600" y="250507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五步解码法，从战略意图到价值流识别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286500" y="25527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P08–11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09600" y="3124200"/>
            <a:ext cx="64770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409700" y="3381375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业务能力识别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3276600" y="337185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价值流两问法，能力域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组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项三层分解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286500" y="341947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P12–15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09600" y="3981450"/>
            <a:ext cx="6477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00100" y="41910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409700" y="42481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能力评估与热力图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3276600" y="422910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成熟度×重要度二维评估与五级判断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286500" y="427672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P16–19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4848225"/>
            <a:ext cx="64770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00100" y="50577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409700" y="51054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能力地图与组织映射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3276600" y="509587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能力—组织—岗位三线映射与缺口识别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286500" y="51435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P20–23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277100" y="1400175"/>
            <a:ext cx="430530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467600" y="15811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934325" y="1581150"/>
            <a:ext cx="1266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能力落地与治理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467600" y="19812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路线图编排、运营机制与考核指标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467600" y="2295525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P24–27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7277100" y="2743200"/>
            <a:ext cx="4305300" cy="1228725"/>
          </a:xfrm>
          <a:prstGeom prst="roundRect">
            <a:avLst>
              <a:gd name="adj" fmla="val 310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467600" y="29241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934325" y="2924175"/>
            <a:ext cx="904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贯通与避坑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7467600" y="332422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四层因果链与五个做砸业务架构的坑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467600" y="363855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P28–29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277100" y="4095750"/>
            <a:ext cx="4305300" cy="1485900"/>
          </a:xfrm>
          <a:prstGeom prst="roundRect">
            <a:avLst>
              <a:gd name="adj" fmla="val 256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467600" y="4448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467600" y="4724400"/>
            <a:ext cx="3924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先有「做什么」，才有「要什么」——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业务能力定清楚，数据与系统才知道往哪投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838200" y="590550"/>
            <a:ext cx="10515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423"/>
                </a:solidFill>
                <a:latin typeface="Microsoft YaHei"/>
                <a:ea typeface="Microsoft YaHei"/>
              </a:rPr>
              <a:t>业务架构回答</a:t>
            </a:r>
            <a:r>
              <a:rPr lang="zh-CN" sz="2550" b="1">
                <a:solidFill>
                  <a:srgbClr val="FA4F24"/>
                </a:solidFill>
                <a:latin typeface="Microsoft YaHei"/>
                <a:ea typeface="Microsoft YaHei"/>
              </a:rPr>
              <a:t>「做什么业务、凭什么做」</a:t>
            </a:r>
            <a:r>
              <a:rPr lang="zh-CN" sz="2550" b="1">
                <a:solidFill>
                  <a:srgbClr val="0F1423"/>
                </a:solidFill>
                <a:latin typeface="Microsoft YaHei"/>
                <a:ea typeface="Microsoft YaHei"/>
              </a:rPr>
              <a:t>，它是</a:t>
            </a:r>
            <a:r>
              <a:rPr lang="en-US" sz="25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550" b="1">
                <a:solidFill>
                  <a:srgbClr val="0F1423"/>
                </a:solidFill>
                <a:latin typeface="Microsoft YaHei"/>
                <a:ea typeface="Microsoft YaHei"/>
              </a:rPr>
              <a:t>的起点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838200" y="105727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没有业务架构，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DA/AA/TA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各自为政；有了业务架构，四架构才有同一条因果链</a:t>
            </a:r>
            <a:endParaRPr/>
          </a:p>
        </p:txBody>
      </p:sp>
      <p:sp>
        <p:nvSpPr>
          <p:cNvPr id="994" name=""/>
          <p:cNvSpPr/>
          <p:nvPr/>
        </p:nvSpPr>
        <p:spPr>
          <a:xfrm rot="0" flipH="0" flipV="0">
            <a:off x="838200" y="1457325"/>
            <a:ext cx="105156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838200" y="1771650"/>
            <a:ext cx="2562225" cy="1714500"/>
          </a:xfrm>
          <a:prstGeom prst="roundRect">
            <a:avLst>
              <a:gd name="adj" fmla="val 222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990600" y="2095500"/>
            <a:ext cx="2257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990600" y="249555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990600" y="280035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做什么业务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990600" y="3028950"/>
            <a:ext cx="2257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价值流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能力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组织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3495675" y="1771650"/>
            <a:ext cx="2552700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3648075" y="2095500"/>
            <a:ext cx="2247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3648075" y="2495550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3648075" y="280035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需要什么数据</a:t>
            </a:r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3648075" y="3028950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对象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标准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模型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分布</a:t>
            </a:r>
            <a:endParaRPr/>
          </a:p>
        </p:txBody>
      </p:sp>
      <p:sp>
        <p:nvSpPr>
          <p:cNvPr id="1005" name=""/>
          <p:cNvSpPr/>
          <p:nvPr/>
        </p:nvSpPr>
        <p:spPr>
          <a:xfrm rot="0" flipH="0" flipV="0">
            <a:off x="6143625" y="1771650"/>
            <a:ext cx="2562225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6296025" y="2095500"/>
            <a:ext cx="2257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6296025" y="249555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6296025" y="280035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用什么系统承载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6296025" y="3028950"/>
            <a:ext cx="2257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应用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集成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复用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8801100" y="1771650"/>
            <a:ext cx="2552700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8953500" y="2095500"/>
            <a:ext cx="2247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953500" y="2495550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8953500" y="2800350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用什么技术实现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8953500" y="3028950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部署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运维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838200" y="3638550"/>
            <a:ext cx="10515600" cy="971550"/>
          </a:xfrm>
          <a:prstGeom prst="roundRect">
            <a:avLst>
              <a:gd name="adj" fmla="val 392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1066800" y="3943350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战略解码链路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1066800" y="4181475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B8BDC7"/>
                </a:solidFill>
                <a:latin typeface="Microsoft YaHei"/>
                <a:ea typeface="Microsoft YaHei"/>
              </a:rPr>
              <a:t>DECODE CHAIN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2800350" y="3962400"/>
            <a:ext cx="6858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2857500" y="4038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战略意图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3543300" y="40290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4010025" y="3962400"/>
            <a:ext cx="40005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4067175" y="40386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举措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4467225" y="40290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5219700" y="3962400"/>
            <a:ext cx="6858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5276850" y="4038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变革项目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5962650" y="40290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6429375" y="3962400"/>
            <a:ext cx="54292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6486525" y="40386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价值流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7029450" y="40290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7629525" y="3962400"/>
            <a:ext cx="685800" cy="32385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686675" y="4038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8372475" y="40290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33" name=""/>
          <p:cNvSpPr/>
          <p:nvPr/>
        </p:nvSpPr>
        <p:spPr>
          <a:xfrm rot="0" flipH="0" flipV="0">
            <a:off x="8839200" y="3962400"/>
            <a:ext cx="685800" cy="32385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8896350" y="4038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组织单元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9582150" y="40290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10048875" y="3962400"/>
            <a:ext cx="400050" cy="32385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10106025" y="40386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岗位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876300" y="4762500"/>
            <a:ext cx="3429000" cy="1314450"/>
          </a:xfrm>
          <a:prstGeom prst="roundRect">
            <a:avLst>
              <a:gd name="adj" fmla="val 289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876300" y="4762500"/>
            <a:ext cx="3429000" cy="1314450"/>
          </a:xfrm>
          <a:custGeom>
            <a:pathLst>
              <a:path w="360" h="138">
                <a:moveTo>
                  <a:pt x="4" y="138"/>
                </a:moveTo>
                <a:cubicBezTo>
                  <a:pt x="2" y="138"/>
                  <a:pt x="0" y="136"/>
                  <a:pt x="0" y="1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1047750" y="50482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业务能力必须与组织解耦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1047750" y="5314950"/>
            <a:ext cx="3048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能力是「企业会做什么」，组织是「谁来做」。把两者绑死，一组织调整能力就全乱。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4419600" y="4762500"/>
            <a:ext cx="3429000" cy="1314450"/>
          </a:xfrm>
          <a:prstGeom prst="roundRect">
            <a:avLst>
              <a:gd name="adj" fmla="val 289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4419600" y="4762500"/>
            <a:ext cx="3429000" cy="1314450"/>
          </a:xfrm>
          <a:custGeom>
            <a:pathLst>
              <a:path w="360" h="138">
                <a:moveTo>
                  <a:pt x="4" y="138"/>
                </a:moveTo>
                <a:cubicBezTo>
                  <a:pt x="2" y="138"/>
                  <a:pt x="0" y="136"/>
                  <a:pt x="0" y="1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业务对象是四架构共同语言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4591050" y="5314950"/>
            <a:ext cx="3048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识别的业务对象，直接成为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L3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核心层、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的功能边界、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的数据单元。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7962900" y="4762500"/>
            <a:ext cx="3429000" cy="1314450"/>
          </a:xfrm>
          <a:prstGeom prst="roundRect">
            <a:avLst>
              <a:gd name="adj" fmla="val 289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7962900" y="4762500"/>
            <a:ext cx="3429000" cy="1314450"/>
          </a:xfrm>
          <a:custGeom>
            <a:pathLst>
              <a:path w="360" h="138">
                <a:moveTo>
                  <a:pt x="4" y="138"/>
                </a:moveTo>
                <a:cubicBezTo>
                  <a:pt x="2" y="138"/>
                  <a:pt x="0" y="136"/>
                  <a:pt x="0" y="1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8134350" y="50482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战略不落地成能力等于没做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8134350" y="5314950"/>
            <a:ext cx="3048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战略意图只有解码到价值流和能力项，并挂上指标，才算真正完成解码。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838200" y="63341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1066800" y="63150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108966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  <p:sp>
        <p:nvSpPr>
          <p:cNvPr id="1053" name=""/>
          <p:cNvSpPr/>
          <p:nvPr/>
        </p:nvSpPr>
        <p:spPr>
          <a:xfrm rot="0" flipH="0" flipV="0">
            <a:off x="3362325" y="2619375"/>
            <a:ext cx="38100" cy="2857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6010275" y="2619375"/>
            <a:ext cx="38100" cy="2857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8667750" y="2619375"/>
            <a:ext cx="38100" cy="2857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业务架构总论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BUSINESS ARCHITECTURE OVERVIEW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四层结构、五条原则与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贯通关系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83915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8639175" y="60864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0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四层结构自上而下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逐层收敛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，自下而上逐层可追溯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战略意图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价值流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业务能力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组织承接，每一层只回答一个问题，每一层都可被上一层解释</a:t>
            </a:r>
            <a:endParaRPr/>
          </a:p>
        </p:txBody>
      </p:sp>
      <p:sp>
        <p:nvSpPr>
          <p:cNvPr id="109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业务架构四层骨架</a:t>
            </a:r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609600" y="1724025"/>
            <a:ext cx="5334000" cy="723900"/>
          </a:xfrm>
          <a:prstGeom prst="roundRect">
            <a:avLst>
              <a:gd name="adj" fmla="val 5263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1276350" y="1885950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战略意图层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5181600" y="1952625"/>
            <a:ext cx="5905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5276850" y="20097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往哪走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609600" y="2543175"/>
            <a:ext cx="4762500" cy="723900"/>
          </a:xfrm>
          <a:prstGeom prst="roundRect">
            <a:avLst>
              <a:gd name="adj" fmla="val 5263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781050" y="278130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1276350" y="27051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价值流层</a:t>
            </a:r>
            <a:endParaRPr/>
          </a:p>
        </p:txBody>
      </p:sp>
      <p:sp>
        <p:nvSpPr>
          <p:cNvPr id="1107" name=""/>
          <p:cNvSpPr/>
          <p:nvPr/>
        </p:nvSpPr>
        <p:spPr>
          <a:xfrm rot="0" flipH="0" flipV="0">
            <a:off x="4610100" y="2771775"/>
            <a:ext cx="5905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4705350" y="28289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609600" y="3362325"/>
            <a:ext cx="4191000" cy="723900"/>
          </a:xfrm>
          <a:prstGeom prst="roundRect">
            <a:avLst>
              <a:gd name="adj" fmla="val 5263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781050" y="360045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1276350" y="3524250"/>
            <a:ext cx="2495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1112" name=""/>
          <p:cNvSpPr/>
          <p:nvPr/>
        </p:nvSpPr>
        <p:spPr>
          <a:xfrm rot="0" flipH="0" flipV="0">
            <a:off x="3905250" y="3590925"/>
            <a:ext cx="72390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4000500" y="36480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凭什么做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609600" y="4181475"/>
            <a:ext cx="3619500" cy="723900"/>
          </a:xfrm>
          <a:prstGeom prst="roundRect">
            <a:avLst>
              <a:gd name="adj" fmla="val 5263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781050" y="441960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1276350" y="4343400"/>
            <a:ext cx="205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组织层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3467100" y="4410075"/>
            <a:ext cx="5905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3562350" y="44672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谁来做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6191250" y="1381125"/>
            <a:ext cx="5429250" cy="1390650"/>
          </a:xfrm>
          <a:prstGeom prst="roundRect">
            <a:avLst>
              <a:gd name="adj" fmla="val 274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0" name=""/>
          <p:cNvSpPr/>
          <p:nvPr/>
        </p:nvSpPr>
        <p:spPr>
          <a:xfrm rot="0" flipH="0" flipV="0">
            <a:off x="6191250" y="1381125"/>
            <a:ext cx="5429250" cy="1390650"/>
          </a:xfrm>
          <a:custGeom>
            <a:pathLst>
              <a:path w="570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6400800" y="15335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每层只回答一个问题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6400800" y="1819275"/>
            <a:ext cx="49720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价值流回答「做什么」，能力层回答「凭什么做」，组织层回答「谁来做」。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三个问题必须分别回答，不能合并成一个——合并就会退化成「组织架构图加几个标签」。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6191250" y="2895600"/>
            <a:ext cx="5429250" cy="1390650"/>
          </a:xfrm>
          <a:prstGeom prst="roundRect">
            <a:avLst>
              <a:gd name="adj" fmla="val 274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4" name=""/>
          <p:cNvSpPr/>
          <p:nvPr/>
        </p:nvSpPr>
        <p:spPr>
          <a:xfrm rot="0" flipH="0" flipV="0">
            <a:off x="6191250" y="2895600"/>
            <a:ext cx="5429250" cy="1390650"/>
          </a:xfrm>
          <a:custGeom>
            <a:pathLst>
              <a:path w="570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6400800" y="30480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为什么能力必须在组织之上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6400800" y="3333750"/>
            <a:ext cx="49720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组织会频繁调整，但能力相对稳定。把能力挂在组织下面，等于说「能力随组织变」——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一次组织调整就要重画整套架构。能力独立出来，才有沉淀和复用的可能。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6153150" y="4410075"/>
            <a:ext cx="5429250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6362700" y="46005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全册主线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6362700" y="486727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战略解码的价值，就是把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的「往哪走」一句口号，变成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L3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上可度量、可考核的能力项。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中间任何一层偷懒，上层就会落空，下层就会返工。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1276350" y="2143125"/>
            <a:ext cx="3771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企业战略、业务愿景、年度重点</a:t>
            </a:r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1276350" y="2962275"/>
            <a:ext cx="3200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端到端价值流、变革项目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1276350" y="3781425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能力域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能力组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能力项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1276350" y="4600575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组织单元、岗位、流程活动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五条原则，用来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拒绝「画得像但没用」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的业务架构</a:t>
            </a:r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每一条都对应一类常见的失败做法——评审时逐条对照，比看图更有效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2" name=""/>
          <p:cNvSpPr/>
          <p:nvPr/>
        </p:nvSpPr>
        <p:spPr>
          <a:xfrm rot="0" flipH="0" flipV="0">
            <a:off x="647700" y="138112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3" name=""/>
          <p:cNvSpPr/>
          <p:nvPr/>
        </p:nvSpPr>
        <p:spPr>
          <a:xfrm rot="0" flipH="0" flipV="0">
            <a:off x="647700" y="1381125"/>
            <a:ext cx="10972800" cy="657225"/>
          </a:xfrm>
          <a:custGeom>
            <a:pathLst>
              <a:path w="1152" h="69">
                <a:moveTo>
                  <a:pt x="4" y="69"/>
                </a:moveTo>
                <a:cubicBezTo>
                  <a:pt x="2" y="69"/>
                  <a:pt x="0" y="67"/>
                  <a:pt x="0" y="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857250" y="15430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1466850" y="1428750"/>
            <a:ext cx="20764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从战略出发，不从组织出发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3714750" y="1457325"/>
            <a:ext cx="5200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第一份价值流图必须脱离现有组织框绘制。先画组织再画价值流，会把现有职责固化进架构。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9086850" y="1533525"/>
            <a:ext cx="228600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9201150" y="16097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典型坑：按现有部门切价值流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647700" y="215265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0" name=""/>
          <p:cNvSpPr/>
          <p:nvPr/>
        </p:nvSpPr>
        <p:spPr>
          <a:xfrm rot="0" flipH="0" flipV="0">
            <a:off x="647700" y="2152650"/>
            <a:ext cx="10972800" cy="590550"/>
          </a:xfrm>
          <a:custGeom>
            <a:pathLst>
              <a:path w="1152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1466850" y="2305050"/>
            <a:ext cx="207645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能力与组织解耦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3714750" y="2190750"/>
            <a:ext cx="5200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能力描述「企业会做什么」，组织描述「谁来做」。两者分开画、分开维护，通过映射关系连接。</a:t>
            </a:r>
            <a:endParaRPr/>
          </a:p>
        </p:txBody>
      </p:sp>
      <p:sp>
        <p:nvSpPr>
          <p:cNvPr id="1154" name=""/>
          <p:cNvSpPr/>
          <p:nvPr/>
        </p:nvSpPr>
        <p:spPr>
          <a:xfrm rot="0" flipH="0" flipV="0">
            <a:off x="9086850" y="2266950"/>
            <a:ext cx="228600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9201150" y="23431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典型坑：能力名字叫「营销部管理」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647700" y="2857500"/>
            <a:ext cx="10972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647700" y="2857500"/>
            <a:ext cx="10972800" cy="600075"/>
          </a:xfrm>
          <a:custGeom>
            <a:pathLst>
              <a:path w="115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857250" y="29908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1466850" y="3019425"/>
            <a:ext cx="207645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能力必须可度量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3714750" y="2905125"/>
            <a:ext cx="5200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每项能力至少挂一个指标。没有指标的能力无法评估成熟度，也无法进入考核，只能算一句口号。</a:t>
            </a:r>
            <a:endParaRPr/>
          </a:p>
        </p:txBody>
      </p:sp>
      <p:sp>
        <p:nvSpPr>
          <p:cNvPr id="1161" name=""/>
          <p:cNvSpPr/>
          <p:nvPr/>
        </p:nvSpPr>
        <p:spPr>
          <a:xfrm rot="0" flipH="0" flipV="0">
            <a:off x="9086850" y="2981325"/>
            <a:ext cx="228600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9201150" y="30575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典型坑：能力只有名称没有度量</a:t>
            </a:r>
            <a:endParaRPr/>
          </a:p>
        </p:txBody>
      </p:sp>
      <p:sp>
        <p:nvSpPr>
          <p:cNvPr id="1163" name=""/>
          <p:cNvSpPr/>
          <p:nvPr/>
        </p:nvSpPr>
        <p:spPr>
          <a:xfrm rot="0" flipH="0" flipV="0">
            <a:off x="647700" y="3571875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4" name=""/>
          <p:cNvSpPr/>
          <p:nvPr/>
        </p:nvSpPr>
        <p:spPr>
          <a:xfrm rot="0" flipH="0" flipV="0">
            <a:off x="647700" y="3571875"/>
            <a:ext cx="10972800" cy="590550"/>
          </a:xfrm>
          <a:custGeom>
            <a:pathLst>
              <a:path w="1152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857250" y="36957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1466850" y="3724275"/>
            <a:ext cx="207645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颗粒度保持可比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3714750" y="3609975"/>
            <a:ext cx="5200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同一层级的能力项粒度要一致，不能既有「供应链管理」又有「打印」。粒度不齐就无法横向比较。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9086850" y="3686175"/>
            <a:ext cx="228600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9201150" y="376237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典型坑：同一层大小差十倍</a:t>
            </a:r>
            <a:endParaRPr/>
          </a:p>
        </p:txBody>
      </p:sp>
      <p:sp>
        <p:nvSpPr>
          <p:cNvPr id="1170" name=""/>
          <p:cNvSpPr/>
          <p:nvPr/>
        </p:nvSpPr>
        <p:spPr>
          <a:xfrm rot="0" flipH="0" flipV="0">
            <a:off x="647700" y="4276725"/>
            <a:ext cx="10972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1" name=""/>
          <p:cNvSpPr/>
          <p:nvPr/>
        </p:nvSpPr>
        <p:spPr>
          <a:xfrm rot="0" flipH="0" flipV="0">
            <a:off x="647700" y="4276725"/>
            <a:ext cx="10972800" cy="600075"/>
          </a:xfrm>
          <a:custGeom>
            <a:pathLst>
              <a:path w="115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857250" y="44100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1466850" y="4438650"/>
            <a:ext cx="2076450" cy="2857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业务对象是唯一接口</a:t>
            </a:r>
            <a:endParaRPr/>
          </a:p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3714750" y="4324350"/>
            <a:ext cx="5200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能力与能力的衔接必须通过业务对象说明，而不是靠箭头意思一下。对象是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交给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的正式交付物。</a:t>
            </a:r>
            <a:endParaRPr/>
          </a:p>
        </p:txBody>
      </p:sp>
      <p:sp>
        <p:nvSpPr>
          <p:cNvPr id="1175" name=""/>
          <p:cNvSpPr/>
          <p:nvPr/>
        </p:nvSpPr>
        <p:spPr>
          <a:xfrm rot="0" flipH="0" flipV="0">
            <a:off x="9086850" y="4400550"/>
            <a:ext cx="228600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9201150" y="44767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典型坑：箭头含义只在口头解释</a:t>
            </a:r>
            <a:endParaRPr/>
          </a:p>
        </p:txBody>
      </p:sp>
      <p:sp>
        <p:nvSpPr>
          <p:cNvPr id="1177" name=""/>
          <p:cNvSpPr/>
          <p:nvPr/>
        </p:nvSpPr>
        <p:spPr>
          <a:xfrm rot="0" flipH="0" flipV="0">
            <a:off x="609600" y="499110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838200" y="5191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评审用法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1638300" y="516255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拿到一份业务架构，先不看画得好不好看，直接拿五条原则过一遍——凡是要靠「我们是这样理解的」才能解释的关系，都是不合格的</a:t>
            </a:r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交付的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，正是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DA/AA/TA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的共同起点</a:t>
            </a:r>
            <a:endParaRPr/>
          </a:p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四架构不是四份独立文档，而是同一条链上的四段——任何一段断开，后面三段都会跑偏</a:t>
            </a:r>
            <a:endParaRPr/>
          </a:p>
        </p:txBody>
      </p:sp>
      <p:sp>
        <p:nvSpPr>
          <p:cNvPr id="118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666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业务对象的四段传递</a:t>
            </a:r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609600" y="1724025"/>
            <a:ext cx="66675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0" name=""/>
          <p:cNvSpPr/>
          <p:nvPr/>
        </p:nvSpPr>
        <p:spPr>
          <a:xfrm rot="0" flipH="0" flipV="0">
            <a:off x="800100" y="1762125"/>
            <a:ext cx="114300" cy="571500"/>
          </a:xfrm>
          <a:prstGeom prst="roundRect">
            <a:avLst>
              <a:gd name="adj" fmla="val 16667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1066800" y="1847850"/>
            <a:ext cx="140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1066800" y="2105025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识别重要人事物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2628900" y="1924050"/>
            <a:ext cx="4219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输出业务对象清单与对象关系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7000875" y="19431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609600" y="2466975"/>
            <a:ext cx="66675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6" name=""/>
          <p:cNvSpPr/>
          <p:nvPr/>
        </p:nvSpPr>
        <p:spPr>
          <a:xfrm rot="0" flipH="0" flipV="0">
            <a:off x="800100" y="2514600"/>
            <a:ext cx="114300" cy="571500"/>
          </a:xfrm>
          <a:prstGeom prst="roundRect">
            <a:avLst>
              <a:gd name="adj" fmla="val 16667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1066800" y="2590800"/>
            <a:ext cx="140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1066800" y="2847975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r>
              <a:rPr lang="en-US" sz="975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核心层</a:t>
            </a:r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2628900" y="2667000"/>
            <a:ext cx="4219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向下生成逻辑实体与属性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7000875" y="26955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01" name=""/>
          <p:cNvSpPr/>
          <p:nvPr/>
        </p:nvSpPr>
        <p:spPr>
          <a:xfrm rot="0" flipH="0" flipV="0">
            <a:off x="609600" y="3219450"/>
            <a:ext cx="66675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2" name=""/>
          <p:cNvSpPr/>
          <p:nvPr/>
        </p:nvSpPr>
        <p:spPr>
          <a:xfrm rot="0" flipH="0" flipV="0">
            <a:off x="800100" y="3257550"/>
            <a:ext cx="114300" cy="571500"/>
          </a:xfrm>
          <a:prstGeom prst="roundRect">
            <a:avLst>
              <a:gd name="adj" fmla="val 16667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1066800" y="3343275"/>
            <a:ext cx="140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1066800" y="360045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对象</a:t>
            </a:r>
            <a:r>
              <a:rPr lang="en-US" sz="975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应用功能边界</a:t>
            </a:r>
            <a:endParaRPr/>
          </a:p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2628900" y="3419475"/>
            <a:ext cx="4219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一个对象常跨多个应用，一个应用常含多个对象</a:t>
            </a:r>
            <a:endParaRPr/>
          </a:p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7000875" y="34385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07" name=""/>
          <p:cNvSpPr/>
          <p:nvPr/>
        </p:nvSpPr>
        <p:spPr>
          <a:xfrm rot="0" flipH="0" flipV="0">
            <a:off x="609600" y="3962400"/>
            <a:ext cx="66675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8" name=""/>
          <p:cNvSpPr/>
          <p:nvPr/>
        </p:nvSpPr>
        <p:spPr>
          <a:xfrm rot="0" flipH="0" flipV="0">
            <a:off x="800100" y="4000500"/>
            <a:ext cx="114300" cy="571500"/>
          </a:xfrm>
          <a:prstGeom prst="roundRect">
            <a:avLst>
              <a:gd name="adj" fmla="val 16667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1066800" y="4086225"/>
            <a:ext cx="140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1066800" y="434340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对象</a:t>
            </a:r>
            <a:r>
              <a:rPr lang="en-US" sz="975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A4F24"/>
                </a:solidFill>
                <a:latin typeface="Microsoft YaHei"/>
                <a:ea typeface="Microsoft YaHei"/>
              </a:rPr>
              <a:t>数据存储单元</a:t>
            </a:r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2628900" y="41624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决定分库分表与读写分离的粒度</a:t>
            </a:r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647700" y="4705350"/>
            <a:ext cx="66675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3" name=""/>
          <p:cNvSpPr/>
          <p:nvPr/>
        </p:nvSpPr>
        <p:spPr>
          <a:xfrm rot="0" flipH="0" flipV="0">
            <a:off x="647700" y="4705350"/>
            <a:ext cx="6667500" cy="876300"/>
          </a:xfrm>
          <a:custGeom>
            <a:pathLst>
              <a:path w="700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838200" y="4781550"/>
            <a:ext cx="624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为什么必须共用对象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838200" y="5029200"/>
            <a:ext cx="6248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四个架构各自定义自己的名词，就会出现四套「客户」定义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数据架构叫它客户编号，应用架构叫它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CUST_ID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，流程里叫它往来单位。共用业务对象是唯一能终结这类分歧的手段。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7486650" y="138112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四种典型断链</a:t>
            </a:r>
            <a:endParaRPr/>
          </a:p>
        </p:txBody>
      </p:sp>
      <p:sp>
        <p:nvSpPr>
          <p:cNvPr id="1217" name=""/>
          <p:cNvSpPr/>
          <p:nvPr/>
        </p:nvSpPr>
        <p:spPr>
          <a:xfrm rot="0" flipH="0" flipV="0">
            <a:off x="7486650" y="1733550"/>
            <a:ext cx="409575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7658100" y="2057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7734300" y="20955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8001000" y="19716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只交组织图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8001000" y="2209800"/>
            <a:ext cx="3409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没有能力和对象，后面三段只能靠猜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7486650" y="2724150"/>
            <a:ext cx="409575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7658100" y="3048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7734300" y="30861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8001000" y="29718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交能力但无对象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8001000" y="3209925"/>
            <a:ext cx="3409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数据架构另起一套对象名，四架构对不上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7486650" y="3724275"/>
            <a:ext cx="409575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8" name=""/>
          <p:cNvSpPr/>
          <p:nvPr/>
        </p:nvSpPr>
        <p:spPr>
          <a:xfrm rot="0" flipH="0" flipV="0">
            <a:off x="7658100" y="4048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7734300" y="40862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8001000" y="39624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对象无业务定义</a:t>
            </a:r>
            <a:endParaRPr/>
          </a:p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8001000" y="4200525"/>
            <a:ext cx="3409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同名不同义，最终在集成时爆雷</a:t>
            </a:r>
            <a:endParaRPr/>
          </a:p>
        </p:txBody>
      </p:sp>
      <p:sp>
        <p:nvSpPr>
          <p:cNvPr id="1232" name=""/>
          <p:cNvSpPr/>
          <p:nvPr/>
        </p:nvSpPr>
        <p:spPr>
          <a:xfrm rot="0" flipH="0" flipV="0">
            <a:off x="7486650" y="4714875"/>
            <a:ext cx="409575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3" name=""/>
          <p:cNvSpPr/>
          <p:nvPr/>
        </p:nvSpPr>
        <p:spPr>
          <a:xfrm rot="0" flipH="0" flipV="0">
            <a:off x="7658100" y="50387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7734300" y="50768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8001000" y="49530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能力与对象无关联</a:t>
            </a:r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8001000" y="5191125"/>
            <a:ext cx="3409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无法回答「这个能力要动哪些数据」</a:t>
            </a:r>
            <a:endParaRPr/>
          </a:p>
        </p:txBody>
      </p:sp>
      <p:sp>
        <p:nvSpPr>
          <p:cNvPr id="1237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246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战略解码与价值流</a:t>
            </a:r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STRATEGY DECODING &amp; VALUE STREAM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从战略意图到举措，从变革项目到价值流</a:t>
            </a:r>
            <a:endParaRPr/>
          </a:p>
        </p:txBody>
      </p:sp>
      <p:sp>
        <p:nvSpPr>
          <p:cNvPr id="1250" name=""/>
          <p:cNvSpPr/>
          <p:nvPr/>
        </p:nvSpPr>
        <p:spPr>
          <a:xfrm rot="0" flipH="0" flipV="0">
            <a:off x="83915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8639175" y="60864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战略解码五步法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，把口号变成可执行的价值流</a:t>
            </a:r>
            <a:endParaRPr/>
          </a:p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战略解码不是翻译战略，而是逐层收敛——每一层都必须能被上一层解释，且必须落得下一层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02 · VALUE STREAM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战略解码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五步法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857250" y="423862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857250" y="4429125"/>
            <a:ext cx="25527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「降本增效」是口号不是战略意图。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只有解码到具体变革项目、能挂上指标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，才叫完成解码。</a:t>
            </a:r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773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从战略到价值流的五个收敛动作</a:t>
            </a:r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3886200" y="1733550"/>
            <a:ext cx="77343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5" name=""/>
          <p:cNvSpPr/>
          <p:nvPr/>
        </p:nvSpPr>
        <p:spPr>
          <a:xfrm rot="0" flipH="0" flipV="0">
            <a:off x="3886200" y="1733550"/>
            <a:ext cx="7734300" cy="695325"/>
          </a:xfrm>
          <a:custGeom>
            <a:pathLst>
              <a:path w="812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4057650" y="18954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4057650" y="21717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INTENT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4743450" y="19812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提取战略意图</a:t>
            </a:r>
            <a:endParaRPr/>
          </a:p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6115050" y="1847850"/>
            <a:ext cx="4095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把战略文本压缩成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5–8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条可判断真假的陈述句，每条必须能回答「做成了什么样算成功」。</a:t>
            </a:r>
            <a:endParaRPr/>
          </a:p>
        </p:txBody>
      </p:sp>
      <p:sp>
        <p:nvSpPr>
          <p:cNvPr id="1270" name=""/>
          <p:cNvSpPr/>
          <p:nvPr/>
        </p:nvSpPr>
        <p:spPr>
          <a:xfrm rot="0" flipH="0" flipV="0">
            <a:off x="10344150" y="1943100"/>
            <a:ext cx="10668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10382250" y="200025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可判断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非口号</a:t>
            </a:r>
            <a:endParaRPr/>
          </a:p>
        </p:txBody>
      </p:sp>
      <p:sp>
        <p:nvSpPr>
          <p:cNvPr id="1272" name=""/>
          <p:cNvSpPr/>
          <p:nvPr/>
        </p:nvSpPr>
        <p:spPr>
          <a:xfrm rot="0" flipH="0" flipV="0">
            <a:off x="3886200" y="2533650"/>
            <a:ext cx="77343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3886200" y="2533650"/>
            <a:ext cx="7734300" cy="695325"/>
          </a:xfrm>
          <a:custGeom>
            <a:pathLst>
              <a:path w="812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4057650" y="26955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4057650" y="29718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INITIATIVE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4743450" y="27813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识别关键举措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6115050" y="2647950"/>
            <a:ext cx="4095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每条战略意图对应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1–3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个举措。举措是战略的落地抓手，不做举措分解就会直接跳到项目。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10344150" y="2743200"/>
            <a:ext cx="10668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10382250" y="280035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抓手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可命名</a:t>
            </a:r>
            <a:endParaRPr/>
          </a:p>
        </p:txBody>
      </p:sp>
      <p:sp>
        <p:nvSpPr>
          <p:cNvPr id="1280" name=""/>
          <p:cNvSpPr/>
          <p:nvPr/>
        </p:nvSpPr>
        <p:spPr>
          <a:xfrm rot="0" flipH="0" flipV="0">
            <a:off x="3886200" y="3333750"/>
            <a:ext cx="77343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3886200" y="3333750"/>
            <a:ext cx="7734300" cy="695325"/>
          </a:xfrm>
          <a:custGeom>
            <a:pathLst>
              <a:path w="812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4057650" y="34956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4057650" y="37719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PROJECT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4743450" y="35814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圈定变革项目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6115050" y="3448050"/>
            <a:ext cx="4095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举措落成项目，项目必须绑定业务范围。「提升效率」这类无边界描述必须被砍掉或重写。</a:t>
            </a:r>
            <a:endParaRPr/>
          </a:p>
        </p:txBody>
      </p:sp>
      <p:sp>
        <p:nvSpPr>
          <p:cNvPr id="1286" name=""/>
          <p:cNvSpPr/>
          <p:nvPr/>
        </p:nvSpPr>
        <p:spPr>
          <a:xfrm rot="0" flipH="0" flipV="0">
            <a:off x="10344150" y="3543300"/>
            <a:ext cx="10668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10382250" y="360045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有边界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可立项</a:t>
            </a:r>
            <a:endParaRPr/>
          </a:p>
        </p:txBody>
      </p:sp>
      <p:sp>
        <p:nvSpPr>
          <p:cNvPr id="1288" name=""/>
          <p:cNvSpPr/>
          <p:nvPr/>
        </p:nvSpPr>
        <p:spPr>
          <a:xfrm rot="0" flipH="0" flipV="0">
            <a:off x="3886200" y="4133850"/>
            <a:ext cx="77343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9" name=""/>
          <p:cNvSpPr/>
          <p:nvPr/>
        </p:nvSpPr>
        <p:spPr>
          <a:xfrm rot="0" flipH="0" flipV="0">
            <a:off x="3886200" y="4133850"/>
            <a:ext cx="7734300" cy="695325"/>
          </a:xfrm>
          <a:custGeom>
            <a:pathLst>
              <a:path w="812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4057650" y="4248150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4057650" y="4524375"/>
            <a:ext cx="552450" cy="19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VALUE STREAM</a:t>
            </a:r>
            <a:endParaRPr/>
          </a:p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4743450" y="43815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识别价值流</a:t>
            </a:r>
            <a:endParaRPr/>
          </a:p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6115050" y="4248150"/>
            <a:ext cx="4095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变革项目涉及的端到端价值流，先不画组织框。问的是「客户视角这件事怎么走完」。</a:t>
            </a:r>
            <a:endParaRPr/>
          </a:p>
        </p:txBody>
      </p:sp>
      <p:sp>
        <p:nvSpPr>
          <p:cNvPr id="1294" name=""/>
          <p:cNvSpPr/>
          <p:nvPr/>
        </p:nvSpPr>
        <p:spPr>
          <a:xfrm rot="0" flipH="0" flipV="0">
            <a:off x="10344150" y="4343400"/>
            <a:ext cx="10668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10382250" y="440055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端到端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跨部门</a:t>
            </a:r>
            <a:endParaRPr/>
          </a:p>
        </p:txBody>
      </p:sp>
      <p:sp>
        <p:nvSpPr>
          <p:cNvPr id="1296" name=""/>
          <p:cNvSpPr/>
          <p:nvPr/>
        </p:nvSpPr>
        <p:spPr>
          <a:xfrm rot="0" flipH="0" flipV="0">
            <a:off x="3886200" y="4933950"/>
            <a:ext cx="77343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7" name=""/>
          <p:cNvSpPr/>
          <p:nvPr/>
        </p:nvSpPr>
        <p:spPr>
          <a:xfrm rot="0" flipH="0" flipV="0">
            <a:off x="3886200" y="4933950"/>
            <a:ext cx="7734300" cy="695325"/>
          </a:xfrm>
          <a:custGeom>
            <a:pathLst>
              <a:path w="812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4057650" y="50958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4057650" y="53721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CHECK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4743450" y="51816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校验闭环</a:t>
            </a:r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6115050" y="5048250"/>
            <a:ext cx="4095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每条举措必须至少挂一条价值流，每条价值流必须至少承接一条举措。有挂不上或接不住，就是解码缺口。</a:t>
            </a:r>
            <a:endParaRPr/>
          </a:p>
        </p:txBody>
      </p:sp>
      <p:sp>
        <p:nvSpPr>
          <p:cNvPr id="1302" name=""/>
          <p:cNvSpPr/>
          <p:nvPr/>
        </p:nvSpPr>
        <p:spPr>
          <a:xfrm rot="0" flipH="0" flipV="0">
            <a:off x="10344150" y="5143500"/>
            <a:ext cx="10668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10382250" y="520065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双向可查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无孤儿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价值流识别与绘制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，端到端视角而非部门视角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价值流是「一件事从头到尾走完」的路径，它天然跨部门——跨部门正是它的价值所在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以「合同签订」为例的价值流主干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724025"/>
            <a:ext cx="6286500" cy="5334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触发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790700" y="1885950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客户提出采购需求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352675"/>
            <a:ext cx="6286500" cy="733425"/>
          </a:xfrm>
          <a:prstGeom prst="roundRect">
            <a:avLst>
              <a:gd name="adj" fmla="val 5195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00100" y="261937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关键节点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790700" y="2514600"/>
            <a:ext cx="23812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报价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谈判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内部审批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签约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3181350"/>
            <a:ext cx="6286500" cy="742950"/>
          </a:xfrm>
          <a:prstGeom prst="roundRect">
            <a:avLst>
              <a:gd name="adj" fmla="val 5128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支撑活动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790700" y="3343275"/>
            <a:ext cx="23812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信用校验、法务审核、财务授信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4019550"/>
            <a:ext cx="6286500" cy="723900"/>
          </a:xfrm>
          <a:prstGeom prst="roundRect">
            <a:avLst>
              <a:gd name="adj" fmla="val 5263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790700" y="427672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生效合同</a:t>
            </a:r>
            <a:r>
              <a:rPr lang="en-US" sz="1350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履约义务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47700" y="4838700"/>
            <a:ext cx="62865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47700" y="4838700"/>
            <a:ext cx="6286500" cy="742950"/>
          </a:xfrm>
          <a:custGeom>
            <a:pathLst>
              <a:path w="660" h="78">
                <a:moveTo>
                  <a:pt x="4" y="78"/>
                </a:moveTo>
                <a:cubicBezTo>
                  <a:pt x="2" y="78"/>
                  <a:pt x="0" y="76"/>
                  <a:pt x="0" y="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关键判断：价值流的边界划在哪里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5086350"/>
            <a:ext cx="58674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起点和终点都必须是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企业外部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或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明确的责任交接点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如果起点是「收到销售部转来的合同」，那画出来的是内部流程图，不是价值流——业务架构要解决的是跨部门这件事本身该长什么样。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105650" y="138112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价值流图六项必备要素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105650" y="1724025"/>
            <a:ext cx="4476750" cy="371475"/>
          </a:xfrm>
          <a:prstGeom prst="roundRect">
            <a:avLst>
              <a:gd name="adj" fmla="val 1025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258050" y="180022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677150" y="1733550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价值流名称与边界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677150" y="1952625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一句话说清从哪到哪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105650" y="2209800"/>
            <a:ext cx="447675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258050" y="228600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677150" y="22193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触发事件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677150" y="2438400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启动这条流的外部动作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105650" y="2705100"/>
            <a:ext cx="4476750" cy="371475"/>
          </a:xfrm>
          <a:prstGeom prst="roundRect">
            <a:avLst>
              <a:gd name="adj" fmla="val 1025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258050" y="278130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677150" y="27146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关键节点序列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77150" y="2933700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3–7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个，超了就该拆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105650" y="3190875"/>
            <a:ext cx="4476750" cy="371475"/>
          </a:xfrm>
          <a:prstGeom prst="roundRect">
            <a:avLst>
              <a:gd name="adj" fmla="val 1025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258050" y="326707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677150" y="3200400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支撑活动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677150" y="3419475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不主干但必需的环节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7105650" y="3676650"/>
            <a:ext cx="4476750" cy="371475"/>
          </a:xfrm>
          <a:prstGeom prst="roundRect">
            <a:avLst>
              <a:gd name="adj" fmla="val 1025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258050" y="375285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677150" y="368617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677150" y="3905250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流程的终点交付物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7105650" y="4162425"/>
            <a:ext cx="447675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258050" y="423862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77150" y="4171950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所承接的举措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77150" y="4391025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挂不上举措就是无源之流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105650" y="4657725"/>
            <a:ext cx="4476750" cy="923925"/>
          </a:xfrm>
          <a:prstGeom prst="roundRect">
            <a:avLst>
              <a:gd name="adj" fmla="val 412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277100" y="47815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节点数控制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277100" y="5029200"/>
            <a:ext cx="4133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一条价值流主干超过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个节点，说明范围太大，应当按「事前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事中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事后」或按业务阶段拆成多条。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324350" y="1885950"/>
            <a:ext cx="238125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35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起点必须是客户侧动作，不是内部审批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324350" y="2514600"/>
            <a:ext cx="2381250" cy="4095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35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每个节点必须能回答「谁在什么系统上做什么」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324350" y="3448050"/>
            <a:ext cx="238125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35000"/>
              </a:lnSpc>
            </a:pPr>
            <a:r>
              <a:rPr lang="zh-CN" sz="975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支撑活动通常不属于主干，但必须显式画出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324350" y="4181475"/>
            <a:ext cx="2381250" cy="4095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35000"/>
              </a:lnSpc>
            </a:pPr>
            <a:r>
              <a:rPr lang="zh-CN" sz="975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终点要有明确产出物，没有产出物的流程不算价值流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价值流图与符号规范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——统一符号，才谈得上跨部门对话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同一套符号规范下画出的图，才能被不同部门读成同一个意思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1381125"/>
            <a:ext cx="6286500" cy="4200525"/>
          </a:xfrm>
          <a:prstGeom prst="roundRect">
            <a:avLst>
              <a:gd name="adj" fmla="val 907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38200" y="1571625"/>
            <a:ext cx="5829300" cy="381000"/>
          </a:xfrm>
          <a:custGeom>
            <a:pathLst>
              <a:path w="612" h="40">
                <a:moveTo>
                  <a:pt x="0" y="38"/>
                </a:moveTo>
                <a:lnTo>
                  <a:pt x="612" y="38"/>
                </a:lnTo>
                <a:lnTo>
                  <a:pt x="61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8200" y="157162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价值流图符号规范表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334000" y="16097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示例：合同签订价值流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38200" y="2066925"/>
            <a:ext cx="5829300" cy="542925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1181100" y="2247900"/>
            <a:ext cx="41910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962150" y="22574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价值流主干节点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543300" y="2266950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矩形，实线橙边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991100" y="2200275"/>
            <a:ext cx="15621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每一步必须对应一个岗位或系统动作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838200" y="2695575"/>
            <a:ext cx="582930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962150" y="28765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判断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分支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543300" y="2876550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菱形，两个出口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991100" y="28860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出口不超过</a:t>
            </a:r>
            <a:r>
              <a:rPr lang="en-US" sz="900">
                <a:solidFill>
                  <a:srgbClr val="B8BDC7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条，否则拆图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38200" y="3295650"/>
            <a:ext cx="5829300" cy="47625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1228725" y="3429000"/>
            <a:ext cx="3238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962150" y="3457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触发事件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543300" y="34575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椭圆，起点标识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991100" y="346710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必须来自企业外部动作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38200" y="3857625"/>
            <a:ext cx="5829300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1181100" y="3990975"/>
            <a:ext cx="419100" cy="190500"/>
          </a:xfrm>
          <a:prstGeom prst="roundRect">
            <a:avLst>
              <a:gd name="adj" fmla="val 10000"/>
            </a:avLst>
          </a:prstGeom>
          <a:ln w="25400">
            <a:solidFill>
              <a:srgbClr val="B8BDC7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962150" y="4000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支撑活动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543300" y="401002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虚线灰边矩形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991100" y="401002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不占主干但必须执行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38200" y="4391025"/>
            <a:ext cx="5829300" cy="4572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1181100" y="4524375"/>
            <a:ext cx="41910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962150" y="45434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543300" y="454342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平行四边形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实线箭头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991100" y="455295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终点必须有产出物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38200" y="4933950"/>
            <a:ext cx="5829300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181100" y="5067300"/>
            <a:ext cx="419100" cy="190500"/>
          </a:xfrm>
          <a:prstGeom prst="roundRect">
            <a:avLst>
              <a:gd name="adj" fmla="val 10000"/>
            </a:avLst>
          </a:prstGeom>
          <a:ln w="25400">
            <a:solidFill>
              <a:srgbClr val="FA4F24"/>
            </a:solidFill>
            <a:prstDash val="dot"/>
          </a:ln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962150" y="50863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举措承接关系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543300" y="5086350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点线连到右侧举措标签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991100" y="50958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挂不上举措即无源之流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143750" y="1381125"/>
            <a:ext cx="4476750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7143750" y="1381125"/>
            <a:ext cx="4476750" cy="2000250"/>
          </a:xfrm>
          <a:custGeom>
            <a:pathLst>
              <a:path w="470" h="210">
                <a:moveTo>
                  <a:pt x="4" y="210"/>
                </a:moveTo>
                <a:cubicBezTo>
                  <a:pt x="2" y="210"/>
                  <a:pt x="0" y="208"/>
                  <a:pt x="0" y="20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353300" y="1552575"/>
            <a:ext cx="401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使用要求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353300" y="1838325"/>
            <a:ext cx="4019550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每个符号的形状、颜色、线型全企业统一，不允许各部门自定义；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节点编号连续，不跳号——跳号通常意味着删过节点，会在评审时暴露；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举措标签统一挂在图右侧，不允许挂在图上遮挡流向。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105650" y="3514725"/>
            <a:ext cx="4476750" cy="2066925"/>
          </a:xfrm>
          <a:prstGeom prst="roundRect">
            <a:avLst>
              <a:gd name="adj" fmla="val 1843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315200" y="3990975"/>
            <a:ext cx="405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模板的价值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315200" y="4286250"/>
            <a:ext cx="40576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规范的意义不在于好看，而在于可争议。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当一张图各方都能按同一套符号读懂，争论才会回到业务本身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而不是停在「我理解的你画的不一样」。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  <p:grpSp>
        <p:nvGrpSpPr>
          <p:cNvPr id="129" name=""/>
          <p:cNvGrpSpPr/>
          <p:nvPr/>
        </p:nvGrpSpPr>
        <p:grpSpPr>
          <a:xfrm rot="2700000" flipH="0" flipV="0">
            <a:off x="1266825" y="2828925"/>
            <a:ext cx="247650" cy="247650"/>
            <a:chOff x="1266825" y="2828925"/>
            <a:chExt cx="247650" cy="247650"/>
          </a:xfrm>
        </p:grpSpPr>
        <p:sp>
          <p:nvSpPr>
            <p:cNvPr id="130" name=""/>
            <p:cNvSpPr/>
            <p:nvPr/>
          </p:nvSpPr>
          <p:spPr>
            <a:xfrm rot="0" flipH="0" flipV="0">
              <a:off x="1266825" y="2828925"/>
              <a:ext cx="247650" cy="247650"/>
            </a:xfrm>
            <a:prstGeom prst="roundRect">
              <a:avLst>
                <a:gd name="adj" fmla="val 7692"/>
              </a:avLst>
            </a:prstGeom>
            <a:solidFill>
              <a:srgbClr val="FA4F24"/>
            </a:solidFill>
            <a:ln/>
          </p:spPr>
          <p:txBody>
            <a:bodyPr/>
            <a:p>
              <a:pPr/>
              <a:endParaRPr/>
            </a:p>
          </p:txBody>
        </p:sp>
      </p:grp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业务能力识别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BUSINESS CAPABILITY IDENTIFICATION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价值流两问法与能力域／组／项三层分解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3915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639175" y="60864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价值流→能力两问法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，问对问题比画图重要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能力不从组织架构图推导，而是从每个价值流节点的「要什么」和「给什么」两问中长出来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03 · CAPABILITY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价值流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两问法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57250" y="393382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57250" y="4124325"/>
            <a:ext cx="25527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每个节点只问两句：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这一步要什么？这一步给什么？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两问的答案就是能力的定义边界——比「根据经验列出能力」可靠得多。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773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以「报价」节点为例，两问如何长出能力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3886200" y="1695450"/>
            <a:ext cx="7734300" cy="1228725"/>
          </a:xfrm>
          <a:prstGeom prst="roundRect">
            <a:avLst>
              <a:gd name="adj" fmla="val 310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3886200" y="1695450"/>
            <a:ext cx="7734300" cy="1228725"/>
          </a:xfrm>
          <a:custGeom>
            <a:pathLst>
              <a:path w="812" h="129">
                <a:moveTo>
                  <a:pt x="4" y="129"/>
                </a:moveTo>
                <a:cubicBezTo>
                  <a:pt x="2" y="129"/>
                  <a:pt x="0" y="127"/>
                  <a:pt x="0" y="12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057650" y="1847850"/>
            <a:ext cx="735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A4F24"/>
                </a:solidFill>
                <a:latin typeface="Microsoft YaHei"/>
                <a:ea typeface="Microsoft YaHei"/>
              </a:rPr>
              <a:t>这一步要什么？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057650" y="2114550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客户信息、量价政策、库存与产能状态、成本底线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057650" y="2447925"/>
            <a:ext cx="7353300" cy="323850"/>
          </a:xfrm>
          <a:prstGeom prst="roundRect">
            <a:avLst>
              <a:gd name="adj" fmla="val 8824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171950" y="2514600"/>
            <a:ext cx="712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客户管理能力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定价管理能力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3886200" y="3019425"/>
            <a:ext cx="7734300" cy="1228725"/>
          </a:xfrm>
          <a:prstGeom prst="roundRect">
            <a:avLst>
              <a:gd name="adj" fmla="val 310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886200" y="3019425"/>
            <a:ext cx="7734300" cy="1228725"/>
          </a:xfrm>
          <a:custGeom>
            <a:pathLst>
              <a:path w="812" h="129">
                <a:moveTo>
                  <a:pt x="4" y="129"/>
                </a:moveTo>
                <a:cubicBezTo>
                  <a:pt x="2" y="129"/>
                  <a:pt x="0" y="127"/>
                  <a:pt x="0" y="12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057650" y="3171825"/>
            <a:ext cx="735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7D2F"/>
                </a:solidFill>
                <a:latin typeface="Microsoft YaHei"/>
                <a:ea typeface="Microsoft YaHei"/>
              </a:rPr>
              <a:t>这一步给什么？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057650" y="3438525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报价单、价格有效期、承诺交期与违约条款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057650" y="3771900"/>
            <a:ext cx="7353300" cy="323850"/>
          </a:xfrm>
          <a:prstGeom prst="roundRect">
            <a:avLst>
              <a:gd name="adj" fmla="val 8824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171950" y="3838575"/>
            <a:ext cx="712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报价管理能力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合同签订能力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886200" y="4343400"/>
            <a:ext cx="7734300" cy="1238250"/>
          </a:xfrm>
          <a:prstGeom prst="roundRect">
            <a:avLst>
              <a:gd name="adj" fmla="val 307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886200" y="4343400"/>
            <a:ext cx="7734300" cy="1238250"/>
          </a:xfrm>
          <a:custGeom>
            <a:pathLst>
              <a:path w="812" h="130">
                <a:moveTo>
                  <a:pt x="4" y="130"/>
                </a:moveTo>
                <a:cubicBezTo>
                  <a:pt x="2" y="130"/>
                  <a:pt x="0" y="128"/>
                  <a:pt x="0" y="12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057650" y="4467225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三条去重规则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057650" y="4705350"/>
            <a:ext cx="735330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多条价值流问出同名能力，必须合并——重复即说明能力颗粒度不对；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「要什么」和「给什么」问出同一能力，说明该节点不做实事，要考虑拆分节点；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若一项能力只在一条价值流里出现一次，它多半是活动而不是能力，应下沉进流程。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能力域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能力组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三层分解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三层不是简单的层级缩放，每一层承担的管理动作完全不同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三层分解结构（以「供应链」域为例）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704975"/>
            <a:ext cx="3571875" cy="942975"/>
          </a:xfrm>
          <a:prstGeom prst="roundRect">
            <a:avLst>
              <a:gd name="adj" fmla="val 404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81050" y="1933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能力域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2733675"/>
            <a:ext cx="3571875" cy="1019175"/>
          </a:xfrm>
          <a:prstGeom prst="roundRect">
            <a:avLst>
              <a:gd name="adj" fmla="val 373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62000" y="2981325"/>
            <a:ext cx="32670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管理动作：对齐业务战略方向、决定投资优先级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62000" y="3295650"/>
            <a:ext cx="8382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33337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战略与供应链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1657350" y="3295650"/>
            <a:ext cx="8382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733550" y="33337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产品与供应链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2552700" y="3295650"/>
            <a:ext cx="7239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628900" y="33337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供应与交付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4314825" y="1704975"/>
            <a:ext cx="3562350" cy="942975"/>
          </a:xfrm>
          <a:prstGeom prst="roundRect">
            <a:avLst>
              <a:gd name="adj" fmla="val 4040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86275" y="1933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能力组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314825" y="2733675"/>
            <a:ext cx="3562350" cy="1019175"/>
          </a:xfrm>
          <a:prstGeom prst="roundRect">
            <a:avLst>
              <a:gd name="adj" fmla="val 373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467225" y="2981325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管理动作：定义能力边界与协作关系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467225" y="3295650"/>
            <a:ext cx="7239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543425" y="33337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计划与预测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248275" y="3295650"/>
            <a:ext cx="7239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24475" y="33337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采购与寻源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29325" y="3295650"/>
            <a:ext cx="7239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105525" y="33337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制造与履约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810375" y="3295650"/>
            <a:ext cx="7239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86575" y="33337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物流与交付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010525" y="1704975"/>
            <a:ext cx="3571875" cy="942975"/>
          </a:xfrm>
          <a:prstGeom prst="roundRect">
            <a:avLst>
              <a:gd name="adj" fmla="val 4040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181975" y="1933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A2000"/>
                </a:solidFill>
                <a:latin typeface="Microsoft YaHei"/>
                <a:ea typeface="Microsoft YaHei"/>
              </a:rPr>
              <a:t>能力项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8010525" y="2733675"/>
            <a:ext cx="3571875" cy="1019175"/>
          </a:xfrm>
          <a:prstGeom prst="roundRect">
            <a:avLst>
              <a:gd name="adj" fmla="val 373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62925" y="2981325"/>
            <a:ext cx="32670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管理动作：评估成熟度、挂指标、进路线图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162925" y="3295650"/>
            <a:ext cx="6096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39125" y="3333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需求预测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829675" y="3295650"/>
            <a:ext cx="7239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905875" y="33337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供应商准入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9610725" y="3295650"/>
            <a:ext cx="6096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686925" y="3333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订单排程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10277475" y="3295650"/>
            <a:ext cx="609600" cy="2190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353675" y="3333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库存周转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47700" y="3886200"/>
            <a:ext cx="3581400" cy="1695450"/>
          </a:xfrm>
          <a:prstGeom prst="roundRect">
            <a:avLst>
              <a:gd name="adj" fmla="val 224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47700" y="3886200"/>
            <a:ext cx="3581400" cy="1695450"/>
          </a:xfrm>
          <a:custGeom>
            <a:pathLst>
              <a:path w="376" h="178">
                <a:moveTo>
                  <a:pt x="4" y="178"/>
                </a:moveTo>
                <a:cubicBezTo>
                  <a:pt x="2" y="178"/>
                  <a:pt x="0" y="176"/>
                  <a:pt x="0" y="1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" y="42386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为什么不能只有一层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" y="4505325"/>
            <a:ext cx="32004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只有「能力项」会变成一张几百行的清单，无法排优先级；只有「能力域」又太粗，落不到指标上。三层各管一件事，才可用。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343400" y="3886200"/>
            <a:ext cx="3581400" cy="1695450"/>
          </a:xfrm>
          <a:prstGeom prst="roundRect">
            <a:avLst>
              <a:gd name="adj" fmla="val 224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343400" y="3886200"/>
            <a:ext cx="3581400" cy="1695450"/>
          </a:xfrm>
          <a:custGeom>
            <a:pathLst>
              <a:path w="376" h="178">
                <a:moveTo>
                  <a:pt x="4" y="178"/>
                </a:moveTo>
                <a:cubicBezTo>
                  <a:pt x="2" y="178"/>
                  <a:pt x="0" y="176"/>
                  <a:pt x="0" y="1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514850" y="436245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能力域怎么划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514850" y="4629150"/>
            <a:ext cx="3200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按价值流聚类而非按部门划。同一部门的能力可以分属不同域，同一域的能力通常跨多个部门。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039100" y="3886200"/>
            <a:ext cx="3581400" cy="1695450"/>
          </a:xfrm>
          <a:prstGeom prst="roundRect">
            <a:avLst>
              <a:gd name="adj" fmla="val 224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039100" y="3886200"/>
            <a:ext cx="3581400" cy="1695450"/>
          </a:xfrm>
          <a:custGeom>
            <a:pathLst>
              <a:path w="376" h="178">
                <a:moveTo>
                  <a:pt x="4" y="178"/>
                </a:moveTo>
                <a:cubicBezTo>
                  <a:pt x="2" y="178"/>
                  <a:pt x="0" y="176"/>
                  <a:pt x="0" y="1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210550" y="42386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数量控制的意义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210550" y="4505325"/>
            <a:ext cx="32004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能力项超过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150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个，通常说明把活动也当成了能力；少于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个，说明颗粒度过粗，无法定位短板。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60–120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是经验区间。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562100" y="1933575"/>
            <a:ext cx="476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DOMAIN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3228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3–5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267325" y="1933575"/>
            <a:ext cx="390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GROUP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86275" y="2266950"/>
            <a:ext cx="3219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每域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3–6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963025" y="1933575"/>
            <a:ext cx="628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CAPABILITY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181975" y="2266950"/>
            <a:ext cx="3228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 xml:space="preserve">60–120 </a:t>
            </a:r>
            <a:r>
              <a:rPr lang="zh-CN" sz="975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业务能力卡片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——字段填不满，说明这项能力还没想清楚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一张卡片锁定一项能力的全部关键属性，是评估、热力图与路线图的共同底稿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1381125"/>
            <a:ext cx="5905500" cy="4200525"/>
          </a:xfrm>
          <a:prstGeom prst="roundRect">
            <a:avLst>
              <a:gd name="adj" fmla="val 907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819150" y="1533525"/>
            <a:ext cx="5486400" cy="381000"/>
          </a:xfrm>
          <a:custGeom>
            <a:pathLst>
              <a:path w="576" h="40">
                <a:moveTo>
                  <a:pt x="0" y="38"/>
                </a:moveTo>
                <a:lnTo>
                  <a:pt x="576" y="38"/>
                </a:lnTo>
                <a:lnTo>
                  <a:pt x="576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19150" y="15335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业务能力卡片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972050" y="15716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示例：供应商准入管理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19150" y="2009775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33450" y="210502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962150" y="2085975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CAP-SC-03-012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914900" y="2114550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与能力地图一致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19150" y="2409825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33450" y="25050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能力名称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962150" y="2486025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供应商准入管理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914900" y="2514600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动作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>+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对象，不用部门名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19150" y="2809875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33450" y="290512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能力层级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962150" y="2886075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供应链域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采购与寻源组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914900" y="2914650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域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>-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组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>-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项三级定位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819150" y="3209925"/>
            <a:ext cx="5486400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33450" y="33909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能力定义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962150" y="3286125"/>
            <a:ext cx="28384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对供应商资质、产能、履约能力进行准入评估并动态维护名录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914900" y="3400425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一句话说清会做什么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19150" y="3790950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33450" y="3886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支撑价值流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962150" y="386715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供应商引入流程、质量异常处置流程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914900" y="3895725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挂不上即无源能力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19150" y="4191000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33450" y="42862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能力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962150" y="426720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采购管理部（业务责任人）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914900" y="4295775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唯一，不允许共用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19150" y="4591050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33450" y="46863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度量指标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962150" y="466725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准入周期（天）、一次通过率、年度准入家数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914900" y="4695825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至少一个可量化指标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819150" y="4991100"/>
            <a:ext cx="548640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33450" y="50863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当前成熟度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962150" y="506730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有定义未固化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914900" y="5095875"/>
            <a:ext cx="12763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五级之一，需附判断依据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762750" y="1381125"/>
            <a:ext cx="4857750" cy="1495425"/>
          </a:xfrm>
          <a:prstGeom prst="roundRect">
            <a:avLst>
              <a:gd name="adj" fmla="val 25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762750" y="1381125"/>
            <a:ext cx="4857750" cy="1495425"/>
          </a:xfrm>
          <a:custGeom>
            <a:pathLst>
              <a:path w="510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953250" y="1514475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填写要求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953250" y="1781175"/>
            <a:ext cx="443865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能力名称必须是「动作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对象」，不得出现部门名；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能力定义写成完整句，不允许只写名词短语；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支撑价值流至少一条，挂不上就不该立这项能力；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度量指标不可写「效率」「质量」这类词，要落到可测数值。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724650" y="3009900"/>
            <a:ext cx="4857750" cy="2571750"/>
          </a:xfrm>
          <a:prstGeom prst="roundRect">
            <a:avLst>
              <a:gd name="adj" fmla="val 148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934200" y="373380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模板的价值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934200" y="4029075"/>
            <a:ext cx="44386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卡片的真正用法是带着它去访谈。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填不出的字段就是下一轮要问的问题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——尤其是「支撑价值流」和「度量指标」两栏，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它们填不出来，说明这项能力还没有真正被业务认可。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能力评估与热力图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CAPABILITY ASSESSMENT &amp; HEATMAP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成熟度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重要度二维评估与五级判断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83915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639175" y="60864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成熟度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重要度二维评估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，两个维度缺一不可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只评成熟度，会把不重要的能力也做成标杆；只评重要度，会对全部能力一视同仁地投钱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04 · ASSESSMENT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二维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评估法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857250" y="393382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57250" y="4124325"/>
            <a:ext cx="25527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两个维度是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独立打分、交叉定位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的。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不做二维就会退化成一张「都重要」的清单——那样的清单没法指导投资排序。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成熟度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重要度矩阵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105275" y="22479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105275" y="34766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105275" y="47053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286250" y="2219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高重要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5143500" y="1704975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419725" y="2305050"/>
            <a:ext cx="247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维持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00750" y="1704975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153150" y="23050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提升重点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858000" y="1704975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B8BDC7"/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134225" y="2305050"/>
            <a:ext cx="247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3A4050"/>
                </a:solidFill>
                <a:latin typeface="Microsoft YaHei"/>
                <a:ea typeface="Microsoft YaHei"/>
              </a:rPr>
              <a:t>风险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286250" y="34480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中重要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5143500" y="2933700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419725" y="3533775"/>
            <a:ext cx="247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维持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00750" y="2933700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0" y="3533775"/>
            <a:ext cx="6191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选择性提升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858000" y="2933700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D8DCE3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134225" y="3533775"/>
            <a:ext cx="247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3A4050"/>
                </a:solidFill>
                <a:latin typeface="Microsoft YaHei"/>
                <a:ea typeface="Microsoft YaHei"/>
              </a:rPr>
              <a:t>重构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286250" y="46767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低重要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143500" y="4162425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419725" y="4762500"/>
            <a:ext cx="247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维持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00750" y="4162425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276975" y="4762500"/>
            <a:ext cx="247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858000" y="4162425"/>
            <a:ext cx="800100" cy="1171575"/>
          </a:xfrm>
          <a:prstGeom prst="roundRect">
            <a:avLst>
              <a:gd name="adj" fmla="val 3571"/>
            </a:avLst>
          </a:prstGeom>
          <a:solidFill>
            <a:srgbClr val="F2F3F5"/>
          </a:solidFill>
          <a:ln/>
        </p:spPr>
        <p:txBody>
          <a:bodyPr/>
          <a:p>
            <a:pPr/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981825" y="4762500"/>
            <a:ext cx="5619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收缩</a:t>
            </a: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/</a:t>
            </a: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外包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848100" y="5429250"/>
            <a:ext cx="3810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能力成熟度等级（低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高）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829550" y="1381125"/>
            <a:ext cx="3752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四种格位对应四种打法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7867650" y="1714500"/>
            <a:ext cx="3752850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867650" y="1714500"/>
            <a:ext cx="3752850" cy="885825"/>
          </a:xfrm>
          <a:custGeom>
            <a:pathLst>
              <a:path w="394" h="93">
                <a:moveTo>
                  <a:pt x="4" y="93"/>
                </a:move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020050" y="19335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提升重点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020050" y="2171700"/>
            <a:ext cx="3409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高重要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低成熟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投入产出比最高，路线图第一优先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7867650" y="2705100"/>
            <a:ext cx="3752850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7867650" y="2705100"/>
            <a:ext cx="3752850" cy="895350"/>
          </a:xfrm>
          <a:custGeom>
            <a:pathLst>
              <a:path w="394" h="94">
                <a:moveTo>
                  <a:pt x="4" y="94"/>
                </a:move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4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020050" y="29337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选择性提升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020050" y="3171825"/>
            <a:ext cx="3409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中重要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中低成熟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排第二梯队，按剩余资源定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7867650" y="3705225"/>
            <a:ext cx="3752850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867650" y="3705225"/>
            <a:ext cx="3752850" cy="885825"/>
          </a:xfrm>
          <a:custGeom>
            <a:pathLst>
              <a:path w="394" h="93">
                <a:moveTo>
                  <a:pt x="4" y="93"/>
                </a:move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020050" y="39243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风险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020050" y="4162425"/>
            <a:ext cx="3409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高重要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无固化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既要建能力也要补管理，风险最大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867650" y="4695825"/>
            <a:ext cx="3752850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867650" y="4695825"/>
            <a:ext cx="3752850" cy="885825"/>
          </a:xfrm>
          <a:custGeom>
            <a:pathLst>
              <a:path w="394" h="93">
                <a:moveTo>
                  <a:pt x="4" y="93"/>
                </a:move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3"/>
                </a:lnTo>
                <a:close/>
              </a:path>
            </a:pathLst>
          </a:custGeom>
          <a:solidFill>
            <a:srgbClr val="B8BDC7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020050" y="49149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收缩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外包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020050" y="5153025"/>
            <a:ext cx="3409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低重要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无固化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明确不做，是最省钱的一格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410200" y="2133600"/>
            <a:ext cx="26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L1 L2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267450" y="2133600"/>
            <a:ext cx="26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L3 L4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200900" y="213360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>
                    <a:alpha val="85000"/>
                  </a:srgbClr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410200" y="3362325"/>
            <a:ext cx="26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L1 L2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267450" y="3362325"/>
            <a:ext cx="26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L3 L4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200900" y="336232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>
                    <a:alpha val="85000"/>
                  </a:srgbClr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410200" y="4591050"/>
            <a:ext cx="26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L1 L2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267450" y="4591050"/>
            <a:ext cx="26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>
                    <a:alpha val="85000"/>
                  </a:srgbClr>
                </a:solidFill>
                <a:latin typeface="Microsoft YaHei"/>
                <a:ea typeface="Microsoft YaHei"/>
              </a:rPr>
              <a:t>L3 L4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200900" y="4591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>
                    <a:alpha val="85000"/>
                  </a:srgbClr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五级成熟度的定义与判断依据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每级都必须写明「什么证据算达标」——否则评分就变成主观印象，没人能复核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L1–L5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定义与达标证据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1704975"/>
            <a:ext cx="10972800" cy="438150"/>
          </a:xfrm>
          <a:prstGeom prst="roundRect">
            <a:avLst>
              <a:gd name="adj" fmla="val 8696"/>
            </a:avLst>
          </a:prstGeom>
          <a:solidFill>
            <a:srgbClr val="D8DCE3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00100" y="177165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A4050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447800" y="1819275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4050"/>
                </a:solidFill>
                <a:latin typeface="Microsoft YaHei"/>
                <a:ea typeface="Microsoft YaHei"/>
              </a:rPr>
              <a:t>无意识</a:t>
            </a:r>
            <a:r>
              <a:rPr lang="en-US" sz="1425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3A4050"/>
                </a:solidFill>
                <a:latin typeface="Microsoft YaHei"/>
                <a:ea typeface="Microsoft YaHei"/>
              </a:rPr>
              <a:t>临时应对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8248650" y="1762125"/>
            <a:ext cx="3143250" cy="333375"/>
          </a:xfrm>
          <a:prstGeom prst="roundRect">
            <a:avLst>
              <a:gd name="adj" fmla="val 8571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43900" y="18288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证据：无任何书面流程文件，依赖个别老员工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2238375"/>
            <a:ext cx="10972800" cy="438150"/>
          </a:xfrm>
          <a:prstGeom prst="roundRect">
            <a:avLst>
              <a:gd name="adj" fmla="val 8696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00100" y="230505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A2000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447800" y="2352675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可重复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248650" y="2295525"/>
            <a:ext cx="3143250" cy="333375"/>
          </a:xfrm>
          <a:prstGeom prst="roundRect">
            <a:avLst>
              <a:gd name="adj" fmla="val 8571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43900" y="23622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证据：存在口头惯例或零散文档，换人仍能跑通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2771775"/>
            <a:ext cx="10972800" cy="447675"/>
          </a:xfrm>
          <a:prstGeom prst="roundRect">
            <a:avLst>
              <a:gd name="adj" fmla="val 8511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00100" y="284797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A2000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447800" y="2886075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有定义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8248650" y="2828925"/>
            <a:ext cx="3143250" cy="333375"/>
          </a:xfrm>
          <a:prstGeom prst="roundRect">
            <a:avLst>
              <a:gd name="adj" fmla="val 8571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343900" y="28956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证据：发布版流程文件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责任矩阵，能找到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3314700"/>
            <a:ext cx="10972800" cy="438150"/>
          </a:xfrm>
          <a:prstGeom prst="roundRect">
            <a:avLst>
              <a:gd name="adj" fmla="val 8696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00100" y="338137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447800" y="3429000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可度量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8248650" y="3371850"/>
            <a:ext cx="3143250" cy="333375"/>
          </a:xfrm>
          <a:prstGeom prst="roundRect">
            <a:avLst>
              <a:gd name="adj" fmla="val 8571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343900" y="3438525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证据：指标有连续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个月数据，可算行业分位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3848100"/>
            <a:ext cx="10972800" cy="438150"/>
          </a:xfrm>
          <a:prstGeom prst="roundRect">
            <a:avLst>
              <a:gd name="adj" fmla="val 8696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00100" y="391477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447800" y="3962400"/>
            <a:ext cx="167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持续优化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248650" y="3905250"/>
            <a:ext cx="3143250" cy="333375"/>
          </a:xfrm>
          <a:prstGeom prst="roundRect">
            <a:avLst>
              <a:gd name="adj" fmla="val 8571"/>
            </a:avLst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43900" y="3971925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证据：有改进机制记录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对标结论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行业领先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47700" y="4400550"/>
            <a:ext cx="3581400" cy="1181100"/>
          </a:xfrm>
          <a:prstGeom prst="roundRect">
            <a:avLst>
              <a:gd name="adj" fmla="val 3226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47700" y="4400550"/>
            <a:ext cx="3581400" cy="1181100"/>
          </a:xfrm>
          <a:custGeom>
            <a:pathLst>
              <a:path w="376" h="124">
                <a:moveTo>
                  <a:pt x="4" y="124"/>
                </a:move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00100" y="464820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「证据」栏是这张表的灵魂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00100" y="4895850"/>
            <a:ext cx="3238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没有证据的评分一律降一级。访谈说「做得挺好」不构成证据，只有文件、系统和连续数据才算。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343400" y="4400550"/>
            <a:ext cx="3581400" cy="1181100"/>
          </a:xfrm>
          <a:prstGeom prst="roundRect">
            <a:avLst>
              <a:gd name="adj" fmla="val 3226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4343400" y="4400550"/>
            <a:ext cx="3581400" cy="1181100"/>
          </a:xfrm>
          <a:custGeom>
            <a:pathLst>
              <a:path w="376" h="124">
                <a:moveTo>
                  <a:pt x="4" y="124"/>
                </a:move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495800" y="464820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能力项之间可高可低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495800" y="4895850"/>
            <a:ext cx="3238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同一家企业里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L5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并存是常态。整体平均分没有意义，分布才有意义。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8039100" y="4400550"/>
            <a:ext cx="3581400" cy="1181100"/>
          </a:xfrm>
          <a:prstGeom prst="roundRect">
            <a:avLst>
              <a:gd name="adj" fmla="val 3226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8039100" y="4400550"/>
            <a:ext cx="3581400" cy="1181100"/>
          </a:xfrm>
          <a:custGeom>
            <a:pathLst>
              <a:path w="376" h="124">
                <a:moveTo>
                  <a:pt x="4" y="124"/>
                </a:move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191500" y="454342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评分由谁做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191500" y="4791075"/>
            <a:ext cx="3238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由业务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主导、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CFO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与外部标杆校准。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部门代评的结果一定会偏高——因为它按系统实现打分，不按业务效果打分。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276600" y="1809750"/>
            <a:ext cx="4819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无固定流程，凭个人经验处理，结果不可预期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3276600" y="2343150"/>
            <a:ext cx="4819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有约定俗成的做法，不同人做法基本一致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276600" y="2886075"/>
            <a:ext cx="4819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有正式流程与制度，跨部门可照章执行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276600" y="3419475"/>
            <a:ext cx="4819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有指标、有数据，能力水平可量化比较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276600" y="3952875"/>
            <a:ext cx="48196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基于数据反馈持续改进，标杆水平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能力热力图与评估打分表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，一图一表锁定结论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热力图是给人看的，打分表是给流程看的——两者必须由同一份底稿产生，不允许各填一套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9600" y="1381125"/>
            <a:ext cx="5715000" cy="4286250"/>
          </a:xfrm>
          <a:prstGeom prst="roundRect">
            <a:avLst>
              <a:gd name="adj" fmla="val 889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81050" y="1476375"/>
            <a:ext cx="5372100" cy="342900"/>
          </a:xfrm>
          <a:custGeom>
            <a:pathLst>
              <a:path w="564" h="36">
                <a:moveTo>
                  <a:pt x="0" y="34"/>
                </a:moveTo>
                <a:lnTo>
                  <a:pt x="564" y="34"/>
                </a:lnTo>
                <a:lnTo>
                  <a:pt x="56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81050" y="147637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能力热力图（域级）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619625" y="150495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色块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=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成熟度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数字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=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重要度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81050" y="2419350"/>
            <a:ext cx="100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战略与供应链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81050" y="3571875"/>
            <a:ext cx="100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产品与供应链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81050" y="4724400"/>
            <a:ext cx="100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供应与交付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1847850" y="1914525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3895725" y="191452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1847850" y="2305050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3895725" y="230505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A4050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1847850" y="2695575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895725" y="269557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A4050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1847850" y="3086100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895725" y="308610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A4050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1847850" y="3476625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895725" y="347662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A4050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1847850" y="3867150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D8DCE3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3895725" y="386715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A4050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1847850" y="4257675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895725" y="425767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1847850" y="4648200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895725" y="464820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1847850" y="5038725"/>
            <a:ext cx="4305300" cy="333375"/>
          </a:xfrm>
          <a:prstGeom prst="roundRect">
            <a:avLst>
              <a:gd name="adj" fmla="val 8571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895725" y="503872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81050" y="54292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图例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1123950" y="5448300"/>
            <a:ext cx="171450" cy="114300"/>
          </a:xfrm>
          <a:prstGeom prst="roundRect">
            <a:avLst>
              <a:gd name="adj" fmla="val 16667"/>
            </a:avLst>
          </a:prstGeom>
          <a:solidFill>
            <a:srgbClr val="D8DCE3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343025" y="54292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1590675" y="5448300"/>
            <a:ext cx="171450" cy="114300"/>
          </a:xfrm>
          <a:prstGeom prst="roundRect">
            <a:avLst>
              <a:gd name="adj" fmla="val 16667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809750" y="54292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2057400" y="5448300"/>
            <a:ext cx="171450" cy="114300"/>
          </a:xfrm>
          <a:prstGeom prst="roundRect">
            <a:avLst>
              <a:gd name="adj" fmla="val 16667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2276475" y="54292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2524125" y="5448300"/>
            <a:ext cx="171450" cy="114300"/>
          </a:xfrm>
          <a:prstGeom prst="roundRect">
            <a:avLst>
              <a:gd name="adj" fmla="val 16667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2743200" y="54292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2990850" y="5448300"/>
            <a:ext cx="171450" cy="114300"/>
          </a:xfrm>
          <a:prstGeom prst="roundRect">
            <a:avLst>
              <a:gd name="adj" fmla="val 16667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209925" y="54292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534150" y="138112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评估打分表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534150" y="1704975"/>
            <a:ext cx="5048250" cy="2895600"/>
          </a:xfrm>
          <a:prstGeom prst="roundRect">
            <a:avLst>
              <a:gd name="adj" fmla="val 1316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534150" y="1704975"/>
            <a:ext cx="5048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629400" y="188595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429500" y="18669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CAP-SC-03-012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0591800" y="1876425"/>
            <a:ext cx="8953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3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与能力卡片编号一致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534150" y="2190750"/>
            <a:ext cx="50482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629400" y="236220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能力名称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429500" y="23431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供应商准入管理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591800" y="2352675"/>
            <a:ext cx="8953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3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动作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>+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534150" y="2667000"/>
            <a:ext cx="5048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629400" y="284797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成熟度评级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429500" y="282892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L3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（有正式流程与制度）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0591800" y="2838450"/>
            <a:ext cx="8953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3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五级之一·需附证据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534150" y="3152775"/>
            <a:ext cx="504825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629400" y="333375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重要度评分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429500" y="33147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88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（战略紧密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40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价值贡献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28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客户可感知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20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0591800" y="3324225"/>
            <a:ext cx="8953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3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三因子加权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534150" y="3638550"/>
            <a:ext cx="5048250" cy="4762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629400" y="381000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评定人</a:t>
            </a: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429500" y="37909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采购管理部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张某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2026-10-15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0591800" y="3800475"/>
            <a:ext cx="8953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3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可追溯·可复核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534150" y="4114800"/>
            <a:ext cx="504825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629400" y="429577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证据清单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429500" y="427672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制度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份、流程图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张、系统截图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张、指标数据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0591800" y="4286250"/>
            <a:ext cx="8953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3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无证据降一级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534150" y="4705350"/>
            <a:ext cx="5048250" cy="876300"/>
          </a:xfrm>
          <a:prstGeom prst="roundRect">
            <a:avLst>
              <a:gd name="adj" fmla="val 4348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667500" y="4791075"/>
            <a:ext cx="4781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两条硬规则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667500" y="5038725"/>
            <a:ext cx="4781550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无证据的评级一律降一级；</a:t>
            </a:r>
            <a:endParaRPr/>
          </a:p>
          <a:p>
            <a:pPr>
              <a:lnSpc>
                <a:spcPct val="155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重要度三因子得分必须写出来，不允许只给总分。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790950" y="2133600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92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790950" y="252412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78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790950" y="2914650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55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790950" y="330517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790950" y="3695700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61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790950" y="408622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790950" y="4476750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96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790950" y="486727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88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790950" y="5257800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750">
                <a:solidFill>
                  <a:srgbClr val="FFFFFF">
                    <a:alpha val="76500"/>
                  </a:srgbClr>
                </a:solidFill>
                <a:latin typeface="Microsoft YaHei"/>
                <a:ea typeface="Microsoft YaHei"/>
              </a:rPr>
              <a:t>74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5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05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能力地图与组织映射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CAPABILITY MAP &amp; ORGANIZATION MAPPING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能力—组织—岗位三线映射与缺口识别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83915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639175" y="60864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能力—组织—岗位三线映射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，回答「谁来做」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能力与组织解耦之后，必须靠映射关系重新接上——否则架构只是一张悬空的能力清单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05 · MAPPING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三线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映射法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857250" y="423862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57250" y="4429125"/>
            <a:ext cx="25527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一份能力可以对应多个组织，一个组织也可以承担多项能力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——这就是必须显式画映射表的原因。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773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三线映射示例：供应商准入管理能力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3848100" y="1724025"/>
            <a:ext cx="7734300" cy="647700"/>
          </a:xfrm>
          <a:prstGeom prst="roundRect">
            <a:avLst>
              <a:gd name="adj" fmla="val 5882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019550" y="19526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4552950" y="1866900"/>
            <a:ext cx="6638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供应商准入管理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1325225" y="19431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3848100" y="2486025"/>
            <a:ext cx="7734300" cy="647700"/>
          </a:xfrm>
          <a:prstGeom prst="roundRect">
            <a:avLst>
              <a:gd name="adj" fmla="val 5882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4019550" y="27146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组织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4552950" y="2628900"/>
            <a:ext cx="6638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采购管理部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质量管理部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工艺技术部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325225" y="27051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848100" y="3248025"/>
            <a:ext cx="7734300" cy="647700"/>
          </a:xfrm>
          <a:prstGeom prst="roundRect">
            <a:avLst>
              <a:gd name="adj" fmla="val 5882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4019550" y="34766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岗位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4552950" y="3390900"/>
            <a:ext cx="685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A2000"/>
                </a:solidFill>
                <a:latin typeface="Microsoft YaHei"/>
                <a:ea typeface="Microsoft YaHei"/>
              </a:rPr>
              <a:t>供应商开发工程师</a:t>
            </a:r>
            <a:r>
              <a:rPr lang="en-US" sz="1200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3A2000"/>
                </a:solidFill>
                <a:latin typeface="Microsoft YaHei"/>
                <a:ea typeface="Microsoft YaHei"/>
              </a:rPr>
              <a:t>质量工程师</a:t>
            </a:r>
            <a:r>
              <a:rPr lang="en-US" sz="1200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3A2000"/>
                </a:solidFill>
                <a:latin typeface="Microsoft YaHei"/>
                <a:ea typeface="Microsoft YaHei"/>
              </a:rPr>
              <a:t>工艺审核员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3886200" y="4010025"/>
            <a:ext cx="7734300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886200" y="4010025"/>
            <a:ext cx="7734300" cy="1571625"/>
          </a:xfrm>
          <a:custGeom>
            <a:pathLst>
              <a:path w="812" h="165">
                <a:moveTo>
                  <a:pt x="4" y="165"/>
                </a:moveTo>
                <a:cubicBezTo>
                  <a:pt x="2" y="165"/>
                  <a:pt x="0" y="163"/>
                  <a:pt x="0" y="16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057650" y="4295775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映射表必须暴露的三类问题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057650" y="4543425"/>
            <a:ext cx="735330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孤儿能力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：没有任何组织承接——通常是识别时凭空加的；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无主能力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：有多个组织协同但没有主责方——推进时会互相推诿；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超载组织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：一个组织承接的能力项超过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个——说明该组织实际在做定位外的事。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552950" y="2095500"/>
            <a:ext cx="663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CAP-SC-03-012 · L3 ·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重要度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88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552950" y="2857500"/>
            <a:ext cx="663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主责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协同，共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个组织单元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552950" y="3619500"/>
            <a:ext cx="685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个岗位承担该能力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能力地图绘制与四类缺口识别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能力地图不是一张漂亮的大图，它的作用是让四类缺口自己暴露出来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四类缺口及其处置方式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47700" y="1695450"/>
            <a:ext cx="1097280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47700" y="1695450"/>
            <a:ext cx="10972800" cy="533400"/>
          </a:xfrm>
          <a:custGeom>
            <a:pathLst>
              <a:path w="115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38200" y="1828800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352550" y="186690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能力空缺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2400300" y="1762125"/>
            <a:ext cx="7696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战略要求这项能力，但企业现在完全没有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2400300" y="2019300"/>
            <a:ext cx="769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例：要求具备全球供应链统筹能力，实际分散在各事业部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10229850" y="1819275"/>
            <a:ext cx="1162050" cy="295275"/>
          </a:xfrm>
          <a:prstGeom prst="roundRect">
            <a:avLst>
              <a:gd name="adj" fmla="val 9677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0439400" y="1885950"/>
            <a:ext cx="75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建（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Build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47700" y="2314575"/>
            <a:ext cx="1097280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47700" y="2314575"/>
            <a:ext cx="10972800" cy="533400"/>
          </a:xfrm>
          <a:custGeom>
            <a:pathLst>
              <a:path w="115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8200" y="2447925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8622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352550" y="24860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能力重复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2400300" y="2381250"/>
            <a:ext cx="7696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多个组织各自建了同一项能力，没有规模效应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2400300" y="2638425"/>
            <a:ext cx="769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例：三个事业部各建一套供应商管理系统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10229850" y="2438400"/>
            <a:ext cx="1162050" cy="295275"/>
          </a:xfrm>
          <a:prstGeom prst="roundRect">
            <a:avLst>
              <a:gd name="adj" fmla="val 9677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0391775" y="25050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合（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Merge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47700" y="2933700"/>
            <a:ext cx="1097280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47700" y="2933700"/>
            <a:ext cx="10972800" cy="533400"/>
          </a:xfrm>
          <a:custGeom>
            <a:pathLst>
              <a:path w="115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38200" y="3067050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352550" y="310515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能力错配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2400300" y="3000375"/>
            <a:ext cx="7696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能力本身有价值，但放错了位置，不产生战略价值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2400300" y="3257550"/>
            <a:ext cx="769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例：把核心竞争力建在非战略重心业务上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10229850" y="3057525"/>
            <a:ext cx="1162050" cy="295275"/>
          </a:xfrm>
          <a:prstGeom prst="roundRect">
            <a:avLst>
              <a:gd name="adj" fmla="val 9677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0420350" y="312420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挪（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Move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47700" y="3552825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47700" y="3552825"/>
            <a:ext cx="10972800" cy="590550"/>
          </a:xfrm>
          <a:custGeom>
            <a:pathLst>
              <a:path w="1152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38200" y="3714750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DC69A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352550" y="375285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能力虚胖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2400300" y="3648075"/>
            <a:ext cx="7696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名称听起来很强，实际成熟度只有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L1–L2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2400300" y="3905250"/>
            <a:ext cx="769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例：「智能制造能力」实际只有数据采集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10229850" y="3619500"/>
            <a:ext cx="1162050" cy="457200"/>
          </a:xfrm>
          <a:prstGeom prst="roundRect">
            <a:avLst>
              <a:gd name="adj" fmla="val 6250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0229850" y="3686175"/>
            <a:ext cx="11620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实（</a:t>
            </a:r>
            <a:r>
              <a:rPr lang="en-US" sz="1050" b="1">
                <a:solidFill>
                  <a:srgbClr val="3A2000"/>
                </a:solidFill>
                <a:latin typeface="Microsoft YaHei"/>
                <a:ea typeface="Microsoft YaHei"/>
              </a:rPr>
              <a:t>Substantiate</a:t>
            </a: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47700" y="4267200"/>
            <a:ext cx="5419725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47700" y="4267200"/>
            <a:ext cx="5419725" cy="1314450"/>
          </a:xfrm>
          <a:custGeom>
            <a:pathLst>
              <a:path w="569" h="138">
                <a:moveTo>
                  <a:pt x="4" y="138"/>
                </a:moveTo>
                <a:cubicBezTo>
                  <a:pt x="2" y="138"/>
                  <a:pt x="0" y="136"/>
                  <a:pt x="0" y="1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38200" y="45434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域级热力图（汇报用）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38200" y="4810125"/>
            <a:ext cx="50006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一页纸讲清「我们在哪、长板在哪、短板在哪」。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适合向管理层汇报，但看不出具体能力项，因此必须配一份明细清单。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200775" y="4267200"/>
            <a:ext cx="5419725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200775" y="4267200"/>
            <a:ext cx="5419725" cy="1314450"/>
          </a:xfrm>
          <a:custGeom>
            <a:pathLst>
              <a:path w="569" h="138">
                <a:moveTo>
                  <a:pt x="4" y="138"/>
                </a:moveTo>
                <a:cubicBezTo>
                  <a:pt x="2" y="138"/>
                  <a:pt x="0" y="136"/>
                  <a:pt x="0" y="1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8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391275" y="45434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能力项明细表（执行用）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391275" y="4810125"/>
            <a:ext cx="50006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逐项列能力编号、成熟度、重要度、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Owner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、所属举措。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这是路线图和考核的直接输入——汇报用的图不能替代它。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组织映射表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——让「能力落在谁身上」可查、可改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组织调整频繁，这份表的价值在于把「调整影响面」显式化，而不是每次靠人肉回忆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1381125"/>
            <a:ext cx="6667500" cy="4200525"/>
          </a:xfrm>
          <a:prstGeom prst="roundRect">
            <a:avLst>
              <a:gd name="adj" fmla="val 907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800100" y="1533525"/>
            <a:ext cx="6286500" cy="352425"/>
          </a:xfrm>
          <a:custGeom>
            <a:pathLst>
              <a:path w="660" h="37">
                <a:moveTo>
                  <a:pt x="0" y="35"/>
                </a:moveTo>
                <a:lnTo>
                  <a:pt x="660" y="35"/>
                </a:lnTo>
                <a:lnTo>
                  <a:pt x="660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00100" y="1533525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能力—组织映射表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724525" y="1571625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示例：采购与寻源能力组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800100" y="1981200"/>
            <a:ext cx="10191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76300" y="204787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1857375" y="1981200"/>
            <a:ext cx="20478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933575" y="2047875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能力名称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3943350" y="1981200"/>
            <a:ext cx="10191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019550" y="204787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主责组织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5000625" y="1981200"/>
            <a:ext cx="102870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5076825" y="20478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协同组织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67425" y="1981200"/>
            <a:ext cx="10191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143625" y="204787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承担岗位数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800100" y="2314575"/>
            <a:ext cx="6286500" cy="4572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838200" y="2428875"/>
            <a:ext cx="990600" cy="228600"/>
          </a:xfrm>
          <a:prstGeom prst="roundRect">
            <a:avLst>
              <a:gd name="adj" fmla="val 8333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95350" y="248602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/>
                </a:solidFill>
                <a:latin typeface="Microsoft YaHei"/>
                <a:ea typeface="Microsoft YaHei"/>
              </a:rPr>
              <a:t>CAP-SC-03-012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866900" y="2476500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供应商准入管理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895725" y="247650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采购管理部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4924425" y="2476500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质量部、工艺部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6257925" y="2476500"/>
            <a:ext cx="7905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7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800100" y="2809875"/>
            <a:ext cx="6286500" cy="44767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838200" y="2924175"/>
            <a:ext cx="990600" cy="228600"/>
          </a:xfrm>
          <a:prstGeom prst="roundRect">
            <a:avLst>
              <a:gd name="adj" fmla="val 8333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95350" y="298132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/>
                </a:solidFill>
                <a:latin typeface="Microsoft YaHei"/>
                <a:ea typeface="Microsoft YaHei"/>
              </a:rPr>
              <a:t>CAP-SC-03-014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866900" y="2962275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供应商分级与淘汰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3895725" y="297180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采购管理部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924425" y="2971800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质量部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257925" y="2971800"/>
            <a:ext cx="7905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4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800100" y="3295650"/>
            <a:ext cx="6286500" cy="4572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838200" y="3409950"/>
            <a:ext cx="990600" cy="228600"/>
          </a:xfrm>
          <a:prstGeom prst="roundRect">
            <a:avLst>
              <a:gd name="adj" fmla="val 8333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95350" y="346710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/>
                </a:solidFill>
                <a:latin typeface="Microsoft YaHei"/>
                <a:ea typeface="Microsoft YaHei"/>
              </a:rPr>
              <a:t>CAP-SC-03-018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866900" y="3457575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采购成本分析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3895725" y="34575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采购管理部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924425" y="3457575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财务部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257925" y="3457575"/>
            <a:ext cx="7905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5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800100" y="3790950"/>
            <a:ext cx="6286500" cy="44767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38200" y="3905250"/>
            <a:ext cx="990600" cy="228600"/>
          </a:xfrm>
          <a:prstGeom prst="roundRect">
            <a:avLst>
              <a:gd name="adj" fmla="val 8333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95350" y="396240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/>
                </a:solidFill>
                <a:latin typeface="Microsoft YaHei"/>
                <a:ea typeface="Microsoft YaHei"/>
              </a:rPr>
              <a:t>CAP-SC-03-021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866900" y="3943350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寻源策略制定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3895725" y="39528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战略采购部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4924425" y="3952875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8A8F99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257925" y="3952875"/>
            <a:ext cx="7905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3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800100" y="4276725"/>
            <a:ext cx="6286500" cy="4572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38200" y="4391025"/>
            <a:ext cx="990600" cy="228600"/>
          </a:xfrm>
          <a:prstGeom prst="roundRect">
            <a:avLst>
              <a:gd name="adj" fmla="val 8333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95350" y="444817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/>
                </a:solidFill>
                <a:latin typeface="Microsoft YaHei"/>
                <a:ea typeface="Microsoft YaHei"/>
              </a:rPr>
              <a:t>CAP-SC-03-026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866900" y="4438650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合同履约管理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3895725" y="443865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采购管理部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4924425" y="4438650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法务部、财务部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257925" y="4438650"/>
            <a:ext cx="7905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6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800100" y="4772025"/>
            <a:ext cx="6286500" cy="44767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838200" y="4886325"/>
            <a:ext cx="990600" cy="228600"/>
          </a:xfrm>
          <a:prstGeom prst="roundRect">
            <a:avLst>
              <a:gd name="adj" fmla="val 8333"/>
            </a:avLst>
          </a:prstGeom>
          <a:solidFill>
            <a:srgbClr val="B8BDC7"/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895350" y="494347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FFFFF"/>
                </a:solidFill>
                <a:latin typeface="Microsoft YaHei"/>
                <a:ea typeface="Microsoft YaHei"/>
              </a:rPr>
              <a:t>CAP-SC-03-030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866900" y="4924425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供应风险管理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3895725" y="493395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风险管理部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924425" y="4933950"/>
            <a:ext cx="129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采购部、质量部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257925" y="4933950"/>
            <a:ext cx="7905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4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800100" y="5314950"/>
            <a:ext cx="133350" cy="95250"/>
          </a:xfrm>
          <a:prstGeom prst="roundRect">
            <a:avLst>
              <a:gd name="adj" fmla="val 2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90600" y="529590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主责唯一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1543050" y="5314950"/>
            <a:ext cx="133350" cy="95250"/>
          </a:xfrm>
          <a:prstGeom prst="roundRect">
            <a:avLst>
              <a:gd name="adj" fmla="val 20000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733550" y="5295900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主责在上级部门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2600325" y="5314950"/>
            <a:ext cx="133350" cy="95250"/>
          </a:xfrm>
          <a:prstGeom prst="roundRect">
            <a:avLst>
              <a:gd name="adj" fmla="val 20000"/>
            </a:avLst>
          </a:prstGeom>
          <a:solidFill>
            <a:srgbClr val="B8BDC7"/>
          </a:solidFill>
          <a:ln/>
        </p:spPr>
        <p:txBody>
          <a:bodyPr/>
          <a:p>
            <a:pPr/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2790825" y="5295900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主责在独立风险部门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7524750" y="1381125"/>
            <a:ext cx="4095750" cy="1609725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7524750" y="1381125"/>
            <a:ext cx="4095750" cy="1609725"/>
          </a:xfrm>
          <a:custGeom>
            <a:pathLst>
              <a:path w="430" h="169">
                <a:moveTo>
                  <a:pt x="4" y="169"/>
                </a:moveTo>
                <a:cubicBezTo>
                  <a:pt x="2" y="169"/>
                  <a:pt x="0" y="167"/>
                  <a:pt x="0" y="1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715250" y="1533525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填写要求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715250" y="1809750"/>
            <a:ext cx="3676650" cy="1028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主责组织必须唯一，空着即「无主能力」；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协同组织最多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个，超过说明职责边界没划清；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承担岗位数为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的能力项必须回退重审；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每个组织单元承接能力数超过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需标注为超载。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7486650" y="3114675"/>
            <a:ext cx="4095750" cy="2466975"/>
          </a:xfrm>
          <a:prstGeom prst="roundRect">
            <a:avLst>
              <a:gd name="adj" fmla="val 154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677150" y="379095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这张表的真正用途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677150" y="4076700"/>
            <a:ext cx="3714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组织调整方案评审时，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先查这张表再看组织图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。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某个部门被撤并，直接读它的能力列——落在这些能力上的承接方必须同时指定，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否则架构就会在组织调整中悄悄断掉。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7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06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能力落地与治理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CAPABILITY ROADMAP &amp; GOVERNANCE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路线图编排、运营机制与考核指标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83915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639175" y="60864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能力路线图与变革举措编排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，从诊断走到投入排序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前面所有工作都为了这一页——把「提升哪项能力、先投谁、不做什么」变成一张有时间轴的表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编排三步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47700" y="17049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47700" y="1704975"/>
            <a:ext cx="10972800" cy="581025"/>
          </a:xfrm>
          <a:custGeom>
            <a:pathLst>
              <a:path w="1152" h="61">
                <a:moveTo>
                  <a:pt x="4" y="61"/>
                </a:moveTo>
                <a:cubicBezTo>
                  <a:pt x="2" y="61"/>
                  <a:pt x="0" y="59"/>
                  <a:pt x="0" y="5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38200" y="1838325"/>
            <a:ext cx="4381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428750" y="1885950"/>
            <a:ext cx="1695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筛出候选能力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3276600" y="1876425"/>
            <a:ext cx="81153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从热力图「提升重点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风险」两格中筛出候选集，通常占全量能力的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15–25%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。全量都提升等于没有优先级。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647700" y="2381250"/>
            <a:ext cx="109728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47700" y="2381250"/>
            <a:ext cx="10972800" cy="571500"/>
          </a:xfrm>
          <a:custGeom>
            <a:pathLst>
              <a:path w="1152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838200" y="2505075"/>
            <a:ext cx="4381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8622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428750" y="2562225"/>
            <a:ext cx="1695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定义跃迁目标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3276600" y="2552700"/>
            <a:ext cx="81153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每项候选能力明确「从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Ln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到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Lm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」。目标跨级不宜超过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级，跨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级以上的项目周期长、风险高，应拆成多个波次。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647700" y="3048000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647700" y="3048000"/>
            <a:ext cx="10972800" cy="581025"/>
          </a:xfrm>
          <a:custGeom>
            <a:pathLst>
              <a:path w="1152" h="61">
                <a:moveTo>
                  <a:pt x="4" y="61"/>
                </a:moveTo>
                <a:cubicBezTo>
                  <a:pt x="2" y="61"/>
                  <a:pt x="0" y="59"/>
                  <a:pt x="0" y="5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838200" y="3181350"/>
            <a:ext cx="4381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1428750" y="3228975"/>
            <a:ext cx="1695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编排波次与资源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276600" y="3219450"/>
            <a:ext cx="81153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按波次排时间轴，每波次明确投入预算、承接变革项目与责任高管。波次间隔建议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6–12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个月，留出能力沉淀期。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09600" y="3752850"/>
            <a:ext cx="10972800" cy="1828800"/>
          </a:xfrm>
          <a:prstGeom prst="roundRect">
            <a:avLst>
              <a:gd name="adj" fmla="val 2083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781050" y="3867150"/>
            <a:ext cx="10629900" cy="323850"/>
          </a:xfrm>
          <a:custGeom>
            <a:pathLst>
              <a:path w="1116" h="34">
                <a:moveTo>
                  <a:pt x="0" y="32"/>
                </a:moveTo>
                <a:lnTo>
                  <a:pt x="1116" y="32"/>
                </a:lnTo>
                <a:lnTo>
                  <a:pt x="1116" y="34"/>
                </a:lnTo>
                <a:lnTo>
                  <a:pt x="0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81050" y="38671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能力路线图（三波次示例）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9877425" y="3905250"/>
            <a:ext cx="1533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条形长度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能力跃迁所需周期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2026 H2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1428750" y="42767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供应商分级与淘汰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2971800" y="4248150"/>
            <a:ext cx="6667500" cy="20955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  <p:txBody>
          <a:bodyPr/>
          <a:p>
            <a:pPr/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2971800" y="4248150"/>
            <a:ext cx="4533900" cy="209550"/>
          </a:xfrm>
          <a:prstGeom prst="roundRect">
            <a:avLst>
              <a:gd name="adj" fmla="val 9091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3048000" y="42862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A2000"/>
                </a:solidFill>
                <a:latin typeface="Microsoft YaHei"/>
                <a:ea typeface="Microsoft YaHei"/>
              </a:rPr>
              <a:t>L2 → L3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9734550" y="4295775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采购部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预算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320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2026 H2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1428750" y="4533900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采购成本分析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2971800" y="4505325"/>
            <a:ext cx="6667500" cy="20955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  <p:txBody>
          <a:bodyPr/>
          <a:p>
            <a:pPr/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2971800" y="4505325"/>
            <a:ext cx="4533900" cy="209550"/>
          </a:xfrm>
          <a:prstGeom prst="roundRect">
            <a:avLst>
              <a:gd name="adj" fmla="val 9091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3048000" y="45434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A2000"/>
                </a:solidFill>
                <a:latin typeface="Microsoft YaHei"/>
                <a:ea typeface="Microsoft YaHei"/>
              </a:rPr>
              <a:t>L2 → L4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9734550" y="4552950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采购部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财务部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预算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480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2027 H1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428750" y="4781550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供应商准入管理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2971800" y="4752975"/>
            <a:ext cx="6667500" cy="20955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  <p:txBody>
          <a:bodyPr/>
          <a:p>
            <a:pPr/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2971800" y="4752975"/>
            <a:ext cx="4133850" cy="209550"/>
          </a:xfrm>
          <a:prstGeom prst="roundRect">
            <a:avLst>
              <a:gd name="adj" fmla="val 9091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048000" y="47910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L3 → L4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9734550" y="4800600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采购部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预算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550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781050" y="50482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2027 H2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428750" y="50387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合同履约管理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2971800" y="5010150"/>
            <a:ext cx="6667500" cy="20955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  <p:txBody>
          <a:bodyPr/>
          <a:p>
            <a:pPr/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2971800" y="5010150"/>
            <a:ext cx="2800350" cy="209550"/>
          </a:xfrm>
          <a:prstGeom prst="roundRect">
            <a:avLst>
              <a:gd name="adj" fmla="val 9091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3048000" y="50482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L2 → L4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9734550" y="5057775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采购部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法务部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预算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610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81050" y="529590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2028 H1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1428750" y="528637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全球寻源网络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2971800" y="5257800"/>
            <a:ext cx="6667500" cy="209550"/>
          </a:xfrm>
          <a:prstGeom prst="roundRect">
            <a:avLst>
              <a:gd name="adj" fmla="val 9091"/>
            </a:avLst>
          </a:prstGeom>
          <a:solidFill>
            <a:srgbClr val="F2F3F5"/>
          </a:solidFill>
          <a:ln/>
        </p:spPr>
        <p:txBody>
          <a:bodyPr/>
          <a:p>
            <a:pPr/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2971800" y="5257800"/>
            <a:ext cx="1600200" cy="20955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3048000" y="529590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L1 → L3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734550" y="5305425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战略采购部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预算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1200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7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能力运营机制与考核指标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，让架构活起来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架构交付不是终点。没有运营机制和考核挂钩，半年后成熟度评分就会退回原样</a:t>
            </a:r>
            <a:endParaRPr/>
          </a:p>
        </p:txBody>
      </p:sp>
      <p:sp>
        <p:nvSpPr>
          <p:cNvPr id="78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三段式运营节奏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647700" y="1714500"/>
            <a:ext cx="59055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647700" y="1714500"/>
            <a:ext cx="5905500" cy="914400"/>
          </a:xfrm>
          <a:custGeom>
            <a:pathLst>
              <a:path w="620" h="96">
                <a:moveTo>
                  <a:pt x="4" y="96"/>
                </a:moveTo>
                <a:cubicBezTo>
                  <a:pt x="2" y="96"/>
                  <a:pt x="0" y="94"/>
                  <a:pt x="0" y="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838200" y="1952625"/>
            <a:ext cx="590550" cy="438150"/>
          </a:xfrm>
          <a:prstGeom prst="roundRect">
            <a:avLst>
              <a:gd name="adj" fmla="val 6522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047750" y="20669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1581150" y="180975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能力指标跟踪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1581150" y="2066925"/>
            <a:ext cx="47434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月度上报指标数据，与目标值比对；连续两月偏离则启动根因分析。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647700" y="2733675"/>
            <a:ext cx="59055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647700" y="2733675"/>
            <a:ext cx="5905500" cy="695325"/>
          </a:xfrm>
          <a:custGeom>
            <a:pathLst>
              <a:path w="620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838200" y="2867025"/>
            <a:ext cx="590550" cy="438150"/>
          </a:xfrm>
          <a:prstGeom prst="roundRect">
            <a:avLst>
              <a:gd name="adj" fmla="val 6522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1047750" y="29813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季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581150" y="283845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成熟度复核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1581150" y="3095625"/>
            <a:ext cx="4743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按季度对重点能力重评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L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级。成熟度升级必须有证据，不接受自评提升。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647700" y="3533775"/>
            <a:ext cx="59055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47700" y="3533775"/>
            <a:ext cx="5905500" cy="685800"/>
          </a:xfrm>
          <a:custGeom>
            <a:pathLst>
              <a:path w="620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805" name=""/>
          <p:cNvSpPr/>
          <p:nvPr/>
        </p:nvSpPr>
        <p:spPr>
          <a:xfrm rot="0" flipH="0" flipV="0">
            <a:off x="838200" y="3657600"/>
            <a:ext cx="590550" cy="438150"/>
          </a:xfrm>
          <a:prstGeom prst="roundRect">
            <a:avLst>
              <a:gd name="adj" fmla="val 6522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047750" y="37719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1581150" y="3629025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架构刷新与重排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1581150" y="3886200"/>
            <a:ext cx="4743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年度重估重要度、更新热力图、重排路线图波次，并归档已完成能力。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609600" y="4324350"/>
            <a:ext cx="5905500" cy="1257300"/>
          </a:xfrm>
          <a:prstGeom prst="roundRect">
            <a:avLst>
              <a:gd name="adj" fmla="val 303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00100" y="4552950"/>
            <a:ext cx="552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谁来维护这份架构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00100" y="4819650"/>
            <a:ext cx="5524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业务架构的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必须是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企业架构管理部门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，而不是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部门。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只能提供工具，维护责任一旦落到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，业务能力就会退化成系统功能清单。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6724650" y="1381125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挂到高管考核的四类指标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6724650" y="1714500"/>
            <a:ext cx="4857750" cy="523875"/>
          </a:xfrm>
          <a:prstGeom prst="roundRect">
            <a:avLst>
              <a:gd name="adj" fmla="val 72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896100" y="17526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业务能力成熟度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896100" y="1990725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本人分管领域的加权平均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L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级，以及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以上能力项占比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10706100" y="1838325"/>
            <a:ext cx="704850" cy="276225"/>
          </a:xfrm>
          <a:prstGeom prst="roundRect">
            <a:avLst>
              <a:gd name="adj" fmla="val 1034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0829925" y="1905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结果指标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724650" y="2343150"/>
            <a:ext cx="4857750" cy="523875"/>
          </a:xfrm>
          <a:prstGeom prst="roundRect">
            <a:avLst>
              <a:gd name="adj" fmla="val 72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896100" y="238125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战略举措承接率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896100" y="2619375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本部门承接举措中，已进入路线图并有预算的比例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10706100" y="2466975"/>
            <a:ext cx="704850" cy="276225"/>
          </a:xfrm>
          <a:prstGeom prst="roundRect">
            <a:avLst>
              <a:gd name="adj" fmla="val 1034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10829925" y="2533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进度指标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6724650" y="2971800"/>
            <a:ext cx="485775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896100" y="3019425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能力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到位率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896100" y="325755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本部门能力项中已指定唯一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的比例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10706100" y="3105150"/>
            <a:ext cx="704850" cy="276225"/>
          </a:xfrm>
          <a:prstGeom prst="roundRect">
            <a:avLst>
              <a:gd name="adj" fmla="val 1034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10829925" y="31718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责任指标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6724650" y="3609975"/>
            <a:ext cx="4857750" cy="523875"/>
          </a:xfrm>
          <a:prstGeom prst="roundRect">
            <a:avLst>
              <a:gd name="adj" fmla="val 72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6896100" y="3648075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重复能力收敛率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6896100" y="38862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跨部门重复建设能力的合并完成比例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10706100" y="3733800"/>
            <a:ext cx="704850" cy="276225"/>
          </a:xfrm>
          <a:prstGeom prst="roundRect">
            <a:avLst>
              <a:gd name="adj" fmla="val 1034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10829925" y="38004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治理指标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6762750" y="4238625"/>
            <a:ext cx="4857750" cy="1343025"/>
          </a:xfrm>
          <a:prstGeom prst="roundRect">
            <a:avLst>
              <a:gd name="adj" fmla="val 283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6762750" y="4238625"/>
            <a:ext cx="4857750" cy="1343025"/>
          </a:xfrm>
          <a:custGeom>
            <a:pathLst>
              <a:path w="510" h="141">
                <a:moveTo>
                  <a:pt x="4" y="141"/>
                </a:moveTo>
                <a:cubicBezTo>
                  <a:pt x="2" y="141"/>
                  <a:pt x="0" y="139"/>
                  <a:pt x="0" y="1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6934200" y="4410075"/>
            <a:ext cx="447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一条经验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6934200" y="4657725"/>
            <a:ext cx="44767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我们见过不少企业，架构评审做得很漂亮，但因为没挂考核，半年后回看成熟度分几乎没动。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根因是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没有任何人有动机去更新它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架构不是靠维护出来的，是靠考核逼出来的。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能力运营看板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——一屏看清架构是否在动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评审时最容易被追问的一句话是「你们改完架构之后呢」——这张看板就是答案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609600" y="1381125"/>
            <a:ext cx="2647950" cy="1571625"/>
          </a:xfrm>
          <a:prstGeom prst="roundRect">
            <a:avLst>
              <a:gd name="adj" fmla="val 2424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71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118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781050" y="2457450"/>
            <a:ext cx="2305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覆盖</a:t>
            </a:r>
            <a:r>
              <a:rPr lang="en-US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个能力域</a:t>
            </a:r>
            <a:r>
              <a:rPr lang="en-US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18 </a:t>
            </a: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个能力组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3390900" y="1381125"/>
            <a:ext cx="2638425" cy="1571625"/>
          </a:xfrm>
          <a:prstGeom prst="roundRect">
            <a:avLst>
              <a:gd name="adj" fmla="val 2424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3562350" y="1943100"/>
            <a:ext cx="790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L2.8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3562350" y="2457450"/>
            <a:ext cx="2295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较去年</a:t>
            </a:r>
            <a:r>
              <a:rPr lang="en-US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+0.4 </a:t>
            </a: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级</a:t>
            </a:r>
            <a:endParaRPr/>
          </a:p>
        </p:txBody>
      </p:sp>
      <p:sp>
        <p:nvSpPr>
          <p:cNvPr id="851" name=""/>
          <p:cNvSpPr/>
          <p:nvPr/>
        </p:nvSpPr>
        <p:spPr>
          <a:xfrm rot="0" flipH="0" flipV="0">
            <a:off x="6162675" y="1381125"/>
            <a:ext cx="2647950" cy="1571625"/>
          </a:xfrm>
          <a:prstGeom prst="roundRect">
            <a:avLst>
              <a:gd name="adj" fmla="val 2424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6334125" y="194310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23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6334125" y="2457450"/>
            <a:ext cx="2305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目标</a:t>
            </a:r>
            <a:r>
              <a:rPr lang="en-US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2027 </a:t>
            </a: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年达到</a:t>
            </a:r>
            <a:r>
              <a:rPr lang="en-US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35%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8943975" y="1381125"/>
            <a:ext cx="2638425" cy="1571625"/>
          </a:xfrm>
          <a:prstGeom prst="roundRect">
            <a:avLst>
              <a:gd name="adj" fmla="val 2424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9115425" y="194310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A2000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9115425" y="2457450"/>
            <a:ext cx="2295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占候选集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76%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09600" y="3076575"/>
            <a:ext cx="5419725" cy="1790700"/>
          </a:xfrm>
          <a:prstGeom prst="roundRect">
            <a:avLst>
              <a:gd name="adj" fmla="val 2128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800100" y="3209925"/>
            <a:ext cx="503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路线图能力项状态灯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800100" y="3514725"/>
            <a:ext cx="2581275" cy="1219200"/>
          </a:xfrm>
          <a:prstGeom prst="roundRect">
            <a:avLst>
              <a:gd name="adj" fmla="val 2344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1952625" y="39052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3457575" y="3514725"/>
            <a:ext cx="857250" cy="1219200"/>
          </a:xfrm>
          <a:prstGeom prst="roundRect">
            <a:avLst>
              <a:gd name="adj" fmla="val 3333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3819525" y="39052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A2000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4391025" y="3514725"/>
            <a:ext cx="857250" cy="1219200"/>
          </a:xfrm>
          <a:prstGeom prst="roundRect">
            <a:avLst>
              <a:gd name="adj" fmla="val 3333"/>
            </a:avLst>
          </a:prstGeom>
          <a:solidFill>
            <a:srgbClr val="D8DCE3"/>
          </a:solidFill>
          <a:ln/>
        </p:spPr>
        <p:txBody>
          <a:bodyPr/>
          <a:p>
            <a:pPr/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4752975" y="39052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A4050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5324475" y="3514725"/>
            <a:ext cx="514350" cy="1219200"/>
          </a:xfrm>
          <a:prstGeom prst="roundRect">
            <a:avLst>
              <a:gd name="adj" fmla="val 5556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5514975" y="384810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162675" y="3076575"/>
            <a:ext cx="5419725" cy="1790700"/>
          </a:xfrm>
          <a:prstGeom prst="roundRect">
            <a:avLst>
              <a:gd name="adj" fmla="val 2128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6353175" y="3209925"/>
            <a:ext cx="503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本期需高层决策事项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6353175" y="3514725"/>
            <a:ext cx="5038725" cy="371475"/>
          </a:xfrm>
          <a:prstGeom prst="roundRect">
            <a:avLst>
              <a:gd name="adj" fmla="val 7692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6448425" y="3609975"/>
            <a:ext cx="26670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6515100" y="3638550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810375" y="3600450"/>
            <a:ext cx="44862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全球寻源网络能力跨三事业部，需明确唯一主责方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6353175" y="3943350"/>
            <a:ext cx="5038725" cy="361950"/>
          </a:xfrm>
          <a:prstGeom prst="roundRect">
            <a:avLst>
              <a:gd name="adj" fmla="val 789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6448425" y="4029075"/>
            <a:ext cx="26670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6515100" y="4057650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6810375" y="4019550"/>
            <a:ext cx="44862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智能制造能力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L2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虚胖，需决定是撤还是补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6353175" y="4362450"/>
            <a:ext cx="5038725" cy="371475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6448425" y="4457700"/>
            <a:ext cx="266700" cy="190500"/>
          </a:xfrm>
          <a:prstGeom prst="roundRect">
            <a:avLst>
              <a:gd name="adj" fmla="val 10000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6515100" y="448627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A2000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6810375" y="4448175"/>
            <a:ext cx="44862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三套供应商系统重复建设，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2026 H2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必须完成合并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609600" y="499110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838200" y="5191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看板用法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1638300" y="516255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每月更新一次，与经营例会合并汇报。看板上最重要的一栏不是数字，而是最下面那三条——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需要高层决策的事项没人替架构团队做主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781050" y="1733550"/>
            <a:ext cx="2305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能力总数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1543050" y="1943100"/>
            <a:ext cx="142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3562350" y="17335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加权平均成熟度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4400550" y="19431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334125" y="1733550"/>
            <a:ext cx="2305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L4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以上占比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6858000" y="1943100"/>
            <a:ext cx="1333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9115425" y="17335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2000">
                    <a:alpha val="88000"/>
                  </a:srgbClr>
                </a:solidFill>
                <a:latin typeface="Microsoft YaHei"/>
                <a:ea typeface="Microsoft YaHei"/>
              </a:rPr>
              <a:t>路线图覆盖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9639300" y="1943100"/>
            <a:ext cx="142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1885950" y="42100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正常推进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3676650" y="42100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8000"/>
                  </a:srgbClr>
                </a:solidFill>
                <a:latin typeface="Microsoft YaHei"/>
                <a:ea typeface="Microsoft YaHei"/>
              </a:rPr>
              <a:t>进度滞后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4562475" y="421005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>
                    <a:alpha val="88000"/>
                  </a:srgbClr>
                </a:solidFill>
                <a:latin typeface="Microsoft YaHei"/>
                <a:ea typeface="Microsoft YaHei"/>
              </a:rPr>
              <a:t>需高层介入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5324475" y="4152900"/>
            <a:ext cx="514350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已达成归档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8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四层贯通：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从一句战略口号到一项能力指标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，全程可追溯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架构的价值不在于每一层单独正确，而在于四层之间能双向追溯——任何一项投入都能回答「为哪条战略服务」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609600" y="1381125"/>
            <a:ext cx="10972800" cy="2171700"/>
          </a:xfrm>
          <a:prstGeom prst="roundRect">
            <a:avLst>
              <a:gd name="adj" fmla="val 1754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838200" y="155257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一条完整链路示例（以「降本增效」为例）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838200" y="1914525"/>
            <a:ext cx="1438275" cy="1466850"/>
          </a:xfrm>
          <a:prstGeom prst="roundRect">
            <a:avLst>
              <a:gd name="adj" fmla="val 2649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095375" y="2647950"/>
            <a:ext cx="9334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三年内降本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15%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2352675" y="1914525"/>
            <a:ext cx="1438275" cy="1466850"/>
          </a:xfrm>
          <a:prstGeom prst="roundRect">
            <a:avLst>
              <a:gd name="adj" fmla="val 2649"/>
            </a:avLst>
          </a:pr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2705100" y="2647950"/>
            <a:ext cx="7429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采购成本优化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3867150" y="1914525"/>
            <a:ext cx="1438275" cy="1466850"/>
          </a:xfrm>
          <a:prstGeom prst="roundRect">
            <a:avLst>
              <a:gd name="adj" fmla="val 2649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4219575" y="2647950"/>
            <a:ext cx="7429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集采平台上线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5381625" y="1914525"/>
            <a:ext cx="1428750" cy="1466850"/>
          </a:xfrm>
          <a:prstGeom prst="roundRect">
            <a:avLst>
              <a:gd name="adj" fmla="val 2667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5667375" y="2647950"/>
            <a:ext cx="8667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采购需求到下单</a:t>
            </a:r>
            <a:endParaRPr/>
          </a:p>
        </p:txBody>
      </p:sp>
      <p:sp>
        <p:nvSpPr>
          <p:cNvPr id="914" name=""/>
          <p:cNvSpPr/>
          <p:nvPr/>
        </p:nvSpPr>
        <p:spPr>
          <a:xfrm rot="0" flipH="0" flipV="0">
            <a:off x="6886575" y="1914525"/>
            <a:ext cx="1438275" cy="1466850"/>
          </a:xfrm>
          <a:prstGeom prst="roundRect">
            <a:avLst>
              <a:gd name="adj" fmla="val 2649"/>
            </a:avLst>
          </a:pr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7010400" y="2647950"/>
            <a:ext cx="12001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采购成本分析</a:t>
            </a:r>
            <a:r>
              <a:rPr lang="en-US" sz="97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L2→L4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8401050" y="1914525"/>
            <a:ext cx="1438275" cy="1466850"/>
          </a:xfrm>
          <a:prstGeom prst="roundRect">
            <a:avLst>
              <a:gd name="adj" fmla="val 2649"/>
            </a:avLst>
          </a:pr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572500" y="2647950"/>
            <a:ext cx="11049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采购部</a:t>
            </a:r>
            <a:r>
              <a:rPr lang="en-US" sz="97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王某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9915525" y="1914525"/>
            <a:ext cx="1438275" cy="1466850"/>
          </a:xfrm>
          <a:prstGeom prst="roundRect">
            <a:avLst>
              <a:gd name="adj" fmla="val 2649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0153650" y="2647950"/>
            <a:ext cx="9620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单位成本降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6.8%</a:t>
            </a:r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647700" y="3686175"/>
            <a:ext cx="5419725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47700" y="3686175"/>
            <a:ext cx="5419725" cy="1895475"/>
          </a:xfrm>
          <a:custGeom>
            <a:pathLst>
              <a:path w="569" h="199">
                <a:moveTo>
                  <a:pt x="4" y="199"/>
                </a:moveTo>
                <a:cubicBezTo>
                  <a:pt x="2" y="199"/>
                  <a:pt x="0" y="197"/>
                  <a:pt x="0" y="19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38200" y="4248150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向下可追溯：投入有无出处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838200" y="4514850"/>
            <a:ext cx="50006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任一笔能力建设预算，都能逐级向上找到它承接的变革项目、举措和战略意图。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做不到向上追溯，说明这笔钱是「想做的事」，不是「战略要做的事」。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6200775" y="3686175"/>
            <a:ext cx="5419725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6200775" y="3686175"/>
            <a:ext cx="5419725" cy="1895475"/>
          </a:xfrm>
          <a:custGeom>
            <a:pathLst>
              <a:path w="569" h="199">
                <a:moveTo>
                  <a:pt x="4" y="199"/>
                </a:moveTo>
                <a:cubicBezTo>
                  <a:pt x="2" y="199"/>
                  <a:pt x="0" y="197"/>
                  <a:pt x="0" y="19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9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6391275" y="4248150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向上可追溯：战略有无落地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391275" y="4514850"/>
            <a:ext cx="50006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每条战略意图都必须能向下走到「至少一项能力指标」。走不到底的战略意图，本质上是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一句没打算落地的口号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1352550" y="24479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战略意图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2971800" y="244792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举措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4381500" y="24479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8000"/>
                  </a:srgbClr>
                </a:solidFill>
                <a:latin typeface="Microsoft YaHei"/>
                <a:ea typeface="Microsoft YaHei"/>
              </a:rPr>
              <a:t>变革项目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5943600" y="24479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8000"/>
                  </a:srgbClr>
                </a:solidFill>
                <a:latin typeface="Microsoft YaHei"/>
                <a:ea typeface="Microsoft YaHei"/>
              </a:rPr>
              <a:t>价值流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7400925" y="24479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8000"/>
                  </a:srgbClr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8915400" y="24479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8000"/>
                  </a:srgbClr>
                </a:solidFill>
                <a:latin typeface="Microsoft YaHei"/>
                <a:ea typeface="Microsoft YaHei"/>
              </a:rPr>
              <a:t>组织承接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10429875" y="24479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度量指标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常见误区：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五个把业务架构做砸的做法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这五条不是理论推演，是我们见过频率最高的翻车方式——每条都给出代价判断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647700" y="1381125"/>
            <a:ext cx="10972800" cy="619125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647700" y="1381125"/>
            <a:ext cx="10972800" cy="619125"/>
          </a:xfrm>
          <a:custGeom>
            <a:pathLst>
              <a:path w="1152" h="65">
                <a:moveTo>
                  <a:pt x="4" y="65"/>
                </a:moveTo>
                <a:cubicBezTo>
                  <a:pt x="2" y="65"/>
                  <a:pt x="0" y="63"/>
                  <a:pt x="0" y="6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857250" y="15240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1466850" y="1552575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从组织架构图改名叫「能力地图」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4781550" y="1438275"/>
            <a:ext cx="4076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把部门框改成能力框，内容完全不变。组织一调整，架构就作废。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9029700" y="1447800"/>
            <a:ext cx="2343150" cy="485775"/>
          </a:xfrm>
          <a:prstGeom prst="roundRect">
            <a:avLst>
              <a:gd name="adj" fmla="val 5882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9144000" y="153352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9144000" y="1695450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架构无沉淀，两年必重来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647700" y="2114550"/>
            <a:ext cx="10972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647700" y="2114550"/>
            <a:ext cx="10972800" cy="609600"/>
          </a:xfrm>
          <a:custGeom>
            <a:pathLst>
              <a:path w="115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>
            <a:pPr/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857250" y="22479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8622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1466850" y="2276475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能力名称后面挂括号写部门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4781550" y="2171700"/>
            <a:ext cx="4076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「合同管理（法务部）」这类写法，本质仍是组织视角，只是套了个壳。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9029700" y="2181225"/>
            <a:ext cx="2343150" cy="485775"/>
          </a:xfrm>
          <a:prstGeom prst="roundRect">
            <a:avLst>
              <a:gd name="adj" fmla="val 5882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9144000" y="2266950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9144000" y="2428875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解耦失败，数据架构接不上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647700" y="2838450"/>
            <a:ext cx="10972800" cy="619125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647700" y="2838450"/>
            <a:ext cx="10972800" cy="619125"/>
          </a:xfrm>
          <a:custGeom>
            <a:pathLst>
              <a:path w="1152" h="65">
                <a:moveTo>
                  <a:pt x="4" y="65"/>
                </a:moveTo>
                <a:cubicBezTo>
                  <a:pt x="2" y="65"/>
                  <a:pt x="0" y="63"/>
                  <a:pt x="0" y="6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857250" y="298132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1466850" y="300990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把活动当成能力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4781550" y="2895600"/>
            <a:ext cx="4076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「组织会议」「填写报表」写进能力清单。全量膨胀到几百项，无法排优先级。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9029700" y="2905125"/>
            <a:ext cx="2343150" cy="485775"/>
          </a:xfrm>
          <a:prstGeom prst="roundRect">
            <a:avLst>
              <a:gd name="adj" fmla="val 5882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9144000" y="2990850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9144000" y="3152775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评估失效，路线图排不出来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647700" y="3571875"/>
            <a:ext cx="10972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647700" y="3571875"/>
            <a:ext cx="10972800" cy="609600"/>
          </a:xfrm>
          <a:custGeom>
            <a:pathLst>
              <a:path w="115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FDC69A"/>
          </a:solidFill>
          <a:ln/>
        </p:spPr>
        <p:txBody>
          <a:bodyPr/>
          <a:p>
            <a:pPr/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857250" y="370522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DC69A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1466850" y="373380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成熟度靠拍脑袋给分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4781550" y="3629025"/>
            <a:ext cx="4076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没有证据就报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L4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。结果是整张热力图一片橙，管理层看完不再相信。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9029700" y="3638550"/>
            <a:ext cx="2343150" cy="485775"/>
          </a:xfrm>
          <a:prstGeom prst="roundRect">
            <a:avLst>
              <a:gd name="adj" fmla="val 5882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9144000" y="372427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9144000" y="3886200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失去信任，第二年无人配合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647700" y="4295775"/>
            <a:ext cx="10972800" cy="619125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647700" y="4295775"/>
            <a:ext cx="10972800" cy="619125"/>
          </a:xfrm>
          <a:custGeom>
            <a:pathLst>
              <a:path w="1152" h="65">
                <a:moveTo>
                  <a:pt x="4" y="65"/>
                </a:moveTo>
                <a:cubicBezTo>
                  <a:pt x="2" y="65"/>
                  <a:pt x="0" y="63"/>
                  <a:pt x="0" y="6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>
            <a:pPr/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857250" y="44386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BA15C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1466850" y="4467225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架构交付完就结束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4781550" y="4352925"/>
            <a:ext cx="4076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没有运营机制、没有考核挂钩、没有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。半年后成熟度评分几乎没动。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9029700" y="4362450"/>
            <a:ext cx="2343150" cy="485775"/>
          </a:xfrm>
          <a:prstGeom prst="roundRect">
            <a:avLst>
              <a:gd name="adj" fmla="val 5882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9144000" y="444817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9144000" y="4610100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投入沉没，架构沦为历史资料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609600" y="5029200"/>
            <a:ext cx="10972800" cy="552450"/>
          </a:xfrm>
          <a:prstGeom prst="roundRect">
            <a:avLst>
              <a:gd name="adj" fmla="val 6897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838200" y="52101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共同的根因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1800225" y="5181600"/>
            <a:ext cx="9553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五个坑本质是同一件事：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把业务架构当成一次性的文档，而不是一套要长期活着的数据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。数据必须有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、有字段、有更新机制——架构同理</a:t>
            </a:r>
            <a:endParaRPr/>
          </a:p>
        </p:txBody>
      </p:sp>
      <p:sp>
        <p:nvSpPr>
          <p:cNvPr id="98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0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8382000" y="1143000"/>
            <a:ext cx="4953000" cy="4953000"/>
          </a:xfrm>
          <a:prstGeom prst="roundRect">
            <a:avLst>
              <a:gd name="adj" fmla="val 50000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4505325" y="1333500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8A8F99"/>
                </a:solidFill>
                <a:latin typeface="Microsoft YaHei"/>
                <a:ea typeface="Microsoft YaHei"/>
              </a:rPr>
              <a:t>结语</a:t>
            </a:r>
            <a:r>
              <a:rPr lang="en-US" sz="1125" spc="3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BUSINESS ARCHITECTURE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2333625" y="1809750"/>
            <a:ext cx="7524750" cy="14287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450" b="1">
                <a:solidFill>
                  <a:srgbClr val="0F1423"/>
                </a:solidFill>
                <a:latin typeface="Microsoft YaHei"/>
                <a:ea typeface="Microsoft YaHei"/>
              </a:rPr>
              <a:t>先有「做什么」，才有「要什么」——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3450" b="1">
                <a:solidFill>
                  <a:srgbClr val="0F1423"/>
                </a:solidFill>
                <a:latin typeface="Microsoft YaHei"/>
                <a:ea typeface="Microsoft YaHei"/>
              </a:rPr>
              <a:t>业务架构让战略落地有路径</a:t>
            </a:r>
            <a:endParaRPr/>
          </a:p>
        </p:txBody>
      </p:sp>
      <p:sp>
        <p:nvSpPr>
          <p:cNvPr id="1062" name=""/>
          <p:cNvSpPr/>
          <p:nvPr/>
        </p:nvSpPr>
        <p:spPr>
          <a:xfrm rot="0" flipH="0" flipV="0">
            <a:off x="5676900" y="3562350"/>
            <a:ext cx="8382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1905000" y="3933825"/>
            <a:ext cx="8382000" cy="79057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425">
                <a:solidFill>
                  <a:srgbClr val="3A4050"/>
                </a:solidFill>
                <a:latin typeface="Microsoft YaHei"/>
                <a:ea typeface="Microsoft YaHei"/>
              </a:rPr>
              <a:t>价值流、能力、评估、映射，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425">
                <a:solidFill>
                  <a:srgbClr val="3A4050"/>
                </a:solidFill>
                <a:latin typeface="Microsoft YaHei"/>
                <a:ea typeface="Microsoft YaHei"/>
              </a:rPr>
              <a:t>决定了一份战略能不能被拆到人、拆到钱、拆到每一年的考核里。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3076575" y="5124450"/>
            <a:ext cx="1409700" cy="676275"/>
          </a:xfrm>
          <a:prstGeom prst="roundRect">
            <a:avLst>
              <a:gd name="adj" fmla="val 5634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3524250" y="525780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价值流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3600450" y="55149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4619625" y="5124450"/>
            <a:ext cx="14097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4981575" y="52578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5076825" y="55149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凭什么做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6162675" y="5124450"/>
            <a:ext cx="14097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6524625" y="52578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能力评估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6562725" y="55149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做到哪一步</a:t>
            </a:r>
            <a:endParaRPr/>
          </a:p>
        </p:txBody>
      </p:sp>
      <p:sp>
        <p:nvSpPr>
          <p:cNvPr id="1073" name=""/>
          <p:cNvSpPr/>
          <p:nvPr/>
        </p:nvSpPr>
        <p:spPr>
          <a:xfrm rot="0" flipH="0" flipV="0">
            <a:off x="7705725" y="5124450"/>
            <a:ext cx="14097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8067675" y="52578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组织映射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8229600" y="55149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谁来做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3705225" y="6238875"/>
            <a:ext cx="4781550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业务架构不是</a:t>
            </a:r>
            <a:r>
              <a:rPr lang="en-US" sz="1125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侧的规范，而是企业把</a:t>
            </a: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战略意图转译成日常动作</a:t>
            </a: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的唯一路径</a:t>
            </a:r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609600" y="61817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838200" y="61626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BA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业务架构咨询方法论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11125200" y="6162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2026-10-11T22:32:18Z</dcterms:created>
  <dcterms:modified xsi:type="dcterms:W3CDTF">2026-10-11T22:32:18Z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{"AIGC":{"Label":"1","ContentProducer":"00119111010856365494821B355","ProduceID":"01a12b44a69c7e28aa8c554d333d1fb1","ReservedCode1":"","ContentPropagator":"00119111010856365494821B355","PropagateID":"01a12b44a69c7e28aa8c554d333d1fb1","ReservedCode2":""}}</vt:lpwstr>
  </property>
</Properties>
</file>